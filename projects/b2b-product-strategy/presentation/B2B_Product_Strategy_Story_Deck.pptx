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920000"/>
            <a:ext cx="1091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200">
                <a:solidFill>
                  <a:srgbClr val="A81E48"/>
                </a:solidFill>
                <a:latin typeface="Calibri"/>
              </a:rPr>
              <a:t>AIRTRIBE  ·  B2B PRODUCT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000"/>
            <a:ext cx="10911840" cy="1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F1620"/>
                </a:solidFill>
                <a:latin typeface="Cambria"/>
              </a:rPr>
              <a:t>From AI chatbot to</a:t>
            </a:r>
          </a:p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F1620"/>
                </a:solidFill>
                <a:latin typeface="Cambria"/>
              </a:rPr>
              <a:t>trusted workflow completion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950000"/>
            <a:ext cx="1091184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1">
                <a:solidFill>
                  <a:srgbClr val="A81E48"/>
                </a:solidFill>
                <a:latin typeface="Cambria"/>
              </a:rPr>
              <a:t>One segment. One workflow. 91 evidence records. 4 real interviews.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1091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E5E66"/>
                </a:solidFill>
                <a:latin typeface="Calibri"/>
              </a:rPr>
              <a:t>Praveen Veera   ·   Airtribe — AI-First Product Management   ·   September 2026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9700000" y="5830000"/>
            <a:ext cx="620000" cy="240000"/>
          </a:xfrm>
          <a:prstGeom prst="line">
            <a:avLst/>
          </a:prstGeom>
          <a:ln w="19050">
            <a:solidFill>
              <a:srgbClr val="8A7B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10320000" y="5640000"/>
            <a:ext cx="620000" cy="190000"/>
          </a:xfrm>
          <a:prstGeom prst="line">
            <a:avLst/>
          </a:prstGeom>
          <a:ln w="19050">
            <a:solidFill>
              <a:srgbClr val="8A7B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0940000" y="5450000"/>
            <a:ext cx="620000" cy="190000"/>
          </a:xfrm>
          <a:prstGeom prst="line">
            <a:avLst/>
          </a:prstGeom>
          <a:ln w="19050">
            <a:solidFill>
              <a:srgbClr val="8A7B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9670000" y="6040000"/>
            <a:ext cx="60000" cy="60000"/>
          </a:xfrm>
          <a:prstGeom prst="ellipse">
            <a:avLst/>
          </a:prstGeom>
          <a:solidFill>
            <a:srgbClr val="A81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290000" y="5800000"/>
            <a:ext cx="60000" cy="60000"/>
          </a:xfrm>
          <a:prstGeom prst="ellipse">
            <a:avLst/>
          </a:prstGeom>
          <a:solidFill>
            <a:srgbClr val="A81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910000" y="5610000"/>
            <a:ext cx="60000" cy="60000"/>
          </a:xfrm>
          <a:prstGeom prst="ellipse">
            <a:avLst/>
          </a:prstGeom>
          <a:solidFill>
            <a:srgbClr val="A81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530000" y="5420000"/>
            <a:ext cx="60000" cy="60000"/>
          </a:xfrm>
          <a:prstGeom prst="ellipse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200">
                <a:solidFill>
                  <a:srgbClr val="A81E48"/>
                </a:solidFill>
                <a:latin typeface="Calibri"/>
              </a:rPr>
              <a:t>HOW TO USE THIS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11840" cy="5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1620"/>
                </a:solidFill>
                <a:latin typeface="Cambria"/>
              </a:rPr>
              <a:t>The 5-minute story, plus everything behind 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0000"/>
            <a:ext cx="5295900" cy="390000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>
            <a:noFill/>
          </a:ln>
          <a:effectLst>
            <a:outerShdw sx="100000" sy="100000" kx="0" ky="0" algn="bl" rotWithShape="0" blurRad="127000" dist="38100" dir="5400000">
              <a:srgbClr val="1F162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56020" y="1780000"/>
            <a:ext cx="5295900" cy="390000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>
            <a:noFill/>
          </a:ln>
          <a:effectLst>
            <a:outerShdw sx="100000" sy="100000" kx="0" ky="0" algn="bl" rotWithShape="0" blurRad="127000" dist="38100" dir="5400000">
              <a:srgbClr val="1F162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40000"/>
            <a:ext cx="4655820" cy="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50">
                <a:solidFill>
                  <a:srgbClr val="A81E48"/>
                </a:solidFill>
                <a:latin typeface="Calibri"/>
              </a:rPr>
              <a:t>THE STORY  ·  slides 3–10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440000"/>
            <a:ext cx="4655820" cy="30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50" b="0" i="0">
                <a:solidFill>
                  <a:srgbClr val="1F1620"/>
                </a:solidFill>
                <a:latin typeface="Calibri"/>
              </a:rPr>
              <a:t>1. The decision, in one line</a:t>
            </a:r>
          </a:p>
          <a:p>
            <a:pPr algn="l">
              <a:lnSpc>
                <a:spcPct val="150000"/>
              </a:lnSpc>
            </a:pPr>
            <a:r>
              <a:rPr sz="1250" b="0" i="0">
                <a:solidFill>
                  <a:srgbClr val="1F1620"/>
                </a:solidFill>
                <a:latin typeface="Calibri"/>
              </a:rPr>
              <a:t>2. Five questions, one strategy</a:t>
            </a:r>
          </a:p>
          <a:p>
            <a:pPr algn="l">
              <a:lnSpc>
                <a:spcPct val="150000"/>
              </a:lnSpc>
            </a:pPr>
            <a:r>
              <a:rPr sz="1250" b="0" i="0">
                <a:solidFill>
                  <a:srgbClr val="1F1620"/>
                </a:solidFill>
                <a:latin typeface="Calibri"/>
              </a:rPr>
              <a:t>3. Where we compete — and won't</a:t>
            </a:r>
          </a:p>
          <a:p>
            <a:pPr algn="l">
              <a:lnSpc>
                <a:spcPct val="150000"/>
              </a:lnSpc>
            </a:pPr>
            <a:r>
              <a:rPr sz="1250" b="0" i="0">
                <a:solidFill>
                  <a:srgbClr val="1F1620"/>
                </a:solidFill>
                <a:latin typeface="Calibri"/>
              </a:rPr>
              <a:t>4. Four interviews, one direction</a:t>
            </a:r>
          </a:p>
          <a:p>
            <a:pPr algn="l">
              <a:lnSpc>
                <a:spcPct val="150000"/>
              </a:lnSpc>
            </a:pPr>
            <a:r>
              <a:rPr sz="1250" b="0" i="0">
                <a:solidFill>
                  <a:srgbClr val="1F1620"/>
                </a:solidFill>
                <a:latin typeface="Calibri"/>
              </a:rPr>
              <a:t>5. What we'd build first</a:t>
            </a:r>
          </a:p>
          <a:p>
            <a:pPr algn="l">
              <a:lnSpc>
                <a:spcPct val="150000"/>
              </a:lnSpc>
            </a:pPr>
            <a:r>
              <a:rPr sz="1250" b="0" i="0">
                <a:solidFill>
                  <a:srgbClr val="1F1620"/>
                </a:solidFill>
                <a:latin typeface="Calibri"/>
              </a:rPr>
              <a:t>6. Moat: what compounds</a:t>
            </a:r>
          </a:p>
          <a:p>
            <a:pPr algn="l">
              <a:lnSpc>
                <a:spcPct val="150000"/>
              </a:lnSpc>
            </a:pPr>
            <a:r>
              <a:rPr sz="1250" b="0" i="0">
                <a:solidFill>
                  <a:srgbClr val="1F1620"/>
                </a:solidFill>
                <a:latin typeface="Calibri"/>
              </a:rPr>
              <a:t>7. Land and expand</a:t>
            </a:r>
          </a:p>
          <a:p>
            <a:pPr algn="l">
              <a:lnSpc>
                <a:spcPct val="150000"/>
              </a:lnSpc>
            </a:pPr>
            <a:r>
              <a:rPr sz="1250" b="0" i="0">
                <a:solidFill>
                  <a:srgbClr val="1F1620"/>
                </a:solidFill>
                <a:latin typeface="Calibri"/>
              </a:rPr>
              <a:t>8. Close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76060" y="2040000"/>
            <a:ext cx="4655820" cy="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50">
                <a:solidFill>
                  <a:srgbClr val="A81E48"/>
                </a:solidFill>
                <a:latin typeface="Calibri"/>
              </a:rPr>
              <a:t>APPENDIX  ·  slides 11–24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76060" y="2440000"/>
            <a:ext cx="4655820" cy="3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1F1620"/>
                </a:solidFill>
                <a:latin typeface="Calibri"/>
              </a:rPr>
              <a:t>Methodology and traceability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1F1620"/>
                </a:solidFill>
                <a:latin typeface="Calibri"/>
              </a:rPr>
              <a:t>Segment and core problem, in full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1F1620"/>
                </a:solidFill>
                <a:latin typeface="Calibri"/>
              </a:rPr>
              <a:t>Market opportunity, in full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1F1620"/>
                </a:solidFill>
                <a:latin typeface="Calibri"/>
              </a:rPr>
              <a:t>Four entry doors + competitor table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1F1620"/>
                </a:solidFill>
                <a:latin typeface="Calibri"/>
              </a:rPr>
              <a:t>Wedge, moat and crowded space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1F1620"/>
                </a:solidFill>
                <a:latin typeface="Calibri"/>
              </a:rPr>
              <a:t>Initial workflow and MVP boundary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1F1620"/>
                </a:solidFill>
                <a:latin typeface="Calibri"/>
              </a:rPr>
              <a:t>Roadmap: earning the platform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1F1620"/>
                </a:solidFill>
                <a:latin typeface="Calibri"/>
              </a:rPr>
              <a:t>Moat mechanisms, in full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1F1620"/>
                </a:solidFill>
                <a:latin typeface="Calibri"/>
              </a:rPr>
              <a:t>GTM motion, metrics and pricing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1F1620"/>
                </a:solidFill>
                <a:latin typeface="Calibri"/>
              </a:rPr>
              <a:t>Risks, decision gates and boundary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1F1620"/>
                </a:solidFill>
                <a:latin typeface="Calibri"/>
              </a:rPr>
              <a:t>Evidence register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E5E66"/>
                </a:solidFill>
                <a:latin typeface="Calibri"/>
              </a:rPr>
              <a:t>B2B Product Strategy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37520" y="640080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6E5E66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200">
                <a:solidFill>
                  <a:srgbClr val="A81E48"/>
                </a:solidFill>
                <a:latin typeface="Calibri"/>
              </a:rPr>
              <a:t>THE DECISION IN ONE 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11840" cy="5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1620"/>
                </a:solidFill>
                <a:latin typeface="Cambria"/>
              </a:rPr>
              <a:t>Land narrow. Prove it's safe. Earn the platform.</a:t>
            </a:r>
          </a:p>
        </p:txBody>
      </p:sp>
      <p:cxnSp>
        <p:nvCxnSpPr>
          <p:cNvPr id="5" name="Connector 4"/>
          <p:cNvCxnSpPr/>
          <p:nvPr/>
        </p:nvCxnSpPr>
        <p:spPr>
          <a:xfrm flipV="1">
            <a:off x="1210000" y="2850000"/>
            <a:ext cx="2900000" cy="700000"/>
          </a:xfrm>
          <a:prstGeom prst="line">
            <a:avLst/>
          </a:prstGeom>
          <a:ln w="19050">
            <a:solidFill>
              <a:srgbClr val="8A7B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4110000" y="2150000"/>
            <a:ext cx="2900000" cy="700000"/>
          </a:xfrm>
          <a:prstGeom prst="line">
            <a:avLst/>
          </a:prstGeom>
          <a:ln w="19050">
            <a:solidFill>
              <a:srgbClr val="8A7B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7010000" y="1450000"/>
            <a:ext cx="2900000" cy="700000"/>
          </a:xfrm>
          <a:prstGeom prst="line">
            <a:avLst/>
          </a:prstGeom>
          <a:ln w="19050">
            <a:solidFill>
              <a:srgbClr val="8A7B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1165000" y="3505000"/>
            <a:ext cx="90000" cy="90000"/>
          </a:xfrm>
          <a:prstGeom prst="ellipse">
            <a:avLst/>
          </a:prstGeom>
          <a:solidFill>
            <a:srgbClr val="A81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0000" y="3170000"/>
            <a:ext cx="1250000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 spc="100">
                <a:solidFill>
                  <a:srgbClr val="A81E48"/>
                </a:solidFill>
                <a:latin typeface="Calibri"/>
              </a:rPr>
              <a:t>PROVE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0000" y="3710000"/>
            <a:ext cx="1250000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F1620"/>
                </a:solidFill>
                <a:latin typeface="Cambria"/>
              </a:rPr>
              <a:t>0–6 months</a:t>
            </a:r>
          </a:p>
        </p:txBody>
      </p:sp>
      <p:sp>
        <p:nvSpPr>
          <p:cNvPr id="11" name="Oval 10"/>
          <p:cNvSpPr/>
          <p:nvPr/>
        </p:nvSpPr>
        <p:spPr>
          <a:xfrm>
            <a:off x="4065000" y="2805000"/>
            <a:ext cx="90000" cy="90000"/>
          </a:xfrm>
          <a:prstGeom prst="ellipse">
            <a:avLst/>
          </a:prstGeom>
          <a:solidFill>
            <a:srgbClr val="A81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50000" y="2470000"/>
            <a:ext cx="1250000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 spc="100">
                <a:solidFill>
                  <a:srgbClr val="A81E48"/>
                </a:solidFill>
                <a:latin typeface="Calibri"/>
              </a:rPr>
              <a:t>REPEAT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50000" y="3010000"/>
            <a:ext cx="1250000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F1620"/>
                </a:solidFill>
                <a:latin typeface="Cambria"/>
              </a:rPr>
              <a:t>6–12 months</a:t>
            </a:r>
          </a:p>
        </p:txBody>
      </p:sp>
      <p:sp>
        <p:nvSpPr>
          <p:cNvPr id="14" name="Oval 13"/>
          <p:cNvSpPr/>
          <p:nvPr/>
        </p:nvSpPr>
        <p:spPr>
          <a:xfrm>
            <a:off x="6965000" y="2105000"/>
            <a:ext cx="90000" cy="90000"/>
          </a:xfrm>
          <a:prstGeom prst="ellipse">
            <a:avLst/>
          </a:prstGeom>
          <a:solidFill>
            <a:srgbClr val="8A7B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0000" y="1770000"/>
            <a:ext cx="1250000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 spc="100">
                <a:solidFill>
                  <a:srgbClr val="8A7B81"/>
                </a:solidFill>
                <a:latin typeface="Calibri"/>
              </a:rPr>
              <a:t>EXPAND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0000" y="2310000"/>
            <a:ext cx="1250000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F1620"/>
                </a:solidFill>
                <a:latin typeface="Cambria"/>
              </a:rPr>
              <a:t>12–24 months</a:t>
            </a:r>
          </a:p>
        </p:txBody>
      </p:sp>
      <p:sp>
        <p:nvSpPr>
          <p:cNvPr id="17" name="Oval 16"/>
          <p:cNvSpPr/>
          <p:nvPr/>
        </p:nvSpPr>
        <p:spPr>
          <a:xfrm>
            <a:off x="9865000" y="1405000"/>
            <a:ext cx="90000" cy="90000"/>
          </a:xfrm>
          <a:prstGeom prst="ellipse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50000" y="1070000"/>
            <a:ext cx="1250000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 spc="100">
                <a:solidFill>
                  <a:srgbClr val="2F6F5E"/>
                </a:solidFill>
                <a:latin typeface="Calibri"/>
              </a:rPr>
              <a:t>PLATFORM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50000" y="1610000"/>
            <a:ext cx="1250000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F1620"/>
                </a:solidFill>
                <a:latin typeface="Cambria"/>
              </a:rPr>
              <a:t>24–36 months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650000"/>
            <a:ext cx="2522220" cy="115000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>
            <a:noFill/>
          </a:ln>
          <a:effectLst>
            <a:outerShdw sx="100000" sy="100000" kx="0" ky="0" algn="bl" rotWithShape="0" blurRad="127000" dist="38100" dir="5400000">
              <a:srgbClr val="1F162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810000"/>
            <a:ext cx="2065020" cy="2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 spc="100">
                <a:solidFill>
                  <a:srgbClr val="A81E48"/>
                </a:solidFill>
                <a:latin typeface="Calibri"/>
              </a:rPr>
              <a:t>EVIDENCE GATE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070000"/>
            <a:ext cx="2065020" cy="6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E5E66"/>
                </a:solidFill>
                <a:latin typeface="Calibri"/>
              </a:rPr>
              <a:t>Prove one workflow works</a:t>
            </a:r>
          </a:p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E5E66"/>
                </a:solidFill>
                <a:latin typeface="Calibri"/>
              </a:rPr>
              <a:t>for one segment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436620" y="4650000"/>
            <a:ext cx="2522220" cy="115000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>
            <a:noFill/>
          </a:ln>
          <a:effectLst>
            <a:outerShdw sx="100000" sy="100000" kx="0" ky="0" algn="bl" rotWithShape="0" blurRad="127000" dist="38100" dir="5400000">
              <a:srgbClr val="1F162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65220" y="4810000"/>
            <a:ext cx="2065020" cy="2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 spc="100">
                <a:solidFill>
                  <a:srgbClr val="A81E48"/>
                </a:solidFill>
                <a:latin typeface="Calibri"/>
              </a:rPr>
              <a:t>EVIDENCE GATE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65220" y="5070000"/>
            <a:ext cx="2065020" cy="6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E5E66"/>
                </a:solidFill>
                <a:latin typeface="Calibri"/>
              </a:rPr>
              <a:t>≥4 customers repeat it;</a:t>
            </a:r>
          </a:p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E5E66"/>
                </a:solidFill>
                <a:latin typeface="Calibri"/>
              </a:rPr>
              <a:t>≥2 paid or committed pilots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33160" y="4650000"/>
            <a:ext cx="2522220" cy="115000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>
            <a:noFill/>
          </a:ln>
          <a:effectLst>
            <a:outerShdw sx="100000" sy="100000" kx="0" ky="0" algn="bl" rotWithShape="0" blurRad="127000" dist="38100" dir="5400000">
              <a:srgbClr val="1F162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61760" y="4810000"/>
            <a:ext cx="2065020" cy="2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 spc="100">
                <a:solidFill>
                  <a:srgbClr val="A81E48"/>
                </a:solidFill>
                <a:latin typeface="Calibri"/>
              </a:rPr>
              <a:t>EVIDENCE GATE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61760" y="5070000"/>
            <a:ext cx="2065020" cy="6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E5E66"/>
                </a:solidFill>
                <a:latin typeface="Calibri"/>
              </a:rPr>
              <a:t>Renewal, manager pull,</a:t>
            </a:r>
          </a:p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E5E66"/>
                </a:solidFill>
                <a:latin typeface="Calibri"/>
              </a:rPr>
              <a:t>repeatable across teams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29700" y="4650000"/>
            <a:ext cx="2522220" cy="115000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>
            <a:noFill/>
          </a:ln>
          <a:effectLst>
            <a:outerShdw sx="100000" sy="100000" kx="0" ky="0" algn="bl" rotWithShape="0" blurRad="127000" dist="38100" dir="5400000">
              <a:srgbClr val="1F162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58300" y="4810000"/>
            <a:ext cx="2065020" cy="2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 spc="100">
                <a:solidFill>
                  <a:srgbClr val="A81E48"/>
                </a:solidFill>
                <a:latin typeface="Calibri"/>
              </a:rPr>
              <a:t>EVIDENCE GATE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58300" y="5070000"/>
            <a:ext cx="2065020" cy="6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E5E66"/>
                </a:solidFill>
                <a:latin typeface="Calibri"/>
              </a:rPr>
              <a:t>Expansion happens without</a:t>
            </a:r>
          </a:p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E5E66"/>
                </a:solidFill>
                <a:latin typeface="Calibri"/>
              </a:rPr>
              <a:t>services-heavy customization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E5E66"/>
                </a:solidFill>
                <a:latin typeface="Calibri"/>
              </a:rPr>
              <a:t>B2B Product Strategy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37520" y="640080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6E5E66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200">
                <a:solidFill>
                  <a:srgbClr val="A81E48"/>
                </a:solidFill>
                <a:latin typeface="Calibri"/>
              </a:rPr>
              <a:t>FIVE QUESTIONS, ONE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11840" cy="5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1620"/>
                </a:solidFill>
                <a:latin typeface="Cambria"/>
              </a:rPr>
              <a:t>What the assignment asked, answered once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700000"/>
          <a:ext cx="10911840" cy="40600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750000"/>
                <a:gridCol w="6800000"/>
                <a:gridCol w="2361840"/>
              </a:tblGrid>
              <a:tr h="44000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STEP</a:t>
                      </a:r>
                    </a:p>
                  </a:txBody>
                  <a:tcPr marL="91440" marR="91440" marT="45720" marB="45720" anchor="ctr">
                    <a:solidFill>
                      <a:srgbClr val="1F16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ANSWER</a:t>
                      </a:r>
                    </a:p>
                  </a:txBody>
                  <a:tcPr marL="91440" marR="91440" marT="45720" marB="45720" anchor="ctr">
                    <a:solidFill>
                      <a:srgbClr val="1F16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91440" marR="91440" marT="45720" marB="45720" anchor="ctr">
                    <a:solidFill>
                      <a:srgbClr val="1F1620"/>
                    </a:solidFill>
                  </a:tcPr>
                </a:tc>
              </a:tr>
              <a:tr h="6400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F1620"/>
                          </a:solidFill>
                          <a:latin typeface="Calibri"/>
                        </a:rPr>
                        <a:t>1. Segment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6E5E66"/>
                          </a:solidFill>
                          <a:latin typeface="Calibri"/>
                        </a:rPr>
                        <a:t>Support-led B2B SaaS / tech-enabled services, 51–1,000 employees, existing helpdesk + CRM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6E5E66"/>
                          </a:solidFill>
                          <a:latin typeface="Calibri"/>
                        </a:rPr>
                        <a:t>Sampling hypothesis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800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F1620"/>
                          </a:solidFill>
                          <a:latin typeface="Calibri"/>
                        </a:rPr>
                        <a:t>2. Market</a:t>
                      </a:r>
                    </a:p>
                  </a:txBody>
                  <a:tcPr marL="91440" marR="91440" marT="45720" marB="45720" anchor="ctr">
                    <a:solidFill>
                      <a:srgbClr val="FAF5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6E5E66"/>
                          </a:solidFill>
                          <a:latin typeface="Calibri"/>
                        </a:rPr>
                        <a:t>Large adjacent category (contact-center + helpdesk software); support work is frequent; AI adoption is rising while mature deployment stays rare</a:t>
                      </a:r>
                    </a:p>
                  </a:txBody>
                  <a:tcPr marL="91440" marR="91440" marT="45720" marB="45720" anchor="ctr">
                    <a:solidFill>
                      <a:srgbClr val="FAF5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6E5E66"/>
                          </a:solidFill>
                          <a:latin typeface="Calibri"/>
                        </a:rPr>
                        <a:t>Supported directionally</a:t>
                      </a:r>
                    </a:p>
                  </a:txBody>
                  <a:tcPr marL="91440" marR="91440" marT="45720" marB="45720" anchor="ctr">
                    <a:solidFill>
                      <a:srgbClr val="FAF5F3"/>
                    </a:solidFill>
                  </a:tcPr>
                </a:tc>
              </a:tr>
              <a:tr h="7800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F1620"/>
                          </a:solidFill>
                          <a:latin typeface="Calibri"/>
                        </a:rPr>
                        <a:t>3. Core problem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6E5E66"/>
                          </a:solidFill>
                          <a:latin typeface="Calibri"/>
                        </a:rPr>
                        <a:t>Fragmented context and approvals during difficult, cross-system cases — 20–25 min/case; 15 min duplicate logging + 4–6 hr approval wait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6E5E66"/>
                          </a:solidFill>
                          <a:latin typeface="Calibri"/>
                        </a:rPr>
                        <a:t>Leading hypothesis (2/4 gates)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800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F1620"/>
                          </a:solidFill>
                          <a:latin typeface="Calibri"/>
                        </a:rPr>
                        <a:t>4. Moat</a:t>
                      </a:r>
                    </a:p>
                  </a:txBody>
                  <a:tcPr marL="91440" marR="91440" marT="45720" marB="45720" anchor="ctr">
                    <a:solidFill>
                      <a:srgbClr val="FAF5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6E5E66"/>
                          </a:solidFill>
                          <a:latin typeface="Calibri"/>
                        </a:rPr>
                        <a:t>Workflow evaluation data, reliable action contracts, a correction loop, and repeatable deployment — not the model or the connector list</a:t>
                      </a:r>
                    </a:p>
                  </a:txBody>
                  <a:tcPr marL="91440" marR="91440" marT="45720" marB="45720" anchor="ctr">
                    <a:solidFill>
                      <a:srgbClr val="FAF5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6E5E66"/>
                          </a:solidFill>
                          <a:latin typeface="Calibri"/>
                        </a:rPr>
                        <a:t>Candidate, unproven</a:t>
                      </a:r>
                    </a:p>
                  </a:txBody>
                  <a:tcPr marL="91440" marR="91440" marT="45720" marB="45720" anchor="ctr">
                    <a:solidFill>
                      <a:srgbClr val="FAF5F3"/>
                    </a:solidFill>
                  </a:tcPr>
                </a:tc>
              </a:tr>
              <a:tr h="6400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F1620"/>
                          </a:solidFill>
                          <a:latin typeface="Calibri"/>
                        </a:rPr>
                        <a:t>5. Land &amp; expand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6E5E66"/>
                          </a:solidFill>
                          <a:latin typeface="Calibri"/>
                        </a:rPr>
                        <a:t>Land one workflow with Support → prove it's safe and cheaper → expand to adjacent workflows and teams → earn the platform claim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6E5E66"/>
                          </a:solidFill>
                          <a:latin typeface="Calibri"/>
                        </a:rPr>
                        <a:t>Sequencing principle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6120000"/>
            <a:ext cx="10911840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6E5E66"/>
                </a:solidFill>
                <a:latin typeface="Calibri"/>
              </a:rPr>
              <a:t>Full evidence behind every row → appendix, slides 12–24.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E5E66"/>
                </a:solidFill>
                <a:latin typeface="Calibri"/>
              </a:rPr>
              <a:t>B2B Product Strategy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37520" y="640080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6E5E66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200">
                <a:solidFill>
                  <a:srgbClr val="A81E48"/>
                </a:solidFill>
                <a:latin typeface="Calibri"/>
              </a:rPr>
              <a:t>WHERE WE COMPETE — AND WON'T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11840" cy="5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1620"/>
                </a:solidFill>
                <a:latin typeface="Cambria"/>
              </a:rPr>
              <a:t>Three calls on where the product sits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0000"/>
            <a:ext cx="3447288" cy="420000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>
            <a:noFill/>
          </a:ln>
          <a:effectLst>
            <a:outerShdw sx="100000" sy="100000" kx="0" ky="0" algn="bl" rotWithShape="0" blurRad="127000" dist="38100" dir="5400000">
              <a:srgbClr val="1F162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2072608"/>
            <a:ext cx="1750000" cy="365760"/>
          </a:xfrm>
          <a:prstGeom prst="roundRect">
            <a:avLst>
              <a:gd name="adj" fmla="val 50000"/>
            </a:avLst>
          </a:prstGeom>
          <a:solidFill>
            <a:srgbClr val="A81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100">
                <a:solidFill>
                  <a:srgbClr val="FFFFFF"/>
                </a:solidFill>
                <a:latin typeface="Calibri"/>
              </a:rPr>
              <a:t>REJECTED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30000"/>
            <a:ext cx="2898648" cy="5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F1620"/>
                </a:solidFill>
                <a:latin typeface="Cambria"/>
              </a:rPr>
              <a:t>Another AI chatbot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360000"/>
            <a:ext cx="2898648" cy="2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E5E66"/>
                </a:solidFill>
                <a:latin typeface="Calibri"/>
              </a:rPr>
              <a:t>Table stakes. Intercom, Zendesk, Freshdesk and Salesforce already ship AI agents, integrations, actions and governance claims. Building one more doesn't earn anything.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61688" y="1780000"/>
            <a:ext cx="3447288" cy="420000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>
            <a:noFill/>
          </a:ln>
          <a:effectLst>
            <a:outerShdw sx="100000" sy="100000" kx="0" ky="0" algn="bl" rotWithShape="0" blurRad="127000" dist="38100" dir="5400000">
              <a:srgbClr val="1F162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636008" y="2072608"/>
            <a:ext cx="1750000" cy="365760"/>
          </a:xfrm>
          <a:prstGeom prst="roundRect">
            <a:avLst>
              <a:gd name="adj" fmla="val 50000"/>
            </a:avLst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100">
                <a:solidFill>
                  <a:srgbClr val="FFFFFF"/>
                </a:solidFill>
                <a:latin typeface="Calibri"/>
              </a:rPr>
              <a:t>THE WEDGE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6008" y="2730000"/>
            <a:ext cx="2898648" cy="5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F1620"/>
                </a:solidFill>
                <a:latin typeface="Cambria"/>
              </a:rPr>
              <a:t>Workflow completeness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8" y="3360000"/>
            <a:ext cx="2898648" cy="2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E5E66"/>
                </a:solidFill>
                <a:latin typeface="Calibri"/>
              </a:rPr>
              <a:t>Assemble permissioned context, show the evidence used, route approval, preserve the full handoff, write the result back — across one small stack. Not proven. Testable in a pilot.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83296" y="1780000"/>
            <a:ext cx="3447288" cy="420000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>
            <a:noFill/>
          </a:ln>
          <a:effectLst>
            <a:outerShdw sx="100000" sy="100000" kx="0" ky="0" algn="bl" rotWithShape="0" blurRad="127000" dist="38100" dir="5400000">
              <a:srgbClr val="1F162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357616" y="2072608"/>
            <a:ext cx="1750000" cy="365760"/>
          </a:xfrm>
          <a:prstGeom prst="roundRect">
            <a:avLst>
              <a:gd name="adj" fmla="val 50000"/>
            </a:avLst>
          </a:prstGeom>
          <a:solidFill>
            <a:srgbClr val="8A7B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100">
                <a:solidFill>
                  <a:srgbClr val="FFFFFF"/>
                </a:solidFill>
                <a:latin typeface="Calibri"/>
              </a:rPr>
              <a:t>NOT YET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7616" y="2730000"/>
            <a:ext cx="2898648" cy="5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F1620"/>
                </a:solidFill>
                <a:latin typeface="Cambria"/>
              </a:rPr>
              <a:t>A broad platform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7616" y="3360000"/>
            <a:ext cx="2898648" cy="2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E5E66"/>
                </a:solidFill>
                <a:latin typeface="Calibri"/>
              </a:rPr>
              <a:t>Earned only after one workflow is repeatable and profitable across four or more customers. Calling it a platform today would be a claim, not a fact.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E5E66"/>
                </a:solidFill>
                <a:latin typeface="Calibri"/>
              </a:rPr>
              <a:t>B2B Product Strategy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37520" y="640080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6E5E66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200">
                <a:solidFill>
                  <a:srgbClr val="A81E48"/>
                </a:solidFill>
                <a:latin typeface="Calibri"/>
              </a:rPr>
              <a:t>FOUR INTERVIEWS, ONE DIRECTION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11840" cy="5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1620"/>
                </a:solidFill>
                <a:latin typeface="Cambria"/>
              </a:rPr>
              <a:t>Different companies. The same shape of pain.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0000"/>
            <a:ext cx="5318760" cy="200000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>
            <a:noFill/>
          </a:ln>
          <a:effectLst>
            <a:outerShdw sx="100000" sy="100000" kx="0" ky="0" algn="bl" rotWithShape="0" blurRad="127000" dist="38100" dir="5400000">
              <a:srgbClr val="1F162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2054320"/>
            <a:ext cx="500000" cy="500000"/>
          </a:xfrm>
          <a:prstGeom prst="ellipse">
            <a:avLst/>
          </a:prstGeom>
          <a:solidFill>
            <a:srgbClr val="A81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40080" y="2100000"/>
            <a:ext cx="4168760" cy="5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1F1620"/>
                </a:solidFill>
                <a:latin typeface="Calibri"/>
              </a:rPr>
              <a:t>Enterprise outsourced support · frontline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30000"/>
            <a:ext cx="4770120" cy="8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6E5E66"/>
                </a:solidFill>
                <a:latin typeface="Calibri"/>
              </a:rPr>
              <a:t>5–6 difficult cases a day; 20–25 minutes of context work per case; the answer given over Teams wasn't kept anywhere durable.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3160" y="1780000"/>
            <a:ext cx="5318760" cy="200000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>
            <a:noFill/>
          </a:ln>
          <a:effectLst>
            <a:outerShdw sx="100000" sy="100000" kx="0" ky="0" algn="bl" rotWithShape="0" blurRad="127000" dist="38100" dir="5400000">
              <a:srgbClr val="1F162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07480" y="2054320"/>
            <a:ext cx="500000" cy="500000"/>
          </a:xfrm>
          <a:prstGeom prst="ellipse">
            <a:avLst/>
          </a:prstGeom>
          <a:solidFill>
            <a:srgbClr val="A81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3160" y="2100000"/>
            <a:ext cx="4168760" cy="5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1F1620"/>
                </a:solidFill>
                <a:latin typeface="Calibri"/>
              </a:rPr>
              <a:t>Enterprise banking complaints · frontline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07480" y="2730000"/>
            <a:ext cx="4770120" cy="8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6E5E66"/>
                </a:solidFill>
                <a:latin typeface="Calibri"/>
              </a:rPr>
              <a:t>15 minutes of duplicate logging per case; 4–6 hour formal approval wait; audit evidence manually attached across systems.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008600"/>
            <a:ext cx="5318760" cy="200000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>
            <a:noFill/>
          </a:ln>
          <a:effectLst>
            <a:outerShdw sx="100000" sy="100000" kx="0" ky="0" algn="bl" rotWithShape="0" blurRad="127000" dist="38100" dir="5400000">
              <a:srgbClr val="1F162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14400" y="4282920"/>
            <a:ext cx="500000" cy="500000"/>
          </a:xfrm>
          <a:prstGeom prst="ellipse">
            <a:avLst/>
          </a:prstGeom>
          <a:solidFill>
            <a:srgbClr val="A81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40080" y="4328600"/>
            <a:ext cx="4168760" cy="5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1F1620"/>
                </a:solidFill>
                <a:latin typeface="Calibri"/>
              </a:rPr>
              <a:t>Mid-market (~400 people) · application approval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958600"/>
            <a:ext cx="4770120" cy="8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6E5E66"/>
                </a:solidFill>
                <a:latin typeface="Calibri"/>
              </a:rPr>
              <a:t>Approved an AI analytics pilot only after limiting it to two Zendesk queues and disabling write-back.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3160" y="4008600"/>
            <a:ext cx="5318760" cy="200000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>
            <a:noFill/>
          </a:ln>
          <a:effectLst>
            <a:outerShdw sx="100000" sy="100000" kx="0" ky="0" algn="bl" rotWithShape="0" blurRad="127000" dist="38100" dir="5400000">
              <a:srgbClr val="1F162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507480" y="4282920"/>
            <a:ext cx="500000" cy="500000"/>
          </a:xfrm>
          <a:prstGeom prst="ellipse">
            <a:avLst/>
          </a:prstGeom>
          <a:solidFill>
            <a:srgbClr val="A81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3160" y="4328600"/>
            <a:ext cx="4168760" cy="5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1F1620"/>
                </a:solidFill>
                <a:latin typeface="Calibri"/>
              </a:rPr>
              <a:t>Mid-market B2B SaaS/services · frontline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07480" y="4958600"/>
            <a:ext cx="4770120" cy="8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6E5E66"/>
                </a:solidFill>
                <a:latin typeface="Calibri"/>
              </a:rPr>
              <a:t>Manually reconstructed Zendesk information inside Jira for an engineering escalation; warned against adding another duplicate system.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120000"/>
            <a:ext cx="10911840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1">
                <a:solidFill>
                  <a:srgbClr val="A81E48"/>
                </a:solidFill>
                <a:latin typeface="Calibri"/>
              </a:rPr>
              <a:t>None of the four validated demand for a new product. All four showed the same shape of pain: context split across systems, and no safe way to act on it.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E5E66"/>
                </a:solidFill>
                <a:latin typeface="Calibri"/>
              </a:rPr>
              <a:t>B2B Product Strategy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37520" y="640080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6E5E66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200">
                <a:solidFill>
                  <a:srgbClr val="A81E48"/>
                </a:solidFill>
                <a:latin typeface="Calibri"/>
              </a:rPr>
              <a:t>WHAT WE'D BUILD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11840" cy="5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1620"/>
                </a:solidFill>
                <a:latin typeface="Cambria"/>
              </a:rPr>
              <a:t>One workflow, six steps, human in the loop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820000"/>
            <a:ext cx="400000" cy="400000"/>
          </a:xfrm>
          <a:prstGeom prst="ellipse">
            <a:avLst/>
          </a:prstGeom>
          <a:solidFill>
            <a:srgbClr val="A81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90080" y="1780000"/>
            <a:ext cx="3300000" cy="47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F1620"/>
                </a:solidFill>
                <a:latin typeface="Cambria"/>
              </a:rPr>
              <a:t>Detect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90080" y="1780000"/>
            <a:ext cx="6961840" cy="47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6E5E66"/>
                </a:solidFill>
                <a:latin typeface="Calibri"/>
              </a:rPr>
              <a:t>Identify a difficult or escalated case inside the existing helpdesk.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40080" y="2250000"/>
            <a:ext cx="10911840" cy="0"/>
          </a:xfrm>
          <a:prstGeom prst="line">
            <a:avLst/>
          </a:prstGeom>
          <a:ln w="9525">
            <a:solidFill>
              <a:srgbClr val="DED1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640080" y="2290000"/>
            <a:ext cx="400000" cy="400000"/>
          </a:xfrm>
          <a:prstGeom prst="ellipse">
            <a:avLst/>
          </a:prstGeom>
          <a:solidFill>
            <a:srgbClr val="A81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90080" y="2250000"/>
            <a:ext cx="3300000" cy="47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F1620"/>
                </a:solidFill>
                <a:latin typeface="Cambria"/>
              </a:rPr>
              <a:t>Resolve identity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080" y="2250000"/>
            <a:ext cx="6961840" cy="47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6E5E66"/>
                </a:solidFill>
                <a:latin typeface="Calibri"/>
              </a:rPr>
              <a:t>Link the customer or account across the helpdesk and one system of record.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40080" y="2720000"/>
            <a:ext cx="10911840" cy="0"/>
          </a:xfrm>
          <a:prstGeom prst="line">
            <a:avLst/>
          </a:prstGeom>
          <a:ln w="9525">
            <a:solidFill>
              <a:srgbClr val="DED1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640080" y="2760000"/>
            <a:ext cx="400000" cy="400000"/>
          </a:xfrm>
          <a:prstGeom prst="ellipse">
            <a:avLst/>
          </a:prstGeom>
          <a:solidFill>
            <a:srgbClr val="A81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90080" y="2720000"/>
            <a:ext cx="3300000" cy="47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F1620"/>
                </a:solidFill>
                <a:latin typeface="Cambria"/>
              </a:rPr>
              <a:t>Assemble context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080" y="2720000"/>
            <a:ext cx="6961840" cy="47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6E5E66"/>
                </a:solidFill>
                <a:latin typeface="Calibri"/>
              </a:rPr>
              <a:t>Retrieve recent ticket, account and approval state, read-only first, with sources shown.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40080" y="3190000"/>
            <a:ext cx="10911840" cy="0"/>
          </a:xfrm>
          <a:prstGeom prst="line">
            <a:avLst/>
          </a:prstGeom>
          <a:ln w="9525">
            <a:solidFill>
              <a:srgbClr val="DED1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40080" y="3230000"/>
            <a:ext cx="400000" cy="400000"/>
          </a:xfrm>
          <a:prstGeom prst="ellipse">
            <a:avLst/>
          </a:prstGeom>
          <a:solidFill>
            <a:srgbClr val="A81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90080" y="3190000"/>
            <a:ext cx="3300000" cy="47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F1620"/>
                </a:solidFill>
                <a:latin typeface="Cambria"/>
              </a:rPr>
              <a:t>Recommend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0080" y="3190000"/>
            <a:ext cx="6961840" cy="47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6E5E66"/>
                </a:solidFill>
                <a:latin typeface="Calibri"/>
              </a:rPr>
              <a:t>Summarize history, gap and next action; draft a customer update. No invented data.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40080" y="3660000"/>
            <a:ext cx="10911840" cy="0"/>
          </a:xfrm>
          <a:prstGeom prst="line">
            <a:avLst/>
          </a:prstGeom>
          <a:ln w="9525">
            <a:solidFill>
              <a:srgbClr val="DED1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640080" y="3700000"/>
            <a:ext cx="400000" cy="400000"/>
          </a:xfrm>
          <a:prstGeom prst="ellipse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90080" y="3660000"/>
            <a:ext cx="3300000" cy="47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F1620"/>
                </a:solidFill>
                <a:latin typeface="Cambria"/>
              </a:rPr>
              <a:t>Approve / hand off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90080" y="3660000"/>
            <a:ext cx="6961840" cy="47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6E5E66"/>
                </a:solidFill>
                <a:latin typeface="Calibri"/>
              </a:rPr>
              <a:t>Route high-risk steps to the right person with complete context; human approval.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40080" y="4130000"/>
            <a:ext cx="10911840" cy="0"/>
          </a:xfrm>
          <a:prstGeom prst="line">
            <a:avLst/>
          </a:prstGeom>
          <a:ln w="9525">
            <a:solidFill>
              <a:srgbClr val="DED1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640080" y="4170000"/>
            <a:ext cx="400000" cy="400000"/>
          </a:xfrm>
          <a:prstGeom prst="ellipse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90080" y="4130000"/>
            <a:ext cx="3300000" cy="47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F1620"/>
                </a:solidFill>
                <a:latin typeface="Cambria"/>
              </a:rPr>
              <a:t>Write back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90080" y="4130000"/>
            <a:ext cx="6961840" cy="47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6E5E66"/>
                </a:solidFill>
                <a:latin typeface="Calibri"/>
              </a:rPr>
              <a:t>Record the outcome, source and next step in the system of record, with audit and retry.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4760000"/>
            <a:ext cx="10911840" cy="560000"/>
          </a:xfrm>
          <a:prstGeom prst="roundRect">
            <a:avLst>
              <a:gd name="adj" fmla="val 3182"/>
            </a:avLst>
          </a:prstGeom>
          <a:solidFill>
            <a:srgbClr val="ECE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4760000"/>
            <a:ext cx="10454640" cy="5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A81E48"/>
                </a:solidFill>
                <a:latin typeface="Calibri"/>
              </a:rPr>
              <a:t>NOT NOW:   </a:t>
            </a:r>
            <a:r>
              <a:rPr sz="1100" b="1" i="0">
                <a:solidFill>
                  <a:srgbClr val="1F1620"/>
                </a:solidFill>
                <a:latin typeface="Calibri"/>
              </a:rPr>
              <a:t>helpdesk replacement, open-ended autonomous actions, regulated approval decisions, or calling this a platform.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E5E66"/>
                </a:solidFill>
                <a:latin typeface="Calibri"/>
              </a:rPr>
              <a:t>B2B Product Strategy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37520" y="640080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6E5E66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200">
                <a:solidFill>
                  <a:srgbClr val="A81E48"/>
                </a:solidFill>
                <a:latin typeface="Calibri"/>
              </a:rPr>
              <a:t>MOAT: WHAT COMPOUNDS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11840" cy="5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1620"/>
                </a:solidFill>
                <a:latin typeface="Cambria"/>
              </a:rPr>
              <a:t>Not the model. What repeats after it.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840000"/>
            <a:ext cx="400000" cy="400000"/>
          </a:xfrm>
          <a:prstGeom prst="ellipse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90080" y="1780000"/>
            <a:ext cx="3300000" cy="6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1F1620"/>
                </a:solidFill>
                <a:latin typeface="Cambria"/>
              </a:rPr>
              <a:t>Workflow evaluation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90080" y="1780000"/>
            <a:ext cx="6961840" cy="6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E5E66"/>
                </a:solidFill>
                <a:latin typeface="Calibri"/>
              </a:rPr>
              <a:t>Permissioned cases define correct resolution, safe refusal and durable completion — task success improves across deployments.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40080" y="2420000"/>
            <a:ext cx="10911840" cy="0"/>
          </a:xfrm>
          <a:prstGeom prst="line">
            <a:avLst/>
          </a:prstGeom>
          <a:ln w="9525">
            <a:solidFill>
              <a:srgbClr val="DED1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640080" y="2480000"/>
            <a:ext cx="400000" cy="400000"/>
          </a:xfrm>
          <a:prstGeom prst="ellipse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90080" y="2420000"/>
            <a:ext cx="3300000" cy="6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1F1620"/>
                </a:solidFill>
                <a:latin typeface="Cambria"/>
              </a:rPr>
              <a:t>Reliable action contracts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080" y="2420000"/>
            <a:ext cx="6961840" cy="6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E5E66"/>
                </a:solidFill>
                <a:latin typeface="Calibri"/>
              </a:rPr>
              <a:t>Versioned scopes, idempotency, retries, audit and rollback — deployment time and failure rate fall with reuse.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40080" y="3060000"/>
            <a:ext cx="10911840" cy="0"/>
          </a:xfrm>
          <a:prstGeom prst="line">
            <a:avLst/>
          </a:prstGeom>
          <a:ln w="9525">
            <a:solidFill>
              <a:srgbClr val="DED1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640080" y="3120000"/>
            <a:ext cx="400000" cy="400000"/>
          </a:xfrm>
          <a:prstGeom prst="ellipse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90080" y="3060000"/>
            <a:ext cx="3300000" cy="6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1F1620"/>
                </a:solidFill>
                <a:latin typeface="Cambria"/>
              </a:rPr>
              <a:t>Operational learning loop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080" y="3060000"/>
            <a:ext cx="6961840" cy="6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E5E66"/>
                </a:solidFill>
                <a:latin typeface="Calibri"/>
              </a:rPr>
              <a:t>Corrections, reopens and knowledge gaps become regression tests and release gates — quality improves without leakage.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40080" y="3700000"/>
            <a:ext cx="10911840" cy="0"/>
          </a:xfrm>
          <a:prstGeom prst="line">
            <a:avLst/>
          </a:prstGeom>
          <a:ln w="9525">
            <a:solidFill>
              <a:srgbClr val="DED1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40080" y="3760000"/>
            <a:ext cx="400000" cy="400000"/>
          </a:xfrm>
          <a:prstGeom prst="ellipse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90080" y="3700000"/>
            <a:ext cx="3300000" cy="6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1F1620"/>
                </a:solidFill>
                <a:latin typeface="Cambria"/>
              </a:rPr>
              <a:t>Repeatable deployment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0080" y="3700000"/>
            <a:ext cx="6961840" cy="6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E5E66"/>
                </a:solidFill>
                <a:latin typeface="Calibri"/>
              </a:rPr>
              <a:t>Templates for common stack + workflow combinations cut services effort — margin improves, implementation time drops.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40080" y="4340000"/>
            <a:ext cx="10911840" cy="0"/>
          </a:xfrm>
          <a:prstGeom prst="line">
            <a:avLst/>
          </a:prstGeom>
          <a:ln w="9525">
            <a:solidFill>
              <a:srgbClr val="DED1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640080" y="4400000"/>
            <a:ext cx="400000" cy="400000"/>
          </a:xfrm>
          <a:prstGeom prst="ellipse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90080" y="4340000"/>
            <a:ext cx="3300000" cy="6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1F1620"/>
                </a:solidFill>
                <a:latin typeface="Cambria"/>
              </a:rPr>
              <a:t>Switching cost through trusted operations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90080" y="4340000"/>
            <a:ext cx="6961840" cy="6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E5E66"/>
                </a:solidFill>
                <a:latin typeface="Calibri"/>
              </a:rPr>
              <a:t>Embedded permissions, evaluation history and workflow evidence make replacement costly — earned through use, not lock-in.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120000"/>
            <a:ext cx="1091184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6E5E66"/>
                </a:solidFill>
                <a:latin typeface="Calibri"/>
              </a:rPr>
              <a:t>No network-effect claim yet — cross-customer learning is unsupported until a legal, secure, consented aggregation model exists.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E5E66"/>
                </a:solidFill>
                <a:latin typeface="Calibri"/>
              </a:rPr>
              <a:t>B2B Product Strategy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37520" y="640080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6E5E66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200">
                <a:solidFill>
                  <a:srgbClr val="A81E48"/>
                </a:solidFill>
                <a:latin typeface="Calibri"/>
              </a:rPr>
              <a:t>LAND AND EXPAND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11840" cy="5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1620"/>
                </a:solidFill>
                <a:latin typeface="Cambria"/>
              </a:rPr>
              <a:t>Small door in. Wide footprint, only if earned.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0000"/>
            <a:ext cx="2556510" cy="205000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>
            <a:noFill/>
          </a:ln>
          <a:effectLst>
            <a:outerShdw sx="100000" sy="100000" kx="0" ky="0" algn="bl" rotWithShape="0" blurRad="127000" dist="38100" dir="5400000">
              <a:srgbClr val="1F162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2030000"/>
            <a:ext cx="2099310" cy="340000"/>
          </a:xfrm>
          <a:prstGeom prst="roundRect">
            <a:avLst>
              <a:gd name="adj" fmla="val 50000"/>
            </a:avLst>
          </a:prstGeom>
          <a:solidFill>
            <a:srgbClr val="A81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 spc="100">
                <a:solidFill>
                  <a:srgbClr val="FFFFFF"/>
                </a:solidFill>
                <a:latin typeface="Calibri"/>
              </a:rPr>
              <a:t>LAND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560000"/>
            <a:ext cx="2099310" cy="11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E5E66"/>
                </a:solidFill>
                <a:latin typeface="Calibri"/>
              </a:rPr>
              <a:t>One segment, one helpdesk, one system, one workflow.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E5E66"/>
                </a:solidFill>
                <a:latin typeface="Calibri"/>
              </a:rPr>
              <a:t>Buyer: Head/VP Support or Customer Ops.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6590" y="2655000"/>
            <a:ext cx="2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8A7B81"/>
                </a:solidFill>
                <a:latin typeface="Calibri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5190" y="1780000"/>
            <a:ext cx="2556510" cy="205000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>
            <a:noFill/>
          </a:ln>
          <a:effectLst>
            <a:outerShdw sx="100000" sy="100000" kx="0" ky="0" algn="bl" rotWithShape="0" blurRad="127000" dist="38100" dir="5400000">
              <a:srgbClr val="1F162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653790" y="2030000"/>
            <a:ext cx="2099310" cy="340000"/>
          </a:xfrm>
          <a:prstGeom prst="roundRect">
            <a:avLst>
              <a:gd name="adj" fmla="val 50000"/>
            </a:avLst>
          </a:prstGeom>
          <a:solidFill>
            <a:srgbClr val="A81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 spc="100">
                <a:solidFill>
                  <a:srgbClr val="FFFFFF"/>
                </a:solidFill>
                <a:latin typeface="Calibri"/>
              </a:rPr>
              <a:t>CONTROL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3790" y="2560000"/>
            <a:ext cx="2099310" cy="11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E5E66"/>
                </a:solidFill>
                <a:latin typeface="Calibri"/>
              </a:rPr>
              <a:t>Read-only first. Shadow mode. Human approval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E5E66"/>
                </a:solidFill>
                <a:latin typeface="Calibri"/>
              </a:rPr>
              <a:t>on every high-risk step.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91700" y="2655000"/>
            <a:ext cx="2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8A7B81"/>
                </a:solidFill>
                <a:latin typeface="Calibr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0300" y="1780000"/>
            <a:ext cx="2556510" cy="205000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>
            <a:noFill/>
          </a:ln>
          <a:effectLst>
            <a:outerShdw sx="100000" sy="100000" kx="0" ky="0" algn="bl" rotWithShape="0" blurRad="127000" dist="38100" dir="5400000">
              <a:srgbClr val="1F162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38900" y="2030000"/>
            <a:ext cx="2099310" cy="340000"/>
          </a:xfrm>
          <a:prstGeom prst="roundRect">
            <a:avLst>
              <a:gd name="adj" fmla="val 50000"/>
            </a:avLst>
          </a:prstGeom>
          <a:solidFill>
            <a:srgbClr val="8A7B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 spc="100">
                <a:solidFill>
                  <a:srgbClr val="FFFFFF"/>
                </a:solidFill>
                <a:latin typeface="Calibri"/>
              </a:rPr>
              <a:t>PROVE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8900" y="2560000"/>
            <a:ext cx="2099310" cy="11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E5E66"/>
                </a:solidFill>
                <a:latin typeface="Calibri"/>
              </a:rPr>
              <a:t>30–60 day paid or committed pilot.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E5E66"/>
                </a:solidFill>
                <a:latin typeface="Calibri"/>
              </a:rPr>
              <a:t>Durable resolution, safety, effort, total cost.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6810" y="2655000"/>
            <a:ext cx="2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8A7B81"/>
                </a:solidFill>
                <a:latin typeface="Calibr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95410" y="1780000"/>
            <a:ext cx="2556510" cy="205000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>
            <a:noFill/>
          </a:ln>
          <a:effectLst>
            <a:outerShdw sx="100000" sy="100000" kx="0" ky="0" algn="bl" rotWithShape="0" blurRad="127000" dist="38100" dir="5400000">
              <a:srgbClr val="1F162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224010" y="2030000"/>
            <a:ext cx="2099310" cy="340000"/>
          </a:xfrm>
          <a:prstGeom prst="roundRect">
            <a:avLst>
              <a:gd name="adj" fmla="val 50000"/>
            </a:avLst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 spc="100">
                <a:solidFill>
                  <a:srgbClr val="FFFFFF"/>
                </a:solidFill>
                <a:latin typeface="Calibri"/>
              </a:rPr>
              <a:t>EXPAND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24010" y="2560000"/>
            <a:ext cx="2099310" cy="11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E5E66"/>
                </a:solidFill>
                <a:latin typeface="Calibri"/>
              </a:rPr>
              <a:t>Adjacent workflow or system for the same team,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E5E66"/>
                </a:solidFill>
                <a:latin typeface="Calibri"/>
              </a:rPr>
              <a:t>then customer success / operations.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080000"/>
            <a:ext cx="10911840" cy="700000"/>
          </a:xfrm>
          <a:prstGeom prst="roundRect">
            <a:avLst>
              <a:gd name="adj" fmla="val 3182"/>
            </a:avLst>
          </a:prstGeom>
          <a:solidFill>
            <a:srgbClr val="ECE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080000"/>
            <a:ext cx="10454640" cy="7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A81E48"/>
                </a:solidFill>
                <a:latin typeface="Calibri"/>
              </a:rPr>
              <a:t>EXPANSION TRIGGER   </a:t>
            </a:r>
            <a:r>
              <a:rPr sz="1200" b="1" i="0">
                <a:solidFill>
                  <a:srgbClr val="1F1620"/>
                </a:solidFill>
                <a:latin typeface="Calibri"/>
              </a:rPr>
              <a:t>measured workload reduction and reliable outcomes create internal pull. A platform mandate does not.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910000"/>
            <a:ext cx="1091184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6E5E66"/>
                </a:solidFill>
                <a:latin typeface="Calibri"/>
              </a:rPr>
              <a:t>Initial buyer: Head/VP Support or Customer Operations. Operator: Support Ops. Approvers: IT, security, procurement.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E5E66"/>
                </a:solidFill>
                <a:latin typeface="Calibri"/>
              </a:rPr>
              <a:t>B2B Product Strategy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37520" y="640080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6E5E66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400000"/>
            <a:ext cx="10911840" cy="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200">
                <a:solidFill>
                  <a:srgbClr val="A81E48"/>
                </a:solidFill>
                <a:latin typeface="Calibri"/>
              </a:rPr>
              <a:t>IN CLOSE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80000"/>
            <a:ext cx="10911840" cy="1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1F1620"/>
                </a:solidFill>
                <a:latin typeface="Cambria"/>
              </a:rPr>
              <a:t>Four decision gates. Zero fully met.</a:t>
            </a:r>
          </a:p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1F1620"/>
                </a:solidFill>
                <a:latin typeface="Cambria"/>
              </a:rPr>
              <a:t>That's the honest starting line.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450000"/>
            <a:ext cx="9711840" cy="9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6E5E66"/>
                </a:solidFill>
                <a:latin typeface="Calibri"/>
              </a:rPr>
              <a:t>The strategy is coherent. The evidence underneath it is not — yet. The fastest path isn't more AI, it's earning the right to automate one workflow, one interview at a time.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4750000"/>
            <a:ext cx="3000000" cy="0"/>
          </a:xfrm>
          <a:prstGeom prst="line">
            <a:avLst/>
          </a:prstGeom>
          <a:ln w="28575">
            <a:solidFill>
              <a:srgbClr val="A81E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4950000"/>
            <a:ext cx="1091184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F1620"/>
                </a:solidFill>
                <a:latin typeface="Cambria"/>
              </a:rPr>
              <a:t>Thank you — Praveen Veera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340000"/>
            <a:ext cx="10911840" cy="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6E5E66"/>
                </a:solidFill>
                <a:latin typeface="Calibri"/>
              </a:rPr>
              <a:t>Appendix follows — full evidence behind every claim in this story.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E5E66"/>
                </a:solidFill>
                <a:latin typeface="Calibri"/>
              </a:rPr>
              <a:t>B2B Product Strategy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37520" y="640080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6E5E66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600000"/>
            <a:ext cx="10911840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1F1620"/>
                </a:solidFill>
                <a:latin typeface="Cambria"/>
              </a:rPr>
              <a:t>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350000"/>
            <a:ext cx="1091184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1">
                <a:solidFill>
                  <a:srgbClr val="A81E48"/>
                </a:solidFill>
                <a:latin typeface="Cambria"/>
              </a:rPr>
              <a:t>The full evidence behind every slide in the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950000"/>
            <a:ext cx="9411840" cy="8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6E5E66"/>
                </a:solidFill>
                <a:latin typeface="Calibri"/>
              </a:rPr>
              <a:t>Methodology · segment and problem in full · market opportunity · four-vendor teardown · initial workflow and roadmap · moat mechanisms · GTM, metrics and pricing · risks, decision gates and evidence register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E5E66"/>
                </a:solidFill>
                <a:latin typeface="Calibri"/>
              </a:rPr>
              <a:t>B2B Product Strategy — Appendix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37520" y="640080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6E5E66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200">
                <a:solidFill>
                  <a:srgbClr val="A81E48"/>
                </a:solidFill>
                <a:latin typeface="Calibri"/>
              </a:rPr>
              <a:t>APPENDIX ·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11840" cy="5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1620"/>
                </a:solidFill>
                <a:latin typeface="Cambria"/>
              </a:rPr>
              <a:t>How the evidence was separated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780000"/>
            <a:ext cx="400000" cy="400000"/>
          </a:xfrm>
          <a:prstGeom prst="ellipse">
            <a:avLst/>
          </a:prstGeom>
          <a:solidFill>
            <a:srgbClr val="A81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90080" y="1740000"/>
            <a:ext cx="3300000" cy="9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1F1620"/>
                </a:solidFill>
                <a:latin typeface="Cambria"/>
              </a:rPr>
              <a:t>Four evidence layers, never mixed.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90080" y="1740000"/>
            <a:ext cx="6961840" cy="9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E5E66"/>
                </a:solidFill>
                <a:latin typeface="Calibri"/>
              </a:rPr>
              <a:t>Market/report studies, competitor product pages, public reviews and communities, and interviews each answer a different question and carry a different limitation. One layer never substitutes for another.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680000"/>
            <a:ext cx="400000" cy="400000"/>
          </a:xfrm>
          <a:prstGeom prst="ellipse">
            <a:avLst/>
          </a:prstGeom>
          <a:solidFill>
            <a:srgbClr val="A81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90080" y="2640000"/>
            <a:ext cx="3300000" cy="9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1F1620"/>
                </a:solidFill>
                <a:latin typeface="Cambria"/>
              </a:rPr>
              <a:t>Traceability is counted, not asserted.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0080" y="2640000"/>
            <a:ext cx="6961840" cy="9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E5E66"/>
                </a:solidFill>
                <a:latin typeface="Calibri"/>
              </a:rPr>
              <a:t>91 claim-level public evidence records link to 56 unique sources inside a 65-source register (64 external sources plus the assignment brief). 9 registered sources aren't linked to any evidence row. The 4 interviews are tracked separately.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580000"/>
            <a:ext cx="400000" cy="400000"/>
          </a:xfrm>
          <a:prstGeom prst="ellipse">
            <a:avLst/>
          </a:prstGeom>
          <a:solidFill>
            <a:srgbClr val="A81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0080" y="3540000"/>
            <a:ext cx="3300000" cy="9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1F1620"/>
                </a:solidFill>
                <a:latin typeface="Cambria"/>
              </a:rPr>
              <a:t>Interviews reconstruct one real recent case.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080" y="3540000"/>
            <a:ext cx="6961840" cy="9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E5E66"/>
                </a:solidFill>
                <a:latin typeface="Calibri"/>
              </a:rPr>
              <a:t>Each of the 4 anonymized interviews asked the participant to walk through one specific difficult case before any product concept was mentioned — not to react to a pitch.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480000"/>
            <a:ext cx="400000" cy="400000"/>
          </a:xfrm>
          <a:prstGeom prst="ellipse">
            <a:avLst/>
          </a:prstGeom>
          <a:solidFill>
            <a:srgbClr val="A81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90080" y="4440000"/>
            <a:ext cx="3300000" cy="9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1F1620"/>
                </a:solidFill>
                <a:latin typeface="Cambria"/>
              </a:rPr>
              <a:t>No policy-as-proof.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080" y="4440000"/>
            <a:ext cx="6961840" cy="9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E5E66"/>
                </a:solidFill>
                <a:latin typeface="Calibri"/>
              </a:rPr>
              <a:t>The brief lists policy documents as an example source, not a requirement. This strategy makes no legal or compliance claim, so no government policy is used as evidence of product-market fit.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5380000"/>
            <a:ext cx="400000" cy="400000"/>
          </a:xfrm>
          <a:prstGeom prst="ellipse">
            <a:avLst/>
          </a:prstGeom>
          <a:solidFill>
            <a:srgbClr val="A81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90080" y="5340000"/>
            <a:ext cx="3300000" cy="9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1F1620"/>
                </a:solidFill>
                <a:latin typeface="Cambria"/>
              </a:rPr>
              <a:t>Integrity rule, applied throughout.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0080" y="5340000"/>
            <a:ext cx="6961840" cy="9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E5E66"/>
                </a:solidFill>
                <a:latin typeface="Calibri"/>
              </a:rPr>
              <a:t>No review post is treated as an interview. No vendor statistic is treated as universal market fact. No paraphrased interview note is presented as a verbatim quote.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E5E66"/>
                </a:solidFill>
                <a:latin typeface="Calibri"/>
              </a:rPr>
              <a:t>B2B Product Strategy — Appendix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37520" y="640080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6E5E66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200">
                <a:solidFill>
                  <a:srgbClr val="A81E48"/>
                </a:solidFill>
                <a:latin typeface="Calibri"/>
              </a:rPr>
              <a:t>APPENDIX · SEGMENT AND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11840" cy="5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1620"/>
                </a:solidFill>
                <a:latin typeface="Cambria"/>
              </a:rPr>
              <a:t>Who it's for, and what breaks for them today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00000"/>
            <a:ext cx="10911840" cy="78000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00000"/>
            <a:ext cx="10454640" cy="78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A81E48"/>
                </a:solidFill>
                <a:latin typeface="Calibri"/>
              </a:rPr>
              <a:t>WORKING SEGMENT   </a:t>
            </a:r>
            <a:r>
              <a:rPr sz="1100" b="1" i="0">
                <a:solidFill>
                  <a:srgbClr val="1F1620"/>
                </a:solidFill>
                <a:latin typeface="Calibri"/>
              </a:rPr>
              <a:t>Support-led B2B SaaS / tech-enabled services, ~51–1,000 employees, an established helpdesk plus CRM or system of record, growing request volume, limited support-ops capacity.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2660000"/>
          <a:ext cx="10911840" cy="22800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900000"/>
                <a:gridCol w="4000000"/>
                <a:gridCol w="4011840"/>
              </a:tblGrid>
              <a:tr h="42000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EVIDENCE</a:t>
                      </a:r>
                    </a:p>
                  </a:txBody>
                  <a:tcPr marL="91440" marR="91440" marT="45720" marB="45720" anchor="ctr">
                    <a:solidFill>
                      <a:srgbClr val="1F16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PATTERN</a:t>
                      </a:r>
                    </a:p>
                  </a:txBody>
                  <a:tcPr marL="91440" marR="91440" marT="45720" marB="45720" anchor="ctr">
                    <a:solidFill>
                      <a:srgbClr val="1F16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SAFE CONCLUSION</a:t>
                      </a:r>
                    </a:p>
                  </a:txBody>
                  <a:tcPr marL="91440" marR="91440" marT="45720" marB="45720" anchor="ctr">
                    <a:solidFill>
                      <a:srgbClr val="1F1620"/>
                    </a:solidFill>
                  </a:tcPr>
                </a:tc>
              </a:tr>
              <a:tr h="62000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F1620"/>
                          </a:solidFill>
                          <a:latin typeface="Calibri"/>
                        </a:rPr>
                        <a:t>P01 + P04: complex frontline escalations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6E5E66"/>
                          </a:solidFill>
                          <a:latin typeface="Calibri"/>
                        </a:rPr>
                        <a:t>Context reconstructed across helpdesk, CRM, chat and engineering systems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6E5E66"/>
                          </a:solidFill>
                          <a:latin typeface="Calibri"/>
                        </a:rPr>
                        <a:t>Context retrieval and durable handoff lead the workflow hypothesis (2 of 4)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2000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F1620"/>
                          </a:solidFill>
                          <a:latin typeface="Calibri"/>
                        </a:rPr>
                        <a:t>P02: regulated banking complaints</a:t>
                      </a:r>
                    </a:p>
                  </a:txBody>
                  <a:tcPr marL="91440" marR="91440" marT="45720" marB="45720" anchor="ctr">
                    <a:solidFill>
                      <a:srgbClr val="FAF5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6E5E66"/>
                          </a:solidFill>
                          <a:latin typeface="Calibri"/>
                        </a:rPr>
                        <a:t>15 min duplicate logging; 4–6 hr approval wait; audit split across systems</a:t>
                      </a:r>
                    </a:p>
                  </a:txBody>
                  <a:tcPr marL="91440" marR="91440" marT="45720" marB="45720" anchor="ctr">
                    <a:solidFill>
                      <a:srgbClr val="FAF5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6E5E66"/>
                          </a:solidFill>
                          <a:latin typeface="Calibri"/>
                        </a:rPr>
                        <a:t>Audit-safe coordination and approval visibility matter in this case</a:t>
                      </a:r>
                    </a:p>
                  </a:txBody>
                  <a:tcPr marL="91440" marR="91440" marT="45720" marB="45720" anchor="ctr">
                    <a:solidFill>
                      <a:srgbClr val="FAF5F3"/>
                    </a:solidFill>
                  </a:tcPr>
                </a:tc>
              </a:tr>
              <a:tr h="62000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F1620"/>
                          </a:solidFill>
                          <a:latin typeface="Calibri"/>
                        </a:rPr>
                        <a:t>P03: application-approval stakeholder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6E5E66"/>
                          </a:solidFill>
                          <a:latin typeface="Calibri"/>
                        </a:rPr>
                        <a:t>Pilot limited to 2 queues; write-back disabled; least-privilege review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6E5E66"/>
                          </a:solidFill>
                          <a:latin typeface="Calibri"/>
                        </a:rPr>
                        <a:t>A narrow, read-only, reversible pilot is more credible than broad access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40080" y="5220000"/>
            <a:ext cx="10911840" cy="780000"/>
          </a:xfrm>
          <a:prstGeom prst="roundRect">
            <a:avLst>
              <a:gd name="adj" fmla="val 3182"/>
            </a:avLst>
          </a:prstGeom>
          <a:solidFill>
            <a:srgbClr val="ECE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5220000"/>
            <a:ext cx="10454640" cy="78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A81E48"/>
                </a:solidFill>
                <a:latin typeface="Calibri"/>
              </a:rPr>
              <a:t>PROBLEM STATEMENT   </a:t>
            </a:r>
            <a:r>
              <a:rPr sz="1000" b="1" i="0">
                <a:solidFill>
                  <a:srgbClr val="1F1620"/>
                </a:solidFill>
                <a:latin typeface="Calibri"/>
              </a:rPr>
              <a:t>Two frontline cases showed manual context transfer during complex escalation; a banking case showed duplicate audit work and approval delay; an application stakeholder showed permission and write-back barriers. This supports a leading assist-first context-and-handoff hypothesis, not market prevalence.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E5E66"/>
                </a:solidFill>
                <a:latin typeface="Calibri"/>
              </a:rPr>
              <a:t>B2B Product Strategy — Appendix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37520" y="640080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6E5E66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200">
                <a:solidFill>
                  <a:srgbClr val="A81E48"/>
                </a:solidFill>
                <a:latin typeface="Calibri"/>
              </a:rPr>
              <a:t>APPENDIX · MARKET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11840" cy="5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1620"/>
                </a:solidFill>
                <a:latin typeface="Cambria"/>
              </a:rPr>
              <a:t>Big category, frequent workflow, unproven price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700000"/>
          <a:ext cx="10911840" cy="32800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400000"/>
                <a:gridCol w="4900000"/>
                <a:gridCol w="3611840"/>
              </a:tblGrid>
              <a:tr h="42000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SIGNAL</a:t>
                      </a:r>
                    </a:p>
                  </a:txBody>
                  <a:tcPr marL="91440" marR="91440" marT="45720" marB="45720" anchor="ctr">
                    <a:solidFill>
                      <a:srgbClr val="1F16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EVIDENCE</a:t>
                      </a:r>
                    </a:p>
                  </a:txBody>
                  <a:tcPr marL="91440" marR="91440" marT="45720" marB="45720" anchor="ctr">
                    <a:solidFill>
                      <a:srgbClr val="1F16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INTERPRETATION</a:t>
                      </a:r>
                    </a:p>
                  </a:txBody>
                  <a:tcPr marL="91440" marR="91440" marT="45720" marB="45720" anchor="ctr">
                    <a:solidFill>
                      <a:srgbClr val="1F1620"/>
                    </a:solidFill>
                  </a:tcPr>
                </a:tc>
              </a:tr>
              <a:tr h="56000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F1620"/>
                          </a:solidFill>
                          <a:latin typeface="Calibri"/>
                        </a:rPr>
                        <a:t>Large adjacent category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6E5E66"/>
                          </a:solidFill>
                          <a:latin typeface="Calibri"/>
                        </a:rPr>
                        <a:t>2025 estimates: contact-center software $47.7B–$63.9B; help-desk software $14.3B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6E5E66"/>
                          </a:solidFill>
                          <a:latin typeface="Calibri"/>
                        </a:rPr>
                        <a:t>Material category, but definitions vary — no single precise TAM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6000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F1620"/>
                          </a:solidFill>
                          <a:latin typeface="Calibri"/>
                        </a:rPr>
                        <a:t>High workflow frequency</a:t>
                      </a:r>
                    </a:p>
                  </a:txBody>
                  <a:tcPr marL="91440" marR="91440" marT="45720" marB="45720" anchor="ctr">
                    <a:solidFill>
                      <a:srgbClr val="FAF5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6E5E66"/>
                          </a:solidFill>
                          <a:latin typeface="Calibri"/>
                        </a:rPr>
                        <a:t>Freshworks datasets span up to 1.2B tickets / 138M conversations</a:t>
                      </a:r>
                    </a:p>
                  </a:txBody>
                  <a:tcPr marL="91440" marR="91440" marT="45720" marB="45720" anchor="ctr">
                    <a:solidFill>
                      <a:srgbClr val="FAF5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6E5E66"/>
                          </a:solidFill>
                          <a:latin typeface="Calibri"/>
                        </a:rPr>
                        <a:t>A pilot can observe repeated outcomes within weeks</a:t>
                      </a:r>
                    </a:p>
                  </a:txBody>
                  <a:tcPr marL="91440" marR="91440" marT="45720" marB="45720" anchor="ctr">
                    <a:solidFill>
                      <a:srgbClr val="FAF5F3"/>
                    </a:solidFill>
                  </a:tcPr>
                </a:tc>
              </a:tr>
              <a:tr h="56000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F1620"/>
                          </a:solidFill>
                          <a:latin typeface="Calibri"/>
                        </a:rPr>
                        <a:t>Adoption–maturity gap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6E5E66"/>
                          </a:solidFill>
                          <a:latin typeface="Calibri"/>
                        </a:rPr>
                        <a:t>82% of senior leaders invested in AI; only 10% report mature deployment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6E5E66"/>
                          </a:solidFill>
                          <a:latin typeface="Calibri"/>
                        </a:rPr>
                        <a:t>Operational reliability may matter more than basic AI access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6000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F1620"/>
                          </a:solidFill>
                          <a:latin typeface="Calibri"/>
                        </a:rPr>
                        <a:t>Assist-first timing</a:t>
                      </a:r>
                    </a:p>
                  </a:txBody>
                  <a:tcPr marL="91440" marR="91440" marT="45720" marB="45720" anchor="ctr">
                    <a:solidFill>
                      <a:srgbClr val="FAF5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6E5E66"/>
                          </a:solidFill>
                          <a:latin typeface="Calibri"/>
                        </a:rPr>
                        <a:t>Gartner: 73% forecast agent-assist implementation by end-2025; autonomous agents rank lower</a:t>
                      </a:r>
                    </a:p>
                  </a:txBody>
                  <a:tcPr marL="91440" marR="91440" marT="45720" marB="45720" anchor="ctr">
                    <a:solidFill>
                      <a:srgbClr val="FAF5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6E5E66"/>
                          </a:solidFill>
                          <a:latin typeface="Calibri"/>
                        </a:rPr>
                        <a:t>Assist or shadow mode is the lower-risk landing motion</a:t>
                      </a:r>
                    </a:p>
                  </a:txBody>
                  <a:tcPr marL="91440" marR="91440" marT="45720" marB="45720" anchor="ctr">
                    <a:solidFill>
                      <a:srgbClr val="FAF5F3"/>
                    </a:solidFill>
                  </a:tcPr>
                </a:tc>
              </a:tr>
              <a:tr h="62000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F1620"/>
                          </a:solidFill>
                          <a:latin typeface="Calibri"/>
                        </a:rPr>
                        <a:t>Security / readiness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6E5E66"/>
                          </a:solidFill>
                          <a:latin typeface="Calibri"/>
                        </a:rPr>
                        <a:t>51% say security delayed or limited AI initiatives (Salesforce)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6E5E66"/>
                          </a:solidFill>
                          <a:latin typeface="Calibri"/>
                        </a:rPr>
                        <a:t>Permissions, audit and data boundaries are adoption requirements, not add-ons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6060000"/>
            <a:ext cx="10911840" cy="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1">
                <a:solidFill>
                  <a:srgbClr val="6E5E66"/>
                </a:solidFill>
                <a:latin typeface="Calibri"/>
              </a:rPr>
              <a:t>Willingness-to-pay logic: customers may pay if the product removes measurable coordination work, improves SLA and avoids reopens at a predictable total cost. The four interviews did not establish an economic buyer, budget threshold or purchase intent.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E5E66"/>
                </a:solidFill>
                <a:latin typeface="Calibri"/>
              </a:rPr>
              <a:t>B2B Product Strategy — Appendix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37520" y="640080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6E5E66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200">
                <a:solidFill>
                  <a:srgbClr val="A81E48"/>
                </a:solidFill>
                <a:latin typeface="Calibri"/>
              </a:rPr>
              <a:t>APPENDIX · COMPETITIVE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11840" cy="5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1620"/>
                </a:solidFill>
                <a:latin typeface="Cambria"/>
              </a:rPr>
              <a:t>Four different entry doors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20000"/>
            <a:ext cx="10911840" cy="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6E5E66"/>
                </a:solidFill>
                <a:latin typeface="Calibri"/>
              </a:rPr>
              <a:t>Strategic map inferred from public vendor claims and review signals. Positions are directional, not measured scores.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40080" y="2200000"/>
            <a:ext cx="8000000" cy="400000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>
            <a:noFill/>
          </a:ln>
          <a:effectLst>
            <a:outerShdw sx="100000" sy="100000" kx="0" ky="0" algn="bl" rotWithShape="0" blurRad="127000" dist="38100" dir="5400000">
              <a:srgbClr val="1F162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1540080" y="4200000"/>
            <a:ext cx="8000000" cy="0"/>
          </a:xfrm>
          <a:prstGeom prst="line">
            <a:avLst/>
          </a:prstGeom>
          <a:ln w="9525">
            <a:solidFill>
              <a:srgbClr val="DED1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540080" y="2200000"/>
            <a:ext cx="0" cy="4000000"/>
          </a:xfrm>
          <a:prstGeom prst="line">
            <a:avLst/>
          </a:prstGeom>
          <a:ln w="9525">
            <a:solidFill>
              <a:srgbClr val="DED1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540080" y="1940000"/>
            <a:ext cx="8000000" cy="2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 spc="100">
                <a:solidFill>
                  <a:srgbClr val="8A7B81"/>
                </a:solidFill>
                <a:latin typeface="Calibri"/>
              </a:rPr>
              <a:t>AI-FIRST PROPOSITION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0080" y="3700000"/>
            <a:ext cx="460000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7B81"/>
                </a:solidFill>
                <a:latin typeface="Calibri"/>
              </a:rPr>
              <a:t>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0080" y="2070000"/>
            <a:ext cx="460000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7B81"/>
                </a:solidFill>
                <a:latin typeface="Calibri"/>
              </a:rPr>
              <a:t>HIGH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40080" y="6260000"/>
            <a:ext cx="4000000" cy="2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8A7B81"/>
                </a:solidFill>
                <a:latin typeface="Calibri"/>
              </a:rPr>
              <a:t>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40080" y="6260000"/>
            <a:ext cx="4000000" cy="2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8A7B81"/>
                </a:solidFill>
                <a:latin typeface="Calibri"/>
              </a:rPr>
              <a:t>HIGH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40080" y="6530000"/>
            <a:ext cx="8000000" cy="2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 spc="100">
                <a:solidFill>
                  <a:srgbClr val="8A7B81"/>
                </a:solidFill>
                <a:latin typeface="Calibri"/>
              </a:rPr>
              <a:t>OPERATIONAL PLATFORM BREADTH</a:t>
            </a:r>
          </a:p>
        </p:txBody>
      </p:sp>
      <p:sp>
        <p:nvSpPr>
          <p:cNvPr id="15" name="Oval 14"/>
          <p:cNvSpPr/>
          <p:nvPr/>
        </p:nvSpPr>
        <p:spPr>
          <a:xfrm>
            <a:off x="2465080" y="2965000"/>
            <a:ext cx="70000" cy="70000"/>
          </a:xfrm>
          <a:prstGeom prst="ellipse">
            <a:avLst/>
          </a:prstGeom>
          <a:solidFill>
            <a:srgbClr val="A81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90080" y="2910000"/>
            <a:ext cx="2200000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F1620"/>
                </a:solidFill>
                <a:latin typeface="Calibri"/>
              </a:rPr>
              <a:t>Intercom / Fin</a:t>
            </a:r>
          </a:p>
        </p:txBody>
      </p:sp>
      <p:sp>
        <p:nvSpPr>
          <p:cNvPr id="17" name="Oval 16"/>
          <p:cNvSpPr/>
          <p:nvPr/>
        </p:nvSpPr>
        <p:spPr>
          <a:xfrm>
            <a:off x="6145080" y="3125000"/>
            <a:ext cx="70000" cy="70000"/>
          </a:xfrm>
          <a:prstGeom prst="ellipse">
            <a:avLst/>
          </a:prstGeom>
          <a:solidFill>
            <a:srgbClr val="A81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70080" y="3070000"/>
            <a:ext cx="2200000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F1620"/>
                </a:solidFill>
                <a:latin typeface="Calibri"/>
              </a:rPr>
              <a:t>Zendesk AI</a:t>
            </a:r>
          </a:p>
        </p:txBody>
      </p:sp>
      <p:sp>
        <p:nvSpPr>
          <p:cNvPr id="19" name="Oval 18"/>
          <p:cNvSpPr/>
          <p:nvPr/>
        </p:nvSpPr>
        <p:spPr>
          <a:xfrm>
            <a:off x="2145080" y="4885000"/>
            <a:ext cx="70000" cy="70000"/>
          </a:xfrm>
          <a:prstGeom prst="ellipse">
            <a:avLst/>
          </a:prstGeom>
          <a:solidFill>
            <a:srgbClr val="A81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270080" y="4830000"/>
            <a:ext cx="2200000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F1620"/>
                </a:solidFill>
                <a:latin typeface="Calibri"/>
              </a:rPr>
              <a:t>Freshdesk / Freddy</a:t>
            </a:r>
          </a:p>
        </p:txBody>
      </p:sp>
      <p:sp>
        <p:nvSpPr>
          <p:cNvPr id="21" name="Oval 20"/>
          <p:cNvSpPr/>
          <p:nvPr/>
        </p:nvSpPr>
        <p:spPr>
          <a:xfrm>
            <a:off x="5905080" y="5045000"/>
            <a:ext cx="70000" cy="70000"/>
          </a:xfrm>
          <a:prstGeom prst="ellipse">
            <a:avLst/>
          </a:prstGeom>
          <a:solidFill>
            <a:srgbClr val="A81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30080" y="4990000"/>
            <a:ext cx="2200000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F1620"/>
                </a:solidFill>
                <a:latin typeface="Calibri"/>
              </a:rPr>
              <a:t>Salesforce / Agentforce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E5E66"/>
                </a:solidFill>
                <a:latin typeface="Calibri"/>
              </a:rPr>
              <a:t>B2B Product Strategy — Appendix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37520" y="640080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6E5E66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200">
                <a:solidFill>
                  <a:srgbClr val="A81E48"/>
                </a:solidFill>
                <a:latin typeface="Calibri"/>
              </a:rPr>
              <a:t>APPENDIX · COMPETITIVE 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11840" cy="5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1620"/>
                </a:solidFill>
                <a:latin typeface="Cambria"/>
              </a:rPr>
              <a:t>What each incumbent already owns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700000"/>
          <a:ext cx="10911840" cy="36800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850000"/>
                <a:gridCol w="3300000"/>
                <a:gridCol w="3300000"/>
                <a:gridCol w="2461840"/>
              </a:tblGrid>
              <a:tr h="560000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PRODUCT</a:t>
                      </a:r>
                    </a:p>
                  </a:txBody>
                  <a:tcPr marL="91440" marR="91440" marT="45720" marB="45720" anchor="ctr">
                    <a:solidFill>
                      <a:srgbClr val="1F16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CUSTOMER SERVED BEST</a:t>
                      </a:r>
                    </a:p>
                  </a:txBody>
                  <a:tcPr marL="91440" marR="91440" marT="45720" marB="45720" anchor="ctr">
                    <a:solidFill>
                      <a:srgbClr val="1F16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PROMISE / BUSINESS MODEL</a:t>
                      </a:r>
                    </a:p>
                  </a:txBody>
                  <a:tcPr marL="91440" marR="91440" marT="45720" marB="45720" anchor="ctr">
                    <a:solidFill>
                      <a:srgbClr val="1F16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BIGGEST WEAKNESS</a:t>
                      </a:r>
                    </a:p>
                  </a:txBody>
                  <a:tcPr marL="91440" marR="91440" marT="45720" marB="45720" anchor="ctr">
                    <a:solidFill>
                      <a:srgbClr val="1F1620"/>
                    </a:solidFill>
                  </a:tcPr>
                </a:tc>
              </a:tr>
              <a:tr h="78000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F1620"/>
                          </a:solidFill>
                          <a:latin typeface="Calibri"/>
                        </a:rPr>
                        <a:t>Intercom / Fin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6E5E66"/>
                          </a:solidFill>
                          <a:latin typeface="Calibri"/>
                        </a:rPr>
                        <a:t>Digital-native support teams wanting AI-first conversations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6E5E66"/>
                          </a:solidFill>
                          <a:latin typeface="Calibri"/>
                        </a:rPr>
                        <a:t>Outcome-priced AI resolution; seats, outcomes, Copilot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6E5E66"/>
                          </a:solidFill>
                          <a:latin typeface="Calibri"/>
                        </a:rPr>
                        <a:t>Complex work can undermine simple outcome economics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8000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F1620"/>
                          </a:solidFill>
                          <a:latin typeface="Calibri"/>
                        </a:rPr>
                        <a:t>Zendesk AI</a:t>
                      </a:r>
                    </a:p>
                  </a:txBody>
                  <a:tcPr marL="91440" marR="91440" marT="45720" marB="45720" anchor="ctr">
                    <a:solidFill>
                      <a:srgbClr val="FAF5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6E5E66"/>
                          </a:solidFill>
                          <a:latin typeface="Calibri"/>
                        </a:rPr>
                        <a:t>Teams needing mature ticketing and service operations</a:t>
                      </a:r>
                    </a:p>
                  </a:txBody>
                  <a:tcPr marL="91440" marR="91440" marT="45720" marB="45720" anchor="ctr">
                    <a:solidFill>
                      <a:srgbClr val="FAF5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6E5E66"/>
                          </a:solidFill>
                          <a:latin typeface="Calibri"/>
                        </a:rPr>
                        <a:t>Complete service operations with embedded AI; seats + suites</a:t>
                      </a:r>
                    </a:p>
                  </a:txBody>
                  <a:tcPr marL="91440" marR="91440" marT="45720" marB="45720" anchor="ctr">
                    <a:solidFill>
                      <a:srgbClr val="FAF5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6E5E66"/>
                          </a:solidFill>
                          <a:latin typeface="Calibri"/>
                        </a:rPr>
                        <a:t>Breadth increases administration and time to value</a:t>
                      </a:r>
                    </a:p>
                  </a:txBody>
                  <a:tcPr marL="91440" marR="91440" marT="45720" marB="45720" anchor="ctr">
                    <a:solidFill>
                      <a:srgbClr val="FAF5F3"/>
                    </a:solidFill>
                  </a:tcPr>
                </a:tc>
              </a:tr>
              <a:tr h="78000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F1620"/>
                          </a:solidFill>
                          <a:latin typeface="Calibri"/>
                        </a:rPr>
                        <a:t>Freshdesk / Freddy AI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6E5E66"/>
                          </a:solidFill>
                          <a:latin typeface="Calibri"/>
                        </a:rPr>
                        <a:t>Growing, value-conscious support teams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6E5E66"/>
                          </a:solidFill>
                          <a:latin typeface="Calibri"/>
                        </a:rPr>
                        <a:t>Approachable omnichannel helpdesk with AI; seats + tiers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6E5E66"/>
                          </a:solidFill>
                          <a:latin typeface="Calibri"/>
                        </a:rPr>
                        <a:t>Depth can lag as customer complexity grows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8000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F1620"/>
                          </a:solidFill>
                          <a:latin typeface="Calibri"/>
                        </a:rPr>
                        <a:t>Salesforce / Agentforce</a:t>
                      </a:r>
                    </a:p>
                  </a:txBody>
                  <a:tcPr marL="91440" marR="91440" marT="45720" marB="45720" anchor="ctr">
                    <a:solidFill>
                      <a:srgbClr val="FAF5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6E5E66"/>
                          </a:solidFill>
                          <a:latin typeface="Calibri"/>
                        </a:rPr>
                        <a:t>Complex enterprises, especially existing Salesforce accounts</a:t>
                      </a:r>
                    </a:p>
                  </a:txBody>
                  <a:tcPr marL="91440" marR="91440" marT="45720" marB="45720" anchor="ctr">
                    <a:solidFill>
                      <a:srgbClr val="FAF5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6E5E66"/>
                          </a:solidFill>
                          <a:latin typeface="Calibri"/>
                        </a:rPr>
                        <a:t>Governed AI on CRM context; licences, credits, clouds</a:t>
                      </a:r>
                    </a:p>
                  </a:txBody>
                  <a:tcPr marL="91440" marR="91440" marT="45720" marB="45720" anchor="ctr">
                    <a:solidFill>
                      <a:srgbClr val="FAF5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6E5E66"/>
                          </a:solidFill>
                          <a:latin typeface="Calibri"/>
                        </a:rPr>
                        <a:t>Platform cost and complexity can be over-extended</a:t>
                      </a:r>
                    </a:p>
                  </a:txBody>
                  <a:tcPr marL="91440" marR="91440" marT="45720" marB="45720" anchor="ctr">
                    <a:solidFill>
                      <a:srgbClr val="FAF5F3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6060000"/>
            <a:ext cx="10911840" cy="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1">
                <a:solidFill>
                  <a:srgbClr val="6E5E66"/>
                </a:solidFill>
                <a:latin typeface="Calibri"/>
              </a:rPr>
              <a:t>Rejected differentiators: “uses AI,” “unifies context,” “integrates with existing tools,” “governed and secure,” “vendor neutral” — necessary, none sufficient.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E5E66"/>
                </a:solidFill>
                <a:latin typeface="Calibri"/>
              </a:rPr>
              <a:t>B2B Product Strategy — Appendix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37520" y="640080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6E5E66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200">
                <a:solidFill>
                  <a:srgbClr val="A81E48"/>
                </a:solidFill>
                <a:latin typeface="Calibri"/>
              </a:rPr>
              <a:t>APPENDIX · WEDGE AND VULNERABILITY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11840" cy="5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F1620"/>
                </a:solidFill>
                <a:latin typeface="Cambria"/>
              </a:rPr>
              <a:t>Where each incumbent is strong, and where to test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700000"/>
          <a:ext cx="10811840" cy="36800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850000"/>
                <a:gridCol w="2600000"/>
                <a:gridCol w="3400000"/>
                <a:gridCol w="2961840"/>
              </a:tblGrid>
              <a:tr h="560000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COMPETITOR</a:t>
                      </a:r>
                    </a:p>
                  </a:txBody>
                  <a:tcPr marL="91440" marR="91440" marT="45720" marB="45720" anchor="ctr">
                    <a:solidFill>
                      <a:srgbClr val="1F16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ENTRY WEDGE</a:t>
                      </a:r>
                    </a:p>
                  </a:txBody>
                  <a:tcPr marL="91440" marR="91440" marT="45720" marB="45720" anchor="ctr">
                    <a:solidFill>
                      <a:srgbClr val="1F16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WHAT COMPOUNDS AFTER ENTRY</a:t>
                      </a:r>
                    </a:p>
                  </a:txBody>
                  <a:tcPr marL="91440" marR="91440" marT="45720" marB="45720" anchor="ctr">
                    <a:solidFill>
                      <a:srgbClr val="1F16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VULNERABILITY TO TEST</a:t>
                      </a:r>
                    </a:p>
                  </a:txBody>
                  <a:tcPr marL="91440" marR="91440" marT="45720" marB="45720" anchor="ctr">
                    <a:solidFill>
                      <a:srgbClr val="1F1620"/>
                    </a:solidFill>
                  </a:tcPr>
                </a:tc>
              </a:tr>
              <a:tr h="78000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F1620"/>
                          </a:solidFill>
                          <a:latin typeface="Calibri"/>
                        </a:rPr>
                        <a:t>Intercom / Fin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6E5E66"/>
                          </a:solidFill>
                          <a:latin typeface="Calibri"/>
                        </a:rPr>
                        <a:t>Standalone outcome-priced AI agent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6E5E66"/>
                          </a:solidFill>
                          <a:latin typeface="Calibri"/>
                        </a:rPr>
                        <a:t>Conversation, knowledge, workflow and outcome data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6E5E66"/>
                          </a:solidFill>
                          <a:latin typeface="Calibri"/>
                        </a:rPr>
                        <a:t>Tuning effort, handoff quality, cost predictability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8000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F1620"/>
                          </a:solidFill>
                          <a:latin typeface="Calibri"/>
                        </a:rPr>
                        <a:t>Zendesk AI</a:t>
                      </a:r>
                    </a:p>
                  </a:txBody>
                  <a:tcPr marL="91440" marR="91440" marT="45720" marB="45720" anchor="ctr">
                    <a:solidFill>
                      <a:srgbClr val="FAF5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6E5E66"/>
                          </a:solidFill>
                          <a:latin typeface="Calibri"/>
                        </a:rPr>
                        <a:t>Trusted ticketing system of record</a:t>
                      </a:r>
                    </a:p>
                  </a:txBody>
                  <a:tcPr marL="91440" marR="91440" marT="45720" marB="45720" anchor="ctr">
                    <a:solidFill>
                      <a:srgbClr val="FAF5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6E5E66"/>
                          </a:solidFill>
                          <a:latin typeface="Calibri"/>
                        </a:rPr>
                        <a:t>Case history, routing, reporting, marketplace</a:t>
                      </a:r>
                    </a:p>
                  </a:txBody>
                  <a:tcPr marL="91440" marR="91440" marT="45720" marB="45720" anchor="ctr">
                    <a:solidFill>
                      <a:srgbClr val="FAF5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6E5E66"/>
                          </a:solidFill>
                          <a:latin typeface="Calibri"/>
                        </a:rPr>
                        <a:t>Setup effort and workflow-specific resolution quality</a:t>
                      </a:r>
                    </a:p>
                  </a:txBody>
                  <a:tcPr marL="91440" marR="91440" marT="45720" marB="45720" anchor="ctr">
                    <a:solidFill>
                      <a:srgbClr val="FAF5F3"/>
                    </a:solidFill>
                  </a:tcPr>
                </a:tc>
              </a:tr>
              <a:tr h="78000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F1620"/>
                          </a:solidFill>
                          <a:latin typeface="Calibri"/>
                        </a:rPr>
                        <a:t>Freshdesk / Freddy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6E5E66"/>
                          </a:solidFill>
                          <a:latin typeface="Calibri"/>
                        </a:rPr>
                        <a:t>Ease and accessible price-to-value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6E5E66"/>
                          </a:solidFill>
                          <a:latin typeface="Calibri"/>
                        </a:rPr>
                        <a:t>Configured helpdesk workflow, apps, suite expansion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6E5E66"/>
                          </a:solidFill>
                          <a:latin typeface="Calibri"/>
                        </a:rPr>
                        <a:t>Advanced depth and integration reliability as teams mature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8000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F1620"/>
                          </a:solidFill>
                          <a:latin typeface="Calibri"/>
                        </a:rPr>
                        <a:t>Salesforce / Agentforce</a:t>
                      </a:r>
                    </a:p>
                  </a:txBody>
                  <a:tcPr marL="91440" marR="91440" marT="45720" marB="45720" anchor="ctr">
                    <a:solidFill>
                      <a:srgbClr val="FAF5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6E5E66"/>
                          </a:solidFill>
                          <a:latin typeface="Calibri"/>
                        </a:rPr>
                        <a:t>CRM context and enterprise governance</a:t>
                      </a:r>
                    </a:p>
                  </a:txBody>
                  <a:tcPr marL="91440" marR="91440" marT="45720" marB="45720" anchor="ctr">
                    <a:solidFill>
                      <a:srgbClr val="FAF5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6E5E66"/>
                          </a:solidFill>
                          <a:latin typeface="Calibri"/>
                        </a:rPr>
                        <a:t>Data, flows, permissions, partner ecosystem</a:t>
                      </a:r>
                    </a:p>
                  </a:txBody>
                  <a:tcPr marL="91440" marR="91440" marT="45720" marB="45720" anchor="ctr">
                    <a:solidFill>
                      <a:srgbClr val="FAF5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6E5E66"/>
                          </a:solidFill>
                          <a:latin typeface="Calibri"/>
                        </a:rPr>
                        <a:t>Time to value and fit for heterogeneous stacks</a:t>
                      </a:r>
                    </a:p>
                  </a:txBody>
                  <a:tcPr marL="91440" marR="91440" marT="45720" marB="45720" anchor="ctr">
                    <a:solidFill>
                      <a:srgbClr val="FAF5F3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40080" y="6060000"/>
            <a:ext cx="10911840" cy="320000"/>
          </a:xfrm>
          <a:prstGeom prst="roundRect">
            <a:avLst>
              <a:gd name="adj" fmla="val 3182"/>
            </a:avLst>
          </a:prstGeom>
          <a:solidFill>
            <a:srgbClr val="FA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6060000"/>
            <a:ext cx="10454640" cy="3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1F1620"/>
                </a:solidFill>
                <a:latin typeface="Calibri"/>
              </a:rPr>
              <a:t>Category wedge: workflow-specific completeness — assemble, evidence, approve, hand off and write back, across a small set of stacks, faster and cheaper than the incumbent's native AI.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E5E66"/>
                </a:solidFill>
                <a:latin typeface="Calibri"/>
              </a:rPr>
              <a:t>B2B Product Strategy — Appendix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37520" y="640080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6E5E66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200">
                <a:solidFill>
                  <a:srgbClr val="A81E48"/>
                </a:solidFill>
                <a:latin typeface="Calibri"/>
              </a:rPr>
              <a:t>APPENDIX · CROWDED CATEGORY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11840" cy="5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1620"/>
                </a:solidFill>
                <a:latin typeface="Cambria"/>
              </a:rPr>
              <a:t>Seven capabilities every incumbent already claims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40000"/>
            <a:ext cx="5318760" cy="56000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>
            <a:noFill/>
          </a:ln>
          <a:effectLst>
            <a:outerShdw sx="100000" sy="100000" kx="0" ky="0" algn="bl" rotWithShape="0" blurRad="127000" dist="38100" dir="5400000">
              <a:srgbClr val="1F162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0080" y="1870000"/>
            <a:ext cx="300000" cy="300000"/>
          </a:xfrm>
          <a:prstGeom prst="ellipse">
            <a:avLst/>
          </a:prstGeom>
          <a:solidFill>
            <a:srgbClr val="8A7B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0080" y="1740000"/>
            <a:ext cx="4568760" cy="5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 i="0">
                <a:solidFill>
                  <a:srgbClr val="1F1620"/>
                </a:solidFill>
                <a:latin typeface="Calibri"/>
              </a:rPr>
              <a:t>AI agents and knowledge-grounded answers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3160" y="1740000"/>
            <a:ext cx="5318760" cy="56000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>
            <a:noFill/>
          </a:ln>
          <a:effectLst>
            <a:outerShdw sx="100000" sy="100000" kx="0" ky="0" algn="bl" rotWithShape="0" blurRad="127000" dist="38100" dir="5400000">
              <a:srgbClr val="1F162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13160" y="1870000"/>
            <a:ext cx="300000" cy="300000"/>
          </a:xfrm>
          <a:prstGeom prst="ellipse">
            <a:avLst/>
          </a:prstGeom>
          <a:solidFill>
            <a:srgbClr val="8A7B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3160" y="1740000"/>
            <a:ext cx="4568760" cy="5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 i="0">
                <a:solidFill>
                  <a:srgbClr val="1F1620"/>
                </a:solidFill>
                <a:latin typeface="Calibri"/>
              </a:rPr>
              <a:t>Agent assistance and summarisation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437160"/>
            <a:ext cx="5318760" cy="56000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>
            <a:noFill/>
          </a:ln>
          <a:effectLst>
            <a:outerShdw sx="100000" sy="100000" kx="0" ky="0" algn="bl" rotWithShape="0" blurRad="127000" dist="38100" dir="5400000">
              <a:srgbClr val="1F162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0080" y="2567160"/>
            <a:ext cx="300000" cy="300000"/>
          </a:xfrm>
          <a:prstGeom prst="ellipse">
            <a:avLst/>
          </a:prstGeom>
          <a:solidFill>
            <a:srgbClr val="8A7B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60080" y="2437160"/>
            <a:ext cx="4568760" cy="5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 i="0">
                <a:solidFill>
                  <a:srgbClr val="1F1620"/>
                </a:solidFill>
                <a:latin typeface="Calibri"/>
              </a:rPr>
              <a:t>Human handoff and approvals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3160" y="2437160"/>
            <a:ext cx="5318760" cy="56000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>
            <a:noFill/>
          </a:ln>
          <a:effectLst>
            <a:outerShdw sx="100000" sy="100000" kx="0" ky="0" algn="bl" rotWithShape="0" blurRad="127000" dist="38100" dir="5400000">
              <a:srgbClr val="1F162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13160" y="2567160"/>
            <a:ext cx="300000" cy="300000"/>
          </a:xfrm>
          <a:prstGeom prst="ellipse">
            <a:avLst/>
          </a:prstGeom>
          <a:solidFill>
            <a:srgbClr val="8A7B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3160" y="2437160"/>
            <a:ext cx="4568760" cy="5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 i="0">
                <a:solidFill>
                  <a:srgbClr val="1F1620"/>
                </a:solidFill>
                <a:latin typeface="Calibri"/>
              </a:rPr>
              <a:t>External integrations and system actions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134320"/>
            <a:ext cx="5318760" cy="56000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>
            <a:noFill/>
          </a:ln>
          <a:effectLst>
            <a:outerShdw sx="100000" sy="100000" kx="0" ky="0" algn="bl" rotWithShape="0" blurRad="127000" dist="38100" dir="5400000">
              <a:srgbClr val="1F162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0080" y="3264320"/>
            <a:ext cx="300000" cy="300000"/>
          </a:xfrm>
          <a:prstGeom prst="ellipse">
            <a:avLst/>
          </a:prstGeom>
          <a:solidFill>
            <a:srgbClr val="8A7B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60080" y="3134320"/>
            <a:ext cx="4568760" cy="5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 i="0">
                <a:solidFill>
                  <a:srgbClr val="1F1620"/>
                </a:solidFill>
                <a:latin typeface="Calibri"/>
              </a:rPr>
              <a:t>Analytics, evaluation and governance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3160" y="3134320"/>
            <a:ext cx="5318760" cy="56000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>
            <a:noFill/>
          </a:ln>
          <a:effectLst>
            <a:outerShdw sx="100000" sy="100000" kx="0" ky="0" algn="bl" rotWithShape="0" blurRad="127000" dist="38100" dir="5400000">
              <a:srgbClr val="1F162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13160" y="3264320"/>
            <a:ext cx="300000" cy="300000"/>
          </a:xfrm>
          <a:prstGeom prst="ellipse">
            <a:avLst/>
          </a:prstGeom>
          <a:solidFill>
            <a:srgbClr val="8A7B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3160" y="3134320"/>
            <a:ext cx="4568760" cy="5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 i="0">
                <a:solidFill>
                  <a:srgbClr val="1F1620"/>
                </a:solidFill>
                <a:latin typeface="Calibri"/>
              </a:rPr>
              <a:t>Usage- or outcome-based pricing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3831480"/>
            <a:ext cx="5318760" cy="56000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>
            <a:noFill/>
          </a:ln>
          <a:effectLst>
            <a:outerShdw sx="100000" sy="100000" kx="0" ky="0" algn="bl" rotWithShape="0" blurRad="127000" dist="38100" dir="5400000">
              <a:srgbClr val="1F162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0080" y="3961480"/>
            <a:ext cx="300000" cy="300000"/>
          </a:xfrm>
          <a:prstGeom prst="ellipse">
            <a:avLst/>
          </a:prstGeom>
          <a:solidFill>
            <a:srgbClr val="8A7B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60080" y="3831480"/>
            <a:ext cx="4568760" cy="5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 i="0">
                <a:solidFill>
                  <a:srgbClr val="1F1620"/>
                </a:solidFill>
                <a:latin typeface="Calibri"/>
              </a:rPr>
              <a:t>Compatibility with an existing service stack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4588640"/>
            <a:ext cx="10911840" cy="620000"/>
          </a:xfrm>
          <a:prstGeom prst="roundRect">
            <a:avLst>
              <a:gd name="adj" fmla="val 3182"/>
            </a:avLst>
          </a:prstGeom>
          <a:solidFill>
            <a:srgbClr val="ECE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588640"/>
            <a:ext cx="10454640" cy="6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A81E48"/>
                </a:solidFill>
                <a:latin typeface="Calibri"/>
              </a:rPr>
              <a:t>STRATEGY IMPLICATION   </a:t>
            </a:r>
            <a:r>
              <a:rPr sz="1050" b="1" i="0">
                <a:solidFill>
                  <a:srgbClr val="1F1620"/>
                </a:solidFill>
                <a:latin typeface="Calibri"/>
              </a:rPr>
              <a:t>generic AI and integration claims can't carry the strategy. A credible entry needs one workflow where the product proves better completion, control, effort or total cost than the incumbent.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E5E66"/>
                </a:solidFill>
                <a:latin typeface="Calibri"/>
              </a:rPr>
              <a:t>B2B Product Strategy — Appendix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37520" y="640080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6E5E66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200">
                <a:solidFill>
                  <a:srgbClr val="A81E48"/>
                </a:solidFill>
                <a:latin typeface="Calibri"/>
              </a:rPr>
              <a:t>APPENDIX · INITIAL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11840" cy="5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F1620"/>
                </a:solidFill>
                <a:latin typeface="Cambria"/>
              </a:rPr>
              <a:t>The six-step workflow and its MVP boundary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660000"/>
          <a:ext cx="10911840" cy="32800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750000"/>
                <a:gridCol w="6500000"/>
                <a:gridCol w="2661840"/>
              </a:tblGrid>
              <a:tr h="40000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STEP</a:t>
                      </a:r>
                    </a:p>
                  </a:txBody>
                  <a:tcPr marL="91440" marR="91440" marT="45720" marB="45720" anchor="ctr">
                    <a:solidFill>
                      <a:srgbClr val="1F16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PRODUCT RESPONSIBILITY</a:t>
                      </a:r>
                    </a:p>
                  </a:txBody>
                  <a:tcPr marL="91440" marR="91440" marT="45720" marB="45720" anchor="ctr">
                    <a:solidFill>
                      <a:srgbClr val="1F16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CONTROL</a:t>
                      </a:r>
                    </a:p>
                  </a:txBody>
                  <a:tcPr marL="91440" marR="91440" marT="45720" marB="45720" anchor="ctr">
                    <a:solidFill>
                      <a:srgbClr val="1F1620"/>
                    </a:solidFill>
                  </a:tcPr>
                </a:tc>
              </a:tr>
              <a:tr h="48000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F1620"/>
                          </a:solidFill>
                          <a:latin typeface="Calibri"/>
                        </a:rPr>
                        <a:t>1. Detect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6E5E66"/>
                          </a:solidFill>
                          <a:latin typeface="Calibri"/>
                        </a:rPr>
                        <a:t>Identify a difficult or escalated case in the existing helpdesk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6E5E66"/>
                          </a:solidFill>
                          <a:latin typeface="Calibri"/>
                        </a:rPr>
                        <a:t>Rules + human override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8000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F1620"/>
                          </a:solidFill>
                          <a:latin typeface="Calibri"/>
                        </a:rPr>
                        <a:t>2. Resolve identity</a:t>
                      </a:r>
                    </a:p>
                  </a:txBody>
                  <a:tcPr marL="91440" marR="91440" marT="45720" marB="45720" anchor="ctr">
                    <a:solidFill>
                      <a:srgbClr val="FAF5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6E5E66"/>
                          </a:solidFill>
                          <a:latin typeface="Calibri"/>
                        </a:rPr>
                        <a:t>Link customer/account across helpdesk and one system of record</a:t>
                      </a:r>
                    </a:p>
                  </a:txBody>
                  <a:tcPr marL="91440" marR="91440" marT="45720" marB="45720" anchor="ctr">
                    <a:solidFill>
                      <a:srgbClr val="FAF5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6E5E66"/>
                          </a:solidFill>
                          <a:latin typeface="Calibri"/>
                        </a:rPr>
                        <a:t>Permission-aware identifiers</a:t>
                      </a:r>
                    </a:p>
                  </a:txBody>
                  <a:tcPr marL="91440" marR="91440" marT="45720" marB="45720" anchor="ctr">
                    <a:solidFill>
                      <a:srgbClr val="FAF5F3"/>
                    </a:solidFill>
                  </a:tcPr>
                </a:tc>
              </a:tr>
              <a:tr h="48000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F1620"/>
                          </a:solidFill>
                          <a:latin typeface="Calibri"/>
                        </a:rPr>
                        <a:t>3. Assemble context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6E5E66"/>
                          </a:solidFill>
                          <a:latin typeface="Calibri"/>
                        </a:rPr>
                        <a:t>Retrieve recent ticket, account, email and approval state with sources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6E5E66"/>
                          </a:solidFill>
                          <a:latin typeface="Calibri"/>
                        </a:rPr>
                        <a:t>Read-only first; field-level access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8000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F1620"/>
                          </a:solidFill>
                          <a:latin typeface="Calibri"/>
                        </a:rPr>
                        <a:t>4. Recommend</a:t>
                      </a:r>
                    </a:p>
                  </a:txBody>
                  <a:tcPr marL="91440" marR="91440" marT="45720" marB="45720" anchor="ctr">
                    <a:solidFill>
                      <a:srgbClr val="FAF5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6E5E66"/>
                          </a:solidFill>
                          <a:latin typeface="Calibri"/>
                        </a:rPr>
                        <a:t>Summarize history, gap, owner and next action; draft update</a:t>
                      </a:r>
                    </a:p>
                  </a:txBody>
                  <a:tcPr marL="91440" marR="91440" marT="45720" marB="45720" anchor="ctr">
                    <a:solidFill>
                      <a:srgbClr val="FAF5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6E5E66"/>
                          </a:solidFill>
                          <a:latin typeface="Calibri"/>
                        </a:rPr>
                        <a:t>Visible evidence; no invented data</a:t>
                      </a:r>
                    </a:p>
                  </a:txBody>
                  <a:tcPr marL="91440" marR="91440" marT="45720" marB="45720" anchor="ctr">
                    <a:solidFill>
                      <a:srgbClr val="FAF5F3"/>
                    </a:solidFill>
                  </a:tcPr>
                </a:tc>
              </a:tr>
              <a:tr h="48000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F1620"/>
                          </a:solidFill>
                          <a:latin typeface="Calibri"/>
                        </a:rPr>
                        <a:t>5. Approve / hand off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6E5E66"/>
                          </a:solidFill>
                          <a:latin typeface="Calibri"/>
                        </a:rPr>
                        <a:t>Route high-risk steps to the right person with complete context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6E5E66"/>
                          </a:solidFill>
                          <a:latin typeface="Calibri"/>
                        </a:rPr>
                        <a:t>Human approval; safe stop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8000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F1620"/>
                          </a:solidFill>
                          <a:latin typeface="Calibri"/>
                        </a:rPr>
                        <a:t>6. Write back</a:t>
                      </a:r>
                    </a:p>
                  </a:txBody>
                  <a:tcPr marL="91440" marR="91440" marT="45720" marB="45720" anchor="ctr">
                    <a:solidFill>
                      <a:srgbClr val="FAF5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6E5E66"/>
                          </a:solidFill>
                          <a:latin typeface="Calibri"/>
                        </a:rPr>
                        <a:t>Record outcome, source, owner and next step in the system of record</a:t>
                      </a:r>
                    </a:p>
                  </a:txBody>
                  <a:tcPr marL="91440" marR="91440" marT="45720" marB="45720" anchor="ctr">
                    <a:solidFill>
                      <a:srgbClr val="FAF5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6E5E66"/>
                          </a:solidFill>
                          <a:latin typeface="Calibri"/>
                        </a:rPr>
                        <a:t>Idempotency, audit, retry</a:t>
                      </a:r>
                    </a:p>
                  </a:txBody>
                  <a:tcPr marL="91440" marR="91440" marT="45720" marB="45720" anchor="ctr">
                    <a:solidFill>
                      <a:srgbClr val="FAF5F3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40080" y="5480000"/>
            <a:ext cx="10911840" cy="460000"/>
          </a:xfrm>
          <a:prstGeom prst="roundRect">
            <a:avLst>
              <a:gd name="adj" fmla="val 3182"/>
            </a:avLst>
          </a:prstGeom>
          <a:solidFill>
            <a:srgbClr val="DCE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5480000"/>
            <a:ext cx="10454640" cy="4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2F6F5E"/>
                </a:solidFill>
                <a:latin typeface="Calibri"/>
              </a:rPr>
              <a:t>IN SCOPE   </a:t>
            </a:r>
            <a:r>
              <a:rPr sz="950" b="1" i="0">
                <a:solidFill>
                  <a:srgbClr val="1F1620"/>
                </a:solidFill>
                <a:latin typeface="Calibri"/>
              </a:rPr>
              <a:t>one helpdesk, one system of record, one workflow, agent-assist/shadow mode, citations, approval, durable write-back, audit.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980000"/>
            <a:ext cx="10911840" cy="400000"/>
          </a:xfrm>
          <a:prstGeom prst="roundRect">
            <a:avLst>
              <a:gd name="adj" fmla="val 3182"/>
            </a:avLst>
          </a:prstGeom>
          <a:solidFill>
            <a:srgbClr val="F6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5980000"/>
            <a:ext cx="10454640" cy="4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A81E48"/>
                </a:solidFill>
                <a:latin typeface="Calibri"/>
              </a:rPr>
              <a:t>NOT IN SCOPE   </a:t>
            </a:r>
            <a:r>
              <a:rPr sz="950" b="1" i="0">
                <a:solidFill>
                  <a:srgbClr val="1F1620"/>
                </a:solidFill>
                <a:latin typeface="Calibri"/>
              </a:rPr>
              <a:t>helpdesk replacement; open-ended autonomous actions; every connector; general chatbot; banking approval decisions.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E5E66"/>
                </a:solidFill>
                <a:latin typeface="Calibri"/>
              </a:rPr>
              <a:t>B2B Product Strategy — Appendix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37520" y="640080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6E5E66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200">
                <a:solidFill>
                  <a:srgbClr val="A81E48"/>
                </a:solidFill>
                <a:latin typeface="Calibri"/>
              </a:rPr>
              <a:t>APPENDIX ·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11840" cy="5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1620"/>
                </a:solidFill>
                <a:latin typeface="Cambria"/>
              </a:rPr>
              <a:t>Earn the platform, one gate at a time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700000"/>
          <a:ext cx="10911840" cy="35800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400000"/>
                <a:gridCol w="3900000"/>
                <a:gridCol w="4611840"/>
              </a:tblGrid>
              <a:tr h="46000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HORIZON</a:t>
                      </a:r>
                    </a:p>
                  </a:txBody>
                  <a:tcPr marL="91440" marR="91440" marT="45720" marB="45720" anchor="ctr">
                    <a:solidFill>
                      <a:srgbClr val="1F16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GOAL</a:t>
                      </a:r>
                    </a:p>
                  </a:txBody>
                  <a:tcPr marL="91440" marR="91440" marT="45720" marB="45720" anchor="ctr">
                    <a:solidFill>
                      <a:srgbClr val="1F16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EVIDENCE GATE</a:t>
                      </a:r>
                    </a:p>
                  </a:txBody>
                  <a:tcPr marL="91440" marR="91440" marT="45720" marB="45720" anchor="ctr">
                    <a:solidFill>
                      <a:srgbClr val="1F1620"/>
                    </a:solidFill>
                  </a:tcPr>
                </a:tc>
              </a:tr>
              <a:tr h="7800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F1620"/>
                          </a:solidFill>
                          <a:latin typeface="Calibri"/>
                        </a:rPr>
                        <a:t>0–6 mo · Prove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6E5E66"/>
                          </a:solidFill>
                          <a:latin typeface="Calibri"/>
                        </a:rPr>
                        <a:t>One workflow in one segment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6E5E66"/>
                          </a:solidFill>
                          <a:latin typeface="Calibri"/>
                        </a:rPr>
                        <a:t>≥4 customers show the same workflow; measurable time saved; ≥2 paid/committed pilots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800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F1620"/>
                          </a:solidFill>
                          <a:latin typeface="Calibri"/>
                        </a:rPr>
                        <a:t>6–12 mo · Repeat</a:t>
                      </a:r>
                    </a:p>
                  </a:txBody>
                  <a:tcPr marL="91440" marR="91440" marT="45720" marB="45720" anchor="ctr">
                    <a:solidFill>
                      <a:srgbClr val="FAF5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6E5E66"/>
                          </a:solidFill>
                          <a:latin typeface="Calibri"/>
                        </a:rPr>
                        <a:t>Deploy the same workflow faster</a:t>
                      </a:r>
                    </a:p>
                  </a:txBody>
                  <a:tcPr marL="91440" marR="91440" marT="45720" marB="45720" anchor="ctr">
                    <a:solidFill>
                      <a:srgbClr val="FAF5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6E5E66"/>
                          </a:solidFill>
                          <a:latin typeface="Calibri"/>
                        </a:rPr>
                        <a:t>Second/third stack deploys faster; retention; acceptable gross margin</a:t>
                      </a:r>
                    </a:p>
                  </a:txBody>
                  <a:tcPr marL="91440" marR="91440" marT="45720" marB="45720" anchor="ctr">
                    <a:solidFill>
                      <a:srgbClr val="FAF5F3"/>
                    </a:solidFill>
                  </a:tcPr>
                </a:tc>
              </a:tr>
              <a:tr h="7800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F1620"/>
                          </a:solidFill>
                          <a:latin typeface="Calibri"/>
                        </a:rPr>
                        <a:t>12–24 mo · Expand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6E5E66"/>
                          </a:solidFill>
                          <a:latin typeface="Calibri"/>
                        </a:rPr>
                        <a:t>Adjacent workflows for the same team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6E5E66"/>
                          </a:solidFill>
                          <a:latin typeface="Calibri"/>
                        </a:rPr>
                        <a:t>Usage and renewal pull; repeatable cross-workflow expansion; buyer-backed ROI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800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F1620"/>
                          </a:solidFill>
                          <a:latin typeface="Calibri"/>
                        </a:rPr>
                        <a:t>24–36 mo · Platform</a:t>
                      </a:r>
                    </a:p>
                  </a:txBody>
                  <a:tcPr marL="91440" marR="91440" marT="45720" marB="45720" anchor="ctr">
                    <a:solidFill>
                      <a:srgbClr val="FAF5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6E5E66"/>
                          </a:solidFill>
                          <a:latin typeface="Calibri"/>
                        </a:rPr>
                        <a:t>Selected Customer Operations workflows</a:t>
                      </a:r>
                    </a:p>
                  </a:txBody>
                  <a:tcPr marL="91440" marR="91440" marT="45720" marB="45720" anchor="ctr">
                    <a:solidFill>
                      <a:srgbClr val="FAF5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6E5E66"/>
                          </a:solidFill>
                          <a:latin typeface="Calibri"/>
                        </a:rPr>
                        <a:t>Expansion across teams without custom-project economics or trust erosion</a:t>
                      </a:r>
                    </a:p>
                  </a:txBody>
                  <a:tcPr marL="91440" marR="91440" marT="45720" marB="45720" anchor="ctr">
                    <a:solidFill>
                      <a:srgbClr val="FAF5F3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6000000"/>
            <a:ext cx="1091184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6E5E66"/>
                </a:solidFill>
                <a:latin typeface="Calibri"/>
              </a:rPr>
              <a:t>Quarterly stop rules: narrow or stop if customers prefer incumbent-native AI at acceptable cost; don't automate a step whose data, permission or failure recovery can't be verified; don't add a segment until the first workflow is repeatable and profitable; don't call it a platform until expansion happens without services-heavy customization.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E5E66"/>
                </a:solidFill>
                <a:latin typeface="Calibri"/>
              </a:rPr>
              <a:t>B2B Product Strategy — Appendix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37520" y="640080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6E5E66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200">
                <a:solidFill>
                  <a:srgbClr val="A81E48"/>
                </a:solidFill>
                <a:latin typeface="Calibri"/>
              </a:rPr>
              <a:t>APPENDIX · MOAT MECHANISMS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11840" cy="5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1620"/>
                </a:solidFill>
                <a:latin typeface="Cambria"/>
              </a:rPr>
              <a:t>How each mechanism compounds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700000"/>
          <a:ext cx="10911840" cy="34200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900000"/>
                <a:gridCol w="4300000"/>
                <a:gridCol w="3711840"/>
              </a:tblGrid>
              <a:tr h="420000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MECHANISM</a:t>
                      </a:r>
                    </a:p>
                  </a:txBody>
                  <a:tcPr marL="91440" marR="91440" marT="45720" marB="45720" anchor="ctr">
                    <a:solidFill>
                      <a:srgbClr val="1F16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HOW IT COMPOUNDS</a:t>
                      </a:r>
                    </a:p>
                  </a:txBody>
                  <a:tcPr marL="91440" marR="91440" marT="45720" marB="45720" anchor="ctr">
                    <a:solidFill>
                      <a:srgbClr val="1F16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EVIDENCE BEFORE INVESTMENT</a:t>
                      </a:r>
                    </a:p>
                  </a:txBody>
                  <a:tcPr marL="91440" marR="91440" marT="45720" marB="45720" anchor="ctr">
                    <a:solidFill>
                      <a:srgbClr val="1F1620"/>
                    </a:solidFill>
                  </a:tcPr>
                </a:tc>
              </a:tr>
              <a:tr h="60000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1620"/>
                          </a:solidFill>
                          <a:latin typeface="Calibri"/>
                        </a:rPr>
                        <a:t>Workflow-specific evaluation data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6E5E66"/>
                          </a:solidFill>
                          <a:latin typeface="Calibri"/>
                        </a:rPr>
                        <a:t>Permissioned cases define correct resolution, safe refusal, escalation and durable completion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6E5E66"/>
                          </a:solidFill>
                          <a:latin typeface="Calibri"/>
                        </a:rPr>
                        <a:t>Improves task success and reduces human correction across deployments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1620"/>
                          </a:solidFill>
                          <a:latin typeface="Calibri"/>
                        </a:rPr>
                        <a:t>Reliable action contracts</a:t>
                      </a:r>
                    </a:p>
                  </a:txBody>
                  <a:tcPr marL="91440" marR="91440" marT="45720" marB="45720" anchor="ctr">
                    <a:solidFill>
                      <a:srgbClr val="FAF5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6E5E66"/>
                          </a:solidFill>
                          <a:latin typeface="Calibri"/>
                        </a:rPr>
                        <a:t>Versioned connectors capture scopes, idempotency, retries, audit, simulation and rollback</a:t>
                      </a:r>
                    </a:p>
                  </a:txBody>
                  <a:tcPr marL="91440" marR="91440" marT="45720" marB="45720" anchor="ctr">
                    <a:solidFill>
                      <a:srgbClr val="FAF5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6E5E66"/>
                          </a:solidFill>
                          <a:latin typeface="Calibri"/>
                        </a:rPr>
                        <a:t>Deployment time and connector failure rate fall with reuse</a:t>
                      </a:r>
                    </a:p>
                  </a:txBody>
                  <a:tcPr marL="91440" marR="91440" marT="45720" marB="45720" anchor="ctr">
                    <a:solidFill>
                      <a:srgbClr val="FAF5F3"/>
                    </a:solidFill>
                  </a:tcPr>
                </a:tc>
              </a:tr>
              <a:tr h="60000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1620"/>
                          </a:solidFill>
                          <a:latin typeface="Calibri"/>
                        </a:rPr>
                        <a:t>Operational learning loop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6E5E66"/>
                          </a:solidFill>
                          <a:latin typeface="Calibri"/>
                        </a:rPr>
                        <a:t>Corrections, reopens and knowledge gaps become regression tests and release gates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6E5E66"/>
                          </a:solidFill>
                          <a:latin typeface="Calibri"/>
                        </a:rPr>
                        <a:t>Customers allow safe learning; quality improves without leakage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1620"/>
                          </a:solidFill>
                          <a:latin typeface="Calibri"/>
                        </a:rPr>
                        <a:t>Repeatable deployment</a:t>
                      </a:r>
                    </a:p>
                  </a:txBody>
                  <a:tcPr marL="91440" marR="91440" marT="45720" marB="45720" anchor="ctr">
                    <a:solidFill>
                      <a:srgbClr val="FAF5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6E5E66"/>
                          </a:solidFill>
                          <a:latin typeface="Calibri"/>
                        </a:rPr>
                        <a:t>Templates for common stack + workflow combinations reduce services effort</a:t>
                      </a:r>
                    </a:p>
                  </a:txBody>
                  <a:tcPr marL="91440" marR="91440" marT="45720" marB="45720" anchor="ctr">
                    <a:solidFill>
                      <a:srgbClr val="FAF5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6E5E66"/>
                          </a:solidFill>
                          <a:latin typeface="Calibri"/>
                        </a:rPr>
                        <a:t>Gross margin improves; implementation time drops</a:t>
                      </a:r>
                    </a:p>
                  </a:txBody>
                  <a:tcPr marL="91440" marR="91440" marT="45720" marB="45720" anchor="ctr">
                    <a:solidFill>
                      <a:srgbClr val="FAF5F3"/>
                    </a:solidFill>
                  </a:tcPr>
                </a:tc>
              </a:tr>
              <a:tr h="60000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1620"/>
                          </a:solidFill>
                          <a:latin typeface="Calibri"/>
                        </a:rPr>
                        <a:t>Switching cost through trusted operations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6E5E66"/>
                          </a:solidFill>
                          <a:latin typeface="Calibri"/>
                        </a:rPr>
                        <a:t>Embedded permissions, evaluation history and workflow evidence make replacement costly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6E5E66"/>
                          </a:solidFill>
                          <a:latin typeface="Calibri"/>
                        </a:rPr>
                        <a:t>Earned through use — not created by lock-in alone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6080000"/>
            <a:ext cx="1091184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6E5E66"/>
                </a:solidFill>
                <a:latin typeface="Calibri"/>
              </a:rPr>
              <a:t>No network-effect claim yet: cross-customer learning may become valuable only if data can be aggregated legally, securely and without exposing tenant information.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E5E66"/>
                </a:solidFill>
                <a:latin typeface="Calibri"/>
              </a:rPr>
              <a:t>B2B Product Strategy — Appendix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37520" y="640080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6E5E66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200">
                <a:solidFill>
                  <a:srgbClr val="A81E48"/>
                </a:solidFill>
                <a:latin typeface="Calibri"/>
              </a:rPr>
              <a:t>APPENDIX · GTM, METRICS AND PRICING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11840" cy="5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F1620"/>
                </a:solidFill>
                <a:latin typeface="Cambria"/>
              </a:rPr>
              <a:t>How the motion is measured and priced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700000"/>
          <a:ext cx="10861840" cy="30600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400000"/>
                <a:gridCol w="3300000"/>
                <a:gridCol w="3400000"/>
                <a:gridCol w="2761840"/>
              </a:tblGrid>
              <a:tr h="420000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MOTION</a:t>
                      </a:r>
                    </a:p>
                  </a:txBody>
                  <a:tcPr marL="91440" marR="91440" marT="45720" marB="45720" anchor="ctr">
                    <a:solidFill>
                      <a:srgbClr val="1F16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WHO</a:t>
                      </a:r>
                    </a:p>
                  </a:txBody>
                  <a:tcPr marL="91440" marR="91440" marT="45720" marB="45720" anchor="ctr">
                    <a:solidFill>
                      <a:srgbClr val="1F16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OFFER</a:t>
                      </a:r>
                    </a:p>
                  </a:txBody>
                  <a:tcPr marL="91440" marR="91440" marT="45720" marB="45720" anchor="ctr">
                    <a:solidFill>
                      <a:srgbClr val="1F16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TRIGGER TO ADVANCE</a:t>
                      </a:r>
                    </a:p>
                  </a:txBody>
                  <a:tcPr marL="91440" marR="91440" marT="45720" marB="45720" anchor="ctr">
                    <a:solidFill>
                      <a:srgbClr val="1F1620"/>
                    </a:solidFill>
                  </a:tcPr>
                </a:tc>
              </a:tr>
              <a:tr h="700000">
                <a:tc>
                  <a:txBody>
                    <a:bodyPr wrap="square"/>
                    <a:lstStyle/>
                    <a:p>
                      <a:pPr algn="l"/>
                      <a:r>
                        <a:rPr sz="869" b="1">
                          <a:solidFill>
                            <a:srgbClr val="1F1620"/>
                          </a:solidFill>
                          <a:latin typeface="Calibri"/>
                        </a:rPr>
                        <a:t>Land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9" b="0">
                          <a:solidFill>
                            <a:srgbClr val="6E5E66"/>
                          </a:solidFill>
                          <a:latin typeface="Calibri"/>
                        </a:rPr>
                        <a:t>Head/VP Support or Customer Ops; Support Ops operates; IT/security approve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9" b="0">
                          <a:solidFill>
                            <a:srgbClr val="6E5E66"/>
                          </a:solidFill>
                          <a:latin typeface="Calibri"/>
                        </a:rPr>
                        <a:t>30–60 day paid or committed pilot for one workflow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9" b="0">
                          <a:solidFill>
                            <a:srgbClr val="6E5E66"/>
                          </a:solidFill>
                          <a:latin typeface="Calibri"/>
                        </a:rPr>
                        <a:t>Baseline volume, measurable pain, access approved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00000">
                <a:tc>
                  <a:txBody>
                    <a:bodyPr wrap="square"/>
                    <a:lstStyle/>
                    <a:p>
                      <a:pPr algn="l"/>
                      <a:r>
                        <a:rPr sz="869" b="1">
                          <a:solidFill>
                            <a:srgbClr val="1F1620"/>
                          </a:solidFill>
                          <a:latin typeface="Calibri"/>
                        </a:rPr>
                        <a:t>Prove</a:t>
                      </a:r>
                    </a:p>
                  </a:txBody>
                  <a:tcPr marL="91440" marR="91440" marT="45720" marB="45720" anchor="ctr">
                    <a:solidFill>
                      <a:srgbClr val="FAF5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9" b="0">
                          <a:solidFill>
                            <a:srgbClr val="6E5E66"/>
                          </a:solidFill>
                          <a:latin typeface="Calibri"/>
                        </a:rPr>
                        <a:t>Frontline agents and support managers</a:t>
                      </a:r>
                    </a:p>
                  </a:txBody>
                  <a:tcPr marL="91440" marR="91440" marT="45720" marB="45720" anchor="ctr">
                    <a:solidFill>
                      <a:srgbClr val="FAF5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9" b="0">
                          <a:solidFill>
                            <a:srgbClr val="6E5E66"/>
                          </a:solidFill>
                          <a:latin typeface="Calibri"/>
                        </a:rPr>
                        <a:t>Shadow/assist workflow with draft, approval, write-back</a:t>
                      </a:r>
                    </a:p>
                  </a:txBody>
                  <a:tcPr marL="91440" marR="91440" marT="45720" marB="45720" anchor="ctr">
                    <a:solidFill>
                      <a:srgbClr val="FAF5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9" b="0">
                          <a:solidFill>
                            <a:srgbClr val="6E5E66"/>
                          </a:solidFill>
                          <a:latin typeface="Calibri"/>
                        </a:rPr>
                        <a:t>Less context work; no rise in reopens, unsafe actions or audit gaps</a:t>
                      </a:r>
                    </a:p>
                  </a:txBody>
                  <a:tcPr marL="91440" marR="91440" marT="45720" marB="45720" anchor="ctr">
                    <a:solidFill>
                      <a:srgbClr val="FAF5F3"/>
                    </a:solidFill>
                  </a:tcPr>
                </a:tc>
              </a:tr>
              <a:tr h="620000">
                <a:tc>
                  <a:txBody>
                    <a:bodyPr wrap="square"/>
                    <a:lstStyle/>
                    <a:p>
                      <a:pPr algn="l"/>
                      <a:r>
                        <a:rPr sz="869" b="1">
                          <a:solidFill>
                            <a:srgbClr val="1F1620"/>
                          </a:solidFill>
                          <a:latin typeface="Calibri"/>
                        </a:rPr>
                        <a:t>Expand 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9" b="0">
                          <a:solidFill>
                            <a:srgbClr val="6E5E66"/>
                          </a:solidFill>
                          <a:latin typeface="Calibri"/>
                        </a:rPr>
                        <a:t>Same support team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9" b="0">
                          <a:solidFill>
                            <a:srgbClr val="6E5E66"/>
                          </a:solidFill>
                          <a:latin typeface="Calibri"/>
                        </a:rPr>
                        <a:t>Adjacent variant or second system for the same workflow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9" b="0">
                          <a:solidFill>
                            <a:srgbClr val="6E5E66"/>
                          </a:solidFill>
                          <a:latin typeface="Calibri"/>
                        </a:rPr>
                        <a:t>Repeated usage, manager pull, acceptable total cost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20000">
                <a:tc>
                  <a:txBody>
                    <a:bodyPr wrap="square"/>
                    <a:lstStyle/>
                    <a:p>
                      <a:pPr algn="l"/>
                      <a:r>
                        <a:rPr sz="869" b="1">
                          <a:solidFill>
                            <a:srgbClr val="1F1620"/>
                          </a:solidFill>
                          <a:latin typeface="Calibri"/>
                        </a:rPr>
                        <a:t>Expand 2</a:t>
                      </a:r>
                    </a:p>
                  </a:txBody>
                  <a:tcPr marL="91440" marR="91440" marT="45720" marB="45720" anchor="ctr">
                    <a:solidFill>
                      <a:srgbClr val="FAF5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9" b="0">
                          <a:solidFill>
                            <a:srgbClr val="6E5E66"/>
                          </a:solidFill>
                          <a:latin typeface="Calibri"/>
                        </a:rPr>
                        <a:t>Customer success / operations</a:t>
                      </a:r>
                    </a:p>
                  </a:txBody>
                  <a:tcPr marL="91440" marR="91440" marT="45720" marB="45720" anchor="ctr">
                    <a:solidFill>
                      <a:srgbClr val="FAF5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9" b="0">
                          <a:solidFill>
                            <a:srgbClr val="6E5E66"/>
                          </a:solidFill>
                          <a:latin typeface="Calibri"/>
                        </a:rPr>
                        <a:t>Selected adjacent workflows using shared controls</a:t>
                      </a:r>
                    </a:p>
                  </a:txBody>
                  <a:tcPr marL="91440" marR="91440" marT="45720" marB="45720" anchor="ctr">
                    <a:solidFill>
                      <a:srgbClr val="FAF5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9" b="0">
                          <a:solidFill>
                            <a:srgbClr val="6E5E66"/>
                          </a:solidFill>
                          <a:latin typeface="Calibri"/>
                        </a:rPr>
                        <a:t>Renewal, internal reference, buyer-backed ROI</a:t>
                      </a:r>
                    </a:p>
                  </a:txBody>
                  <a:tcPr marL="91440" marR="91440" marT="45720" marB="45720" anchor="ctr">
                    <a:solidFill>
                      <a:srgbClr val="FAF5F3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960000"/>
            <a:ext cx="10911840" cy="4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1">
                <a:solidFill>
                  <a:srgbClr val="6E5E66"/>
                </a:solidFill>
                <a:latin typeface="Calibri"/>
              </a:rPr>
              <a:t>Pricing hypothesis: a predictable base subscription plus a capped usage tier tied to workflow volume or verified outcomes. No price set before a durable resolution, reopen window and cost floor are defined.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E5E66"/>
                </a:solidFill>
                <a:latin typeface="Calibri"/>
              </a:rPr>
              <a:t>B2B Product Strategy — Appendix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37520" y="640080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6E5E66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200">
                <a:solidFill>
                  <a:srgbClr val="A81E48"/>
                </a:solidFill>
                <a:latin typeface="Calibri"/>
              </a:rPr>
              <a:t>APPENDIX · RISKS AND DECISION GATES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11840" cy="5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F1620"/>
                </a:solidFill>
                <a:latin typeface="Cambria"/>
              </a:rPr>
              <a:t>What has to be true before this scales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700000"/>
          <a:ext cx="10061840" cy="25000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800000"/>
                <a:gridCol w="2500000"/>
                <a:gridCol w="1800000"/>
                <a:gridCol w="1961840"/>
              </a:tblGrid>
              <a:tr h="42000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GATE</a:t>
                      </a:r>
                    </a:p>
                  </a:txBody>
                  <a:tcPr marL="91440" marR="91440" marT="45720" marB="45720" anchor="ctr">
                    <a:solidFill>
                      <a:srgbClr val="1F16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THRESHOLD</a:t>
                      </a:r>
                    </a:p>
                  </a:txBody>
                  <a:tcPr marL="91440" marR="91440" marT="45720" marB="45720" anchor="ctr">
                    <a:solidFill>
                      <a:srgbClr val="1F16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OBSERVED</a:t>
                      </a:r>
                    </a:p>
                  </a:txBody>
                  <a:tcPr marL="91440" marR="91440" marT="45720" marB="45720" anchor="ctr">
                    <a:solidFill>
                      <a:srgbClr val="1F16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91440" marR="91440" marT="45720" marB="45720" anchor="ctr">
                    <a:solidFill>
                      <a:srgbClr val="1F1620"/>
                    </a:solidFill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F1620"/>
                          </a:solidFill>
                          <a:latin typeface="Calibri"/>
                        </a:rPr>
                        <a:t>Same repeated workflow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6E5E66"/>
                          </a:solidFill>
                          <a:latin typeface="Calibri"/>
                        </a:rPr>
                        <a:t>≥4 participants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6E5E66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6E5E66"/>
                          </a:solidFill>
                          <a:latin typeface="Calibri"/>
                        </a:rPr>
                        <a:t>Not met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F1620"/>
                          </a:solidFill>
                          <a:latin typeface="Calibri"/>
                        </a:rPr>
                        <a:t>Measurable impact, leading workflow</a:t>
                      </a:r>
                    </a:p>
                  </a:txBody>
                  <a:tcPr marL="91440" marR="91440" marT="45720" marB="45720" anchor="ctr">
                    <a:solidFill>
                      <a:srgbClr val="FAF5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6E5E66"/>
                          </a:solidFill>
                          <a:latin typeface="Calibri"/>
                        </a:rPr>
                        <a:t>≥3 participants</a:t>
                      </a:r>
                    </a:p>
                  </a:txBody>
                  <a:tcPr marL="91440" marR="91440" marT="45720" marB="45720" anchor="ctr">
                    <a:solidFill>
                      <a:srgbClr val="FAF5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6E5E6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AF5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6E5E66"/>
                          </a:solidFill>
                          <a:latin typeface="Calibri"/>
                        </a:rPr>
                        <a:t>Not met</a:t>
                      </a:r>
                    </a:p>
                  </a:txBody>
                  <a:tcPr marL="91440" marR="91440" marT="45720" marB="45720" anchor="ctr">
                    <a:solidFill>
                      <a:srgbClr val="FAF5F3"/>
                    </a:solidFill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F1620"/>
                          </a:solidFill>
                          <a:latin typeface="Calibri"/>
                        </a:rPr>
                        <a:t>Native tool insufficient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6E5E66"/>
                          </a:solidFill>
                          <a:latin typeface="Calibri"/>
                        </a:rPr>
                        <a:t>≥3 participants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6E5E66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6E5E66"/>
                          </a:solidFill>
                          <a:latin typeface="Calibri"/>
                        </a:rPr>
                        <a:t>Not met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F1620"/>
                          </a:solidFill>
                          <a:latin typeface="Calibri"/>
                        </a:rPr>
                        <a:t>Strong pilot interest</a:t>
                      </a:r>
                    </a:p>
                  </a:txBody>
                  <a:tcPr marL="91440" marR="91440" marT="45720" marB="45720" anchor="ctr">
                    <a:solidFill>
                      <a:srgbClr val="FAF5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6E5E66"/>
                          </a:solidFill>
                          <a:latin typeface="Calibri"/>
                        </a:rPr>
                        <a:t>≥2 participants</a:t>
                      </a:r>
                    </a:p>
                  </a:txBody>
                  <a:tcPr marL="91440" marR="91440" marT="45720" marB="45720" anchor="ctr">
                    <a:solidFill>
                      <a:srgbClr val="FAF5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6E5E66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AF5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6E5E66"/>
                          </a:solidFill>
                          <a:latin typeface="Calibri"/>
                        </a:rPr>
                        <a:t>Not met</a:t>
                      </a:r>
                    </a:p>
                  </a:txBody>
                  <a:tcPr marL="91440" marR="91440" marT="45720" marB="45720" anchor="ctr">
                    <a:solidFill>
                      <a:srgbClr val="FAF5F3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4600000"/>
            <a:ext cx="10911840" cy="9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E5E66"/>
                </a:solidFill>
                <a:latin typeface="Calibri"/>
              </a:rPr>
              <a:t>Top risks: incumbents close the gap → win only with a validated workflow and faster deployment. A second system adds complexity → prove reduced total admin effort. Poor context or unsafe action → read-only first, approval, audit, rollback, safe stop. Custom integration destroys margin → versioned contracts and stop rules.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620000"/>
            <a:ext cx="10911840" cy="760000"/>
          </a:xfrm>
          <a:prstGeom prst="roundRect">
            <a:avLst>
              <a:gd name="adj" fmla="val 3182"/>
            </a:avLst>
          </a:prstGeom>
          <a:solidFill>
            <a:srgbClr val="ECE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5620000"/>
            <a:ext cx="10454640" cy="7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A81E48"/>
                </a:solidFill>
                <a:latin typeface="Calibri"/>
              </a:rPr>
              <a:t>FINAL BOUNDARY   </a:t>
            </a:r>
            <a:r>
              <a:rPr sz="1050" b="1" i="0">
                <a:solidFill>
                  <a:srgbClr val="1F1620"/>
                </a:solidFill>
                <a:latin typeface="Calibri"/>
              </a:rPr>
              <a:t>this submission recommends a direction under time and sample constraints. It does not claim a validated ICP, statistically representative demand, a confirmed buyer, willingness to pay, or a proven moat.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E5E66"/>
                </a:solidFill>
                <a:latin typeface="Calibri"/>
              </a:rPr>
              <a:t>B2B Product Strategy — Appendix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37520" y="640080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6E5E66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200">
                <a:solidFill>
                  <a:srgbClr val="A81E48"/>
                </a:solidFill>
                <a:latin typeface="Calibri"/>
              </a:rPr>
              <a:t>APPENDIX · EVIDENCE REGISTER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11840" cy="5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1620"/>
                </a:solidFill>
                <a:latin typeface="Cambria"/>
              </a:rPr>
              <a:t>The research record behind this deck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700000"/>
          <a:ext cx="10911840" cy="23400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400000"/>
                <a:gridCol w="9511840"/>
              </a:tblGrid>
              <a:tr h="420000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COUNT</a:t>
                      </a:r>
                    </a:p>
                  </a:txBody>
                  <a:tcPr marL="91440" marR="91440" marT="45720" marB="45720" anchor="ctr">
                    <a:solidFill>
                      <a:srgbClr val="1F16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MEANING</a:t>
                      </a:r>
                    </a:p>
                  </a:txBody>
                  <a:tcPr marL="91440" marR="91440" marT="45720" marB="45720" anchor="ctr">
                    <a:solidFill>
                      <a:srgbClr val="1F1620"/>
                    </a:solidFill>
                  </a:tcPr>
                </a:tc>
              </a:tr>
              <a:tr h="480000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1F1620"/>
                          </a:solidFill>
                          <a:latin typeface="Calibri"/>
                        </a:rPr>
                        <a:t>65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6E5E66"/>
                          </a:solidFill>
                          <a:latin typeface="Calibri"/>
                        </a:rPr>
                        <a:t>Source register entries: 64 external sources plus the assignment brief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80000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1F1620"/>
                          </a:solidFill>
                          <a:latin typeface="Calibri"/>
                        </a:rPr>
                        <a:t>56</a:t>
                      </a:r>
                    </a:p>
                  </a:txBody>
                  <a:tcPr marL="91440" marR="91440" marT="45720" marB="45720" anchor="ctr">
                    <a:solidFill>
                      <a:srgbClr val="FAF5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6E5E66"/>
                          </a:solidFill>
                          <a:latin typeface="Calibri"/>
                        </a:rPr>
                        <a:t>Unique source IDs referenced by the 91 evidence records</a:t>
                      </a:r>
                    </a:p>
                  </a:txBody>
                  <a:tcPr marL="91440" marR="91440" marT="45720" marB="45720" anchor="ctr">
                    <a:solidFill>
                      <a:srgbClr val="FAF5F3"/>
                    </a:solidFill>
                  </a:tcPr>
                </a:tc>
              </a:tr>
              <a:tr h="480000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1F1620"/>
                          </a:solidFill>
                          <a:latin typeface="Calibri"/>
                        </a:rPr>
                        <a:t>91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6E5E66"/>
                          </a:solidFill>
                          <a:latin typeface="Calibri"/>
                        </a:rPr>
                        <a:t>Claim-level public evidence records with source URL, confidence and limitation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80000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1F162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FAF5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6E5E66"/>
                          </a:solidFill>
                          <a:latin typeface="Calibri"/>
                        </a:rPr>
                        <a:t>Interview records, maintained separately from public evidence</a:t>
                      </a:r>
                    </a:p>
                  </a:txBody>
                  <a:tcPr marL="91440" marR="91440" marT="45720" marB="45720" anchor="ctr">
                    <a:solidFill>
                      <a:srgbClr val="FAF5F3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4360000"/>
            <a:ext cx="10911840" cy="2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spc="100">
                <a:solidFill>
                  <a:srgbClr val="A81E48"/>
                </a:solidFill>
                <a:latin typeface="Calibri"/>
              </a:rPr>
              <a:t>SELECTED SOURCES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680000"/>
            <a:ext cx="5318760" cy="1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0">
                <a:solidFill>
                  <a:srgbClr val="6E5E66"/>
                </a:solidFill>
                <a:latin typeface="Calibri"/>
              </a:rPr>
              <a:t>[1] Fortune Business Insights — Contact Center Software Market</a:t>
            </a:r>
          </a:p>
          <a:p>
            <a:pPr algn="l">
              <a:lnSpc>
                <a:spcPct val="135000"/>
              </a:lnSpc>
            </a:pPr>
            <a:r>
              <a:rPr sz="950" b="0" i="0">
                <a:solidFill>
                  <a:srgbClr val="6E5E66"/>
                </a:solidFill>
                <a:latin typeface="Calibri"/>
              </a:rPr>
              <a:t>[2] Grand View Research — Contact Center Software Market</a:t>
            </a:r>
          </a:p>
          <a:p>
            <a:pPr algn="l">
              <a:lnSpc>
                <a:spcPct val="135000"/>
              </a:lnSpc>
            </a:pPr>
            <a:r>
              <a:rPr sz="950" b="0" i="0">
                <a:solidFill>
                  <a:srgbClr val="6E5E66"/>
                </a:solidFill>
                <a:latin typeface="Calibri"/>
              </a:rPr>
              <a:t>[3] Intercom — 2026 Customer Service Transformation Report</a:t>
            </a:r>
          </a:p>
          <a:p>
            <a:pPr algn="l">
              <a:lnSpc>
                <a:spcPct val="135000"/>
              </a:lnSpc>
            </a:pPr>
            <a:r>
              <a:rPr sz="950" b="0" i="0">
                <a:solidFill>
                  <a:srgbClr val="6E5E66"/>
                </a:solidFill>
                <a:latin typeface="Calibri"/>
              </a:rPr>
              <a:t>[4] Freshworks — Customer Service Benchmark / AI ROI</a:t>
            </a:r>
          </a:p>
          <a:p>
            <a:pPr algn="l">
              <a:lnSpc>
                <a:spcPct val="135000"/>
              </a:lnSpc>
            </a:pPr>
            <a:r>
              <a:rPr sz="950" b="0" i="0">
                <a:solidFill>
                  <a:srgbClr val="6E5E66"/>
                </a:solidFill>
                <a:latin typeface="Calibri"/>
              </a:rPr>
              <a:t>[5] Gartner — Customer-service technology priorities</a:t>
            </a:r>
          </a:p>
          <a:p>
            <a:pPr algn="l">
              <a:lnSpc>
                <a:spcPct val="135000"/>
              </a:lnSpc>
            </a:pPr>
            <a:r>
              <a:rPr sz="950" b="0" i="0">
                <a:solidFill>
                  <a:srgbClr val="6E5E66"/>
                </a:solidFill>
                <a:latin typeface="Calibri"/>
              </a:rPr>
              <a:t>[6] Salesforce — Seventh State of Service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33160" y="4680000"/>
            <a:ext cx="5318760" cy="1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0">
                <a:solidFill>
                  <a:srgbClr val="6E5E66"/>
                </a:solidFill>
                <a:latin typeface="Calibri"/>
              </a:rPr>
              <a:t>[7] Intercom — Pricing and Fin Procedures</a:t>
            </a:r>
          </a:p>
          <a:p>
            <a:pPr algn="l">
              <a:lnSpc>
                <a:spcPct val="135000"/>
              </a:lnSpc>
            </a:pPr>
            <a:r>
              <a:rPr sz="950" b="0" i="0">
                <a:solidFill>
                  <a:srgbClr val="6E5E66"/>
                </a:solidFill>
                <a:latin typeface="Calibri"/>
              </a:rPr>
              <a:t>[8] Zendesk — AI Agents for Customer Service</a:t>
            </a:r>
          </a:p>
          <a:p>
            <a:pPr algn="l">
              <a:lnSpc>
                <a:spcPct val="135000"/>
              </a:lnSpc>
            </a:pPr>
            <a:r>
              <a:rPr sz="950" b="0" i="0">
                <a:solidFill>
                  <a:srgbClr val="6E5E66"/>
                </a:solidFill>
                <a:latin typeface="Calibri"/>
              </a:rPr>
              <a:t>[9] Freshworks — Freshdesk integrations and pricing</a:t>
            </a:r>
          </a:p>
          <a:p>
            <a:pPr algn="l">
              <a:lnSpc>
                <a:spcPct val="135000"/>
              </a:lnSpc>
            </a:pPr>
            <a:r>
              <a:rPr sz="950" b="0" i="0">
                <a:solidFill>
                  <a:srgbClr val="6E5E66"/>
                </a:solidFill>
                <a:latin typeface="Calibri"/>
              </a:rPr>
              <a:t>[10] Salesforce Trailhead — Data and AI guardrails</a:t>
            </a:r>
          </a:p>
          <a:p>
            <a:pPr algn="l">
              <a:lnSpc>
                <a:spcPct val="135000"/>
              </a:lnSpc>
            </a:pPr>
            <a:r>
              <a:rPr sz="950" b="0" i="0">
                <a:solidFill>
                  <a:srgbClr val="6E5E66"/>
                </a:solidFill>
                <a:latin typeface="Calibri"/>
              </a:rPr>
              <a:t>[11] Brynjolfsson, Li &amp; Raymond — Generative AI at Work</a:t>
            </a:r>
          </a:p>
          <a:p>
            <a:pPr algn="l">
              <a:lnSpc>
                <a:spcPct val="135000"/>
              </a:lnSpc>
            </a:pPr>
            <a:r>
              <a:rPr sz="950" b="0" i="0">
                <a:solidFill>
                  <a:srgbClr val="6E5E66"/>
                </a:solidFill>
                <a:latin typeface="Calibri"/>
              </a:rPr>
              <a:t>[12] Gupta et al. — Customer Support AI Agents at 100M-user Scale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060000"/>
            <a:ext cx="1091184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6E5E66"/>
                </a:solidFill>
                <a:latin typeface="Calibri"/>
              </a:rPr>
              <a:t>Full 65-source register, 91 evidence rows, strength/bias labels, anonymized interview notes and the editable tracker live in the project repository.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E5E66"/>
                </a:solidFill>
                <a:latin typeface="Calibri"/>
              </a:rPr>
              <a:t>B2B Product Strategy — Appendix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37520" y="640080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6E5E66"/>
                </a:solidFill>
                <a:latin typeface="Calibri"/>
              </a:rPr>
              <a:t>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