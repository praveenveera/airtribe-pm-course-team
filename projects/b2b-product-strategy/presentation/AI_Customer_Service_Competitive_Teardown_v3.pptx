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2785491ae245f4" /><Relationship Type="http://schemas.openxmlformats.org/officeDocument/2006/relationships/extended-properties" Target="/docProps/app.xml" Id="Rd20e463b483b4b22" /><Relationship Type="http://schemas.openxmlformats.org/officeDocument/2006/relationships/officeDocument" Target="/ppt/presentation.xml" Id="R3fcb590cd1154213" /></Relationships>
</file>

<file path=ppt/presentation.xml><?xml version="1.0" encoding="utf-8"?>
<p:presentation xmlns:p="http://schemas.openxmlformats.org/presentationml/2006/main">
  <p:sldMasterIdLst>
    <p:sldMasterId xmlns:r="http://schemas.openxmlformats.org/officeDocument/2006/relationships" id="2147483648" r:id="R0b3916bb37084376"/>
  </p:sldMasterIdLst>
  <p:notesMasterIdLst>
    <p:notesMasterId xmlns:r="http://schemas.openxmlformats.org/officeDocument/2006/relationships" r:id="R76c53a5b144848cf"/>
  </p:notesMasterIdLst>
  <p:sldIdLst>
    <p:sldId xmlns:r="http://schemas.openxmlformats.org/officeDocument/2006/relationships" id="256" r:id="Rc8ff878cb3ec4bfd"/>
    <p:sldId xmlns:r="http://schemas.openxmlformats.org/officeDocument/2006/relationships" id="257" r:id="R96300aad29814b21"/>
    <p:sldId xmlns:r="http://schemas.openxmlformats.org/officeDocument/2006/relationships" id="258" r:id="Rd8ca7b1f1a744688"/>
    <p:sldId xmlns:r="http://schemas.openxmlformats.org/officeDocument/2006/relationships" id="259" r:id="Rc6349e57e4604c5a"/>
    <p:sldId xmlns:r="http://schemas.openxmlformats.org/officeDocument/2006/relationships" id="260" r:id="R191e3762e83e4482"/>
    <p:sldId xmlns:r="http://schemas.openxmlformats.org/officeDocument/2006/relationships" id="261" r:id="R1f1fac1aba3b4662"/>
    <p:sldId xmlns:r="http://schemas.openxmlformats.org/officeDocument/2006/relationships" id="262" r:id="Re72a09e6229242dc"/>
    <p:sldId xmlns:r="http://schemas.openxmlformats.org/officeDocument/2006/relationships" id="263" r:id="R75aa4aa41b704347"/>
    <p:sldId xmlns:r="http://schemas.openxmlformats.org/officeDocument/2006/relationships" id="264" r:id="R2dccb04081b84bd1"/>
    <p:sldId xmlns:r="http://schemas.openxmlformats.org/officeDocument/2006/relationships" id="265" r:id="R5baa016f4ad040c5"/>
    <p:sldId xmlns:r="http://schemas.openxmlformats.org/officeDocument/2006/relationships" id="266" r:id="Rf4b600ad47e54e36"/>
    <p:sldId xmlns:r="http://schemas.openxmlformats.org/officeDocument/2006/relationships" id="267" r:id="R1eec91c18f18418a"/>
    <p:sldId xmlns:r="http://schemas.openxmlformats.org/officeDocument/2006/relationships" id="268" r:id="R2b1881a84fdc4a03"/>
    <p:sldId xmlns:r="http://schemas.openxmlformats.org/officeDocument/2006/relationships" id="269" r:id="Rd2d05142c2b2413a"/>
    <p:sldId xmlns:r="http://schemas.openxmlformats.org/officeDocument/2006/relationships" id="270" r:id="R4af8f917ed724d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6f4ed214734837" /><Relationship Type="http://schemas.openxmlformats.org/officeDocument/2006/relationships/slideMaster" Target="/ppt/slideMasters/slideMaster1.xml" Id="R0b3916bb37084376" /><Relationship Type="http://schemas.openxmlformats.org/officeDocument/2006/relationships/notesMaster" Target="/ppt/notesMasters/notesMaster1.xml" Id="R76c53a5b144848cf" /><Relationship Type="http://schemas.openxmlformats.org/officeDocument/2006/relationships/presProps" Target="/ppt/presProps.xml" Id="Rcf1a023f8ee14552" /><Relationship Type="http://schemas.openxmlformats.org/officeDocument/2006/relationships/tableStyles" Target="/ppt/tableStyles.xml" Id="Rb78ee7e3b4474416" /><Relationship Type="http://schemas.openxmlformats.org/officeDocument/2006/relationships/slide" Target="/ppt/slides/slide1.xml" Id="Rc8ff878cb3ec4bfd" /><Relationship Type="http://schemas.openxmlformats.org/officeDocument/2006/relationships/slide" Target="/ppt/slides/slide2.xml" Id="R96300aad29814b21" /><Relationship Type="http://schemas.openxmlformats.org/officeDocument/2006/relationships/slide" Target="/ppt/slides/slide3.xml" Id="Rd8ca7b1f1a744688" /><Relationship Type="http://schemas.openxmlformats.org/officeDocument/2006/relationships/slide" Target="/ppt/slides/slide4.xml" Id="Rc6349e57e4604c5a" /><Relationship Type="http://schemas.openxmlformats.org/officeDocument/2006/relationships/slide" Target="/ppt/slides/slide5.xml" Id="R191e3762e83e4482" /><Relationship Type="http://schemas.openxmlformats.org/officeDocument/2006/relationships/slide" Target="/ppt/slides/slide6.xml" Id="R1f1fac1aba3b4662" /><Relationship Type="http://schemas.openxmlformats.org/officeDocument/2006/relationships/slide" Target="/ppt/slides/slide7.xml" Id="Re72a09e6229242dc" /><Relationship Type="http://schemas.openxmlformats.org/officeDocument/2006/relationships/slide" Target="/ppt/slides/slide8.xml" Id="R75aa4aa41b704347" /><Relationship Type="http://schemas.openxmlformats.org/officeDocument/2006/relationships/slide" Target="/ppt/slides/slide9.xml" Id="R2dccb04081b84bd1" /><Relationship Type="http://schemas.openxmlformats.org/officeDocument/2006/relationships/slide" Target="/ppt/slides/slide10.xml" Id="R5baa016f4ad040c5" /><Relationship Type="http://schemas.openxmlformats.org/officeDocument/2006/relationships/slide" Target="/ppt/slides/slide11.xml" Id="Rf4b600ad47e54e36" /><Relationship Type="http://schemas.openxmlformats.org/officeDocument/2006/relationships/slide" Target="/ppt/slides/slide12.xml" Id="R1eec91c18f18418a" /><Relationship Type="http://schemas.openxmlformats.org/officeDocument/2006/relationships/slide" Target="/ppt/slides/slide13.xml" Id="R2b1881a84fdc4a03" /><Relationship Type="http://schemas.openxmlformats.org/officeDocument/2006/relationships/slide" Target="/ppt/slides/slide14.xml" Id="Rd2d05142c2b2413a" /><Relationship Type="http://schemas.openxmlformats.org/officeDocument/2006/relationships/slide" Target="/ppt/slides/slide15.xml" Id="R4af8f917ed724d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b4ae3df3824e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Evidence Strategy">
      <a:dk1>
        <a:srgbClr val="111315"/>
      </a:dk1>
      <a:lt1>
        <a:srgbClr val="FFFFFF"/>
      </a:lt1>
      <a:dk2>
        <a:srgbClr val="30343A"/>
      </a:dk2>
      <a:lt2>
        <a:srgbClr val="F3F2ED"/>
      </a:lt2>
      <a:accent1>
        <a:srgbClr val="335CFF"/>
      </a:accent1>
      <a:accent2>
        <a:srgbClr val="D6FF5C"/>
      </a:accent2>
      <a:accent3>
        <a:srgbClr val="FF6847"/>
      </a:accent3>
      <a:accent4>
        <a:srgbClr val="2A9D8F"/>
      </a:accent4>
      <a:accent5>
        <a:srgbClr val="8C6BC4"/>
      </a:accent5>
      <a:accent6>
        <a:srgbClr val="E9B44C"/>
      </a:accent6>
      <a:hlink>
        <a:srgbClr val="335CFF"/>
      </a:hlink>
      <a:folHlink>
        <a:srgbClr val="6C44C5"/>
      </a:folHlink>
    </a:clrScheme>
    <a:fontScheme name="Office">
      <a:majorFont>
        <a:latin typeface="Calibri Light"/>
        <a:ea typeface="Calibri Light"/>
        <a:cs typeface="Calibri Light"/>
      </a:majorFont>
      <a:minorFont>
        <a:latin typeface="Calibri"/>
        <a:ea typeface="Calibri"/>
        <a:cs typeface="Calibri"/>
      </a:minorFont>
    </a:fontScheme>
    <a:fmtScheme name="Evidence Strateg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79d827b83a40c8" /><Relationship Type="http://schemas.openxmlformats.org/officeDocument/2006/relationships/notesMaster" Target="/ppt/notesMasters/notesMaster1.xml" Id="R8621bc4aa9bc4c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3a5148ffb0482a" /><Relationship Type="http://schemas.openxmlformats.org/officeDocument/2006/relationships/notesMaster" Target="/ppt/notesMasters/notesMaster1.xml" Id="Rc613ab06b26942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981c1f22164a29" /><Relationship Type="http://schemas.openxmlformats.org/officeDocument/2006/relationships/notesMaster" Target="/ppt/notesMasters/notesMaster1.xml" Id="Rfe1fc2842fef43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d3d71a0f724f12" /><Relationship Type="http://schemas.openxmlformats.org/officeDocument/2006/relationships/notesMaster" Target="/ppt/notesMasters/notesMaster1.xml" Id="R465fb7ce575642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350c222e2c464a" /><Relationship Type="http://schemas.openxmlformats.org/officeDocument/2006/relationships/notesMaster" Target="/ppt/notesMasters/notesMaster1.xml" Id="R271535478fe742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93a346b58a4636" /><Relationship Type="http://schemas.openxmlformats.org/officeDocument/2006/relationships/notesMaster" Target="/ppt/notesMasters/notesMaster1.xml" Id="R33c5a2e47a0643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4ac4d44f8f484b" /><Relationship Type="http://schemas.openxmlformats.org/officeDocument/2006/relationships/notesMaster" Target="/ppt/notesMasters/notesMaster1.xml" Id="R5eb51eda80f44b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1bd1c78c2d46a1" /><Relationship Type="http://schemas.openxmlformats.org/officeDocument/2006/relationships/notesMaster" Target="/ppt/notesMasters/notesMaster1.xml" Id="Rce8cba7468384b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0498b0233d4244" /><Relationship Type="http://schemas.openxmlformats.org/officeDocument/2006/relationships/notesMaster" Target="/ppt/notesMasters/notesMaster1.xml" Id="Rc21be722641d42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69077e207d47b3" /><Relationship Type="http://schemas.openxmlformats.org/officeDocument/2006/relationships/notesMaster" Target="/ppt/notesMasters/notesMaster1.xml" Id="Rcb219330c92945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6bc204f8704e76" /><Relationship Type="http://schemas.openxmlformats.org/officeDocument/2006/relationships/notesMaster" Target="/ppt/notesMasters/notesMaster1.xml" Id="Rd9210deb38f14f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4b5ccad6274363" /><Relationship Type="http://schemas.openxmlformats.org/officeDocument/2006/relationships/notesMaster" Target="/ppt/notesMasters/notesMaster1.xml" Id="R8b78bb97627244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c82d2e2501483f" /><Relationship Type="http://schemas.openxmlformats.org/officeDocument/2006/relationships/notesMaster" Target="/ppt/notesMasters/notesMaster1.xml" Id="Rdb424977167a46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15b7edad1a4784" /><Relationship Type="http://schemas.openxmlformats.org/officeDocument/2006/relationships/notesMaster" Target="/ppt/notesMasters/notesMaster1.xml" Id="R111af4268e2646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e60022f82b4eb1" /><Relationship Type="http://schemas.openxmlformats.org/officeDocument/2006/relationships/notesMaster" Target="/ppt/notesMasters/notesMaster1.xml" Id="Rcffcda93aa8d47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public product pages, documentation, public pricing, selected review signals, and two anonymised enterprise frontline interviews. This deck does not claim hands on product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policy: V establishes what a vendor currently claims or prices. R exposes a possible friction but not prevalence. I comes from two anonymised enterprise frontline interviews. H marks strategic synthesis that still needs validation. U marks unresolved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 This map synthesises official positioning and packaging. It does not rank product quality. Intercom sources V1 to V3. Zendesk V4 to V5. Freshdesk V6 to V8. Salesforce V9 to V11.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https://www.intercom.com/pricing</a:t>
            </a:r>
          </a:p>
          <a:p xmlns:a="http://schemas.openxmlformats.org/drawingml/2006/main">
            <a:r>
              <a:t>V2 https://www.intercom.com/help/en/articles/12495167-fin-procedures-explained</a:t>
            </a:r>
          </a:p>
          <a:p xmlns:a="http://schemas.openxmlformats.org/drawingml/2006/main">
            <a:r>
              <a:t>V3 https://www.intercom.com/help/en/articles/8205718-fin-ai-agent-outcomes</a:t>
            </a:r>
          </a:p>
          <a:p xmlns:a="http://schemas.openxmlformats.org/drawingml/2006/main">
            <a:r>
              <a:t>R1 https://www.trustradius.com/products/intercom/reviews</a:t>
            </a:r>
          </a:p>
          <a:p xmlns:a="http://schemas.openxmlformats.org/drawingml/2006/main">
            <a:r>
              <a:t>R2 https://www.capterra.com/p/134347/Intercom/reviews/</a:t>
            </a:r>
          </a:p>
          <a:p xmlns:a="http://schemas.openxmlformats.org/drawingml/2006/main">
            <a:r>
              <a:t/>
            </a:r>
          </a:p>
          <a:p xmlns:a="http://schemas.openxmlformats.org/drawingml/2006/main">
            <a:r>
              <a:t>H: Customer best fit, trigger, retention logic, wedge, moat, and biggest strategic weakness are analytical inferences. They require buyer interviews and hands on product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V4 https://www.zendesk.com/service/ai/ai-agents/</a:t>
            </a:r>
          </a:p>
          <a:p xmlns:a="http://schemas.openxmlformats.org/drawingml/2006/main">
            <a:r>
              <a:t>V5 https://www.zendesk.com/pricing/</a:t>
            </a:r>
          </a:p>
          <a:p xmlns:a="http://schemas.openxmlformats.org/drawingml/2006/main">
            <a:r>
              <a:t>R3 https://www.trustradius.com/products/zendesk-support-suite/reviews</a:t>
            </a:r>
          </a:p>
          <a:p xmlns:a="http://schemas.openxmlformats.org/drawingml/2006/main">
            <a:r>
              <a:t>R4 https://www.capterra.com/p/164283/Zendesk/reviews/</a:t>
            </a:r>
          </a:p>
          <a:p xmlns:a="http://schemas.openxmlformats.org/drawingml/2006/main">
            <a:r>
              <a:t/>
            </a:r>
          </a:p>
          <a:p xmlns:a="http://schemas.openxmlformats.org/drawingml/2006/main">
            <a:r>
              <a:t>H: Customer best fit, trigger, retention logic, wedge, moat, and biggest strategic weakness are analytical inferences. They require buyer interviews and hands on product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V6 https://www.freshworks.com/freshdesk/helpdesk-features/</a:t>
            </a:r>
          </a:p>
          <a:p xmlns:a="http://schemas.openxmlformats.org/drawingml/2006/main">
            <a:r>
              <a:t>V7 https://www.freshworks.com/freshdesk/pricing/</a:t>
            </a:r>
          </a:p>
          <a:p xmlns:a="http://schemas.openxmlformats.org/drawingml/2006/main">
            <a:r>
              <a:t>V8 https://www.freshworks.com/freshdesk/integrations/</a:t>
            </a:r>
          </a:p>
          <a:p xmlns:a="http://schemas.openxmlformats.org/drawingml/2006/main">
            <a:r>
              <a:t>R5 https://www.trustradius.com/products/freshdesk/reviews</a:t>
            </a:r>
          </a:p>
          <a:p xmlns:a="http://schemas.openxmlformats.org/drawingml/2006/main">
            <a:r>
              <a:t/>
            </a:r>
          </a:p>
          <a:p xmlns:a="http://schemas.openxmlformats.org/drawingml/2006/main">
            <a:r>
              <a:t>H: Customer best fit, trigger, retention logic, wedge, moat, and biggest strategic weakness are analytical inferences. They require buyer interviews and hands on product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V9 https://www.salesforce.com/service/</a:t>
            </a:r>
          </a:p>
          <a:p xmlns:a="http://schemas.openxmlformats.org/drawingml/2006/main">
            <a:r>
              <a:t>V10 https://www.salesforce.com/agentforce/pricing/</a:t>
            </a:r>
          </a:p>
          <a:p xmlns:a="http://schemas.openxmlformats.org/drawingml/2006/main">
            <a:r>
              <a:t>V11 https://trailhead.salesforce.com/content/learn/modules/data-cloud-powered-agentforce/enable-trusted-agents-with-data-cloud</a:t>
            </a:r>
          </a:p>
          <a:p xmlns:a="http://schemas.openxmlformats.org/drawingml/2006/main">
            <a:r>
              <a:t>R6 https://www.g2.com/products/agentforce-service-formerly-salesforce-service-cloud/reviews</a:t>
            </a:r>
          </a:p>
          <a:p xmlns:a="http://schemas.openxmlformats.org/drawingml/2006/main">
            <a:r>
              <a:t/>
            </a:r>
          </a:p>
          <a:p xmlns:a="http://schemas.openxmlformats.org/drawingml/2006/main">
            <a:r>
              <a:t>H: Customer best fit, trigger, retention logic, wedge, moat, and biggest strategic weakness are analytical inferences. They require buyer interviews and hands on product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V1 to V11 and R1 to R6. This matrix separates official product and pricing claims from analytical interpretation. Customer served best and biggest weakness are hypotheses, not measured market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 No moat has been independently measured. The table describes mechanisms that may compound after deployment. Vulnerabilities are test questions, not proven market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Vendor sources V1 to V11 support the capability coverage. Public claims do not prove equal depth, reliability, security, or customer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I1 and I2 are anonymised enterprise frontline interviews in the assignment repository. They support examples of cross system context and handoff pain. They do not validate the proposed mid market segment, buyer demand, willingness to pay, or product preference. These remain H or 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 Proposed commercial and adoption motion. No customer has committed to this pilot. Baselines and exit thresholds must come from a live customer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 Candidate moat mechanisms. The assignment product has no deployments, proprietary outcome data, demonstrated connector reliability advantage, or repeatable deployment evidence. Treat this slide as a build and validation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preserves the distinction between evidence and strategy. The research does not validate a buyer, initial workflow, willingness to pay, security approval, hands on product comparison, or pilot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a:t>
            </a:r>
          </a:p>
          <a:p xmlns:a="http://schemas.openxmlformats.org/drawingml/2006/main">
            <a:r>
              <a:t>V1 https://www.intercom.com/pricing</a:t>
            </a:r>
          </a:p>
          <a:p xmlns:a="http://schemas.openxmlformats.org/drawingml/2006/main">
            <a:r>
              <a:t>V2 https://www.intercom.com/help/en/articles/12495167-fin-procedures-explained</a:t>
            </a:r>
          </a:p>
          <a:p xmlns:a="http://schemas.openxmlformats.org/drawingml/2006/main">
            <a:r>
              <a:t>V3 https://www.intercom.com/help/en/articles/8205718-fin-ai-agent-outcomes</a:t>
            </a:r>
          </a:p>
          <a:p xmlns:a="http://schemas.openxmlformats.org/drawingml/2006/main">
            <a:r>
              <a:t>V4 https://www.zendesk.com/service/ai/ai-agents/</a:t>
            </a:r>
          </a:p>
          <a:p xmlns:a="http://schemas.openxmlformats.org/drawingml/2006/main">
            <a:r>
              <a:t>V5 https://www.zendesk.com/pricing/</a:t>
            </a:r>
          </a:p>
          <a:p xmlns:a="http://schemas.openxmlformats.org/drawingml/2006/main">
            <a:r>
              <a:t>V6 https://www.freshworks.com/freshdesk/helpdesk-features/</a:t>
            </a:r>
          </a:p>
          <a:p xmlns:a="http://schemas.openxmlformats.org/drawingml/2006/main">
            <a:r>
              <a:t>V7 https://www.freshworks.com/freshdesk/pricing/</a:t>
            </a:r>
          </a:p>
          <a:p xmlns:a="http://schemas.openxmlformats.org/drawingml/2006/main">
            <a:r>
              <a:t>V8 https://www.freshworks.com/freshdesk/integrations/</a:t>
            </a:r>
          </a:p>
          <a:p xmlns:a="http://schemas.openxmlformats.org/drawingml/2006/main">
            <a:r>
              <a:t>V9 https://www.salesforce.com/service/</a:t>
            </a:r>
          </a:p>
          <a:p xmlns:a="http://schemas.openxmlformats.org/drawingml/2006/main">
            <a:r>
              <a:t>V10 https://www.salesforce.com/agentforce/pricing/</a:t>
            </a:r>
          </a:p>
          <a:p xmlns:a="http://schemas.openxmlformats.org/drawingml/2006/main">
            <a:r>
              <a:t>V11 https://trailhead.salesforce.com/content/learn/modules/data-cloud-powered-agentforce/enable-trusted-agents-with-data-cloud</a:t>
            </a:r>
          </a:p>
          <a:p xmlns:a="http://schemas.openxmlformats.org/drawingml/2006/main">
            <a:r>
              <a:t>Review sources</a:t>
            </a:r>
          </a:p>
          <a:p xmlns:a="http://schemas.openxmlformats.org/drawingml/2006/main">
            <a:r>
              <a:t>R1 https://www.trustradius.com/products/intercom/reviews</a:t>
            </a:r>
          </a:p>
          <a:p xmlns:a="http://schemas.openxmlformats.org/drawingml/2006/main">
            <a:r>
              <a:t>R2 https://www.capterra.com/p/134347/Intercom/reviews/</a:t>
            </a:r>
          </a:p>
          <a:p xmlns:a="http://schemas.openxmlformats.org/drawingml/2006/main">
            <a:r>
              <a:t>R3 https://www.trustradius.com/products/zendesk-support-suite/reviews</a:t>
            </a:r>
          </a:p>
          <a:p xmlns:a="http://schemas.openxmlformats.org/drawingml/2006/main">
            <a:r>
              <a:t>R4 https://www.capterra.com/p/164283/Zendesk/reviews/</a:t>
            </a:r>
          </a:p>
          <a:p xmlns:a="http://schemas.openxmlformats.org/drawingml/2006/main">
            <a:r>
              <a:t>R5 https://www.trustradius.com/products/freshdesk/reviews</a:t>
            </a:r>
          </a:p>
          <a:p xmlns:a="http://schemas.openxmlformats.org/drawingml/2006/main">
            <a:r>
              <a:t>R6 https://www.g2.com/products/agentforce-service-formerly-salesforce-service-cloud/reviews</a:t>
            </a:r>
          </a:p>
          <a:p xmlns:a="http://schemas.openxmlformats.org/drawingml/2006/main">
            <a:r>
              <a:t>Internal evidence: interviews/ and research/source-inventory.csv in the assignment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0d2dd81c2a4f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de97ca0fb2405a" /><Relationship Type="http://schemas.openxmlformats.org/officeDocument/2006/relationships/slideLayout" Target="/ppt/slideLayouts/slideLayout1.xml" Id="Raf664079cf3140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664079cf3140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Evidence Strategy">
      <a:dk1>
        <a:srgbClr val="111315"/>
      </a:dk1>
      <a:lt1>
        <a:srgbClr val="FFFFFF"/>
      </a:lt1>
      <a:dk2>
        <a:srgbClr val="30343A"/>
      </a:dk2>
      <a:lt2>
        <a:srgbClr val="F3F2ED"/>
      </a:lt2>
      <a:accent1>
        <a:srgbClr val="335CFF"/>
      </a:accent1>
      <a:accent2>
        <a:srgbClr val="D6FF5C"/>
      </a:accent2>
      <a:accent3>
        <a:srgbClr val="FF6847"/>
      </a:accent3>
      <a:accent4>
        <a:srgbClr val="2A9D8F"/>
      </a:accent4>
      <a:accent5>
        <a:srgbClr val="8C6BC4"/>
      </a:accent5>
      <a:accent6>
        <a:srgbClr val="E9B44C"/>
      </a:accent6>
      <a:hlink>
        <a:srgbClr val="335CFF"/>
      </a:hlink>
      <a:folHlink>
        <a:srgbClr val="6C44C5"/>
      </a:folHlink>
    </a:clrScheme>
    <a:fontScheme name="Office">
      <a:majorFont>
        <a:latin typeface="Calibri Light"/>
        <a:ea typeface="Calibri Light"/>
        <a:cs typeface="Calibri Light"/>
      </a:majorFont>
      <a:minorFont>
        <a:latin typeface="Calibri"/>
        <a:ea typeface="Calibri"/>
        <a:cs typeface="Calibri"/>
      </a:minorFont>
    </a:fontScheme>
    <a:fmtScheme name="Evidence Strateg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3bb295c5f041a4" /><Relationship Type="http://schemas.openxmlformats.org/officeDocument/2006/relationships/notesSlide" Target="/ppt/notesSlides/notesSlide1.xml" Id="R993cc230df74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c32bdec8a04b3a" /><Relationship Type="http://schemas.openxmlformats.org/officeDocument/2006/relationships/notesSlide" Target="/ppt/notesSlides/notesSlide2.xml" Id="Rd5da91dd15d34e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a1aba9427d4cd9" /><Relationship Type="http://schemas.openxmlformats.org/officeDocument/2006/relationships/notesSlide" Target="/ppt/notesSlides/notesSlide3.xml" Id="Rbb0289fa005746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acc57ab9944cd5" /><Relationship Type="http://schemas.openxmlformats.org/officeDocument/2006/relationships/notesSlide" Target="/ppt/notesSlides/notesSlide4.xml" Id="Re1fc9239790d4b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fae342334d4f3f" /><Relationship Type="http://schemas.openxmlformats.org/officeDocument/2006/relationships/notesSlide" Target="/ppt/notesSlides/notesSlide5.xml" Id="R804a0f46054b4a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86e8d194154397" /><Relationship Type="http://schemas.openxmlformats.org/officeDocument/2006/relationships/notesSlide" Target="/ppt/notesSlides/notesSlide6.xml" Id="Raacd411530d44b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74b482219f4eb1" /><Relationship Type="http://schemas.openxmlformats.org/officeDocument/2006/relationships/notesSlide" Target="/ppt/notesSlides/notesSlide7.xml" Id="Rd74f8763bbc047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951b26961243b2" /><Relationship Type="http://schemas.openxmlformats.org/officeDocument/2006/relationships/notesSlide" Target="/ppt/notesSlides/notesSlide8.xml" Id="R0fa6f9f87a204c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bd1747726048bb" /><Relationship Type="http://schemas.openxmlformats.org/officeDocument/2006/relationships/notesSlide" Target="/ppt/notesSlides/notesSlide9.xml" Id="Rb7f1f61be76142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df58df55e14cee" /><Relationship Type="http://schemas.openxmlformats.org/officeDocument/2006/relationships/notesSlide" Target="/ppt/notesSlides/notesSlide10.xml" Id="R3e0e48e4491d4f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1c8b03292e43be" /><Relationship Type="http://schemas.openxmlformats.org/officeDocument/2006/relationships/notesSlide" Target="/ppt/notesSlides/notesSlide11.xml" Id="R6c34f0b61a7943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29abca722244513" /><Relationship Type="http://schemas.openxmlformats.org/officeDocument/2006/relationships/notesSlide" Target="/ppt/notesSlides/notesSlide12.xml" Id="Rfade18733f3741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41b2768cb0e4a90" /><Relationship Type="http://schemas.openxmlformats.org/officeDocument/2006/relationships/notesSlide" Target="/ppt/notesSlides/notesSlide13.xml" Id="R8a81e120e2c944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fa7a5c5e284f85" /><Relationship Type="http://schemas.openxmlformats.org/officeDocument/2006/relationships/notesSlide" Target="/ppt/notesSlides/notesSlide14.xml" Id="R16739096e6f84a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6dff36c565b4ba4" /><Relationship Type="http://schemas.openxmlformats.org/officeDocument/2006/relationships/notesSlide" Target="/ppt/notesSlides/notesSlide15.xml" Id="R20facf1bb3af4b4a" /></Relationships>
</file>

<file path=ppt/slides/slide1.xml><?xml version="1.0" encoding="utf-8"?>
<p:sld xmlns:p="http://schemas.openxmlformats.org/presentationml/2006/main">
  <p:cSld>
    <p:bg>
      <p:bgPr>
        <a:solidFill xmlns:a="http://schemas.openxmlformats.org/drawingml/2006/main">
          <a:srgbClr val="11131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A0F1C1-259B-4D5F-B53A-7899D6D88B58}"/>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D6FF5C"/>
          </a:solidFill>
          <a:ln xmlns:a="http://schemas.openxmlformats.org/drawingml/2006/main" w="0">
            <a:solidFill>
              <a:srgbClr val="D6FF5C"/>
            </a:solidFill>
          </a:ln>
        </p:spPr>
      </p:sp>
      <p:sp>
        <p:nvSpPr>
          <p:cNvPr id="2" name="">
            <a:extLst xmlns:a="http://schemas.openxmlformats.org/drawingml/2006/main">
              <a:ext uri="{FF2B5EF4-FFF2-40B4-BE49-F238E27FC236}">
                <a16:creationId xmlns:a16="http://schemas.microsoft.com/office/drawing/2014/main" id="{76095293-9169-4518-B1A0-4FAB885D6D7E}"/>
              </a:ext>
            </a:extLst>
          </p:cNvPr>
          <p:cNvSpPr>
            <a:spLocks xmlns:a="http://schemas.openxmlformats.org/drawingml/2006/main" noGrp="1"/>
          </p:cNvSpPr>
          <p:nvPr/>
        </p:nvSpPr>
        <p:spPr>
          <a:xfrm xmlns:a="http://schemas.openxmlformats.org/drawingml/2006/main">
            <a:off x="685800" y="819150"/>
            <a:ext cx="781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6FF5C"/>
                </a:solidFill>
                <a:latin typeface="Arial"/>
                <a:ea typeface="Arial"/>
                <a:cs typeface="Arial"/>
              </a:defRPr>
            </a:pPr>
            <a:r>
              <a:rPr sz="1350" b="1">
                <a:solidFill>
                  <a:srgbClr val="D6FF5C"/>
                </a:solidFill>
                <a:latin typeface="Arial"/>
                <a:ea typeface="Arial"/>
                <a:cs typeface="Arial"/>
              </a:rPr>
              <a:t>AI CUSTOMER SERVICE</a:t>
            </a:r>
          </a:p>
        </p:txBody>
      </p:sp>
      <p:sp>
        <p:nvSpPr>
          <p:cNvPr id="3" name="">
            <a:extLst xmlns:a="http://schemas.openxmlformats.org/drawingml/2006/main">
              <a:ext uri="{FF2B5EF4-FFF2-40B4-BE49-F238E27FC236}">
                <a16:creationId xmlns:a16="http://schemas.microsoft.com/office/drawing/2014/main" id="{186E9E69-FAF0-46BF-88C5-AC56772A3AD9}"/>
              </a:ext>
            </a:extLst>
          </p:cNvPr>
          <p:cNvSpPr>
            <a:spLocks xmlns:a="http://schemas.openxmlformats.org/drawingml/2006/main" noGrp="1"/>
          </p:cNvSpPr>
          <p:nvPr/>
        </p:nvSpPr>
        <p:spPr>
          <a:xfrm xmlns:a="http://schemas.openxmlformats.org/drawingml/2006/main">
            <a:off x="647700" y="1428750"/>
            <a:ext cx="9334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Competitive</a:t>
            </a:r>
          </a:p>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product teardown</a:t>
            </a:r>
          </a:p>
        </p:txBody>
      </p:sp>
      <p:sp>
        <p:nvSpPr>
          <p:cNvPr id="4" name="">
            <a:extLst xmlns:a="http://schemas.openxmlformats.org/drawingml/2006/main">
              <a:ext uri="{FF2B5EF4-FFF2-40B4-BE49-F238E27FC236}">
                <a16:creationId xmlns:a16="http://schemas.microsoft.com/office/drawing/2014/main" id="{368D26D4-806C-4101-BE20-A95145217865}"/>
              </a:ext>
            </a:extLst>
          </p:cNvPr>
          <p:cNvSpPr>
            <a:spLocks xmlns:a="http://schemas.openxmlformats.org/drawingml/2006/main" noGrp="1"/>
          </p:cNvSpPr>
          <p:nvPr/>
        </p:nvSpPr>
        <p:spPr>
          <a:xfrm xmlns:a="http://schemas.openxmlformats.org/drawingml/2006/main">
            <a:off x="685800" y="3667125"/>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D6FF5C"/>
                </a:solidFill>
                <a:latin typeface="Arial"/>
                <a:ea typeface="Arial"/>
                <a:cs typeface="Arial"/>
              </a:defRPr>
            </a:pPr>
            <a:r>
              <a:rPr sz="2400" b="0">
                <a:solidFill>
                  <a:srgbClr val="D6FF5C"/>
                </a:solidFill>
                <a:latin typeface="Arial"/>
                <a:ea typeface="Arial"/>
                <a:cs typeface="Arial"/>
              </a:rPr>
              <a:t>Compare to decide, not to copy</a:t>
            </a:r>
          </a:p>
        </p:txBody>
      </p:sp>
      <p:sp>
        <p:nvSpPr>
          <p:cNvPr id="5" name="">
            <a:extLst xmlns:a="http://schemas.openxmlformats.org/drawingml/2006/main">
              <a:ext uri="{FF2B5EF4-FFF2-40B4-BE49-F238E27FC236}">
                <a16:creationId xmlns:a16="http://schemas.microsoft.com/office/drawing/2014/main" id="{CAAA8A6B-8AF2-4989-B531-14587118F901}"/>
              </a:ext>
            </a:extLst>
          </p:cNvPr>
          <p:cNvSpPr>
            <a:spLocks xmlns:a="http://schemas.openxmlformats.org/drawingml/2006/main" noGrp="1"/>
          </p:cNvSpPr>
          <p:nvPr/>
        </p:nvSpPr>
        <p:spPr>
          <a:xfrm xmlns:a="http://schemas.openxmlformats.org/drawingml/2006/main">
            <a:off x="685800" y="4648200"/>
            <a:ext cx="10668000" cy="9525"/>
          </a:xfrm>
          <a:prstGeom xmlns:a="http://schemas.openxmlformats.org/drawingml/2006/main" prst="rect">
            <a:avLst/>
          </a:prstGeom>
          <a:solidFill xmlns:a="http://schemas.openxmlformats.org/drawingml/2006/main">
            <a:srgbClr val="42464C"/>
          </a:solidFill>
          <a:ln xmlns:a="http://schemas.openxmlformats.org/drawingml/2006/main" w="0">
            <a:solidFill>
              <a:srgbClr val="42464C"/>
            </a:solidFill>
          </a:ln>
        </p:spPr>
      </p:sp>
      <p:sp>
        <p:nvSpPr>
          <p:cNvPr id="6" name="">
            <a:extLst xmlns:a="http://schemas.openxmlformats.org/drawingml/2006/main">
              <a:ext uri="{FF2B5EF4-FFF2-40B4-BE49-F238E27FC236}">
                <a16:creationId xmlns:a16="http://schemas.microsoft.com/office/drawing/2014/main" id="{0FA99C1F-36FA-4889-9239-18B7E06FD9C2}"/>
              </a:ext>
            </a:extLst>
          </p:cNvPr>
          <p:cNvSpPr>
            <a:spLocks xmlns:a="http://schemas.openxmlformats.org/drawingml/2006/main" noGrp="1"/>
          </p:cNvSpPr>
          <p:nvPr/>
        </p:nvSpPr>
        <p:spPr>
          <a:xfrm xmlns:a="http://schemas.openxmlformats.org/drawingml/2006/main">
            <a:off x="685800" y="48958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0D4D8"/>
                </a:solidFill>
                <a:latin typeface="Arial"/>
                <a:ea typeface="Arial"/>
                <a:cs typeface="Arial"/>
              </a:defRPr>
            </a:pPr>
            <a:r>
              <a:rPr sz="1500" b="0">
                <a:solidFill>
                  <a:srgbClr val="D0D4D8"/>
                </a:solidFill>
                <a:latin typeface="Arial"/>
                <a:ea typeface="Arial"/>
                <a:cs typeface="Arial"/>
              </a:rPr>
              <a:t>Intercom / Fin    Zendesk AI    Freshdesk / Freddy AI    Salesforce Service Cloud / Agentforce</a:t>
            </a:r>
          </a:p>
        </p:txBody>
      </p:sp>
      <p:sp>
        <p:nvSpPr>
          <p:cNvPr id="7" name="">
            <a:extLst xmlns:a="http://schemas.openxmlformats.org/drawingml/2006/main">
              <a:ext uri="{FF2B5EF4-FFF2-40B4-BE49-F238E27FC236}">
                <a16:creationId xmlns:a16="http://schemas.microsoft.com/office/drawing/2014/main" id="{DC15565D-123A-479A-9CD5-B0E4539FD467}"/>
              </a:ext>
            </a:extLst>
          </p:cNvPr>
          <p:cNvSpPr>
            <a:spLocks xmlns:a="http://schemas.openxmlformats.org/drawingml/2006/main" noGrp="1"/>
          </p:cNvSpPr>
          <p:nvPr/>
        </p:nvSpPr>
        <p:spPr>
          <a:xfrm xmlns:a="http://schemas.openxmlformats.org/drawingml/2006/main">
            <a:off x="685800" y="57912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EB3B9"/>
                </a:solidFill>
                <a:latin typeface="Arial"/>
                <a:ea typeface="Arial"/>
                <a:cs typeface="Arial"/>
              </a:defRPr>
            </a:pPr>
            <a:r>
              <a:rPr sz="1275" b="0">
                <a:solidFill>
                  <a:srgbClr val="AEB3B9"/>
                </a:solidFill>
                <a:latin typeface="Arial"/>
                <a:ea typeface="Arial"/>
                <a:cs typeface="Arial"/>
              </a:rPr>
              <a:t>B2B Product Strategy Assignment</a:t>
            </a:r>
          </a:p>
          <a:p xmlns:a="http://schemas.openxmlformats.org/drawingml/2006/main">
            <a:pPr>
              <a:defRPr sz="1275" b="0">
                <a:solidFill>
                  <a:srgbClr val="AEB3B9"/>
                </a:solidFill>
                <a:latin typeface="Arial"/>
                <a:ea typeface="Arial"/>
                <a:cs typeface="Arial"/>
              </a:defRPr>
            </a:pPr>
            <a:r>
              <a:rPr sz="1275" b="0">
                <a:solidFill>
                  <a:srgbClr val="AEB3B9"/>
                </a:solidFill>
                <a:latin typeface="Arial"/>
                <a:ea typeface="Arial"/>
                <a:cs typeface="Arial"/>
              </a:rPr>
              <a:t>Public evidence cut off 12 September 2026</a:t>
            </a:r>
          </a:p>
        </p:txBody>
      </p:sp>
      <p:sp>
        <p:nvSpPr>
          <p:cNvPr id="8" name="">
            <a:extLst xmlns:a="http://schemas.openxmlformats.org/drawingml/2006/main">
              <a:ext uri="{FF2B5EF4-FFF2-40B4-BE49-F238E27FC236}">
                <a16:creationId xmlns:a16="http://schemas.microsoft.com/office/drawing/2014/main" id="{BC7B27DC-4E65-45CE-9B67-E65477D0AC29}"/>
              </a:ext>
            </a:extLst>
          </p:cNvPr>
          <p:cNvSpPr>
            <a:spLocks xmlns:a="http://schemas.openxmlformats.org/drawingml/2006/main" noGrp="1"/>
          </p:cNvSpPr>
          <p:nvPr/>
        </p:nvSpPr>
        <p:spPr>
          <a:xfrm xmlns:a="http://schemas.openxmlformats.org/drawingml/2006/main">
            <a:off x="10477500" y="59436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6FF5C"/>
                </a:solidFill>
                <a:latin typeface="Arial"/>
                <a:ea typeface="Arial"/>
                <a:cs typeface="Arial"/>
              </a:defRPr>
            </a:pPr>
            <a:r>
              <a:rPr sz="1200" b="1">
                <a:solidFill>
                  <a:srgbClr val="D6FF5C"/>
                </a:solidFill>
                <a:latin typeface="Arial"/>
                <a:ea typeface="Arial"/>
                <a:cs typeface="Arial"/>
              </a:rPr>
              <a:t>15 slides</a:t>
            </a:r>
          </a:p>
        </p:txBody>
      </p:sp>
    </p:spTree>
    <p:extLst>
      <p:ext uri="{BB962C8B-B14F-4D97-AF65-F5344CB8AC3E}">
        <p14:creationId xmlns:p14="http://schemas.microsoft.com/office/powerpoint/2010/main" val="886161403"/>
      </p:ext>
    </p:extLst>
  </p:cSld>
</p:sld>
</file>

<file path=ppt/slides/slide2.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9736779B-17B6-4D63-A9CF-77627FCDA361}"/>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The teardown lens</a:t>
            </a:r>
          </a:p>
        </p:txBody>
      </p:sp>
      <p:sp>
        <p:nvSpPr>
          <p:cNvPr id="2" name="">
            <a:extLst xmlns:a="http://schemas.openxmlformats.org/drawingml/2006/main">
              <a:ext uri="{FF2B5EF4-FFF2-40B4-BE49-F238E27FC236}">
                <a16:creationId xmlns:a16="http://schemas.microsoft.com/office/drawing/2014/main" id="{865C065D-7C87-4ADC-88FB-3412FCBAA67E}"/>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6F56AABF-1939-4813-B26E-661A8D0FD23D}"/>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Framework supplied for the assignment. Evidence labels apply throughout.</a:t>
            </a:r>
          </a:p>
        </p:txBody>
      </p:sp>
      <p:sp>
        <p:nvSpPr>
          <p:cNvPr id="4" name="">
            <a:extLst xmlns:a="http://schemas.openxmlformats.org/drawingml/2006/main">
              <a:ext uri="{FF2B5EF4-FFF2-40B4-BE49-F238E27FC236}">
                <a16:creationId xmlns:a16="http://schemas.microsoft.com/office/drawing/2014/main" id="{59D61657-96C3-4FB5-B551-067154395F46}"/>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F9BAB6A-462F-4E75-BF96-4A2362F8EE2D}"/>
              </a:ext>
            </a:extLst>
          </p:cNvPr>
          <p:cNvSpPr>
            <a:spLocks xmlns:a="http://schemas.openxmlformats.org/drawingml/2006/main" noGrp="1"/>
          </p:cNvSpPr>
          <p:nvPr/>
        </p:nvSpPr>
        <p:spPr>
          <a:xfrm xmlns:a="http://schemas.openxmlformats.org/drawingml/2006/main">
            <a:off x="590550" y="12192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STRATEGIC COMPARISON</a:t>
            </a:r>
          </a:p>
        </p:txBody>
      </p:sp>
      <p:sp>
        <p:nvSpPr>
          <p:cNvPr id="6" name="">
            <a:extLst xmlns:a="http://schemas.openxmlformats.org/drawingml/2006/main">
              <a:ext uri="{FF2B5EF4-FFF2-40B4-BE49-F238E27FC236}">
                <a16:creationId xmlns:a16="http://schemas.microsoft.com/office/drawing/2014/main" id="{DDAA79B0-74D8-4928-82A1-BBC7D6DA4C72}"/>
              </a:ext>
            </a:extLst>
          </p:cNvPr>
          <p:cNvSpPr>
            <a:spLocks xmlns:a="http://schemas.openxmlformats.org/drawingml/2006/main" noGrp="1"/>
          </p:cNvSpPr>
          <p:nvPr/>
        </p:nvSpPr>
        <p:spPr>
          <a:xfrm xmlns:a="http://schemas.openxmlformats.org/drawingml/2006/main">
            <a:off x="590550" y="1562100"/>
            <a:ext cx="4905375" cy="9525"/>
          </a:xfrm>
          <a:prstGeom xmlns:a="http://schemas.openxmlformats.org/drawingml/2006/main" prst="rect">
            <a:avLst/>
          </a:prstGeom>
          <a:solidFill xmlns:a="http://schemas.openxmlformats.org/drawingml/2006/main">
            <a:srgbClr val="111315"/>
          </a:solidFill>
          <a:ln xmlns:a="http://schemas.openxmlformats.org/drawingml/2006/main" w="0">
            <a:solidFill>
              <a:srgbClr val="111315"/>
            </a:solidFill>
          </a:ln>
        </p:spPr>
      </p:sp>
      <p:sp>
        <p:nvSpPr>
          <p:cNvPr id="7" name="">
            <a:extLst xmlns:a="http://schemas.openxmlformats.org/drawingml/2006/main">
              <a:ext uri="{FF2B5EF4-FFF2-40B4-BE49-F238E27FC236}">
                <a16:creationId xmlns:a16="http://schemas.microsoft.com/office/drawing/2014/main" id="{561B0A51-E3B6-453E-984B-23D4A64817D7}"/>
              </a:ext>
            </a:extLst>
          </p:cNvPr>
          <p:cNvSpPr>
            <a:spLocks xmlns:a="http://schemas.openxmlformats.org/drawingml/2006/main" noGrp="1"/>
          </p:cNvSpPr>
          <p:nvPr/>
        </p:nvSpPr>
        <p:spPr>
          <a:xfrm xmlns:a="http://schemas.openxmlformats.org/drawingml/2006/main">
            <a:off x="590550" y="168592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35CFF"/>
                </a:solidFill>
                <a:latin typeface="Arial"/>
                <a:ea typeface="Arial"/>
                <a:cs typeface="Arial"/>
              </a:defRPr>
            </a:pPr>
            <a:r>
              <a:rPr sz="1275" b="1">
                <a:solidFill>
                  <a:srgbClr val="335CFF"/>
                </a:solidFill>
                <a:latin typeface="Arial"/>
                <a:ea typeface="Arial"/>
                <a:cs typeface="Arial"/>
              </a:rPr>
              <a:t>CUSTOMER</a:t>
            </a:r>
          </a:p>
        </p:txBody>
      </p:sp>
      <p:sp>
        <p:nvSpPr>
          <p:cNvPr id="8" name="">
            <a:extLst xmlns:a="http://schemas.openxmlformats.org/drawingml/2006/main">
              <a:ext uri="{FF2B5EF4-FFF2-40B4-BE49-F238E27FC236}">
                <a16:creationId xmlns:a16="http://schemas.microsoft.com/office/drawing/2014/main" id="{C6A1DC1A-7BE5-496E-8470-A07E8CD3D601}"/>
              </a:ext>
            </a:extLst>
          </p:cNvPr>
          <p:cNvSpPr>
            <a:spLocks xmlns:a="http://schemas.openxmlformats.org/drawingml/2006/main" noGrp="1"/>
          </p:cNvSpPr>
          <p:nvPr/>
        </p:nvSpPr>
        <p:spPr>
          <a:xfrm xmlns:a="http://schemas.openxmlformats.org/drawingml/2006/main">
            <a:off x="1952625" y="164782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Who does the product serve best?</a:t>
            </a:r>
          </a:p>
        </p:txBody>
      </p:sp>
      <p:sp>
        <p:nvSpPr>
          <p:cNvPr id="9" name="">
            <a:extLst xmlns:a="http://schemas.openxmlformats.org/drawingml/2006/main">
              <a:ext uri="{FF2B5EF4-FFF2-40B4-BE49-F238E27FC236}">
                <a16:creationId xmlns:a16="http://schemas.microsoft.com/office/drawing/2014/main" id="{C0127753-4D41-4B7E-A6D7-ECCD76698C07}"/>
              </a:ext>
            </a:extLst>
          </p:cNvPr>
          <p:cNvSpPr>
            <a:spLocks xmlns:a="http://schemas.openxmlformats.org/drawingml/2006/main" noGrp="1"/>
          </p:cNvSpPr>
          <p:nvPr/>
        </p:nvSpPr>
        <p:spPr>
          <a:xfrm xmlns:a="http://schemas.openxmlformats.org/drawingml/2006/main">
            <a:off x="590550" y="2266950"/>
            <a:ext cx="4905375"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0" name="">
            <a:extLst xmlns:a="http://schemas.openxmlformats.org/drawingml/2006/main">
              <a:ext uri="{FF2B5EF4-FFF2-40B4-BE49-F238E27FC236}">
                <a16:creationId xmlns:a16="http://schemas.microsoft.com/office/drawing/2014/main" id="{CCB250F2-FAC7-4BB5-B00C-6D2FA419E291}"/>
              </a:ext>
            </a:extLst>
          </p:cNvPr>
          <p:cNvSpPr>
            <a:spLocks xmlns:a="http://schemas.openxmlformats.org/drawingml/2006/main" noGrp="1"/>
          </p:cNvSpPr>
          <p:nvPr/>
        </p:nvSpPr>
        <p:spPr>
          <a:xfrm xmlns:a="http://schemas.openxmlformats.org/drawingml/2006/main">
            <a:off x="590550" y="239077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35CFF"/>
                </a:solidFill>
                <a:latin typeface="Arial"/>
                <a:ea typeface="Arial"/>
                <a:cs typeface="Arial"/>
              </a:defRPr>
            </a:pPr>
            <a:r>
              <a:rPr sz="1275" b="1">
                <a:solidFill>
                  <a:srgbClr val="335CFF"/>
                </a:solidFill>
                <a:latin typeface="Arial"/>
                <a:ea typeface="Arial"/>
                <a:cs typeface="Arial"/>
              </a:rPr>
              <a:t>PROMISE</a:t>
            </a:r>
          </a:p>
        </p:txBody>
      </p:sp>
      <p:sp>
        <p:nvSpPr>
          <p:cNvPr id="11" name="">
            <a:extLst xmlns:a="http://schemas.openxmlformats.org/drawingml/2006/main">
              <a:ext uri="{FF2B5EF4-FFF2-40B4-BE49-F238E27FC236}">
                <a16:creationId xmlns:a16="http://schemas.microsoft.com/office/drawing/2014/main" id="{9F254C9B-EC35-449F-A494-3473BB41D923}"/>
              </a:ext>
            </a:extLst>
          </p:cNvPr>
          <p:cNvSpPr>
            <a:spLocks xmlns:a="http://schemas.openxmlformats.org/drawingml/2006/main" noGrp="1"/>
          </p:cNvSpPr>
          <p:nvPr/>
        </p:nvSpPr>
        <p:spPr>
          <a:xfrm xmlns:a="http://schemas.openxmlformats.org/drawingml/2006/main">
            <a:off x="1952625" y="23526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What value does it own in the buyer's mind?</a:t>
            </a:r>
          </a:p>
        </p:txBody>
      </p:sp>
      <p:sp>
        <p:nvSpPr>
          <p:cNvPr id="12" name="">
            <a:extLst xmlns:a="http://schemas.openxmlformats.org/drawingml/2006/main">
              <a:ext uri="{FF2B5EF4-FFF2-40B4-BE49-F238E27FC236}">
                <a16:creationId xmlns:a16="http://schemas.microsoft.com/office/drawing/2014/main" id="{A40A58E3-9B41-4590-8A28-794BD4774181}"/>
              </a:ext>
            </a:extLst>
          </p:cNvPr>
          <p:cNvSpPr>
            <a:spLocks xmlns:a="http://schemas.openxmlformats.org/drawingml/2006/main" noGrp="1"/>
          </p:cNvSpPr>
          <p:nvPr/>
        </p:nvSpPr>
        <p:spPr>
          <a:xfrm xmlns:a="http://schemas.openxmlformats.org/drawingml/2006/main">
            <a:off x="590550" y="2971800"/>
            <a:ext cx="4905375"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3" name="">
            <a:extLst xmlns:a="http://schemas.openxmlformats.org/drawingml/2006/main">
              <a:ext uri="{FF2B5EF4-FFF2-40B4-BE49-F238E27FC236}">
                <a16:creationId xmlns:a16="http://schemas.microsoft.com/office/drawing/2014/main" id="{F25C44DD-CA36-44FD-B14A-44532C5CA21C}"/>
              </a:ext>
            </a:extLst>
          </p:cNvPr>
          <p:cNvSpPr>
            <a:spLocks xmlns:a="http://schemas.openxmlformats.org/drawingml/2006/main" noGrp="1"/>
          </p:cNvSpPr>
          <p:nvPr/>
        </p:nvSpPr>
        <p:spPr>
          <a:xfrm xmlns:a="http://schemas.openxmlformats.org/drawingml/2006/main">
            <a:off x="590550" y="309562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35CFF"/>
                </a:solidFill>
                <a:latin typeface="Arial"/>
                <a:ea typeface="Arial"/>
                <a:cs typeface="Arial"/>
              </a:defRPr>
            </a:pPr>
            <a:r>
              <a:rPr sz="1275" b="1">
                <a:solidFill>
                  <a:srgbClr val="335CFF"/>
                </a:solidFill>
                <a:latin typeface="Arial"/>
                <a:ea typeface="Arial"/>
                <a:cs typeface="Arial"/>
              </a:rPr>
              <a:t>MODEL</a:t>
            </a:r>
          </a:p>
        </p:txBody>
      </p:sp>
      <p:sp>
        <p:nvSpPr>
          <p:cNvPr id="14" name="">
            <a:extLst xmlns:a="http://schemas.openxmlformats.org/drawingml/2006/main">
              <a:ext uri="{FF2B5EF4-FFF2-40B4-BE49-F238E27FC236}">
                <a16:creationId xmlns:a16="http://schemas.microsoft.com/office/drawing/2014/main" id="{C6A967E5-0FA0-43B4-BFEC-65C913C4EF96}"/>
              </a:ext>
            </a:extLst>
          </p:cNvPr>
          <p:cNvSpPr>
            <a:spLocks xmlns:a="http://schemas.openxmlformats.org/drawingml/2006/main" noGrp="1"/>
          </p:cNvSpPr>
          <p:nvPr/>
        </p:nvSpPr>
        <p:spPr>
          <a:xfrm xmlns:a="http://schemas.openxmlformats.org/drawingml/2006/main">
            <a:off x="1952625" y="305752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How does it acquire, retain, and monetise?</a:t>
            </a:r>
          </a:p>
        </p:txBody>
      </p:sp>
      <p:sp>
        <p:nvSpPr>
          <p:cNvPr id="15" name="">
            <a:extLst xmlns:a="http://schemas.openxmlformats.org/drawingml/2006/main">
              <a:ext uri="{FF2B5EF4-FFF2-40B4-BE49-F238E27FC236}">
                <a16:creationId xmlns:a16="http://schemas.microsoft.com/office/drawing/2014/main" id="{20284655-7948-4E78-ACF1-C0966A1F0947}"/>
              </a:ext>
            </a:extLst>
          </p:cNvPr>
          <p:cNvSpPr>
            <a:spLocks xmlns:a="http://schemas.openxmlformats.org/drawingml/2006/main" noGrp="1"/>
          </p:cNvSpPr>
          <p:nvPr/>
        </p:nvSpPr>
        <p:spPr>
          <a:xfrm xmlns:a="http://schemas.openxmlformats.org/drawingml/2006/main">
            <a:off x="590550" y="3676650"/>
            <a:ext cx="4905375"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6" name="">
            <a:extLst xmlns:a="http://schemas.openxmlformats.org/drawingml/2006/main">
              <a:ext uri="{FF2B5EF4-FFF2-40B4-BE49-F238E27FC236}">
                <a16:creationId xmlns:a16="http://schemas.microsoft.com/office/drawing/2014/main" id="{6A430151-41BC-4167-BBF6-2174B0D909A7}"/>
              </a:ext>
            </a:extLst>
          </p:cNvPr>
          <p:cNvSpPr>
            <a:spLocks xmlns:a="http://schemas.openxmlformats.org/drawingml/2006/main" noGrp="1"/>
          </p:cNvSpPr>
          <p:nvPr/>
        </p:nvSpPr>
        <p:spPr>
          <a:xfrm xmlns:a="http://schemas.openxmlformats.org/drawingml/2006/main">
            <a:off x="590550" y="380047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35CFF"/>
                </a:solidFill>
                <a:latin typeface="Arial"/>
                <a:ea typeface="Arial"/>
                <a:cs typeface="Arial"/>
              </a:defRPr>
            </a:pPr>
            <a:r>
              <a:rPr sz="1275" b="1">
                <a:solidFill>
                  <a:srgbClr val="335CFF"/>
                </a:solidFill>
                <a:latin typeface="Arial"/>
                <a:ea typeface="Arial"/>
                <a:cs typeface="Arial"/>
              </a:rPr>
              <a:t>WEAKNESS</a:t>
            </a:r>
          </a:p>
        </p:txBody>
      </p:sp>
      <p:sp>
        <p:nvSpPr>
          <p:cNvPr id="17" name="">
            <a:extLst xmlns:a="http://schemas.openxmlformats.org/drawingml/2006/main">
              <a:ext uri="{FF2B5EF4-FFF2-40B4-BE49-F238E27FC236}">
                <a16:creationId xmlns:a16="http://schemas.microsoft.com/office/drawing/2014/main" id="{1CC62E51-C082-43C7-A626-1A12DF131AA5}"/>
              </a:ext>
            </a:extLst>
          </p:cNvPr>
          <p:cNvSpPr>
            <a:spLocks xmlns:a="http://schemas.openxmlformats.org/drawingml/2006/main" noGrp="1"/>
          </p:cNvSpPr>
          <p:nvPr/>
        </p:nvSpPr>
        <p:spPr>
          <a:xfrm xmlns:a="http://schemas.openxmlformats.org/drawingml/2006/main">
            <a:off x="1952625" y="37623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Where is the strategy vulnerable or over extended?</a:t>
            </a:r>
          </a:p>
        </p:txBody>
      </p:sp>
      <p:sp>
        <p:nvSpPr>
          <p:cNvPr id="18" name="">
            <a:extLst xmlns:a="http://schemas.openxmlformats.org/drawingml/2006/main">
              <a:ext uri="{FF2B5EF4-FFF2-40B4-BE49-F238E27FC236}">
                <a16:creationId xmlns:a16="http://schemas.microsoft.com/office/drawing/2014/main" id="{F80AF7EF-34D2-4C9E-8C8F-5CC172043612}"/>
              </a:ext>
            </a:extLst>
          </p:cNvPr>
          <p:cNvSpPr>
            <a:spLocks xmlns:a="http://schemas.openxmlformats.org/drawingml/2006/main" noGrp="1"/>
          </p:cNvSpPr>
          <p:nvPr/>
        </p:nvSpPr>
        <p:spPr>
          <a:xfrm xmlns:a="http://schemas.openxmlformats.org/drawingml/2006/main">
            <a:off x="590550" y="4381500"/>
            <a:ext cx="4905375"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9" name="">
            <a:extLst xmlns:a="http://schemas.openxmlformats.org/drawingml/2006/main">
              <a:ext uri="{FF2B5EF4-FFF2-40B4-BE49-F238E27FC236}">
                <a16:creationId xmlns:a16="http://schemas.microsoft.com/office/drawing/2014/main" id="{D2608BB3-C71A-4340-9DF6-CACABAC5A9F8}"/>
              </a:ext>
            </a:extLst>
          </p:cNvPr>
          <p:cNvSpPr>
            <a:spLocks xmlns:a="http://schemas.openxmlformats.org/drawingml/2006/main" noGrp="1"/>
          </p:cNvSpPr>
          <p:nvPr/>
        </p:nvSpPr>
        <p:spPr>
          <a:xfrm xmlns:a="http://schemas.openxmlformats.org/drawingml/2006/main">
            <a:off x="590550" y="450532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35CFF"/>
                </a:solidFill>
                <a:latin typeface="Arial"/>
                <a:ea typeface="Arial"/>
                <a:cs typeface="Arial"/>
              </a:defRPr>
            </a:pPr>
            <a:r>
              <a:rPr sz="1275" b="1">
                <a:solidFill>
                  <a:srgbClr val="335CFF"/>
                </a:solidFill>
                <a:latin typeface="Arial"/>
                <a:ea typeface="Arial"/>
                <a:cs typeface="Arial"/>
              </a:rPr>
              <a:t>WEDGE + MOAT</a:t>
            </a:r>
          </a:p>
        </p:txBody>
      </p:sp>
      <p:sp>
        <p:nvSpPr>
          <p:cNvPr id="20" name="">
            <a:extLst xmlns:a="http://schemas.openxmlformats.org/drawingml/2006/main">
              <a:ext uri="{FF2B5EF4-FFF2-40B4-BE49-F238E27FC236}">
                <a16:creationId xmlns:a16="http://schemas.microsoft.com/office/drawing/2014/main" id="{AC4D653F-8446-4BAD-AFA6-262C8D96A074}"/>
              </a:ext>
            </a:extLst>
          </p:cNvPr>
          <p:cNvSpPr>
            <a:spLocks xmlns:a="http://schemas.openxmlformats.org/drawingml/2006/main" noGrp="1"/>
          </p:cNvSpPr>
          <p:nvPr/>
        </p:nvSpPr>
        <p:spPr>
          <a:xfrm xmlns:a="http://schemas.openxmlformats.org/drawingml/2006/main">
            <a:off x="1952625" y="446722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What opens the account, then becomes hard to replace?</a:t>
            </a:r>
          </a:p>
        </p:txBody>
      </p:sp>
      <p:sp>
        <p:nvSpPr>
          <p:cNvPr id="21" name="">
            <a:extLst xmlns:a="http://schemas.openxmlformats.org/drawingml/2006/main">
              <a:ext uri="{FF2B5EF4-FFF2-40B4-BE49-F238E27FC236}">
                <a16:creationId xmlns:a16="http://schemas.microsoft.com/office/drawing/2014/main" id="{C729B25D-420C-45D4-8D93-8E0AAC6C6109}"/>
              </a:ext>
            </a:extLst>
          </p:cNvPr>
          <p:cNvSpPr>
            <a:spLocks xmlns:a="http://schemas.openxmlformats.org/drawingml/2006/main" noGrp="1"/>
          </p:cNvSpPr>
          <p:nvPr/>
        </p:nvSpPr>
        <p:spPr>
          <a:xfrm xmlns:a="http://schemas.openxmlformats.org/drawingml/2006/main">
            <a:off x="6191250" y="1219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VALUE CREATION</a:t>
            </a:r>
          </a:p>
        </p:txBody>
      </p:sp>
      <p:sp>
        <p:nvSpPr>
          <p:cNvPr id="22" name="">
            <a:extLst xmlns:a="http://schemas.openxmlformats.org/drawingml/2006/main">
              <a:ext uri="{FF2B5EF4-FFF2-40B4-BE49-F238E27FC236}">
                <a16:creationId xmlns:a16="http://schemas.microsoft.com/office/drawing/2014/main" id="{99234402-8F6F-4DB6-B76E-45C71E857312}"/>
              </a:ext>
            </a:extLst>
          </p:cNvPr>
          <p:cNvSpPr>
            <a:spLocks xmlns:a="http://schemas.openxmlformats.org/drawingml/2006/main" noGrp="1"/>
          </p:cNvSpPr>
          <p:nvPr/>
        </p:nvSpPr>
        <p:spPr>
          <a:xfrm xmlns:a="http://schemas.openxmlformats.org/drawingml/2006/main">
            <a:off x="6191250" y="1562100"/>
            <a:ext cx="5410200" cy="9525"/>
          </a:xfrm>
          <a:prstGeom xmlns:a="http://schemas.openxmlformats.org/drawingml/2006/main" prst="rect">
            <a:avLst/>
          </a:prstGeom>
          <a:solidFill xmlns:a="http://schemas.openxmlformats.org/drawingml/2006/main">
            <a:srgbClr val="111315"/>
          </a:solidFill>
          <a:ln xmlns:a="http://schemas.openxmlformats.org/drawingml/2006/main" w="0">
            <a:solidFill>
              <a:srgbClr val="111315"/>
            </a:solidFill>
          </a:ln>
        </p:spPr>
      </p:sp>
      <p:sp>
        <p:nvSpPr>
          <p:cNvPr id="23" name="">
            <a:extLst xmlns:a="http://schemas.openxmlformats.org/drawingml/2006/main">
              <a:ext uri="{FF2B5EF4-FFF2-40B4-BE49-F238E27FC236}">
                <a16:creationId xmlns:a16="http://schemas.microsoft.com/office/drawing/2014/main" id="{9CF7AFDE-C06B-45E1-8653-E34B42D2B382}"/>
              </a:ext>
            </a:extLst>
          </p:cNvPr>
          <p:cNvSpPr>
            <a:spLocks xmlns:a="http://schemas.openxmlformats.org/drawingml/2006/main" noGrp="1"/>
          </p:cNvSpPr>
          <p:nvPr/>
        </p:nvSpPr>
        <p:spPr>
          <a:xfrm xmlns:a="http://schemas.openxmlformats.org/drawingml/2006/main">
            <a:off x="6191250" y="168592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6847"/>
                </a:solidFill>
                <a:latin typeface="Arial"/>
                <a:ea typeface="Arial"/>
                <a:cs typeface="Arial"/>
              </a:defRPr>
            </a:pPr>
            <a:r>
              <a:rPr sz="1275" b="1">
                <a:solidFill>
                  <a:srgbClr val="FF6847"/>
                </a:solidFill>
                <a:latin typeface="Arial"/>
                <a:ea typeface="Arial"/>
                <a:cs typeface="Arial"/>
              </a:rPr>
              <a:t>USER</a:t>
            </a:r>
          </a:p>
        </p:txBody>
      </p:sp>
      <p:sp>
        <p:nvSpPr>
          <p:cNvPr id="24" name="">
            <a:extLst xmlns:a="http://schemas.openxmlformats.org/drawingml/2006/main">
              <a:ext uri="{FF2B5EF4-FFF2-40B4-BE49-F238E27FC236}">
                <a16:creationId xmlns:a16="http://schemas.microsoft.com/office/drawing/2014/main" id="{CDEB7446-A9B1-4DD8-AF56-0C8A58767489}"/>
              </a:ext>
            </a:extLst>
          </p:cNvPr>
          <p:cNvSpPr>
            <a:spLocks xmlns:a="http://schemas.openxmlformats.org/drawingml/2006/main" noGrp="1"/>
          </p:cNvSpPr>
          <p:nvPr/>
        </p:nvSpPr>
        <p:spPr>
          <a:xfrm xmlns:a="http://schemas.openxmlformats.org/drawingml/2006/main">
            <a:off x="7553325" y="164782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Who really uses or experiences it?</a:t>
            </a:r>
          </a:p>
        </p:txBody>
      </p:sp>
      <p:sp>
        <p:nvSpPr>
          <p:cNvPr id="25" name="">
            <a:extLst xmlns:a="http://schemas.openxmlformats.org/drawingml/2006/main">
              <a:ext uri="{FF2B5EF4-FFF2-40B4-BE49-F238E27FC236}">
                <a16:creationId xmlns:a16="http://schemas.microsoft.com/office/drawing/2014/main" id="{383A6A01-19F5-4D1B-966B-727894E24717}"/>
              </a:ext>
            </a:extLst>
          </p:cNvPr>
          <p:cNvSpPr>
            <a:spLocks xmlns:a="http://schemas.openxmlformats.org/drawingml/2006/main" noGrp="1"/>
          </p:cNvSpPr>
          <p:nvPr/>
        </p:nvSpPr>
        <p:spPr>
          <a:xfrm xmlns:a="http://schemas.openxmlformats.org/drawingml/2006/main">
            <a:off x="6191250" y="2266950"/>
            <a:ext cx="54102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6" name="">
            <a:extLst xmlns:a="http://schemas.openxmlformats.org/drawingml/2006/main">
              <a:ext uri="{FF2B5EF4-FFF2-40B4-BE49-F238E27FC236}">
                <a16:creationId xmlns:a16="http://schemas.microsoft.com/office/drawing/2014/main" id="{C8A2D1F3-2009-48CB-B3F8-8B08C12C4710}"/>
              </a:ext>
            </a:extLst>
          </p:cNvPr>
          <p:cNvSpPr>
            <a:spLocks xmlns:a="http://schemas.openxmlformats.org/drawingml/2006/main" noGrp="1"/>
          </p:cNvSpPr>
          <p:nvPr/>
        </p:nvSpPr>
        <p:spPr>
          <a:xfrm xmlns:a="http://schemas.openxmlformats.org/drawingml/2006/main">
            <a:off x="6191250" y="239077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6847"/>
                </a:solidFill>
                <a:latin typeface="Arial"/>
                <a:ea typeface="Arial"/>
                <a:cs typeface="Arial"/>
              </a:defRPr>
            </a:pPr>
            <a:r>
              <a:rPr sz="1275" b="1">
                <a:solidFill>
                  <a:srgbClr val="FF6847"/>
                </a:solidFill>
                <a:latin typeface="Arial"/>
                <a:ea typeface="Arial"/>
                <a:cs typeface="Arial"/>
              </a:rPr>
              <a:t>JOB</a:t>
            </a:r>
          </a:p>
        </p:txBody>
      </p:sp>
      <p:sp>
        <p:nvSpPr>
          <p:cNvPr id="27" name="">
            <a:extLst xmlns:a="http://schemas.openxmlformats.org/drawingml/2006/main">
              <a:ext uri="{FF2B5EF4-FFF2-40B4-BE49-F238E27FC236}">
                <a16:creationId xmlns:a16="http://schemas.microsoft.com/office/drawing/2014/main" id="{A4189998-E8A3-46A7-A5AD-27C6D7EEC795}"/>
              </a:ext>
            </a:extLst>
          </p:cNvPr>
          <p:cNvSpPr>
            <a:spLocks xmlns:a="http://schemas.openxmlformats.org/drawingml/2006/main" noGrp="1"/>
          </p:cNvSpPr>
          <p:nvPr/>
        </p:nvSpPr>
        <p:spPr>
          <a:xfrm xmlns:a="http://schemas.openxmlformats.org/drawingml/2006/main">
            <a:off x="7553325" y="235267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What progress are they trying to make?</a:t>
            </a:r>
          </a:p>
        </p:txBody>
      </p:sp>
      <p:sp>
        <p:nvSpPr>
          <p:cNvPr id="28" name="">
            <a:extLst xmlns:a="http://schemas.openxmlformats.org/drawingml/2006/main">
              <a:ext uri="{FF2B5EF4-FFF2-40B4-BE49-F238E27FC236}">
                <a16:creationId xmlns:a16="http://schemas.microsoft.com/office/drawing/2014/main" id="{C55B3DD0-5FB9-42BF-8E82-5711B7DED6A9}"/>
              </a:ext>
            </a:extLst>
          </p:cNvPr>
          <p:cNvSpPr>
            <a:spLocks xmlns:a="http://schemas.openxmlformats.org/drawingml/2006/main" noGrp="1"/>
          </p:cNvSpPr>
          <p:nvPr/>
        </p:nvSpPr>
        <p:spPr>
          <a:xfrm xmlns:a="http://schemas.openxmlformats.org/drawingml/2006/main">
            <a:off x="6191250" y="2971800"/>
            <a:ext cx="54102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9" name="">
            <a:extLst xmlns:a="http://schemas.openxmlformats.org/drawingml/2006/main">
              <a:ext uri="{FF2B5EF4-FFF2-40B4-BE49-F238E27FC236}">
                <a16:creationId xmlns:a16="http://schemas.microsoft.com/office/drawing/2014/main" id="{B8C87E24-6853-46DC-92F4-90170A44C245}"/>
              </a:ext>
            </a:extLst>
          </p:cNvPr>
          <p:cNvSpPr>
            <a:spLocks xmlns:a="http://schemas.openxmlformats.org/drawingml/2006/main" noGrp="1"/>
          </p:cNvSpPr>
          <p:nvPr/>
        </p:nvSpPr>
        <p:spPr>
          <a:xfrm xmlns:a="http://schemas.openxmlformats.org/drawingml/2006/main">
            <a:off x="6191250" y="309562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6847"/>
                </a:solidFill>
                <a:latin typeface="Arial"/>
                <a:ea typeface="Arial"/>
                <a:cs typeface="Arial"/>
              </a:defRPr>
            </a:pPr>
            <a:r>
              <a:rPr sz="1275" b="1">
                <a:solidFill>
                  <a:srgbClr val="FF6847"/>
                </a:solidFill>
                <a:latin typeface="Arial"/>
                <a:ea typeface="Arial"/>
                <a:cs typeface="Arial"/>
              </a:rPr>
              <a:t>TRIGGER</a:t>
            </a:r>
          </a:p>
        </p:txBody>
      </p:sp>
      <p:sp>
        <p:nvSpPr>
          <p:cNvPr id="30" name="">
            <a:extLst xmlns:a="http://schemas.openxmlformats.org/drawingml/2006/main">
              <a:ext uri="{FF2B5EF4-FFF2-40B4-BE49-F238E27FC236}">
                <a16:creationId xmlns:a16="http://schemas.microsoft.com/office/drawing/2014/main" id="{5C655FCD-0A55-4598-B635-3D6613E217FC}"/>
              </a:ext>
            </a:extLst>
          </p:cNvPr>
          <p:cNvSpPr>
            <a:spLocks xmlns:a="http://schemas.openxmlformats.org/drawingml/2006/main" noGrp="1"/>
          </p:cNvSpPr>
          <p:nvPr/>
        </p:nvSpPr>
        <p:spPr>
          <a:xfrm xmlns:a="http://schemas.openxmlformats.org/drawingml/2006/main">
            <a:off x="7553325" y="305752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What moment creates demand?</a:t>
            </a:r>
          </a:p>
        </p:txBody>
      </p:sp>
      <p:sp>
        <p:nvSpPr>
          <p:cNvPr id="31" name="">
            <a:extLst xmlns:a="http://schemas.openxmlformats.org/drawingml/2006/main">
              <a:ext uri="{FF2B5EF4-FFF2-40B4-BE49-F238E27FC236}">
                <a16:creationId xmlns:a16="http://schemas.microsoft.com/office/drawing/2014/main" id="{F723A583-31FD-4260-BF9E-08E55104DEDF}"/>
              </a:ext>
            </a:extLst>
          </p:cNvPr>
          <p:cNvSpPr>
            <a:spLocks xmlns:a="http://schemas.openxmlformats.org/drawingml/2006/main" noGrp="1"/>
          </p:cNvSpPr>
          <p:nvPr/>
        </p:nvSpPr>
        <p:spPr>
          <a:xfrm xmlns:a="http://schemas.openxmlformats.org/drawingml/2006/main">
            <a:off x="6191250" y="3676650"/>
            <a:ext cx="54102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2" name="">
            <a:extLst xmlns:a="http://schemas.openxmlformats.org/drawingml/2006/main">
              <a:ext uri="{FF2B5EF4-FFF2-40B4-BE49-F238E27FC236}">
                <a16:creationId xmlns:a16="http://schemas.microsoft.com/office/drawing/2014/main" id="{5F0D8A59-0142-499D-AFAE-44D882A215D2}"/>
              </a:ext>
            </a:extLst>
          </p:cNvPr>
          <p:cNvSpPr>
            <a:spLocks xmlns:a="http://schemas.openxmlformats.org/drawingml/2006/main" noGrp="1"/>
          </p:cNvSpPr>
          <p:nvPr/>
        </p:nvSpPr>
        <p:spPr>
          <a:xfrm xmlns:a="http://schemas.openxmlformats.org/drawingml/2006/main">
            <a:off x="6191250" y="380047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6847"/>
                </a:solidFill>
                <a:latin typeface="Arial"/>
                <a:ea typeface="Arial"/>
                <a:cs typeface="Arial"/>
              </a:defRPr>
            </a:pPr>
            <a:r>
              <a:rPr sz="1275" b="1">
                <a:solidFill>
                  <a:srgbClr val="FF6847"/>
                </a:solidFill>
                <a:latin typeface="Arial"/>
                <a:ea typeface="Arial"/>
                <a:cs typeface="Arial"/>
              </a:rPr>
              <a:t>EXPERIENCE</a:t>
            </a:r>
          </a:p>
        </p:txBody>
      </p:sp>
      <p:sp>
        <p:nvSpPr>
          <p:cNvPr id="33" name="">
            <a:extLst xmlns:a="http://schemas.openxmlformats.org/drawingml/2006/main">
              <a:ext uri="{FF2B5EF4-FFF2-40B4-BE49-F238E27FC236}">
                <a16:creationId xmlns:a16="http://schemas.microsoft.com/office/drawing/2014/main" id="{BD07E3AF-25B6-472D-91D2-9C17562830ED}"/>
              </a:ext>
            </a:extLst>
          </p:cNvPr>
          <p:cNvSpPr>
            <a:spLocks xmlns:a="http://schemas.openxmlformats.org/drawingml/2006/main" noGrp="1"/>
          </p:cNvSpPr>
          <p:nvPr/>
        </p:nvSpPr>
        <p:spPr>
          <a:xfrm xmlns:a="http://schemas.openxmlformats.org/drawingml/2006/main">
            <a:off x="7553325" y="376237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Where do delight and friction appear?</a:t>
            </a:r>
          </a:p>
        </p:txBody>
      </p:sp>
      <p:sp>
        <p:nvSpPr>
          <p:cNvPr id="34" name="">
            <a:extLst xmlns:a="http://schemas.openxmlformats.org/drawingml/2006/main">
              <a:ext uri="{FF2B5EF4-FFF2-40B4-BE49-F238E27FC236}">
                <a16:creationId xmlns:a16="http://schemas.microsoft.com/office/drawing/2014/main" id="{416B566C-9544-406B-B8AF-CD5D89005350}"/>
              </a:ext>
            </a:extLst>
          </p:cNvPr>
          <p:cNvSpPr>
            <a:spLocks xmlns:a="http://schemas.openxmlformats.org/drawingml/2006/main" noGrp="1"/>
          </p:cNvSpPr>
          <p:nvPr/>
        </p:nvSpPr>
        <p:spPr>
          <a:xfrm xmlns:a="http://schemas.openxmlformats.org/drawingml/2006/main">
            <a:off x="6191250" y="4381500"/>
            <a:ext cx="54102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5" name="">
            <a:extLst xmlns:a="http://schemas.openxmlformats.org/drawingml/2006/main">
              <a:ext uri="{FF2B5EF4-FFF2-40B4-BE49-F238E27FC236}">
                <a16:creationId xmlns:a16="http://schemas.microsoft.com/office/drawing/2014/main" id="{70B39E7E-826C-40A7-AD9C-FAE1D427A62B}"/>
              </a:ext>
            </a:extLst>
          </p:cNvPr>
          <p:cNvSpPr>
            <a:spLocks xmlns:a="http://schemas.openxmlformats.org/drawingml/2006/main" noGrp="1"/>
          </p:cNvSpPr>
          <p:nvPr/>
        </p:nvSpPr>
        <p:spPr>
          <a:xfrm xmlns:a="http://schemas.openxmlformats.org/drawingml/2006/main">
            <a:off x="6191250" y="4505325"/>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6847"/>
                </a:solidFill>
                <a:latin typeface="Arial"/>
                <a:ea typeface="Arial"/>
                <a:cs typeface="Arial"/>
              </a:defRPr>
            </a:pPr>
            <a:r>
              <a:rPr sz="1275" b="1">
                <a:solidFill>
                  <a:srgbClr val="FF6847"/>
                </a:solidFill>
                <a:latin typeface="Arial"/>
                <a:ea typeface="Arial"/>
                <a:cs typeface="Arial"/>
              </a:rPr>
              <a:t>BUSINESS</a:t>
            </a:r>
          </a:p>
        </p:txBody>
      </p:sp>
      <p:sp>
        <p:nvSpPr>
          <p:cNvPr id="36" name="">
            <a:extLst xmlns:a="http://schemas.openxmlformats.org/drawingml/2006/main">
              <a:ext uri="{FF2B5EF4-FFF2-40B4-BE49-F238E27FC236}">
                <a16:creationId xmlns:a16="http://schemas.microsoft.com/office/drawing/2014/main" id="{98D33A00-60E3-4B98-92F6-BD70EE78ABC5}"/>
              </a:ext>
            </a:extLst>
          </p:cNvPr>
          <p:cNvSpPr>
            <a:spLocks xmlns:a="http://schemas.openxmlformats.org/drawingml/2006/main" noGrp="1"/>
          </p:cNvSpPr>
          <p:nvPr/>
        </p:nvSpPr>
        <p:spPr>
          <a:xfrm xmlns:a="http://schemas.openxmlformats.org/drawingml/2006/main">
            <a:off x="7553325" y="446722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What drives repeat usage and revenue?</a:t>
            </a:r>
          </a:p>
        </p:txBody>
      </p:sp>
      <p:sp>
        <p:nvSpPr>
          <p:cNvPr id="37" name="">
            <a:extLst xmlns:a="http://schemas.openxmlformats.org/drawingml/2006/main">
              <a:ext uri="{FF2B5EF4-FFF2-40B4-BE49-F238E27FC236}">
                <a16:creationId xmlns:a16="http://schemas.microsoft.com/office/drawing/2014/main" id="{A6D575D4-BD63-44AC-8FB5-B003D26D9A08}"/>
              </a:ext>
            </a:extLst>
          </p:cNvPr>
          <p:cNvSpPr>
            <a:spLocks xmlns:a="http://schemas.openxmlformats.org/drawingml/2006/main" noGrp="1"/>
          </p:cNvSpPr>
          <p:nvPr/>
        </p:nvSpPr>
        <p:spPr>
          <a:xfrm xmlns:a="http://schemas.openxmlformats.org/drawingml/2006/main">
            <a:off x="590550" y="5381625"/>
            <a:ext cx="11010900" cy="762000"/>
          </a:xfrm>
          <a:prstGeom xmlns:a="http://schemas.openxmlformats.org/drawingml/2006/main" prst="rect">
            <a:avLst/>
          </a:prstGeom>
          <a:solidFill xmlns:a="http://schemas.openxmlformats.org/drawingml/2006/main">
            <a:srgbClr val="111315"/>
          </a:solidFill>
          <a:ln xmlns:a="http://schemas.openxmlformats.org/drawingml/2006/main" w="0">
            <a:solidFill>
              <a:srgbClr val="111315"/>
            </a:solidFill>
          </a:ln>
        </p:spPr>
      </p:sp>
      <p:sp>
        <p:nvSpPr>
          <p:cNvPr id="38" name="">
            <a:extLst xmlns:a="http://schemas.openxmlformats.org/drawingml/2006/main">
              <a:ext uri="{FF2B5EF4-FFF2-40B4-BE49-F238E27FC236}">
                <a16:creationId xmlns:a16="http://schemas.microsoft.com/office/drawing/2014/main" id="{2BF59A3E-FBFE-4556-80A5-C1EB703DCD63}"/>
              </a:ext>
            </a:extLst>
          </p:cNvPr>
          <p:cNvSpPr>
            <a:spLocks xmlns:a="http://schemas.openxmlformats.org/drawingml/2006/main" noGrp="1"/>
          </p:cNvSpPr>
          <p:nvPr/>
        </p:nvSpPr>
        <p:spPr>
          <a:xfrm xmlns:a="http://schemas.openxmlformats.org/drawingml/2006/main">
            <a:off x="800100" y="557212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6FF5C"/>
                </a:solidFill>
                <a:latin typeface="Arial"/>
                <a:ea typeface="Arial"/>
                <a:cs typeface="Arial"/>
              </a:defRPr>
            </a:pPr>
            <a:r>
              <a:rPr sz="1500" b="1">
                <a:solidFill>
                  <a:srgbClr val="D6FF5C"/>
                </a:solidFill>
                <a:latin typeface="Arial"/>
                <a:ea typeface="Arial"/>
                <a:cs typeface="Arial"/>
              </a:rPr>
              <a:t>V</a:t>
            </a:r>
          </a:p>
        </p:txBody>
      </p:sp>
      <p:sp>
        <p:nvSpPr>
          <p:cNvPr id="39" name="">
            <a:extLst xmlns:a="http://schemas.openxmlformats.org/drawingml/2006/main">
              <a:ext uri="{FF2B5EF4-FFF2-40B4-BE49-F238E27FC236}">
                <a16:creationId xmlns:a16="http://schemas.microsoft.com/office/drawing/2014/main" id="{217F8073-BA2B-4101-851C-938DE3311387}"/>
              </a:ext>
            </a:extLst>
          </p:cNvPr>
          <p:cNvSpPr>
            <a:spLocks xmlns:a="http://schemas.openxmlformats.org/drawingml/2006/main" noGrp="1"/>
          </p:cNvSpPr>
          <p:nvPr/>
        </p:nvSpPr>
        <p:spPr>
          <a:xfrm xmlns:a="http://schemas.openxmlformats.org/drawingml/2006/main">
            <a:off x="1123950" y="55816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Vendor source</a:t>
            </a:r>
          </a:p>
        </p:txBody>
      </p:sp>
      <p:sp>
        <p:nvSpPr>
          <p:cNvPr id="40" name="">
            <a:extLst xmlns:a="http://schemas.openxmlformats.org/drawingml/2006/main">
              <a:ext uri="{FF2B5EF4-FFF2-40B4-BE49-F238E27FC236}">
                <a16:creationId xmlns:a16="http://schemas.microsoft.com/office/drawing/2014/main" id="{43F86389-3130-4D61-83D4-6CDC6DB96785}"/>
              </a:ext>
            </a:extLst>
          </p:cNvPr>
          <p:cNvSpPr>
            <a:spLocks xmlns:a="http://schemas.openxmlformats.org/drawingml/2006/main" noGrp="1"/>
          </p:cNvSpPr>
          <p:nvPr/>
        </p:nvSpPr>
        <p:spPr>
          <a:xfrm xmlns:a="http://schemas.openxmlformats.org/drawingml/2006/main">
            <a:off x="2943225" y="557212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6FF5C"/>
                </a:solidFill>
                <a:latin typeface="Arial"/>
                <a:ea typeface="Arial"/>
                <a:cs typeface="Arial"/>
              </a:defRPr>
            </a:pPr>
            <a:r>
              <a:rPr sz="1500" b="1">
                <a:solidFill>
                  <a:srgbClr val="D6FF5C"/>
                </a:solidFill>
                <a:latin typeface="Arial"/>
                <a:ea typeface="Arial"/>
                <a:cs typeface="Arial"/>
              </a:rPr>
              <a:t>R</a:t>
            </a:r>
          </a:p>
        </p:txBody>
      </p:sp>
      <p:sp>
        <p:nvSpPr>
          <p:cNvPr id="41" name="">
            <a:extLst xmlns:a="http://schemas.openxmlformats.org/drawingml/2006/main">
              <a:ext uri="{FF2B5EF4-FFF2-40B4-BE49-F238E27FC236}">
                <a16:creationId xmlns:a16="http://schemas.microsoft.com/office/drawing/2014/main" id="{1D82C01D-8848-4D38-AB21-B3A854AB322D}"/>
              </a:ext>
            </a:extLst>
          </p:cNvPr>
          <p:cNvSpPr>
            <a:spLocks xmlns:a="http://schemas.openxmlformats.org/drawingml/2006/main" noGrp="1"/>
          </p:cNvSpPr>
          <p:nvPr/>
        </p:nvSpPr>
        <p:spPr>
          <a:xfrm xmlns:a="http://schemas.openxmlformats.org/drawingml/2006/main">
            <a:off x="3267075" y="55816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Review signal</a:t>
            </a:r>
          </a:p>
        </p:txBody>
      </p:sp>
      <p:sp>
        <p:nvSpPr>
          <p:cNvPr id="42" name="">
            <a:extLst xmlns:a="http://schemas.openxmlformats.org/drawingml/2006/main">
              <a:ext uri="{FF2B5EF4-FFF2-40B4-BE49-F238E27FC236}">
                <a16:creationId xmlns:a16="http://schemas.microsoft.com/office/drawing/2014/main" id="{BB68415B-5C1D-4124-89DF-58F58A5CA082}"/>
              </a:ext>
            </a:extLst>
          </p:cNvPr>
          <p:cNvSpPr>
            <a:spLocks xmlns:a="http://schemas.openxmlformats.org/drawingml/2006/main" noGrp="1"/>
          </p:cNvSpPr>
          <p:nvPr/>
        </p:nvSpPr>
        <p:spPr>
          <a:xfrm xmlns:a="http://schemas.openxmlformats.org/drawingml/2006/main">
            <a:off x="5086350" y="557212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6FF5C"/>
                </a:solidFill>
                <a:latin typeface="Arial"/>
                <a:ea typeface="Arial"/>
                <a:cs typeface="Arial"/>
              </a:defRPr>
            </a:pPr>
            <a:r>
              <a:rPr sz="1500" b="1">
                <a:solidFill>
                  <a:srgbClr val="D6FF5C"/>
                </a:solidFill>
                <a:latin typeface="Arial"/>
                <a:ea typeface="Arial"/>
                <a:cs typeface="Arial"/>
              </a:rPr>
              <a:t>I</a:t>
            </a:r>
          </a:p>
        </p:txBody>
      </p:sp>
      <p:sp>
        <p:nvSpPr>
          <p:cNvPr id="43" name="">
            <a:extLst xmlns:a="http://schemas.openxmlformats.org/drawingml/2006/main">
              <a:ext uri="{FF2B5EF4-FFF2-40B4-BE49-F238E27FC236}">
                <a16:creationId xmlns:a16="http://schemas.microsoft.com/office/drawing/2014/main" id="{CCEACC76-0E9C-4AD4-AC8B-42D16E6A0451}"/>
              </a:ext>
            </a:extLst>
          </p:cNvPr>
          <p:cNvSpPr>
            <a:spLocks xmlns:a="http://schemas.openxmlformats.org/drawingml/2006/main" noGrp="1"/>
          </p:cNvSpPr>
          <p:nvPr/>
        </p:nvSpPr>
        <p:spPr>
          <a:xfrm xmlns:a="http://schemas.openxmlformats.org/drawingml/2006/main">
            <a:off x="5410200" y="55816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Interview</a:t>
            </a:r>
          </a:p>
        </p:txBody>
      </p:sp>
      <p:sp>
        <p:nvSpPr>
          <p:cNvPr id="44" name="">
            <a:extLst xmlns:a="http://schemas.openxmlformats.org/drawingml/2006/main">
              <a:ext uri="{FF2B5EF4-FFF2-40B4-BE49-F238E27FC236}">
                <a16:creationId xmlns:a16="http://schemas.microsoft.com/office/drawing/2014/main" id="{15C60A48-AADC-450F-B4F6-3697F86C046D}"/>
              </a:ext>
            </a:extLst>
          </p:cNvPr>
          <p:cNvSpPr>
            <a:spLocks xmlns:a="http://schemas.openxmlformats.org/drawingml/2006/main" noGrp="1"/>
          </p:cNvSpPr>
          <p:nvPr/>
        </p:nvSpPr>
        <p:spPr>
          <a:xfrm xmlns:a="http://schemas.openxmlformats.org/drawingml/2006/main">
            <a:off x="7229475" y="557212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6847"/>
                </a:solidFill>
                <a:latin typeface="Arial"/>
                <a:ea typeface="Arial"/>
                <a:cs typeface="Arial"/>
              </a:defRPr>
            </a:pPr>
            <a:r>
              <a:rPr sz="1500" b="1">
                <a:solidFill>
                  <a:srgbClr val="FF6847"/>
                </a:solidFill>
                <a:latin typeface="Arial"/>
                <a:ea typeface="Arial"/>
                <a:cs typeface="Arial"/>
              </a:rPr>
              <a:t>H</a:t>
            </a:r>
          </a:p>
        </p:txBody>
      </p:sp>
      <p:sp>
        <p:nvSpPr>
          <p:cNvPr id="45" name="">
            <a:extLst xmlns:a="http://schemas.openxmlformats.org/drawingml/2006/main">
              <a:ext uri="{FF2B5EF4-FFF2-40B4-BE49-F238E27FC236}">
                <a16:creationId xmlns:a16="http://schemas.microsoft.com/office/drawing/2014/main" id="{AC2FC288-3202-455E-8A61-171B545FC70F}"/>
              </a:ext>
            </a:extLst>
          </p:cNvPr>
          <p:cNvSpPr>
            <a:spLocks xmlns:a="http://schemas.openxmlformats.org/drawingml/2006/main" noGrp="1"/>
          </p:cNvSpPr>
          <p:nvPr/>
        </p:nvSpPr>
        <p:spPr>
          <a:xfrm xmlns:a="http://schemas.openxmlformats.org/drawingml/2006/main">
            <a:off x="7553325" y="55816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Hypothesis</a:t>
            </a:r>
          </a:p>
        </p:txBody>
      </p:sp>
      <p:sp>
        <p:nvSpPr>
          <p:cNvPr id="46" name="">
            <a:extLst xmlns:a="http://schemas.openxmlformats.org/drawingml/2006/main">
              <a:ext uri="{FF2B5EF4-FFF2-40B4-BE49-F238E27FC236}">
                <a16:creationId xmlns:a16="http://schemas.microsoft.com/office/drawing/2014/main" id="{36A7B3BC-9506-42FC-B505-2852FC6D0CCF}"/>
              </a:ext>
            </a:extLst>
          </p:cNvPr>
          <p:cNvSpPr>
            <a:spLocks xmlns:a="http://schemas.openxmlformats.org/drawingml/2006/main" noGrp="1"/>
          </p:cNvSpPr>
          <p:nvPr/>
        </p:nvSpPr>
        <p:spPr>
          <a:xfrm xmlns:a="http://schemas.openxmlformats.org/drawingml/2006/main">
            <a:off x="9372600" y="557212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6847"/>
                </a:solidFill>
                <a:latin typeface="Arial"/>
                <a:ea typeface="Arial"/>
                <a:cs typeface="Arial"/>
              </a:defRPr>
            </a:pPr>
            <a:r>
              <a:rPr sz="1500" b="1">
                <a:solidFill>
                  <a:srgbClr val="FF6847"/>
                </a:solidFill>
                <a:latin typeface="Arial"/>
                <a:ea typeface="Arial"/>
                <a:cs typeface="Arial"/>
              </a:rPr>
              <a:t>U</a:t>
            </a:r>
          </a:p>
        </p:txBody>
      </p:sp>
      <p:sp>
        <p:nvSpPr>
          <p:cNvPr id="47" name="">
            <a:extLst xmlns:a="http://schemas.openxmlformats.org/drawingml/2006/main">
              <a:ext uri="{FF2B5EF4-FFF2-40B4-BE49-F238E27FC236}">
                <a16:creationId xmlns:a16="http://schemas.microsoft.com/office/drawing/2014/main" id="{6A044AE7-8928-4BD7-B0A1-D1704A9F4753}"/>
              </a:ext>
            </a:extLst>
          </p:cNvPr>
          <p:cNvSpPr>
            <a:spLocks xmlns:a="http://schemas.openxmlformats.org/drawingml/2006/main" noGrp="1"/>
          </p:cNvSpPr>
          <p:nvPr/>
        </p:nvSpPr>
        <p:spPr>
          <a:xfrm xmlns:a="http://schemas.openxmlformats.org/drawingml/2006/main">
            <a:off x="9696450" y="55816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Unknown</a:t>
            </a:r>
          </a:p>
        </p:txBody>
      </p:sp>
    </p:spTree>
    <p:extLst>
      <p:ext uri="{BB962C8B-B14F-4D97-AF65-F5344CB8AC3E}">
        <p14:creationId xmlns:p14="http://schemas.microsoft.com/office/powerpoint/2010/main" val="544092062"/>
      </p:ext>
    </p:extLst>
  </p:cSld>
</p:sld>
</file>

<file path=ppt/slides/slide3.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B66A2A6-4136-4DB2-82CA-715ACC959FC7}"/>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Four different entry doors</a:t>
            </a:r>
          </a:p>
        </p:txBody>
      </p:sp>
      <p:sp>
        <p:nvSpPr>
          <p:cNvPr id="2" name="">
            <a:extLst xmlns:a="http://schemas.openxmlformats.org/drawingml/2006/main">
              <a:ext uri="{FF2B5EF4-FFF2-40B4-BE49-F238E27FC236}">
                <a16:creationId xmlns:a16="http://schemas.microsoft.com/office/drawing/2014/main" id="{DE2DBDDE-6896-4CA0-99C2-B71D398B161A}"/>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4AA5D17C-EB85-4748-877E-D0742EB787E2}"/>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H: strategic map inferred from V1 to V11. Positions are directional, not measured scores.</a:t>
            </a:r>
          </a:p>
        </p:txBody>
      </p:sp>
      <p:sp>
        <p:nvSpPr>
          <p:cNvPr id="4" name="">
            <a:extLst xmlns:a="http://schemas.openxmlformats.org/drawingml/2006/main">
              <a:ext uri="{FF2B5EF4-FFF2-40B4-BE49-F238E27FC236}">
                <a16:creationId xmlns:a16="http://schemas.microsoft.com/office/drawing/2014/main" id="{40731368-5135-4B0A-87B6-C8464270F415}"/>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028506C-74C9-45E7-86CB-82EF911055D8}"/>
              </a:ext>
            </a:extLst>
          </p:cNvPr>
          <p:cNvSpPr>
            <a:spLocks xmlns:a="http://schemas.openxmlformats.org/drawingml/2006/main" noGrp="1"/>
          </p:cNvSpPr>
          <p:nvPr/>
        </p:nvSpPr>
        <p:spPr>
          <a:xfrm xmlns:a="http://schemas.openxmlformats.org/drawingml/2006/main">
            <a:off x="571500" y="12001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35CFF"/>
                </a:solidFill>
                <a:latin typeface="Arial"/>
                <a:ea typeface="Arial"/>
                <a:cs typeface="Arial"/>
              </a:defRPr>
            </a:pPr>
            <a:r>
              <a:rPr sz="1275" b="1">
                <a:solidFill>
                  <a:srgbClr val="335CFF"/>
                </a:solidFill>
                <a:latin typeface="Arial"/>
                <a:ea typeface="Arial"/>
                <a:cs typeface="Arial"/>
              </a:rPr>
              <a:t>AI first proposition</a:t>
            </a:r>
          </a:p>
        </p:txBody>
      </p:sp>
      <p:sp>
        <p:nvSpPr>
          <p:cNvPr id="6" name="">
            <a:extLst xmlns:a="http://schemas.openxmlformats.org/drawingml/2006/main">
              <a:ext uri="{FF2B5EF4-FFF2-40B4-BE49-F238E27FC236}">
                <a16:creationId xmlns:a16="http://schemas.microsoft.com/office/drawing/2014/main" id="{41F2D91C-595B-4AAA-8BBF-EBCFE36AA864}"/>
              </a:ext>
            </a:extLst>
          </p:cNvPr>
          <p:cNvSpPr>
            <a:spLocks xmlns:a="http://schemas.openxmlformats.org/drawingml/2006/main" noGrp="1"/>
          </p:cNvSpPr>
          <p:nvPr/>
        </p:nvSpPr>
        <p:spPr>
          <a:xfrm xmlns:a="http://schemas.openxmlformats.org/drawingml/2006/main">
            <a:off x="8934450" y="59626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35CFF"/>
                </a:solidFill>
                <a:latin typeface="Arial"/>
                <a:ea typeface="Arial"/>
                <a:cs typeface="Arial"/>
              </a:defRPr>
            </a:pPr>
            <a:r>
              <a:rPr sz="1275" b="1">
                <a:solidFill>
                  <a:srgbClr val="335CFF"/>
                </a:solidFill>
                <a:latin typeface="Arial"/>
                <a:ea typeface="Arial"/>
                <a:cs typeface="Arial"/>
              </a:rPr>
              <a:t>Operational platform breadth</a:t>
            </a:r>
          </a:p>
        </p:txBody>
      </p:sp>
      <p:sp>
        <p:nvSpPr>
          <p:cNvPr id="7" name="">
            <a:extLst xmlns:a="http://schemas.openxmlformats.org/drawingml/2006/main">
              <a:ext uri="{FF2B5EF4-FFF2-40B4-BE49-F238E27FC236}">
                <a16:creationId xmlns:a16="http://schemas.microsoft.com/office/drawing/2014/main" id="{79CBD6BA-760F-4976-B97A-657817EC7946}"/>
              </a:ext>
            </a:extLst>
          </p:cNvPr>
          <p:cNvSpPr>
            <a:spLocks xmlns:a="http://schemas.openxmlformats.org/drawingml/2006/main" noGrp="1"/>
          </p:cNvSpPr>
          <p:nvPr/>
        </p:nvSpPr>
        <p:spPr>
          <a:xfrm xmlns:a="http://schemas.openxmlformats.org/drawingml/2006/main">
            <a:off x="1047750" y="5715000"/>
            <a:ext cx="10191750" cy="19050"/>
          </a:xfrm>
          <a:prstGeom xmlns:a="http://schemas.openxmlformats.org/drawingml/2006/main" prst="rect">
            <a:avLst/>
          </a:prstGeom>
          <a:solidFill xmlns:a="http://schemas.openxmlformats.org/drawingml/2006/main">
            <a:srgbClr val="111315"/>
          </a:solidFill>
          <a:ln xmlns:a="http://schemas.openxmlformats.org/drawingml/2006/main" w="0">
            <a:solidFill>
              <a:srgbClr val="111315"/>
            </a:solidFill>
          </a:ln>
        </p:spPr>
      </p:sp>
      <p:sp>
        <p:nvSpPr>
          <p:cNvPr id="8" name="">
            <a:extLst xmlns:a="http://schemas.openxmlformats.org/drawingml/2006/main">
              <a:ext uri="{FF2B5EF4-FFF2-40B4-BE49-F238E27FC236}">
                <a16:creationId xmlns:a16="http://schemas.microsoft.com/office/drawing/2014/main" id="{A37016BD-F09F-470E-BB02-9A60E3E9888D}"/>
              </a:ext>
            </a:extLst>
          </p:cNvPr>
          <p:cNvSpPr>
            <a:spLocks xmlns:a="http://schemas.openxmlformats.org/drawingml/2006/main" noGrp="1"/>
          </p:cNvSpPr>
          <p:nvPr/>
        </p:nvSpPr>
        <p:spPr>
          <a:xfrm xmlns:a="http://schemas.openxmlformats.org/drawingml/2006/main">
            <a:off x="1047750" y="1447800"/>
            <a:ext cx="19050" cy="4267200"/>
          </a:xfrm>
          <a:prstGeom xmlns:a="http://schemas.openxmlformats.org/drawingml/2006/main" prst="rect">
            <a:avLst/>
          </a:prstGeom>
          <a:solidFill xmlns:a="http://schemas.openxmlformats.org/drawingml/2006/main">
            <a:srgbClr val="111315"/>
          </a:solidFill>
          <a:ln xmlns:a="http://schemas.openxmlformats.org/drawingml/2006/main" w="0">
            <a:solidFill>
              <a:srgbClr val="111315"/>
            </a:solidFill>
          </a:ln>
        </p:spPr>
      </p:sp>
      <p:sp>
        <p:nvSpPr>
          <p:cNvPr id="9" name="">
            <a:extLst xmlns:a="http://schemas.openxmlformats.org/drawingml/2006/main">
              <a:ext uri="{FF2B5EF4-FFF2-40B4-BE49-F238E27FC236}">
                <a16:creationId xmlns:a16="http://schemas.microsoft.com/office/drawing/2014/main" id="{E1010D3E-2017-4F5D-9055-8AA18437F3AF}"/>
              </a:ext>
            </a:extLst>
          </p:cNvPr>
          <p:cNvSpPr>
            <a:spLocks xmlns:a="http://schemas.openxmlformats.org/drawingml/2006/main" noGrp="1"/>
          </p:cNvSpPr>
          <p:nvPr/>
        </p:nvSpPr>
        <p:spPr>
          <a:xfrm xmlns:a="http://schemas.openxmlformats.org/drawingml/2006/main">
            <a:off x="1066800" y="579120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LOW</a:t>
            </a:r>
          </a:p>
        </p:txBody>
      </p:sp>
      <p:sp>
        <p:nvSpPr>
          <p:cNvPr id="10" name="">
            <a:extLst xmlns:a="http://schemas.openxmlformats.org/drawingml/2006/main">
              <a:ext uri="{FF2B5EF4-FFF2-40B4-BE49-F238E27FC236}">
                <a16:creationId xmlns:a16="http://schemas.microsoft.com/office/drawing/2014/main" id="{5F6CA3F5-0A60-4983-97BB-CFEBAF97FFF4}"/>
              </a:ext>
            </a:extLst>
          </p:cNvPr>
          <p:cNvSpPr>
            <a:spLocks xmlns:a="http://schemas.openxmlformats.org/drawingml/2006/main" noGrp="1"/>
          </p:cNvSpPr>
          <p:nvPr/>
        </p:nvSpPr>
        <p:spPr>
          <a:xfrm xmlns:a="http://schemas.openxmlformats.org/drawingml/2006/main">
            <a:off x="10763250" y="579120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HIGH</a:t>
            </a:r>
          </a:p>
        </p:txBody>
      </p:sp>
      <p:sp>
        <p:nvSpPr>
          <p:cNvPr id="11" name="">
            <a:extLst xmlns:a="http://schemas.openxmlformats.org/drawingml/2006/main">
              <a:ext uri="{FF2B5EF4-FFF2-40B4-BE49-F238E27FC236}">
                <a16:creationId xmlns:a16="http://schemas.microsoft.com/office/drawing/2014/main" id="{8DDD9DDB-C630-40BB-BBCE-827FF0E20314}"/>
              </a:ext>
            </a:extLst>
          </p:cNvPr>
          <p:cNvSpPr>
            <a:spLocks xmlns:a="http://schemas.openxmlformats.org/drawingml/2006/main" noGrp="1"/>
          </p:cNvSpPr>
          <p:nvPr/>
        </p:nvSpPr>
        <p:spPr>
          <a:xfrm xmlns:a="http://schemas.openxmlformats.org/drawingml/2006/main">
            <a:off x="628650" y="15049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HIGH</a:t>
            </a:r>
          </a:p>
        </p:txBody>
      </p:sp>
      <p:sp>
        <p:nvSpPr>
          <p:cNvPr id="12" name="">
            <a:extLst xmlns:a="http://schemas.openxmlformats.org/drawingml/2006/main">
              <a:ext uri="{FF2B5EF4-FFF2-40B4-BE49-F238E27FC236}">
                <a16:creationId xmlns:a16="http://schemas.microsoft.com/office/drawing/2014/main" id="{0E5C179B-5FDA-426D-B679-19E54458216C}"/>
              </a:ext>
            </a:extLst>
          </p:cNvPr>
          <p:cNvSpPr>
            <a:spLocks xmlns:a="http://schemas.openxmlformats.org/drawingml/2006/main" noGrp="1"/>
          </p:cNvSpPr>
          <p:nvPr/>
        </p:nvSpPr>
        <p:spPr>
          <a:xfrm xmlns:a="http://schemas.openxmlformats.org/drawingml/2006/main">
            <a:off x="685800" y="54673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LOW</a:t>
            </a:r>
          </a:p>
        </p:txBody>
      </p:sp>
      <p:sp>
        <p:nvSpPr>
          <p:cNvPr id="13" name="">
            <a:extLst xmlns:a="http://schemas.openxmlformats.org/drawingml/2006/main">
              <a:ext uri="{FF2B5EF4-FFF2-40B4-BE49-F238E27FC236}">
                <a16:creationId xmlns:a16="http://schemas.microsoft.com/office/drawing/2014/main" id="{22DBE695-0049-4009-9A23-809180F9D79A}"/>
              </a:ext>
            </a:extLst>
          </p:cNvPr>
          <p:cNvSpPr>
            <a:spLocks xmlns:a="http://schemas.openxmlformats.org/drawingml/2006/main" noGrp="1"/>
          </p:cNvSpPr>
          <p:nvPr/>
        </p:nvSpPr>
        <p:spPr>
          <a:xfrm xmlns:a="http://schemas.openxmlformats.org/drawingml/2006/main">
            <a:off x="3429000" y="2095500"/>
            <a:ext cx="209550" cy="209550"/>
          </a:xfrm>
          <a:prstGeom xmlns:a="http://schemas.openxmlformats.org/drawingml/2006/main" prst="rect">
            <a:avLst/>
          </a:prstGeom>
          <a:solidFill xmlns:a="http://schemas.openxmlformats.org/drawingml/2006/main">
            <a:srgbClr val="335CFF"/>
          </a:solidFill>
          <a:ln xmlns:a="http://schemas.openxmlformats.org/drawingml/2006/main" w="0">
            <a:solidFill>
              <a:srgbClr val="335CFF"/>
            </a:solidFill>
          </a:ln>
        </p:spPr>
      </p:sp>
      <p:sp>
        <p:nvSpPr>
          <p:cNvPr id="14" name="">
            <a:extLst xmlns:a="http://schemas.openxmlformats.org/drawingml/2006/main">
              <a:ext uri="{FF2B5EF4-FFF2-40B4-BE49-F238E27FC236}">
                <a16:creationId xmlns:a16="http://schemas.microsoft.com/office/drawing/2014/main" id="{457D8CA3-93DF-4DAA-A22F-05A99667C62A}"/>
              </a:ext>
            </a:extLst>
          </p:cNvPr>
          <p:cNvSpPr>
            <a:spLocks xmlns:a="http://schemas.openxmlformats.org/drawingml/2006/main" noGrp="1"/>
          </p:cNvSpPr>
          <p:nvPr/>
        </p:nvSpPr>
        <p:spPr>
          <a:xfrm xmlns:a="http://schemas.openxmlformats.org/drawingml/2006/main">
            <a:off x="3752850" y="20574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35CFF"/>
                </a:solidFill>
                <a:latin typeface="Arial"/>
                <a:ea typeface="Arial"/>
                <a:cs typeface="Arial"/>
              </a:defRPr>
            </a:pPr>
            <a:r>
              <a:rPr sz="1575" b="1">
                <a:solidFill>
                  <a:srgbClr val="335CFF"/>
                </a:solidFill>
                <a:latin typeface="Arial"/>
                <a:ea typeface="Arial"/>
                <a:cs typeface="Arial"/>
              </a:rPr>
              <a:t>Intercom / Fin</a:t>
            </a:r>
          </a:p>
        </p:txBody>
      </p:sp>
      <p:sp>
        <p:nvSpPr>
          <p:cNvPr id="15" name="">
            <a:extLst xmlns:a="http://schemas.openxmlformats.org/drawingml/2006/main">
              <a:ext uri="{FF2B5EF4-FFF2-40B4-BE49-F238E27FC236}">
                <a16:creationId xmlns:a16="http://schemas.microsoft.com/office/drawing/2014/main" id="{ED1DE865-E564-481F-8628-1F2FF74390EC}"/>
              </a:ext>
            </a:extLst>
          </p:cNvPr>
          <p:cNvSpPr>
            <a:spLocks xmlns:a="http://schemas.openxmlformats.org/drawingml/2006/main" noGrp="1"/>
          </p:cNvSpPr>
          <p:nvPr/>
        </p:nvSpPr>
        <p:spPr>
          <a:xfrm xmlns:a="http://schemas.openxmlformats.org/drawingml/2006/main">
            <a:off x="6572250" y="3143250"/>
            <a:ext cx="209550" cy="209550"/>
          </a:xfrm>
          <a:prstGeom xmlns:a="http://schemas.openxmlformats.org/drawingml/2006/main" prst="rect">
            <a:avLst/>
          </a:prstGeom>
          <a:solidFill xmlns:a="http://schemas.openxmlformats.org/drawingml/2006/main">
            <a:srgbClr val="6C44C5"/>
          </a:solidFill>
          <a:ln xmlns:a="http://schemas.openxmlformats.org/drawingml/2006/main" w="0">
            <a:solidFill>
              <a:srgbClr val="6C44C5"/>
            </a:solidFill>
          </a:ln>
        </p:spPr>
      </p:sp>
      <p:sp>
        <p:nvSpPr>
          <p:cNvPr id="16" name="">
            <a:extLst xmlns:a="http://schemas.openxmlformats.org/drawingml/2006/main">
              <a:ext uri="{FF2B5EF4-FFF2-40B4-BE49-F238E27FC236}">
                <a16:creationId xmlns:a16="http://schemas.microsoft.com/office/drawing/2014/main" id="{C053B428-D933-4AD0-89AD-33582853546F}"/>
              </a:ext>
            </a:extLst>
          </p:cNvPr>
          <p:cNvSpPr>
            <a:spLocks xmlns:a="http://schemas.openxmlformats.org/drawingml/2006/main" noGrp="1"/>
          </p:cNvSpPr>
          <p:nvPr/>
        </p:nvSpPr>
        <p:spPr>
          <a:xfrm xmlns:a="http://schemas.openxmlformats.org/drawingml/2006/main">
            <a:off x="6896100" y="31051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6C44C5"/>
                </a:solidFill>
                <a:latin typeface="Arial"/>
                <a:ea typeface="Arial"/>
                <a:cs typeface="Arial"/>
              </a:defRPr>
            </a:pPr>
            <a:r>
              <a:rPr sz="1575" b="1">
                <a:solidFill>
                  <a:srgbClr val="6C44C5"/>
                </a:solidFill>
                <a:latin typeface="Arial"/>
                <a:ea typeface="Arial"/>
                <a:cs typeface="Arial"/>
              </a:rPr>
              <a:t>Zendesk AI</a:t>
            </a:r>
          </a:p>
        </p:txBody>
      </p:sp>
      <p:sp>
        <p:nvSpPr>
          <p:cNvPr id="17" name="">
            <a:extLst xmlns:a="http://schemas.openxmlformats.org/drawingml/2006/main">
              <a:ext uri="{FF2B5EF4-FFF2-40B4-BE49-F238E27FC236}">
                <a16:creationId xmlns:a16="http://schemas.microsoft.com/office/drawing/2014/main" id="{62A08F6F-CB9D-4CD4-99E2-5BCF6E29E813}"/>
              </a:ext>
            </a:extLst>
          </p:cNvPr>
          <p:cNvSpPr>
            <a:spLocks xmlns:a="http://schemas.openxmlformats.org/drawingml/2006/main" noGrp="1"/>
          </p:cNvSpPr>
          <p:nvPr/>
        </p:nvSpPr>
        <p:spPr>
          <a:xfrm xmlns:a="http://schemas.openxmlformats.org/drawingml/2006/main">
            <a:off x="3810000" y="4429125"/>
            <a:ext cx="209550" cy="209550"/>
          </a:xfrm>
          <a:prstGeom xmlns:a="http://schemas.openxmlformats.org/drawingml/2006/main" prst="rect">
            <a:avLst/>
          </a:prstGeom>
          <a:solidFill xmlns:a="http://schemas.openxmlformats.org/drawingml/2006/main">
            <a:srgbClr val="168A72"/>
          </a:solidFill>
          <a:ln xmlns:a="http://schemas.openxmlformats.org/drawingml/2006/main" w="0">
            <a:solidFill>
              <a:srgbClr val="168A72"/>
            </a:solidFill>
          </a:ln>
        </p:spPr>
      </p:sp>
      <p:sp>
        <p:nvSpPr>
          <p:cNvPr id="18" name="">
            <a:extLst xmlns:a="http://schemas.openxmlformats.org/drawingml/2006/main">
              <a:ext uri="{FF2B5EF4-FFF2-40B4-BE49-F238E27FC236}">
                <a16:creationId xmlns:a16="http://schemas.microsoft.com/office/drawing/2014/main" id="{B8FE6DE4-949C-4E3D-83F3-65D923D0A130}"/>
              </a:ext>
            </a:extLst>
          </p:cNvPr>
          <p:cNvSpPr>
            <a:spLocks xmlns:a="http://schemas.openxmlformats.org/drawingml/2006/main" noGrp="1"/>
          </p:cNvSpPr>
          <p:nvPr/>
        </p:nvSpPr>
        <p:spPr>
          <a:xfrm xmlns:a="http://schemas.openxmlformats.org/drawingml/2006/main">
            <a:off x="4133850" y="439102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8A72"/>
                </a:solidFill>
                <a:latin typeface="Arial"/>
                <a:ea typeface="Arial"/>
                <a:cs typeface="Arial"/>
              </a:defRPr>
            </a:pPr>
            <a:r>
              <a:rPr sz="1575" b="1">
                <a:solidFill>
                  <a:srgbClr val="168A72"/>
                </a:solidFill>
                <a:latin typeface="Arial"/>
                <a:ea typeface="Arial"/>
                <a:cs typeface="Arial"/>
              </a:rPr>
              <a:t>Freshdesk / Freddy</a:t>
            </a:r>
          </a:p>
        </p:txBody>
      </p:sp>
      <p:sp>
        <p:nvSpPr>
          <p:cNvPr id="19" name="">
            <a:extLst xmlns:a="http://schemas.openxmlformats.org/drawingml/2006/main">
              <a:ext uri="{FF2B5EF4-FFF2-40B4-BE49-F238E27FC236}">
                <a16:creationId xmlns:a16="http://schemas.microsoft.com/office/drawing/2014/main" id="{C54B4251-4F64-42F5-B61C-06869C03DAC1}"/>
              </a:ext>
            </a:extLst>
          </p:cNvPr>
          <p:cNvSpPr>
            <a:spLocks xmlns:a="http://schemas.openxmlformats.org/drawingml/2006/main" noGrp="1"/>
          </p:cNvSpPr>
          <p:nvPr/>
        </p:nvSpPr>
        <p:spPr>
          <a:xfrm xmlns:a="http://schemas.openxmlformats.org/drawingml/2006/main">
            <a:off x="8763000" y="2286000"/>
            <a:ext cx="209550" cy="209550"/>
          </a:xfrm>
          <a:prstGeom xmlns:a="http://schemas.openxmlformats.org/drawingml/2006/main" prst="rect">
            <a:avLst/>
          </a:prstGeom>
          <a:solidFill xmlns:a="http://schemas.openxmlformats.org/drawingml/2006/main">
            <a:srgbClr val="0176D3"/>
          </a:solidFill>
          <a:ln xmlns:a="http://schemas.openxmlformats.org/drawingml/2006/main" w="0">
            <a:solidFill>
              <a:srgbClr val="0176D3"/>
            </a:solidFill>
          </a:ln>
        </p:spPr>
      </p:sp>
      <p:sp>
        <p:nvSpPr>
          <p:cNvPr id="20" name="">
            <a:extLst xmlns:a="http://schemas.openxmlformats.org/drawingml/2006/main">
              <a:ext uri="{FF2B5EF4-FFF2-40B4-BE49-F238E27FC236}">
                <a16:creationId xmlns:a16="http://schemas.microsoft.com/office/drawing/2014/main" id="{EC1D69B1-F2EF-433B-A233-F24B5AE1099A}"/>
              </a:ext>
            </a:extLst>
          </p:cNvPr>
          <p:cNvSpPr>
            <a:spLocks xmlns:a="http://schemas.openxmlformats.org/drawingml/2006/main" noGrp="1"/>
          </p:cNvSpPr>
          <p:nvPr/>
        </p:nvSpPr>
        <p:spPr>
          <a:xfrm xmlns:a="http://schemas.openxmlformats.org/drawingml/2006/main">
            <a:off x="9086850" y="22479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176D3"/>
                </a:solidFill>
                <a:latin typeface="Arial"/>
                <a:ea typeface="Arial"/>
                <a:cs typeface="Arial"/>
              </a:defRPr>
            </a:pPr>
            <a:r>
              <a:rPr sz="1575" b="1">
                <a:solidFill>
                  <a:srgbClr val="0176D3"/>
                </a:solidFill>
                <a:latin typeface="Arial"/>
                <a:ea typeface="Arial"/>
                <a:cs typeface="Arial"/>
              </a:rPr>
              <a:t>Salesforce / Agentforce</a:t>
            </a:r>
          </a:p>
        </p:txBody>
      </p:sp>
      <p:sp>
        <p:nvSpPr>
          <p:cNvPr id="21" name="">
            <a:extLst xmlns:a="http://schemas.openxmlformats.org/drawingml/2006/main">
              <a:ext uri="{FF2B5EF4-FFF2-40B4-BE49-F238E27FC236}">
                <a16:creationId xmlns:a16="http://schemas.microsoft.com/office/drawing/2014/main" id="{08D3EA33-E139-4824-BFCE-266DE203770B}"/>
              </a:ext>
            </a:extLst>
          </p:cNvPr>
          <p:cNvSpPr>
            <a:spLocks xmlns:a="http://schemas.openxmlformats.org/drawingml/2006/main" noGrp="1"/>
          </p:cNvSpPr>
          <p:nvPr/>
        </p:nvSpPr>
        <p:spPr>
          <a:xfrm xmlns:a="http://schemas.openxmlformats.org/drawingml/2006/main">
            <a:off x="1714500" y="53340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6A71"/>
                </a:solidFill>
                <a:latin typeface="Arial"/>
                <a:ea typeface="Arial"/>
                <a:cs typeface="Arial"/>
              </a:defRPr>
            </a:pPr>
            <a:r>
              <a:rPr sz="1350" b="0">
                <a:solidFill>
                  <a:srgbClr val="656A71"/>
                </a:solidFill>
                <a:latin typeface="Arial"/>
                <a:ea typeface="Arial"/>
                <a:cs typeface="Arial"/>
              </a:rPr>
              <a:t>Conversation and AI entry</a:t>
            </a:r>
          </a:p>
        </p:txBody>
      </p:sp>
      <p:sp>
        <p:nvSpPr>
          <p:cNvPr id="22" name="">
            <a:extLst xmlns:a="http://schemas.openxmlformats.org/drawingml/2006/main">
              <a:ext uri="{FF2B5EF4-FFF2-40B4-BE49-F238E27FC236}">
                <a16:creationId xmlns:a16="http://schemas.microsoft.com/office/drawing/2014/main" id="{C6EE6EB7-8A7A-4D96-9CFB-49B7C409CFB7}"/>
              </a:ext>
            </a:extLst>
          </p:cNvPr>
          <p:cNvSpPr>
            <a:spLocks xmlns:a="http://schemas.openxmlformats.org/drawingml/2006/main" noGrp="1"/>
          </p:cNvSpPr>
          <p:nvPr/>
        </p:nvSpPr>
        <p:spPr>
          <a:xfrm xmlns:a="http://schemas.openxmlformats.org/drawingml/2006/main">
            <a:off x="7334250" y="53340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6A71"/>
                </a:solidFill>
                <a:latin typeface="Arial"/>
                <a:ea typeface="Arial"/>
                <a:cs typeface="Arial"/>
              </a:defRPr>
            </a:pPr>
            <a:r>
              <a:rPr sz="1350" b="0">
                <a:solidFill>
                  <a:srgbClr val="656A71"/>
                </a:solidFill>
                <a:latin typeface="Arial"/>
                <a:ea typeface="Arial"/>
                <a:cs typeface="Arial"/>
              </a:rPr>
              <a:t>System of record and enterprise workflow</a:t>
            </a:r>
          </a:p>
        </p:txBody>
      </p:sp>
    </p:spTree>
    <p:extLst>
      <p:ext uri="{BB962C8B-B14F-4D97-AF65-F5344CB8AC3E}">
        <p14:creationId xmlns:p14="http://schemas.microsoft.com/office/powerpoint/2010/main" val="1807514621"/>
      </p:ext>
    </p:extLst>
  </p:cSld>
</p:sld>
</file>

<file path=ppt/slides/slide4.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321EF07-1D74-41A9-B5EF-0CEEC77DFB48}"/>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Intercom / Fin</a:t>
            </a:r>
          </a:p>
        </p:txBody>
      </p:sp>
      <p:sp>
        <p:nvSpPr>
          <p:cNvPr id="2" name="">
            <a:extLst xmlns:a="http://schemas.openxmlformats.org/drawingml/2006/main">
              <a:ext uri="{FF2B5EF4-FFF2-40B4-BE49-F238E27FC236}">
                <a16:creationId xmlns:a16="http://schemas.microsoft.com/office/drawing/2014/main" id="{6B5596F8-E2F0-43D7-8F1F-05CEABA3FB84}"/>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EE79BCF7-AD26-4D0A-BA57-02EF9CCE14FC}"/>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V1, V2, V3, R1, R2. V gives public claims. R gives selected friction signals. H gives strategic inference.</a:t>
            </a:r>
          </a:p>
        </p:txBody>
      </p:sp>
      <p:sp>
        <p:nvSpPr>
          <p:cNvPr id="4" name="">
            <a:extLst xmlns:a="http://schemas.openxmlformats.org/drawingml/2006/main">
              <a:ext uri="{FF2B5EF4-FFF2-40B4-BE49-F238E27FC236}">
                <a16:creationId xmlns:a16="http://schemas.microsoft.com/office/drawing/2014/main" id="{9D5A3AEE-F7B4-4A25-B5A9-FFB406FF970C}"/>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72868A6-0E73-4C20-9587-9A97D3BA772C}"/>
              </a:ext>
            </a:extLst>
          </p:cNvPr>
          <p:cNvSpPr>
            <a:spLocks xmlns:a="http://schemas.openxmlformats.org/drawingml/2006/main" noGrp="1"/>
          </p:cNvSpPr>
          <p:nvPr/>
        </p:nvSpPr>
        <p:spPr>
          <a:xfrm xmlns:a="http://schemas.openxmlformats.org/drawingml/2006/main">
            <a:off x="552450" y="1104900"/>
            <a:ext cx="76200" cy="2876550"/>
          </a:xfrm>
          <a:prstGeom xmlns:a="http://schemas.openxmlformats.org/drawingml/2006/main" prst="rect">
            <a:avLst/>
          </a:prstGeom>
          <a:solidFill xmlns:a="http://schemas.openxmlformats.org/drawingml/2006/main">
            <a:srgbClr val="335CFF"/>
          </a:solidFill>
          <a:ln xmlns:a="http://schemas.openxmlformats.org/drawingml/2006/main" w="0">
            <a:solidFill>
              <a:srgbClr val="335CFF"/>
            </a:solidFill>
          </a:ln>
        </p:spPr>
      </p:sp>
      <p:sp>
        <p:nvSpPr>
          <p:cNvPr id="6" name="">
            <a:extLst xmlns:a="http://schemas.openxmlformats.org/drawingml/2006/main">
              <a:ext uri="{FF2B5EF4-FFF2-40B4-BE49-F238E27FC236}">
                <a16:creationId xmlns:a16="http://schemas.microsoft.com/office/drawing/2014/main" id="{3E249126-63B1-49FB-BCB7-D423B0DD6D9C}"/>
              </a:ext>
            </a:extLst>
          </p:cNvPr>
          <p:cNvSpPr>
            <a:spLocks xmlns:a="http://schemas.openxmlformats.org/drawingml/2006/main" noGrp="1"/>
          </p:cNvSpPr>
          <p:nvPr/>
        </p:nvSpPr>
        <p:spPr>
          <a:xfrm xmlns:a="http://schemas.openxmlformats.org/drawingml/2006/main">
            <a:off x="819150" y="1143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CUSTOMER  H</a:t>
            </a:r>
          </a:p>
        </p:txBody>
      </p:sp>
      <p:sp>
        <p:nvSpPr>
          <p:cNvPr id="7" name="">
            <a:extLst xmlns:a="http://schemas.openxmlformats.org/drawingml/2006/main">
              <a:ext uri="{FF2B5EF4-FFF2-40B4-BE49-F238E27FC236}">
                <a16:creationId xmlns:a16="http://schemas.microsoft.com/office/drawing/2014/main" id="{FCDE6180-FA7D-49B8-8799-4C54F3319610}"/>
              </a:ext>
            </a:extLst>
          </p:cNvPr>
          <p:cNvSpPr>
            <a:spLocks xmlns:a="http://schemas.openxmlformats.org/drawingml/2006/main" noGrp="1"/>
          </p:cNvSpPr>
          <p:nvPr/>
        </p:nvSpPr>
        <p:spPr>
          <a:xfrm xmlns:a="http://schemas.openxmlformats.org/drawingml/2006/main">
            <a:off x="819150" y="13525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11315"/>
                </a:solidFill>
                <a:latin typeface="Arial"/>
                <a:ea typeface="Arial"/>
                <a:cs typeface="Arial"/>
              </a:defRPr>
            </a:pPr>
            <a:r>
              <a:rPr sz="1425" b="0">
                <a:solidFill>
                  <a:srgbClr val="111315"/>
                </a:solidFill>
                <a:latin typeface="Arial"/>
                <a:ea typeface="Arial"/>
                <a:cs typeface="Arial"/>
              </a:rPr>
              <a:t>Digitally native support teams seeking AI first conversational service, including teams that keep another helpdesk.</a:t>
            </a:r>
          </a:p>
        </p:txBody>
      </p:sp>
      <p:sp>
        <p:nvSpPr>
          <p:cNvPr id="8" name="">
            <a:extLst xmlns:a="http://schemas.openxmlformats.org/drawingml/2006/main">
              <a:ext uri="{FF2B5EF4-FFF2-40B4-BE49-F238E27FC236}">
                <a16:creationId xmlns:a16="http://schemas.microsoft.com/office/drawing/2014/main" id="{E7F9DDC3-A050-4FD2-ACB8-0029A753F187}"/>
              </a:ext>
            </a:extLst>
          </p:cNvPr>
          <p:cNvSpPr>
            <a:spLocks xmlns:a="http://schemas.openxmlformats.org/drawingml/2006/main" noGrp="1"/>
          </p:cNvSpPr>
          <p:nvPr/>
        </p:nvSpPr>
        <p:spPr>
          <a:xfrm xmlns:a="http://schemas.openxmlformats.org/drawingml/2006/main">
            <a:off x="819150" y="20574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PROMISE  V</a:t>
            </a:r>
          </a:p>
        </p:txBody>
      </p:sp>
      <p:sp>
        <p:nvSpPr>
          <p:cNvPr id="9" name="">
            <a:extLst xmlns:a="http://schemas.openxmlformats.org/drawingml/2006/main">
              <a:ext uri="{FF2B5EF4-FFF2-40B4-BE49-F238E27FC236}">
                <a16:creationId xmlns:a16="http://schemas.microsoft.com/office/drawing/2014/main" id="{70E3F803-1BF7-4C70-9D3A-0F73F11F36B7}"/>
              </a:ext>
            </a:extLst>
          </p:cNvPr>
          <p:cNvSpPr>
            <a:spLocks xmlns:a="http://schemas.openxmlformats.org/drawingml/2006/main" noGrp="1"/>
          </p:cNvSpPr>
          <p:nvPr/>
        </p:nvSpPr>
        <p:spPr>
          <a:xfrm xmlns:a="http://schemas.openxmlformats.org/drawingml/2006/main">
            <a:off x="819150" y="22669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AI resolution with a clear outcome unit and a modern customer experience.</a:t>
            </a:r>
          </a:p>
        </p:txBody>
      </p:sp>
      <p:sp>
        <p:nvSpPr>
          <p:cNvPr id="10" name="">
            <a:extLst xmlns:a="http://schemas.openxmlformats.org/drawingml/2006/main">
              <a:ext uri="{FF2B5EF4-FFF2-40B4-BE49-F238E27FC236}">
                <a16:creationId xmlns:a16="http://schemas.microsoft.com/office/drawing/2014/main" id="{B10A4162-0A10-4E7A-B41F-0B451F06B4DE}"/>
              </a:ext>
            </a:extLst>
          </p:cNvPr>
          <p:cNvSpPr>
            <a:spLocks xmlns:a="http://schemas.openxmlformats.org/drawingml/2006/main" noGrp="1"/>
          </p:cNvSpPr>
          <p:nvPr/>
        </p:nvSpPr>
        <p:spPr>
          <a:xfrm xmlns:a="http://schemas.openxmlformats.org/drawingml/2006/main">
            <a:off x="819150" y="27051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MODEL  V + H</a:t>
            </a:r>
          </a:p>
        </p:txBody>
      </p:sp>
      <p:sp>
        <p:nvSpPr>
          <p:cNvPr id="11" name="">
            <a:extLst xmlns:a="http://schemas.openxmlformats.org/drawingml/2006/main">
              <a:ext uri="{FF2B5EF4-FFF2-40B4-BE49-F238E27FC236}">
                <a16:creationId xmlns:a16="http://schemas.microsoft.com/office/drawing/2014/main" id="{78EA0E62-0394-435D-B46E-2A84147D24F3}"/>
              </a:ext>
            </a:extLst>
          </p:cNvPr>
          <p:cNvSpPr>
            <a:spLocks xmlns:a="http://schemas.openxmlformats.org/drawingml/2006/main" noGrp="1"/>
          </p:cNvSpPr>
          <p:nvPr/>
        </p:nvSpPr>
        <p:spPr>
          <a:xfrm xmlns:a="http://schemas.openxmlformats.org/drawingml/2006/main">
            <a:off x="819150" y="29146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315"/>
                </a:solidFill>
                <a:latin typeface="Arial"/>
                <a:ea typeface="Arial"/>
                <a:cs typeface="Arial"/>
              </a:defRPr>
            </a:pPr>
            <a:r>
              <a:rPr sz="1350" b="0">
                <a:solidFill>
                  <a:srgbClr val="111315"/>
                </a:solidFill>
                <a:latin typeface="Arial"/>
                <a:ea typeface="Arial"/>
                <a:cs typeface="Arial"/>
              </a:rPr>
              <a:t>Land through trial, suite seats, or standalone Fin. Outcomes, Copilot, and Pro expand revenue. Integrated support workflow retains accounts.</a:t>
            </a:r>
          </a:p>
        </p:txBody>
      </p:sp>
      <p:sp>
        <p:nvSpPr>
          <p:cNvPr id="12" name="">
            <a:extLst xmlns:a="http://schemas.openxmlformats.org/drawingml/2006/main">
              <a:ext uri="{FF2B5EF4-FFF2-40B4-BE49-F238E27FC236}">
                <a16:creationId xmlns:a16="http://schemas.microsoft.com/office/drawing/2014/main" id="{1D3CA94B-BA01-4954-B5CB-35E925F1EF9D}"/>
              </a:ext>
            </a:extLst>
          </p:cNvPr>
          <p:cNvSpPr>
            <a:spLocks xmlns:a="http://schemas.openxmlformats.org/drawingml/2006/main" noGrp="1"/>
          </p:cNvSpPr>
          <p:nvPr/>
        </p:nvSpPr>
        <p:spPr>
          <a:xfrm xmlns:a="http://schemas.openxmlformats.org/drawingml/2006/main">
            <a:off x="819150" y="36195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WEAKNESS  R + H</a:t>
            </a:r>
          </a:p>
        </p:txBody>
      </p:sp>
      <p:sp>
        <p:nvSpPr>
          <p:cNvPr id="13" name="">
            <a:extLst xmlns:a="http://schemas.openxmlformats.org/drawingml/2006/main">
              <a:ext uri="{FF2B5EF4-FFF2-40B4-BE49-F238E27FC236}">
                <a16:creationId xmlns:a16="http://schemas.microsoft.com/office/drawing/2014/main" id="{2405D970-E3BE-4696-9229-85F73E80BB9B}"/>
              </a:ext>
            </a:extLst>
          </p:cNvPr>
          <p:cNvSpPr>
            <a:spLocks xmlns:a="http://schemas.openxmlformats.org/drawingml/2006/main" noGrp="1"/>
          </p:cNvSpPr>
          <p:nvPr/>
        </p:nvSpPr>
        <p:spPr>
          <a:xfrm xmlns:a="http://schemas.openxmlformats.org/drawingml/2006/main">
            <a:off x="819150" y="38290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315"/>
                </a:solidFill>
                <a:latin typeface="Arial"/>
                <a:ea typeface="Arial"/>
                <a:cs typeface="Arial"/>
              </a:defRPr>
            </a:pPr>
            <a:r>
              <a:rPr sz="1350" b="0">
                <a:solidFill>
                  <a:srgbClr val="111315"/>
                </a:solidFill>
                <a:latin typeface="Arial"/>
                <a:ea typeface="Arial"/>
                <a:cs typeface="Arial"/>
              </a:rPr>
              <a:t>Complex workflows, tuning, handoffs, and variable outcome economics can shift work into support operations.</a:t>
            </a:r>
          </a:p>
        </p:txBody>
      </p:sp>
      <p:sp>
        <p:nvSpPr>
          <p:cNvPr id="14" name="">
            <a:extLst xmlns:a="http://schemas.openxmlformats.org/drawingml/2006/main">
              <a:ext uri="{FF2B5EF4-FFF2-40B4-BE49-F238E27FC236}">
                <a16:creationId xmlns:a16="http://schemas.microsoft.com/office/drawing/2014/main" id="{C410684D-5CB3-4E4B-97DF-31E8F2251A12}"/>
              </a:ext>
            </a:extLst>
          </p:cNvPr>
          <p:cNvSpPr>
            <a:spLocks xmlns:a="http://schemas.openxmlformats.org/drawingml/2006/main" noGrp="1"/>
          </p:cNvSpPr>
          <p:nvPr/>
        </p:nvSpPr>
        <p:spPr>
          <a:xfrm xmlns:a="http://schemas.openxmlformats.org/drawingml/2006/main">
            <a:off x="6238875" y="11430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ENTRY WEDGE  H</a:t>
            </a:r>
          </a:p>
        </p:txBody>
      </p:sp>
      <p:sp>
        <p:nvSpPr>
          <p:cNvPr id="15" name="">
            <a:extLst xmlns:a="http://schemas.openxmlformats.org/drawingml/2006/main">
              <a:ext uri="{FF2B5EF4-FFF2-40B4-BE49-F238E27FC236}">
                <a16:creationId xmlns:a16="http://schemas.microsoft.com/office/drawing/2014/main" id="{FE48C74E-0ACF-4086-9B21-CD020E325F61}"/>
              </a:ext>
            </a:extLst>
          </p:cNvPr>
          <p:cNvSpPr>
            <a:spLocks xmlns:a="http://schemas.openxmlformats.org/drawingml/2006/main" noGrp="1"/>
          </p:cNvSpPr>
          <p:nvPr/>
        </p:nvSpPr>
        <p:spPr>
          <a:xfrm xmlns:a="http://schemas.openxmlformats.org/drawingml/2006/main">
            <a:off x="6238875" y="1390650"/>
            <a:ext cx="5286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11315"/>
                </a:solidFill>
                <a:latin typeface="Arial"/>
                <a:ea typeface="Arial"/>
                <a:cs typeface="Arial"/>
              </a:defRPr>
            </a:pPr>
            <a:r>
              <a:rPr sz="1800" b="1">
                <a:solidFill>
                  <a:srgbClr val="111315"/>
                </a:solidFill>
                <a:latin typeface="Arial"/>
                <a:ea typeface="Arial"/>
                <a:cs typeface="Arial"/>
              </a:rPr>
              <a:t>Standalone outcome priced AI agent backed by an AI first service brand.</a:t>
            </a:r>
          </a:p>
        </p:txBody>
      </p:sp>
      <p:sp>
        <p:nvSpPr>
          <p:cNvPr id="16" name="">
            <a:extLst xmlns:a="http://schemas.openxmlformats.org/drawingml/2006/main">
              <a:ext uri="{FF2B5EF4-FFF2-40B4-BE49-F238E27FC236}">
                <a16:creationId xmlns:a16="http://schemas.microsoft.com/office/drawing/2014/main" id="{0B39399C-29F0-4F81-A654-CA8B960EF769}"/>
              </a:ext>
            </a:extLst>
          </p:cNvPr>
          <p:cNvSpPr>
            <a:spLocks xmlns:a="http://schemas.openxmlformats.org/drawingml/2006/main" noGrp="1"/>
          </p:cNvSpPr>
          <p:nvPr/>
        </p:nvSpPr>
        <p:spPr>
          <a:xfrm xmlns:a="http://schemas.openxmlformats.org/drawingml/2006/main">
            <a:off x="6238875" y="2076450"/>
            <a:ext cx="5286375"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7" name="">
            <a:extLst xmlns:a="http://schemas.openxmlformats.org/drawingml/2006/main">
              <a:ext uri="{FF2B5EF4-FFF2-40B4-BE49-F238E27FC236}">
                <a16:creationId xmlns:a16="http://schemas.microsoft.com/office/drawing/2014/main" id="{60494F6E-4B64-4E13-BB11-9E105C3C1A86}"/>
              </a:ext>
            </a:extLst>
          </p:cNvPr>
          <p:cNvSpPr>
            <a:spLocks xmlns:a="http://schemas.openxmlformats.org/drawingml/2006/main" noGrp="1"/>
          </p:cNvSpPr>
          <p:nvPr/>
        </p:nvSpPr>
        <p:spPr>
          <a:xfrm xmlns:a="http://schemas.openxmlformats.org/drawingml/2006/main">
            <a:off x="6238875" y="22860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COMPOUNDING MOAT  H</a:t>
            </a:r>
          </a:p>
        </p:txBody>
      </p:sp>
      <p:sp>
        <p:nvSpPr>
          <p:cNvPr id="18" name="">
            <a:extLst xmlns:a="http://schemas.openxmlformats.org/drawingml/2006/main">
              <a:ext uri="{FF2B5EF4-FFF2-40B4-BE49-F238E27FC236}">
                <a16:creationId xmlns:a16="http://schemas.microsoft.com/office/drawing/2014/main" id="{B442FE93-A8A5-44B4-9F67-0021FD2CB9C1}"/>
              </a:ext>
            </a:extLst>
          </p:cNvPr>
          <p:cNvSpPr>
            <a:spLocks xmlns:a="http://schemas.openxmlformats.org/drawingml/2006/main" noGrp="1"/>
          </p:cNvSpPr>
          <p:nvPr/>
        </p:nvSpPr>
        <p:spPr>
          <a:xfrm xmlns:a="http://schemas.openxmlformats.org/drawingml/2006/main">
            <a:off x="6238875" y="2533650"/>
            <a:ext cx="5286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Conversation, knowledge, Procedures, agent workflow, simulations, monitoring, and resolution data in one learning loop.</a:t>
            </a:r>
          </a:p>
        </p:txBody>
      </p:sp>
      <p:sp>
        <p:nvSpPr>
          <p:cNvPr id="19" name="">
            <a:extLst xmlns:a="http://schemas.openxmlformats.org/drawingml/2006/main">
              <a:ext uri="{FF2B5EF4-FFF2-40B4-BE49-F238E27FC236}">
                <a16:creationId xmlns:a16="http://schemas.microsoft.com/office/drawing/2014/main" id="{93AD3001-C6D3-42B6-ACA2-E529648CDFCB}"/>
              </a:ext>
            </a:extLst>
          </p:cNvPr>
          <p:cNvSpPr>
            <a:spLocks xmlns:a="http://schemas.openxmlformats.org/drawingml/2006/main" noGrp="1"/>
          </p:cNvSpPr>
          <p:nvPr/>
        </p:nvSpPr>
        <p:spPr>
          <a:xfrm xmlns:a="http://schemas.openxmlformats.org/drawingml/2006/main">
            <a:off x="6238875" y="3409950"/>
            <a:ext cx="5286375" cy="876300"/>
          </a:xfrm>
          <a:prstGeom xmlns:a="http://schemas.openxmlformats.org/drawingml/2006/main" prst="rect">
            <a:avLst/>
          </a:prstGeom>
          <a:solidFill xmlns:a="http://schemas.openxmlformats.org/drawingml/2006/main">
            <a:srgbClr val="FFE6DF"/>
          </a:solidFill>
          <a:ln xmlns:a="http://schemas.openxmlformats.org/drawingml/2006/main" w="0">
            <a:solidFill>
              <a:srgbClr val="FFE6DF"/>
            </a:solidFill>
          </a:ln>
        </p:spPr>
      </p:sp>
      <p:sp>
        <p:nvSpPr>
          <p:cNvPr id="20" name="">
            <a:extLst xmlns:a="http://schemas.openxmlformats.org/drawingml/2006/main">
              <a:ext uri="{FF2B5EF4-FFF2-40B4-BE49-F238E27FC236}">
                <a16:creationId xmlns:a16="http://schemas.microsoft.com/office/drawing/2014/main" id="{92098884-0CC7-4816-9257-906F231F8F78}"/>
              </a:ext>
            </a:extLst>
          </p:cNvPr>
          <p:cNvSpPr>
            <a:spLocks xmlns:a="http://schemas.openxmlformats.org/drawingml/2006/main" noGrp="1"/>
          </p:cNvSpPr>
          <p:nvPr/>
        </p:nvSpPr>
        <p:spPr>
          <a:xfrm xmlns:a="http://schemas.openxmlformats.org/drawingml/2006/main">
            <a:off x="6429375" y="35528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BIGGEST STRATEGIC WEAKNESS  H</a:t>
            </a:r>
          </a:p>
        </p:txBody>
      </p:sp>
      <p:sp>
        <p:nvSpPr>
          <p:cNvPr id="21" name="">
            <a:extLst xmlns:a="http://schemas.openxmlformats.org/drawingml/2006/main">
              <a:ext uri="{FF2B5EF4-FFF2-40B4-BE49-F238E27FC236}">
                <a16:creationId xmlns:a16="http://schemas.microsoft.com/office/drawing/2014/main" id="{F4C3720A-774D-486E-B770-78FA2053116A}"/>
              </a:ext>
            </a:extLst>
          </p:cNvPr>
          <p:cNvSpPr>
            <a:spLocks xmlns:a="http://schemas.openxmlformats.org/drawingml/2006/main" noGrp="1"/>
          </p:cNvSpPr>
          <p:nvPr/>
        </p:nvSpPr>
        <p:spPr>
          <a:xfrm xmlns:a="http://schemas.openxmlformats.org/drawingml/2006/main">
            <a:off x="6429375" y="37814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11315"/>
                </a:solidFill>
                <a:latin typeface="Arial"/>
                <a:ea typeface="Arial"/>
                <a:cs typeface="Arial"/>
              </a:defRPr>
            </a:pPr>
            <a:r>
              <a:rPr sz="1575" b="1">
                <a:solidFill>
                  <a:srgbClr val="111315"/>
                </a:solidFill>
                <a:latin typeface="Arial"/>
                <a:ea typeface="Arial"/>
                <a:cs typeface="Arial"/>
              </a:rPr>
              <a:t>Heavy tuning or middleware weakens the promise of simple outcome based automation.</a:t>
            </a:r>
          </a:p>
        </p:txBody>
      </p:sp>
      <p:sp>
        <p:nvSpPr>
          <p:cNvPr id="22" name="">
            <a:extLst xmlns:a="http://schemas.openxmlformats.org/drawingml/2006/main">
              <a:ext uri="{FF2B5EF4-FFF2-40B4-BE49-F238E27FC236}">
                <a16:creationId xmlns:a16="http://schemas.microsoft.com/office/drawing/2014/main" id="{6F45F19B-70C6-4163-90FE-9113675A4C29}"/>
              </a:ext>
            </a:extLst>
          </p:cNvPr>
          <p:cNvSpPr>
            <a:spLocks xmlns:a="http://schemas.openxmlformats.org/drawingml/2006/main" noGrp="1"/>
          </p:cNvSpPr>
          <p:nvPr/>
        </p:nvSpPr>
        <p:spPr>
          <a:xfrm xmlns:a="http://schemas.openxmlformats.org/drawingml/2006/main">
            <a:off x="552450" y="454342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VALUE CREATION LENS</a:t>
            </a:r>
          </a:p>
        </p:txBody>
      </p:sp>
      <p:sp>
        <p:nvSpPr>
          <p:cNvPr id="23" name="">
            <a:extLst xmlns:a="http://schemas.openxmlformats.org/drawingml/2006/main">
              <a:ext uri="{FF2B5EF4-FFF2-40B4-BE49-F238E27FC236}">
                <a16:creationId xmlns:a16="http://schemas.microsoft.com/office/drawing/2014/main" id="{0FC010E0-EFDD-4B09-9787-6EFA66FFC77D}"/>
              </a:ext>
            </a:extLst>
          </p:cNvPr>
          <p:cNvSpPr>
            <a:spLocks xmlns:a="http://schemas.openxmlformats.org/drawingml/2006/main" noGrp="1"/>
          </p:cNvSpPr>
          <p:nvPr/>
        </p:nvSpPr>
        <p:spPr>
          <a:xfrm xmlns:a="http://schemas.openxmlformats.org/drawingml/2006/main">
            <a:off x="5524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USER</a:t>
            </a:r>
          </a:p>
        </p:txBody>
      </p:sp>
      <p:sp>
        <p:nvSpPr>
          <p:cNvPr id="24" name="">
            <a:extLst xmlns:a="http://schemas.openxmlformats.org/drawingml/2006/main">
              <a:ext uri="{FF2B5EF4-FFF2-40B4-BE49-F238E27FC236}">
                <a16:creationId xmlns:a16="http://schemas.microsoft.com/office/drawing/2014/main" id="{D38B22D2-BAC1-4CBA-8E65-A7CB25A8B7CB}"/>
              </a:ext>
            </a:extLst>
          </p:cNvPr>
          <p:cNvSpPr>
            <a:spLocks xmlns:a="http://schemas.openxmlformats.org/drawingml/2006/main" noGrp="1"/>
          </p:cNvSpPr>
          <p:nvPr/>
        </p:nvSpPr>
        <p:spPr>
          <a:xfrm xmlns:a="http://schemas.openxmlformats.org/drawingml/2006/main">
            <a:off x="5524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Customer, agent, support operations, knowledge admin</a:t>
            </a:r>
          </a:p>
        </p:txBody>
      </p:sp>
      <p:sp>
        <p:nvSpPr>
          <p:cNvPr id="25" name="">
            <a:extLst xmlns:a="http://schemas.openxmlformats.org/drawingml/2006/main">
              <a:ext uri="{FF2B5EF4-FFF2-40B4-BE49-F238E27FC236}">
                <a16:creationId xmlns:a16="http://schemas.microsoft.com/office/drawing/2014/main" id="{ECC31A3E-13A9-463E-AD12-68B509D2DBF7}"/>
              </a:ext>
            </a:extLst>
          </p:cNvPr>
          <p:cNvSpPr>
            <a:spLocks xmlns:a="http://schemas.openxmlformats.org/drawingml/2006/main" noGrp="1"/>
          </p:cNvSpPr>
          <p:nvPr/>
        </p:nvSpPr>
        <p:spPr>
          <a:xfrm xmlns:a="http://schemas.openxmlformats.org/drawingml/2006/main">
            <a:off x="26479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6" name="">
            <a:extLst xmlns:a="http://schemas.openxmlformats.org/drawingml/2006/main">
              <a:ext uri="{FF2B5EF4-FFF2-40B4-BE49-F238E27FC236}">
                <a16:creationId xmlns:a16="http://schemas.microsoft.com/office/drawing/2014/main" id="{434E84DB-B778-4AA7-92CA-67C4A154A043}"/>
              </a:ext>
            </a:extLst>
          </p:cNvPr>
          <p:cNvSpPr>
            <a:spLocks xmlns:a="http://schemas.openxmlformats.org/drawingml/2006/main" noGrp="1"/>
          </p:cNvSpPr>
          <p:nvPr/>
        </p:nvSpPr>
        <p:spPr>
          <a:xfrm xmlns:a="http://schemas.openxmlformats.org/drawingml/2006/main">
            <a:off x="27622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JOB</a:t>
            </a:r>
          </a:p>
        </p:txBody>
      </p:sp>
      <p:sp>
        <p:nvSpPr>
          <p:cNvPr id="27" name="">
            <a:extLst xmlns:a="http://schemas.openxmlformats.org/drawingml/2006/main">
              <a:ext uri="{FF2B5EF4-FFF2-40B4-BE49-F238E27FC236}">
                <a16:creationId xmlns:a16="http://schemas.microsoft.com/office/drawing/2014/main" id="{F8D55224-0766-4945-89C2-4BB32077F1A2}"/>
              </a:ext>
            </a:extLst>
          </p:cNvPr>
          <p:cNvSpPr>
            <a:spLocks xmlns:a="http://schemas.openxmlformats.org/drawingml/2006/main" noGrp="1"/>
          </p:cNvSpPr>
          <p:nvPr/>
        </p:nvSpPr>
        <p:spPr>
          <a:xfrm xmlns:a="http://schemas.openxmlformats.org/drawingml/2006/main">
            <a:off x="27622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Resolve requests and improve automation without rebuilding the support stack</a:t>
            </a:r>
          </a:p>
        </p:txBody>
      </p:sp>
      <p:sp>
        <p:nvSpPr>
          <p:cNvPr id="28" name="">
            <a:extLst xmlns:a="http://schemas.openxmlformats.org/drawingml/2006/main">
              <a:ext uri="{FF2B5EF4-FFF2-40B4-BE49-F238E27FC236}">
                <a16:creationId xmlns:a16="http://schemas.microsoft.com/office/drawing/2014/main" id="{DBFA05C6-BCE1-4BF3-BE09-8C2FB31D7E3B}"/>
              </a:ext>
            </a:extLst>
          </p:cNvPr>
          <p:cNvSpPr>
            <a:spLocks xmlns:a="http://schemas.openxmlformats.org/drawingml/2006/main" noGrp="1"/>
          </p:cNvSpPr>
          <p:nvPr/>
        </p:nvSpPr>
        <p:spPr>
          <a:xfrm xmlns:a="http://schemas.openxmlformats.org/drawingml/2006/main">
            <a:off x="48577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9" name="">
            <a:extLst xmlns:a="http://schemas.openxmlformats.org/drawingml/2006/main">
              <a:ext uri="{FF2B5EF4-FFF2-40B4-BE49-F238E27FC236}">
                <a16:creationId xmlns:a16="http://schemas.microsoft.com/office/drawing/2014/main" id="{93E931B9-C985-43A7-BB0E-7EC4B58334EA}"/>
              </a:ext>
            </a:extLst>
          </p:cNvPr>
          <p:cNvSpPr>
            <a:spLocks xmlns:a="http://schemas.openxmlformats.org/drawingml/2006/main" noGrp="1"/>
          </p:cNvSpPr>
          <p:nvPr/>
        </p:nvSpPr>
        <p:spPr>
          <a:xfrm xmlns:a="http://schemas.openxmlformats.org/drawingml/2006/main">
            <a:off x="49720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TRIGGER</a:t>
            </a:r>
          </a:p>
        </p:txBody>
      </p:sp>
      <p:sp>
        <p:nvSpPr>
          <p:cNvPr id="30" name="">
            <a:extLst xmlns:a="http://schemas.openxmlformats.org/drawingml/2006/main">
              <a:ext uri="{FF2B5EF4-FFF2-40B4-BE49-F238E27FC236}">
                <a16:creationId xmlns:a16="http://schemas.microsoft.com/office/drawing/2014/main" id="{EB129DAD-861D-48B8-A691-D864DAA79CA5}"/>
              </a:ext>
            </a:extLst>
          </p:cNvPr>
          <p:cNvSpPr>
            <a:spLocks xmlns:a="http://schemas.openxmlformats.org/drawingml/2006/main" noGrp="1"/>
          </p:cNvSpPr>
          <p:nvPr/>
        </p:nvSpPr>
        <p:spPr>
          <a:xfrm xmlns:a="http://schemas.openxmlformats.org/drawingml/2006/main">
            <a:off x="49720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Rising volume or cost, demand for 24 hour answers, migration resistance</a:t>
            </a:r>
          </a:p>
        </p:txBody>
      </p:sp>
      <p:sp>
        <p:nvSpPr>
          <p:cNvPr id="31" name="">
            <a:extLst xmlns:a="http://schemas.openxmlformats.org/drawingml/2006/main">
              <a:ext uri="{FF2B5EF4-FFF2-40B4-BE49-F238E27FC236}">
                <a16:creationId xmlns:a16="http://schemas.microsoft.com/office/drawing/2014/main" id="{A5D6B961-CBA5-4D7A-B531-5439E540C545}"/>
              </a:ext>
            </a:extLst>
          </p:cNvPr>
          <p:cNvSpPr>
            <a:spLocks xmlns:a="http://schemas.openxmlformats.org/drawingml/2006/main" noGrp="1"/>
          </p:cNvSpPr>
          <p:nvPr/>
        </p:nvSpPr>
        <p:spPr>
          <a:xfrm xmlns:a="http://schemas.openxmlformats.org/drawingml/2006/main">
            <a:off x="70675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2" name="">
            <a:extLst xmlns:a="http://schemas.openxmlformats.org/drawingml/2006/main">
              <a:ext uri="{FF2B5EF4-FFF2-40B4-BE49-F238E27FC236}">
                <a16:creationId xmlns:a16="http://schemas.microsoft.com/office/drawing/2014/main" id="{2CE53C1F-7AF9-4A71-ACCE-FE9C497D5308}"/>
              </a:ext>
            </a:extLst>
          </p:cNvPr>
          <p:cNvSpPr>
            <a:spLocks xmlns:a="http://schemas.openxmlformats.org/drawingml/2006/main" noGrp="1"/>
          </p:cNvSpPr>
          <p:nvPr/>
        </p:nvSpPr>
        <p:spPr>
          <a:xfrm xmlns:a="http://schemas.openxmlformats.org/drawingml/2006/main">
            <a:off x="71818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EXPERIENCE</a:t>
            </a:r>
          </a:p>
        </p:txBody>
      </p:sp>
      <p:sp>
        <p:nvSpPr>
          <p:cNvPr id="33" name="">
            <a:extLst xmlns:a="http://schemas.openxmlformats.org/drawingml/2006/main">
              <a:ext uri="{FF2B5EF4-FFF2-40B4-BE49-F238E27FC236}">
                <a16:creationId xmlns:a16="http://schemas.microsoft.com/office/drawing/2014/main" id="{7F10FE92-7D75-44C2-91C4-9D1860CCABF8}"/>
              </a:ext>
            </a:extLst>
          </p:cNvPr>
          <p:cNvSpPr>
            <a:spLocks xmlns:a="http://schemas.openxmlformats.org/drawingml/2006/main" noGrp="1"/>
          </p:cNvSpPr>
          <p:nvPr/>
        </p:nvSpPr>
        <p:spPr>
          <a:xfrm xmlns:a="http://schemas.openxmlformats.org/drawingml/2006/main">
            <a:off x="71818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Fast AI resolution and simulation. Friction in tuning, handoff context, and sequential actions</a:t>
            </a:r>
          </a:p>
        </p:txBody>
      </p:sp>
      <p:sp>
        <p:nvSpPr>
          <p:cNvPr id="34" name="">
            <a:extLst xmlns:a="http://schemas.openxmlformats.org/drawingml/2006/main">
              <a:ext uri="{FF2B5EF4-FFF2-40B4-BE49-F238E27FC236}">
                <a16:creationId xmlns:a16="http://schemas.microsoft.com/office/drawing/2014/main" id="{22ED46FB-BA8F-4B4B-AA38-F25724DCFBFA}"/>
              </a:ext>
            </a:extLst>
          </p:cNvPr>
          <p:cNvSpPr>
            <a:spLocks xmlns:a="http://schemas.openxmlformats.org/drawingml/2006/main" noGrp="1"/>
          </p:cNvSpPr>
          <p:nvPr/>
        </p:nvSpPr>
        <p:spPr>
          <a:xfrm xmlns:a="http://schemas.openxmlformats.org/drawingml/2006/main">
            <a:off x="92773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5" name="">
            <a:extLst xmlns:a="http://schemas.openxmlformats.org/drawingml/2006/main">
              <a:ext uri="{FF2B5EF4-FFF2-40B4-BE49-F238E27FC236}">
                <a16:creationId xmlns:a16="http://schemas.microsoft.com/office/drawing/2014/main" id="{9F847A31-C056-42E1-997C-E3387F83FC1A}"/>
              </a:ext>
            </a:extLst>
          </p:cNvPr>
          <p:cNvSpPr>
            <a:spLocks xmlns:a="http://schemas.openxmlformats.org/drawingml/2006/main" noGrp="1"/>
          </p:cNvSpPr>
          <p:nvPr/>
        </p:nvSpPr>
        <p:spPr>
          <a:xfrm xmlns:a="http://schemas.openxmlformats.org/drawingml/2006/main">
            <a:off x="93916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BUSINESS</a:t>
            </a:r>
          </a:p>
        </p:txBody>
      </p:sp>
      <p:sp>
        <p:nvSpPr>
          <p:cNvPr id="36" name="">
            <a:extLst xmlns:a="http://schemas.openxmlformats.org/drawingml/2006/main">
              <a:ext uri="{FF2B5EF4-FFF2-40B4-BE49-F238E27FC236}">
                <a16:creationId xmlns:a16="http://schemas.microsoft.com/office/drawing/2014/main" id="{122043D5-3DD8-4050-870E-D8C3C6A50C80}"/>
              </a:ext>
            </a:extLst>
          </p:cNvPr>
          <p:cNvSpPr>
            <a:spLocks xmlns:a="http://schemas.openxmlformats.org/drawingml/2006/main" noGrp="1"/>
          </p:cNvSpPr>
          <p:nvPr/>
        </p:nvSpPr>
        <p:spPr>
          <a:xfrm xmlns:a="http://schemas.openxmlformats.org/drawingml/2006/main">
            <a:off x="93916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Outcome fees scale with conversation volume. Seats and AI operations expand revenue</a:t>
            </a:r>
          </a:p>
        </p:txBody>
      </p:sp>
    </p:spTree>
    <p:extLst>
      <p:ext uri="{BB962C8B-B14F-4D97-AF65-F5344CB8AC3E}">
        <p14:creationId xmlns:p14="http://schemas.microsoft.com/office/powerpoint/2010/main" val="130855320"/>
      </p:ext>
    </p:extLst>
  </p:cSld>
</p:sld>
</file>

<file path=ppt/slides/slide5.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12C3B30-2D99-4294-B40F-30CB7FE2C89C}"/>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Zendesk AI</a:t>
            </a:r>
          </a:p>
        </p:txBody>
      </p:sp>
      <p:sp>
        <p:nvSpPr>
          <p:cNvPr id="2" name="">
            <a:extLst xmlns:a="http://schemas.openxmlformats.org/drawingml/2006/main">
              <a:ext uri="{FF2B5EF4-FFF2-40B4-BE49-F238E27FC236}">
                <a16:creationId xmlns:a16="http://schemas.microsoft.com/office/drawing/2014/main" id="{613993E6-465D-4EA3-A637-48D5A9CB4753}"/>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7E6E1E4E-909B-4079-B43A-CADB8A7F41C7}"/>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V4, V5, R3, R4. V gives public claims. R gives selected friction signals. H gives strategic inference.</a:t>
            </a:r>
          </a:p>
        </p:txBody>
      </p:sp>
      <p:sp>
        <p:nvSpPr>
          <p:cNvPr id="4" name="">
            <a:extLst xmlns:a="http://schemas.openxmlformats.org/drawingml/2006/main">
              <a:ext uri="{FF2B5EF4-FFF2-40B4-BE49-F238E27FC236}">
                <a16:creationId xmlns:a16="http://schemas.microsoft.com/office/drawing/2014/main" id="{7FDB8A0B-74A2-4735-86F1-7424D30DCA6F}"/>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B4EAC56-7FA3-4902-8019-5C916A8568BA}"/>
              </a:ext>
            </a:extLst>
          </p:cNvPr>
          <p:cNvSpPr>
            <a:spLocks xmlns:a="http://schemas.openxmlformats.org/drawingml/2006/main" noGrp="1"/>
          </p:cNvSpPr>
          <p:nvPr/>
        </p:nvSpPr>
        <p:spPr>
          <a:xfrm xmlns:a="http://schemas.openxmlformats.org/drawingml/2006/main">
            <a:off x="552450" y="1104900"/>
            <a:ext cx="76200" cy="2876550"/>
          </a:xfrm>
          <a:prstGeom xmlns:a="http://schemas.openxmlformats.org/drawingml/2006/main" prst="rect">
            <a:avLst/>
          </a:prstGeom>
          <a:solidFill xmlns:a="http://schemas.openxmlformats.org/drawingml/2006/main">
            <a:srgbClr val="6C44C5"/>
          </a:solidFill>
          <a:ln xmlns:a="http://schemas.openxmlformats.org/drawingml/2006/main" w="0">
            <a:solidFill>
              <a:srgbClr val="6C44C5"/>
            </a:solidFill>
          </a:ln>
        </p:spPr>
      </p:sp>
      <p:sp>
        <p:nvSpPr>
          <p:cNvPr id="6" name="">
            <a:extLst xmlns:a="http://schemas.openxmlformats.org/drawingml/2006/main">
              <a:ext uri="{FF2B5EF4-FFF2-40B4-BE49-F238E27FC236}">
                <a16:creationId xmlns:a16="http://schemas.microsoft.com/office/drawing/2014/main" id="{0CE51E1F-2473-43FB-8F2C-CC6FF93B4A60}"/>
              </a:ext>
            </a:extLst>
          </p:cNvPr>
          <p:cNvSpPr>
            <a:spLocks xmlns:a="http://schemas.openxmlformats.org/drawingml/2006/main" noGrp="1"/>
          </p:cNvSpPr>
          <p:nvPr/>
        </p:nvSpPr>
        <p:spPr>
          <a:xfrm xmlns:a="http://schemas.openxmlformats.org/drawingml/2006/main">
            <a:off x="819150" y="1143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C44C5"/>
                </a:solidFill>
                <a:latin typeface="Arial"/>
                <a:ea typeface="Arial"/>
                <a:cs typeface="Arial"/>
              </a:defRPr>
            </a:pPr>
            <a:r>
              <a:rPr sz="1125" b="1">
                <a:solidFill>
                  <a:srgbClr val="6C44C5"/>
                </a:solidFill>
                <a:latin typeface="Arial"/>
                <a:ea typeface="Arial"/>
                <a:cs typeface="Arial"/>
              </a:rPr>
              <a:t>CUSTOMER  H</a:t>
            </a:r>
          </a:p>
        </p:txBody>
      </p:sp>
      <p:sp>
        <p:nvSpPr>
          <p:cNvPr id="7" name="">
            <a:extLst xmlns:a="http://schemas.openxmlformats.org/drawingml/2006/main">
              <a:ext uri="{FF2B5EF4-FFF2-40B4-BE49-F238E27FC236}">
                <a16:creationId xmlns:a16="http://schemas.microsoft.com/office/drawing/2014/main" id="{6B66704D-13E3-4F51-96F5-38E815732C5B}"/>
              </a:ext>
            </a:extLst>
          </p:cNvPr>
          <p:cNvSpPr>
            <a:spLocks xmlns:a="http://schemas.openxmlformats.org/drawingml/2006/main" noGrp="1"/>
          </p:cNvSpPr>
          <p:nvPr/>
        </p:nvSpPr>
        <p:spPr>
          <a:xfrm xmlns:a="http://schemas.openxmlformats.org/drawingml/2006/main">
            <a:off x="819150" y="13525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11315"/>
                </a:solidFill>
                <a:latin typeface="Arial"/>
                <a:ea typeface="Arial"/>
                <a:cs typeface="Arial"/>
              </a:defRPr>
            </a:pPr>
            <a:r>
              <a:rPr sz="1425" b="0">
                <a:solidFill>
                  <a:srgbClr val="111315"/>
                </a:solidFill>
                <a:latin typeface="Arial"/>
                <a:ea typeface="Arial"/>
                <a:cs typeface="Arial"/>
              </a:rPr>
              <a:t>Support organisations that need durable ticketing, SLAs, routing, channels, and enterprise administration.</a:t>
            </a:r>
          </a:p>
        </p:txBody>
      </p:sp>
      <p:sp>
        <p:nvSpPr>
          <p:cNvPr id="8" name="">
            <a:extLst xmlns:a="http://schemas.openxmlformats.org/drawingml/2006/main">
              <a:ext uri="{FF2B5EF4-FFF2-40B4-BE49-F238E27FC236}">
                <a16:creationId xmlns:a16="http://schemas.microsoft.com/office/drawing/2014/main" id="{1E3A7966-7857-4C36-8E3B-8F385475ED4E}"/>
              </a:ext>
            </a:extLst>
          </p:cNvPr>
          <p:cNvSpPr>
            <a:spLocks xmlns:a="http://schemas.openxmlformats.org/drawingml/2006/main" noGrp="1"/>
          </p:cNvSpPr>
          <p:nvPr/>
        </p:nvSpPr>
        <p:spPr>
          <a:xfrm xmlns:a="http://schemas.openxmlformats.org/drawingml/2006/main">
            <a:off x="819150" y="20574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C44C5"/>
                </a:solidFill>
                <a:latin typeface="Arial"/>
                <a:ea typeface="Arial"/>
                <a:cs typeface="Arial"/>
              </a:defRPr>
            </a:pPr>
            <a:r>
              <a:rPr sz="1125" b="1">
                <a:solidFill>
                  <a:srgbClr val="6C44C5"/>
                </a:solidFill>
                <a:latin typeface="Arial"/>
                <a:ea typeface="Arial"/>
                <a:cs typeface="Arial"/>
              </a:rPr>
              <a:t>PROMISE  V</a:t>
            </a:r>
          </a:p>
        </p:txBody>
      </p:sp>
      <p:sp>
        <p:nvSpPr>
          <p:cNvPr id="9" name="">
            <a:extLst xmlns:a="http://schemas.openxmlformats.org/drawingml/2006/main">
              <a:ext uri="{FF2B5EF4-FFF2-40B4-BE49-F238E27FC236}">
                <a16:creationId xmlns:a16="http://schemas.microsoft.com/office/drawing/2014/main" id="{8629704C-1536-4B51-B872-C7E991792D23}"/>
              </a:ext>
            </a:extLst>
          </p:cNvPr>
          <p:cNvSpPr>
            <a:spLocks xmlns:a="http://schemas.openxmlformats.org/drawingml/2006/main" noGrp="1"/>
          </p:cNvSpPr>
          <p:nvPr/>
        </p:nvSpPr>
        <p:spPr>
          <a:xfrm xmlns:a="http://schemas.openxmlformats.org/drawingml/2006/main">
            <a:off x="819150" y="22669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Complete customer service operations with AI inside the workflows teams already use.</a:t>
            </a:r>
          </a:p>
        </p:txBody>
      </p:sp>
      <p:sp>
        <p:nvSpPr>
          <p:cNvPr id="10" name="">
            <a:extLst xmlns:a="http://schemas.openxmlformats.org/drawingml/2006/main">
              <a:ext uri="{FF2B5EF4-FFF2-40B4-BE49-F238E27FC236}">
                <a16:creationId xmlns:a16="http://schemas.microsoft.com/office/drawing/2014/main" id="{879B48E9-0F79-4CAF-9E6B-1E51AC0EE1F5}"/>
              </a:ext>
            </a:extLst>
          </p:cNvPr>
          <p:cNvSpPr>
            <a:spLocks xmlns:a="http://schemas.openxmlformats.org/drawingml/2006/main" noGrp="1"/>
          </p:cNvSpPr>
          <p:nvPr/>
        </p:nvSpPr>
        <p:spPr>
          <a:xfrm xmlns:a="http://schemas.openxmlformats.org/drawingml/2006/main">
            <a:off x="819150" y="27051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C44C5"/>
                </a:solidFill>
                <a:latin typeface="Arial"/>
                <a:ea typeface="Arial"/>
                <a:cs typeface="Arial"/>
              </a:defRPr>
            </a:pPr>
            <a:r>
              <a:rPr sz="1125" b="1">
                <a:solidFill>
                  <a:srgbClr val="6C44C5"/>
                </a:solidFill>
                <a:latin typeface="Arial"/>
                <a:ea typeface="Arial"/>
                <a:cs typeface="Arial"/>
              </a:rPr>
              <a:t>MODEL  V + H</a:t>
            </a:r>
          </a:p>
        </p:txBody>
      </p:sp>
      <p:sp>
        <p:nvSpPr>
          <p:cNvPr id="11" name="">
            <a:extLst xmlns:a="http://schemas.openxmlformats.org/drawingml/2006/main">
              <a:ext uri="{FF2B5EF4-FFF2-40B4-BE49-F238E27FC236}">
                <a16:creationId xmlns:a16="http://schemas.microsoft.com/office/drawing/2014/main" id="{BADFEB4C-7CAF-47DD-A997-3538DE2B3205}"/>
              </a:ext>
            </a:extLst>
          </p:cNvPr>
          <p:cNvSpPr>
            <a:spLocks xmlns:a="http://schemas.openxmlformats.org/drawingml/2006/main" noGrp="1"/>
          </p:cNvSpPr>
          <p:nvPr/>
        </p:nvSpPr>
        <p:spPr>
          <a:xfrm xmlns:a="http://schemas.openxmlformats.org/drawingml/2006/main">
            <a:off x="819150" y="29146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315"/>
                </a:solidFill>
                <a:latin typeface="Arial"/>
                <a:ea typeface="Arial"/>
                <a:cs typeface="Arial"/>
              </a:defRPr>
            </a:pPr>
            <a:r>
              <a:rPr sz="1350" b="0">
                <a:solidFill>
                  <a:srgbClr val="111315"/>
                </a:solidFill>
                <a:latin typeface="Arial"/>
                <a:ea typeface="Arial"/>
                <a:cs typeface="Arial"/>
              </a:rPr>
              <a:t>Land with ticketing or a trial. Suite, AI, Copilot, and contact centre expand revenue. Configured service operations retain accounts.</a:t>
            </a:r>
          </a:p>
        </p:txBody>
      </p:sp>
      <p:sp>
        <p:nvSpPr>
          <p:cNvPr id="12" name="">
            <a:extLst xmlns:a="http://schemas.openxmlformats.org/drawingml/2006/main">
              <a:ext uri="{FF2B5EF4-FFF2-40B4-BE49-F238E27FC236}">
                <a16:creationId xmlns:a16="http://schemas.microsoft.com/office/drawing/2014/main" id="{E14EACF1-A85C-439B-A043-C438887477B8}"/>
              </a:ext>
            </a:extLst>
          </p:cNvPr>
          <p:cNvSpPr>
            <a:spLocks xmlns:a="http://schemas.openxmlformats.org/drawingml/2006/main" noGrp="1"/>
          </p:cNvSpPr>
          <p:nvPr/>
        </p:nvSpPr>
        <p:spPr>
          <a:xfrm xmlns:a="http://schemas.openxmlformats.org/drawingml/2006/main">
            <a:off x="819150" y="36195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C44C5"/>
                </a:solidFill>
                <a:latin typeface="Arial"/>
                <a:ea typeface="Arial"/>
                <a:cs typeface="Arial"/>
              </a:defRPr>
            </a:pPr>
            <a:r>
              <a:rPr sz="1125" b="1">
                <a:solidFill>
                  <a:srgbClr val="6C44C5"/>
                </a:solidFill>
                <a:latin typeface="Arial"/>
                <a:ea typeface="Arial"/>
                <a:cs typeface="Arial"/>
              </a:rPr>
              <a:t>WEAKNESS  R + H</a:t>
            </a:r>
          </a:p>
        </p:txBody>
      </p:sp>
      <p:sp>
        <p:nvSpPr>
          <p:cNvPr id="13" name="">
            <a:extLst xmlns:a="http://schemas.openxmlformats.org/drawingml/2006/main">
              <a:ext uri="{FF2B5EF4-FFF2-40B4-BE49-F238E27FC236}">
                <a16:creationId xmlns:a16="http://schemas.microsoft.com/office/drawing/2014/main" id="{73D4D242-0A02-4A2C-91E7-A9763F424F50}"/>
              </a:ext>
            </a:extLst>
          </p:cNvPr>
          <p:cNvSpPr>
            <a:spLocks xmlns:a="http://schemas.openxmlformats.org/drawingml/2006/main" noGrp="1"/>
          </p:cNvSpPr>
          <p:nvPr/>
        </p:nvSpPr>
        <p:spPr>
          <a:xfrm xmlns:a="http://schemas.openxmlformats.org/drawingml/2006/main">
            <a:off x="819150" y="38290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315"/>
                </a:solidFill>
                <a:latin typeface="Arial"/>
                <a:ea typeface="Arial"/>
                <a:cs typeface="Arial"/>
              </a:defRPr>
            </a:pPr>
            <a:r>
              <a:rPr sz="1350" b="0">
                <a:solidFill>
                  <a:srgbClr val="111315"/>
                </a:solidFill>
                <a:latin typeface="Arial"/>
                <a:ea typeface="Arial"/>
                <a:cs typeface="Arial"/>
              </a:rPr>
              <a:t>Product breadth can create configuration, reporting, integration, packaging, and total cost complexity.</a:t>
            </a:r>
          </a:p>
        </p:txBody>
      </p:sp>
      <p:sp>
        <p:nvSpPr>
          <p:cNvPr id="14" name="">
            <a:extLst xmlns:a="http://schemas.openxmlformats.org/drawingml/2006/main">
              <a:ext uri="{FF2B5EF4-FFF2-40B4-BE49-F238E27FC236}">
                <a16:creationId xmlns:a16="http://schemas.microsoft.com/office/drawing/2014/main" id="{EBEDB4B9-C1A4-40B8-96C7-36271CF4CDFF}"/>
              </a:ext>
            </a:extLst>
          </p:cNvPr>
          <p:cNvSpPr>
            <a:spLocks xmlns:a="http://schemas.openxmlformats.org/drawingml/2006/main" noGrp="1"/>
          </p:cNvSpPr>
          <p:nvPr/>
        </p:nvSpPr>
        <p:spPr>
          <a:xfrm xmlns:a="http://schemas.openxmlformats.org/drawingml/2006/main">
            <a:off x="6238875" y="11430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C44C5"/>
                </a:solidFill>
                <a:latin typeface="Arial"/>
                <a:ea typeface="Arial"/>
                <a:cs typeface="Arial"/>
              </a:defRPr>
            </a:pPr>
            <a:r>
              <a:rPr sz="1125" b="1">
                <a:solidFill>
                  <a:srgbClr val="6C44C5"/>
                </a:solidFill>
                <a:latin typeface="Arial"/>
                <a:ea typeface="Arial"/>
                <a:cs typeface="Arial"/>
              </a:rPr>
              <a:t>ENTRY WEDGE  H</a:t>
            </a:r>
          </a:p>
        </p:txBody>
      </p:sp>
      <p:sp>
        <p:nvSpPr>
          <p:cNvPr id="15" name="">
            <a:extLst xmlns:a="http://schemas.openxmlformats.org/drawingml/2006/main">
              <a:ext uri="{FF2B5EF4-FFF2-40B4-BE49-F238E27FC236}">
                <a16:creationId xmlns:a16="http://schemas.microsoft.com/office/drawing/2014/main" id="{C24301D8-5BC6-4567-BD84-E498CC692EC4}"/>
              </a:ext>
            </a:extLst>
          </p:cNvPr>
          <p:cNvSpPr>
            <a:spLocks xmlns:a="http://schemas.openxmlformats.org/drawingml/2006/main" noGrp="1"/>
          </p:cNvSpPr>
          <p:nvPr/>
        </p:nvSpPr>
        <p:spPr>
          <a:xfrm xmlns:a="http://schemas.openxmlformats.org/drawingml/2006/main">
            <a:off x="6238875" y="1390650"/>
            <a:ext cx="5286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11315"/>
                </a:solidFill>
                <a:latin typeface="Arial"/>
                <a:ea typeface="Arial"/>
                <a:cs typeface="Arial"/>
              </a:defRPr>
            </a:pPr>
            <a:r>
              <a:rPr sz="1800" b="1">
                <a:solidFill>
                  <a:srgbClr val="111315"/>
                </a:solidFill>
                <a:latin typeface="Arial"/>
                <a:ea typeface="Arial"/>
                <a:cs typeface="Arial"/>
              </a:rPr>
              <a:t>Trusted ticketing system of record with an accessible entry tier.</a:t>
            </a:r>
          </a:p>
        </p:txBody>
      </p:sp>
      <p:sp>
        <p:nvSpPr>
          <p:cNvPr id="16" name="">
            <a:extLst xmlns:a="http://schemas.openxmlformats.org/drawingml/2006/main">
              <a:ext uri="{FF2B5EF4-FFF2-40B4-BE49-F238E27FC236}">
                <a16:creationId xmlns:a16="http://schemas.microsoft.com/office/drawing/2014/main" id="{E2B58A7C-C855-420A-810F-F56B3393B106}"/>
              </a:ext>
            </a:extLst>
          </p:cNvPr>
          <p:cNvSpPr>
            <a:spLocks xmlns:a="http://schemas.openxmlformats.org/drawingml/2006/main" noGrp="1"/>
          </p:cNvSpPr>
          <p:nvPr/>
        </p:nvSpPr>
        <p:spPr>
          <a:xfrm xmlns:a="http://schemas.openxmlformats.org/drawingml/2006/main">
            <a:off x="6238875" y="2076450"/>
            <a:ext cx="5286375"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7" name="">
            <a:extLst xmlns:a="http://schemas.openxmlformats.org/drawingml/2006/main">
              <a:ext uri="{FF2B5EF4-FFF2-40B4-BE49-F238E27FC236}">
                <a16:creationId xmlns:a16="http://schemas.microsoft.com/office/drawing/2014/main" id="{45BBAE6A-6E42-474F-9F50-FCE6145A67FE}"/>
              </a:ext>
            </a:extLst>
          </p:cNvPr>
          <p:cNvSpPr>
            <a:spLocks xmlns:a="http://schemas.openxmlformats.org/drawingml/2006/main" noGrp="1"/>
          </p:cNvSpPr>
          <p:nvPr/>
        </p:nvSpPr>
        <p:spPr>
          <a:xfrm xmlns:a="http://schemas.openxmlformats.org/drawingml/2006/main">
            <a:off x="6238875" y="22860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C44C5"/>
                </a:solidFill>
                <a:latin typeface="Arial"/>
                <a:ea typeface="Arial"/>
                <a:cs typeface="Arial"/>
              </a:defRPr>
            </a:pPr>
            <a:r>
              <a:rPr sz="1125" b="1">
                <a:solidFill>
                  <a:srgbClr val="6C44C5"/>
                </a:solidFill>
                <a:latin typeface="Arial"/>
                <a:ea typeface="Arial"/>
                <a:cs typeface="Arial"/>
              </a:rPr>
              <a:t>COMPOUNDING MOAT  H</a:t>
            </a:r>
          </a:p>
        </p:txBody>
      </p:sp>
      <p:sp>
        <p:nvSpPr>
          <p:cNvPr id="18" name="">
            <a:extLst xmlns:a="http://schemas.openxmlformats.org/drawingml/2006/main">
              <a:ext uri="{FF2B5EF4-FFF2-40B4-BE49-F238E27FC236}">
                <a16:creationId xmlns:a16="http://schemas.microsoft.com/office/drawing/2014/main" id="{D3824A23-4494-4B36-9572-A9A4BD194E75}"/>
              </a:ext>
            </a:extLst>
          </p:cNvPr>
          <p:cNvSpPr>
            <a:spLocks xmlns:a="http://schemas.openxmlformats.org/drawingml/2006/main" noGrp="1"/>
          </p:cNvSpPr>
          <p:nvPr/>
        </p:nvSpPr>
        <p:spPr>
          <a:xfrm xmlns:a="http://schemas.openxmlformats.org/drawingml/2006/main">
            <a:off x="6238875" y="2533650"/>
            <a:ext cx="5286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Installed ticket workflow, historical cases, routing rules, operational reporting, marketplace, and enterprise administration.</a:t>
            </a:r>
          </a:p>
        </p:txBody>
      </p:sp>
      <p:sp>
        <p:nvSpPr>
          <p:cNvPr id="19" name="">
            <a:extLst xmlns:a="http://schemas.openxmlformats.org/drawingml/2006/main">
              <a:ext uri="{FF2B5EF4-FFF2-40B4-BE49-F238E27FC236}">
                <a16:creationId xmlns:a16="http://schemas.microsoft.com/office/drawing/2014/main" id="{A1F8AF7C-5644-40C4-80B0-A4D3FE43D5A8}"/>
              </a:ext>
            </a:extLst>
          </p:cNvPr>
          <p:cNvSpPr>
            <a:spLocks xmlns:a="http://schemas.openxmlformats.org/drawingml/2006/main" noGrp="1"/>
          </p:cNvSpPr>
          <p:nvPr/>
        </p:nvSpPr>
        <p:spPr>
          <a:xfrm xmlns:a="http://schemas.openxmlformats.org/drawingml/2006/main">
            <a:off x="6238875" y="3409950"/>
            <a:ext cx="5286375" cy="876300"/>
          </a:xfrm>
          <a:prstGeom xmlns:a="http://schemas.openxmlformats.org/drawingml/2006/main" prst="rect">
            <a:avLst/>
          </a:prstGeom>
          <a:solidFill xmlns:a="http://schemas.openxmlformats.org/drawingml/2006/main">
            <a:srgbClr val="FFE6DF"/>
          </a:solidFill>
          <a:ln xmlns:a="http://schemas.openxmlformats.org/drawingml/2006/main" w="0">
            <a:solidFill>
              <a:srgbClr val="FFE6DF"/>
            </a:solidFill>
          </a:ln>
        </p:spPr>
      </p:sp>
      <p:sp>
        <p:nvSpPr>
          <p:cNvPr id="20" name="">
            <a:extLst xmlns:a="http://schemas.openxmlformats.org/drawingml/2006/main">
              <a:ext uri="{FF2B5EF4-FFF2-40B4-BE49-F238E27FC236}">
                <a16:creationId xmlns:a16="http://schemas.microsoft.com/office/drawing/2014/main" id="{37A73893-49F4-4728-9E16-ED5D40934E26}"/>
              </a:ext>
            </a:extLst>
          </p:cNvPr>
          <p:cNvSpPr>
            <a:spLocks xmlns:a="http://schemas.openxmlformats.org/drawingml/2006/main" noGrp="1"/>
          </p:cNvSpPr>
          <p:nvPr/>
        </p:nvSpPr>
        <p:spPr>
          <a:xfrm xmlns:a="http://schemas.openxmlformats.org/drawingml/2006/main">
            <a:off x="6429375" y="35528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BIGGEST STRATEGIC WEAKNESS  H</a:t>
            </a:r>
          </a:p>
        </p:txBody>
      </p:sp>
      <p:sp>
        <p:nvSpPr>
          <p:cNvPr id="21" name="">
            <a:extLst xmlns:a="http://schemas.openxmlformats.org/drawingml/2006/main">
              <a:ext uri="{FF2B5EF4-FFF2-40B4-BE49-F238E27FC236}">
                <a16:creationId xmlns:a16="http://schemas.microsoft.com/office/drawing/2014/main" id="{6B4B4994-68A7-434C-93C0-E1D640641CEA}"/>
              </a:ext>
            </a:extLst>
          </p:cNvPr>
          <p:cNvSpPr>
            <a:spLocks xmlns:a="http://schemas.openxmlformats.org/drawingml/2006/main" noGrp="1"/>
          </p:cNvSpPr>
          <p:nvPr/>
        </p:nvSpPr>
        <p:spPr>
          <a:xfrm xmlns:a="http://schemas.openxmlformats.org/drawingml/2006/main">
            <a:off x="6429375" y="37814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11315"/>
                </a:solidFill>
                <a:latin typeface="Arial"/>
                <a:ea typeface="Arial"/>
                <a:cs typeface="Arial"/>
              </a:defRPr>
            </a:pPr>
            <a:r>
              <a:rPr sz="1575" b="1">
                <a:solidFill>
                  <a:srgbClr val="111315"/>
                </a:solidFill>
                <a:latin typeface="Arial"/>
                <a:ea typeface="Arial"/>
                <a:cs typeface="Arial"/>
              </a:rPr>
              <a:t>Breadth supports expansion but can slow time to value and increase administrative work.</a:t>
            </a:r>
          </a:p>
        </p:txBody>
      </p:sp>
      <p:sp>
        <p:nvSpPr>
          <p:cNvPr id="22" name="">
            <a:extLst xmlns:a="http://schemas.openxmlformats.org/drawingml/2006/main">
              <a:ext uri="{FF2B5EF4-FFF2-40B4-BE49-F238E27FC236}">
                <a16:creationId xmlns:a16="http://schemas.microsoft.com/office/drawing/2014/main" id="{A6835AAA-371E-48BC-AF5C-2DD59778AF7D}"/>
              </a:ext>
            </a:extLst>
          </p:cNvPr>
          <p:cNvSpPr>
            <a:spLocks xmlns:a="http://schemas.openxmlformats.org/drawingml/2006/main" noGrp="1"/>
          </p:cNvSpPr>
          <p:nvPr/>
        </p:nvSpPr>
        <p:spPr>
          <a:xfrm xmlns:a="http://schemas.openxmlformats.org/drawingml/2006/main">
            <a:off x="552450" y="454342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VALUE CREATION LENS</a:t>
            </a:r>
          </a:p>
        </p:txBody>
      </p:sp>
      <p:sp>
        <p:nvSpPr>
          <p:cNvPr id="23" name="">
            <a:extLst xmlns:a="http://schemas.openxmlformats.org/drawingml/2006/main">
              <a:ext uri="{FF2B5EF4-FFF2-40B4-BE49-F238E27FC236}">
                <a16:creationId xmlns:a16="http://schemas.microsoft.com/office/drawing/2014/main" id="{DA49201C-498C-49AE-B090-061268F348DB}"/>
              </a:ext>
            </a:extLst>
          </p:cNvPr>
          <p:cNvSpPr>
            <a:spLocks xmlns:a="http://schemas.openxmlformats.org/drawingml/2006/main" noGrp="1"/>
          </p:cNvSpPr>
          <p:nvPr/>
        </p:nvSpPr>
        <p:spPr>
          <a:xfrm xmlns:a="http://schemas.openxmlformats.org/drawingml/2006/main">
            <a:off x="5524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USER</a:t>
            </a:r>
          </a:p>
        </p:txBody>
      </p:sp>
      <p:sp>
        <p:nvSpPr>
          <p:cNvPr id="24" name="">
            <a:extLst xmlns:a="http://schemas.openxmlformats.org/drawingml/2006/main">
              <a:ext uri="{FF2B5EF4-FFF2-40B4-BE49-F238E27FC236}">
                <a16:creationId xmlns:a16="http://schemas.microsoft.com/office/drawing/2014/main" id="{182F12B8-92CD-496D-B02A-204B70FB7774}"/>
              </a:ext>
            </a:extLst>
          </p:cNvPr>
          <p:cNvSpPr>
            <a:spLocks xmlns:a="http://schemas.openxmlformats.org/drawingml/2006/main" noGrp="1"/>
          </p:cNvSpPr>
          <p:nvPr/>
        </p:nvSpPr>
        <p:spPr>
          <a:xfrm xmlns:a="http://schemas.openxmlformats.org/drawingml/2006/main">
            <a:off x="5524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Customer, agent, support admin, knowledge manager, QA and workforce leads</a:t>
            </a:r>
          </a:p>
        </p:txBody>
      </p:sp>
      <p:sp>
        <p:nvSpPr>
          <p:cNvPr id="25" name="">
            <a:extLst xmlns:a="http://schemas.openxmlformats.org/drawingml/2006/main">
              <a:ext uri="{FF2B5EF4-FFF2-40B4-BE49-F238E27FC236}">
                <a16:creationId xmlns:a16="http://schemas.microsoft.com/office/drawing/2014/main" id="{388F22D5-4BCB-4C61-A4A7-0F90975F3F0B}"/>
              </a:ext>
            </a:extLst>
          </p:cNvPr>
          <p:cNvSpPr>
            <a:spLocks xmlns:a="http://schemas.openxmlformats.org/drawingml/2006/main" noGrp="1"/>
          </p:cNvSpPr>
          <p:nvPr/>
        </p:nvSpPr>
        <p:spPr>
          <a:xfrm xmlns:a="http://schemas.openxmlformats.org/drawingml/2006/main">
            <a:off x="26479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6" name="">
            <a:extLst xmlns:a="http://schemas.openxmlformats.org/drawingml/2006/main">
              <a:ext uri="{FF2B5EF4-FFF2-40B4-BE49-F238E27FC236}">
                <a16:creationId xmlns:a16="http://schemas.microsoft.com/office/drawing/2014/main" id="{FE2BB837-6420-4501-B1A9-12BDB394F8E6}"/>
              </a:ext>
            </a:extLst>
          </p:cNvPr>
          <p:cNvSpPr>
            <a:spLocks xmlns:a="http://schemas.openxmlformats.org/drawingml/2006/main" noGrp="1"/>
          </p:cNvSpPr>
          <p:nvPr/>
        </p:nvSpPr>
        <p:spPr>
          <a:xfrm xmlns:a="http://schemas.openxmlformats.org/drawingml/2006/main">
            <a:off x="27622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JOB</a:t>
            </a:r>
          </a:p>
        </p:txBody>
      </p:sp>
      <p:sp>
        <p:nvSpPr>
          <p:cNvPr id="27" name="">
            <a:extLst xmlns:a="http://schemas.openxmlformats.org/drawingml/2006/main">
              <a:ext uri="{FF2B5EF4-FFF2-40B4-BE49-F238E27FC236}">
                <a16:creationId xmlns:a16="http://schemas.microsoft.com/office/drawing/2014/main" id="{3FCD1A76-ECD5-4EE1-B868-42CC11BACC00}"/>
              </a:ext>
            </a:extLst>
          </p:cNvPr>
          <p:cNvSpPr>
            <a:spLocks xmlns:a="http://schemas.openxmlformats.org/drawingml/2006/main" noGrp="1"/>
          </p:cNvSpPr>
          <p:nvPr/>
        </p:nvSpPr>
        <p:spPr>
          <a:xfrm xmlns:a="http://schemas.openxmlformats.org/drawingml/2006/main">
            <a:off x="27622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Capture every request, route it correctly, meet SLAs, and improve service operations</a:t>
            </a:r>
          </a:p>
        </p:txBody>
      </p:sp>
      <p:sp>
        <p:nvSpPr>
          <p:cNvPr id="28" name="">
            <a:extLst xmlns:a="http://schemas.openxmlformats.org/drawingml/2006/main">
              <a:ext uri="{FF2B5EF4-FFF2-40B4-BE49-F238E27FC236}">
                <a16:creationId xmlns:a16="http://schemas.microsoft.com/office/drawing/2014/main" id="{86D77322-2814-4B33-AC5A-62323B4A0651}"/>
              </a:ext>
            </a:extLst>
          </p:cNvPr>
          <p:cNvSpPr>
            <a:spLocks xmlns:a="http://schemas.openxmlformats.org/drawingml/2006/main" noGrp="1"/>
          </p:cNvSpPr>
          <p:nvPr/>
        </p:nvSpPr>
        <p:spPr>
          <a:xfrm xmlns:a="http://schemas.openxmlformats.org/drawingml/2006/main">
            <a:off x="48577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9" name="">
            <a:extLst xmlns:a="http://schemas.openxmlformats.org/drawingml/2006/main">
              <a:ext uri="{FF2B5EF4-FFF2-40B4-BE49-F238E27FC236}">
                <a16:creationId xmlns:a16="http://schemas.microsoft.com/office/drawing/2014/main" id="{AC961A7E-443F-4BC2-8E22-51AE1107C6EB}"/>
              </a:ext>
            </a:extLst>
          </p:cNvPr>
          <p:cNvSpPr>
            <a:spLocks xmlns:a="http://schemas.openxmlformats.org/drawingml/2006/main" noGrp="1"/>
          </p:cNvSpPr>
          <p:nvPr/>
        </p:nvSpPr>
        <p:spPr>
          <a:xfrm xmlns:a="http://schemas.openxmlformats.org/drawingml/2006/main">
            <a:off x="49720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TRIGGER</a:t>
            </a:r>
          </a:p>
        </p:txBody>
      </p:sp>
      <p:sp>
        <p:nvSpPr>
          <p:cNvPr id="30" name="">
            <a:extLst xmlns:a="http://schemas.openxmlformats.org/drawingml/2006/main">
              <a:ext uri="{FF2B5EF4-FFF2-40B4-BE49-F238E27FC236}">
                <a16:creationId xmlns:a16="http://schemas.microsoft.com/office/drawing/2014/main" id="{6669E572-D602-4BEC-ABE9-F952FF013F11}"/>
              </a:ext>
            </a:extLst>
          </p:cNvPr>
          <p:cNvSpPr>
            <a:spLocks xmlns:a="http://schemas.openxmlformats.org/drawingml/2006/main" noGrp="1"/>
          </p:cNvSpPr>
          <p:nvPr/>
        </p:nvSpPr>
        <p:spPr>
          <a:xfrm xmlns:a="http://schemas.openxmlformats.org/drawingml/2006/main">
            <a:off x="49720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Shared inbox breakdown, missed SLAs, rising volume, need for enterprise control</a:t>
            </a:r>
          </a:p>
        </p:txBody>
      </p:sp>
      <p:sp>
        <p:nvSpPr>
          <p:cNvPr id="31" name="">
            <a:extLst xmlns:a="http://schemas.openxmlformats.org/drawingml/2006/main">
              <a:ext uri="{FF2B5EF4-FFF2-40B4-BE49-F238E27FC236}">
                <a16:creationId xmlns:a16="http://schemas.microsoft.com/office/drawing/2014/main" id="{81213EED-0959-4C99-A8EF-6518A0980D95}"/>
              </a:ext>
            </a:extLst>
          </p:cNvPr>
          <p:cNvSpPr>
            <a:spLocks xmlns:a="http://schemas.openxmlformats.org/drawingml/2006/main" noGrp="1"/>
          </p:cNvSpPr>
          <p:nvPr/>
        </p:nvSpPr>
        <p:spPr>
          <a:xfrm xmlns:a="http://schemas.openxmlformats.org/drawingml/2006/main">
            <a:off x="70675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2" name="">
            <a:extLst xmlns:a="http://schemas.openxmlformats.org/drawingml/2006/main">
              <a:ext uri="{FF2B5EF4-FFF2-40B4-BE49-F238E27FC236}">
                <a16:creationId xmlns:a16="http://schemas.microsoft.com/office/drawing/2014/main" id="{0E200930-6601-407E-9131-58096373A37A}"/>
              </a:ext>
            </a:extLst>
          </p:cNvPr>
          <p:cNvSpPr>
            <a:spLocks xmlns:a="http://schemas.openxmlformats.org/drawingml/2006/main" noGrp="1"/>
          </p:cNvSpPr>
          <p:nvPr/>
        </p:nvSpPr>
        <p:spPr>
          <a:xfrm xmlns:a="http://schemas.openxmlformats.org/drawingml/2006/main">
            <a:off x="71818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EXPERIENCE</a:t>
            </a:r>
          </a:p>
        </p:txBody>
      </p:sp>
      <p:sp>
        <p:nvSpPr>
          <p:cNvPr id="33" name="">
            <a:extLst xmlns:a="http://schemas.openxmlformats.org/drawingml/2006/main">
              <a:ext uri="{FF2B5EF4-FFF2-40B4-BE49-F238E27FC236}">
                <a16:creationId xmlns:a16="http://schemas.microsoft.com/office/drawing/2014/main" id="{AD27D2FB-3713-47AA-B1DD-4D4C83EAE968}"/>
              </a:ext>
            </a:extLst>
          </p:cNvPr>
          <p:cNvSpPr>
            <a:spLocks xmlns:a="http://schemas.openxmlformats.org/drawingml/2006/main" noGrp="1"/>
          </p:cNvSpPr>
          <p:nvPr/>
        </p:nvSpPr>
        <p:spPr>
          <a:xfrm xmlns:a="http://schemas.openxmlformats.org/drawingml/2006/main">
            <a:off x="71818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Mature queue and embedded AI. Friction in configuration, reporting, integrations, and packaging</a:t>
            </a:r>
          </a:p>
        </p:txBody>
      </p:sp>
      <p:sp>
        <p:nvSpPr>
          <p:cNvPr id="34" name="">
            <a:extLst xmlns:a="http://schemas.openxmlformats.org/drawingml/2006/main">
              <a:ext uri="{FF2B5EF4-FFF2-40B4-BE49-F238E27FC236}">
                <a16:creationId xmlns:a16="http://schemas.microsoft.com/office/drawing/2014/main" id="{12BD24FF-60BD-4A30-8D7D-A0A1159C79F6}"/>
              </a:ext>
            </a:extLst>
          </p:cNvPr>
          <p:cNvSpPr>
            <a:spLocks xmlns:a="http://schemas.openxmlformats.org/drawingml/2006/main" noGrp="1"/>
          </p:cNvSpPr>
          <p:nvPr/>
        </p:nvSpPr>
        <p:spPr>
          <a:xfrm xmlns:a="http://schemas.openxmlformats.org/drawingml/2006/main">
            <a:off x="92773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5" name="">
            <a:extLst xmlns:a="http://schemas.openxmlformats.org/drawingml/2006/main">
              <a:ext uri="{FF2B5EF4-FFF2-40B4-BE49-F238E27FC236}">
                <a16:creationId xmlns:a16="http://schemas.microsoft.com/office/drawing/2014/main" id="{93C14B20-F30F-4E80-B75B-3BBE3D147877}"/>
              </a:ext>
            </a:extLst>
          </p:cNvPr>
          <p:cNvSpPr>
            <a:spLocks xmlns:a="http://schemas.openxmlformats.org/drawingml/2006/main" noGrp="1"/>
          </p:cNvSpPr>
          <p:nvPr/>
        </p:nvSpPr>
        <p:spPr>
          <a:xfrm xmlns:a="http://schemas.openxmlformats.org/drawingml/2006/main">
            <a:off x="93916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BUSINESS</a:t>
            </a:r>
          </a:p>
        </p:txBody>
      </p:sp>
      <p:sp>
        <p:nvSpPr>
          <p:cNvPr id="36" name="">
            <a:extLst xmlns:a="http://schemas.openxmlformats.org/drawingml/2006/main">
              <a:ext uri="{FF2B5EF4-FFF2-40B4-BE49-F238E27FC236}">
                <a16:creationId xmlns:a16="http://schemas.microsoft.com/office/drawing/2014/main" id="{799C406B-3593-4AD3-8B98-50A411C3E230}"/>
              </a:ext>
            </a:extLst>
          </p:cNvPr>
          <p:cNvSpPr>
            <a:spLocks xmlns:a="http://schemas.openxmlformats.org/drawingml/2006/main" noGrp="1"/>
          </p:cNvSpPr>
          <p:nvPr/>
        </p:nvSpPr>
        <p:spPr>
          <a:xfrm xmlns:a="http://schemas.openxmlformats.org/drawingml/2006/main">
            <a:off x="93916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Daily tickets drive seats. Configured history retains accounts. Suite and operations add ons expand revenue</a:t>
            </a:r>
          </a:p>
        </p:txBody>
      </p:sp>
    </p:spTree>
    <p:extLst>
      <p:ext uri="{BB962C8B-B14F-4D97-AF65-F5344CB8AC3E}">
        <p14:creationId xmlns:p14="http://schemas.microsoft.com/office/powerpoint/2010/main" val="1325833286"/>
      </p:ext>
    </p:extLst>
  </p:cSld>
</p:sld>
</file>

<file path=ppt/slides/slide6.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C8BC7CB-A6B1-488F-8F17-9F3C8DB254FD}"/>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Freshdesk / Freddy AI</a:t>
            </a:r>
          </a:p>
        </p:txBody>
      </p:sp>
      <p:sp>
        <p:nvSpPr>
          <p:cNvPr id="2" name="">
            <a:extLst xmlns:a="http://schemas.openxmlformats.org/drawingml/2006/main">
              <a:ext uri="{FF2B5EF4-FFF2-40B4-BE49-F238E27FC236}">
                <a16:creationId xmlns:a16="http://schemas.microsoft.com/office/drawing/2014/main" id="{491706AF-967D-46F0-BD67-167407CCAC31}"/>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3D323BE0-F44D-4D18-B938-1B760F84698E}"/>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V6, V7, V8, R5. V gives public claims. R gives selected friction signals. H gives strategic inference.</a:t>
            </a:r>
          </a:p>
        </p:txBody>
      </p:sp>
      <p:sp>
        <p:nvSpPr>
          <p:cNvPr id="4" name="">
            <a:extLst xmlns:a="http://schemas.openxmlformats.org/drawingml/2006/main">
              <a:ext uri="{FF2B5EF4-FFF2-40B4-BE49-F238E27FC236}">
                <a16:creationId xmlns:a16="http://schemas.microsoft.com/office/drawing/2014/main" id="{5243B5AF-63DD-4C1D-B696-D1E8B3E2BBE2}"/>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5F9563A-9793-48AA-A005-CA49B42A9931}"/>
              </a:ext>
            </a:extLst>
          </p:cNvPr>
          <p:cNvSpPr>
            <a:spLocks xmlns:a="http://schemas.openxmlformats.org/drawingml/2006/main" noGrp="1"/>
          </p:cNvSpPr>
          <p:nvPr/>
        </p:nvSpPr>
        <p:spPr>
          <a:xfrm xmlns:a="http://schemas.openxmlformats.org/drawingml/2006/main">
            <a:off x="552450" y="1104900"/>
            <a:ext cx="76200" cy="2876550"/>
          </a:xfrm>
          <a:prstGeom xmlns:a="http://schemas.openxmlformats.org/drawingml/2006/main" prst="rect">
            <a:avLst/>
          </a:prstGeom>
          <a:solidFill xmlns:a="http://schemas.openxmlformats.org/drawingml/2006/main">
            <a:srgbClr val="168A72"/>
          </a:solidFill>
          <a:ln xmlns:a="http://schemas.openxmlformats.org/drawingml/2006/main" w="0">
            <a:solidFill>
              <a:srgbClr val="168A72"/>
            </a:solidFill>
          </a:ln>
        </p:spPr>
      </p:sp>
      <p:sp>
        <p:nvSpPr>
          <p:cNvPr id="6" name="">
            <a:extLst xmlns:a="http://schemas.openxmlformats.org/drawingml/2006/main">
              <a:ext uri="{FF2B5EF4-FFF2-40B4-BE49-F238E27FC236}">
                <a16:creationId xmlns:a16="http://schemas.microsoft.com/office/drawing/2014/main" id="{07AE7C74-9B14-4922-A7D3-701E157E0914}"/>
              </a:ext>
            </a:extLst>
          </p:cNvPr>
          <p:cNvSpPr>
            <a:spLocks xmlns:a="http://schemas.openxmlformats.org/drawingml/2006/main" noGrp="1"/>
          </p:cNvSpPr>
          <p:nvPr/>
        </p:nvSpPr>
        <p:spPr>
          <a:xfrm xmlns:a="http://schemas.openxmlformats.org/drawingml/2006/main">
            <a:off x="819150" y="1143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A72"/>
                </a:solidFill>
                <a:latin typeface="Arial"/>
                <a:ea typeface="Arial"/>
                <a:cs typeface="Arial"/>
              </a:defRPr>
            </a:pPr>
            <a:r>
              <a:rPr sz="1125" b="1">
                <a:solidFill>
                  <a:srgbClr val="168A72"/>
                </a:solidFill>
                <a:latin typeface="Arial"/>
                <a:ea typeface="Arial"/>
                <a:cs typeface="Arial"/>
              </a:rPr>
              <a:t>CUSTOMER  H</a:t>
            </a:r>
          </a:p>
        </p:txBody>
      </p:sp>
      <p:sp>
        <p:nvSpPr>
          <p:cNvPr id="7" name="">
            <a:extLst xmlns:a="http://schemas.openxmlformats.org/drawingml/2006/main">
              <a:ext uri="{FF2B5EF4-FFF2-40B4-BE49-F238E27FC236}">
                <a16:creationId xmlns:a16="http://schemas.microsoft.com/office/drawing/2014/main" id="{FC23BE83-753F-4E3C-8C1D-6DBBE5AD5F5A}"/>
              </a:ext>
            </a:extLst>
          </p:cNvPr>
          <p:cNvSpPr>
            <a:spLocks xmlns:a="http://schemas.openxmlformats.org/drawingml/2006/main" noGrp="1"/>
          </p:cNvSpPr>
          <p:nvPr/>
        </p:nvSpPr>
        <p:spPr>
          <a:xfrm xmlns:a="http://schemas.openxmlformats.org/drawingml/2006/main">
            <a:off x="819150" y="13525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11315"/>
                </a:solidFill>
                <a:latin typeface="Arial"/>
                <a:ea typeface="Arial"/>
                <a:cs typeface="Arial"/>
              </a:defRPr>
            </a:pPr>
            <a:r>
              <a:rPr sz="1425" b="0">
                <a:solidFill>
                  <a:srgbClr val="111315"/>
                </a:solidFill>
                <a:latin typeface="Arial"/>
                <a:ea typeface="Arial"/>
                <a:cs typeface="Arial"/>
              </a:rPr>
              <a:t>Growing, value conscious support teams moving beyond shared inboxes without enterprise platform complexity.</a:t>
            </a:r>
          </a:p>
        </p:txBody>
      </p:sp>
      <p:sp>
        <p:nvSpPr>
          <p:cNvPr id="8" name="">
            <a:extLst xmlns:a="http://schemas.openxmlformats.org/drawingml/2006/main">
              <a:ext uri="{FF2B5EF4-FFF2-40B4-BE49-F238E27FC236}">
                <a16:creationId xmlns:a16="http://schemas.microsoft.com/office/drawing/2014/main" id="{429C6BB2-AF75-4D88-8BC6-04E860E3C1B0}"/>
              </a:ext>
            </a:extLst>
          </p:cNvPr>
          <p:cNvSpPr>
            <a:spLocks xmlns:a="http://schemas.openxmlformats.org/drawingml/2006/main" noGrp="1"/>
          </p:cNvSpPr>
          <p:nvPr/>
        </p:nvSpPr>
        <p:spPr>
          <a:xfrm xmlns:a="http://schemas.openxmlformats.org/drawingml/2006/main">
            <a:off x="819150" y="20574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A72"/>
                </a:solidFill>
                <a:latin typeface="Arial"/>
                <a:ea typeface="Arial"/>
                <a:cs typeface="Arial"/>
              </a:defRPr>
            </a:pPr>
            <a:r>
              <a:rPr sz="1125" b="1">
                <a:solidFill>
                  <a:srgbClr val="168A72"/>
                </a:solidFill>
                <a:latin typeface="Arial"/>
                <a:ea typeface="Arial"/>
                <a:cs typeface="Arial"/>
              </a:rPr>
              <a:t>PROMISE  V</a:t>
            </a:r>
          </a:p>
        </p:txBody>
      </p:sp>
      <p:sp>
        <p:nvSpPr>
          <p:cNvPr id="9" name="">
            <a:extLst xmlns:a="http://schemas.openxmlformats.org/drawingml/2006/main">
              <a:ext uri="{FF2B5EF4-FFF2-40B4-BE49-F238E27FC236}">
                <a16:creationId xmlns:a16="http://schemas.microsoft.com/office/drawing/2014/main" id="{A1931BD0-FC67-4C34-8BAA-1B9BE167D01D}"/>
              </a:ext>
            </a:extLst>
          </p:cNvPr>
          <p:cNvSpPr>
            <a:spLocks xmlns:a="http://schemas.openxmlformats.org/drawingml/2006/main" noGrp="1"/>
          </p:cNvSpPr>
          <p:nvPr/>
        </p:nvSpPr>
        <p:spPr>
          <a:xfrm xmlns:a="http://schemas.openxmlformats.org/drawingml/2006/main">
            <a:off x="819150" y="22669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Approachable omnichannel service and packaged AI at an accessible price to value point.</a:t>
            </a:r>
          </a:p>
        </p:txBody>
      </p:sp>
      <p:sp>
        <p:nvSpPr>
          <p:cNvPr id="10" name="">
            <a:extLst xmlns:a="http://schemas.openxmlformats.org/drawingml/2006/main">
              <a:ext uri="{FF2B5EF4-FFF2-40B4-BE49-F238E27FC236}">
                <a16:creationId xmlns:a16="http://schemas.microsoft.com/office/drawing/2014/main" id="{1B0E0403-83D1-44F6-A779-7B8A4B1A6E3F}"/>
              </a:ext>
            </a:extLst>
          </p:cNvPr>
          <p:cNvSpPr>
            <a:spLocks xmlns:a="http://schemas.openxmlformats.org/drawingml/2006/main" noGrp="1"/>
          </p:cNvSpPr>
          <p:nvPr/>
        </p:nvSpPr>
        <p:spPr>
          <a:xfrm xmlns:a="http://schemas.openxmlformats.org/drawingml/2006/main">
            <a:off x="819150" y="27051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A72"/>
                </a:solidFill>
                <a:latin typeface="Arial"/>
                <a:ea typeface="Arial"/>
                <a:cs typeface="Arial"/>
              </a:defRPr>
            </a:pPr>
            <a:r>
              <a:rPr sz="1125" b="1">
                <a:solidFill>
                  <a:srgbClr val="168A72"/>
                </a:solidFill>
                <a:latin typeface="Arial"/>
                <a:ea typeface="Arial"/>
                <a:cs typeface="Arial"/>
              </a:rPr>
              <a:t>MODEL  V + H</a:t>
            </a:r>
          </a:p>
        </p:txBody>
      </p:sp>
      <p:sp>
        <p:nvSpPr>
          <p:cNvPr id="11" name="">
            <a:extLst xmlns:a="http://schemas.openxmlformats.org/drawingml/2006/main">
              <a:ext uri="{FF2B5EF4-FFF2-40B4-BE49-F238E27FC236}">
                <a16:creationId xmlns:a16="http://schemas.microsoft.com/office/drawing/2014/main" id="{6F5557EF-A072-48C8-9966-DAEADA7B5B37}"/>
              </a:ext>
            </a:extLst>
          </p:cNvPr>
          <p:cNvSpPr>
            <a:spLocks xmlns:a="http://schemas.openxmlformats.org/drawingml/2006/main" noGrp="1"/>
          </p:cNvSpPr>
          <p:nvPr/>
        </p:nvSpPr>
        <p:spPr>
          <a:xfrm xmlns:a="http://schemas.openxmlformats.org/drawingml/2006/main">
            <a:off x="819150" y="29146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315"/>
                </a:solidFill>
                <a:latin typeface="Arial"/>
                <a:ea typeface="Arial"/>
                <a:cs typeface="Arial"/>
              </a:defRPr>
            </a:pPr>
            <a:r>
              <a:rPr sz="1350" b="0">
                <a:solidFill>
                  <a:srgbClr val="111315"/>
                </a:solidFill>
                <a:latin typeface="Arial"/>
                <a:ea typeface="Arial"/>
                <a:cs typeface="Arial"/>
              </a:rPr>
              <a:t>Land through trial and packaged tiers. Seats, upgrades, and Freddy sessions add revenue. Configured helpdesk workflows retain accounts.</a:t>
            </a:r>
          </a:p>
        </p:txBody>
      </p:sp>
      <p:sp>
        <p:nvSpPr>
          <p:cNvPr id="12" name="">
            <a:extLst xmlns:a="http://schemas.openxmlformats.org/drawingml/2006/main">
              <a:ext uri="{FF2B5EF4-FFF2-40B4-BE49-F238E27FC236}">
                <a16:creationId xmlns:a16="http://schemas.microsoft.com/office/drawing/2014/main" id="{39C7AF41-9364-4A6E-A0CE-DEF00E11DBB8}"/>
              </a:ext>
            </a:extLst>
          </p:cNvPr>
          <p:cNvSpPr>
            <a:spLocks xmlns:a="http://schemas.openxmlformats.org/drawingml/2006/main" noGrp="1"/>
          </p:cNvSpPr>
          <p:nvPr/>
        </p:nvSpPr>
        <p:spPr>
          <a:xfrm xmlns:a="http://schemas.openxmlformats.org/drawingml/2006/main">
            <a:off x="819150" y="36195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A72"/>
                </a:solidFill>
                <a:latin typeface="Arial"/>
                <a:ea typeface="Arial"/>
                <a:cs typeface="Arial"/>
              </a:defRPr>
            </a:pPr>
            <a:r>
              <a:rPr sz="1125" b="1">
                <a:solidFill>
                  <a:srgbClr val="168A72"/>
                </a:solidFill>
                <a:latin typeface="Arial"/>
                <a:ea typeface="Arial"/>
                <a:cs typeface="Arial"/>
              </a:rPr>
              <a:t>WEAKNESS  R + H</a:t>
            </a:r>
          </a:p>
        </p:txBody>
      </p:sp>
      <p:sp>
        <p:nvSpPr>
          <p:cNvPr id="13" name="">
            <a:extLst xmlns:a="http://schemas.openxmlformats.org/drawingml/2006/main">
              <a:ext uri="{FF2B5EF4-FFF2-40B4-BE49-F238E27FC236}">
                <a16:creationId xmlns:a16="http://schemas.microsoft.com/office/drawing/2014/main" id="{546A01E7-6BFC-4E02-8F3B-850212C31279}"/>
              </a:ext>
            </a:extLst>
          </p:cNvPr>
          <p:cNvSpPr>
            <a:spLocks xmlns:a="http://schemas.openxmlformats.org/drawingml/2006/main" noGrp="1"/>
          </p:cNvSpPr>
          <p:nvPr/>
        </p:nvSpPr>
        <p:spPr>
          <a:xfrm xmlns:a="http://schemas.openxmlformats.org/drawingml/2006/main">
            <a:off x="819150" y="38290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315"/>
                </a:solidFill>
                <a:latin typeface="Arial"/>
                <a:ea typeface="Arial"/>
                <a:cs typeface="Arial"/>
              </a:defRPr>
            </a:pPr>
            <a:r>
              <a:rPr sz="1350" b="0">
                <a:solidFill>
                  <a:srgbClr val="111315"/>
                </a:solidFill>
                <a:latin typeface="Arial"/>
                <a:ea typeface="Arial"/>
                <a:cs typeface="Arial"/>
              </a:rPr>
              <a:t>Advanced customisation, reporting, integration depth, AI quality, and pricing clarity can matter more as teams mature.</a:t>
            </a:r>
          </a:p>
        </p:txBody>
      </p:sp>
      <p:sp>
        <p:nvSpPr>
          <p:cNvPr id="14" name="">
            <a:extLst xmlns:a="http://schemas.openxmlformats.org/drawingml/2006/main">
              <a:ext uri="{FF2B5EF4-FFF2-40B4-BE49-F238E27FC236}">
                <a16:creationId xmlns:a16="http://schemas.microsoft.com/office/drawing/2014/main" id="{01C4BE89-5B46-482E-BD67-172BC3916979}"/>
              </a:ext>
            </a:extLst>
          </p:cNvPr>
          <p:cNvSpPr>
            <a:spLocks xmlns:a="http://schemas.openxmlformats.org/drawingml/2006/main" noGrp="1"/>
          </p:cNvSpPr>
          <p:nvPr/>
        </p:nvSpPr>
        <p:spPr>
          <a:xfrm xmlns:a="http://schemas.openxmlformats.org/drawingml/2006/main">
            <a:off x="6238875" y="11430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A72"/>
                </a:solidFill>
                <a:latin typeface="Arial"/>
                <a:ea typeface="Arial"/>
                <a:cs typeface="Arial"/>
              </a:defRPr>
            </a:pPr>
            <a:r>
              <a:rPr sz="1125" b="1">
                <a:solidFill>
                  <a:srgbClr val="168A72"/>
                </a:solidFill>
                <a:latin typeface="Arial"/>
                <a:ea typeface="Arial"/>
                <a:cs typeface="Arial"/>
              </a:rPr>
              <a:t>ENTRY WEDGE  H</a:t>
            </a:r>
          </a:p>
        </p:txBody>
      </p:sp>
      <p:sp>
        <p:nvSpPr>
          <p:cNvPr id="15" name="">
            <a:extLst xmlns:a="http://schemas.openxmlformats.org/drawingml/2006/main">
              <a:ext uri="{FF2B5EF4-FFF2-40B4-BE49-F238E27FC236}">
                <a16:creationId xmlns:a16="http://schemas.microsoft.com/office/drawing/2014/main" id="{D3D4B7B1-871D-4016-A5B7-B6BF52CBAEBA}"/>
              </a:ext>
            </a:extLst>
          </p:cNvPr>
          <p:cNvSpPr>
            <a:spLocks xmlns:a="http://schemas.openxmlformats.org/drawingml/2006/main" noGrp="1"/>
          </p:cNvSpPr>
          <p:nvPr/>
        </p:nvSpPr>
        <p:spPr>
          <a:xfrm xmlns:a="http://schemas.openxmlformats.org/drawingml/2006/main">
            <a:off x="6238875" y="1390650"/>
            <a:ext cx="5286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11315"/>
                </a:solidFill>
                <a:latin typeface="Arial"/>
                <a:ea typeface="Arial"/>
                <a:cs typeface="Arial"/>
              </a:defRPr>
            </a:pPr>
            <a:r>
              <a:rPr sz="1800" b="1">
                <a:solidFill>
                  <a:srgbClr val="111315"/>
                </a:solidFill>
                <a:latin typeface="Arial"/>
                <a:ea typeface="Arial"/>
                <a:cs typeface="Arial"/>
              </a:rPr>
              <a:t>Fast adoption and accessible packaged helpdesk value.</a:t>
            </a:r>
          </a:p>
        </p:txBody>
      </p:sp>
      <p:sp>
        <p:nvSpPr>
          <p:cNvPr id="16" name="">
            <a:extLst xmlns:a="http://schemas.openxmlformats.org/drawingml/2006/main">
              <a:ext uri="{FF2B5EF4-FFF2-40B4-BE49-F238E27FC236}">
                <a16:creationId xmlns:a16="http://schemas.microsoft.com/office/drawing/2014/main" id="{8EF09FC4-968E-47AB-B800-FA8CDBBAD7B0}"/>
              </a:ext>
            </a:extLst>
          </p:cNvPr>
          <p:cNvSpPr>
            <a:spLocks xmlns:a="http://schemas.openxmlformats.org/drawingml/2006/main" noGrp="1"/>
          </p:cNvSpPr>
          <p:nvPr/>
        </p:nvSpPr>
        <p:spPr>
          <a:xfrm xmlns:a="http://schemas.openxmlformats.org/drawingml/2006/main">
            <a:off x="6238875" y="2076450"/>
            <a:ext cx="5286375"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7" name="">
            <a:extLst xmlns:a="http://schemas.openxmlformats.org/drawingml/2006/main">
              <a:ext uri="{FF2B5EF4-FFF2-40B4-BE49-F238E27FC236}">
                <a16:creationId xmlns:a16="http://schemas.microsoft.com/office/drawing/2014/main" id="{F117EF6E-54FA-4956-9E06-24E1F75B6BA2}"/>
              </a:ext>
            </a:extLst>
          </p:cNvPr>
          <p:cNvSpPr>
            <a:spLocks xmlns:a="http://schemas.openxmlformats.org/drawingml/2006/main" noGrp="1"/>
          </p:cNvSpPr>
          <p:nvPr/>
        </p:nvSpPr>
        <p:spPr>
          <a:xfrm xmlns:a="http://schemas.openxmlformats.org/drawingml/2006/main">
            <a:off x="6238875" y="22860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A72"/>
                </a:solidFill>
                <a:latin typeface="Arial"/>
                <a:ea typeface="Arial"/>
                <a:cs typeface="Arial"/>
              </a:defRPr>
            </a:pPr>
            <a:r>
              <a:rPr sz="1125" b="1">
                <a:solidFill>
                  <a:srgbClr val="168A72"/>
                </a:solidFill>
                <a:latin typeface="Arial"/>
                <a:ea typeface="Arial"/>
                <a:cs typeface="Arial"/>
              </a:rPr>
              <a:t>COMPOUNDING MOAT  H</a:t>
            </a:r>
          </a:p>
        </p:txBody>
      </p:sp>
      <p:sp>
        <p:nvSpPr>
          <p:cNvPr id="18" name="">
            <a:extLst xmlns:a="http://schemas.openxmlformats.org/drawingml/2006/main">
              <a:ext uri="{FF2B5EF4-FFF2-40B4-BE49-F238E27FC236}">
                <a16:creationId xmlns:a16="http://schemas.microsoft.com/office/drawing/2014/main" id="{F91E0B10-2299-4CEF-941F-2133704ABD6A}"/>
              </a:ext>
            </a:extLst>
          </p:cNvPr>
          <p:cNvSpPr>
            <a:spLocks xmlns:a="http://schemas.openxmlformats.org/drawingml/2006/main" noGrp="1"/>
          </p:cNvSpPr>
          <p:nvPr/>
        </p:nvSpPr>
        <p:spPr>
          <a:xfrm xmlns:a="http://schemas.openxmlformats.org/drawingml/2006/main">
            <a:off x="6238875" y="2533650"/>
            <a:ext cx="5286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Configured daily helpdesk workflow, price to value reputation, marketplace, and the Freshworks suite.</a:t>
            </a:r>
          </a:p>
        </p:txBody>
      </p:sp>
      <p:sp>
        <p:nvSpPr>
          <p:cNvPr id="19" name="">
            <a:extLst xmlns:a="http://schemas.openxmlformats.org/drawingml/2006/main">
              <a:ext uri="{FF2B5EF4-FFF2-40B4-BE49-F238E27FC236}">
                <a16:creationId xmlns:a16="http://schemas.microsoft.com/office/drawing/2014/main" id="{5D8AC15F-1517-4AD9-8026-A08703E91D2B}"/>
              </a:ext>
            </a:extLst>
          </p:cNvPr>
          <p:cNvSpPr>
            <a:spLocks xmlns:a="http://schemas.openxmlformats.org/drawingml/2006/main" noGrp="1"/>
          </p:cNvSpPr>
          <p:nvPr/>
        </p:nvSpPr>
        <p:spPr>
          <a:xfrm xmlns:a="http://schemas.openxmlformats.org/drawingml/2006/main">
            <a:off x="6238875" y="3409950"/>
            <a:ext cx="5286375" cy="876300"/>
          </a:xfrm>
          <a:prstGeom xmlns:a="http://schemas.openxmlformats.org/drawingml/2006/main" prst="rect">
            <a:avLst/>
          </a:prstGeom>
          <a:solidFill xmlns:a="http://schemas.openxmlformats.org/drawingml/2006/main">
            <a:srgbClr val="FFE6DF"/>
          </a:solidFill>
          <a:ln xmlns:a="http://schemas.openxmlformats.org/drawingml/2006/main" w="0">
            <a:solidFill>
              <a:srgbClr val="FFE6DF"/>
            </a:solidFill>
          </a:ln>
        </p:spPr>
      </p:sp>
      <p:sp>
        <p:nvSpPr>
          <p:cNvPr id="20" name="">
            <a:extLst xmlns:a="http://schemas.openxmlformats.org/drawingml/2006/main">
              <a:ext uri="{FF2B5EF4-FFF2-40B4-BE49-F238E27FC236}">
                <a16:creationId xmlns:a16="http://schemas.microsoft.com/office/drawing/2014/main" id="{17BF7547-6B9B-4DA2-A60A-70E4D52BBAF9}"/>
              </a:ext>
            </a:extLst>
          </p:cNvPr>
          <p:cNvSpPr>
            <a:spLocks xmlns:a="http://schemas.openxmlformats.org/drawingml/2006/main" noGrp="1"/>
          </p:cNvSpPr>
          <p:nvPr/>
        </p:nvSpPr>
        <p:spPr>
          <a:xfrm xmlns:a="http://schemas.openxmlformats.org/drawingml/2006/main">
            <a:off x="6429375" y="35528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BIGGEST STRATEGIC WEAKNESS  H</a:t>
            </a:r>
          </a:p>
        </p:txBody>
      </p:sp>
      <p:sp>
        <p:nvSpPr>
          <p:cNvPr id="21" name="">
            <a:extLst xmlns:a="http://schemas.openxmlformats.org/drawingml/2006/main">
              <a:ext uri="{FF2B5EF4-FFF2-40B4-BE49-F238E27FC236}">
                <a16:creationId xmlns:a16="http://schemas.microsoft.com/office/drawing/2014/main" id="{3F0FC703-24BF-413C-AECA-49945A46974F}"/>
              </a:ext>
            </a:extLst>
          </p:cNvPr>
          <p:cNvSpPr>
            <a:spLocks xmlns:a="http://schemas.openxmlformats.org/drawingml/2006/main" noGrp="1"/>
          </p:cNvSpPr>
          <p:nvPr/>
        </p:nvSpPr>
        <p:spPr>
          <a:xfrm xmlns:a="http://schemas.openxmlformats.org/drawingml/2006/main">
            <a:off x="6429375" y="37814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11315"/>
                </a:solidFill>
                <a:latin typeface="Arial"/>
                <a:ea typeface="Arial"/>
                <a:cs typeface="Arial"/>
              </a:defRPr>
            </a:pPr>
            <a:r>
              <a:rPr sz="1575" b="1">
                <a:solidFill>
                  <a:srgbClr val="111315"/>
                </a:solidFill>
                <a:latin typeface="Arial"/>
                <a:ea typeface="Arial"/>
                <a:cs typeface="Arial"/>
              </a:rPr>
              <a:t>Lighter tools can undercut simplicity while deeper platforms win when customer complexity grows.</a:t>
            </a:r>
          </a:p>
        </p:txBody>
      </p:sp>
      <p:sp>
        <p:nvSpPr>
          <p:cNvPr id="22" name="">
            <a:extLst xmlns:a="http://schemas.openxmlformats.org/drawingml/2006/main">
              <a:ext uri="{FF2B5EF4-FFF2-40B4-BE49-F238E27FC236}">
                <a16:creationId xmlns:a16="http://schemas.microsoft.com/office/drawing/2014/main" id="{69A778F1-58C3-43F8-8AD2-E4DCA30BFBC2}"/>
              </a:ext>
            </a:extLst>
          </p:cNvPr>
          <p:cNvSpPr>
            <a:spLocks xmlns:a="http://schemas.openxmlformats.org/drawingml/2006/main" noGrp="1"/>
          </p:cNvSpPr>
          <p:nvPr/>
        </p:nvSpPr>
        <p:spPr>
          <a:xfrm xmlns:a="http://schemas.openxmlformats.org/drawingml/2006/main">
            <a:off x="552450" y="454342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VALUE CREATION LENS</a:t>
            </a:r>
          </a:p>
        </p:txBody>
      </p:sp>
      <p:sp>
        <p:nvSpPr>
          <p:cNvPr id="23" name="">
            <a:extLst xmlns:a="http://schemas.openxmlformats.org/drawingml/2006/main">
              <a:ext uri="{FF2B5EF4-FFF2-40B4-BE49-F238E27FC236}">
                <a16:creationId xmlns:a16="http://schemas.microsoft.com/office/drawing/2014/main" id="{FAA1CB57-EA2A-40DD-AAAB-2E2A1E839B4C}"/>
              </a:ext>
            </a:extLst>
          </p:cNvPr>
          <p:cNvSpPr>
            <a:spLocks xmlns:a="http://schemas.openxmlformats.org/drawingml/2006/main" noGrp="1"/>
          </p:cNvSpPr>
          <p:nvPr/>
        </p:nvSpPr>
        <p:spPr>
          <a:xfrm xmlns:a="http://schemas.openxmlformats.org/drawingml/2006/main">
            <a:off x="5524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USER</a:t>
            </a:r>
          </a:p>
        </p:txBody>
      </p:sp>
      <p:sp>
        <p:nvSpPr>
          <p:cNvPr id="24" name="">
            <a:extLst xmlns:a="http://schemas.openxmlformats.org/drawingml/2006/main">
              <a:ext uri="{FF2B5EF4-FFF2-40B4-BE49-F238E27FC236}">
                <a16:creationId xmlns:a16="http://schemas.microsoft.com/office/drawing/2014/main" id="{DF20E151-992B-4FEE-9BB5-9B03E08BF056}"/>
              </a:ext>
            </a:extLst>
          </p:cNvPr>
          <p:cNvSpPr>
            <a:spLocks xmlns:a="http://schemas.openxmlformats.org/drawingml/2006/main" noGrp="1"/>
          </p:cNvSpPr>
          <p:nvPr/>
        </p:nvSpPr>
        <p:spPr>
          <a:xfrm xmlns:a="http://schemas.openxmlformats.org/drawingml/2006/main">
            <a:off x="5524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Customer, frontline agent, team lead, helpdesk administrator</a:t>
            </a:r>
          </a:p>
        </p:txBody>
      </p:sp>
      <p:sp>
        <p:nvSpPr>
          <p:cNvPr id="25" name="">
            <a:extLst xmlns:a="http://schemas.openxmlformats.org/drawingml/2006/main">
              <a:ext uri="{FF2B5EF4-FFF2-40B4-BE49-F238E27FC236}">
                <a16:creationId xmlns:a16="http://schemas.microsoft.com/office/drawing/2014/main" id="{791B724E-5FDA-4135-BC83-ED7713225327}"/>
              </a:ext>
            </a:extLst>
          </p:cNvPr>
          <p:cNvSpPr>
            <a:spLocks xmlns:a="http://schemas.openxmlformats.org/drawingml/2006/main" noGrp="1"/>
          </p:cNvSpPr>
          <p:nvPr/>
        </p:nvSpPr>
        <p:spPr>
          <a:xfrm xmlns:a="http://schemas.openxmlformats.org/drawingml/2006/main">
            <a:off x="26479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6" name="">
            <a:extLst xmlns:a="http://schemas.openxmlformats.org/drawingml/2006/main">
              <a:ext uri="{FF2B5EF4-FFF2-40B4-BE49-F238E27FC236}">
                <a16:creationId xmlns:a16="http://schemas.microsoft.com/office/drawing/2014/main" id="{53E3EEA0-98F1-41A4-A535-E97FCD8492DE}"/>
              </a:ext>
            </a:extLst>
          </p:cNvPr>
          <p:cNvSpPr>
            <a:spLocks xmlns:a="http://schemas.openxmlformats.org/drawingml/2006/main" noGrp="1"/>
          </p:cNvSpPr>
          <p:nvPr/>
        </p:nvSpPr>
        <p:spPr>
          <a:xfrm xmlns:a="http://schemas.openxmlformats.org/drawingml/2006/main">
            <a:off x="27622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JOB</a:t>
            </a:r>
          </a:p>
        </p:txBody>
      </p:sp>
      <p:sp>
        <p:nvSpPr>
          <p:cNvPr id="27" name="">
            <a:extLst xmlns:a="http://schemas.openxmlformats.org/drawingml/2006/main">
              <a:ext uri="{FF2B5EF4-FFF2-40B4-BE49-F238E27FC236}">
                <a16:creationId xmlns:a16="http://schemas.microsoft.com/office/drawing/2014/main" id="{4A6FA6AF-9D8E-4808-906C-4BBB1C5F2B8F}"/>
              </a:ext>
            </a:extLst>
          </p:cNvPr>
          <p:cNvSpPr>
            <a:spLocks xmlns:a="http://schemas.openxmlformats.org/drawingml/2006/main" noGrp="1"/>
          </p:cNvSpPr>
          <p:nvPr/>
        </p:nvSpPr>
        <p:spPr>
          <a:xfrm xmlns:a="http://schemas.openxmlformats.org/drawingml/2006/main">
            <a:off x="27622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Centralise support and add automation quickly without a large transformation</a:t>
            </a:r>
          </a:p>
        </p:txBody>
      </p:sp>
      <p:sp>
        <p:nvSpPr>
          <p:cNvPr id="28" name="">
            <a:extLst xmlns:a="http://schemas.openxmlformats.org/drawingml/2006/main">
              <a:ext uri="{FF2B5EF4-FFF2-40B4-BE49-F238E27FC236}">
                <a16:creationId xmlns:a16="http://schemas.microsoft.com/office/drawing/2014/main" id="{5CE2F89C-05F8-439B-BE96-CE032496A72C}"/>
              </a:ext>
            </a:extLst>
          </p:cNvPr>
          <p:cNvSpPr>
            <a:spLocks xmlns:a="http://schemas.openxmlformats.org/drawingml/2006/main" noGrp="1"/>
          </p:cNvSpPr>
          <p:nvPr/>
        </p:nvSpPr>
        <p:spPr>
          <a:xfrm xmlns:a="http://schemas.openxmlformats.org/drawingml/2006/main">
            <a:off x="48577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9" name="">
            <a:extLst xmlns:a="http://schemas.openxmlformats.org/drawingml/2006/main">
              <a:ext uri="{FF2B5EF4-FFF2-40B4-BE49-F238E27FC236}">
                <a16:creationId xmlns:a16="http://schemas.microsoft.com/office/drawing/2014/main" id="{3387ADC8-B18A-4CA3-AD01-93F887C71C9F}"/>
              </a:ext>
            </a:extLst>
          </p:cNvPr>
          <p:cNvSpPr>
            <a:spLocks xmlns:a="http://schemas.openxmlformats.org/drawingml/2006/main" noGrp="1"/>
          </p:cNvSpPr>
          <p:nvPr/>
        </p:nvSpPr>
        <p:spPr>
          <a:xfrm xmlns:a="http://schemas.openxmlformats.org/drawingml/2006/main">
            <a:off x="49720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TRIGGER</a:t>
            </a:r>
          </a:p>
        </p:txBody>
      </p:sp>
      <p:sp>
        <p:nvSpPr>
          <p:cNvPr id="30" name="">
            <a:extLst xmlns:a="http://schemas.openxmlformats.org/drawingml/2006/main">
              <a:ext uri="{FF2B5EF4-FFF2-40B4-BE49-F238E27FC236}">
                <a16:creationId xmlns:a16="http://schemas.microsoft.com/office/drawing/2014/main" id="{DAAFF206-D391-46B7-9355-FAAC0C933FA3}"/>
              </a:ext>
            </a:extLst>
          </p:cNvPr>
          <p:cNvSpPr>
            <a:spLocks xmlns:a="http://schemas.openxmlformats.org/drawingml/2006/main" noGrp="1"/>
          </p:cNvSpPr>
          <p:nvPr/>
        </p:nvSpPr>
        <p:spPr>
          <a:xfrm xmlns:a="http://schemas.openxmlformats.org/drawingml/2006/main">
            <a:off x="49720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Shared inbox stops scaling, ownership blurs, channels multiply, need for AI</a:t>
            </a:r>
          </a:p>
        </p:txBody>
      </p:sp>
      <p:sp>
        <p:nvSpPr>
          <p:cNvPr id="31" name="">
            <a:extLst xmlns:a="http://schemas.openxmlformats.org/drawingml/2006/main">
              <a:ext uri="{FF2B5EF4-FFF2-40B4-BE49-F238E27FC236}">
                <a16:creationId xmlns:a16="http://schemas.microsoft.com/office/drawing/2014/main" id="{27754BA1-FAB6-41BB-86DC-BCF4DE5C453C}"/>
              </a:ext>
            </a:extLst>
          </p:cNvPr>
          <p:cNvSpPr>
            <a:spLocks xmlns:a="http://schemas.openxmlformats.org/drawingml/2006/main" noGrp="1"/>
          </p:cNvSpPr>
          <p:nvPr/>
        </p:nvSpPr>
        <p:spPr>
          <a:xfrm xmlns:a="http://schemas.openxmlformats.org/drawingml/2006/main">
            <a:off x="70675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2" name="">
            <a:extLst xmlns:a="http://schemas.openxmlformats.org/drawingml/2006/main">
              <a:ext uri="{FF2B5EF4-FFF2-40B4-BE49-F238E27FC236}">
                <a16:creationId xmlns:a16="http://schemas.microsoft.com/office/drawing/2014/main" id="{22261C42-A70F-4590-B66E-76F86D620D2E}"/>
              </a:ext>
            </a:extLst>
          </p:cNvPr>
          <p:cNvSpPr>
            <a:spLocks xmlns:a="http://schemas.openxmlformats.org/drawingml/2006/main" noGrp="1"/>
          </p:cNvSpPr>
          <p:nvPr/>
        </p:nvSpPr>
        <p:spPr>
          <a:xfrm xmlns:a="http://schemas.openxmlformats.org/drawingml/2006/main">
            <a:off x="71818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EXPERIENCE</a:t>
            </a:r>
          </a:p>
        </p:txBody>
      </p:sp>
      <p:sp>
        <p:nvSpPr>
          <p:cNvPr id="33" name="">
            <a:extLst xmlns:a="http://schemas.openxmlformats.org/drawingml/2006/main">
              <a:ext uri="{FF2B5EF4-FFF2-40B4-BE49-F238E27FC236}">
                <a16:creationId xmlns:a16="http://schemas.microsoft.com/office/drawing/2014/main" id="{AF865024-43B4-4068-99F4-14458E5CA615}"/>
              </a:ext>
            </a:extLst>
          </p:cNvPr>
          <p:cNvSpPr>
            <a:spLocks xmlns:a="http://schemas.openxmlformats.org/drawingml/2006/main" noGrp="1"/>
          </p:cNvSpPr>
          <p:nvPr/>
        </p:nvSpPr>
        <p:spPr>
          <a:xfrm xmlns:a="http://schemas.openxmlformats.org/drawingml/2006/main">
            <a:off x="71818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Easy trial and packaged AI. Friction in advanced depth, integration quality, and pricing clarity</a:t>
            </a:r>
          </a:p>
        </p:txBody>
      </p:sp>
      <p:sp>
        <p:nvSpPr>
          <p:cNvPr id="34" name="">
            <a:extLst xmlns:a="http://schemas.openxmlformats.org/drawingml/2006/main">
              <a:ext uri="{FF2B5EF4-FFF2-40B4-BE49-F238E27FC236}">
                <a16:creationId xmlns:a16="http://schemas.microsoft.com/office/drawing/2014/main" id="{23D0A248-E14E-4070-B81A-F3E3DA105049}"/>
              </a:ext>
            </a:extLst>
          </p:cNvPr>
          <p:cNvSpPr>
            <a:spLocks xmlns:a="http://schemas.openxmlformats.org/drawingml/2006/main" noGrp="1"/>
          </p:cNvSpPr>
          <p:nvPr/>
        </p:nvSpPr>
        <p:spPr>
          <a:xfrm xmlns:a="http://schemas.openxmlformats.org/drawingml/2006/main">
            <a:off x="92773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5" name="">
            <a:extLst xmlns:a="http://schemas.openxmlformats.org/drawingml/2006/main">
              <a:ext uri="{FF2B5EF4-FFF2-40B4-BE49-F238E27FC236}">
                <a16:creationId xmlns:a16="http://schemas.microsoft.com/office/drawing/2014/main" id="{DBE77FA6-358A-45FC-ACCA-79E070F18136}"/>
              </a:ext>
            </a:extLst>
          </p:cNvPr>
          <p:cNvSpPr>
            <a:spLocks xmlns:a="http://schemas.openxmlformats.org/drawingml/2006/main" noGrp="1"/>
          </p:cNvSpPr>
          <p:nvPr/>
        </p:nvSpPr>
        <p:spPr>
          <a:xfrm xmlns:a="http://schemas.openxmlformats.org/drawingml/2006/main">
            <a:off x="93916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BUSINESS</a:t>
            </a:r>
          </a:p>
        </p:txBody>
      </p:sp>
      <p:sp>
        <p:nvSpPr>
          <p:cNvPr id="36" name="">
            <a:extLst xmlns:a="http://schemas.openxmlformats.org/drawingml/2006/main">
              <a:ext uri="{FF2B5EF4-FFF2-40B4-BE49-F238E27FC236}">
                <a16:creationId xmlns:a16="http://schemas.microsoft.com/office/drawing/2014/main" id="{334319DB-C7A0-44D1-AF4B-8EB53912ACDD}"/>
              </a:ext>
            </a:extLst>
          </p:cNvPr>
          <p:cNvSpPr>
            <a:spLocks xmlns:a="http://schemas.openxmlformats.org/drawingml/2006/main" noGrp="1"/>
          </p:cNvSpPr>
          <p:nvPr/>
        </p:nvSpPr>
        <p:spPr>
          <a:xfrm xmlns:a="http://schemas.openxmlformats.org/drawingml/2006/main">
            <a:off x="93916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Seats drive revenue. Upgrades, AI sessions, and suite products expand accounts</a:t>
            </a:r>
          </a:p>
        </p:txBody>
      </p:sp>
    </p:spTree>
    <p:extLst>
      <p:ext uri="{BB962C8B-B14F-4D97-AF65-F5344CB8AC3E}">
        <p14:creationId xmlns:p14="http://schemas.microsoft.com/office/powerpoint/2010/main" val="1397559350"/>
      </p:ext>
    </p:extLst>
  </p:cSld>
</p:sld>
</file>

<file path=ppt/slides/slide7.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415E3F5-9B65-404A-800B-8AA62BCD515B}"/>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Salesforce Service Cloud / Agentforce</a:t>
            </a:r>
          </a:p>
        </p:txBody>
      </p:sp>
      <p:sp>
        <p:nvSpPr>
          <p:cNvPr id="2" name="">
            <a:extLst xmlns:a="http://schemas.openxmlformats.org/drawingml/2006/main">
              <a:ext uri="{FF2B5EF4-FFF2-40B4-BE49-F238E27FC236}">
                <a16:creationId xmlns:a16="http://schemas.microsoft.com/office/drawing/2014/main" id="{65AC284C-D5EC-470B-89CA-587ED9FFC703}"/>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29DDE4C7-EB49-407B-927C-A36967446525}"/>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V9, V10, V11, R6. V gives public claims. R gives selected friction signals. H gives strategic inference.</a:t>
            </a:r>
          </a:p>
        </p:txBody>
      </p:sp>
      <p:sp>
        <p:nvSpPr>
          <p:cNvPr id="4" name="">
            <a:extLst xmlns:a="http://schemas.openxmlformats.org/drawingml/2006/main">
              <a:ext uri="{FF2B5EF4-FFF2-40B4-BE49-F238E27FC236}">
                <a16:creationId xmlns:a16="http://schemas.microsoft.com/office/drawing/2014/main" id="{A41513C2-379B-47A9-B912-7F0F6C521573}"/>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C707221E-F392-4BC5-B3BD-4945E0CF851F}"/>
              </a:ext>
            </a:extLst>
          </p:cNvPr>
          <p:cNvSpPr>
            <a:spLocks xmlns:a="http://schemas.openxmlformats.org/drawingml/2006/main" noGrp="1"/>
          </p:cNvSpPr>
          <p:nvPr/>
        </p:nvSpPr>
        <p:spPr>
          <a:xfrm xmlns:a="http://schemas.openxmlformats.org/drawingml/2006/main">
            <a:off x="552450" y="1104900"/>
            <a:ext cx="76200" cy="2876550"/>
          </a:xfrm>
          <a:prstGeom xmlns:a="http://schemas.openxmlformats.org/drawingml/2006/main" prst="rect">
            <a:avLst/>
          </a:prstGeom>
          <a:solidFill xmlns:a="http://schemas.openxmlformats.org/drawingml/2006/main">
            <a:srgbClr val="0176D3"/>
          </a:solidFill>
          <a:ln xmlns:a="http://schemas.openxmlformats.org/drawingml/2006/main" w="0">
            <a:solidFill>
              <a:srgbClr val="0176D3"/>
            </a:solidFill>
          </a:ln>
        </p:spPr>
      </p:sp>
      <p:sp>
        <p:nvSpPr>
          <p:cNvPr id="6" name="">
            <a:extLst xmlns:a="http://schemas.openxmlformats.org/drawingml/2006/main">
              <a:ext uri="{FF2B5EF4-FFF2-40B4-BE49-F238E27FC236}">
                <a16:creationId xmlns:a16="http://schemas.microsoft.com/office/drawing/2014/main" id="{16D9AF70-C5FE-464C-9228-064C0077035A}"/>
              </a:ext>
            </a:extLst>
          </p:cNvPr>
          <p:cNvSpPr>
            <a:spLocks xmlns:a="http://schemas.openxmlformats.org/drawingml/2006/main" noGrp="1"/>
          </p:cNvSpPr>
          <p:nvPr/>
        </p:nvSpPr>
        <p:spPr>
          <a:xfrm xmlns:a="http://schemas.openxmlformats.org/drawingml/2006/main">
            <a:off x="819150" y="11430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176D3"/>
                </a:solidFill>
                <a:latin typeface="Arial"/>
                <a:ea typeface="Arial"/>
                <a:cs typeface="Arial"/>
              </a:defRPr>
            </a:pPr>
            <a:r>
              <a:rPr sz="1125" b="1">
                <a:solidFill>
                  <a:srgbClr val="0176D3"/>
                </a:solidFill>
                <a:latin typeface="Arial"/>
                <a:ea typeface="Arial"/>
                <a:cs typeface="Arial"/>
              </a:rPr>
              <a:t>CUSTOMER  H</a:t>
            </a:r>
          </a:p>
        </p:txBody>
      </p:sp>
      <p:sp>
        <p:nvSpPr>
          <p:cNvPr id="7" name="">
            <a:extLst xmlns:a="http://schemas.openxmlformats.org/drawingml/2006/main">
              <a:ext uri="{FF2B5EF4-FFF2-40B4-BE49-F238E27FC236}">
                <a16:creationId xmlns:a16="http://schemas.microsoft.com/office/drawing/2014/main" id="{4ED85589-C348-430A-9FC8-7D1C0B969A6A}"/>
              </a:ext>
            </a:extLst>
          </p:cNvPr>
          <p:cNvSpPr>
            <a:spLocks xmlns:a="http://schemas.openxmlformats.org/drawingml/2006/main" noGrp="1"/>
          </p:cNvSpPr>
          <p:nvPr/>
        </p:nvSpPr>
        <p:spPr>
          <a:xfrm xmlns:a="http://schemas.openxmlformats.org/drawingml/2006/main">
            <a:off x="819150" y="13525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11315"/>
                </a:solidFill>
                <a:latin typeface="Arial"/>
                <a:ea typeface="Arial"/>
                <a:cs typeface="Arial"/>
              </a:defRPr>
            </a:pPr>
            <a:r>
              <a:rPr sz="1425" b="0">
                <a:solidFill>
                  <a:srgbClr val="111315"/>
                </a:solidFill>
                <a:latin typeface="Arial"/>
                <a:ea typeface="Arial"/>
                <a:cs typeface="Arial"/>
              </a:rPr>
              <a:t>Complex enterprises, especially Salesforce accounts, needing CRM centred service, permissions, audit, and industry depth.</a:t>
            </a:r>
          </a:p>
        </p:txBody>
      </p:sp>
      <p:sp>
        <p:nvSpPr>
          <p:cNvPr id="8" name="">
            <a:extLst xmlns:a="http://schemas.openxmlformats.org/drawingml/2006/main">
              <a:ext uri="{FF2B5EF4-FFF2-40B4-BE49-F238E27FC236}">
                <a16:creationId xmlns:a16="http://schemas.microsoft.com/office/drawing/2014/main" id="{86919768-780B-4022-96E5-E4CF018D0040}"/>
              </a:ext>
            </a:extLst>
          </p:cNvPr>
          <p:cNvSpPr>
            <a:spLocks xmlns:a="http://schemas.openxmlformats.org/drawingml/2006/main" noGrp="1"/>
          </p:cNvSpPr>
          <p:nvPr/>
        </p:nvSpPr>
        <p:spPr>
          <a:xfrm xmlns:a="http://schemas.openxmlformats.org/drawingml/2006/main">
            <a:off x="819150" y="20574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176D3"/>
                </a:solidFill>
                <a:latin typeface="Arial"/>
                <a:ea typeface="Arial"/>
                <a:cs typeface="Arial"/>
              </a:defRPr>
            </a:pPr>
            <a:r>
              <a:rPr sz="1125" b="1">
                <a:solidFill>
                  <a:srgbClr val="0176D3"/>
                </a:solidFill>
                <a:latin typeface="Arial"/>
                <a:ea typeface="Arial"/>
                <a:cs typeface="Arial"/>
              </a:rPr>
              <a:t>PROMISE  V</a:t>
            </a:r>
          </a:p>
        </p:txBody>
      </p:sp>
      <p:sp>
        <p:nvSpPr>
          <p:cNvPr id="9" name="">
            <a:extLst xmlns:a="http://schemas.openxmlformats.org/drawingml/2006/main">
              <a:ext uri="{FF2B5EF4-FFF2-40B4-BE49-F238E27FC236}">
                <a16:creationId xmlns:a16="http://schemas.microsoft.com/office/drawing/2014/main" id="{5D490597-3F8E-46AE-B4CD-95AFF805F0C7}"/>
              </a:ext>
            </a:extLst>
          </p:cNvPr>
          <p:cNvSpPr>
            <a:spLocks xmlns:a="http://schemas.openxmlformats.org/drawingml/2006/main" noGrp="1"/>
          </p:cNvSpPr>
          <p:nvPr/>
        </p:nvSpPr>
        <p:spPr>
          <a:xfrm xmlns:a="http://schemas.openxmlformats.org/drawingml/2006/main">
            <a:off x="819150" y="22669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11315"/>
                </a:solidFill>
                <a:latin typeface="Arial"/>
                <a:ea typeface="Arial"/>
                <a:cs typeface="Arial"/>
              </a:defRPr>
            </a:pPr>
            <a:r>
              <a:rPr sz="1500" b="0">
                <a:solidFill>
                  <a:srgbClr val="111315"/>
                </a:solidFill>
                <a:latin typeface="Arial"/>
                <a:ea typeface="Arial"/>
                <a:cs typeface="Arial"/>
              </a:rPr>
              <a:t>Governed AI service using trusted CRM context and enterprise workflow.</a:t>
            </a:r>
          </a:p>
        </p:txBody>
      </p:sp>
      <p:sp>
        <p:nvSpPr>
          <p:cNvPr id="10" name="">
            <a:extLst xmlns:a="http://schemas.openxmlformats.org/drawingml/2006/main">
              <a:ext uri="{FF2B5EF4-FFF2-40B4-BE49-F238E27FC236}">
                <a16:creationId xmlns:a16="http://schemas.microsoft.com/office/drawing/2014/main" id="{A35E8BE3-22D0-487C-83D0-2DB433143324}"/>
              </a:ext>
            </a:extLst>
          </p:cNvPr>
          <p:cNvSpPr>
            <a:spLocks xmlns:a="http://schemas.openxmlformats.org/drawingml/2006/main" noGrp="1"/>
          </p:cNvSpPr>
          <p:nvPr/>
        </p:nvSpPr>
        <p:spPr>
          <a:xfrm xmlns:a="http://schemas.openxmlformats.org/drawingml/2006/main">
            <a:off x="819150" y="27051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176D3"/>
                </a:solidFill>
                <a:latin typeface="Arial"/>
                <a:ea typeface="Arial"/>
                <a:cs typeface="Arial"/>
              </a:defRPr>
            </a:pPr>
            <a:r>
              <a:rPr sz="1125" b="1">
                <a:solidFill>
                  <a:srgbClr val="0176D3"/>
                </a:solidFill>
                <a:latin typeface="Arial"/>
                <a:ea typeface="Arial"/>
                <a:cs typeface="Arial"/>
              </a:rPr>
              <a:t>MODEL  V + H</a:t>
            </a:r>
          </a:p>
        </p:txBody>
      </p:sp>
      <p:sp>
        <p:nvSpPr>
          <p:cNvPr id="11" name="">
            <a:extLst xmlns:a="http://schemas.openxmlformats.org/drawingml/2006/main">
              <a:ext uri="{FF2B5EF4-FFF2-40B4-BE49-F238E27FC236}">
                <a16:creationId xmlns:a16="http://schemas.microsoft.com/office/drawing/2014/main" id="{B1B62C93-C9B7-4DC4-B507-C7CBFDA7B086}"/>
              </a:ext>
            </a:extLst>
          </p:cNvPr>
          <p:cNvSpPr>
            <a:spLocks xmlns:a="http://schemas.openxmlformats.org/drawingml/2006/main" noGrp="1"/>
          </p:cNvSpPr>
          <p:nvPr/>
        </p:nvSpPr>
        <p:spPr>
          <a:xfrm xmlns:a="http://schemas.openxmlformats.org/drawingml/2006/main">
            <a:off x="819150" y="29146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315"/>
                </a:solidFill>
                <a:latin typeface="Arial"/>
                <a:ea typeface="Arial"/>
                <a:cs typeface="Arial"/>
              </a:defRPr>
            </a:pPr>
            <a:r>
              <a:rPr sz="1350" b="0">
                <a:solidFill>
                  <a:srgbClr val="111315"/>
                </a:solidFill>
                <a:latin typeface="Arial"/>
                <a:ea typeface="Arial"/>
                <a:cs typeface="Arial"/>
              </a:rPr>
              <a:t>Land through the Salesforce base or a transformation sale. Licences, credits, conversations, and clouds expand revenue. Data and flows retain accounts.</a:t>
            </a:r>
          </a:p>
        </p:txBody>
      </p:sp>
      <p:sp>
        <p:nvSpPr>
          <p:cNvPr id="12" name="">
            <a:extLst xmlns:a="http://schemas.openxmlformats.org/drawingml/2006/main">
              <a:ext uri="{FF2B5EF4-FFF2-40B4-BE49-F238E27FC236}">
                <a16:creationId xmlns:a16="http://schemas.microsoft.com/office/drawing/2014/main" id="{1DE1EBC8-E72C-453A-B4ED-BB801F734758}"/>
              </a:ext>
            </a:extLst>
          </p:cNvPr>
          <p:cNvSpPr>
            <a:spLocks xmlns:a="http://schemas.openxmlformats.org/drawingml/2006/main" noGrp="1"/>
          </p:cNvSpPr>
          <p:nvPr/>
        </p:nvSpPr>
        <p:spPr>
          <a:xfrm xmlns:a="http://schemas.openxmlformats.org/drawingml/2006/main">
            <a:off x="819150" y="36195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176D3"/>
                </a:solidFill>
                <a:latin typeface="Arial"/>
                <a:ea typeface="Arial"/>
                <a:cs typeface="Arial"/>
              </a:defRPr>
            </a:pPr>
            <a:r>
              <a:rPr sz="1125" b="1">
                <a:solidFill>
                  <a:srgbClr val="0176D3"/>
                </a:solidFill>
                <a:latin typeface="Arial"/>
                <a:ea typeface="Arial"/>
                <a:cs typeface="Arial"/>
              </a:rPr>
              <a:t>WEAKNESS  R + H</a:t>
            </a:r>
          </a:p>
        </p:txBody>
      </p:sp>
      <p:sp>
        <p:nvSpPr>
          <p:cNvPr id="13" name="">
            <a:extLst xmlns:a="http://schemas.openxmlformats.org/drawingml/2006/main">
              <a:ext uri="{FF2B5EF4-FFF2-40B4-BE49-F238E27FC236}">
                <a16:creationId xmlns:a16="http://schemas.microsoft.com/office/drawing/2014/main" id="{B5FF1D43-5117-49E5-B09E-969D2B64186F}"/>
              </a:ext>
            </a:extLst>
          </p:cNvPr>
          <p:cNvSpPr>
            <a:spLocks xmlns:a="http://schemas.openxmlformats.org/drawingml/2006/main" noGrp="1"/>
          </p:cNvSpPr>
          <p:nvPr/>
        </p:nvSpPr>
        <p:spPr>
          <a:xfrm xmlns:a="http://schemas.openxmlformats.org/drawingml/2006/main">
            <a:off x="819150" y="38290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315"/>
                </a:solidFill>
                <a:latin typeface="Arial"/>
                <a:ea typeface="Arial"/>
                <a:cs typeface="Arial"/>
              </a:defRPr>
            </a:pPr>
            <a:r>
              <a:rPr sz="1350" b="0">
                <a:solidFill>
                  <a:srgbClr val="111315"/>
                </a:solidFill>
                <a:latin typeface="Arial"/>
                <a:ea typeface="Arial"/>
                <a:cs typeface="Arial"/>
              </a:rPr>
              <a:t>Time to value, implementation, administration, data readiness, cross cloud complexity, and full stack cost can be high.</a:t>
            </a:r>
          </a:p>
        </p:txBody>
      </p:sp>
      <p:sp>
        <p:nvSpPr>
          <p:cNvPr id="14" name="">
            <a:extLst xmlns:a="http://schemas.openxmlformats.org/drawingml/2006/main">
              <a:ext uri="{FF2B5EF4-FFF2-40B4-BE49-F238E27FC236}">
                <a16:creationId xmlns:a16="http://schemas.microsoft.com/office/drawing/2014/main" id="{F2A779AD-0018-4AAC-8130-4BE4E4C89537}"/>
              </a:ext>
            </a:extLst>
          </p:cNvPr>
          <p:cNvSpPr>
            <a:spLocks xmlns:a="http://schemas.openxmlformats.org/drawingml/2006/main" noGrp="1"/>
          </p:cNvSpPr>
          <p:nvPr/>
        </p:nvSpPr>
        <p:spPr>
          <a:xfrm xmlns:a="http://schemas.openxmlformats.org/drawingml/2006/main">
            <a:off x="6238875" y="11430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176D3"/>
                </a:solidFill>
                <a:latin typeface="Arial"/>
                <a:ea typeface="Arial"/>
                <a:cs typeface="Arial"/>
              </a:defRPr>
            </a:pPr>
            <a:r>
              <a:rPr sz="1125" b="1">
                <a:solidFill>
                  <a:srgbClr val="0176D3"/>
                </a:solidFill>
                <a:latin typeface="Arial"/>
                <a:ea typeface="Arial"/>
                <a:cs typeface="Arial"/>
              </a:rPr>
              <a:t>ENTRY WEDGE  H</a:t>
            </a:r>
          </a:p>
        </p:txBody>
      </p:sp>
      <p:sp>
        <p:nvSpPr>
          <p:cNvPr id="15" name="">
            <a:extLst xmlns:a="http://schemas.openxmlformats.org/drawingml/2006/main">
              <a:ext uri="{FF2B5EF4-FFF2-40B4-BE49-F238E27FC236}">
                <a16:creationId xmlns:a16="http://schemas.microsoft.com/office/drawing/2014/main" id="{1390086C-01F9-43E8-B793-4550A6AA4E8B}"/>
              </a:ext>
            </a:extLst>
          </p:cNvPr>
          <p:cNvSpPr>
            <a:spLocks xmlns:a="http://schemas.openxmlformats.org/drawingml/2006/main" noGrp="1"/>
          </p:cNvSpPr>
          <p:nvPr/>
        </p:nvSpPr>
        <p:spPr>
          <a:xfrm xmlns:a="http://schemas.openxmlformats.org/drawingml/2006/main">
            <a:off x="6238875" y="1390650"/>
            <a:ext cx="5286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11315"/>
                </a:solidFill>
                <a:latin typeface="Arial"/>
                <a:ea typeface="Arial"/>
                <a:cs typeface="Arial"/>
              </a:defRPr>
            </a:pPr>
            <a:r>
              <a:rPr sz="1800" b="1">
                <a:solidFill>
                  <a:srgbClr val="111315"/>
                </a:solidFill>
                <a:latin typeface="Arial"/>
                <a:ea typeface="Arial"/>
                <a:cs typeface="Arial"/>
              </a:rPr>
              <a:t>Native CRM context with enterprise permissions, governance, and an established buyer relationship.</a:t>
            </a:r>
          </a:p>
        </p:txBody>
      </p:sp>
      <p:sp>
        <p:nvSpPr>
          <p:cNvPr id="16" name="">
            <a:extLst xmlns:a="http://schemas.openxmlformats.org/drawingml/2006/main">
              <a:ext uri="{FF2B5EF4-FFF2-40B4-BE49-F238E27FC236}">
                <a16:creationId xmlns:a16="http://schemas.microsoft.com/office/drawing/2014/main" id="{78F29191-7A4B-410B-B62A-008BAA042EEF}"/>
              </a:ext>
            </a:extLst>
          </p:cNvPr>
          <p:cNvSpPr>
            <a:spLocks xmlns:a="http://schemas.openxmlformats.org/drawingml/2006/main" noGrp="1"/>
          </p:cNvSpPr>
          <p:nvPr/>
        </p:nvSpPr>
        <p:spPr>
          <a:xfrm xmlns:a="http://schemas.openxmlformats.org/drawingml/2006/main">
            <a:off x="6238875" y="2076450"/>
            <a:ext cx="5286375"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7" name="">
            <a:extLst xmlns:a="http://schemas.openxmlformats.org/drawingml/2006/main">
              <a:ext uri="{FF2B5EF4-FFF2-40B4-BE49-F238E27FC236}">
                <a16:creationId xmlns:a16="http://schemas.microsoft.com/office/drawing/2014/main" id="{17232359-819E-47D0-8566-BDA7A2DBC5D5}"/>
              </a:ext>
            </a:extLst>
          </p:cNvPr>
          <p:cNvSpPr>
            <a:spLocks xmlns:a="http://schemas.openxmlformats.org/drawingml/2006/main" noGrp="1"/>
          </p:cNvSpPr>
          <p:nvPr/>
        </p:nvSpPr>
        <p:spPr>
          <a:xfrm xmlns:a="http://schemas.openxmlformats.org/drawingml/2006/main">
            <a:off x="6238875" y="22860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176D3"/>
                </a:solidFill>
                <a:latin typeface="Arial"/>
                <a:ea typeface="Arial"/>
                <a:cs typeface="Arial"/>
              </a:defRPr>
            </a:pPr>
            <a:r>
              <a:rPr sz="1125" b="1">
                <a:solidFill>
                  <a:srgbClr val="0176D3"/>
                </a:solidFill>
                <a:latin typeface="Arial"/>
                <a:ea typeface="Arial"/>
                <a:cs typeface="Arial"/>
              </a:rPr>
              <a:t>COMPOUNDING MOAT  H</a:t>
            </a:r>
          </a:p>
        </p:txBody>
      </p:sp>
      <p:sp>
        <p:nvSpPr>
          <p:cNvPr id="18" name="">
            <a:extLst xmlns:a="http://schemas.openxmlformats.org/drawingml/2006/main">
              <a:ext uri="{FF2B5EF4-FFF2-40B4-BE49-F238E27FC236}">
                <a16:creationId xmlns:a16="http://schemas.microsoft.com/office/drawing/2014/main" id="{3AD34E2F-8265-4BAB-89DC-6FE6FA4515C5}"/>
              </a:ext>
            </a:extLst>
          </p:cNvPr>
          <p:cNvSpPr>
            <a:spLocks xmlns:a="http://schemas.openxmlformats.org/drawingml/2006/main" noGrp="1"/>
          </p:cNvSpPr>
          <p:nvPr/>
        </p:nvSpPr>
        <p:spPr>
          <a:xfrm xmlns:a="http://schemas.openxmlformats.org/drawingml/2006/main">
            <a:off x="6238875" y="2533650"/>
            <a:ext cx="5286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Customer data, configured flows, permissions, case history, industry products, partner ecosystem, and trained administrators.</a:t>
            </a:r>
          </a:p>
        </p:txBody>
      </p:sp>
      <p:sp>
        <p:nvSpPr>
          <p:cNvPr id="19" name="">
            <a:extLst xmlns:a="http://schemas.openxmlformats.org/drawingml/2006/main">
              <a:ext uri="{FF2B5EF4-FFF2-40B4-BE49-F238E27FC236}">
                <a16:creationId xmlns:a16="http://schemas.microsoft.com/office/drawing/2014/main" id="{A50FCE60-F439-4772-94F7-927603397B69}"/>
              </a:ext>
            </a:extLst>
          </p:cNvPr>
          <p:cNvSpPr>
            <a:spLocks xmlns:a="http://schemas.openxmlformats.org/drawingml/2006/main" noGrp="1"/>
          </p:cNvSpPr>
          <p:nvPr/>
        </p:nvSpPr>
        <p:spPr>
          <a:xfrm xmlns:a="http://schemas.openxmlformats.org/drawingml/2006/main">
            <a:off x="6238875" y="3409950"/>
            <a:ext cx="5286375" cy="876300"/>
          </a:xfrm>
          <a:prstGeom xmlns:a="http://schemas.openxmlformats.org/drawingml/2006/main" prst="rect">
            <a:avLst/>
          </a:prstGeom>
          <a:solidFill xmlns:a="http://schemas.openxmlformats.org/drawingml/2006/main">
            <a:srgbClr val="FFE6DF"/>
          </a:solidFill>
          <a:ln xmlns:a="http://schemas.openxmlformats.org/drawingml/2006/main" w="0">
            <a:solidFill>
              <a:srgbClr val="FFE6DF"/>
            </a:solidFill>
          </a:ln>
        </p:spPr>
      </p:sp>
      <p:sp>
        <p:nvSpPr>
          <p:cNvPr id="20" name="">
            <a:extLst xmlns:a="http://schemas.openxmlformats.org/drawingml/2006/main">
              <a:ext uri="{FF2B5EF4-FFF2-40B4-BE49-F238E27FC236}">
                <a16:creationId xmlns:a16="http://schemas.microsoft.com/office/drawing/2014/main" id="{71AE8198-E064-4B9F-A4E7-C4791868894D}"/>
              </a:ext>
            </a:extLst>
          </p:cNvPr>
          <p:cNvSpPr>
            <a:spLocks xmlns:a="http://schemas.openxmlformats.org/drawingml/2006/main" noGrp="1"/>
          </p:cNvSpPr>
          <p:nvPr/>
        </p:nvSpPr>
        <p:spPr>
          <a:xfrm xmlns:a="http://schemas.openxmlformats.org/drawingml/2006/main">
            <a:off x="6429375" y="35528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BIGGEST STRATEGIC WEAKNESS  H</a:t>
            </a:r>
          </a:p>
        </p:txBody>
      </p:sp>
      <p:sp>
        <p:nvSpPr>
          <p:cNvPr id="21" name="">
            <a:extLst xmlns:a="http://schemas.openxmlformats.org/drawingml/2006/main">
              <a:ext uri="{FF2B5EF4-FFF2-40B4-BE49-F238E27FC236}">
                <a16:creationId xmlns:a16="http://schemas.microsoft.com/office/drawing/2014/main" id="{0A9BF4E4-33A4-4A85-8733-AE167F304E1C}"/>
              </a:ext>
            </a:extLst>
          </p:cNvPr>
          <p:cNvSpPr>
            <a:spLocks xmlns:a="http://schemas.openxmlformats.org/drawingml/2006/main" noGrp="1"/>
          </p:cNvSpPr>
          <p:nvPr/>
        </p:nvSpPr>
        <p:spPr>
          <a:xfrm xmlns:a="http://schemas.openxmlformats.org/drawingml/2006/main">
            <a:off x="6429375" y="37814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11315"/>
                </a:solidFill>
                <a:latin typeface="Arial"/>
                <a:ea typeface="Arial"/>
                <a:cs typeface="Arial"/>
              </a:defRPr>
            </a:pPr>
            <a:r>
              <a:rPr sz="1575" b="1">
                <a:solidFill>
                  <a:srgbClr val="111315"/>
                </a:solidFill>
                <a:latin typeface="Arial"/>
                <a:ea typeface="Arial"/>
                <a:cs typeface="Arial"/>
              </a:rPr>
              <a:t>The platform can be over extended when a heterogeneous or mid market customer needs one outcome quickly.</a:t>
            </a:r>
          </a:p>
        </p:txBody>
      </p:sp>
      <p:sp>
        <p:nvSpPr>
          <p:cNvPr id="22" name="">
            <a:extLst xmlns:a="http://schemas.openxmlformats.org/drawingml/2006/main">
              <a:ext uri="{FF2B5EF4-FFF2-40B4-BE49-F238E27FC236}">
                <a16:creationId xmlns:a16="http://schemas.microsoft.com/office/drawing/2014/main" id="{0D2CE0DE-A60D-47C6-87FD-E2DE825B1A78}"/>
              </a:ext>
            </a:extLst>
          </p:cNvPr>
          <p:cNvSpPr>
            <a:spLocks xmlns:a="http://schemas.openxmlformats.org/drawingml/2006/main" noGrp="1"/>
          </p:cNvSpPr>
          <p:nvPr/>
        </p:nvSpPr>
        <p:spPr>
          <a:xfrm xmlns:a="http://schemas.openxmlformats.org/drawingml/2006/main">
            <a:off x="552450" y="454342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VALUE CREATION LENS</a:t>
            </a:r>
          </a:p>
        </p:txBody>
      </p:sp>
      <p:sp>
        <p:nvSpPr>
          <p:cNvPr id="23" name="">
            <a:extLst xmlns:a="http://schemas.openxmlformats.org/drawingml/2006/main">
              <a:ext uri="{FF2B5EF4-FFF2-40B4-BE49-F238E27FC236}">
                <a16:creationId xmlns:a16="http://schemas.microsoft.com/office/drawing/2014/main" id="{16D52B32-0302-48E2-ABAF-829085F89B12}"/>
              </a:ext>
            </a:extLst>
          </p:cNvPr>
          <p:cNvSpPr>
            <a:spLocks xmlns:a="http://schemas.openxmlformats.org/drawingml/2006/main" noGrp="1"/>
          </p:cNvSpPr>
          <p:nvPr/>
        </p:nvSpPr>
        <p:spPr>
          <a:xfrm xmlns:a="http://schemas.openxmlformats.org/drawingml/2006/main">
            <a:off x="5524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USER</a:t>
            </a:r>
          </a:p>
        </p:txBody>
      </p:sp>
      <p:sp>
        <p:nvSpPr>
          <p:cNvPr id="24" name="">
            <a:extLst xmlns:a="http://schemas.openxmlformats.org/drawingml/2006/main">
              <a:ext uri="{FF2B5EF4-FFF2-40B4-BE49-F238E27FC236}">
                <a16:creationId xmlns:a16="http://schemas.microsoft.com/office/drawing/2014/main" id="{602AC1D0-55F4-45E8-8280-585DCAE69203}"/>
              </a:ext>
            </a:extLst>
          </p:cNvPr>
          <p:cNvSpPr>
            <a:spLocks xmlns:a="http://schemas.openxmlformats.org/drawingml/2006/main" noGrp="1"/>
          </p:cNvSpPr>
          <p:nvPr/>
        </p:nvSpPr>
        <p:spPr>
          <a:xfrm xmlns:a="http://schemas.openxmlformats.org/drawingml/2006/main">
            <a:off x="5524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Customer, service rep, supervisor, field worker, admin, platform builder</a:t>
            </a:r>
          </a:p>
        </p:txBody>
      </p:sp>
      <p:sp>
        <p:nvSpPr>
          <p:cNvPr id="25" name="">
            <a:extLst xmlns:a="http://schemas.openxmlformats.org/drawingml/2006/main">
              <a:ext uri="{FF2B5EF4-FFF2-40B4-BE49-F238E27FC236}">
                <a16:creationId xmlns:a16="http://schemas.microsoft.com/office/drawing/2014/main" id="{2EB5E6EA-F52C-49E8-BB56-F42365ED9500}"/>
              </a:ext>
            </a:extLst>
          </p:cNvPr>
          <p:cNvSpPr>
            <a:spLocks xmlns:a="http://schemas.openxmlformats.org/drawingml/2006/main" noGrp="1"/>
          </p:cNvSpPr>
          <p:nvPr/>
        </p:nvSpPr>
        <p:spPr>
          <a:xfrm xmlns:a="http://schemas.openxmlformats.org/drawingml/2006/main">
            <a:off x="26479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6" name="">
            <a:extLst xmlns:a="http://schemas.openxmlformats.org/drawingml/2006/main">
              <a:ext uri="{FF2B5EF4-FFF2-40B4-BE49-F238E27FC236}">
                <a16:creationId xmlns:a16="http://schemas.microsoft.com/office/drawing/2014/main" id="{3E0ECA72-CEFE-4A40-87E1-88BC41B92130}"/>
              </a:ext>
            </a:extLst>
          </p:cNvPr>
          <p:cNvSpPr>
            <a:spLocks xmlns:a="http://schemas.openxmlformats.org/drawingml/2006/main" noGrp="1"/>
          </p:cNvSpPr>
          <p:nvPr/>
        </p:nvSpPr>
        <p:spPr>
          <a:xfrm xmlns:a="http://schemas.openxmlformats.org/drawingml/2006/main">
            <a:off x="27622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JOB</a:t>
            </a:r>
          </a:p>
        </p:txBody>
      </p:sp>
      <p:sp>
        <p:nvSpPr>
          <p:cNvPr id="27" name="">
            <a:extLst xmlns:a="http://schemas.openxmlformats.org/drawingml/2006/main">
              <a:ext uri="{FF2B5EF4-FFF2-40B4-BE49-F238E27FC236}">
                <a16:creationId xmlns:a16="http://schemas.microsoft.com/office/drawing/2014/main" id="{BA7775B3-6A06-45C1-96FC-0D2FF623E99C}"/>
              </a:ext>
            </a:extLst>
          </p:cNvPr>
          <p:cNvSpPr>
            <a:spLocks xmlns:a="http://schemas.openxmlformats.org/drawingml/2006/main" noGrp="1"/>
          </p:cNvSpPr>
          <p:nvPr/>
        </p:nvSpPr>
        <p:spPr>
          <a:xfrm xmlns:a="http://schemas.openxmlformats.org/drawingml/2006/main">
            <a:off x="27622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Resolve governed service work with complete context and preserve permissions and audit</a:t>
            </a:r>
          </a:p>
        </p:txBody>
      </p:sp>
      <p:sp>
        <p:nvSpPr>
          <p:cNvPr id="28" name="">
            <a:extLst xmlns:a="http://schemas.openxmlformats.org/drawingml/2006/main">
              <a:ext uri="{FF2B5EF4-FFF2-40B4-BE49-F238E27FC236}">
                <a16:creationId xmlns:a16="http://schemas.microsoft.com/office/drawing/2014/main" id="{55B9514D-61CE-4B8A-815E-2AFBE2880DD9}"/>
              </a:ext>
            </a:extLst>
          </p:cNvPr>
          <p:cNvSpPr>
            <a:spLocks xmlns:a="http://schemas.openxmlformats.org/drawingml/2006/main" noGrp="1"/>
          </p:cNvSpPr>
          <p:nvPr/>
        </p:nvSpPr>
        <p:spPr>
          <a:xfrm xmlns:a="http://schemas.openxmlformats.org/drawingml/2006/main">
            <a:off x="48577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9" name="">
            <a:extLst xmlns:a="http://schemas.openxmlformats.org/drawingml/2006/main">
              <a:ext uri="{FF2B5EF4-FFF2-40B4-BE49-F238E27FC236}">
                <a16:creationId xmlns:a16="http://schemas.microsoft.com/office/drawing/2014/main" id="{7A260136-E183-4CC2-B8DA-ACC54933E724}"/>
              </a:ext>
            </a:extLst>
          </p:cNvPr>
          <p:cNvSpPr>
            <a:spLocks xmlns:a="http://schemas.openxmlformats.org/drawingml/2006/main" noGrp="1"/>
          </p:cNvSpPr>
          <p:nvPr/>
        </p:nvSpPr>
        <p:spPr>
          <a:xfrm xmlns:a="http://schemas.openxmlformats.org/drawingml/2006/main">
            <a:off x="49720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TRIGGER</a:t>
            </a:r>
          </a:p>
        </p:txBody>
      </p:sp>
      <p:sp>
        <p:nvSpPr>
          <p:cNvPr id="30" name="">
            <a:extLst xmlns:a="http://schemas.openxmlformats.org/drawingml/2006/main">
              <a:ext uri="{FF2B5EF4-FFF2-40B4-BE49-F238E27FC236}">
                <a16:creationId xmlns:a16="http://schemas.microsoft.com/office/drawing/2014/main" id="{07528B97-375B-47E8-8DAD-7CF01B3BDB54}"/>
              </a:ext>
            </a:extLst>
          </p:cNvPr>
          <p:cNvSpPr>
            <a:spLocks xmlns:a="http://schemas.openxmlformats.org/drawingml/2006/main" noGrp="1"/>
          </p:cNvSpPr>
          <p:nvPr/>
        </p:nvSpPr>
        <p:spPr>
          <a:xfrm xmlns:a="http://schemas.openxmlformats.org/drawingml/2006/main">
            <a:off x="49720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Existing Salesforce investment, fragmented enterprise service, transformation mandate</a:t>
            </a:r>
          </a:p>
        </p:txBody>
      </p:sp>
      <p:sp>
        <p:nvSpPr>
          <p:cNvPr id="31" name="">
            <a:extLst xmlns:a="http://schemas.openxmlformats.org/drawingml/2006/main">
              <a:ext uri="{FF2B5EF4-FFF2-40B4-BE49-F238E27FC236}">
                <a16:creationId xmlns:a16="http://schemas.microsoft.com/office/drawing/2014/main" id="{16C1ABAD-2A16-424E-AB35-0D194F721A18}"/>
              </a:ext>
            </a:extLst>
          </p:cNvPr>
          <p:cNvSpPr>
            <a:spLocks xmlns:a="http://schemas.openxmlformats.org/drawingml/2006/main" noGrp="1"/>
          </p:cNvSpPr>
          <p:nvPr/>
        </p:nvSpPr>
        <p:spPr>
          <a:xfrm xmlns:a="http://schemas.openxmlformats.org/drawingml/2006/main">
            <a:off x="70675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2" name="">
            <a:extLst xmlns:a="http://schemas.openxmlformats.org/drawingml/2006/main">
              <a:ext uri="{FF2B5EF4-FFF2-40B4-BE49-F238E27FC236}">
                <a16:creationId xmlns:a16="http://schemas.microsoft.com/office/drawing/2014/main" id="{1E590D25-9BAA-4652-81EB-776115472594}"/>
              </a:ext>
            </a:extLst>
          </p:cNvPr>
          <p:cNvSpPr>
            <a:spLocks xmlns:a="http://schemas.openxmlformats.org/drawingml/2006/main" noGrp="1"/>
          </p:cNvSpPr>
          <p:nvPr/>
        </p:nvSpPr>
        <p:spPr>
          <a:xfrm xmlns:a="http://schemas.openxmlformats.org/drawingml/2006/main">
            <a:off x="71818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EXPERIENCE</a:t>
            </a:r>
          </a:p>
        </p:txBody>
      </p:sp>
      <p:sp>
        <p:nvSpPr>
          <p:cNvPr id="33" name="">
            <a:extLst xmlns:a="http://schemas.openxmlformats.org/drawingml/2006/main">
              <a:ext uri="{FF2B5EF4-FFF2-40B4-BE49-F238E27FC236}">
                <a16:creationId xmlns:a16="http://schemas.microsoft.com/office/drawing/2014/main" id="{A2B24D8E-F724-42A7-80E5-58094625CB2C}"/>
              </a:ext>
            </a:extLst>
          </p:cNvPr>
          <p:cNvSpPr>
            <a:spLocks xmlns:a="http://schemas.openxmlformats.org/drawingml/2006/main" noGrp="1"/>
          </p:cNvSpPr>
          <p:nvPr/>
        </p:nvSpPr>
        <p:spPr>
          <a:xfrm xmlns:a="http://schemas.openxmlformats.org/drawingml/2006/main">
            <a:off x="71818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Rich CRM context and governed actions. Friction in setup, data readiness, specialist skills, and full cost</a:t>
            </a:r>
          </a:p>
        </p:txBody>
      </p:sp>
      <p:sp>
        <p:nvSpPr>
          <p:cNvPr id="34" name="">
            <a:extLst xmlns:a="http://schemas.openxmlformats.org/drawingml/2006/main">
              <a:ext uri="{FF2B5EF4-FFF2-40B4-BE49-F238E27FC236}">
                <a16:creationId xmlns:a16="http://schemas.microsoft.com/office/drawing/2014/main" id="{2D3DEF13-683B-45C5-A08D-86062CC19818}"/>
              </a:ext>
            </a:extLst>
          </p:cNvPr>
          <p:cNvSpPr>
            <a:spLocks xmlns:a="http://schemas.openxmlformats.org/drawingml/2006/main" noGrp="1"/>
          </p:cNvSpPr>
          <p:nvPr/>
        </p:nvSpPr>
        <p:spPr>
          <a:xfrm xmlns:a="http://schemas.openxmlformats.org/drawingml/2006/main">
            <a:off x="9277350" y="4810125"/>
            <a:ext cx="9525" cy="12573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5" name="">
            <a:extLst xmlns:a="http://schemas.openxmlformats.org/drawingml/2006/main">
              <a:ext uri="{FF2B5EF4-FFF2-40B4-BE49-F238E27FC236}">
                <a16:creationId xmlns:a16="http://schemas.microsoft.com/office/drawing/2014/main" id="{DD0E3F73-3730-4F9B-B68D-FB16F2D31A41}"/>
              </a:ext>
            </a:extLst>
          </p:cNvPr>
          <p:cNvSpPr>
            <a:spLocks xmlns:a="http://schemas.openxmlformats.org/drawingml/2006/main" noGrp="1"/>
          </p:cNvSpPr>
          <p:nvPr/>
        </p:nvSpPr>
        <p:spPr>
          <a:xfrm xmlns:a="http://schemas.openxmlformats.org/drawingml/2006/main">
            <a:off x="9391650" y="481012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BUSINESS</a:t>
            </a:r>
          </a:p>
        </p:txBody>
      </p:sp>
      <p:sp>
        <p:nvSpPr>
          <p:cNvPr id="36" name="">
            <a:extLst xmlns:a="http://schemas.openxmlformats.org/drawingml/2006/main">
              <a:ext uri="{FF2B5EF4-FFF2-40B4-BE49-F238E27FC236}">
                <a16:creationId xmlns:a16="http://schemas.microsoft.com/office/drawing/2014/main" id="{355E5394-EA19-4F39-BBFB-1A374A796491}"/>
              </a:ext>
            </a:extLst>
          </p:cNvPr>
          <p:cNvSpPr>
            <a:spLocks xmlns:a="http://schemas.openxmlformats.org/drawingml/2006/main" noGrp="1"/>
          </p:cNvSpPr>
          <p:nvPr/>
        </p:nvSpPr>
        <p:spPr>
          <a:xfrm xmlns:a="http://schemas.openxmlformats.org/drawingml/2006/main">
            <a:off x="9391650" y="5067300"/>
            <a:ext cx="2000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11315"/>
                </a:solidFill>
                <a:latin typeface="Arial"/>
                <a:ea typeface="Arial"/>
                <a:cs typeface="Arial"/>
              </a:defRPr>
            </a:pPr>
            <a:r>
              <a:rPr sz="1275" b="0">
                <a:solidFill>
                  <a:srgbClr val="111315"/>
                </a:solidFill>
                <a:latin typeface="Arial"/>
                <a:ea typeface="Arial"/>
                <a:cs typeface="Arial"/>
              </a:rPr>
              <a:t>Daily CRM use supports retention. Licences, credits, and cloud expansion grow revenue</a:t>
            </a:r>
          </a:p>
        </p:txBody>
      </p:sp>
    </p:spTree>
    <p:extLst>
      <p:ext uri="{BB962C8B-B14F-4D97-AF65-F5344CB8AC3E}">
        <p14:creationId xmlns:p14="http://schemas.microsoft.com/office/powerpoint/2010/main" val="1651575291"/>
      </p:ext>
    </p:extLst>
  </p:cSld>
</p:sld>
</file>

<file path=ppt/slides/slide8.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2E83A3-01B8-4219-9378-5210CE5B41B2}"/>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Customer, promise, model, weakness</a:t>
            </a:r>
          </a:p>
        </p:txBody>
      </p:sp>
      <p:sp>
        <p:nvSpPr>
          <p:cNvPr id="2" name="">
            <a:extLst xmlns:a="http://schemas.openxmlformats.org/drawingml/2006/main">
              <a:ext uri="{FF2B5EF4-FFF2-40B4-BE49-F238E27FC236}">
                <a16:creationId xmlns:a16="http://schemas.microsoft.com/office/drawing/2014/main" id="{DA24AC36-E09D-4006-819F-569CFF0585AC}"/>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0B29566B-F79C-443D-A751-3A8D21E19D2B}"/>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V1 to V11, R1 to R6, H. Best fit and vulnerability are strategic inferences.</a:t>
            </a:r>
          </a:p>
        </p:txBody>
      </p:sp>
      <p:sp>
        <p:nvSpPr>
          <p:cNvPr id="4" name="">
            <a:extLst xmlns:a="http://schemas.openxmlformats.org/drawingml/2006/main">
              <a:ext uri="{FF2B5EF4-FFF2-40B4-BE49-F238E27FC236}">
                <a16:creationId xmlns:a16="http://schemas.microsoft.com/office/drawing/2014/main" id="{357AB2BD-F27D-4537-B6DA-16D857509CBC}"/>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08</a:t>
            </a:r>
          </a:p>
        </p:txBody>
      </p:sp>
      <p:graphicFrame>
        <p:nvGraphicFramePr>
          <p:cNvPr id="10" name=""/>
          <p:cNvGraphicFramePr/>
          <p:nvPr/>
        </p:nvGraphicFramePr>
        <p:xfrm>
          <a:off xmlns:a="http://schemas.openxmlformats.org/drawingml/2006/main" x="552450" y="1181100"/>
          <a:ext xmlns:a="http://schemas.openxmlformats.org/drawingml/2006/main" cx="11087100" cy="4857750"/>
        </p:xfrm>
        <a:graphic xmlns:a="http://schemas.openxmlformats.org/drawingml/2006/main">
          <a:graphicData uri="http://schemas.openxmlformats.org/drawingml/2006/table">
            <a:tbl>
              <a:tblPr/>
              <a:tblGrid>
                <a:gridCol w="1809750"/>
                <a:gridCol w="2286000"/>
                <a:gridCol w="2190750"/>
                <a:gridCol w="2190750"/>
                <a:gridCol w="2609850"/>
              </a:tblGrid>
              <a:tr h="971550">
                <a:tc>
                  <a:txBody>
                    <a:bodyPr>
                      <a:noAutofit/>
                    </a:bodyPr>
                    <a:lstStyle/>
                    <a:p>
                      <a:r>
                        <a:rPr sz="1275" b="1">
                          <a:solidFill>
                            <a:srgbClr val="FFFFFF"/>
                          </a:solidFill>
                          <a:latin typeface="Arial"/>
                          <a:ea typeface="Arial"/>
                          <a:cs typeface="Arial"/>
                        </a:rPr>
                        <a:t>Competitor</a:t>
                      </a:r>
                    </a:p>
                  </a:txBody>
                  <a:tcPr marL="91440" marR="91440" marT="45720" marB="45720">
                    <a:solidFill>
                      <a:srgbClr val="111315"/>
                    </a:solidFill>
                  </a:tcPr>
                </a:tc>
                <a:tc>
                  <a:txBody>
                    <a:bodyPr>
                      <a:noAutofit/>
                    </a:bodyPr>
                    <a:lstStyle/>
                    <a:p>
                      <a:r>
                        <a:rPr sz="1275" b="1">
                          <a:solidFill>
                            <a:srgbClr val="FFFFFF"/>
                          </a:solidFill>
                          <a:latin typeface="Arial"/>
                          <a:ea typeface="Arial"/>
                          <a:cs typeface="Arial"/>
                        </a:rPr>
                        <a:t>Customer served best</a:t>
                      </a:r>
                    </a:p>
                  </a:txBody>
                  <a:tcPr marL="91440" marR="91440" marT="45720" marB="45720">
                    <a:solidFill>
                      <a:srgbClr val="111315"/>
                    </a:solidFill>
                  </a:tcPr>
                </a:tc>
                <a:tc>
                  <a:txBody>
                    <a:bodyPr>
                      <a:noAutofit/>
                    </a:bodyPr>
                    <a:lstStyle/>
                    <a:p>
                      <a:r>
                        <a:rPr sz="1275" b="1">
                          <a:solidFill>
                            <a:srgbClr val="FFFFFF"/>
                          </a:solidFill>
                          <a:latin typeface="Arial"/>
                          <a:ea typeface="Arial"/>
                          <a:cs typeface="Arial"/>
                        </a:rPr>
                        <a:t>Promise owned</a:t>
                      </a:r>
                    </a:p>
                  </a:txBody>
                  <a:tcPr marL="91440" marR="91440" marT="45720" marB="45720">
                    <a:solidFill>
                      <a:srgbClr val="111315"/>
                    </a:solidFill>
                  </a:tcPr>
                </a:tc>
                <a:tc>
                  <a:txBody>
                    <a:bodyPr>
                      <a:noAutofit/>
                    </a:bodyPr>
                    <a:lstStyle/>
                    <a:p>
                      <a:r>
                        <a:rPr sz="1275" b="1">
                          <a:solidFill>
                            <a:srgbClr val="FFFFFF"/>
                          </a:solidFill>
                          <a:latin typeface="Arial"/>
                          <a:ea typeface="Arial"/>
                          <a:cs typeface="Arial"/>
                        </a:rPr>
                        <a:t>Business model</a:t>
                      </a:r>
                    </a:p>
                  </a:txBody>
                  <a:tcPr marL="91440" marR="91440" marT="45720" marB="45720">
                    <a:solidFill>
                      <a:srgbClr val="111315"/>
                    </a:solidFill>
                  </a:tcPr>
                </a:tc>
                <a:tc>
                  <a:txBody>
                    <a:bodyPr>
                      <a:noAutofit/>
                    </a:bodyPr>
                    <a:lstStyle/>
                    <a:p>
                      <a:r>
                        <a:rPr sz="1275" b="1">
                          <a:solidFill>
                            <a:srgbClr val="FFFFFF"/>
                          </a:solidFill>
                          <a:latin typeface="Arial"/>
                          <a:ea typeface="Arial"/>
                          <a:cs typeface="Arial"/>
                        </a:rPr>
                        <a:t>Biggest weakness</a:t>
                      </a:r>
                    </a:p>
                  </a:txBody>
                  <a:tcPr marL="91440" marR="91440" marT="45720" marB="45720">
                    <a:solidFill>
                      <a:srgbClr val="111315"/>
                    </a:solidFill>
                  </a:tcPr>
                </a:tc>
              </a:tr>
              <a:tr h="971550">
                <a:tc>
                  <a:txBody>
                    <a:bodyPr>
                      <a:noAutofit/>
                    </a:bodyPr>
                    <a:lstStyle/>
                    <a:p>
                      <a:r>
                        <a:rPr sz="1350" b="1">
                          <a:solidFill>
                            <a:srgbClr val="335CFF"/>
                          </a:solidFill>
                          <a:latin typeface="Arial"/>
                          <a:ea typeface="Arial"/>
                          <a:cs typeface="Arial"/>
                        </a:rPr>
                        <a:t>Intercom / Fin</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Digital support teams seeking AI first conversations</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Outcome based AI resolution</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Seats, outcomes, Copilot, AI operations</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Complex work can undermine simple outcome economics</a:t>
                      </a:r>
                    </a:p>
                  </a:txBody>
                  <a:tcPr marL="91440" marR="91440" marT="45720" marB="45720">
                    <a:solidFill>
                      <a:srgbClr val="F3F2ED"/>
                    </a:solidFill>
                  </a:tcPr>
                </a:tc>
              </a:tr>
              <a:tr h="971550">
                <a:tc>
                  <a:txBody>
                    <a:bodyPr>
                      <a:noAutofit/>
                    </a:bodyPr>
                    <a:lstStyle/>
                    <a:p>
                      <a:r>
                        <a:rPr sz="1350" b="1">
                          <a:solidFill>
                            <a:srgbClr val="335CFF"/>
                          </a:solidFill>
                          <a:latin typeface="Arial"/>
                          <a:ea typeface="Arial"/>
                          <a:cs typeface="Arial"/>
                        </a:rPr>
                        <a:t>Zendesk AI</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Teams needing mature ticketing and service operations</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Complete service operations with embedded AI</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Seats, suites, AI, Copilot, contact centre</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Breadth increases administration and time to value</a:t>
                      </a:r>
                    </a:p>
                  </a:txBody>
                  <a:tcPr marL="91440" marR="91440" marT="45720" marB="45720">
                    <a:solidFill>
                      <a:srgbClr val="FFFFFF"/>
                    </a:solidFill>
                  </a:tcPr>
                </a:tc>
              </a:tr>
              <a:tr h="971550">
                <a:tc>
                  <a:txBody>
                    <a:bodyPr>
                      <a:noAutofit/>
                    </a:bodyPr>
                    <a:lstStyle/>
                    <a:p>
                      <a:r>
                        <a:rPr sz="1350" b="1">
                          <a:solidFill>
                            <a:srgbClr val="335CFF"/>
                          </a:solidFill>
                          <a:latin typeface="Arial"/>
                          <a:ea typeface="Arial"/>
                          <a:cs typeface="Arial"/>
                        </a:rPr>
                        <a:t>Freshdesk / Freddy</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Growing, value conscious support teams</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Approachable omnichannel helpdesk with AI</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Seats, tiers, AI sessions, suite expansion</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Depth can lag as customer complexity grows</a:t>
                      </a:r>
                    </a:p>
                  </a:txBody>
                  <a:tcPr marL="91440" marR="91440" marT="45720" marB="45720">
                    <a:solidFill>
                      <a:srgbClr val="F3F2ED"/>
                    </a:solidFill>
                  </a:tcPr>
                </a:tc>
              </a:tr>
              <a:tr h="971550">
                <a:tc>
                  <a:txBody>
                    <a:bodyPr>
                      <a:noAutofit/>
                    </a:bodyPr>
                    <a:lstStyle/>
                    <a:p>
                      <a:r>
                        <a:rPr sz="1350" b="1">
                          <a:solidFill>
                            <a:srgbClr val="335CFF"/>
                          </a:solidFill>
                          <a:latin typeface="Arial"/>
                          <a:ea typeface="Arial"/>
                          <a:cs typeface="Arial"/>
                        </a:rPr>
                        <a:t>Salesforce / Agentforce</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Complex enterprises, especially Salesforce accounts</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Governed AI service on CRM context</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Licences, credits, conversations, clouds</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Platform cost and complexity can be over extended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24910631"/>
      </p:ext>
    </p:extLst>
  </p:cSld>
</p:sld>
</file>

<file path=ppt/slides/slide9.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E5AA4C-BDB4-4846-B72C-0625582AA37A}"/>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Wedge, moat, and strategic vulnerability</a:t>
            </a:r>
          </a:p>
        </p:txBody>
      </p:sp>
      <p:sp>
        <p:nvSpPr>
          <p:cNvPr id="2" name="">
            <a:extLst xmlns:a="http://schemas.openxmlformats.org/drawingml/2006/main">
              <a:ext uri="{FF2B5EF4-FFF2-40B4-BE49-F238E27FC236}">
                <a16:creationId xmlns:a16="http://schemas.microsoft.com/office/drawing/2014/main" id="{91511335-642A-4A7F-AD85-644CF22F534C}"/>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15F310C0-E66A-4660-BC3B-17BE6E9AC0F3}"/>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H derived from current vendor positioning, packaging, workflow, and selected external signals.</a:t>
            </a:r>
          </a:p>
        </p:txBody>
      </p:sp>
      <p:sp>
        <p:nvSpPr>
          <p:cNvPr id="4" name="">
            <a:extLst xmlns:a="http://schemas.openxmlformats.org/drawingml/2006/main">
              <a:ext uri="{FF2B5EF4-FFF2-40B4-BE49-F238E27FC236}">
                <a16:creationId xmlns:a16="http://schemas.microsoft.com/office/drawing/2014/main" id="{0E804328-0237-45A4-9E13-0A57B85421FF}"/>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09</a:t>
            </a:r>
          </a:p>
        </p:txBody>
      </p:sp>
      <p:graphicFrame>
        <p:nvGraphicFramePr>
          <p:cNvPr id="10" name=""/>
          <p:cNvGraphicFramePr/>
          <p:nvPr/>
        </p:nvGraphicFramePr>
        <p:xfrm>
          <a:off xmlns:a="http://schemas.openxmlformats.org/drawingml/2006/main" x="552450" y="1181100"/>
          <a:ext xmlns:a="http://schemas.openxmlformats.org/drawingml/2006/main" cx="11087100" cy="4857750"/>
        </p:xfrm>
        <a:graphic xmlns:a="http://schemas.openxmlformats.org/drawingml/2006/main">
          <a:graphicData uri="http://schemas.openxmlformats.org/drawingml/2006/table">
            <a:tbl>
              <a:tblPr/>
              <a:tblGrid>
                <a:gridCol w="1809750"/>
                <a:gridCol w="2714625"/>
                <a:gridCol w="3286125"/>
                <a:gridCol w="3276600"/>
              </a:tblGrid>
              <a:tr h="971550">
                <a:tc>
                  <a:txBody>
                    <a:bodyPr>
                      <a:noAutofit/>
                    </a:bodyPr>
                    <a:lstStyle/>
                    <a:p>
                      <a:r>
                        <a:rPr sz="1350" b="1">
                          <a:solidFill>
                            <a:srgbClr val="FFFFFF"/>
                          </a:solidFill>
                          <a:latin typeface="Arial"/>
                          <a:ea typeface="Arial"/>
                          <a:cs typeface="Arial"/>
                        </a:rPr>
                        <a:t>Competitor</a:t>
                      </a:r>
                    </a:p>
                  </a:txBody>
                  <a:tcPr marL="91440" marR="91440" marT="45720" marB="45720">
                    <a:solidFill>
                      <a:srgbClr val="111315"/>
                    </a:solidFill>
                  </a:tcPr>
                </a:tc>
                <a:tc>
                  <a:txBody>
                    <a:bodyPr>
                      <a:noAutofit/>
                    </a:bodyPr>
                    <a:lstStyle/>
                    <a:p>
                      <a:r>
                        <a:rPr sz="1350" b="1">
                          <a:solidFill>
                            <a:srgbClr val="FFFFFF"/>
                          </a:solidFill>
                          <a:latin typeface="Arial"/>
                          <a:ea typeface="Arial"/>
                          <a:cs typeface="Arial"/>
                        </a:rPr>
                        <a:t>Entry wedge</a:t>
                      </a:r>
                    </a:p>
                  </a:txBody>
                  <a:tcPr marL="91440" marR="91440" marT="45720" marB="45720">
                    <a:solidFill>
                      <a:srgbClr val="111315"/>
                    </a:solidFill>
                  </a:tcPr>
                </a:tc>
                <a:tc>
                  <a:txBody>
                    <a:bodyPr>
                      <a:noAutofit/>
                    </a:bodyPr>
                    <a:lstStyle/>
                    <a:p>
                      <a:r>
                        <a:rPr sz="1350" b="1">
                          <a:solidFill>
                            <a:srgbClr val="FFFFFF"/>
                          </a:solidFill>
                          <a:latin typeface="Arial"/>
                          <a:ea typeface="Arial"/>
                          <a:cs typeface="Arial"/>
                        </a:rPr>
                        <a:t>What compounds after entry</a:t>
                      </a:r>
                    </a:p>
                  </a:txBody>
                  <a:tcPr marL="91440" marR="91440" marT="45720" marB="45720">
                    <a:solidFill>
                      <a:srgbClr val="111315"/>
                    </a:solidFill>
                  </a:tcPr>
                </a:tc>
                <a:tc>
                  <a:txBody>
                    <a:bodyPr>
                      <a:noAutofit/>
                    </a:bodyPr>
                    <a:lstStyle/>
                    <a:p>
                      <a:r>
                        <a:rPr sz="1350" b="1">
                          <a:solidFill>
                            <a:srgbClr val="FFFFFF"/>
                          </a:solidFill>
                          <a:latin typeface="Arial"/>
                          <a:ea typeface="Arial"/>
                          <a:cs typeface="Arial"/>
                        </a:rPr>
                        <a:t>Vulnerability to test</a:t>
                      </a:r>
                    </a:p>
                  </a:txBody>
                  <a:tcPr marL="91440" marR="91440" marT="45720" marB="45720">
                    <a:solidFill>
                      <a:srgbClr val="111315"/>
                    </a:solidFill>
                  </a:tcPr>
                </a:tc>
              </a:tr>
              <a:tr h="971550">
                <a:tc>
                  <a:txBody>
                    <a:bodyPr>
                      <a:noAutofit/>
                    </a:bodyPr>
                    <a:lstStyle/>
                    <a:p>
                      <a:r>
                        <a:rPr sz="1425" b="1">
                          <a:solidFill>
                            <a:srgbClr val="335CFF"/>
                          </a:solidFill>
                          <a:latin typeface="Arial"/>
                          <a:ea typeface="Arial"/>
                          <a:cs typeface="Arial"/>
                        </a:rPr>
                        <a:t>Intercom / Fin</a:t>
                      </a:r>
                    </a:p>
                  </a:txBody>
                  <a:tcPr marL="91440" marR="91440" marT="45720" marB="45720">
                    <a:solidFill>
                      <a:srgbClr val="F3F2ED"/>
                    </a:solidFill>
                  </a:tcPr>
                </a:tc>
                <a:tc>
                  <a:txBody>
                    <a:bodyPr>
                      <a:noAutofit/>
                    </a:bodyPr>
                    <a:lstStyle/>
                    <a:p>
                      <a:r>
                        <a:rPr sz="1425" b="0">
                          <a:solidFill>
                            <a:srgbClr val="111315"/>
                          </a:solidFill>
                          <a:latin typeface="Arial"/>
                          <a:ea typeface="Arial"/>
                          <a:cs typeface="Arial"/>
                        </a:rPr>
                        <a:t>Standalone outcome priced AI agent</a:t>
                      </a:r>
                    </a:p>
                  </a:txBody>
                  <a:tcPr marL="91440" marR="91440" marT="45720" marB="45720">
                    <a:solidFill>
                      <a:srgbClr val="F3F2ED"/>
                    </a:solidFill>
                  </a:tcPr>
                </a:tc>
                <a:tc>
                  <a:txBody>
                    <a:bodyPr>
                      <a:noAutofit/>
                    </a:bodyPr>
                    <a:lstStyle/>
                    <a:p>
                      <a:r>
                        <a:rPr sz="1425" b="0">
                          <a:solidFill>
                            <a:srgbClr val="111315"/>
                          </a:solidFill>
                          <a:latin typeface="Arial"/>
                          <a:ea typeface="Arial"/>
                          <a:cs typeface="Arial"/>
                        </a:rPr>
                        <a:t>Conversation, knowledge, workflow, evaluation, and outcome data</a:t>
                      </a:r>
                    </a:p>
                  </a:txBody>
                  <a:tcPr marL="91440" marR="91440" marT="45720" marB="45720">
                    <a:solidFill>
                      <a:srgbClr val="F3F2ED"/>
                    </a:solidFill>
                  </a:tcPr>
                </a:tc>
                <a:tc>
                  <a:txBody>
                    <a:bodyPr>
                      <a:noAutofit/>
                    </a:bodyPr>
                    <a:lstStyle/>
                    <a:p>
                      <a:r>
                        <a:rPr sz="1425" b="0">
                          <a:solidFill>
                            <a:srgbClr val="111315"/>
                          </a:solidFill>
                          <a:latin typeface="Arial"/>
                          <a:ea typeface="Arial"/>
                          <a:cs typeface="Arial"/>
                        </a:rPr>
                        <a:t>Tuning effort, handoff quality, complex actions, cost predictability</a:t>
                      </a:r>
                    </a:p>
                  </a:txBody>
                  <a:tcPr marL="91440" marR="91440" marT="45720" marB="45720">
                    <a:solidFill>
                      <a:srgbClr val="F3F2ED"/>
                    </a:solidFill>
                  </a:tcPr>
                </a:tc>
              </a:tr>
              <a:tr h="971550">
                <a:tc>
                  <a:txBody>
                    <a:bodyPr>
                      <a:noAutofit/>
                    </a:bodyPr>
                    <a:lstStyle/>
                    <a:p>
                      <a:r>
                        <a:rPr sz="1425" b="1">
                          <a:solidFill>
                            <a:srgbClr val="335CFF"/>
                          </a:solidFill>
                          <a:latin typeface="Arial"/>
                          <a:ea typeface="Arial"/>
                          <a:cs typeface="Arial"/>
                        </a:rPr>
                        <a:t>Zendesk AI</a:t>
                      </a:r>
                    </a:p>
                  </a:txBody>
                  <a:tcPr marL="91440" marR="91440" marT="45720" marB="45720">
                    <a:solidFill>
                      <a:srgbClr val="FFFFFF"/>
                    </a:solidFill>
                  </a:tcPr>
                </a:tc>
                <a:tc>
                  <a:txBody>
                    <a:bodyPr>
                      <a:noAutofit/>
                    </a:bodyPr>
                    <a:lstStyle/>
                    <a:p>
                      <a:r>
                        <a:rPr sz="1425" b="0">
                          <a:solidFill>
                            <a:srgbClr val="111315"/>
                          </a:solidFill>
                          <a:latin typeface="Arial"/>
                          <a:ea typeface="Arial"/>
                          <a:cs typeface="Arial"/>
                        </a:rPr>
                        <a:t>Trusted ticketing system of record</a:t>
                      </a:r>
                    </a:p>
                  </a:txBody>
                  <a:tcPr marL="91440" marR="91440" marT="45720" marB="45720">
                    <a:solidFill>
                      <a:srgbClr val="FFFFFF"/>
                    </a:solidFill>
                  </a:tcPr>
                </a:tc>
                <a:tc>
                  <a:txBody>
                    <a:bodyPr>
                      <a:noAutofit/>
                    </a:bodyPr>
                    <a:lstStyle/>
                    <a:p>
                      <a:r>
                        <a:rPr sz="1425" b="0">
                          <a:solidFill>
                            <a:srgbClr val="111315"/>
                          </a:solidFill>
                          <a:latin typeface="Arial"/>
                          <a:ea typeface="Arial"/>
                          <a:cs typeface="Arial"/>
                        </a:rPr>
                        <a:t>Case history, routing, reporting, marketplace, administration</a:t>
                      </a:r>
                    </a:p>
                  </a:txBody>
                  <a:tcPr marL="91440" marR="91440" marT="45720" marB="45720">
                    <a:solidFill>
                      <a:srgbClr val="FFFFFF"/>
                    </a:solidFill>
                  </a:tcPr>
                </a:tc>
                <a:tc>
                  <a:txBody>
                    <a:bodyPr>
                      <a:noAutofit/>
                    </a:bodyPr>
                    <a:lstStyle/>
                    <a:p>
                      <a:r>
                        <a:rPr sz="1425" b="0">
                          <a:solidFill>
                            <a:srgbClr val="111315"/>
                          </a:solidFill>
                          <a:latin typeface="Arial"/>
                          <a:ea typeface="Arial"/>
                          <a:cs typeface="Arial"/>
                        </a:rPr>
                        <a:t>Setup effort and workflow specific resolution quality</a:t>
                      </a:r>
                    </a:p>
                  </a:txBody>
                  <a:tcPr marL="91440" marR="91440" marT="45720" marB="45720">
                    <a:solidFill>
                      <a:srgbClr val="FFFFFF"/>
                    </a:solidFill>
                  </a:tcPr>
                </a:tc>
              </a:tr>
              <a:tr h="971550">
                <a:tc>
                  <a:txBody>
                    <a:bodyPr>
                      <a:noAutofit/>
                    </a:bodyPr>
                    <a:lstStyle/>
                    <a:p>
                      <a:r>
                        <a:rPr sz="1425" b="1">
                          <a:solidFill>
                            <a:srgbClr val="335CFF"/>
                          </a:solidFill>
                          <a:latin typeface="Arial"/>
                          <a:ea typeface="Arial"/>
                          <a:cs typeface="Arial"/>
                        </a:rPr>
                        <a:t>Freshdesk / Freddy</a:t>
                      </a:r>
                    </a:p>
                  </a:txBody>
                  <a:tcPr marL="91440" marR="91440" marT="45720" marB="45720">
                    <a:solidFill>
                      <a:srgbClr val="F3F2ED"/>
                    </a:solidFill>
                  </a:tcPr>
                </a:tc>
                <a:tc>
                  <a:txBody>
                    <a:bodyPr>
                      <a:noAutofit/>
                    </a:bodyPr>
                    <a:lstStyle/>
                    <a:p>
                      <a:r>
                        <a:rPr sz="1425" b="0">
                          <a:solidFill>
                            <a:srgbClr val="111315"/>
                          </a:solidFill>
                          <a:latin typeface="Arial"/>
                          <a:ea typeface="Arial"/>
                          <a:cs typeface="Arial"/>
                        </a:rPr>
                        <a:t>Ease and accessible price to value</a:t>
                      </a:r>
                    </a:p>
                  </a:txBody>
                  <a:tcPr marL="91440" marR="91440" marT="45720" marB="45720">
                    <a:solidFill>
                      <a:srgbClr val="F3F2ED"/>
                    </a:solidFill>
                  </a:tcPr>
                </a:tc>
                <a:tc>
                  <a:txBody>
                    <a:bodyPr>
                      <a:noAutofit/>
                    </a:bodyPr>
                    <a:lstStyle/>
                    <a:p>
                      <a:r>
                        <a:rPr sz="1425" b="0">
                          <a:solidFill>
                            <a:srgbClr val="111315"/>
                          </a:solidFill>
                          <a:latin typeface="Arial"/>
                          <a:ea typeface="Arial"/>
                          <a:cs typeface="Arial"/>
                        </a:rPr>
                        <a:t>Configured helpdesk workflow, apps, suite expansion</a:t>
                      </a:r>
                    </a:p>
                  </a:txBody>
                  <a:tcPr marL="91440" marR="91440" marT="45720" marB="45720">
                    <a:solidFill>
                      <a:srgbClr val="F3F2ED"/>
                    </a:solidFill>
                  </a:tcPr>
                </a:tc>
                <a:tc>
                  <a:txBody>
                    <a:bodyPr>
                      <a:noAutofit/>
                    </a:bodyPr>
                    <a:lstStyle/>
                    <a:p>
                      <a:r>
                        <a:rPr sz="1425" b="0">
                          <a:solidFill>
                            <a:srgbClr val="111315"/>
                          </a:solidFill>
                          <a:latin typeface="Arial"/>
                          <a:ea typeface="Arial"/>
                          <a:cs typeface="Arial"/>
                        </a:rPr>
                        <a:t>Advanced depth and integration reliability as teams mature</a:t>
                      </a:r>
                    </a:p>
                  </a:txBody>
                  <a:tcPr marL="91440" marR="91440" marT="45720" marB="45720">
                    <a:solidFill>
                      <a:srgbClr val="F3F2ED"/>
                    </a:solidFill>
                  </a:tcPr>
                </a:tc>
              </a:tr>
              <a:tr h="971550">
                <a:tc>
                  <a:txBody>
                    <a:bodyPr>
                      <a:noAutofit/>
                    </a:bodyPr>
                    <a:lstStyle/>
                    <a:p>
                      <a:r>
                        <a:rPr sz="1425" b="1">
                          <a:solidFill>
                            <a:srgbClr val="335CFF"/>
                          </a:solidFill>
                          <a:latin typeface="Arial"/>
                          <a:ea typeface="Arial"/>
                          <a:cs typeface="Arial"/>
                        </a:rPr>
                        <a:t>Salesforce / Agentforce</a:t>
                      </a:r>
                    </a:p>
                  </a:txBody>
                  <a:tcPr marL="91440" marR="91440" marT="45720" marB="45720">
                    <a:solidFill>
                      <a:srgbClr val="FFFFFF"/>
                    </a:solidFill>
                  </a:tcPr>
                </a:tc>
                <a:tc>
                  <a:txBody>
                    <a:bodyPr>
                      <a:noAutofit/>
                    </a:bodyPr>
                    <a:lstStyle/>
                    <a:p>
                      <a:r>
                        <a:rPr sz="1425" b="0">
                          <a:solidFill>
                            <a:srgbClr val="111315"/>
                          </a:solidFill>
                          <a:latin typeface="Arial"/>
                          <a:ea typeface="Arial"/>
                          <a:cs typeface="Arial"/>
                        </a:rPr>
                        <a:t>CRM context and enterprise governance</a:t>
                      </a:r>
                    </a:p>
                  </a:txBody>
                  <a:tcPr marL="91440" marR="91440" marT="45720" marB="45720">
                    <a:solidFill>
                      <a:srgbClr val="FFFFFF"/>
                    </a:solidFill>
                  </a:tcPr>
                </a:tc>
                <a:tc>
                  <a:txBody>
                    <a:bodyPr>
                      <a:noAutofit/>
                    </a:bodyPr>
                    <a:lstStyle/>
                    <a:p>
                      <a:r>
                        <a:rPr sz="1425" b="0">
                          <a:solidFill>
                            <a:srgbClr val="111315"/>
                          </a:solidFill>
                          <a:latin typeface="Arial"/>
                          <a:ea typeface="Arial"/>
                          <a:cs typeface="Arial"/>
                        </a:rPr>
                        <a:t>Data, flows, permissions, partners, administrator skills</a:t>
                      </a:r>
                    </a:p>
                  </a:txBody>
                  <a:tcPr marL="91440" marR="91440" marT="45720" marB="45720">
                    <a:solidFill>
                      <a:srgbClr val="FFFFFF"/>
                    </a:solidFill>
                  </a:tcPr>
                </a:tc>
                <a:tc>
                  <a:txBody>
                    <a:bodyPr>
                      <a:noAutofit/>
                    </a:bodyPr>
                    <a:lstStyle/>
                    <a:p>
                      <a:r>
                        <a:rPr sz="1425" b="0">
                          <a:solidFill>
                            <a:srgbClr val="111315"/>
                          </a:solidFill>
                          <a:latin typeface="Arial"/>
                          <a:ea typeface="Arial"/>
                          <a:cs typeface="Arial"/>
                        </a:rPr>
                        <a:t>Time to value and fit for heterogeneous stacks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95831807"/>
      </p:ext>
    </p:extLst>
  </p:cSld>
</p:sld>
</file>

<file path=ppt/slides/slide10.xml><?xml version="1.0" encoding="utf-8"?>
<p:sld xmlns:p="http://schemas.openxmlformats.org/presentationml/2006/main">
  <p:cSld>
    <p:bg>
      <p:bgPr>
        <a:solidFill xmlns:a="http://schemas.openxmlformats.org/drawingml/2006/main">
          <a:srgbClr val="11131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2440C05-5AD5-4D70-B5EE-012E011CDFB2}"/>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Crowded capability space</a:t>
            </a:r>
          </a:p>
        </p:txBody>
      </p:sp>
      <p:sp>
        <p:nvSpPr>
          <p:cNvPr id="2" name="">
            <a:extLst xmlns:a="http://schemas.openxmlformats.org/drawingml/2006/main">
              <a:ext uri="{FF2B5EF4-FFF2-40B4-BE49-F238E27FC236}">
                <a16:creationId xmlns:a16="http://schemas.microsoft.com/office/drawing/2014/main" id="{9FF7436C-46D7-42DC-9A1B-13B91CCEECBB}"/>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44484D"/>
          </a:solidFill>
          <a:ln xmlns:a="http://schemas.openxmlformats.org/drawingml/2006/main" w="0">
            <a:solidFill>
              <a:srgbClr val="44484D"/>
            </a:solidFill>
          </a:ln>
        </p:spPr>
      </p:sp>
      <p:sp>
        <p:nvSpPr>
          <p:cNvPr id="3" name="">
            <a:extLst xmlns:a="http://schemas.openxmlformats.org/drawingml/2006/main">
              <a:ext uri="{FF2B5EF4-FFF2-40B4-BE49-F238E27FC236}">
                <a16:creationId xmlns:a16="http://schemas.microsoft.com/office/drawing/2014/main" id="{18892139-9159-42FC-8D12-C039B8F239DF}"/>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C7CBD0"/>
                </a:solidFill>
                <a:latin typeface="Arial"/>
                <a:ea typeface="Arial"/>
                <a:cs typeface="Arial"/>
              </a:defRPr>
            </a:pPr>
            <a:r>
              <a:rPr sz="1050" b="0">
                <a:solidFill>
                  <a:srgbClr val="C7CBD0"/>
                </a:solidFill>
                <a:latin typeface="Arial"/>
                <a:ea typeface="Arial"/>
                <a:cs typeface="Arial"/>
              </a:rPr>
              <a:t>V1 to V11. All four vendors cover or publicly claim most of these capabilities.</a:t>
            </a:r>
          </a:p>
        </p:txBody>
      </p:sp>
      <p:sp>
        <p:nvSpPr>
          <p:cNvPr id="4" name="">
            <a:extLst xmlns:a="http://schemas.openxmlformats.org/drawingml/2006/main">
              <a:ext uri="{FF2B5EF4-FFF2-40B4-BE49-F238E27FC236}">
                <a16:creationId xmlns:a16="http://schemas.microsoft.com/office/drawing/2014/main" id="{1AC283A8-20A6-4C46-87E9-7D3140090D3C}"/>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6FF5C"/>
                </a:solidFill>
                <a:latin typeface="Arial"/>
                <a:ea typeface="Arial"/>
                <a:cs typeface="Arial"/>
              </a:defRPr>
            </a:pPr>
            <a:r>
              <a:rPr sz="1125" b="1">
                <a:solidFill>
                  <a:srgbClr val="D6FF5C"/>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70CCB73-5B4C-4B91-AB48-CBD0CD047136}"/>
              </a:ext>
            </a:extLst>
          </p:cNvPr>
          <p:cNvSpPr>
            <a:spLocks xmlns:a="http://schemas.openxmlformats.org/drawingml/2006/main" noGrp="1"/>
          </p:cNvSpPr>
          <p:nvPr/>
        </p:nvSpPr>
        <p:spPr>
          <a:xfrm xmlns:a="http://schemas.openxmlformats.org/drawingml/2006/main">
            <a:off x="590550" y="121920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6FF5C"/>
                </a:solidFill>
                <a:latin typeface="Arial"/>
                <a:ea typeface="Arial"/>
                <a:cs typeface="Arial"/>
              </a:defRPr>
            </a:pPr>
            <a:r>
              <a:rPr sz="1125" b="1">
                <a:solidFill>
                  <a:srgbClr val="D6FF5C"/>
                </a:solidFill>
                <a:latin typeface="Arial"/>
                <a:ea typeface="Arial"/>
                <a:cs typeface="Arial"/>
              </a:rPr>
              <a:t>EXISTING CATEGORY CLAIMS</a:t>
            </a:r>
          </a:p>
        </p:txBody>
      </p:sp>
      <p:sp>
        <p:nvSpPr>
          <p:cNvPr id="6" name="">
            <a:extLst xmlns:a="http://schemas.openxmlformats.org/drawingml/2006/main">
              <a:ext uri="{FF2B5EF4-FFF2-40B4-BE49-F238E27FC236}">
                <a16:creationId xmlns:a16="http://schemas.microsoft.com/office/drawing/2014/main" id="{ADF1A001-CDD2-4AC0-8A2B-4CB7A2B4BB23}"/>
              </a:ext>
            </a:extLst>
          </p:cNvPr>
          <p:cNvSpPr>
            <a:spLocks xmlns:a="http://schemas.openxmlformats.org/drawingml/2006/main" noGrp="1"/>
          </p:cNvSpPr>
          <p:nvPr/>
        </p:nvSpPr>
        <p:spPr>
          <a:xfrm xmlns:a="http://schemas.openxmlformats.org/drawingml/2006/main">
            <a:off x="590550" y="15811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6FF5C"/>
                </a:solidFill>
                <a:latin typeface="Arial"/>
                <a:ea typeface="Arial"/>
                <a:cs typeface="Arial"/>
              </a:defRPr>
            </a:pPr>
            <a:r>
              <a:rPr sz="1200" b="1">
                <a:solidFill>
                  <a:srgbClr val="D6FF5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48EFABB-5A12-494B-A9BD-62080F0DA502}"/>
              </a:ext>
            </a:extLst>
          </p:cNvPr>
          <p:cNvSpPr>
            <a:spLocks xmlns:a="http://schemas.openxmlformats.org/drawingml/2006/main" noGrp="1"/>
          </p:cNvSpPr>
          <p:nvPr/>
        </p:nvSpPr>
        <p:spPr>
          <a:xfrm xmlns:a="http://schemas.openxmlformats.org/drawingml/2006/main">
            <a:off x="1123950" y="15621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AI agents and knowledge grounded answers</a:t>
            </a:r>
          </a:p>
        </p:txBody>
      </p:sp>
      <p:sp>
        <p:nvSpPr>
          <p:cNvPr id="8" name="">
            <a:extLst xmlns:a="http://schemas.openxmlformats.org/drawingml/2006/main">
              <a:ext uri="{FF2B5EF4-FFF2-40B4-BE49-F238E27FC236}">
                <a16:creationId xmlns:a16="http://schemas.microsoft.com/office/drawing/2014/main" id="{9EC4A7D1-A7D5-448D-B87A-583CD6A4E77E}"/>
              </a:ext>
            </a:extLst>
          </p:cNvPr>
          <p:cNvSpPr>
            <a:spLocks xmlns:a="http://schemas.openxmlformats.org/drawingml/2006/main" noGrp="1"/>
          </p:cNvSpPr>
          <p:nvPr/>
        </p:nvSpPr>
        <p:spPr>
          <a:xfrm xmlns:a="http://schemas.openxmlformats.org/drawingml/2006/main">
            <a:off x="590550" y="1924050"/>
            <a:ext cx="5429250" cy="9525"/>
          </a:xfrm>
          <a:prstGeom xmlns:a="http://schemas.openxmlformats.org/drawingml/2006/main" prst="rect">
            <a:avLst/>
          </a:prstGeom>
          <a:solidFill xmlns:a="http://schemas.openxmlformats.org/drawingml/2006/main">
            <a:srgbClr val="3F444A"/>
          </a:solidFill>
          <a:ln xmlns:a="http://schemas.openxmlformats.org/drawingml/2006/main" w="0">
            <a:solidFill>
              <a:srgbClr val="3F444A"/>
            </a:solidFill>
          </a:ln>
        </p:spPr>
      </p:sp>
      <p:sp>
        <p:nvSpPr>
          <p:cNvPr id="9" name="">
            <a:extLst xmlns:a="http://schemas.openxmlformats.org/drawingml/2006/main">
              <a:ext uri="{FF2B5EF4-FFF2-40B4-BE49-F238E27FC236}">
                <a16:creationId xmlns:a16="http://schemas.microsoft.com/office/drawing/2014/main" id="{14CD31A7-B4D9-486A-8E0B-1878FCB6AA02}"/>
              </a:ext>
            </a:extLst>
          </p:cNvPr>
          <p:cNvSpPr>
            <a:spLocks xmlns:a="http://schemas.openxmlformats.org/drawingml/2006/main" noGrp="1"/>
          </p:cNvSpPr>
          <p:nvPr/>
        </p:nvSpPr>
        <p:spPr>
          <a:xfrm xmlns:a="http://schemas.openxmlformats.org/drawingml/2006/main">
            <a:off x="590550" y="2114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6FF5C"/>
                </a:solidFill>
                <a:latin typeface="Arial"/>
                <a:ea typeface="Arial"/>
                <a:cs typeface="Arial"/>
              </a:defRPr>
            </a:pPr>
            <a:r>
              <a:rPr sz="1200" b="1">
                <a:solidFill>
                  <a:srgbClr val="D6FF5C"/>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6C2CF469-BCF4-4568-BFC2-60F1747A5CCE}"/>
              </a:ext>
            </a:extLst>
          </p:cNvPr>
          <p:cNvSpPr>
            <a:spLocks xmlns:a="http://schemas.openxmlformats.org/drawingml/2006/main" noGrp="1"/>
          </p:cNvSpPr>
          <p:nvPr/>
        </p:nvSpPr>
        <p:spPr>
          <a:xfrm xmlns:a="http://schemas.openxmlformats.org/drawingml/2006/main">
            <a:off x="1123950" y="209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Agent assistance and summarisation</a:t>
            </a:r>
          </a:p>
        </p:txBody>
      </p:sp>
      <p:sp>
        <p:nvSpPr>
          <p:cNvPr id="11" name="">
            <a:extLst xmlns:a="http://schemas.openxmlformats.org/drawingml/2006/main">
              <a:ext uri="{FF2B5EF4-FFF2-40B4-BE49-F238E27FC236}">
                <a16:creationId xmlns:a16="http://schemas.microsoft.com/office/drawing/2014/main" id="{4C1792BA-33C7-4EEB-8830-328A2917EC68}"/>
              </a:ext>
            </a:extLst>
          </p:cNvPr>
          <p:cNvSpPr>
            <a:spLocks xmlns:a="http://schemas.openxmlformats.org/drawingml/2006/main" noGrp="1"/>
          </p:cNvSpPr>
          <p:nvPr/>
        </p:nvSpPr>
        <p:spPr>
          <a:xfrm xmlns:a="http://schemas.openxmlformats.org/drawingml/2006/main">
            <a:off x="590550" y="2457450"/>
            <a:ext cx="5429250" cy="9525"/>
          </a:xfrm>
          <a:prstGeom xmlns:a="http://schemas.openxmlformats.org/drawingml/2006/main" prst="rect">
            <a:avLst/>
          </a:prstGeom>
          <a:solidFill xmlns:a="http://schemas.openxmlformats.org/drawingml/2006/main">
            <a:srgbClr val="3F444A"/>
          </a:solidFill>
          <a:ln xmlns:a="http://schemas.openxmlformats.org/drawingml/2006/main" w="0">
            <a:solidFill>
              <a:srgbClr val="3F444A"/>
            </a:solidFill>
          </a:ln>
        </p:spPr>
      </p:sp>
      <p:sp>
        <p:nvSpPr>
          <p:cNvPr id="12" name="">
            <a:extLst xmlns:a="http://schemas.openxmlformats.org/drawingml/2006/main">
              <a:ext uri="{FF2B5EF4-FFF2-40B4-BE49-F238E27FC236}">
                <a16:creationId xmlns:a16="http://schemas.microsoft.com/office/drawing/2014/main" id="{BED47BFE-255C-4ECB-BAA1-8F855C26C2BD}"/>
              </a:ext>
            </a:extLst>
          </p:cNvPr>
          <p:cNvSpPr>
            <a:spLocks xmlns:a="http://schemas.openxmlformats.org/drawingml/2006/main" noGrp="1"/>
          </p:cNvSpPr>
          <p:nvPr/>
        </p:nvSpPr>
        <p:spPr>
          <a:xfrm xmlns:a="http://schemas.openxmlformats.org/drawingml/2006/main">
            <a:off x="590550" y="264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6FF5C"/>
                </a:solidFill>
                <a:latin typeface="Arial"/>
                <a:ea typeface="Arial"/>
                <a:cs typeface="Arial"/>
              </a:defRPr>
            </a:pPr>
            <a:r>
              <a:rPr sz="1200" b="1">
                <a:solidFill>
                  <a:srgbClr val="D6FF5C"/>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DC37F1B-C70B-4505-85C0-9991573A838E}"/>
              </a:ext>
            </a:extLst>
          </p:cNvPr>
          <p:cNvSpPr>
            <a:spLocks xmlns:a="http://schemas.openxmlformats.org/drawingml/2006/main" noGrp="1"/>
          </p:cNvSpPr>
          <p:nvPr/>
        </p:nvSpPr>
        <p:spPr>
          <a:xfrm xmlns:a="http://schemas.openxmlformats.org/drawingml/2006/main">
            <a:off x="1123950" y="26289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Human handoff and approvals</a:t>
            </a:r>
          </a:p>
        </p:txBody>
      </p:sp>
      <p:sp>
        <p:nvSpPr>
          <p:cNvPr id="14" name="">
            <a:extLst xmlns:a="http://schemas.openxmlformats.org/drawingml/2006/main">
              <a:ext uri="{FF2B5EF4-FFF2-40B4-BE49-F238E27FC236}">
                <a16:creationId xmlns:a16="http://schemas.microsoft.com/office/drawing/2014/main" id="{C98AE326-01AF-4C23-9403-D1EA9B03D5D0}"/>
              </a:ext>
            </a:extLst>
          </p:cNvPr>
          <p:cNvSpPr>
            <a:spLocks xmlns:a="http://schemas.openxmlformats.org/drawingml/2006/main" noGrp="1"/>
          </p:cNvSpPr>
          <p:nvPr/>
        </p:nvSpPr>
        <p:spPr>
          <a:xfrm xmlns:a="http://schemas.openxmlformats.org/drawingml/2006/main">
            <a:off x="590550" y="2990850"/>
            <a:ext cx="5429250" cy="9525"/>
          </a:xfrm>
          <a:prstGeom xmlns:a="http://schemas.openxmlformats.org/drawingml/2006/main" prst="rect">
            <a:avLst/>
          </a:prstGeom>
          <a:solidFill xmlns:a="http://schemas.openxmlformats.org/drawingml/2006/main">
            <a:srgbClr val="3F444A"/>
          </a:solidFill>
          <a:ln xmlns:a="http://schemas.openxmlformats.org/drawingml/2006/main" w="0">
            <a:solidFill>
              <a:srgbClr val="3F444A"/>
            </a:solidFill>
          </a:ln>
        </p:spPr>
      </p:sp>
      <p:sp>
        <p:nvSpPr>
          <p:cNvPr id="15" name="">
            <a:extLst xmlns:a="http://schemas.openxmlformats.org/drawingml/2006/main">
              <a:ext uri="{FF2B5EF4-FFF2-40B4-BE49-F238E27FC236}">
                <a16:creationId xmlns:a16="http://schemas.microsoft.com/office/drawing/2014/main" id="{07222B99-5D0D-4961-A3DD-735B03E70E04}"/>
              </a:ext>
            </a:extLst>
          </p:cNvPr>
          <p:cNvSpPr>
            <a:spLocks xmlns:a="http://schemas.openxmlformats.org/drawingml/2006/main" noGrp="1"/>
          </p:cNvSpPr>
          <p:nvPr/>
        </p:nvSpPr>
        <p:spPr>
          <a:xfrm xmlns:a="http://schemas.openxmlformats.org/drawingml/2006/main">
            <a:off x="590550" y="31813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6FF5C"/>
                </a:solidFill>
                <a:latin typeface="Arial"/>
                <a:ea typeface="Arial"/>
                <a:cs typeface="Arial"/>
              </a:defRPr>
            </a:pPr>
            <a:r>
              <a:rPr sz="1200" b="1">
                <a:solidFill>
                  <a:srgbClr val="D6FF5C"/>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DEB6BCB4-1CF3-4EA2-8760-00281EA0A66C}"/>
              </a:ext>
            </a:extLst>
          </p:cNvPr>
          <p:cNvSpPr>
            <a:spLocks xmlns:a="http://schemas.openxmlformats.org/drawingml/2006/main" noGrp="1"/>
          </p:cNvSpPr>
          <p:nvPr/>
        </p:nvSpPr>
        <p:spPr>
          <a:xfrm xmlns:a="http://schemas.openxmlformats.org/drawingml/2006/main">
            <a:off x="1123950" y="3162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External integrations and system actions</a:t>
            </a:r>
          </a:p>
        </p:txBody>
      </p:sp>
      <p:sp>
        <p:nvSpPr>
          <p:cNvPr id="17" name="">
            <a:extLst xmlns:a="http://schemas.openxmlformats.org/drawingml/2006/main">
              <a:ext uri="{FF2B5EF4-FFF2-40B4-BE49-F238E27FC236}">
                <a16:creationId xmlns:a16="http://schemas.microsoft.com/office/drawing/2014/main" id="{B00056CA-BDB7-4C29-AD23-BC0E6F7F2156}"/>
              </a:ext>
            </a:extLst>
          </p:cNvPr>
          <p:cNvSpPr>
            <a:spLocks xmlns:a="http://schemas.openxmlformats.org/drawingml/2006/main" noGrp="1"/>
          </p:cNvSpPr>
          <p:nvPr/>
        </p:nvSpPr>
        <p:spPr>
          <a:xfrm xmlns:a="http://schemas.openxmlformats.org/drawingml/2006/main">
            <a:off x="590550" y="3524250"/>
            <a:ext cx="5429250" cy="9525"/>
          </a:xfrm>
          <a:prstGeom xmlns:a="http://schemas.openxmlformats.org/drawingml/2006/main" prst="rect">
            <a:avLst/>
          </a:prstGeom>
          <a:solidFill xmlns:a="http://schemas.openxmlformats.org/drawingml/2006/main">
            <a:srgbClr val="3F444A"/>
          </a:solidFill>
          <a:ln xmlns:a="http://schemas.openxmlformats.org/drawingml/2006/main" w="0">
            <a:solidFill>
              <a:srgbClr val="3F444A"/>
            </a:solidFill>
          </a:ln>
        </p:spPr>
      </p:sp>
      <p:sp>
        <p:nvSpPr>
          <p:cNvPr id="18" name="">
            <a:extLst xmlns:a="http://schemas.openxmlformats.org/drawingml/2006/main">
              <a:ext uri="{FF2B5EF4-FFF2-40B4-BE49-F238E27FC236}">
                <a16:creationId xmlns:a16="http://schemas.microsoft.com/office/drawing/2014/main" id="{358B7669-290A-4B3F-A04B-F5C48B94369E}"/>
              </a:ext>
            </a:extLst>
          </p:cNvPr>
          <p:cNvSpPr>
            <a:spLocks xmlns:a="http://schemas.openxmlformats.org/drawingml/2006/main" noGrp="1"/>
          </p:cNvSpPr>
          <p:nvPr/>
        </p:nvSpPr>
        <p:spPr>
          <a:xfrm xmlns:a="http://schemas.openxmlformats.org/drawingml/2006/main">
            <a:off x="590550" y="3714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6FF5C"/>
                </a:solidFill>
                <a:latin typeface="Arial"/>
                <a:ea typeface="Arial"/>
                <a:cs typeface="Arial"/>
              </a:defRPr>
            </a:pPr>
            <a:r>
              <a:rPr sz="1200" b="1">
                <a:solidFill>
                  <a:srgbClr val="D6FF5C"/>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96A01CD8-CAB6-487C-AAB1-4EFF14C033BF}"/>
              </a:ext>
            </a:extLst>
          </p:cNvPr>
          <p:cNvSpPr>
            <a:spLocks xmlns:a="http://schemas.openxmlformats.org/drawingml/2006/main" noGrp="1"/>
          </p:cNvSpPr>
          <p:nvPr/>
        </p:nvSpPr>
        <p:spPr>
          <a:xfrm xmlns:a="http://schemas.openxmlformats.org/drawingml/2006/main">
            <a:off x="1123950" y="36957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Analytics, evaluation, and governance</a:t>
            </a:r>
          </a:p>
        </p:txBody>
      </p:sp>
      <p:sp>
        <p:nvSpPr>
          <p:cNvPr id="20" name="">
            <a:extLst xmlns:a="http://schemas.openxmlformats.org/drawingml/2006/main">
              <a:ext uri="{FF2B5EF4-FFF2-40B4-BE49-F238E27FC236}">
                <a16:creationId xmlns:a16="http://schemas.microsoft.com/office/drawing/2014/main" id="{AB510258-2733-4A2F-BABE-89E77D2E033D}"/>
              </a:ext>
            </a:extLst>
          </p:cNvPr>
          <p:cNvSpPr>
            <a:spLocks xmlns:a="http://schemas.openxmlformats.org/drawingml/2006/main" noGrp="1"/>
          </p:cNvSpPr>
          <p:nvPr/>
        </p:nvSpPr>
        <p:spPr>
          <a:xfrm xmlns:a="http://schemas.openxmlformats.org/drawingml/2006/main">
            <a:off x="590550" y="4057650"/>
            <a:ext cx="5429250" cy="9525"/>
          </a:xfrm>
          <a:prstGeom xmlns:a="http://schemas.openxmlformats.org/drawingml/2006/main" prst="rect">
            <a:avLst/>
          </a:prstGeom>
          <a:solidFill xmlns:a="http://schemas.openxmlformats.org/drawingml/2006/main">
            <a:srgbClr val="3F444A"/>
          </a:solidFill>
          <a:ln xmlns:a="http://schemas.openxmlformats.org/drawingml/2006/main" w="0">
            <a:solidFill>
              <a:srgbClr val="3F444A"/>
            </a:solidFill>
          </a:ln>
        </p:spPr>
      </p:sp>
      <p:sp>
        <p:nvSpPr>
          <p:cNvPr id="21" name="">
            <a:extLst xmlns:a="http://schemas.openxmlformats.org/drawingml/2006/main">
              <a:ext uri="{FF2B5EF4-FFF2-40B4-BE49-F238E27FC236}">
                <a16:creationId xmlns:a16="http://schemas.microsoft.com/office/drawing/2014/main" id="{320F0C9C-85B7-40A0-B03A-C333605040F3}"/>
              </a:ext>
            </a:extLst>
          </p:cNvPr>
          <p:cNvSpPr>
            <a:spLocks xmlns:a="http://schemas.openxmlformats.org/drawingml/2006/main" noGrp="1"/>
          </p:cNvSpPr>
          <p:nvPr/>
        </p:nvSpPr>
        <p:spPr>
          <a:xfrm xmlns:a="http://schemas.openxmlformats.org/drawingml/2006/main">
            <a:off x="590550" y="42481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6FF5C"/>
                </a:solidFill>
                <a:latin typeface="Arial"/>
                <a:ea typeface="Arial"/>
                <a:cs typeface="Arial"/>
              </a:defRPr>
            </a:pPr>
            <a:r>
              <a:rPr sz="1200" b="1">
                <a:solidFill>
                  <a:srgbClr val="D6FF5C"/>
                </a:solidFill>
                <a:latin typeface="Arial"/>
                <a:ea typeface="Arial"/>
                <a:cs typeface="Arial"/>
              </a:rPr>
              <a:t>06</a:t>
            </a:r>
          </a:p>
        </p:txBody>
      </p:sp>
      <p:sp>
        <p:nvSpPr>
          <p:cNvPr id="22" name="">
            <a:extLst xmlns:a="http://schemas.openxmlformats.org/drawingml/2006/main">
              <a:ext uri="{FF2B5EF4-FFF2-40B4-BE49-F238E27FC236}">
                <a16:creationId xmlns:a16="http://schemas.microsoft.com/office/drawing/2014/main" id="{2C2E2373-C41E-49FB-B831-DB46EE2304DA}"/>
              </a:ext>
            </a:extLst>
          </p:cNvPr>
          <p:cNvSpPr>
            <a:spLocks xmlns:a="http://schemas.openxmlformats.org/drawingml/2006/main" noGrp="1"/>
          </p:cNvSpPr>
          <p:nvPr/>
        </p:nvSpPr>
        <p:spPr>
          <a:xfrm xmlns:a="http://schemas.openxmlformats.org/drawingml/2006/main">
            <a:off x="1123950" y="42291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Usage or outcome based pricing</a:t>
            </a:r>
          </a:p>
        </p:txBody>
      </p:sp>
      <p:sp>
        <p:nvSpPr>
          <p:cNvPr id="23" name="">
            <a:extLst xmlns:a="http://schemas.openxmlformats.org/drawingml/2006/main">
              <a:ext uri="{FF2B5EF4-FFF2-40B4-BE49-F238E27FC236}">
                <a16:creationId xmlns:a16="http://schemas.microsoft.com/office/drawing/2014/main" id="{E576A222-5BB7-421D-A292-B5C797F4A50D}"/>
              </a:ext>
            </a:extLst>
          </p:cNvPr>
          <p:cNvSpPr>
            <a:spLocks xmlns:a="http://schemas.openxmlformats.org/drawingml/2006/main" noGrp="1"/>
          </p:cNvSpPr>
          <p:nvPr/>
        </p:nvSpPr>
        <p:spPr>
          <a:xfrm xmlns:a="http://schemas.openxmlformats.org/drawingml/2006/main">
            <a:off x="590550" y="4591050"/>
            <a:ext cx="5429250" cy="9525"/>
          </a:xfrm>
          <a:prstGeom xmlns:a="http://schemas.openxmlformats.org/drawingml/2006/main" prst="rect">
            <a:avLst/>
          </a:prstGeom>
          <a:solidFill xmlns:a="http://schemas.openxmlformats.org/drawingml/2006/main">
            <a:srgbClr val="3F444A"/>
          </a:solidFill>
          <a:ln xmlns:a="http://schemas.openxmlformats.org/drawingml/2006/main" w="0">
            <a:solidFill>
              <a:srgbClr val="3F444A"/>
            </a:solidFill>
          </a:ln>
        </p:spPr>
      </p:sp>
      <p:sp>
        <p:nvSpPr>
          <p:cNvPr id="24" name="">
            <a:extLst xmlns:a="http://schemas.openxmlformats.org/drawingml/2006/main">
              <a:ext uri="{FF2B5EF4-FFF2-40B4-BE49-F238E27FC236}">
                <a16:creationId xmlns:a16="http://schemas.microsoft.com/office/drawing/2014/main" id="{A8979C9A-30E0-4314-917C-AC33709A254C}"/>
              </a:ext>
            </a:extLst>
          </p:cNvPr>
          <p:cNvSpPr>
            <a:spLocks xmlns:a="http://schemas.openxmlformats.org/drawingml/2006/main" noGrp="1"/>
          </p:cNvSpPr>
          <p:nvPr/>
        </p:nvSpPr>
        <p:spPr>
          <a:xfrm xmlns:a="http://schemas.openxmlformats.org/drawingml/2006/main">
            <a:off x="590550" y="4781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6FF5C"/>
                </a:solidFill>
                <a:latin typeface="Arial"/>
                <a:ea typeface="Arial"/>
                <a:cs typeface="Arial"/>
              </a:defRPr>
            </a:pPr>
            <a:r>
              <a:rPr sz="1200" b="1">
                <a:solidFill>
                  <a:srgbClr val="D6FF5C"/>
                </a:solidFill>
                <a:latin typeface="Arial"/>
                <a:ea typeface="Arial"/>
                <a:cs typeface="Arial"/>
              </a:rPr>
              <a:t>07</a:t>
            </a:r>
          </a:p>
        </p:txBody>
      </p:sp>
      <p:sp>
        <p:nvSpPr>
          <p:cNvPr id="25" name="">
            <a:extLst xmlns:a="http://schemas.openxmlformats.org/drawingml/2006/main">
              <a:ext uri="{FF2B5EF4-FFF2-40B4-BE49-F238E27FC236}">
                <a16:creationId xmlns:a16="http://schemas.microsoft.com/office/drawing/2014/main" id="{44F26244-FE37-4973-B6F0-1A2F773763DC}"/>
              </a:ext>
            </a:extLst>
          </p:cNvPr>
          <p:cNvSpPr>
            <a:spLocks xmlns:a="http://schemas.openxmlformats.org/drawingml/2006/main" noGrp="1"/>
          </p:cNvSpPr>
          <p:nvPr/>
        </p:nvSpPr>
        <p:spPr>
          <a:xfrm xmlns:a="http://schemas.openxmlformats.org/drawingml/2006/main">
            <a:off x="1123950" y="4762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Compatibility with an existing service stack</a:t>
            </a:r>
          </a:p>
        </p:txBody>
      </p:sp>
      <p:sp>
        <p:nvSpPr>
          <p:cNvPr id="26" name="">
            <a:extLst xmlns:a="http://schemas.openxmlformats.org/drawingml/2006/main">
              <a:ext uri="{FF2B5EF4-FFF2-40B4-BE49-F238E27FC236}">
                <a16:creationId xmlns:a16="http://schemas.microsoft.com/office/drawing/2014/main" id="{FBDE9483-1347-4E2C-9743-0058F15594D6}"/>
              </a:ext>
            </a:extLst>
          </p:cNvPr>
          <p:cNvSpPr>
            <a:spLocks xmlns:a="http://schemas.openxmlformats.org/drawingml/2006/main" noGrp="1"/>
          </p:cNvSpPr>
          <p:nvPr/>
        </p:nvSpPr>
        <p:spPr>
          <a:xfrm xmlns:a="http://schemas.openxmlformats.org/drawingml/2006/main">
            <a:off x="590550" y="5124450"/>
            <a:ext cx="5429250" cy="9525"/>
          </a:xfrm>
          <a:prstGeom xmlns:a="http://schemas.openxmlformats.org/drawingml/2006/main" prst="rect">
            <a:avLst/>
          </a:prstGeom>
          <a:solidFill xmlns:a="http://schemas.openxmlformats.org/drawingml/2006/main">
            <a:srgbClr val="3F444A"/>
          </a:solidFill>
          <a:ln xmlns:a="http://schemas.openxmlformats.org/drawingml/2006/main" w="0">
            <a:solidFill>
              <a:srgbClr val="3F444A"/>
            </a:solidFill>
          </a:ln>
        </p:spPr>
      </p:sp>
      <p:sp>
        <p:nvSpPr>
          <p:cNvPr id="27" name="">
            <a:extLst xmlns:a="http://schemas.openxmlformats.org/drawingml/2006/main">
              <a:ext uri="{FF2B5EF4-FFF2-40B4-BE49-F238E27FC236}">
                <a16:creationId xmlns:a16="http://schemas.microsoft.com/office/drawing/2014/main" id="{55389548-CD0F-407D-935E-D8CD8185ECB6}"/>
              </a:ext>
            </a:extLst>
          </p:cNvPr>
          <p:cNvSpPr>
            <a:spLocks xmlns:a="http://schemas.openxmlformats.org/drawingml/2006/main" noGrp="1"/>
          </p:cNvSpPr>
          <p:nvPr/>
        </p:nvSpPr>
        <p:spPr>
          <a:xfrm xmlns:a="http://schemas.openxmlformats.org/drawingml/2006/main">
            <a:off x="6667500" y="1428750"/>
            <a:ext cx="4762500" cy="4495800"/>
          </a:xfrm>
          <a:prstGeom xmlns:a="http://schemas.openxmlformats.org/drawingml/2006/main" prst="rect">
            <a:avLst/>
          </a:prstGeom>
          <a:solidFill xmlns:a="http://schemas.openxmlformats.org/drawingml/2006/main">
            <a:srgbClr val="D6FF5C"/>
          </a:solidFill>
          <a:ln xmlns:a="http://schemas.openxmlformats.org/drawingml/2006/main" w="0">
            <a:solidFill>
              <a:srgbClr val="D6FF5C"/>
            </a:solidFill>
          </a:ln>
        </p:spPr>
      </p:sp>
      <p:sp>
        <p:nvSpPr>
          <p:cNvPr id="28" name="">
            <a:extLst xmlns:a="http://schemas.openxmlformats.org/drawingml/2006/main">
              <a:ext uri="{FF2B5EF4-FFF2-40B4-BE49-F238E27FC236}">
                <a16:creationId xmlns:a16="http://schemas.microsoft.com/office/drawing/2014/main" id="{AA18BF4D-A522-4F7C-B003-1ACECD7450A7}"/>
              </a:ext>
            </a:extLst>
          </p:cNvPr>
          <p:cNvSpPr>
            <a:spLocks xmlns:a="http://schemas.openxmlformats.org/drawingml/2006/main" noGrp="1"/>
          </p:cNvSpPr>
          <p:nvPr/>
        </p:nvSpPr>
        <p:spPr>
          <a:xfrm xmlns:a="http://schemas.openxmlformats.org/drawingml/2006/main">
            <a:off x="6972300" y="17335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STRATEGY IMPLICATION</a:t>
            </a:r>
          </a:p>
        </p:txBody>
      </p:sp>
      <p:sp>
        <p:nvSpPr>
          <p:cNvPr id="29" name="">
            <a:extLst xmlns:a="http://schemas.openxmlformats.org/drawingml/2006/main">
              <a:ext uri="{FF2B5EF4-FFF2-40B4-BE49-F238E27FC236}">
                <a16:creationId xmlns:a16="http://schemas.microsoft.com/office/drawing/2014/main" id="{DF46E0FE-BD42-420B-A7C6-393771B40488}"/>
              </a:ext>
            </a:extLst>
          </p:cNvPr>
          <p:cNvSpPr>
            <a:spLocks xmlns:a="http://schemas.openxmlformats.org/drawingml/2006/main" noGrp="1"/>
          </p:cNvSpPr>
          <p:nvPr/>
        </p:nvSpPr>
        <p:spPr>
          <a:xfrm xmlns:a="http://schemas.openxmlformats.org/drawingml/2006/main">
            <a:off x="6972300" y="2133600"/>
            <a:ext cx="40481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11315"/>
                </a:solidFill>
                <a:latin typeface="Arial"/>
                <a:ea typeface="Arial"/>
                <a:cs typeface="Arial"/>
              </a:defRPr>
            </a:pPr>
            <a:r>
              <a:rPr sz="2700" b="1">
                <a:solidFill>
                  <a:srgbClr val="111315"/>
                </a:solidFill>
                <a:latin typeface="Arial"/>
                <a:ea typeface="Arial"/>
                <a:cs typeface="Arial"/>
              </a:rPr>
              <a:t>Generic AI and integration claims cannot carry the product strategy.</a:t>
            </a:r>
          </a:p>
        </p:txBody>
      </p:sp>
      <p:sp>
        <p:nvSpPr>
          <p:cNvPr id="30" name="">
            <a:extLst xmlns:a="http://schemas.openxmlformats.org/drawingml/2006/main">
              <a:ext uri="{FF2B5EF4-FFF2-40B4-BE49-F238E27FC236}">
                <a16:creationId xmlns:a16="http://schemas.microsoft.com/office/drawing/2014/main" id="{FC5CA94D-589B-4905-A715-AE2528C0E80B}"/>
              </a:ext>
            </a:extLst>
          </p:cNvPr>
          <p:cNvSpPr>
            <a:spLocks xmlns:a="http://schemas.openxmlformats.org/drawingml/2006/main" noGrp="1"/>
          </p:cNvSpPr>
          <p:nvPr/>
        </p:nvSpPr>
        <p:spPr>
          <a:xfrm xmlns:a="http://schemas.openxmlformats.org/drawingml/2006/main">
            <a:off x="6972300" y="4048125"/>
            <a:ext cx="4000500" cy="19050"/>
          </a:xfrm>
          <a:prstGeom xmlns:a="http://schemas.openxmlformats.org/drawingml/2006/main" prst="rect">
            <a:avLst/>
          </a:prstGeom>
          <a:solidFill xmlns:a="http://schemas.openxmlformats.org/drawingml/2006/main">
            <a:srgbClr val="A8D832"/>
          </a:solidFill>
          <a:ln xmlns:a="http://schemas.openxmlformats.org/drawingml/2006/main" w="0">
            <a:solidFill>
              <a:srgbClr val="A8D832"/>
            </a:solidFill>
          </a:ln>
        </p:spPr>
      </p:sp>
      <p:sp>
        <p:nvSpPr>
          <p:cNvPr id="31" name="">
            <a:extLst xmlns:a="http://schemas.openxmlformats.org/drawingml/2006/main">
              <a:ext uri="{FF2B5EF4-FFF2-40B4-BE49-F238E27FC236}">
                <a16:creationId xmlns:a16="http://schemas.microsoft.com/office/drawing/2014/main" id="{1608AB71-9A3A-40CC-BDE6-C45CAB3D5A8A}"/>
              </a:ext>
            </a:extLst>
          </p:cNvPr>
          <p:cNvSpPr>
            <a:spLocks xmlns:a="http://schemas.openxmlformats.org/drawingml/2006/main" noGrp="1"/>
          </p:cNvSpPr>
          <p:nvPr/>
        </p:nvSpPr>
        <p:spPr>
          <a:xfrm xmlns:a="http://schemas.openxmlformats.org/drawingml/2006/main">
            <a:off x="6972300" y="4267200"/>
            <a:ext cx="4000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A credible entry needs one workflow where the product proves better completion, control, operating effort, or total cost than the incumbent.</a:t>
            </a:r>
          </a:p>
        </p:txBody>
      </p:sp>
    </p:spTree>
    <p:extLst>
      <p:ext uri="{BB962C8B-B14F-4D97-AF65-F5344CB8AC3E}">
        <p14:creationId xmlns:p14="http://schemas.microsoft.com/office/powerpoint/2010/main" val="1843807262"/>
      </p:ext>
    </p:extLst>
  </p:cSld>
</p:sld>
</file>

<file path=ppt/slides/slide11.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EA184D6-5C2D-46FF-9FAF-36BAF367BFE0}"/>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Our strategic choice</a:t>
            </a:r>
          </a:p>
        </p:txBody>
      </p:sp>
      <p:sp>
        <p:nvSpPr>
          <p:cNvPr id="2" name="">
            <a:extLst xmlns:a="http://schemas.openxmlformats.org/drawingml/2006/main">
              <a:ext uri="{FF2B5EF4-FFF2-40B4-BE49-F238E27FC236}">
                <a16:creationId xmlns:a16="http://schemas.microsoft.com/office/drawing/2014/main" id="{12160CE8-56F9-468A-8F66-8C502362477A}"/>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F25A21A5-382C-466B-88A3-6E6E6EDBD9FF}"/>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H: segment and workflow strategy. I1 and I2 support cross system pain only. U: buyer, workflow, price, pilot demand.</a:t>
            </a:r>
          </a:p>
        </p:txBody>
      </p:sp>
      <p:sp>
        <p:nvSpPr>
          <p:cNvPr id="4" name="">
            <a:extLst xmlns:a="http://schemas.openxmlformats.org/drawingml/2006/main">
              <a:ext uri="{FF2B5EF4-FFF2-40B4-BE49-F238E27FC236}">
                <a16:creationId xmlns:a16="http://schemas.microsoft.com/office/drawing/2014/main" id="{35903E0A-1A9C-4138-87A2-01030501D05B}"/>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AF13AF2-418E-4C51-A9D5-392ABED1E415}"/>
              </a:ext>
            </a:extLst>
          </p:cNvPr>
          <p:cNvSpPr>
            <a:spLocks xmlns:a="http://schemas.openxmlformats.org/drawingml/2006/main" noGrp="1"/>
          </p:cNvSpPr>
          <p:nvPr/>
        </p:nvSpPr>
        <p:spPr>
          <a:xfrm xmlns:a="http://schemas.openxmlformats.org/drawingml/2006/main">
            <a:off x="590550" y="12573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35CFF"/>
                </a:solidFill>
                <a:latin typeface="Arial"/>
                <a:ea typeface="Arial"/>
                <a:cs typeface="Arial"/>
              </a:defRPr>
            </a:pPr>
            <a:r>
              <a:rPr sz="1650" b="1">
                <a:solidFill>
                  <a:srgbClr val="335C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0D3FD4B-3A5B-4644-BE2E-C15AB7B1906C}"/>
              </a:ext>
            </a:extLst>
          </p:cNvPr>
          <p:cNvSpPr>
            <a:spLocks xmlns:a="http://schemas.openxmlformats.org/drawingml/2006/main" noGrp="1"/>
          </p:cNvSpPr>
          <p:nvPr/>
        </p:nvSpPr>
        <p:spPr>
          <a:xfrm xmlns:a="http://schemas.openxmlformats.org/drawingml/2006/main">
            <a:off x="1162050" y="1200150"/>
            <a:ext cx="38100" cy="62865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7" name="">
            <a:extLst xmlns:a="http://schemas.openxmlformats.org/drawingml/2006/main">
              <a:ext uri="{FF2B5EF4-FFF2-40B4-BE49-F238E27FC236}">
                <a16:creationId xmlns:a16="http://schemas.microsoft.com/office/drawing/2014/main" id="{62BE40E3-E326-4BD0-AAD2-39E373DBAA4F}"/>
              </a:ext>
            </a:extLst>
          </p:cNvPr>
          <p:cNvSpPr>
            <a:spLocks xmlns:a="http://schemas.openxmlformats.org/drawingml/2006/main" noGrp="1"/>
          </p:cNvSpPr>
          <p:nvPr/>
        </p:nvSpPr>
        <p:spPr>
          <a:xfrm xmlns:a="http://schemas.openxmlformats.org/drawingml/2006/main">
            <a:off x="1409700" y="1219200"/>
            <a:ext cx="2143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CUSTOMER  H</a:t>
            </a:r>
          </a:p>
        </p:txBody>
      </p:sp>
      <p:sp>
        <p:nvSpPr>
          <p:cNvPr id="8" name="">
            <a:extLst xmlns:a="http://schemas.openxmlformats.org/drawingml/2006/main">
              <a:ext uri="{FF2B5EF4-FFF2-40B4-BE49-F238E27FC236}">
                <a16:creationId xmlns:a16="http://schemas.microsoft.com/office/drawing/2014/main" id="{420B4830-C8FF-4DCD-8BCA-7150E06BD2F6}"/>
              </a:ext>
            </a:extLst>
          </p:cNvPr>
          <p:cNvSpPr>
            <a:spLocks xmlns:a="http://schemas.openxmlformats.org/drawingml/2006/main" noGrp="1"/>
          </p:cNvSpPr>
          <p:nvPr/>
        </p:nvSpPr>
        <p:spPr>
          <a:xfrm xmlns:a="http://schemas.openxmlformats.org/drawingml/2006/main">
            <a:off x="3333750" y="1200150"/>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11315"/>
                </a:solidFill>
                <a:latin typeface="Arial"/>
                <a:ea typeface="Arial"/>
                <a:cs typeface="Arial"/>
              </a:defRPr>
            </a:pPr>
            <a:r>
              <a:rPr sz="1725" b="0">
                <a:solidFill>
                  <a:srgbClr val="111315"/>
                </a:solidFill>
                <a:latin typeface="Arial"/>
                <a:ea typeface="Arial"/>
                <a:cs typeface="Arial"/>
              </a:rPr>
              <a:t>Support led B2B technology or technology enabled services, 51 to 1,000 employees</a:t>
            </a:r>
          </a:p>
        </p:txBody>
      </p:sp>
      <p:sp>
        <p:nvSpPr>
          <p:cNvPr id="9" name="">
            <a:extLst xmlns:a="http://schemas.openxmlformats.org/drawingml/2006/main">
              <a:ext uri="{FF2B5EF4-FFF2-40B4-BE49-F238E27FC236}">
                <a16:creationId xmlns:a16="http://schemas.microsoft.com/office/drawing/2014/main" id="{5F297E75-9028-4B44-AC41-934EEB56ECCC}"/>
              </a:ext>
            </a:extLst>
          </p:cNvPr>
          <p:cNvSpPr>
            <a:spLocks xmlns:a="http://schemas.openxmlformats.org/drawingml/2006/main" noGrp="1"/>
          </p:cNvSpPr>
          <p:nvPr/>
        </p:nvSpPr>
        <p:spPr>
          <a:xfrm xmlns:a="http://schemas.openxmlformats.org/drawingml/2006/main">
            <a:off x="590550" y="21717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35CFF"/>
                </a:solidFill>
                <a:latin typeface="Arial"/>
                <a:ea typeface="Arial"/>
                <a:cs typeface="Arial"/>
              </a:defRPr>
            </a:pPr>
            <a:r>
              <a:rPr sz="1650" b="1">
                <a:solidFill>
                  <a:srgbClr val="335C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B733ECEE-4F33-4B43-B682-4A39937B99A5}"/>
              </a:ext>
            </a:extLst>
          </p:cNvPr>
          <p:cNvSpPr>
            <a:spLocks xmlns:a="http://schemas.openxmlformats.org/drawingml/2006/main" noGrp="1"/>
          </p:cNvSpPr>
          <p:nvPr/>
        </p:nvSpPr>
        <p:spPr>
          <a:xfrm xmlns:a="http://schemas.openxmlformats.org/drawingml/2006/main">
            <a:off x="1162050" y="2114550"/>
            <a:ext cx="38100" cy="62865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1" name="">
            <a:extLst xmlns:a="http://schemas.openxmlformats.org/drawingml/2006/main">
              <a:ext uri="{FF2B5EF4-FFF2-40B4-BE49-F238E27FC236}">
                <a16:creationId xmlns:a16="http://schemas.microsoft.com/office/drawing/2014/main" id="{14492B05-CE02-4850-B8FF-2D25BE86CD91}"/>
              </a:ext>
            </a:extLst>
          </p:cNvPr>
          <p:cNvSpPr>
            <a:spLocks xmlns:a="http://schemas.openxmlformats.org/drawingml/2006/main" noGrp="1"/>
          </p:cNvSpPr>
          <p:nvPr/>
        </p:nvSpPr>
        <p:spPr>
          <a:xfrm xmlns:a="http://schemas.openxmlformats.org/drawingml/2006/main">
            <a:off x="1409700" y="2133600"/>
            <a:ext cx="2143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JOB  I + H</a:t>
            </a:r>
          </a:p>
        </p:txBody>
      </p:sp>
      <p:sp>
        <p:nvSpPr>
          <p:cNvPr id="12" name="">
            <a:extLst xmlns:a="http://schemas.openxmlformats.org/drawingml/2006/main">
              <a:ext uri="{FF2B5EF4-FFF2-40B4-BE49-F238E27FC236}">
                <a16:creationId xmlns:a16="http://schemas.microsoft.com/office/drawing/2014/main" id="{49B5C31A-E31C-4623-B5B6-992C57253844}"/>
              </a:ext>
            </a:extLst>
          </p:cNvPr>
          <p:cNvSpPr>
            <a:spLocks xmlns:a="http://schemas.openxmlformats.org/drawingml/2006/main" noGrp="1"/>
          </p:cNvSpPr>
          <p:nvPr/>
        </p:nvSpPr>
        <p:spPr>
          <a:xfrm xmlns:a="http://schemas.openxmlformats.org/drawingml/2006/main">
            <a:off x="3333750" y="2114550"/>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11315"/>
                </a:solidFill>
                <a:latin typeface="Arial"/>
                <a:ea typeface="Arial"/>
                <a:cs typeface="Arial"/>
              </a:defRPr>
            </a:pPr>
            <a:r>
              <a:rPr sz="1725" b="0">
                <a:solidFill>
                  <a:srgbClr val="111315"/>
                </a:solidFill>
                <a:latin typeface="Arial"/>
                <a:ea typeface="Arial"/>
                <a:cs typeface="Arial"/>
              </a:rPr>
              <a:t>Complete a frequent support workflow without reconstructing context or risking an unauthorised action</a:t>
            </a:r>
          </a:p>
        </p:txBody>
      </p:sp>
      <p:sp>
        <p:nvSpPr>
          <p:cNvPr id="13" name="">
            <a:extLst xmlns:a="http://schemas.openxmlformats.org/drawingml/2006/main">
              <a:ext uri="{FF2B5EF4-FFF2-40B4-BE49-F238E27FC236}">
                <a16:creationId xmlns:a16="http://schemas.microsoft.com/office/drawing/2014/main" id="{162FE468-EA5D-4A45-8A80-905CF827B709}"/>
              </a:ext>
            </a:extLst>
          </p:cNvPr>
          <p:cNvSpPr>
            <a:spLocks xmlns:a="http://schemas.openxmlformats.org/drawingml/2006/main" noGrp="1"/>
          </p:cNvSpPr>
          <p:nvPr/>
        </p:nvSpPr>
        <p:spPr>
          <a:xfrm xmlns:a="http://schemas.openxmlformats.org/drawingml/2006/main">
            <a:off x="590550" y="30861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35CFF"/>
                </a:solidFill>
                <a:latin typeface="Arial"/>
                <a:ea typeface="Arial"/>
                <a:cs typeface="Arial"/>
              </a:defRPr>
            </a:pPr>
            <a:r>
              <a:rPr sz="1650" b="1">
                <a:solidFill>
                  <a:srgbClr val="335CF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1BE469EC-6FDC-4512-8B99-440B61466FF0}"/>
              </a:ext>
            </a:extLst>
          </p:cNvPr>
          <p:cNvSpPr>
            <a:spLocks xmlns:a="http://schemas.openxmlformats.org/drawingml/2006/main" noGrp="1"/>
          </p:cNvSpPr>
          <p:nvPr/>
        </p:nvSpPr>
        <p:spPr>
          <a:xfrm xmlns:a="http://schemas.openxmlformats.org/drawingml/2006/main">
            <a:off x="1162050" y="3028950"/>
            <a:ext cx="38100" cy="62865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5" name="">
            <a:extLst xmlns:a="http://schemas.openxmlformats.org/drawingml/2006/main">
              <a:ext uri="{FF2B5EF4-FFF2-40B4-BE49-F238E27FC236}">
                <a16:creationId xmlns:a16="http://schemas.microsoft.com/office/drawing/2014/main" id="{930B25C0-C3E4-4C68-B2E9-60E06F858EC7}"/>
              </a:ext>
            </a:extLst>
          </p:cNvPr>
          <p:cNvSpPr>
            <a:spLocks xmlns:a="http://schemas.openxmlformats.org/drawingml/2006/main" noGrp="1"/>
          </p:cNvSpPr>
          <p:nvPr/>
        </p:nvSpPr>
        <p:spPr>
          <a:xfrm xmlns:a="http://schemas.openxmlformats.org/drawingml/2006/main">
            <a:off x="1409700" y="3048000"/>
            <a:ext cx="2143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TRIGGER  U</a:t>
            </a:r>
          </a:p>
        </p:txBody>
      </p:sp>
      <p:sp>
        <p:nvSpPr>
          <p:cNvPr id="16" name="">
            <a:extLst xmlns:a="http://schemas.openxmlformats.org/drawingml/2006/main">
              <a:ext uri="{FF2B5EF4-FFF2-40B4-BE49-F238E27FC236}">
                <a16:creationId xmlns:a16="http://schemas.microsoft.com/office/drawing/2014/main" id="{B8C57E23-84E1-46F0-A8B2-845039A6FC03}"/>
              </a:ext>
            </a:extLst>
          </p:cNvPr>
          <p:cNvSpPr>
            <a:spLocks xmlns:a="http://schemas.openxmlformats.org/drawingml/2006/main" noGrp="1"/>
          </p:cNvSpPr>
          <p:nvPr/>
        </p:nvSpPr>
        <p:spPr>
          <a:xfrm xmlns:a="http://schemas.openxmlformats.org/drawingml/2006/main">
            <a:off x="3333750" y="3028950"/>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11315"/>
                </a:solidFill>
                <a:latin typeface="Arial"/>
                <a:ea typeface="Arial"/>
                <a:cs typeface="Arial"/>
              </a:defRPr>
            </a:pPr>
            <a:r>
              <a:rPr sz="1725" b="0">
                <a:solidFill>
                  <a:srgbClr val="111315"/>
                </a:solidFill>
                <a:latin typeface="Arial"/>
                <a:ea typeface="Arial"/>
                <a:cs typeface="Arial"/>
              </a:rPr>
              <a:t>A repeated cross system case causes measurable delay, rework, or customer repetition</a:t>
            </a:r>
          </a:p>
        </p:txBody>
      </p:sp>
      <p:sp>
        <p:nvSpPr>
          <p:cNvPr id="17" name="">
            <a:extLst xmlns:a="http://schemas.openxmlformats.org/drawingml/2006/main">
              <a:ext uri="{FF2B5EF4-FFF2-40B4-BE49-F238E27FC236}">
                <a16:creationId xmlns:a16="http://schemas.microsoft.com/office/drawing/2014/main" id="{32D30E8A-7959-47F2-9F07-BBDE36FEDDEE}"/>
              </a:ext>
            </a:extLst>
          </p:cNvPr>
          <p:cNvSpPr>
            <a:spLocks xmlns:a="http://schemas.openxmlformats.org/drawingml/2006/main" noGrp="1"/>
          </p:cNvSpPr>
          <p:nvPr/>
        </p:nvSpPr>
        <p:spPr>
          <a:xfrm xmlns:a="http://schemas.openxmlformats.org/drawingml/2006/main">
            <a:off x="590550" y="40005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35CFF"/>
                </a:solidFill>
                <a:latin typeface="Arial"/>
                <a:ea typeface="Arial"/>
                <a:cs typeface="Arial"/>
              </a:defRPr>
            </a:pPr>
            <a:r>
              <a:rPr sz="1650" b="1">
                <a:solidFill>
                  <a:srgbClr val="335CF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BD8CBCCD-599E-4FA3-A30B-716980AF8998}"/>
              </a:ext>
            </a:extLst>
          </p:cNvPr>
          <p:cNvSpPr>
            <a:spLocks xmlns:a="http://schemas.openxmlformats.org/drawingml/2006/main" noGrp="1"/>
          </p:cNvSpPr>
          <p:nvPr/>
        </p:nvSpPr>
        <p:spPr>
          <a:xfrm xmlns:a="http://schemas.openxmlformats.org/drawingml/2006/main">
            <a:off x="1162050" y="3943350"/>
            <a:ext cx="38100" cy="628650"/>
          </a:xfrm>
          <a:prstGeom xmlns:a="http://schemas.openxmlformats.org/drawingml/2006/main" prst="rect">
            <a:avLst/>
          </a:prstGeom>
          <a:solidFill xmlns:a="http://schemas.openxmlformats.org/drawingml/2006/main">
            <a:srgbClr val="FF6847"/>
          </a:solidFill>
          <a:ln xmlns:a="http://schemas.openxmlformats.org/drawingml/2006/main" w="0">
            <a:solidFill>
              <a:srgbClr val="FF6847"/>
            </a:solidFill>
          </a:ln>
        </p:spPr>
      </p:sp>
      <p:sp>
        <p:nvSpPr>
          <p:cNvPr id="19" name="">
            <a:extLst xmlns:a="http://schemas.openxmlformats.org/drawingml/2006/main">
              <a:ext uri="{FF2B5EF4-FFF2-40B4-BE49-F238E27FC236}">
                <a16:creationId xmlns:a16="http://schemas.microsoft.com/office/drawing/2014/main" id="{75C32179-3516-4671-AB4D-FD0CFBDFA971}"/>
              </a:ext>
            </a:extLst>
          </p:cNvPr>
          <p:cNvSpPr>
            <a:spLocks xmlns:a="http://schemas.openxmlformats.org/drawingml/2006/main" noGrp="1"/>
          </p:cNvSpPr>
          <p:nvPr/>
        </p:nvSpPr>
        <p:spPr>
          <a:xfrm xmlns:a="http://schemas.openxmlformats.org/drawingml/2006/main">
            <a:off x="1409700" y="3962400"/>
            <a:ext cx="2143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WEDGE  H</a:t>
            </a:r>
          </a:p>
        </p:txBody>
      </p:sp>
      <p:sp>
        <p:nvSpPr>
          <p:cNvPr id="20" name="">
            <a:extLst xmlns:a="http://schemas.openxmlformats.org/drawingml/2006/main">
              <a:ext uri="{FF2B5EF4-FFF2-40B4-BE49-F238E27FC236}">
                <a16:creationId xmlns:a16="http://schemas.microsoft.com/office/drawing/2014/main" id="{D06C2092-4239-450F-B47A-7832952686AD}"/>
              </a:ext>
            </a:extLst>
          </p:cNvPr>
          <p:cNvSpPr>
            <a:spLocks xmlns:a="http://schemas.openxmlformats.org/drawingml/2006/main" noGrp="1"/>
          </p:cNvSpPr>
          <p:nvPr/>
        </p:nvSpPr>
        <p:spPr>
          <a:xfrm xmlns:a="http://schemas.openxmlformats.org/drawingml/2006/main">
            <a:off x="3333750" y="3943350"/>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11315"/>
                </a:solidFill>
                <a:latin typeface="Arial"/>
                <a:ea typeface="Arial"/>
                <a:cs typeface="Arial"/>
              </a:defRPr>
            </a:pPr>
            <a:r>
              <a:rPr sz="2025" b="1">
                <a:solidFill>
                  <a:srgbClr val="111315"/>
                </a:solidFill>
                <a:latin typeface="Arial"/>
                <a:ea typeface="Arial"/>
                <a:cs typeface="Arial"/>
              </a:rPr>
              <a:t>One permission aware workflow across the existing helpdesk and one system of record</a:t>
            </a:r>
          </a:p>
        </p:txBody>
      </p:sp>
      <p:sp>
        <p:nvSpPr>
          <p:cNvPr id="21" name="">
            <a:extLst xmlns:a="http://schemas.openxmlformats.org/drawingml/2006/main">
              <a:ext uri="{FF2B5EF4-FFF2-40B4-BE49-F238E27FC236}">
                <a16:creationId xmlns:a16="http://schemas.microsoft.com/office/drawing/2014/main" id="{DCD943B4-43BA-46CB-8526-1E28D7B094F7}"/>
              </a:ext>
            </a:extLst>
          </p:cNvPr>
          <p:cNvSpPr>
            <a:spLocks xmlns:a="http://schemas.openxmlformats.org/drawingml/2006/main" noGrp="1"/>
          </p:cNvSpPr>
          <p:nvPr/>
        </p:nvSpPr>
        <p:spPr>
          <a:xfrm xmlns:a="http://schemas.openxmlformats.org/drawingml/2006/main">
            <a:off x="590550" y="49149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35CFF"/>
                </a:solidFill>
                <a:latin typeface="Arial"/>
                <a:ea typeface="Arial"/>
                <a:cs typeface="Arial"/>
              </a:defRPr>
            </a:pPr>
            <a:r>
              <a:rPr sz="1650" b="1">
                <a:solidFill>
                  <a:srgbClr val="335CFF"/>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126066FB-000E-4BB5-9D2A-81F1E51F1FDC}"/>
              </a:ext>
            </a:extLst>
          </p:cNvPr>
          <p:cNvSpPr>
            <a:spLocks xmlns:a="http://schemas.openxmlformats.org/drawingml/2006/main" noGrp="1"/>
          </p:cNvSpPr>
          <p:nvPr/>
        </p:nvSpPr>
        <p:spPr>
          <a:xfrm xmlns:a="http://schemas.openxmlformats.org/drawingml/2006/main">
            <a:off x="1162050" y="4857750"/>
            <a:ext cx="38100" cy="62865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3" name="">
            <a:extLst xmlns:a="http://schemas.openxmlformats.org/drawingml/2006/main">
              <a:ext uri="{FF2B5EF4-FFF2-40B4-BE49-F238E27FC236}">
                <a16:creationId xmlns:a16="http://schemas.microsoft.com/office/drawing/2014/main" id="{2B18E8DF-1EAA-46EC-ACA2-25A8C731B833}"/>
              </a:ext>
            </a:extLst>
          </p:cNvPr>
          <p:cNvSpPr>
            <a:spLocks xmlns:a="http://schemas.openxmlformats.org/drawingml/2006/main" noGrp="1"/>
          </p:cNvSpPr>
          <p:nvPr/>
        </p:nvSpPr>
        <p:spPr>
          <a:xfrm xmlns:a="http://schemas.openxmlformats.org/drawingml/2006/main">
            <a:off x="1409700" y="4876800"/>
            <a:ext cx="2143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METRIC  H</a:t>
            </a:r>
          </a:p>
        </p:txBody>
      </p:sp>
      <p:sp>
        <p:nvSpPr>
          <p:cNvPr id="24" name="">
            <a:extLst xmlns:a="http://schemas.openxmlformats.org/drawingml/2006/main">
              <a:ext uri="{FF2B5EF4-FFF2-40B4-BE49-F238E27FC236}">
                <a16:creationId xmlns:a16="http://schemas.microsoft.com/office/drawing/2014/main" id="{08265932-1142-4280-9E0B-00800CF4EAAF}"/>
              </a:ext>
            </a:extLst>
          </p:cNvPr>
          <p:cNvSpPr>
            <a:spLocks xmlns:a="http://schemas.openxmlformats.org/drawingml/2006/main" noGrp="1"/>
          </p:cNvSpPr>
          <p:nvPr/>
        </p:nvSpPr>
        <p:spPr>
          <a:xfrm xmlns:a="http://schemas.openxmlformats.org/drawingml/2006/main">
            <a:off x="3333750" y="4857750"/>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11315"/>
                </a:solidFill>
                <a:latin typeface="Arial"/>
                <a:ea typeface="Arial"/>
                <a:cs typeface="Arial"/>
              </a:defRPr>
            </a:pPr>
            <a:r>
              <a:rPr sz="1725" b="0">
                <a:solidFill>
                  <a:srgbClr val="111315"/>
                </a:solidFill>
                <a:latin typeface="Arial"/>
                <a:ea typeface="Arial"/>
                <a:cs typeface="Arial"/>
              </a:rPr>
              <a:t>Verified durable resolutions per active account, with safety, rework, and cost guardrails</a:t>
            </a:r>
          </a:p>
        </p:txBody>
      </p:sp>
    </p:spTree>
    <p:extLst>
      <p:ext uri="{BB962C8B-B14F-4D97-AF65-F5344CB8AC3E}">
        <p14:creationId xmlns:p14="http://schemas.microsoft.com/office/powerpoint/2010/main" val="1905303989"/>
      </p:ext>
    </p:extLst>
  </p:cSld>
</p:sld>
</file>

<file path=ppt/slides/slide12.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37225AB-AAD1-4619-B5EE-9A193BE2455F}"/>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Land, control, prove, expand</a:t>
            </a:r>
          </a:p>
        </p:txBody>
      </p:sp>
      <p:sp>
        <p:nvSpPr>
          <p:cNvPr id="2" name="">
            <a:extLst xmlns:a="http://schemas.openxmlformats.org/drawingml/2006/main">
              <a:ext uri="{FF2B5EF4-FFF2-40B4-BE49-F238E27FC236}">
                <a16:creationId xmlns:a16="http://schemas.microsoft.com/office/drawing/2014/main" id="{71E5441C-C143-4435-B29D-8D089D8EE90E}"/>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D00A2676-D91E-47B3-B945-B1350B9D5CAF}"/>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H: proposed adoption model. Success thresholds require a customer baseline.</a:t>
            </a:r>
          </a:p>
        </p:txBody>
      </p:sp>
      <p:sp>
        <p:nvSpPr>
          <p:cNvPr id="4" name="">
            <a:extLst xmlns:a="http://schemas.openxmlformats.org/drawingml/2006/main">
              <a:ext uri="{FF2B5EF4-FFF2-40B4-BE49-F238E27FC236}">
                <a16:creationId xmlns:a16="http://schemas.microsoft.com/office/drawing/2014/main" id="{95536174-6887-428B-B25A-69B2DB991B38}"/>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56BEA59E-B825-423B-8DA3-792F75376970}"/>
              </a:ext>
            </a:extLst>
          </p:cNvPr>
          <p:cNvSpPr>
            <a:spLocks xmlns:a="http://schemas.openxmlformats.org/drawingml/2006/main" noGrp="1"/>
          </p:cNvSpPr>
          <p:nvPr/>
        </p:nvSpPr>
        <p:spPr>
          <a:xfrm xmlns:a="http://schemas.openxmlformats.org/drawingml/2006/main">
            <a:off x="590550" y="1428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35CFF"/>
                </a:solidFill>
                <a:latin typeface="Arial"/>
                <a:ea typeface="Arial"/>
                <a:cs typeface="Arial"/>
              </a:defRPr>
            </a:pPr>
            <a:r>
              <a:rPr sz="1500" b="1">
                <a:solidFill>
                  <a:srgbClr val="335C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1247174-493F-4ED1-A29F-DE9FD94EEFDE}"/>
              </a:ext>
            </a:extLst>
          </p:cNvPr>
          <p:cNvSpPr>
            <a:spLocks xmlns:a="http://schemas.openxmlformats.org/drawingml/2006/main" noGrp="1"/>
          </p:cNvSpPr>
          <p:nvPr/>
        </p:nvSpPr>
        <p:spPr>
          <a:xfrm xmlns:a="http://schemas.openxmlformats.org/drawingml/2006/main">
            <a:off x="590550" y="1828800"/>
            <a:ext cx="2362200" cy="47625"/>
          </a:xfrm>
          <a:prstGeom xmlns:a="http://schemas.openxmlformats.org/drawingml/2006/main" prst="rect">
            <a:avLst/>
          </a:prstGeom>
          <a:solidFill xmlns:a="http://schemas.openxmlformats.org/drawingml/2006/main">
            <a:srgbClr val="335CFF"/>
          </a:solidFill>
          <a:ln xmlns:a="http://schemas.openxmlformats.org/drawingml/2006/main" w="0">
            <a:solidFill>
              <a:srgbClr val="335CFF"/>
            </a:solidFill>
          </a:ln>
        </p:spPr>
      </p:sp>
      <p:sp>
        <p:nvSpPr>
          <p:cNvPr id="7" name="">
            <a:extLst xmlns:a="http://schemas.openxmlformats.org/drawingml/2006/main">
              <a:ext uri="{FF2B5EF4-FFF2-40B4-BE49-F238E27FC236}">
                <a16:creationId xmlns:a16="http://schemas.microsoft.com/office/drawing/2014/main" id="{FEF1C0F5-0385-40FA-81CB-67A7396C4060}"/>
              </a:ext>
            </a:extLst>
          </p:cNvPr>
          <p:cNvSpPr>
            <a:spLocks xmlns:a="http://schemas.openxmlformats.org/drawingml/2006/main" noGrp="1"/>
          </p:cNvSpPr>
          <p:nvPr/>
        </p:nvSpPr>
        <p:spPr>
          <a:xfrm xmlns:a="http://schemas.openxmlformats.org/drawingml/2006/main">
            <a:off x="590550" y="2114550"/>
            <a:ext cx="236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35CFF"/>
                </a:solidFill>
                <a:latin typeface="Arial"/>
                <a:ea typeface="Arial"/>
                <a:cs typeface="Arial"/>
              </a:defRPr>
            </a:pPr>
            <a:r>
              <a:rPr sz="1950" b="1">
                <a:solidFill>
                  <a:srgbClr val="335CFF"/>
                </a:solidFill>
                <a:latin typeface="Arial"/>
                <a:ea typeface="Arial"/>
                <a:cs typeface="Arial"/>
              </a:rPr>
              <a:t>LAND</a:t>
            </a:r>
          </a:p>
        </p:txBody>
      </p:sp>
      <p:sp>
        <p:nvSpPr>
          <p:cNvPr id="8" name="">
            <a:extLst xmlns:a="http://schemas.openxmlformats.org/drawingml/2006/main">
              <a:ext uri="{FF2B5EF4-FFF2-40B4-BE49-F238E27FC236}">
                <a16:creationId xmlns:a16="http://schemas.microsoft.com/office/drawing/2014/main" id="{9A74F443-2A63-428B-A6B1-E27A455F19EE}"/>
              </a:ext>
            </a:extLst>
          </p:cNvPr>
          <p:cNvSpPr>
            <a:spLocks xmlns:a="http://schemas.openxmlformats.org/drawingml/2006/main" noGrp="1"/>
          </p:cNvSpPr>
          <p:nvPr/>
        </p:nvSpPr>
        <p:spPr>
          <a:xfrm xmlns:a="http://schemas.openxmlformats.org/drawingml/2006/main">
            <a:off x="590550" y="2743200"/>
            <a:ext cx="236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One segment</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One helpdesk</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One system</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One workflow</a:t>
            </a:r>
          </a:p>
        </p:txBody>
      </p:sp>
      <p:sp>
        <p:nvSpPr>
          <p:cNvPr id="9" name="">
            <a:extLst xmlns:a="http://schemas.openxmlformats.org/drawingml/2006/main">
              <a:ext uri="{FF2B5EF4-FFF2-40B4-BE49-F238E27FC236}">
                <a16:creationId xmlns:a16="http://schemas.microsoft.com/office/drawing/2014/main" id="{45D15734-7F92-41CD-BD37-1C93EC573006}"/>
              </a:ext>
            </a:extLst>
          </p:cNvPr>
          <p:cNvSpPr>
            <a:spLocks xmlns:a="http://schemas.openxmlformats.org/drawingml/2006/main" noGrp="1"/>
          </p:cNvSpPr>
          <p:nvPr/>
        </p:nvSpPr>
        <p:spPr>
          <a:xfrm xmlns:a="http://schemas.openxmlformats.org/drawingml/2006/main">
            <a:off x="3067050" y="1828800"/>
            <a:ext cx="171450" cy="476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0" name="">
            <a:extLst xmlns:a="http://schemas.openxmlformats.org/drawingml/2006/main">
              <a:ext uri="{FF2B5EF4-FFF2-40B4-BE49-F238E27FC236}">
                <a16:creationId xmlns:a16="http://schemas.microsoft.com/office/drawing/2014/main" id="{50F11636-EDE8-4DBC-86E0-1F0A2F380097}"/>
              </a:ext>
            </a:extLst>
          </p:cNvPr>
          <p:cNvSpPr>
            <a:spLocks xmlns:a="http://schemas.openxmlformats.org/drawingml/2006/main" noGrp="1"/>
          </p:cNvSpPr>
          <p:nvPr/>
        </p:nvSpPr>
        <p:spPr>
          <a:xfrm xmlns:a="http://schemas.openxmlformats.org/drawingml/2006/main">
            <a:off x="3352800" y="1428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C44C5"/>
                </a:solidFill>
                <a:latin typeface="Arial"/>
                <a:ea typeface="Arial"/>
                <a:cs typeface="Arial"/>
              </a:defRPr>
            </a:pPr>
            <a:r>
              <a:rPr sz="1500" b="1">
                <a:solidFill>
                  <a:srgbClr val="6C44C5"/>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82FD3E34-4909-4E4D-9008-504F001CF8F7}"/>
              </a:ext>
            </a:extLst>
          </p:cNvPr>
          <p:cNvSpPr>
            <a:spLocks xmlns:a="http://schemas.openxmlformats.org/drawingml/2006/main" noGrp="1"/>
          </p:cNvSpPr>
          <p:nvPr/>
        </p:nvSpPr>
        <p:spPr>
          <a:xfrm xmlns:a="http://schemas.openxmlformats.org/drawingml/2006/main">
            <a:off x="3352800" y="1828800"/>
            <a:ext cx="2362200" cy="47625"/>
          </a:xfrm>
          <a:prstGeom xmlns:a="http://schemas.openxmlformats.org/drawingml/2006/main" prst="rect">
            <a:avLst/>
          </a:prstGeom>
          <a:solidFill xmlns:a="http://schemas.openxmlformats.org/drawingml/2006/main">
            <a:srgbClr val="6C44C5"/>
          </a:solidFill>
          <a:ln xmlns:a="http://schemas.openxmlformats.org/drawingml/2006/main" w="0">
            <a:solidFill>
              <a:srgbClr val="6C44C5"/>
            </a:solidFill>
          </a:ln>
        </p:spPr>
      </p:sp>
      <p:sp>
        <p:nvSpPr>
          <p:cNvPr id="12" name="">
            <a:extLst xmlns:a="http://schemas.openxmlformats.org/drawingml/2006/main">
              <a:ext uri="{FF2B5EF4-FFF2-40B4-BE49-F238E27FC236}">
                <a16:creationId xmlns:a16="http://schemas.microsoft.com/office/drawing/2014/main" id="{42861DFC-6130-446E-984A-081ECE532E46}"/>
              </a:ext>
            </a:extLst>
          </p:cNvPr>
          <p:cNvSpPr>
            <a:spLocks xmlns:a="http://schemas.openxmlformats.org/drawingml/2006/main" noGrp="1"/>
          </p:cNvSpPr>
          <p:nvPr/>
        </p:nvSpPr>
        <p:spPr>
          <a:xfrm xmlns:a="http://schemas.openxmlformats.org/drawingml/2006/main">
            <a:off x="3352800" y="2114550"/>
            <a:ext cx="236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C44C5"/>
                </a:solidFill>
                <a:latin typeface="Arial"/>
                <a:ea typeface="Arial"/>
                <a:cs typeface="Arial"/>
              </a:defRPr>
            </a:pPr>
            <a:r>
              <a:rPr sz="1950" b="1">
                <a:solidFill>
                  <a:srgbClr val="6C44C5"/>
                </a:solidFill>
                <a:latin typeface="Arial"/>
                <a:ea typeface="Arial"/>
                <a:cs typeface="Arial"/>
              </a:rPr>
              <a:t>CONTROL</a:t>
            </a:r>
          </a:p>
        </p:txBody>
      </p:sp>
      <p:sp>
        <p:nvSpPr>
          <p:cNvPr id="13" name="">
            <a:extLst xmlns:a="http://schemas.openxmlformats.org/drawingml/2006/main">
              <a:ext uri="{FF2B5EF4-FFF2-40B4-BE49-F238E27FC236}">
                <a16:creationId xmlns:a16="http://schemas.microsoft.com/office/drawing/2014/main" id="{FBFABBA2-7FC8-48AA-99EF-5C033AF8DECD}"/>
              </a:ext>
            </a:extLst>
          </p:cNvPr>
          <p:cNvSpPr>
            <a:spLocks xmlns:a="http://schemas.openxmlformats.org/drawingml/2006/main" noGrp="1"/>
          </p:cNvSpPr>
          <p:nvPr/>
        </p:nvSpPr>
        <p:spPr>
          <a:xfrm xmlns:a="http://schemas.openxmlformats.org/drawingml/2006/main">
            <a:off x="3352800" y="2743200"/>
            <a:ext cx="236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Read only</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Shadow mode</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Human approval</a:t>
            </a:r>
          </a:p>
        </p:txBody>
      </p:sp>
      <p:sp>
        <p:nvSpPr>
          <p:cNvPr id="14" name="">
            <a:extLst xmlns:a="http://schemas.openxmlformats.org/drawingml/2006/main">
              <a:ext uri="{FF2B5EF4-FFF2-40B4-BE49-F238E27FC236}">
                <a16:creationId xmlns:a16="http://schemas.microsoft.com/office/drawing/2014/main" id="{76E1ECC8-101F-4BD7-9841-E1014E980E34}"/>
              </a:ext>
            </a:extLst>
          </p:cNvPr>
          <p:cNvSpPr>
            <a:spLocks xmlns:a="http://schemas.openxmlformats.org/drawingml/2006/main" noGrp="1"/>
          </p:cNvSpPr>
          <p:nvPr/>
        </p:nvSpPr>
        <p:spPr>
          <a:xfrm xmlns:a="http://schemas.openxmlformats.org/drawingml/2006/main">
            <a:off x="5829300" y="1828800"/>
            <a:ext cx="171450" cy="476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5" name="">
            <a:extLst xmlns:a="http://schemas.openxmlformats.org/drawingml/2006/main">
              <a:ext uri="{FF2B5EF4-FFF2-40B4-BE49-F238E27FC236}">
                <a16:creationId xmlns:a16="http://schemas.microsoft.com/office/drawing/2014/main" id="{D2314B21-5415-4224-B6E3-D6D90B18D208}"/>
              </a:ext>
            </a:extLst>
          </p:cNvPr>
          <p:cNvSpPr>
            <a:spLocks xmlns:a="http://schemas.openxmlformats.org/drawingml/2006/main" noGrp="1"/>
          </p:cNvSpPr>
          <p:nvPr/>
        </p:nvSpPr>
        <p:spPr>
          <a:xfrm xmlns:a="http://schemas.openxmlformats.org/drawingml/2006/main">
            <a:off x="6115050" y="1428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6847"/>
                </a:solidFill>
                <a:latin typeface="Arial"/>
                <a:ea typeface="Arial"/>
                <a:cs typeface="Arial"/>
              </a:defRPr>
            </a:pPr>
            <a:r>
              <a:rPr sz="1500" b="1">
                <a:solidFill>
                  <a:srgbClr val="FF6847"/>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A8A3391E-CC17-40C9-967D-6A630F7B7519}"/>
              </a:ext>
            </a:extLst>
          </p:cNvPr>
          <p:cNvSpPr>
            <a:spLocks xmlns:a="http://schemas.openxmlformats.org/drawingml/2006/main" noGrp="1"/>
          </p:cNvSpPr>
          <p:nvPr/>
        </p:nvSpPr>
        <p:spPr>
          <a:xfrm xmlns:a="http://schemas.openxmlformats.org/drawingml/2006/main">
            <a:off x="6115050" y="1828800"/>
            <a:ext cx="2362200" cy="47625"/>
          </a:xfrm>
          <a:prstGeom xmlns:a="http://schemas.openxmlformats.org/drawingml/2006/main" prst="rect">
            <a:avLst/>
          </a:prstGeom>
          <a:solidFill xmlns:a="http://schemas.openxmlformats.org/drawingml/2006/main">
            <a:srgbClr val="FF6847"/>
          </a:solidFill>
          <a:ln xmlns:a="http://schemas.openxmlformats.org/drawingml/2006/main" w="0">
            <a:solidFill>
              <a:srgbClr val="FF6847"/>
            </a:solidFill>
          </a:ln>
        </p:spPr>
      </p:sp>
      <p:sp>
        <p:nvSpPr>
          <p:cNvPr id="17" name="">
            <a:extLst xmlns:a="http://schemas.openxmlformats.org/drawingml/2006/main">
              <a:ext uri="{FF2B5EF4-FFF2-40B4-BE49-F238E27FC236}">
                <a16:creationId xmlns:a16="http://schemas.microsoft.com/office/drawing/2014/main" id="{1D7F2D86-37A9-4C90-813F-D20462FCF9CD}"/>
              </a:ext>
            </a:extLst>
          </p:cNvPr>
          <p:cNvSpPr>
            <a:spLocks xmlns:a="http://schemas.openxmlformats.org/drawingml/2006/main" noGrp="1"/>
          </p:cNvSpPr>
          <p:nvPr/>
        </p:nvSpPr>
        <p:spPr>
          <a:xfrm xmlns:a="http://schemas.openxmlformats.org/drawingml/2006/main">
            <a:off x="6115050" y="2114550"/>
            <a:ext cx="236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6847"/>
                </a:solidFill>
                <a:latin typeface="Arial"/>
                <a:ea typeface="Arial"/>
                <a:cs typeface="Arial"/>
              </a:defRPr>
            </a:pPr>
            <a:r>
              <a:rPr sz="1950" b="1">
                <a:solidFill>
                  <a:srgbClr val="FF6847"/>
                </a:solidFill>
                <a:latin typeface="Arial"/>
                <a:ea typeface="Arial"/>
                <a:cs typeface="Arial"/>
              </a:rPr>
              <a:t>PROVE</a:t>
            </a:r>
          </a:p>
        </p:txBody>
      </p:sp>
      <p:sp>
        <p:nvSpPr>
          <p:cNvPr id="18" name="">
            <a:extLst xmlns:a="http://schemas.openxmlformats.org/drawingml/2006/main">
              <a:ext uri="{FF2B5EF4-FFF2-40B4-BE49-F238E27FC236}">
                <a16:creationId xmlns:a16="http://schemas.microsoft.com/office/drawing/2014/main" id="{4081ADCD-794F-4ED4-B547-37010570EBEC}"/>
              </a:ext>
            </a:extLst>
          </p:cNvPr>
          <p:cNvSpPr>
            <a:spLocks xmlns:a="http://schemas.openxmlformats.org/drawingml/2006/main" noGrp="1"/>
          </p:cNvSpPr>
          <p:nvPr/>
        </p:nvSpPr>
        <p:spPr>
          <a:xfrm xmlns:a="http://schemas.openxmlformats.org/drawingml/2006/main">
            <a:off x="6115050" y="2743200"/>
            <a:ext cx="236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Durable resolution</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Safety</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Effort</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Total cost</a:t>
            </a:r>
          </a:p>
        </p:txBody>
      </p:sp>
      <p:sp>
        <p:nvSpPr>
          <p:cNvPr id="19" name="">
            <a:extLst xmlns:a="http://schemas.openxmlformats.org/drawingml/2006/main">
              <a:ext uri="{FF2B5EF4-FFF2-40B4-BE49-F238E27FC236}">
                <a16:creationId xmlns:a16="http://schemas.microsoft.com/office/drawing/2014/main" id="{05FC812F-BD5E-4EF4-908C-AA17D7BE20E8}"/>
              </a:ext>
            </a:extLst>
          </p:cNvPr>
          <p:cNvSpPr>
            <a:spLocks xmlns:a="http://schemas.openxmlformats.org/drawingml/2006/main" noGrp="1"/>
          </p:cNvSpPr>
          <p:nvPr/>
        </p:nvSpPr>
        <p:spPr>
          <a:xfrm xmlns:a="http://schemas.openxmlformats.org/drawingml/2006/main">
            <a:off x="8591550" y="1828800"/>
            <a:ext cx="171450" cy="476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0" name="">
            <a:extLst xmlns:a="http://schemas.openxmlformats.org/drawingml/2006/main">
              <a:ext uri="{FF2B5EF4-FFF2-40B4-BE49-F238E27FC236}">
                <a16:creationId xmlns:a16="http://schemas.microsoft.com/office/drawing/2014/main" id="{A5F968E8-CF18-4C2F-B301-AF9E2030E927}"/>
              </a:ext>
            </a:extLst>
          </p:cNvPr>
          <p:cNvSpPr>
            <a:spLocks xmlns:a="http://schemas.openxmlformats.org/drawingml/2006/main" noGrp="1"/>
          </p:cNvSpPr>
          <p:nvPr/>
        </p:nvSpPr>
        <p:spPr>
          <a:xfrm xmlns:a="http://schemas.openxmlformats.org/drawingml/2006/main">
            <a:off x="8877300" y="1428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A72"/>
                </a:solidFill>
                <a:latin typeface="Arial"/>
                <a:ea typeface="Arial"/>
                <a:cs typeface="Arial"/>
              </a:defRPr>
            </a:pPr>
            <a:r>
              <a:rPr sz="1500" b="1">
                <a:solidFill>
                  <a:srgbClr val="168A72"/>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829808DB-68F1-4B4F-BDF9-779C7EF69613}"/>
              </a:ext>
            </a:extLst>
          </p:cNvPr>
          <p:cNvSpPr>
            <a:spLocks xmlns:a="http://schemas.openxmlformats.org/drawingml/2006/main" noGrp="1"/>
          </p:cNvSpPr>
          <p:nvPr/>
        </p:nvSpPr>
        <p:spPr>
          <a:xfrm xmlns:a="http://schemas.openxmlformats.org/drawingml/2006/main">
            <a:off x="8877300" y="1828800"/>
            <a:ext cx="2362200" cy="47625"/>
          </a:xfrm>
          <a:prstGeom xmlns:a="http://schemas.openxmlformats.org/drawingml/2006/main" prst="rect">
            <a:avLst/>
          </a:prstGeom>
          <a:solidFill xmlns:a="http://schemas.openxmlformats.org/drawingml/2006/main">
            <a:srgbClr val="168A72"/>
          </a:solidFill>
          <a:ln xmlns:a="http://schemas.openxmlformats.org/drawingml/2006/main" w="0">
            <a:solidFill>
              <a:srgbClr val="168A72"/>
            </a:solidFill>
          </a:ln>
        </p:spPr>
      </p:sp>
      <p:sp>
        <p:nvSpPr>
          <p:cNvPr id="22" name="">
            <a:extLst xmlns:a="http://schemas.openxmlformats.org/drawingml/2006/main">
              <a:ext uri="{FF2B5EF4-FFF2-40B4-BE49-F238E27FC236}">
                <a16:creationId xmlns:a16="http://schemas.microsoft.com/office/drawing/2014/main" id="{EAD50724-8CF3-4043-8492-B3551DAC0D8C}"/>
              </a:ext>
            </a:extLst>
          </p:cNvPr>
          <p:cNvSpPr>
            <a:spLocks xmlns:a="http://schemas.openxmlformats.org/drawingml/2006/main" noGrp="1"/>
          </p:cNvSpPr>
          <p:nvPr/>
        </p:nvSpPr>
        <p:spPr>
          <a:xfrm xmlns:a="http://schemas.openxmlformats.org/drawingml/2006/main">
            <a:off x="8877300" y="2114550"/>
            <a:ext cx="236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A72"/>
                </a:solidFill>
                <a:latin typeface="Arial"/>
                <a:ea typeface="Arial"/>
                <a:cs typeface="Arial"/>
              </a:defRPr>
            </a:pPr>
            <a:r>
              <a:rPr sz="1950" b="1">
                <a:solidFill>
                  <a:srgbClr val="168A72"/>
                </a:solidFill>
                <a:latin typeface="Arial"/>
                <a:ea typeface="Arial"/>
                <a:cs typeface="Arial"/>
              </a:rPr>
              <a:t>EXPAND</a:t>
            </a:r>
          </a:p>
        </p:txBody>
      </p:sp>
      <p:sp>
        <p:nvSpPr>
          <p:cNvPr id="23" name="">
            <a:extLst xmlns:a="http://schemas.openxmlformats.org/drawingml/2006/main">
              <a:ext uri="{FF2B5EF4-FFF2-40B4-BE49-F238E27FC236}">
                <a16:creationId xmlns:a16="http://schemas.microsoft.com/office/drawing/2014/main" id="{D547F373-D693-4F56-BB19-CC4386562C0B}"/>
              </a:ext>
            </a:extLst>
          </p:cNvPr>
          <p:cNvSpPr>
            <a:spLocks xmlns:a="http://schemas.openxmlformats.org/drawingml/2006/main" noGrp="1"/>
          </p:cNvSpPr>
          <p:nvPr/>
        </p:nvSpPr>
        <p:spPr>
          <a:xfrm xmlns:a="http://schemas.openxmlformats.org/drawingml/2006/main">
            <a:off x="8877300" y="2743200"/>
            <a:ext cx="236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Automation</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Workflow variants</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Systems</a:t>
            </a:r>
          </a:p>
          <a:p xmlns:a="http://schemas.openxmlformats.org/drawingml/2006/main">
            <a:pPr>
              <a:defRPr sz="1800" b="0">
                <a:solidFill>
                  <a:srgbClr val="111315"/>
                </a:solidFill>
                <a:latin typeface="Arial"/>
                <a:ea typeface="Arial"/>
                <a:cs typeface="Arial"/>
              </a:defRPr>
            </a:pPr>
            <a:r>
              <a:rPr sz="1800" b="0">
                <a:solidFill>
                  <a:srgbClr val="111315"/>
                </a:solidFill>
                <a:latin typeface="Arial"/>
                <a:ea typeface="Arial"/>
                <a:cs typeface="Arial"/>
              </a:rPr>
              <a:t>Adjacent teams</a:t>
            </a:r>
          </a:p>
        </p:txBody>
      </p:sp>
      <p:sp>
        <p:nvSpPr>
          <p:cNvPr id="24" name="">
            <a:extLst xmlns:a="http://schemas.openxmlformats.org/drawingml/2006/main">
              <a:ext uri="{FF2B5EF4-FFF2-40B4-BE49-F238E27FC236}">
                <a16:creationId xmlns:a16="http://schemas.microsoft.com/office/drawing/2014/main" id="{AC2A982E-51EC-4AA0-B16B-4BE30769C9E1}"/>
              </a:ext>
            </a:extLst>
          </p:cNvPr>
          <p:cNvSpPr>
            <a:spLocks xmlns:a="http://schemas.openxmlformats.org/drawingml/2006/main" noGrp="1"/>
          </p:cNvSpPr>
          <p:nvPr/>
        </p:nvSpPr>
        <p:spPr>
          <a:xfrm xmlns:a="http://schemas.openxmlformats.org/drawingml/2006/main">
            <a:off x="590550" y="4991100"/>
            <a:ext cx="10648950" cy="838200"/>
          </a:xfrm>
          <a:prstGeom xmlns:a="http://schemas.openxmlformats.org/drawingml/2006/main" prst="rect">
            <a:avLst/>
          </a:prstGeom>
          <a:solidFill xmlns:a="http://schemas.openxmlformats.org/drawingml/2006/main">
            <a:srgbClr val="F1FFD0"/>
          </a:solidFill>
          <a:ln xmlns:a="http://schemas.openxmlformats.org/drawingml/2006/main" w="0">
            <a:solidFill>
              <a:srgbClr val="F1FFD0"/>
            </a:solidFill>
          </a:ln>
        </p:spPr>
      </p:sp>
      <p:sp>
        <p:nvSpPr>
          <p:cNvPr id="25" name="">
            <a:extLst xmlns:a="http://schemas.openxmlformats.org/drawingml/2006/main">
              <a:ext uri="{FF2B5EF4-FFF2-40B4-BE49-F238E27FC236}">
                <a16:creationId xmlns:a16="http://schemas.microsoft.com/office/drawing/2014/main" id="{F836676D-AAB0-4435-A6F3-597A1DB889A2}"/>
              </a:ext>
            </a:extLst>
          </p:cNvPr>
          <p:cNvSpPr>
            <a:spLocks xmlns:a="http://schemas.openxmlformats.org/drawingml/2006/main" noGrp="1"/>
          </p:cNvSpPr>
          <p:nvPr/>
        </p:nvSpPr>
        <p:spPr>
          <a:xfrm xmlns:a="http://schemas.openxmlformats.org/drawingml/2006/main">
            <a:off x="800100" y="51816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EXPANSION TRIGGER</a:t>
            </a:r>
          </a:p>
        </p:txBody>
      </p:sp>
      <p:sp>
        <p:nvSpPr>
          <p:cNvPr id="26" name="">
            <a:extLst xmlns:a="http://schemas.openxmlformats.org/drawingml/2006/main">
              <a:ext uri="{FF2B5EF4-FFF2-40B4-BE49-F238E27FC236}">
                <a16:creationId xmlns:a16="http://schemas.microsoft.com/office/drawing/2014/main" id="{3327CE4E-D523-4159-B8D9-679E749CC810}"/>
              </a:ext>
            </a:extLst>
          </p:cNvPr>
          <p:cNvSpPr>
            <a:spLocks xmlns:a="http://schemas.openxmlformats.org/drawingml/2006/main" noGrp="1"/>
          </p:cNvSpPr>
          <p:nvPr/>
        </p:nvSpPr>
        <p:spPr>
          <a:xfrm xmlns:a="http://schemas.openxmlformats.org/drawingml/2006/main">
            <a:off x="2686050" y="5143500"/>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11315"/>
                </a:solidFill>
                <a:latin typeface="Arial"/>
                <a:ea typeface="Arial"/>
                <a:cs typeface="Arial"/>
              </a:defRPr>
            </a:pPr>
            <a:r>
              <a:rPr sz="1875" b="1">
                <a:solidFill>
                  <a:srgbClr val="111315"/>
                </a:solidFill>
                <a:latin typeface="Arial"/>
                <a:ea typeface="Arial"/>
                <a:cs typeface="Arial"/>
              </a:rPr>
              <a:t>Measured workload reduction and reliable outcomes create internal pull. A platform mandate does not.</a:t>
            </a:r>
          </a:p>
        </p:txBody>
      </p:sp>
    </p:spTree>
    <p:extLst>
      <p:ext uri="{BB962C8B-B14F-4D97-AF65-F5344CB8AC3E}">
        <p14:creationId xmlns:p14="http://schemas.microsoft.com/office/powerpoint/2010/main" val="1976834258"/>
      </p:ext>
    </p:extLst>
  </p:cSld>
</p:sld>
</file>

<file path=ppt/slides/slide13.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1915425-7CD2-47D9-8080-997CC3324484}"/>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Candidate moat</a:t>
            </a:r>
          </a:p>
        </p:txBody>
      </p:sp>
      <p:sp>
        <p:nvSpPr>
          <p:cNvPr id="2" name="">
            <a:extLst xmlns:a="http://schemas.openxmlformats.org/drawingml/2006/main">
              <a:ext uri="{FF2B5EF4-FFF2-40B4-BE49-F238E27FC236}">
                <a16:creationId xmlns:a16="http://schemas.microsoft.com/office/drawing/2014/main" id="{21632D02-329C-4954-9204-FAD5CB3E756B}"/>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643B1AD4-F62B-42DE-8E52-86BCA98F99B2}"/>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H: proposed compounding mechanisms. No deployment or proprietary dataset exists today.</a:t>
            </a:r>
          </a:p>
        </p:txBody>
      </p:sp>
      <p:sp>
        <p:nvSpPr>
          <p:cNvPr id="4" name="">
            <a:extLst xmlns:a="http://schemas.openxmlformats.org/drawingml/2006/main">
              <a:ext uri="{FF2B5EF4-FFF2-40B4-BE49-F238E27FC236}">
                <a16:creationId xmlns:a16="http://schemas.microsoft.com/office/drawing/2014/main" id="{059AA124-E59A-4359-8071-98BDBF4564F7}"/>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9DA59DEE-0C83-4C6C-966B-E2624F4E6BD0}"/>
              </a:ext>
            </a:extLst>
          </p:cNvPr>
          <p:cNvSpPr>
            <a:spLocks xmlns:a="http://schemas.openxmlformats.org/drawingml/2006/main" noGrp="1"/>
          </p:cNvSpPr>
          <p:nvPr/>
        </p:nvSpPr>
        <p:spPr>
          <a:xfrm xmlns:a="http://schemas.openxmlformats.org/drawingml/2006/main">
            <a:off x="590550" y="1257300"/>
            <a:ext cx="10629900" cy="1066800"/>
          </a:xfrm>
          <a:prstGeom xmlns:a="http://schemas.openxmlformats.org/drawingml/2006/main" prst="rect">
            <a:avLst/>
          </a:prstGeom>
          <a:solidFill xmlns:a="http://schemas.openxmlformats.org/drawingml/2006/main">
            <a:srgbClr val="E7EBFF"/>
          </a:solidFill>
          <a:ln xmlns:a="http://schemas.openxmlformats.org/drawingml/2006/main" w="0">
            <a:solidFill>
              <a:srgbClr val="E7EBFF"/>
            </a:solidFill>
          </a:ln>
        </p:spPr>
      </p:sp>
      <p:sp>
        <p:nvSpPr>
          <p:cNvPr id="6" name="">
            <a:extLst xmlns:a="http://schemas.openxmlformats.org/drawingml/2006/main">
              <a:ext uri="{FF2B5EF4-FFF2-40B4-BE49-F238E27FC236}">
                <a16:creationId xmlns:a16="http://schemas.microsoft.com/office/drawing/2014/main" id="{9793C12C-5CF8-4964-8341-EE54D298FC6E}"/>
              </a:ext>
            </a:extLst>
          </p:cNvPr>
          <p:cNvSpPr>
            <a:spLocks xmlns:a="http://schemas.openxmlformats.org/drawingml/2006/main" noGrp="1"/>
          </p:cNvSpPr>
          <p:nvPr/>
        </p:nvSpPr>
        <p:spPr>
          <a:xfrm xmlns:a="http://schemas.openxmlformats.org/drawingml/2006/main">
            <a:off x="819150" y="1466850"/>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35CFF"/>
                </a:solidFill>
                <a:latin typeface="Arial"/>
                <a:ea typeface="Arial"/>
                <a:cs typeface="Arial"/>
              </a:defRPr>
            </a:pPr>
            <a:r>
              <a:rPr sz="2325" b="1">
                <a:solidFill>
                  <a:srgbClr val="335C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7332A9E7-C99D-47FC-BB82-C5F8529F3761}"/>
              </a:ext>
            </a:extLst>
          </p:cNvPr>
          <p:cNvSpPr>
            <a:spLocks xmlns:a="http://schemas.openxmlformats.org/drawingml/2006/main" noGrp="1"/>
          </p:cNvSpPr>
          <p:nvPr/>
        </p:nvSpPr>
        <p:spPr>
          <a:xfrm xmlns:a="http://schemas.openxmlformats.org/drawingml/2006/main">
            <a:off x="1390650" y="14287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1315"/>
                </a:solidFill>
                <a:latin typeface="Arial"/>
                <a:ea typeface="Arial"/>
                <a:cs typeface="Arial"/>
              </a:defRPr>
            </a:pPr>
            <a:r>
              <a:rPr sz="1950" b="1">
                <a:solidFill>
                  <a:srgbClr val="111315"/>
                </a:solidFill>
                <a:latin typeface="Arial"/>
                <a:ea typeface="Arial"/>
                <a:cs typeface="Arial"/>
              </a:rPr>
              <a:t>Workflow evaluation data</a:t>
            </a:r>
          </a:p>
        </p:txBody>
      </p:sp>
      <p:sp>
        <p:nvSpPr>
          <p:cNvPr id="8" name="">
            <a:extLst xmlns:a="http://schemas.openxmlformats.org/drawingml/2006/main">
              <a:ext uri="{FF2B5EF4-FFF2-40B4-BE49-F238E27FC236}">
                <a16:creationId xmlns:a16="http://schemas.microsoft.com/office/drawing/2014/main" id="{337E4AEB-E7C6-483B-8A67-3B9612664609}"/>
              </a:ext>
            </a:extLst>
          </p:cNvPr>
          <p:cNvSpPr>
            <a:spLocks xmlns:a="http://schemas.openxmlformats.org/drawingml/2006/main" noGrp="1"/>
          </p:cNvSpPr>
          <p:nvPr/>
        </p:nvSpPr>
        <p:spPr>
          <a:xfrm xmlns:a="http://schemas.openxmlformats.org/drawingml/2006/main">
            <a:off x="5124450" y="142875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11315"/>
                </a:solidFill>
                <a:latin typeface="Arial"/>
                <a:ea typeface="Arial"/>
                <a:cs typeface="Arial"/>
              </a:defRPr>
            </a:pPr>
            <a:r>
              <a:rPr sz="1575" b="0">
                <a:solidFill>
                  <a:srgbClr val="111315"/>
                </a:solidFill>
                <a:latin typeface="Arial"/>
                <a:ea typeface="Arial"/>
                <a:cs typeface="Arial"/>
              </a:rPr>
              <a:t>Examples of correct resolution, refusal, escalation, correction, and regression for one workflow</a:t>
            </a:r>
          </a:p>
        </p:txBody>
      </p:sp>
      <p:sp>
        <p:nvSpPr>
          <p:cNvPr id="9" name="">
            <a:extLst xmlns:a="http://schemas.openxmlformats.org/drawingml/2006/main">
              <a:ext uri="{FF2B5EF4-FFF2-40B4-BE49-F238E27FC236}">
                <a16:creationId xmlns:a16="http://schemas.microsoft.com/office/drawing/2014/main" id="{947CFA4E-5007-4A8E-AF63-E6FB741C574E}"/>
              </a:ext>
            </a:extLst>
          </p:cNvPr>
          <p:cNvSpPr>
            <a:spLocks xmlns:a="http://schemas.openxmlformats.org/drawingml/2006/main" noGrp="1"/>
          </p:cNvSpPr>
          <p:nvPr/>
        </p:nvSpPr>
        <p:spPr>
          <a:xfrm xmlns:a="http://schemas.openxmlformats.org/drawingml/2006/main">
            <a:off x="990600" y="2609850"/>
            <a:ext cx="9829800" cy="1066800"/>
          </a:xfrm>
          <a:prstGeom xmlns:a="http://schemas.openxmlformats.org/drawingml/2006/main" prst="rect">
            <a:avLst/>
          </a:prstGeom>
          <a:solidFill xmlns:a="http://schemas.openxmlformats.org/drawingml/2006/main">
            <a:srgbClr val="F1FFD0"/>
          </a:solidFill>
          <a:ln xmlns:a="http://schemas.openxmlformats.org/drawingml/2006/main" w="0">
            <a:solidFill>
              <a:srgbClr val="F1FFD0"/>
            </a:solidFill>
          </a:ln>
        </p:spPr>
      </p:sp>
      <p:sp>
        <p:nvSpPr>
          <p:cNvPr id="10" name="">
            <a:extLst xmlns:a="http://schemas.openxmlformats.org/drawingml/2006/main">
              <a:ext uri="{FF2B5EF4-FFF2-40B4-BE49-F238E27FC236}">
                <a16:creationId xmlns:a16="http://schemas.microsoft.com/office/drawing/2014/main" id="{067ED5E6-982C-417C-A2D3-4A0E44B3ECEB}"/>
              </a:ext>
            </a:extLst>
          </p:cNvPr>
          <p:cNvSpPr>
            <a:spLocks xmlns:a="http://schemas.openxmlformats.org/drawingml/2006/main" noGrp="1"/>
          </p:cNvSpPr>
          <p:nvPr/>
        </p:nvSpPr>
        <p:spPr>
          <a:xfrm xmlns:a="http://schemas.openxmlformats.org/drawingml/2006/main">
            <a:off x="1219200" y="2819400"/>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567A00"/>
                </a:solidFill>
                <a:latin typeface="Arial"/>
                <a:ea typeface="Arial"/>
                <a:cs typeface="Arial"/>
              </a:defRPr>
            </a:pPr>
            <a:r>
              <a:rPr sz="2325" b="1">
                <a:solidFill>
                  <a:srgbClr val="567A00"/>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C5BF697B-BC01-4095-AE4E-9D703EFE105B}"/>
              </a:ext>
            </a:extLst>
          </p:cNvPr>
          <p:cNvSpPr>
            <a:spLocks xmlns:a="http://schemas.openxmlformats.org/drawingml/2006/main" noGrp="1"/>
          </p:cNvSpPr>
          <p:nvPr/>
        </p:nvSpPr>
        <p:spPr>
          <a:xfrm xmlns:a="http://schemas.openxmlformats.org/drawingml/2006/main">
            <a:off x="1790700" y="27813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1315"/>
                </a:solidFill>
                <a:latin typeface="Arial"/>
                <a:ea typeface="Arial"/>
                <a:cs typeface="Arial"/>
              </a:defRPr>
            </a:pPr>
            <a:r>
              <a:rPr sz="1950" b="1">
                <a:solidFill>
                  <a:srgbClr val="111315"/>
                </a:solidFill>
                <a:latin typeface="Arial"/>
                <a:ea typeface="Arial"/>
                <a:cs typeface="Arial"/>
              </a:rPr>
              <a:t>Reliable action contracts</a:t>
            </a:r>
          </a:p>
        </p:txBody>
      </p:sp>
      <p:sp>
        <p:nvSpPr>
          <p:cNvPr id="12" name="">
            <a:extLst xmlns:a="http://schemas.openxmlformats.org/drawingml/2006/main">
              <a:ext uri="{FF2B5EF4-FFF2-40B4-BE49-F238E27FC236}">
                <a16:creationId xmlns:a16="http://schemas.microsoft.com/office/drawing/2014/main" id="{A35C4C22-C4DA-4F13-A8D4-A90071FDE0AF}"/>
              </a:ext>
            </a:extLst>
          </p:cNvPr>
          <p:cNvSpPr>
            <a:spLocks xmlns:a="http://schemas.openxmlformats.org/drawingml/2006/main" noGrp="1"/>
          </p:cNvSpPr>
          <p:nvPr/>
        </p:nvSpPr>
        <p:spPr>
          <a:xfrm xmlns:a="http://schemas.openxmlformats.org/drawingml/2006/main">
            <a:off x="5524500" y="2781300"/>
            <a:ext cx="4819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11315"/>
                </a:solidFill>
                <a:latin typeface="Arial"/>
                <a:ea typeface="Arial"/>
                <a:cs typeface="Arial"/>
              </a:defRPr>
            </a:pPr>
            <a:r>
              <a:rPr sz="1575" b="0">
                <a:solidFill>
                  <a:srgbClr val="111315"/>
                </a:solidFill>
                <a:latin typeface="Arial"/>
                <a:ea typeface="Arial"/>
                <a:cs typeface="Arial"/>
              </a:rPr>
              <a:t>Versioned fields, permissions, idempotency, retries, audit, simulation, recovery, and rollback</a:t>
            </a:r>
          </a:p>
        </p:txBody>
      </p:sp>
      <p:sp>
        <p:nvSpPr>
          <p:cNvPr id="13" name="">
            <a:extLst xmlns:a="http://schemas.openxmlformats.org/drawingml/2006/main">
              <a:ext uri="{FF2B5EF4-FFF2-40B4-BE49-F238E27FC236}">
                <a16:creationId xmlns:a16="http://schemas.microsoft.com/office/drawing/2014/main" id="{A746888E-5687-4C63-87A1-B59B72B0A995}"/>
              </a:ext>
            </a:extLst>
          </p:cNvPr>
          <p:cNvSpPr>
            <a:spLocks xmlns:a="http://schemas.openxmlformats.org/drawingml/2006/main" noGrp="1"/>
          </p:cNvSpPr>
          <p:nvPr/>
        </p:nvSpPr>
        <p:spPr>
          <a:xfrm xmlns:a="http://schemas.openxmlformats.org/drawingml/2006/main">
            <a:off x="1390650" y="3962400"/>
            <a:ext cx="9029700" cy="1066800"/>
          </a:xfrm>
          <a:prstGeom xmlns:a="http://schemas.openxmlformats.org/drawingml/2006/main" prst="rect">
            <a:avLst/>
          </a:prstGeom>
          <a:solidFill xmlns:a="http://schemas.openxmlformats.org/drawingml/2006/main">
            <a:srgbClr val="FFE6DF"/>
          </a:solidFill>
          <a:ln xmlns:a="http://schemas.openxmlformats.org/drawingml/2006/main" w="0">
            <a:solidFill>
              <a:srgbClr val="FFE6DF"/>
            </a:solidFill>
          </a:ln>
        </p:spPr>
      </p:sp>
      <p:sp>
        <p:nvSpPr>
          <p:cNvPr id="14" name="">
            <a:extLst xmlns:a="http://schemas.openxmlformats.org/drawingml/2006/main">
              <a:ext uri="{FF2B5EF4-FFF2-40B4-BE49-F238E27FC236}">
                <a16:creationId xmlns:a16="http://schemas.microsoft.com/office/drawing/2014/main" id="{1A7AF45E-E219-49E6-97D4-048675F962DE}"/>
              </a:ext>
            </a:extLst>
          </p:cNvPr>
          <p:cNvSpPr>
            <a:spLocks xmlns:a="http://schemas.openxmlformats.org/drawingml/2006/main" noGrp="1"/>
          </p:cNvSpPr>
          <p:nvPr/>
        </p:nvSpPr>
        <p:spPr>
          <a:xfrm xmlns:a="http://schemas.openxmlformats.org/drawingml/2006/main">
            <a:off x="1619250" y="4171950"/>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6847"/>
                </a:solidFill>
                <a:latin typeface="Arial"/>
                <a:ea typeface="Arial"/>
                <a:cs typeface="Arial"/>
              </a:defRPr>
            </a:pPr>
            <a:r>
              <a:rPr sz="2325" b="1">
                <a:solidFill>
                  <a:srgbClr val="FF6847"/>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D87C0147-D579-4327-93E6-384763940956}"/>
              </a:ext>
            </a:extLst>
          </p:cNvPr>
          <p:cNvSpPr>
            <a:spLocks xmlns:a="http://schemas.openxmlformats.org/drawingml/2006/main" noGrp="1"/>
          </p:cNvSpPr>
          <p:nvPr/>
        </p:nvSpPr>
        <p:spPr>
          <a:xfrm xmlns:a="http://schemas.openxmlformats.org/drawingml/2006/main">
            <a:off x="2190750" y="41338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1315"/>
                </a:solidFill>
                <a:latin typeface="Arial"/>
                <a:ea typeface="Arial"/>
                <a:cs typeface="Arial"/>
              </a:defRPr>
            </a:pPr>
            <a:r>
              <a:rPr sz="1950" b="1">
                <a:solidFill>
                  <a:srgbClr val="111315"/>
                </a:solidFill>
                <a:latin typeface="Arial"/>
                <a:ea typeface="Arial"/>
                <a:cs typeface="Arial"/>
              </a:rPr>
              <a:t>Repeatable deployment learning</a:t>
            </a:r>
          </a:p>
        </p:txBody>
      </p:sp>
      <p:sp>
        <p:nvSpPr>
          <p:cNvPr id="16" name="">
            <a:extLst xmlns:a="http://schemas.openxmlformats.org/drawingml/2006/main">
              <a:ext uri="{FF2B5EF4-FFF2-40B4-BE49-F238E27FC236}">
                <a16:creationId xmlns:a16="http://schemas.microsoft.com/office/drawing/2014/main" id="{9223707B-79B5-4F79-ABB7-2930124BA759}"/>
              </a:ext>
            </a:extLst>
          </p:cNvPr>
          <p:cNvSpPr>
            <a:spLocks xmlns:a="http://schemas.openxmlformats.org/drawingml/2006/main" noGrp="1"/>
          </p:cNvSpPr>
          <p:nvPr/>
        </p:nvSpPr>
        <p:spPr>
          <a:xfrm xmlns:a="http://schemas.openxmlformats.org/drawingml/2006/main">
            <a:off x="5924550" y="4133850"/>
            <a:ext cx="4019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11315"/>
                </a:solidFill>
                <a:latin typeface="Arial"/>
                <a:ea typeface="Arial"/>
                <a:cs typeface="Arial"/>
              </a:defRPr>
            </a:pPr>
            <a:r>
              <a:rPr sz="1575" b="0">
                <a:solidFill>
                  <a:srgbClr val="111315"/>
                </a:solidFill>
                <a:latin typeface="Arial"/>
                <a:ea typeface="Arial"/>
                <a:cs typeface="Arial"/>
              </a:rPr>
              <a:t>Faster launch of the same proven workflow across common helpdesk and system combinations</a:t>
            </a:r>
          </a:p>
        </p:txBody>
      </p:sp>
      <p:sp>
        <p:nvSpPr>
          <p:cNvPr id="17" name="">
            <a:extLst xmlns:a="http://schemas.openxmlformats.org/drawingml/2006/main">
              <a:ext uri="{FF2B5EF4-FFF2-40B4-BE49-F238E27FC236}">
                <a16:creationId xmlns:a16="http://schemas.microsoft.com/office/drawing/2014/main" id="{96B9F8A2-911A-4125-BC5A-DA74DAEE7CD2}"/>
              </a:ext>
            </a:extLst>
          </p:cNvPr>
          <p:cNvSpPr>
            <a:spLocks xmlns:a="http://schemas.openxmlformats.org/drawingml/2006/main" noGrp="1"/>
          </p:cNvSpPr>
          <p:nvPr/>
        </p:nvSpPr>
        <p:spPr>
          <a:xfrm xmlns:a="http://schemas.openxmlformats.org/drawingml/2006/main">
            <a:off x="590550" y="52578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6847"/>
                </a:solidFill>
                <a:latin typeface="Arial"/>
                <a:ea typeface="Arial"/>
                <a:cs typeface="Arial"/>
              </a:defRPr>
            </a:pPr>
            <a:r>
              <a:rPr sz="1800" b="1">
                <a:solidFill>
                  <a:srgbClr val="FF6847"/>
                </a:solidFill>
                <a:latin typeface="Arial"/>
                <a:ea typeface="Arial"/>
                <a:cs typeface="Arial"/>
              </a:rPr>
              <a:t>A model, generic retrieval, connector catalogue, or category label does not create durable defence by itself.</a:t>
            </a:r>
          </a:p>
        </p:txBody>
      </p:sp>
    </p:spTree>
    <p:extLst>
      <p:ext uri="{BB962C8B-B14F-4D97-AF65-F5344CB8AC3E}">
        <p14:creationId xmlns:p14="http://schemas.microsoft.com/office/powerpoint/2010/main" val="980025211"/>
      </p:ext>
    </p:extLst>
  </p:cSld>
</p:sld>
</file>

<file path=ppt/slides/slide14.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A9D35E8A-B495-459B-8321-993592EB7855}"/>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Rejection conditions and evidence gaps</a:t>
            </a:r>
          </a:p>
        </p:txBody>
      </p:sp>
      <p:sp>
        <p:nvSpPr>
          <p:cNvPr id="2" name="">
            <a:extLst xmlns:a="http://schemas.openxmlformats.org/drawingml/2006/main">
              <a:ext uri="{FF2B5EF4-FFF2-40B4-BE49-F238E27FC236}">
                <a16:creationId xmlns:a16="http://schemas.microsoft.com/office/drawing/2014/main" id="{C82DF3FC-A72A-43D0-B4B0-1E3DDF5AD62F}"/>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8BD969F5-1025-4756-B4AE-35E1266094D7}"/>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U: open validation work. Stop or narrow the strategy when these conditions hold.</a:t>
            </a:r>
          </a:p>
        </p:txBody>
      </p:sp>
      <p:sp>
        <p:nvSpPr>
          <p:cNvPr id="4" name="">
            <a:extLst xmlns:a="http://schemas.openxmlformats.org/drawingml/2006/main">
              <a:ext uri="{FF2B5EF4-FFF2-40B4-BE49-F238E27FC236}">
                <a16:creationId xmlns:a16="http://schemas.microsoft.com/office/drawing/2014/main" id="{F5AD850E-E024-4F99-B9B2-79E9B03A98D4}"/>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9E5D563C-3526-4F24-A205-3024B78BB683}"/>
              </a:ext>
            </a:extLst>
          </p:cNvPr>
          <p:cNvSpPr>
            <a:spLocks xmlns:a="http://schemas.openxmlformats.org/drawingml/2006/main" noGrp="1"/>
          </p:cNvSpPr>
          <p:nvPr/>
        </p:nvSpPr>
        <p:spPr>
          <a:xfrm xmlns:a="http://schemas.openxmlformats.org/drawingml/2006/main">
            <a:off x="590550" y="12382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847"/>
                </a:solidFill>
                <a:latin typeface="Arial"/>
                <a:ea typeface="Arial"/>
                <a:cs typeface="Arial"/>
              </a:defRPr>
            </a:pPr>
            <a:r>
              <a:rPr sz="1125" b="1">
                <a:solidFill>
                  <a:srgbClr val="FF6847"/>
                </a:solidFill>
                <a:latin typeface="Arial"/>
                <a:ea typeface="Arial"/>
                <a:cs typeface="Arial"/>
              </a:rPr>
              <a:t>REJECT OR NARROW</a:t>
            </a:r>
          </a:p>
        </p:txBody>
      </p:sp>
      <p:sp>
        <p:nvSpPr>
          <p:cNvPr id="6" name="">
            <a:extLst xmlns:a="http://schemas.openxmlformats.org/drawingml/2006/main">
              <a:ext uri="{FF2B5EF4-FFF2-40B4-BE49-F238E27FC236}">
                <a16:creationId xmlns:a16="http://schemas.microsoft.com/office/drawing/2014/main" id="{83A8FBE1-0FD6-4697-A9CB-977B3838A746}"/>
              </a:ext>
            </a:extLst>
          </p:cNvPr>
          <p:cNvSpPr>
            <a:spLocks xmlns:a="http://schemas.openxmlformats.org/drawingml/2006/main" noGrp="1"/>
          </p:cNvSpPr>
          <p:nvPr/>
        </p:nvSpPr>
        <p:spPr>
          <a:xfrm xmlns:a="http://schemas.openxmlformats.org/drawingml/2006/main">
            <a:off x="5905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6847"/>
                </a:solidFill>
                <a:latin typeface="Arial"/>
                <a:ea typeface="Arial"/>
                <a:cs typeface="Arial"/>
              </a:defRPr>
            </a:pPr>
            <a:r>
              <a:rPr sz="1350" b="1">
                <a:solidFill>
                  <a:srgbClr val="FF6847"/>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6B87CEC-7F9D-4B77-A041-529A866FE3AF}"/>
              </a:ext>
            </a:extLst>
          </p:cNvPr>
          <p:cNvSpPr>
            <a:spLocks xmlns:a="http://schemas.openxmlformats.org/drawingml/2006/main" noGrp="1"/>
          </p:cNvSpPr>
          <p:nvPr/>
        </p:nvSpPr>
        <p:spPr>
          <a:xfrm xmlns:a="http://schemas.openxmlformats.org/drawingml/2006/main">
            <a:off x="1123950" y="1581150"/>
            <a:ext cx="452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Customers cannot name one frequent urgent workflow.</a:t>
            </a:r>
          </a:p>
        </p:txBody>
      </p:sp>
      <p:sp>
        <p:nvSpPr>
          <p:cNvPr id="8" name="">
            <a:extLst xmlns:a="http://schemas.openxmlformats.org/drawingml/2006/main">
              <a:ext uri="{FF2B5EF4-FFF2-40B4-BE49-F238E27FC236}">
                <a16:creationId xmlns:a16="http://schemas.microsoft.com/office/drawing/2014/main" id="{D20D3EE6-4BAD-4552-AAAD-DCA378EAC65D}"/>
              </a:ext>
            </a:extLst>
          </p:cNvPr>
          <p:cNvSpPr>
            <a:spLocks xmlns:a="http://schemas.openxmlformats.org/drawingml/2006/main" noGrp="1"/>
          </p:cNvSpPr>
          <p:nvPr/>
        </p:nvSpPr>
        <p:spPr>
          <a:xfrm xmlns:a="http://schemas.openxmlformats.org/drawingml/2006/main">
            <a:off x="590550" y="2209800"/>
            <a:ext cx="504825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9" name="">
            <a:extLst xmlns:a="http://schemas.openxmlformats.org/drawingml/2006/main">
              <a:ext uri="{FF2B5EF4-FFF2-40B4-BE49-F238E27FC236}">
                <a16:creationId xmlns:a16="http://schemas.microsoft.com/office/drawing/2014/main" id="{F43942F7-84EE-46B4-84EF-4F4DC04BE4EE}"/>
              </a:ext>
            </a:extLst>
          </p:cNvPr>
          <p:cNvSpPr>
            <a:spLocks xmlns:a="http://schemas.openxmlformats.org/drawingml/2006/main" noGrp="1"/>
          </p:cNvSpPr>
          <p:nvPr/>
        </p:nvSpPr>
        <p:spPr>
          <a:xfrm xmlns:a="http://schemas.openxmlformats.org/drawingml/2006/main">
            <a:off x="590550" y="23812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6847"/>
                </a:solidFill>
                <a:latin typeface="Arial"/>
                <a:ea typeface="Arial"/>
                <a:cs typeface="Arial"/>
              </a:defRPr>
            </a:pPr>
            <a:r>
              <a:rPr sz="1350" b="1">
                <a:solidFill>
                  <a:srgbClr val="FF6847"/>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D210DC38-32E2-445B-9E76-EC84548D1098}"/>
              </a:ext>
            </a:extLst>
          </p:cNvPr>
          <p:cNvSpPr>
            <a:spLocks xmlns:a="http://schemas.openxmlformats.org/drawingml/2006/main" noGrp="1"/>
          </p:cNvSpPr>
          <p:nvPr/>
        </p:nvSpPr>
        <p:spPr>
          <a:xfrm xmlns:a="http://schemas.openxmlformats.org/drawingml/2006/main">
            <a:off x="1123950" y="2362200"/>
            <a:ext cx="452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IT or security will not permit the required access.</a:t>
            </a:r>
          </a:p>
        </p:txBody>
      </p:sp>
      <p:sp>
        <p:nvSpPr>
          <p:cNvPr id="11" name="">
            <a:extLst xmlns:a="http://schemas.openxmlformats.org/drawingml/2006/main">
              <a:ext uri="{FF2B5EF4-FFF2-40B4-BE49-F238E27FC236}">
                <a16:creationId xmlns:a16="http://schemas.microsoft.com/office/drawing/2014/main" id="{46A9A259-84B4-4B9C-A65B-D44E0A4632DA}"/>
              </a:ext>
            </a:extLst>
          </p:cNvPr>
          <p:cNvSpPr>
            <a:spLocks xmlns:a="http://schemas.openxmlformats.org/drawingml/2006/main" noGrp="1"/>
          </p:cNvSpPr>
          <p:nvPr/>
        </p:nvSpPr>
        <p:spPr>
          <a:xfrm xmlns:a="http://schemas.openxmlformats.org/drawingml/2006/main">
            <a:off x="590550" y="2990850"/>
            <a:ext cx="504825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2" name="">
            <a:extLst xmlns:a="http://schemas.openxmlformats.org/drawingml/2006/main">
              <a:ext uri="{FF2B5EF4-FFF2-40B4-BE49-F238E27FC236}">
                <a16:creationId xmlns:a16="http://schemas.microsoft.com/office/drawing/2014/main" id="{85FF29A6-6327-4507-8A9F-31FDC1E22664}"/>
              </a:ext>
            </a:extLst>
          </p:cNvPr>
          <p:cNvSpPr>
            <a:spLocks xmlns:a="http://schemas.openxmlformats.org/drawingml/2006/main" noGrp="1"/>
          </p:cNvSpPr>
          <p:nvPr/>
        </p:nvSpPr>
        <p:spPr>
          <a:xfrm xmlns:a="http://schemas.openxmlformats.org/drawingml/2006/main">
            <a:off x="590550" y="31623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6847"/>
                </a:solidFill>
                <a:latin typeface="Arial"/>
                <a:ea typeface="Arial"/>
                <a:cs typeface="Arial"/>
              </a:defRPr>
            </a:pPr>
            <a:r>
              <a:rPr sz="1350" b="1">
                <a:solidFill>
                  <a:srgbClr val="FF684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A2E719CE-A6F8-42FF-AAA4-111938A1766D}"/>
              </a:ext>
            </a:extLst>
          </p:cNvPr>
          <p:cNvSpPr>
            <a:spLocks xmlns:a="http://schemas.openxmlformats.org/drawingml/2006/main" noGrp="1"/>
          </p:cNvSpPr>
          <p:nvPr/>
        </p:nvSpPr>
        <p:spPr>
          <a:xfrm xmlns:a="http://schemas.openxmlformats.org/drawingml/2006/main">
            <a:off x="1123950" y="3143250"/>
            <a:ext cx="452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The incumbent completes it well enough at lower total cost.</a:t>
            </a:r>
          </a:p>
        </p:txBody>
      </p:sp>
      <p:sp>
        <p:nvSpPr>
          <p:cNvPr id="14" name="">
            <a:extLst xmlns:a="http://schemas.openxmlformats.org/drawingml/2006/main">
              <a:ext uri="{FF2B5EF4-FFF2-40B4-BE49-F238E27FC236}">
                <a16:creationId xmlns:a16="http://schemas.microsoft.com/office/drawing/2014/main" id="{4EF402FE-52DA-4F31-AFE1-1E6BDCF64975}"/>
              </a:ext>
            </a:extLst>
          </p:cNvPr>
          <p:cNvSpPr>
            <a:spLocks xmlns:a="http://schemas.openxmlformats.org/drawingml/2006/main" noGrp="1"/>
          </p:cNvSpPr>
          <p:nvPr/>
        </p:nvSpPr>
        <p:spPr>
          <a:xfrm xmlns:a="http://schemas.openxmlformats.org/drawingml/2006/main">
            <a:off x="590550" y="3771900"/>
            <a:ext cx="504825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5" name="">
            <a:extLst xmlns:a="http://schemas.openxmlformats.org/drawingml/2006/main">
              <a:ext uri="{FF2B5EF4-FFF2-40B4-BE49-F238E27FC236}">
                <a16:creationId xmlns:a16="http://schemas.microsoft.com/office/drawing/2014/main" id="{BAA89B16-D850-4E27-8B72-E3643180F6B9}"/>
              </a:ext>
            </a:extLst>
          </p:cNvPr>
          <p:cNvSpPr>
            <a:spLocks xmlns:a="http://schemas.openxmlformats.org/drawingml/2006/main" noGrp="1"/>
          </p:cNvSpPr>
          <p:nvPr/>
        </p:nvSpPr>
        <p:spPr>
          <a:xfrm xmlns:a="http://schemas.openxmlformats.org/drawingml/2006/main">
            <a:off x="590550" y="39433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6847"/>
                </a:solidFill>
                <a:latin typeface="Arial"/>
                <a:ea typeface="Arial"/>
                <a:cs typeface="Arial"/>
              </a:defRPr>
            </a:pPr>
            <a:r>
              <a:rPr sz="1350" b="1">
                <a:solidFill>
                  <a:srgbClr val="FF6847"/>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C21BF26B-E1F7-4B3A-AAE9-9D86D4D6144D}"/>
              </a:ext>
            </a:extLst>
          </p:cNvPr>
          <p:cNvSpPr>
            <a:spLocks xmlns:a="http://schemas.openxmlformats.org/drawingml/2006/main" noGrp="1"/>
          </p:cNvSpPr>
          <p:nvPr/>
        </p:nvSpPr>
        <p:spPr>
          <a:xfrm xmlns:a="http://schemas.openxmlformats.org/drawingml/2006/main">
            <a:off x="1123950" y="3924300"/>
            <a:ext cx="452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No buyer will sponsor a controlled pilot.</a:t>
            </a:r>
          </a:p>
        </p:txBody>
      </p:sp>
      <p:sp>
        <p:nvSpPr>
          <p:cNvPr id="17" name="">
            <a:extLst xmlns:a="http://schemas.openxmlformats.org/drawingml/2006/main">
              <a:ext uri="{FF2B5EF4-FFF2-40B4-BE49-F238E27FC236}">
                <a16:creationId xmlns:a16="http://schemas.microsoft.com/office/drawing/2014/main" id="{322543F6-0DA3-4A4F-9145-812A3F4CEA04}"/>
              </a:ext>
            </a:extLst>
          </p:cNvPr>
          <p:cNvSpPr>
            <a:spLocks xmlns:a="http://schemas.openxmlformats.org/drawingml/2006/main" noGrp="1"/>
          </p:cNvSpPr>
          <p:nvPr/>
        </p:nvSpPr>
        <p:spPr>
          <a:xfrm xmlns:a="http://schemas.openxmlformats.org/drawingml/2006/main">
            <a:off x="590550" y="4552950"/>
            <a:ext cx="504825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18" name="">
            <a:extLst xmlns:a="http://schemas.openxmlformats.org/drawingml/2006/main">
              <a:ext uri="{FF2B5EF4-FFF2-40B4-BE49-F238E27FC236}">
                <a16:creationId xmlns:a16="http://schemas.microsoft.com/office/drawing/2014/main" id="{BB6328B0-1AB0-4884-AF3A-6B5CAF88445C}"/>
              </a:ext>
            </a:extLst>
          </p:cNvPr>
          <p:cNvSpPr>
            <a:spLocks xmlns:a="http://schemas.openxmlformats.org/drawingml/2006/main" noGrp="1"/>
          </p:cNvSpPr>
          <p:nvPr/>
        </p:nvSpPr>
        <p:spPr>
          <a:xfrm xmlns:a="http://schemas.openxmlformats.org/drawingml/2006/main">
            <a:off x="59055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6847"/>
                </a:solidFill>
                <a:latin typeface="Arial"/>
                <a:ea typeface="Arial"/>
                <a:cs typeface="Arial"/>
              </a:defRPr>
            </a:pPr>
            <a:r>
              <a:rPr sz="1350" b="1">
                <a:solidFill>
                  <a:srgbClr val="FF6847"/>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BA572DF0-BA33-4B73-927A-7725E1666A41}"/>
              </a:ext>
            </a:extLst>
          </p:cNvPr>
          <p:cNvSpPr>
            <a:spLocks xmlns:a="http://schemas.openxmlformats.org/drawingml/2006/main" noGrp="1"/>
          </p:cNvSpPr>
          <p:nvPr/>
        </p:nvSpPr>
        <p:spPr>
          <a:xfrm xmlns:a="http://schemas.openxmlformats.org/drawingml/2006/main">
            <a:off x="1123950" y="4705350"/>
            <a:ext cx="452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The product becomes another destination agents must maintain.</a:t>
            </a:r>
          </a:p>
        </p:txBody>
      </p:sp>
      <p:sp>
        <p:nvSpPr>
          <p:cNvPr id="20" name="">
            <a:extLst xmlns:a="http://schemas.openxmlformats.org/drawingml/2006/main">
              <a:ext uri="{FF2B5EF4-FFF2-40B4-BE49-F238E27FC236}">
                <a16:creationId xmlns:a16="http://schemas.microsoft.com/office/drawing/2014/main" id="{A354CFDD-4300-4EFD-9D09-CBF9A065408D}"/>
              </a:ext>
            </a:extLst>
          </p:cNvPr>
          <p:cNvSpPr>
            <a:spLocks xmlns:a="http://schemas.openxmlformats.org/drawingml/2006/main" noGrp="1"/>
          </p:cNvSpPr>
          <p:nvPr/>
        </p:nvSpPr>
        <p:spPr>
          <a:xfrm xmlns:a="http://schemas.openxmlformats.org/drawingml/2006/main">
            <a:off x="590550" y="5334000"/>
            <a:ext cx="504825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1" name="">
            <a:extLst xmlns:a="http://schemas.openxmlformats.org/drawingml/2006/main">
              <a:ext uri="{FF2B5EF4-FFF2-40B4-BE49-F238E27FC236}">
                <a16:creationId xmlns:a16="http://schemas.microsoft.com/office/drawing/2014/main" id="{D9767632-CC43-4995-8C3B-E4E4D59D7E9E}"/>
              </a:ext>
            </a:extLst>
          </p:cNvPr>
          <p:cNvSpPr>
            <a:spLocks xmlns:a="http://schemas.openxmlformats.org/drawingml/2006/main" noGrp="1"/>
          </p:cNvSpPr>
          <p:nvPr/>
        </p:nvSpPr>
        <p:spPr>
          <a:xfrm xmlns:a="http://schemas.openxmlformats.org/drawingml/2006/main">
            <a:off x="6286500" y="1200150"/>
            <a:ext cx="19050" cy="4267200"/>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2" name="">
            <a:extLst xmlns:a="http://schemas.openxmlformats.org/drawingml/2006/main">
              <a:ext uri="{FF2B5EF4-FFF2-40B4-BE49-F238E27FC236}">
                <a16:creationId xmlns:a16="http://schemas.microsoft.com/office/drawing/2014/main" id="{A42AA451-42F3-4729-9337-E8C92628EBFA}"/>
              </a:ext>
            </a:extLst>
          </p:cNvPr>
          <p:cNvSpPr>
            <a:spLocks xmlns:a="http://schemas.openxmlformats.org/drawingml/2006/main" noGrp="1"/>
          </p:cNvSpPr>
          <p:nvPr/>
        </p:nvSpPr>
        <p:spPr>
          <a:xfrm xmlns:a="http://schemas.openxmlformats.org/drawingml/2006/main">
            <a:off x="6724650" y="123825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EVIDENCE STILL MISSING</a:t>
            </a:r>
          </a:p>
        </p:txBody>
      </p:sp>
      <p:sp>
        <p:nvSpPr>
          <p:cNvPr id="23" name="">
            <a:extLst xmlns:a="http://schemas.openxmlformats.org/drawingml/2006/main">
              <a:ext uri="{FF2B5EF4-FFF2-40B4-BE49-F238E27FC236}">
                <a16:creationId xmlns:a16="http://schemas.microsoft.com/office/drawing/2014/main" id="{1DBE8F2B-849A-499F-A031-800C042C18ED}"/>
              </a:ext>
            </a:extLst>
          </p:cNvPr>
          <p:cNvSpPr>
            <a:spLocks xmlns:a="http://schemas.openxmlformats.org/drawingml/2006/main" noGrp="1"/>
          </p:cNvSpPr>
          <p:nvPr/>
        </p:nvSpPr>
        <p:spPr>
          <a:xfrm xmlns:a="http://schemas.openxmlformats.org/drawingml/2006/main">
            <a:off x="6724650" y="16002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35CFF"/>
                </a:solidFill>
                <a:latin typeface="Arial"/>
                <a:ea typeface="Arial"/>
                <a:cs typeface="Arial"/>
              </a:defRPr>
            </a:pPr>
            <a:r>
              <a:rPr sz="1350" b="1">
                <a:solidFill>
                  <a:srgbClr val="335CFF"/>
                </a:solidFill>
                <a:latin typeface="Arial"/>
                <a:ea typeface="Arial"/>
                <a:cs typeface="Arial"/>
              </a:rPr>
              <a:t>U1</a:t>
            </a:r>
          </a:p>
        </p:txBody>
      </p:sp>
      <p:sp>
        <p:nvSpPr>
          <p:cNvPr id="24" name="">
            <a:extLst xmlns:a="http://schemas.openxmlformats.org/drawingml/2006/main">
              <a:ext uri="{FF2B5EF4-FFF2-40B4-BE49-F238E27FC236}">
                <a16:creationId xmlns:a16="http://schemas.microsoft.com/office/drawing/2014/main" id="{E7A9F1BD-0140-4E49-AA39-7F460D472640}"/>
              </a:ext>
            </a:extLst>
          </p:cNvPr>
          <p:cNvSpPr>
            <a:spLocks xmlns:a="http://schemas.openxmlformats.org/drawingml/2006/main" noGrp="1"/>
          </p:cNvSpPr>
          <p:nvPr/>
        </p:nvSpPr>
        <p:spPr>
          <a:xfrm xmlns:a="http://schemas.openxmlformats.org/drawingml/2006/main">
            <a:off x="7334250" y="158115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Buyer interviews across company size and support maturity</a:t>
            </a:r>
          </a:p>
        </p:txBody>
      </p:sp>
      <p:sp>
        <p:nvSpPr>
          <p:cNvPr id="25" name="">
            <a:extLst xmlns:a="http://schemas.openxmlformats.org/drawingml/2006/main">
              <a:ext uri="{FF2B5EF4-FFF2-40B4-BE49-F238E27FC236}">
                <a16:creationId xmlns:a16="http://schemas.microsoft.com/office/drawing/2014/main" id="{CB949391-8F99-4098-B614-686D4326E310}"/>
              </a:ext>
            </a:extLst>
          </p:cNvPr>
          <p:cNvSpPr>
            <a:spLocks xmlns:a="http://schemas.openxmlformats.org/drawingml/2006/main" noGrp="1"/>
          </p:cNvSpPr>
          <p:nvPr/>
        </p:nvSpPr>
        <p:spPr>
          <a:xfrm xmlns:a="http://schemas.openxmlformats.org/drawingml/2006/main">
            <a:off x="6724650" y="2209800"/>
            <a:ext cx="4610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6" name="">
            <a:extLst xmlns:a="http://schemas.openxmlformats.org/drawingml/2006/main">
              <a:ext uri="{FF2B5EF4-FFF2-40B4-BE49-F238E27FC236}">
                <a16:creationId xmlns:a16="http://schemas.microsoft.com/office/drawing/2014/main" id="{21650842-9B92-4861-B0DA-7495A6A62F69}"/>
              </a:ext>
            </a:extLst>
          </p:cNvPr>
          <p:cNvSpPr>
            <a:spLocks xmlns:a="http://schemas.openxmlformats.org/drawingml/2006/main" noGrp="1"/>
          </p:cNvSpPr>
          <p:nvPr/>
        </p:nvSpPr>
        <p:spPr>
          <a:xfrm xmlns:a="http://schemas.openxmlformats.org/drawingml/2006/main">
            <a:off x="6724650" y="23812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35CFF"/>
                </a:solidFill>
                <a:latin typeface="Arial"/>
                <a:ea typeface="Arial"/>
                <a:cs typeface="Arial"/>
              </a:defRPr>
            </a:pPr>
            <a:r>
              <a:rPr sz="1350" b="1">
                <a:solidFill>
                  <a:srgbClr val="335CFF"/>
                </a:solidFill>
                <a:latin typeface="Arial"/>
                <a:ea typeface="Arial"/>
                <a:cs typeface="Arial"/>
              </a:rPr>
              <a:t>U2</a:t>
            </a:r>
          </a:p>
        </p:txBody>
      </p:sp>
      <p:sp>
        <p:nvSpPr>
          <p:cNvPr id="27" name="">
            <a:extLst xmlns:a="http://schemas.openxmlformats.org/drawingml/2006/main">
              <a:ext uri="{FF2B5EF4-FFF2-40B4-BE49-F238E27FC236}">
                <a16:creationId xmlns:a16="http://schemas.microsoft.com/office/drawing/2014/main" id="{B836B4DD-514D-4930-AB78-E4FC831679A0}"/>
              </a:ext>
            </a:extLst>
          </p:cNvPr>
          <p:cNvSpPr>
            <a:spLocks xmlns:a="http://schemas.openxmlformats.org/drawingml/2006/main" noGrp="1"/>
          </p:cNvSpPr>
          <p:nvPr/>
        </p:nvSpPr>
        <p:spPr>
          <a:xfrm xmlns:a="http://schemas.openxmlformats.org/drawingml/2006/main">
            <a:off x="7334250" y="236220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Recent workflow frequency, baseline effort, and failure cost</a:t>
            </a:r>
          </a:p>
        </p:txBody>
      </p:sp>
      <p:sp>
        <p:nvSpPr>
          <p:cNvPr id="28" name="">
            <a:extLst xmlns:a="http://schemas.openxmlformats.org/drawingml/2006/main">
              <a:ext uri="{FF2B5EF4-FFF2-40B4-BE49-F238E27FC236}">
                <a16:creationId xmlns:a16="http://schemas.microsoft.com/office/drawing/2014/main" id="{DF32A1C9-B96A-4733-905A-E0A545E01A67}"/>
              </a:ext>
            </a:extLst>
          </p:cNvPr>
          <p:cNvSpPr>
            <a:spLocks xmlns:a="http://schemas.openxmlformats.org/drawingml/2006/main" noGrp="1"/>
          </p:cNvSpPr>
          <p:nvPr/>
        </p:nvSpPr>
        <p:spPr>
          <a:xfrm xmlns:a="http://schemas.openxmlformats.org/drawingml/2006/main">
            <a:off x="6724650" y="2990850"/>
            <a:ext cx="4610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29" name="">
            <a:extLst xmlns:a="http://schemas.openxmlformats.org/drawingml/2006/main">
              <a:ext uri="{FF2B5EF4-FFF2-40B4-BE49-F238E27FC236}">
                <a16:creationId xmlns:a16="http://schemas.microsoft.com/office/drawing/2014/main" id="{BCD145D3-C0CC-4BD2-8DB1-E58415AFF2E2}"/>
              </a:ext>
            </a:extLst>
          </p:cNvPr>
          <p:cNvSpPr>
            <a:spLocks xmlns:a="http://schemas.openxmlformats.org/drawingml/2006/main" noGrp="1"/>
          </p:cNvSpPr>
          <p:nvPr/>
        </p:nvSpPr>
        <p:spPr>
          <a:xfrm xmlns:a="http://schemas.openxmlformats.org/drawingml/2006/main">
            <a:off x="6724650" y="31623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35CFF"/>
                </a:solidFill>
                <a:latin typeface="Arial"/>
                <a:ea typeface="Arial"/>
                <a:cs typeface="Arial"/>
              </a:defRPr>
            </a:pPr>
            <a:r>
              <a:rPr sz="1350" b="1">
                <a:solidFill>
                  <a:srgbClr val="335CFF"/>
                </a:solidFill>
                <a:latin typeface="Arial"/>
                <a:ea typeface="Arial"/>
                <a:cs typeface="Arial"/>
              </a:rPr>
              <a:t>U3</a:t>
            </a:r>
          </a:p>
        </p:txBody>
      </p:sp>
      <p:sp>
        <p:nvSpPr>
          <p:cNvPr id="30" name="">
            <a:extLst xmlns:a="http://schemas.openxmlformats.org/drawingml/2006/main">
              <a:ext uri="{FF2B5EF4-FFF2-40B4-BE49-F238E27FC236}">
                <a16:creationId xmlns:a16="http://schemas.microsoft.com/office/drawing/2014/main" id="{2244B3A1-53C9-4252-B010-F8B4417B6A95}"/>
              </a:ext>
            </a:extLst>
          </p:cNvPr>
          <p:cNvSpPr>
            <a:spLocks xmlns:a="http://schemas.openxmlformats.org/drawingml/2006/main" noGrp="1"/>
          </p:cNvSpPr>
          <p:nvPr/>
        </p:nvSpPr>
        <p:spPr>
          <a:xfrm xmlns:a="http://schemas.openxmlformats.org/drawingml/2006/main">
            <a:off x="7334250" y="314325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Hands on incumbent comparison and administrator experience</a:t>
            </a:r>
          </a:p>
        </p:txBody>
      </p:sp>
      <p:sp>
        <p:nvSpPr>
          <p:cNvPr id="31" name="">
            <a:extLst xmlns:a="http://schemas.openxmlformats.org/drawingml/2006/main">
              <a:ext uri="{FF2B5EF4-FFF2-40B4-BE49-F238E27FC236}">
                <a16:creationId xmlns:a16="http://schemas.microsoft.com/office/drawing/2014/main" id="{1ED1FAD2-6435-43FD-A83F-7336CA9D0290}"/>
              </a:ext>
            </a:extLst>
          </p:cNvPr>
          <p:cNvSpPr>
            <a:spLocks xmlns:a="http://schemas.openxmlformats.org/drawingml/2006/main" noGrp="1"/>
          </p:cNvSpPr>
          <p:nvPr/>
        </p:nvSpPr>
        <p:spPr>
          <a:xfrm xmlns:a="http://schemas.openxmlformats.org/drawingml/2006/main">
            <a:off x="6724650" y="3771900"/>
            <a:ext cx="4610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2" name="">
            <a:extLst xmlns:a="http://schemas.openxmlformats.org/drawingml/2006/main">
              <a:ext uri="{FF2B5EF4-FFF2-40B4-BE49-F238E27FC236}">
                <a16:creationId xmlns:a16="http://schemas.microsoft.com/office/drawing/2014/main" id="{960AFA14-95AF-411C-868F-FCF7B7B36555}"/>
              </a:ext>
            </a:extLst>
          </p:cNvPr>
          <p:cNvSpPr>
            <a:spLocks xmlns:a="http://schemas.openxmlformats.org/drawingml/2006/main" noGrp="1"/>
          </p:cNvSpPr>
          <p:nvPr/>
        </p:nvSpPr>
        <p:spPr>
          <a:xfrm xmlns:a="http://schemas.openxmlformats.org/drawingml/2006/main">
            <a:off x="6724650" y="39433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35CFF"/>
                </a:solidFill>
                <a:latin typeface="Arial"/>
                <a:ea typeface="Arial"/>
                <a:cs typeface="Arial"/>
              </a:defRPr>
            </a:pPr>
            <a:r>
              <a:rPr sz="1350" b="1">
                <a:solidFill>
                  <a:srgbClr val="335CFF"/>
                </a:solidFill>
                <a:latin typeface="Arial"/>
                <a:ea typeface="Arial"/>
                <a:cs typeface="Arial"/>
              </a:rPr>
              <a:t>U4</a:t>
            </a:r>
          </a:p>
        </p:txBody>
      </p:sp>
      <p:sp>
        <p:nvSpPr>
          <p:cNvPr id="33" name="">
            <a:extLst xmlns:a="http://schemas.openxmlformats.org/drawingml/2006/main">
              <a:ext uri="{FF2B5EF4-FFF2-40B4-BE49-F238E27FC236}">
                <a16:creationId xmlns:a16="http://schemas.microsoft.com/office/drawing/2014/main" id="{2C6A906D-828A-4451-8659-18ADEB6421F2}"/>
              </a:ext>
            </a:extLst>
          </p:cNvPr>
          <p:cNvSpPr>
            <a:spLocks xmlns:a="http://schemas.openxmlformats.org/drawingml/2006/main" noGrp="1"/>
          </p:cNvSpPr>
          <p:nvPr/>
        </p:nvSpPr>
        <p:spPr>
          <a:xfrm xmlns:a="http://schemas.openxmlformats.org/drawingml/2006/main">
            <a:off x="7334250" y="392430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Security approval, system permissions, and data boundaries</a:t>
            </a:r>
          </a:p>
        </p:txBody>
      </p:sp>
      <p:sp>
        <p:nvSpPr>
          <p:cNvPr id="34" name="">
            <a:extLst xmlns:a="http://schemas.openxmlformats.org/drawingml/2006/main">
              <a:ext uri="{FF2B5EF4-FFF2-40B4-BE49-F238E27FC236}">
                <a16:creationId xmlns:a16="http://schemas.microsoft.com/office/drawing/2014/main" id="{AFBB2441-CCA8-4A82-919C-43318D0D0AA6}"/>
              </a:ext>
            </a:extLst>
          </p:cNvPr>
          <p:cNvSpPr>
            <a:spLocks xmlns:a="http://schemas.openxmlformats.org/drawingml/2006/main" noGrp="1"/>
          </p:cNvSpPr>
          <p:nvPr/>
        </p:nvSpPr>
        <p:spPr>
          <a:xfrm xmlns:a="http://schemas.openxmlformats.org/drawingml/2006/main">
            <a:off x="6724650" y="4552950"/>
            <a:ext cx="4610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5" name="">
            <a:extLst xmlns:a="http://schemas.openxmlformats.org/drawingml/2006/main">
              <a:ext uri="{FF2B5EF4-FFF2-40B4-BE49-F238E27FC236}">
                <a16:creationId xmlns:a16="http://schemas.microsoft.com/office/drawing/2014/main" id="{5D6436F8-634D-4C2B-AE8A-D1033AB012AB}"/>
              </a:ext>
            </a:extLst>
          </p:cNvPr>
          <p:cNvSpPr>
            <a:spLocks xmlns:a="http://schemas.openxmlformats.org/drawingml/2006/main" noGrp="1"/>
          </p:cNvSpPr>
          <p:nvPr/>
        </p:nvSpPr>
        <p:spPr>
          <a:xfrm xmlns:a="http://schemas.openxmlformats.org/drawingml/2006/main">
            <a:off x="6724650" y="47244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35CFF"/>
                </a:solidFill>
                <a:latin typeface="Arial"/>
                <a:ea typeface="Arial"/>
                <a:cs typeface="Arial"/>
              </a:defRPr>
            </a:pPr>
            <a:r>
              <a:rPr sz="1350" b="1">
                <a:solidFill>
                  <a:srgbClr val="335CFF"/>
                </a:solidFill>
                <a:latin typeface="Arial"/>
                <a:ea typeface="Arial"/>
                <a:cs typeface="Arial"/>
              </a:rPr>
              <a:t>U5</a:t>
            </a:r>
          </a:p>
        </p:txBody>
      </p:sp>
      <p:sp>
        <p:nvSpPr>
          <p:cNvPr id="36" name="">
            <a:extLst xmlns:a="http://schemas.openxmlformats.org/drawingml/2006/main">
              <a:ext uri="{FF2B5EF4-FFF2-40B4-BE49-F238E27FC236}">
                <a16:creationId xmlns:a16="http://schemas.microsoft.com/office/drawing/2014/main" id="{930E8216-192D-4968-8AC1-9E3F29A68110}"/>
              </a:ext>
            </a:extLst>
          </p:cNvPr>
          <p:cNvSpPr>
            <a:spLocks xmlns:a="http://schemas.openxmlformats.org/drawingml/2006/main" noGrp="1"/>
          </p:cNvSpPr>
          <p:nvPr/>
        </p:nvSpPr>
        <p:spPr>
          <a:xfrm xmlns:a="http://schemas.openxmlformats.org/drawingml/2006/main">
            <a:off x="7334250" y="470535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11315"/>
                </a:solidFill>
                <a:latin typeface="Arial"/>
                <a:ea typeface="Arial"/>
                <a:cs typeface="Arial"/>
              </a:defRPr>
            </a:pPr>
            <a:r>
              <a:rPr sz="1650" b="0">
                <a:solidFill>
                  <a:srgbClr val="111315"/>
                </a:solidFill>
                <a:latin typeface="Arial"/>
                <a:ea typeface="Arial"/>
                <a:cs typeface="Arial"/>
              </a:rPr>
              <a:t>Pilot sponsorship, willingness to pay, and full cost model</a:t>
            </a:r>
          </a:p>
        </p:txBody>
      </p:sp>
      <p:sp>
        <p:nvSpPr>
          <p:cNvPr id="37" name="">
            <a:extLst xmlns:a="http://schemas.openxmlformats.org/drawingml/2006/main">
              <a:ext uri="{FF2B5EF4-FFF2-40B4-BE49-F238E27FC236}">
                <a16:creationId xmlns:a16="http://schemas.microsoft.com/office/drawing/2014/main" id="{D33DC7E2-02A8-4D83-A170-990BAC74492D}"/>
              </a:ext>
            </a:extLst>
          </p:cNvPr>
          <p:cNvSpPr>
            <a:spLocks xmlns:a="http://schemas.openxmlformats.org/drawingml/2006/main" noGrp="1"/>
          </p:cNvSpPr>
          <p:nvPr/>
        </p:nvSpPr>
        <p:spPr>
          <a:xfrm xmlns:a="http://schemas.openxmlformats.org/drawingml/2006/main">
            <a:off x="6724650" y="5334000"/>
            <a:ext cx="4610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Tree>
    <p:extLst>
      <p:ext uri="{BB962C8B-B14F-4D97-AF65-F5344CB8AC3E}">
        <p14:creationId xmlns:p14="http://schemas.microsoft.com/office/powerpoint/2010/main" val="1455503154"/>
      </p:ext>
    </p:extLst>
  </p:cSld>
</p:sld>
</file>

<file path=ppt/slides/slide15.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AF7FE9-DEE7-42D3-A376-548E9FD4562F}"/>
              </a:ext>
            </a:extLst>
          </p:cNvPr>
          <p:cNvSpPr>
            <a:spLocks xmlns:a="http://schemas.openxmlformats.org/drawingml/2006/main" noGrp="1"/>
          </p:cNvSpPr>
          <p:nvPr/>
        </p:nvSpPr>
        <p:spPr>
          <a:xfrm xmlns:a="http://schemas.openxmlformats.org/drawingml/2006/main">
            <a:off x="552450" y="4000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1315"/>
                </a:solidFill>
                <a:latin typeface="Arial"/>
                <a:ea typeface="Arial"/>
                <a:cs typeface="Arial"/>
              </a:defRPr>
            </a:pPr>
            <a:r>
              <a:rPr sz="3225" b="1">
                <a:solidFill>
                  <a:srgbClr val="111315"/>
                </a:solidFill>
                <a:latin typeface="Arial"/>
                <a:ea typeface="Arial"/>
                <a:cs typeface="Arial"/>
              </a:rPr>
              <a:t>Evidence register</a:t>
            </a:r>
          </a:p>
        </p:txBody>
      </p:sp>
      <p:sp>
        <p:nvSpPr>
          <p:cNvPr id="2" name="">
            <a:extLst xmlns:a="http://schemas.openxmlformats.org/drawingml/2006/main">
              <a:ext uri="{FF2B5EF4-FFF2-40B4-BE49-F238E27FC236}">
                <a16:creationId xmlns:a16="http://schemas.microsoft.com/office/drawing/2014/main" id="{CCC2FD3E-F1D8-49B9-8547-8FC0047D12F2}"/>
              </a:ext>
            </a:extLst>
          </p:cNvPr>
          <p:cNvSpPr>
            <a:spLocks xmlns:a="http://schemas.openxmlformats.org/drawingml/2006/main" noGrp="1"/>
          </p:cNvSpPr>
          <p:nvPr/>
        </p:nvSpPr>
        <p:spPr>
          <a:xfrm xmlns:a="http://schemas.openxmlformats.org/drawingml/2006/main">
            <a:off x="552450" y="6391275"/>
            <a:ext cx="11087100" cy="9525"/>
          </a:xfrm>
          <a:prstGeom xmlns:a="http://schemas.openxmlformats.org/drawingml/2006/main" prst="rect">
            <a:avLst/>
          </a:prstGeom>
          <a:solidFill xmlns:a="http://schemas.openxmlformats.org/drawingml/2006/main">
            <a:srgbClr val="C9C8C1"/>
          </a:solidFill>
          <a:ln xmlns:a="http://schemas.openxmlformats.org/drawingml/2006/main" w="0">
            <a:solidFill>
              <a:srgbClr val="C9C8C1"/>
            </a:solidFill>
          </a:ln>
        </p:spPr>
      </p:sp>
      <p:sp>
        <p:nvSpPr>
          <p:cNvPr id="3" name="">
            <a:extLst xmlns:a="http://schemas.openxmlformats.org/drawingml/2006/main">
              <a:ext uri="{FF2B5EF4-FFF2-40B4-BE49-F238E27FC236}">
                <a16:creationId xmlns:a16="http://schemas.microsoft.com/office/drawing/2014/main" id="{90DBB4C3-D6DB-42C8-8DA1-B77105B42630}"/>
              </a:ext>
            </a:extLst>
          </p:cNvPr>
          <p:cNvSpPr>
            <a:spLocks xmlns:a="http://schemas.openxmlformats.org/drawingml/2006/main" noGrp="1"/>
          </p:cNvSpPr>
          <p:nvPr/>
        </p:nvSpPr>
        <p:spPr>
          <a:xfrm xmlns:a="http://schemas.openxmlformats.org/drawingml/2006/main">
            <a:off x="552450" y="649605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56A71"/>
                </a:solidFill>
                <a:latin typeface="Arial"/>
                <a:ea typeface="Arial"/>
                <a:cs typeface="Arial"/>
              </a:defRPr>
            </a:pPr>
            <a:r>
              <a:rPr sz="1050" b="0">
                <a:solidFill>
                  <a:srgbClr val="656A71"/>
                </a:solidFill>
                <a:latin typeface="Arial"/>
                <a:ea typeface="Arial"/>
                <a:cs typeface="Arial"/>
              </a:rPr>
              <a:t>Accessed 12 September 2026 unless noted. Full URLs are stored in speaker notes and project research files.</a:t>
            </a:r>
          </a:p>
        </p:txBody>
      </p:sp>
      <p:sp>
        <p:nvSpPr>
          <p:cNvPr id="4" name="">
            <a:extLst xmlns:a="http://schemas.openxmlformats.org/drawingml/2006/main">
              <a:ext uri="{FF2B5EF4-FFF2-40B4-BE49-F238E27FC236}">
                <a16:creationId xmlns:a16="http://schemas.microsoft.com/office/drawing/2014/main" id="{B3E63568-49F8-4D53-AA7E-28904108D239}"/>
              </a:ext>
            </a:extLst>
          </p:cNvPr>
          <p:cNvSpPr>
            <a:spLocks xmlns:a="http://schemas.openxmlformats.org/drawingml/2006/main" noGrp="1"/>
          </p:cNvSpPr>
          <p:nvPr/>
        </p:nvSpPr>
        <p:spPr>
          <a:xfrm xmlns:a="http://schemas.openxmlformats.org/drawingml/2006/main">
            <a:off x="11125200" y="647700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35CFF"/>
                </a:solidFill>
                <a:latin typeface="Arial"/>
                <a:ea typeface="Arial"/>
                <a:cs typeface="Arial"/>
              </a:defRPr>
            </a:pPr>
            <a:r>
              <a:rPr sz="1125" b="1">
                <a:solidFill>
                  <a:srgbClr val="335CFF"/>
                </a:solidFill>
                <a:latin typeface="Arial"/>
                <a:ea typeface="Arial"/>
                <a:cs typeface="Arial"/>
              </a:rPr>
              <a:t>15</a:t>
            </a:r>
          </a:p>
        </p:txBody>
      </p:sp>
      <p:graphicFrame>
        <p:nvGraphicFramePr>
          <p:cNvPr id="11" name=""/>
          <p:cNvGraphicFramePr/>
          <p:nvPr/>
        </p:nvGraphicFramePr>
        <p:xfrm>
          <a:off xmlns:a="http://schemas.openxmlformats.org/drawingml/2006/main" x="552450" y="1143000"/>
          <a:ext xmlns:a="http://schemas.openxmlformats.org/drawingml/2006/main" cx="11087100" cy="4705350"/>
        </p:xfrm>
        <a:graphic xmlns:a="http://schemas.openxmlformats.org/drawingml/2006/main">
          <a:graphicData uri="http://schemas.openxmlformats.org/drawingml/2006/table">
            <a:tbl>
              <a:tblPr/>
              <a:tblGrid>
                <a:gridCol w="1143000"/>
                <a:gridCol w="3810000"/>
                <a:gridCol w="3143250"/>
                <a:gridCol w="2990850"/>
              </a:tblGrid>
              <a:tr h="588169">
                <a:tc>
                  <a:txBody>
                    <a:bodyPr>
                      <a:noAutofit/>
                    </a:bodyPr>
                    <a:lstStyle/>
                    <a:p>
                      <a:r>
                        <a:rPr sz="1350" b="1">
                          <a:solidFill>
                            <a:srgbClr val="FFFFFF"/>
                          </a:solidFill>
                          <a:latin typeface="Arial"/>
                          <a:ea typeface="Arial"/>
                          <a:cs typeface="Arial"/>
                        </a:rPr>
                        <a:t>ID</a:t>
                      </a:r>
                    </a:p>
                  </a:txBody>
                  <a:tcPr marL="91440" marR="91440" marT="45720" marB="45720">
                    <a:solidFill>
                      <a:srgbClr val="111315"/>
                    </a:solidFill>
                  </a:tcPr>
                </a:tc>
                <a:tc>
                  <a:txBody>
                    <a:bodyPr>
                      <a:noAutofit/>
                    </a:bodyPr>
                    <a:lstStyle/>
                    <a:p>
                      <a:r>
                        <a:rPr sz="1350" b="1">
                          <a:solidFill>
                            <a:srgbClr val="FFFFFF"/>
                          </a:solidFill>
                          <a:latin typeface="Arial"/>
                          <a:ea typeface="Arial"/>
                          <a:cs typeface="Arial"/>
                        </a:rPr>
                        <a:t>Source</a:t>
                      </a:r>
                    </a:p>
                  </a:txBody>
                  <a:tcPr marL="91440" marR="91440" marT="45720" marB="45720">
                    <a:solidFill>
                      <a:srgbClr val="111315"/>
                    </a:solidFill>
                  </a:tcPr>
                </a:tc>
                <a:tc>
                  <a:txBody>
                    <a:bodyPr>
                      <a:noAutofit/>
                    </a:bodyPr>
                    <a:lstStyle/>
                    <a:p>
                      <a:r>
                        <a:rPr sz="1350" b="1">
                          <a:solidFill>
                            <a:srgbClr val="FFFFFF"/>
                          </a:solidFill>
                          <a:latin typeface="Arial"/>
                          <a:ea typeface="Arial"/>
                          <a:cs typeface="Arial"/>
                        </a:rPr>
                        <a:t>Evidence role</a:t>
                      </a:r>
                    </a:p>
                  </a:txBody>
                  <a:tcPr marL="91440" marR="91440" marT="45720" marB="45720">
                    <a:solidFill>
                      <a:srgbClr val="111315"/>
                    </a:solidFill>
                  </a:tcPr>
                </a:tc>
                <a:tc>
                  <a:txBody>
                    <a:bodyPr>
                      <a:noAutofit/>
                    </a:bodyPr>
                    <a:lstStyle/>
                    <a:p>
                      <a:r>
                        <a:rPr sz="1350" b="1">
                          <a:solidFill>
                            <a:srgbClr val="FFFFFF"/>
                          </a:solidFill>
                          <a:latin typeface="Arial"/>
                          <a:ea typeface="Arial"/>
                          <a:cs typeface="Arial"/>
                        </a:rPr>
                        <a:t>Limit</a:t>
                      </a:r>
                    </a:p>
                  </a:txBody>
                  <a:tcPr marL="91440" marR="91440" marT="45720" marB="45720">
                    <a:solidFill>
                      <a:srgbClr val="111315"/>
                    </a:solidFill>
                  </a:tcPr>
                </a:tc>
              </a:tr>
              <a:tr h="588169">
                <a:tc>
                  <a:txBody>
                    <a:bodyPr>
                      <a:noAutofit/>
                    </a:bodyPr>
                    <a:lstStyle/>
                    <a:p>
                      <a:r>
                        <a:rPr sz="1350" b="1">
                          <a:solidFill>
                            <a:srgbClr val="335CFF"/>
                          </a:solidFill>
                          <a:latin typeface="Arial"/>
                          <a:ea typeface="Arial"/>
                          <a:cs typeface="Arial"/>
                        </a:rPr>
                        <a:t>V1 to V3</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Intercom pricing, Fin Procedures, outcome definition</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Positioning, workflow, pricing</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Vendor claim</a:t>
                      </a:r>
                    </a:p>
                  </a:txBody>
                  <a:tcPr marL="91440" marR="91440" marT="45720" marB="45720">
                    <a:solidFill>
                      <a:srgbClr val="F3F2ED"/>
                    </a:solidFill>
                  </a:tcPr>
                </a:tc>
              </a:tr>
              <a:tr h="588169">
                <a:tc>
                  <a:txBody>
                    <a:bodyPr>
                      <a:noAutofit/>
                    </a:bodyPr>
                    <a:lstStyle/>
                    <a:p>
                      <a:r>
                        <a:rPr sz="1350" b="1">
                          <a:solidFill>
                            <a:srgbClr val="335CFF"/>
                          </a:solidFill>
                          <a:latin typeface="Arial"/>
                          <a:ea typeface="Arial"/>
                          <a:cs typeface="Arial"/>
                        </a:rPr>
                        <a:t>V4 to V5</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Zendesk AI Agents and pricing</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Positioning, workflow, packaging</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Vendor claim</a:t>
                      </a:r>
                    </a:p>
                  </a:txBody>
                  <a:tcPr marL="91440" marR="91440" marT="45720" marB="45720">
                    <a:solidFill>
                      <a:srgbClr val="FFFFFF"/>
                    </a:solidFill>
                  </a:tcPr>
                </a:tc>
              </a:tr>
              <a:tr h="588169">
                <a:tc>
                  <a:txBody>
                    <a:bodyPr>
                      <a:noAutofit/>
                    </a:bodyPr>
                    <a:lstStyle/>
                    <a:p>
                      <a:r>
                        <a:rPr sz="1350" b="1">
                          <a:solidFill>
                            <a:srgbClr val="335CFF"/>
                          </a:solidFill>
                          <a:latin typeface="Arial"/>
                          <a:ea typeface="Arial"/>
                          <a:cs typeface="Arial"/>
                        </a:rPr>
                        <a:t>V6 to V8</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Freshdesk features, pricing, integrations</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Positioning, pricing, ecosystem</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Vendor claim and price discrepancy</a:t>
                      </a:r>
                    </a:p>
                  </a:txBody>
                  <a:tcPr marL="91440" marR="91440" marT="45720" marB="45720">
                    <a:solidFill>
                      <a:srgbClr val="F3F2ED"/>
                    </a:solidFill>
                  </a:tcPr>
                </a:tc>
              </a:tr>
              <a:tr h="588169">
                <a:tc>
                  <a:txBody>
                    <a:bodyPr>
                      <a:noAutofit/>
                    </a:bodyPr>
                    <a:lstStyle/>
                    <a:p>
                      <a:r>
                        <a:rPr sz="1350" b="1">
                          <a:solidFill>
                            <a:srgbClr val="335CFF"/>
                          </a:solidFill>
                          <a:latin typeface="Arial"/>
                          <a:ea typeface="Arial"/>
                          <a:cs typeface="Arial"/>
                        </a:rPr>
                        <a:t>V9 to V11</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Salesforce Service Cloud, Agentforce pricing, guardrails</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Platform, monetisation, governance</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Vendor claim</a:t>
                      </a:r>
                    </a:p>
                  </a:txBody>
                  <a:tcPr marL="91440" marR="91440" marT="45720" marB="45720">
                    <a:solidFill>
                      <a:srgbClr val="FFFFFF"/>
                    </a:solidFill>
                  </a:tcPr>
                </a:tc>
              </a:tr>
              <a:tr h="588169">
                <a:tc>
                  <a:txBody>
                    <a:bodyPr>
                      <a:noAutofit/>
                    </a:bodyPr>
                    <a:lstStyle/>
                    <a:p>
                      <a:r>
                        <a:rPr sz="1350" b="1">
                          <a:solidFill>
                            <a:srgbClr val="335CFF"/>
                          </a:solidFill>
                          <a:latin typeface="Arial"/>
                          <a:ea typeface="Arial"/>
                          <a:cs typeface="Arial"/>
                        </a:rPr>
                        <a:t>R1 to R6</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TrustRadius, Capterra, and G2 review pages</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Possible friction and attack surfaces</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Selected signals, not prevalence</a:t>
                      </a:r>
                    </a:p>
                  </a:txBody>
                  <a:tcPr marL="91440" marR="91440" marT="45720" marB="45720">
                    <a:solidFill>
                      <a:srgbClr val="F3F2ED"/>
                    </a:solidFill>
                  </a:tcPr>
                </a:tc>
              </a:tr>
              <a:tr h="588169">
                <a:tc>
                  <a:txBody>
                    <a:bodyPr>
                      <a:noAutofit/>
                    </a:bodyPr>
                    <a:lstStyle/>
                    <a:p>
                      <a:r>
                        <a:rPr sz="1350" b="1">
                          <a:solidFill>
                            <a:srgbClr val="335CFF"/>
                          </a:solidFill>
                          <a:latin typeface="Arial"/>
                          <a:ea typeface="Arial"/>
                          <a:cs typeface="Arial"/>
                        </a:rPr>
                        <a:t>I1 to I2</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Two anonymised enterprise frontline interviews</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Cross system context and handoff pain</a:t>
                      </a:r>
                    </a:p>
                  </a:txBody>
                  <a:tcPr marL="91440" marR="91440" marT="45720" marB="45720">
                    <a:solidFill>
                      <a:srgbClr val="FFFFFF"/>
                    </a:solidFill>
                  </a:tcPr>
                </a:tc>
                <a:tc>
                  <a:txBody>
                    <a:bodyPr>
                      <a:noAutofit/>
                    </a:bodyPr>
                    <a:lstStyle/>
                    <a:p>
                      <a:r>
                        <a:rPr sz="1350" b="0">
                          <a:solidFill>
                            <a:srgbClr val="111315"/>
                          </a:solidFill>
                          <a:latin typeface="Arial"/>
                          <a:ea typeface="Arial"/>
                          <a:cs typeface="Arial"/>
                        </a:rPr>
                        <a:t>No buyer or mid market validation</a:t>
                      </a:r>
                    </a:p>
                  </a:txBody>
                  <a:tcPr marL="91440" marR="91440" marT="45720" marB="45720">
                    <a:solidFill>
                      <a:srgbClr val="FFFFFF"/>
                    </a:solidFill>
                  </a:tcPr>
                </a:tc>
              </a:tr>
              <a:tr h="588169">
                <a:tc>
                  <a:txBody>
                    <a:bodyPr>
                      <a:noAutofit/>
                    </a:bodyPr>
                    <a:lstStyle/>
                    <a:p>
                      <a:r>
                        <a:rPr sz="1350" b="1">
                          <a:solidFill>
                            <a:srgbClr val="335CFF"/>
                          </a:solidFill>
                          <a:latin typeface="Arial"/>
                          <a:ea typeface="Arial"/>
                          <a:cs typeface="Arial"/>
                        </a:rPr>
                        <a:t>H</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Cross product synthesis in this deck</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Customer best fit, wedge, moat, vulnerability</a:t>
                      </a:r>
                    </a:p>
                  </a:txBody>
                  <a:tcPr marL="91440" marR="91440" marT="45720" marB="45720">
                    <a:solidFill>
                      <a:srgbClr val="F3F2ED"/>
                    </a:solidFill>
                  </a:tcPr>
                </a:tc>
                <a:tc>
                  <a:txBody>
                    <a:bodyPr>
                      <a:noAutofit/>
                    </a:bodyPr>
                    <a:lstStyle/>
                    <a:p>
                      <a:r>
                        <a:rPr sz="1350" b="0">
                          <a:solidFill>
                            <a:srgbClr val="111315"/>
                          </a:solidFill>
                          <a:latin typeface="Arial"/>
                          <a:ea typeface="Arial"/>
                          <a:cs typeface="Arial"/>
                        </a:rPr>
                        <a:t>Requires validation</a:t>
                      </a:r>
                    </a:p>
                  </a:txBody>
                  <a:tcPr marL="91440" marR="91440" marT="45720" marB="45720">
                    <a:solidFill>
                      <a:srgbClr val="F3F2ED"/>
                    </a:solidFill>
                  </a:tcPr>
                </a:tc>
              </a:tr>
            </a:tbl>
          </a:graphicData>
        </a:graphic>
      </p:graphicFrame>
      <p:sp>
        <p:nvSpPr>
          <p:cNvPr id="6" name="">
            <a:extLst xmlns:a="http://schemas.openxmlformats.org/drawingml/2006/main">
              <a:ext uri="{FF2B5EF4-FFF2-40B4-BE49-F238E27FC236}">
                <a16:creationId xmlns:a16="http://schemas.microsoft.com/office/drawing/2014/main" id="{18AA8EE1-2C92-4568-A0AE-331888E50463}"/>
              </a:ext>
            </a:extLst>
          </p:cNvPr>
          <p:cNvSpPr>
            <a:spLocks xmlns:a="http://schemas.openxmlformats.org/drawingml/2006/main" noGrp="1"/>
          </p:cNvSpPr>
          <p:nvPr/>
        </p:nvSpPr>
        <p:spPr>
          <a:xfrm xmlns:a="http://schemas.openxmlformats.org/drawingml/2006/main">
            <a:off x="552450" y="59245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A71"/>
                </a:solidFill>
                <a:latin typeface="Arial"/>
                <a:ea typeface="Arial"/>
                <a:cs typeface="Arial"/>
              </a:defRPr>
            </a:pPr>
            <a:r>
              <a:rPr sz="1275" b="0">
                <a:solidFill>
                  <a:srgbClr val="656A71"/>
                </a:solidFill>
                <a:latin typeface="Arial"/>
                <a:ea typeface="Arial"/>
                <a:cs typeface="Arial"/>
              </a:rPr>
              <a:t>Research base: 65 indexed sources and 91 claim level evidence records. Counts include the broader assignment research, not only the four product pages.</a:t>
            </a:r>
          </a:p>
        </p:txBody>
      </p:sp>
    </p:spTree>
    <p:extLst>
      <p:ext uri="{BB962C8B-B14F-4D97-AF65-F5344CB8AC3E}">
        <p14:creationId xmlns:p14="http://schemas.microsoft.com/office/powerpoint/2010/main" val="1079076953"/>
      </p:ext>
    </p:extLst>
  </p:cSld>
</p:sld>
</file>

<file path=ppt/theme/theme1.xml><?xml version="1.0" encoding="utf-8"?>
<a:theme xmlns:a="http://schemas.openxmlformats.org/drawingml/2006/main" name="ChatGPT">
  <a:themeElements>
    <a:clrScheme name="Evidence Strategy">
      <a:dk1>
        <a:srgbClr val="111315"/>
      </a:dk1>
      <a:lt1>
        <a:srgbClr val="FFFFFF"/>
      </a:lt1>
      <a:dk2>
        <a:srgbClr val="30343A"/>
      </a:dk2>
      <a:lt2>
        <a:srgbClr val="F3F2ED"/>
      </a:lt2>
      <a:accent1>
        <a:srgbClr val="335CFF"/>
      </a:accent1>
      <a:accent2>
        <a:srgbClr val="D6FF5C"/>
      </a:accent2>
      <a:accent3>
        <a:srgbClr val="FF6847"/>
      </a:accent3>
      <a:accent4>
        <a:srgbClr val="2A9D8F"/>
      </a:accent4>
      <a:accent5>
        <a:srgbClr val="8C6BC4"/>
      </a:accent5>
      <a:accent6>
        <a:srgbClr val="E9B44C"/>
      </a:accent6>
      <a:hlink>
        <a:srgbClr val="335CFF"/>
      </a:hlink>
      <a:folHlink>
        <a:srgbClr val="6C44C5"/>
      </a:folHlink>
    </a:clrScheme>
    <a:fontScheme name="Office">
      <a:majorFont>
        <a:latin typeface="Calibri Light"/>
        <a:ea typeface="Calibri Light"/>
        <a:cs typeface="Calibri Light"/>
      </a:majorFont>
      <a:minorFont>
        <a:latin typeface="Calibri"/>
        <a:ea typeface="Calibri"/>
        <a:cs typeface="Calibri"/>
      </a:minorFont>
    </a:fontScheme>
    <a:fmtScheme name="Evidence Strateg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2026-09-12T12:47:00.1960000Z</dcterms:created>
  <dcterms:modified xsi:type="dcterms:W3CDTF">2026-09-12T12:47:00.1960000Z</dcterms:modified>
</coreProperties>
</file>