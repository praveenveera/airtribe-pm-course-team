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00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B56012"/>
                </a:solidFill>
                <a:latin typeface="Arial"/>
              </a:rPr>
              <a:t>AIRTRIBE  ·  B2B PRODUCT STRATEGY  ·  VERSION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80000"/>
            <a:ext cx="1091184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A1A1A"/>
                </a:solidFill>
                <a:latin typeface="Arial"/>
              </a:rPr>
              <a:t>Earn the platform.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A1A1A"/>
                </a:solidFill>
                <a:latin typeface="Arial"/>
              </a:rPr>
              <a:t>Don't announce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50000"/>
            <a:ext cx="86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6470"/>
                </a:solidFill>
                <a:latin typeface="Arial"/>
              </a:rPr>
              <a:t>A fresh-eyes rebuild of the 2–3 year strategy — diagnosed from why the original mid-market motion stalled, not reformatted from the first attempt's conclusions.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00000"/>
            <a:ext cx="1800000" cy="24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20000"/>
            <a:ext cx="10911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0"/>
                </a:solidFill>
                <a:latin typeface="Arial"/>
              </a:rPr>
              <a:t>Praveen Veera   ·   Airtribe — AI-First Product Management   ·   September 2026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360000"/>
            <a:ext cx="10911840" cy="0"/>
          </a:xfrm>
          <a:prstGeom prst="line">
            <a:avLst/>
          </a:prstGeom>
          <a:ln w="6350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00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B56012"/>
                </a:solidFill>
                <a:latin typeface="Arial"/>
              </a:rPr>
              <a:t>THE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0000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Why did the original motion stall?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000"/>
            <a:ext cx="1091184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470"/>
                </a:solidFill>
                <a:latin typeface="Arial"/>
              </a:rPr>
              <a:t>The brief hands us a fact: mid-sized businesses (200–1,000 employees) were targeted first, and adoption was slower than expected. Four failure modes explain it — each traceable to evidence already on file.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50000"/>
            <a:ext cx="5318760" cy="1650000"/>
          </a:xfrm>
          <a:prstGeom prst="rect">
            <a:avLst/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50000"/>
            <a:ext cx="45720" cy="165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78600"/>
            <a:ext cx="420000" cy="42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2960" y="2478600"/>
            <a:ext cx="434876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Positioning trap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30000"/>
            <a:ext cx="4848760" cy="7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B6470"/>
                </a:solidFill>
                <a:latin typeface="Arial"/>
              </a:rPr>
              <a:t>Sold as “another AI chatbot.” Every incumbent already claims AI agents, integrations and governance.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160" y="2250000"/>
            <a:ext cx="5318760" cy="1650000"/>
          </a:xfrm>
          <a:prstGeom prst="rect">
            <a:avLst/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2250000"/>
            <a:ext cx="45720" cy="165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6040" y="2478600"/>
            <a:ext cx="420000" cy="42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6040" y="2478600"/>
            <a:ext cx="434876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Access-and-trust veto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6040" y="3030000"/>
            <a:ext cx="4848760" cy="7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B6470"/>
                </a:solidFill>
                <a:latin typeface="Arial"/>
              </a:rPr>
              <a:t>IT/security can kill a deal before the product is evaluated. P03: pilot capped to 2 queues, write-back disabled.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28600"/>
            <a:ext cx="5318760" cy="1650000"/>
          </a:xfrm>
          <a:prstGeom prst="rect">
            <a:avLst/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28600"/>
            <a:ext cx="45720" cy="165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357200"/>
            <a:ext cx="420000" cy="42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2960" y="4357200"/>
            <a:ext cx="434876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Bundled-AI trap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08600"/>
            <a:ext cx="4848760" cy="7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B6470"/>
                </a:solidFill>
                <a:latin typeface="Arial"/>
              </a:rPr>
              <a:t>Buyers compare a new vendor to the AI they already pay for. Freshworks: 36% still stuck in pilots.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160" y="4128600"/>
            <a:ext cx="5318760" cy="1650000"/>
          </a:xfrm>
          <a:prstGeom prst="rect">
            <a:avLst/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160" y="4128600"/>
            <a:ext cx="45720" cy="165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16040" y="4357200"/>
            <a:ext cx="420000" cy="42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6040" y="4357200"/>
            <a:ext cx="434876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Workflow mismatch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6040" y="4908600"/>
            <a:ext cx="4848760" cy="7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B6470"/>
                </a:solidFill>
                <a:latin typeface="Arial"/>
              </a:rPr>
              <a:t>Chat deflection was sold; the pain (P01, P02, P04) is back-office context work, not failed FAQs.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20000"/>
            <a:ext cx="5486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0"/>
                </a:solidFill>
                <a:latin typeface="Arial"/>
              </a:rPr>
              <a:t>B2B Product Strategy —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1920" y="6420000"/>
            <a:ext cx="7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360000"/>
            <a:ext cx="10911840" cy="0"/>
          </a:xfrm>
          <a:prstGeom prst="line">
            <a:avLst/>
          </a:prstGeom>
          <a:ln w="6350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00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B56012"/>
                </a:solidFill>
                <a:latin typeface="Arial"/>
              </a:rPr>
              <a:t>STEP 1 · CUSTOMER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0000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Keep the size band. Narrow hard on who.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80000"/>
          <a:ext cx="10911840" cy="194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00000"/>
                <a:gridCol w="4800000"/>
                <a:gridCol w="4211840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PAIN EVIDENCE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WHY NOT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Enterprise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B6470"/>
                          </a:solidFill>
                          <a:latin typeface="Arial"/>
                        </a:rPr>
                        <a:t>Most acute (P01 ~100–150 min/day; P02 4–6 hr waits)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B6470"/>
                          </a:solidFill>
                          <a:latin typeface="Arial"/>
                        </a:rPr>
                        <a:t>P02 is regulated banking; P01 is a multi-client BPO with no stack owner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SMB / startups</a:t>
                      </a:r>
                    </a:p>
                  </a:txBody>
                  <a:tcPr marL="91440" marR="91440" marT="45720" marB="45720" anchor="ctr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B6470"/>
                          </a:solidFill>
                          <a:latin typeface="Arial"/>
                        </a:rPr>
                        <a:t>Usually one consolidated tool</a:t>
                      </a:r>
                    </a:p>
                  </a:txBody>
                  <a:tcPr marL="91440" marR="91440" marT="45720" marB="45720" anchor="ctr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B6470"/>
                          </a:solidFill>
                          <a:latin typeface="Arial"/>
                        </a:rPr>
                        <a:t>No helpdesk+CRM seam — no wedge to build on</a:t>
                      </a:r>
                    </a:p>
                  </a:txBody>
                  <a:tcPr marL="91440" marR="91440" marT="45720" marB="45720" anchor="ctr">
                    <a:solidFill>
                      <a:srgbClr val="F2F1E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Mid-market, filtered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B6470"/>
                          </a:solidFill>
                          <a:latin typeface="Arial"/>
                        </a:rPr>
                        <a:t>The seam exists; buyer is reachable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B6470"/>
                          </a:solidFill>
                          <a:latin typeface="Arial"/>
                        </a:rPr>
                        <a:t>Selected — avoids all three traps at once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020000"/>
            <a:ext cx="10911840" cy="760000"/>
          </a:xfrm>
          <a:prstGeom prst="rect">
            <a:avLst/>
          </a:prstGeom>
          <a:solidFill>
            <a:srgbClr val="FB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4020000"/>
            <a:ext cx="45720" cy="76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20000"/>
            <a:ext cx="10211840" cy="7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8A480B"/>
                </a:solidFill>
                <a:latin typeface="Arial"/>
              </a:rPr>
              <a:t>WORKING SEGMENT   </a:t>
            </a:r>
            <a:r>
              <a:rPr sz="1150" b="1" i="0">
                <a:solidFill>
                  <a:srgbClr val="1A1A1A"/>
                </a:solidFill>
                <a:latin typeface="Arial"/>
              </a:rPr>
              <a:t>B2B SaaS / tech-enabled services, ~51–1,000 employees, running a helpdesk AND a separate CRM or system of record.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80000"/>
            <a:ext cx="10911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B56012"/>
                </a:solidFill>
                <a:latin typeface="Arial"/>
              </a:rPr>
              <a:t>ANTI-PERSONAS — NOT: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20000"/>
            <a:ext cx="1091184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Regulated/financial services (compliance veto)   ·   Single-system shops (no wedge)   ·   Multi-client BPOs (no access owner)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20000"/>
            <a:ext cx="5486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0"/>
                </a:solidFill>
                <a:latin typeface="Arial"/>
              </a:rPr>
              <a:t>B2B Product Strategy —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1920" y="6420000"/>
            <a:ext cx="7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360000"/>
            <a:ext cx="10911840" cy="0"/>
          </a:xfrm>
          <a:prstGeom prst="line">
            <a:avLst/>
          </a:prstGeom>
          <a:ln w="6350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00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B56012"/>
                </a:solidFill>
                <a:latin typeface="Arial"/>
              </a:rPr>
              <a:t>STEP 2 ·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0000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1A1A"/>
                </a:solidFill>
                <a:latin typeface="Arial"/>
              </a:rPr>
              <a:t>Two honest ranges, plus one new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80000"/>
            <a:ext cx="36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5B6470"/>
                </a:solidFill>
                <a:latin typeface="Arial"/>
              </a:rPr>
              <a:t>CATEGORY (TOP-DOWN)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0000"/>
            <a:ext cx="36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"/>
              </a:rPr>
              <a:t>$47.7–63.9B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80000"/>
            <a:ext cx="36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B6470"/>
                </a:solidFill>
                <a:latin typeface="Arial"/>
              </a:rPr>
              <a:t>contact-center software; $14.3B help-desk software — real category, not one precise TAM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40080" y="1680000"/>
            <a:ext cx="0" cy="1750000"/>
          </a:xfrm>
          <a:prstGeom prst="line">
            <a:avLst/>
          </a:prstGeom>
          <a:ln w="9525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890080" y="1680000"/>
            <a:ext cx="36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8A480B"/>
                </a:solidFill>
                <a:latin typeface="Arial"/>
              </a:rPr>
              <a:t>NEW: BOTTOM-UP COST 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0080" y="1960000"/>
            <a:ext cx="36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8A480B"/>
                </a:solidFill>
                <a:latin typeface="Arial"/>
              </a:rPr>
              <a:t>$430–860M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0080" y="2680000"/>
            <a:ext cx="666184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B6470"/>
                </a:solidFill>
                <a:latin typeface="Arial"/>
              </a:rPr>
              <a:t>/ year, illustrative — chained from a sourced $16B mid-market survey × 27% integration-barrier share × a labeled 10-20% vertical assumption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600000"/>
            <a:ext cx="10911840" cy="0"/>
          </a:xfrm>
          <a:prstGeom prst="line">
            <a:avLst/>
          </a:prstGeom>
          <a:ln w="9525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0080" y="3820000"/>
            <a:ext cx="10911840" cy="820000"/>
          </a:xfrm>
          <a:prstGeom prst="rect">
            <a:avLst/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820000"/>
            <a:ext cx="45720" cy="82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20000"/>
            <a:ext cx="10211840" cy="8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Arial"/>
              </a:rPr>
              <a:t>WHAT IT IS NOT   a revenue forecast or a validated SOM — a cost-of-the-problem ceiling with its weakest input (vertical share) explicitly flagged as the next thing to replace with real data. See research/bottom-up-market-estimate.md.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20000"/>
            <a:ext cx="1091184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B6470"/>
                </a:solidFill>
                <a:latin typeface="Arial"/>
              </a:rPr>
              <a:t>Why customers would pay: removing measurable coordination work, protecting SLA, avoiding reopens, at a predictable total cost. Still unproven at the level of an actual price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20000"/>
            <a:ext cx="5486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0"/>
                </a:solidFill>
                <a:latin typeface="Arial"/>
              </a:rPr>
              <a:t>B2B Product Strategy —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1920" y="6420000"/>
            <a:ext cx="7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360000"/>
            <a:ext cx="10911840" cy="0"/>
          </a:xfrm>
          <a:prstGeom prst="line">
            <a:avLst/>
          </a:prstGeom>
          <a:ln w="6350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00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B56012"/>
                </a:solidFill>
                <a:latin typeface="Arial"/>
              </a:rPr>
              <a:t>STEP 3 ·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0000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One problem, aimed at the mismatch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0000"/>
            <a:ext cx="10911840" cy="1900000"/>
          </a:xfrm>
          <a:prstGeom prst="rect">
            <a:avLst/>
          </a:prstGeom>
          <a:solidFill>
            <a:srgbClr val="FB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00000"/>
            <a:ext cx="45720" cy="190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00000"/>
            <a:ext cx="10211840" cy="1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A480B"/>
                </a:solidFill>
                <a:latin typeface="Arial"/>
              </a:rPr>
              <a:t>JOB STORY
</a:t>
            </a:r>
          </a:p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A1A"/>
                </a:solidFill>
                <a:latin typeface="Arial"/>
              </a:rPr>
              <a:t>When a support agent picks up a case that needs information or action from a second system, they want a single place to see everything relevant — because today that costs 15–25 minutes of manual work per case and leaves duplicate history for the next person to reconstruct.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00000"/>
            <a:ext cx="1091184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B6470"/>
                </a:solidFill>
                <a:latin typeface="Arial"/>
              </a:rPr>
              <a:t>Same leading pattern as v1, same honesty level: 2 of 4 interviews (P01, P04) describe it — below the interview guide's own 4-participant validation threshold. Leading hypothesis, not proven.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20000"/>
            <a:ext cx="5486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0"/>
                </a:solidFill>
                <a:latin typeface="Arial"/>
              </a:rPr>
              <a:t>B2B Product Strategy —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1920" y="6420000"/>
            <a:ext cx="7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360000"/>
            <a:ext cx="10911840" cy="0"/>
          </a:xfrm>
          <a:prstGeom prst="line">
            <a:avLst/>
          </a:prstGeom>
          <a:ln w="6350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00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B56012"/>
                </a:solidFill>
                <a:latin typeface="Arial"/>
              </a:rPr>
              <a:t>STEP 4 · MOAT AND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0000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1A1A"/>
                </a:solidFill>
                <a:latin typeface="Arial"/>
              </a:rPr>
              <a:t>Same categories. One concrete artifact each.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80000"/>
          <a:ext cx="10411840" cy="282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00000"/>
                <a:gridCol w="4900000"/>
                <a:gridCol w="2911840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CONCRETE ARTIFACT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DEFEATS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Workflow evaluation data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470"/>
                          </a:solidFill>
                          <a:latin typeface="Arial"/>
                        </a:rPr>
                        <a:t>Per-workflow library of correct/refuse/escalate examples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470"/>
                          </a:solidFill>
                          <a:latin typeface="Arial"/>
                        </a:rPr>
                        <a:t>Competitors starting quality from zero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Reliable action contracts</a:t>
                      </a:r>
                    </a:p>
                  </a:txBody>
                  <a:tcPr marL="91440" marR="91440" marT="45720" marB="45720" anchor="ctr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470"/>
                          </a:solidFill>
                          <a:latin typeface="Arial"/>
                        </a:rPr>
                        <a:t>Versioned, scoped, audited, reversible connectors</a:t>
                      </a:r>
                    </a:p>
                  </a:txBody>
                  <a:tcPr marL="91440" marR="91440" marT="45720" marB="45720" anchor="ctr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470"/>
                          </a:solidFill>
                          <a:latin typeface="Arial"/>
                        </a:rPr>
                        <a:t>Easy-to-copy idea, hard-to-copy hardening</a:t>
                      </a:r>
                    </a:p>
                  </a:txBody>
                  <a:tcPr marL="91440" marR="91440" marT="45720" marB="45720" anchor="ctr">
                    <a:solidFill>
                      <a:srgbClr val="F2F1E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Operational learning loop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470"/>
                          </a:solidFill>
                          <a:latin typeface="Arial"/>
                        </a:rPr>
                        <a:t>Corrections/reopens become regression tests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470"/>
                          </a:solidFill>
                          <a:latin typeface="Arial"/>
                        </a:rPr>
                        <a:t>Quality resetting each release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Repeatable deployment</a:t>
                      </a:r>
                    </a:p>
                  </a:txBody>
                  <a:tcPr marL="91440" marR="91440" marT="45720" marB="45720" anchor="ctr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470"/>
                          </a:solidFill>
                          <a:latin typeface="Arial"/>
                        </a:rPr>
                        <a:t>Templates per stack combination</a:t>
                      </a:r>
                    </a:p>
                  </a:txBody>
                  <a:tcPr marL="91440" marR="91440" marT="45720" marB="45720" anchor="ctr">
                    <a:solidFill>
                      <a:srgbClr val="F2F1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470"/>
                          </a:solidFill>
                          <a:latin typeface="Arial"/>
                        </a:rPr>
                        <a:t>Slow, costly repeat deployments</a:t>
                      </a:r>
                    </a:p>
                  </a:txBody>
                  <a:tcPr marL="91440" marR="91440" marT="45720" marB="45720" anchor="ctr">
                    <a:solidFill>
                      <a:srgbClr val="F2F1E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Switching cost, trusted ops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470"/>
                          </a:solidFill>
                          <a:latin typeface="Arial"/>
                        </a:rPr>
                        <a:t>Per-customer permission + evaluation profile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B6470"/>
                          </a:solidFill>
                          <a:latin typeface="Arial"/>
                        </a:rPr>
                        <a:t>Easy vendor replacement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220000"/>
            <a:ext cx="1091184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B6470"/>
                </a:solidFill>
                <a:latin typeface="Arial"/>
              </a:rPr>
              <a:t>Not a moat: the model, generic retrieval, or connector-catalogue size. No network-effect claim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20000"/>
            <a:ext cx="5486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0"/>
                </a:solidFill>
                <a:latin typeface="Arial"/>
              </a:rPr>
              <a:t>B2B Product Strategy —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1920" y="6420000"/>
            <a:ext cx="7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60000"/>
            <a:ext cx="10911840" cy="0"/>
          </a:xfrm>
          <a:prstGeom prst="line">
            <a:avLst/>
          </a:prstGeom>
          <a:ln w="6350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00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B56012"/>
                </a:solidFill>
                <a:latin typeface="Arial"/>
              </a:rPr>
              <a:t>STEP 5 · LAND AND EXPAND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0000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A1A1A"/>
                </a:solidFill>
                <a:latin typeface="Arial"/>
              </a:rPr>
              <a:t>Trust grows in five graduated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830000"/>
            <a:ext cx="2072640" cy="20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0080" y="3030000"/>
            <a:ext cx="207264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160000"/>
            <a:ext cx="207264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50">
                <a:solidFill>
                  <a:srgbClr val="1A1A1A"/>
                </a:solidFill>
                <a:latin typeface="Arial"/>
              </a:rPr>
              <a:t>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90000"/>
            <a:ext cx="207264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Arial"/>
              </a:rPr>
              <a:t>Read-only context.</a:t>
            </a:r>
          </a:p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Arial"/>
              </a:rPr>
              <a:t>No draft, no write-back.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9880" y="2830000"/>
            <a:ext cx="2072640" cy="20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849880" y="3030000"/>
            <a:ext cx="207264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49880" y="3160000"/>
            <a:ext cx="207264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50">
                <a:solidFill>
                  <a:srgbClr val="1A1A1A"/>
                </a:solidFill>
                <a:latin typeface="Arial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9880" y="3490000"/>
            <a:ext cx="207264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Arial"/>
              </a:rPr>
              <a:t>Same access.</a:t>
            </a:r>
          </a:p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Arial"/>
              </a:rPr>
              <a:t>Measure minutes saved.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9680" y="2550000"/>
            <a:ext cx="2072640" cy="48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059680" y="3030000"/>
            <a:ext cx="207264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59680" y="3160000"/>
            <a:ext cx="207264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50">
                <a:solidFill>
                  <a:srgbClr val="1A1A1A"/>
                </a:solidFill>
                <a:latin typeface="Arial"/>
              </a:rPr>
              <a:t>EXPAND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9680" y="3490000"/>
            <a:ext cx="207264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Arial"/>
              </a:rPr>
              <a:t>+1 narrow write</a:t>
            </a:r>
          </a:p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Arial"/>
              </a:rPr>
              <a:t>scope for drafts.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2270000"/>
            <a:ext cx="2072640" cy="76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269480" y="3030000"/>
            <a:ext cx="207264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69480" y="3160000"/>
            <a:ext cx="207264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50">
                <a:solidFill>
                  <a:srgbClr val="1A1A1A"/>
                </a:solidFill>
                <a:latin typeface="Arial"/>
              </a:rPr>
              <a:t>EXPAND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490000"/>
            <a:ext cx="207264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Arial"/>
              </a:rPr>
              <a:t>Scoped, audited</a:t>
            </a:r>
          </a:p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Arial"/>
              </a:rPr>
              <a:t>write-back.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79280" y="1970000"/>
            <a:ext cx="2072640" cy="106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479280" y="3030000"/>
            <a:ext cx="207264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479280" y="3160000"/>
            <a:ext cx="207264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50">
                <a:solidFill>
                  <a:srgbClr val="1A1A1A"/>
                </a:solidFill>
                <a:latin typeface="Arial"/>
              </a:rPr>
              <a:t>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280" y="3490000"/>
            <a:ext cx="207264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Arial"/>
              </a:rPr>
              <a:t>Adjacent workflows,</a:t>
            </a:r>
          </a:p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B6470"/>
                </a:solidFill>
                <a:latin typeface="Arial"/>
              </a:rPr>
              <a:t>same model replayed.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1430000"/>
            <a:ext cx="1091184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 spc="100">
                <a:solidFill>
                  <a:srgbClr val="5B6470"/>
                </a:solidFill>
                <a:latin typeface="Arial"/>
              </a:rPr>
              <a:t>ACCESS REQUIRED, GROWING LEFT TO RIGHT — ONLY AFTER TRUST IS EARNED AT EACH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50000"/>
            <a:ext cx="10911840" cy="700000"/>
          </a:xfrm>
          <a:prstGeom prst="rect">
            <a:avLst/>
          </a:prstGeom>
          <a:solidFill>
            <a:srgbClr val="F2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550000"/>
            <a:ext cx="45720" cy="70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550000"/>
            <a:ext cx="1021184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BUYER &amp; APPROVERS, UNCHANGED FROM V1   Head/VP Support or Customer Ops buys; Support Ops operates; IT/security approve. Starting read-only means the hardest approver has almost nothing to review on day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20000"/>
            <a:ext cx="5486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0"/>
                </a:solidFill>
                <a:latin typeface="Arial"/>
              </a:rPr>
              <a:t>B2B Product Strategy — 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1920" y="6420000"/>
            <a:ext cx="7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6360000"/>
            <a:ext cx="10911840" cy="0"/>
          </a:xfrm>
          <a:prstGeom prst="line">
            <a:avLst/>
          </a:prstGeom>
          <a:ln w="6350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00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B56012"/>
                </a:solidFill>
                <a:latin typeface="Arial"/>
              </a:rPr>
              <a:t>WHAT'S STILL UNPROVEN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00000"/>
            <a:ext cx="1091184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1A1A"/>
                </a:solidFill>
                <a:latin typeface="Arial"/>
              </a:rPr>
              <a:t>Carried forward honestly, not smoothed 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0000"/>
            <a:ext cx="45720" cy="34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0000"/>
            <a:ext cx="1063752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Arial"/>
              </a:rPr>
              <a:t>Interview sample is still 4 of the requested 8 minimum.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400000"/>
            <a:ext cx="10911840" cy="0"/>
          </a:xfrm>
          <a:prstGeom prst="line">
            <a:avLst/>
          </a:prstGeom>
          <a:ln w="9525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40080" y="2440000"/>
            <a:ext cx="45720" cy="34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0000"/>
            <a:ext cx="1063752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Arial"/>
              </a:rPr>
              <a:t>Leading workflow: 2 of 4 mentions, against a 4-participant validation threshold.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020000"/>
            <a:ext cx="10911840" cy="0"/>
          </a:xfrm>
          <a:prstGeom prst="line">
            <a:avLst/>
          </a:prstGeom>
          <a:ln w="9525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40080" y="3060000"/>
            <a:ext cx="45720" cy="34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20000"/>
            <a:ext cx="1063752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Arial"/>
              </a:rPr>
              <a:t>No confirmed economic buyer, price point, or proposed-product pilot commitment.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640000"/>
            <a:ext cx="10911840" cy="0"/>
          </a:xfrm>
          <a:prstGeom prst="line">
            <a:avLst/>
          </a:prstGeom>
          <a:ln w="9525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40080" y="3680000"/>
            <a:ext cx="45720" cy="34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40000"/>
            <a:ext cx="1063752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Arial"/>
              </a:rPr>
              <a:t>Bottom-up estimate's vertical-share input (10–20%) is a labeled assumption, not sourced.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260000"/>
            <a:ext cx="10911840" cy="0"/>
          </a:xfrm>
          <a:prstGeom prst="line">
            <a:avLst/>
          </a:prstGeom>
          <a:ln w="9525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0080" y="4300000"/>
            <a:ext cx="45720" cy="340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60000"/>
            <a:ext cx="1063752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Arial"/>
              </a:rPr>
              <a:t>All four of v1's interview decision gates were unmet — re-deriving the strategy doesn't change that arithmetic.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20000"/>
            <a:ext cx="5486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0"/>
                </a:solidFill>
                <a:latin typeface="Arial"/>
              </a:rPr>
              <a:t>B2B Product Strategy —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1920" y="6420000"/>
            <a:ext cx="7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360000"/>
            <a:ext cx="10911840" cy="0"/>
          </a:xfrm>
          <a:prstGeom prst="line">
            <a:avLst/>
          </a:prstGeom>
          <a:ln w="6350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000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B56012"/>
                </a:solidFill>
                <a:latin typeface="Arial"/>
              </a:rPr>
              <a:t>IN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80000"/>
            <a:ext cx="10911840" cy="1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1A1A"/>
                </a:solidFill>
                <a:latin typeface="Arial"/>
              </a:rPr>
              <a:t>Earn the platform.</a:t>
            </a:r>
          </a:p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1A1A"/>
                </a:solidFill>
                <a:latin typeface="Arial"/>
              </a:rPr>
              <a:t>Start with the smallest thing</a:t>
            </a:r>
          </a:p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1A1A"/>
                </a:solidFill>
                <a:latin typeface="Arial"/>
              </a:rPr>
              <a:t>that needs the least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0000"/>
            <a:ext cx="971184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B6470"/>
                </a:solidFill>
                <a:latin typeface="Arial"/>
              </a:rPr>
              <a:t>Leadership's platform ambition doesn't change — how we get there does. Same segment ballpark as v1, reached through a diagnosis instead of a hypothesis. A narrower land wedge, a moat sharpened to one artifact each, and a first bottom-up number to replace with real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50000"/>
            <a:ext cx="3000000" cy="24000"/>
          </a:xfrm>
          <a:prstGeom prst="rect">
            <a:avLst/>
          </a:prstGeom>
          <a:solidFill>
            <a:srgbClr val="B5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950000"/>
            <a:ext cx="1091184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Thank you — Praveen Veera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20000"/>
            <a:ext cx="5486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0"/>
                </a:solidFill>
                <a:latin typeface="Arial"/>
              </a:rPr>
              <a:t>B2B Product Strategy —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1920" y="6420000"/>
            <a:ext cx="7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360000"/>
            <a:ext cx="10911840" cy="0"/>
          </a:xfrm>
          <a:prstGeom prst="line">
            <a:avLst/>
          </a:prstGeom>
          <a:ln w="6350">
            <a:solidFill>
              <a:srgbClr val="E4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