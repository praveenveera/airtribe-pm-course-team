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built on real evidence — 91 records, 4 interviews, 4 competitor teardowns. Here's where that leads.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note — this deck has a short story, then the full evidence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idea in one line: don't build the big platform first. Build one small thing, prove it actually helps people, and let the bigger platform earn its way in — instead of announcing it and hoping people show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didn't the original idea take off? Four reasons.</a:t>
            </a:r>
          </a:p>
          <a:p/>
          <a:p>
            <a:r>
              <a:t>One — we called it “another AI chatbot.” Every competitor — Intercom, Zendesk, Freshdesk, Salesforce — already had one. Nothing new.</a:t>
            </a:r>
          </a:p>
          <a:p/>
          <a:p>
            <a:r>
              <a:t>Two — IT and security can kill this before anyone tries it, like hiring someone without a key to any door.</a:t>
            </a:r>
          </a:p>
          <a:p/>
          <a:p>
            <a:r>
              <a:t>Three — these companies already pay for AI inside tools they use. We weren't competing against nothing, but against something already paid for.</a:t>
            </a:r>
          </a:p>
          <a:p/>
          <a:p>
            <a:r>
              <a:t>Four — we built something to answer questions faster. But the real pain was digging through different systems to understand what was going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who's this for? Not huge companies like banks — too much red tape. Not tiny companies either — they run on one tool. The sweet spot: mid-sized companies, roughly 50 to 1,000 people, running two systems that don't talk to each other.</a:t>
            </a:r>
          </a:p>
          <a:p/>
          <a:p>
            <a:r>
              <a:t>On size — the wider category is worth tens of billions a year, too broad to mean much here. A narrower estimate of just this problem: 400 to 900 million a year — meaningful, but still an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this: a customer writes in with a problem, and the agent needs information sitting in a different system. So they open another tab, log in, search, copy it, and come back. That's the whole problem: too much manual digging, nowhere to see it all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competitor already says they have AI. That's not special anymore — it's expected, like a car having air conditioning. We're not winning by saying “we have AI too.” We're winning at one thing none of them do well: connecting the dots across two systems, showing where an answer came from, with a human signing off on anything risky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talked to four people. One support agent spends 20 to 25 minutes gathering information per hard case, several times a day. One in banking told us a case meant 15 minutes of duplicate typing plus a four-to-six-hour wait for approval. A third only agreed to test this after we locked it to two areas with no ability to change anything. A fourth warned us against adding another separate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fancy at first — an AI reads the case, pulls together information from both systems, and shows it to the agent in one place, read-only, so it can't break anything. No auto-replies yet, no robot acting alone — think of it as a research assistant doing the reading and the first draft, while the person still decides. That same AI also judges how confident it is, so anything risky gets a human's eyes before it happens.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stops a bigger company from copying this? A few things, all from using it. It learns what a “good” answer looks like for that company — a new competitor starts from zero. System connections get more reliable over time. Every mistake becomes a lesson that doesn't repeat. And the longer someone uses it, the more trust is baked in — starting over elsewhere becomes a real hassle.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grows in stages: prove it for six months, spend the next six making it faster to set up elsewhere, stretch to nearby problems in year two, and only talk platform in year three, if it's working.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upfront: this isn't proven yet. We talked to four people, not the eight we wanted. And of the four checkpoints we needed to see clearly — the same problem repeating, real time saved, proof the built-in AI wasn't enough, and real interest in a paid trial — none have happened yet.</a:t>
            </a:r>
          </a:p>
          <a:p/>
          <a:p>
            <a:r>
              <a:t>So this isn't a “we're sure, let's go” pitch. It's the smallest, most honest next step: try it small, watch closely, and build bigger only once it's earned.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92000" y="-2700000"/>
            <a:ext cx="4800000" cy="4800000"/>
          </a:xfrm>
          <a:prstGeom prst="ellipse">
            <a:avLst/>
          </a:prstGeom>
          <a:noFill/>
          <a:ln w="22225">
            <a:solidFill>
              <a:srgbClr val="F2F1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92000" y="-2000000"/>
            <a:ext cx="3400000" cy="3400000"/>
          </a:xfrm>
          <a:prstGeom prst="ellipse">
            <a:avLst/>
          </a:prstGeom>
          <a:noFill/>
          <a:ln w="22225">
            <a:solidFill>
              <a:srgbClr val="FBEB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42000" y="1550000"/>
            <a:ext cx="180000" cy="180000"/>
          </a:xfrm>
          <a:prstGeom prst="ellipse">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0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AIRTRIBE  ·  B2B PRODUCT STRATEGY</a:t>
            </a:r>
          </a:p>
        </p:txBody>
      </p:sp>
      <p:sp>
        <p:nvSpPr>
          <p:cNvPr id="7" name="TextBox 6"/>
          <p:cNvSpPr txBox="1"/>
          <p:nvPr/>
        </p:nvSpPr>
        <p:spPr>
          <a:xfrm>
            <a:off x="640080" y="1380000"/>
            <a:ext cx="10911840" cy="1500000"/>
          </a:xfrm>
          <a:prstGeom prst="rect">
            <a:avLst/>
          </a:prstGeom>
          <a:noFill/>
        </p:spPr>
        <p:txBody>
          <a:bodyPr wrap="square" anchor="t" lIns="0" rIns="0" tIns="0" bIns="0">
            <a:spAutoFit/>
          </a:bodyPr>
          <a:lstStyle/>
          <a:p>
            <a:pPr algn="l">
              <a:lnSpc>
                <a:spcPct val="105000"/>
              </a:lnSpc>
            </a:pPr>
            <a:r>
              <a:rPr sz="4400" b="1" i="0">
                <a:solidFill>
                  <a:srgbClr val="1A1A1A"/>
                </a:solidFill>
                <a:latin typeface="Arial"/>
              </a:rPr>
              <a:t>Earn the platform.</a:t>
            </a:r>
          </a:p>
          <a:p>
            <a:pPr algn="l">
              <a:lnSpc>
                <a:spcPct val="105000"/>
              </a:lnSpc>
            </a:pPr>
            <a:r>
              <a:rPr sz="4400" b="1" i="0">
                <a:solidFill>
                  <a:srgbClr val="1A1A1A"/>
                </a:solidFill>
                <a:latin typeface="Arial"/>
              </a:rPr>
              <a:t>Don't announce it.</a:t>
            </a:r>
          </a:p>
        </p:txBody>
      </p:sp>
      <p:sp>
        <p:nvSpPr>
          <p:cNvPr id="8" name="TextBox 7"/>
          <p:cNvSpPr txBox="1"/>
          <p:nvPr/>
        </p:nvSpPr>
        <p:spPr>
          <a:xfrm>
            <a:off x="640080" y="3050000"/>
            <a:ext cx="8600000" cy="700000"/>
          </a:xfrm>
          <a:prstGeom prst="rect">
            <a:avLst/>
          </a:prstGeom>
          <a:noFill/>
        </p:spPr>
        <p:txBody>
          <a:bodyPr wrap="square" anchor="t" lIns="0" rIns="0" tIns="0" bIns="0">
            <a:spAutoFit/>
          </a:bodyPr>
          <a:lstStyle/>
          <a:p>
            <a:pPr algn="l">
              <a:lnSpc>
                <a:spcPct val="130000"/>
              </a:lnSpc>
            </a:pPr>
            <a:r>
              <a:rPr sz="1400" b="0" i="0">
                <a:solidFill>
                  <a:srgbClr val="5B6470"/>
                </a:solidFill>
                <a:latin typeface="Arial"/>
              </a:rPr>
              <a:t>A 2–3 year strategy for AI-powered Customer Operations, diagnosed from why the original mid-market motion adopted slower than expected.</a:t>
            </a:r>
          </a:p>
        </p:txBody>
      </p:sp>
      <p:sp>
        <p:nvSpPr>
          <p:cNvPr id="9" name="Rectangle 8"/>
          <p:cNvSpPr/>
          <p:nvPr/>
        </p:nvSpPr>
        <p:spPr>
          <a:xfrm>
            <a:off x="640080" y="3900000"/>
            <a:ext cx="1800000" cy="24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280000"/>
            <a:ext cx="2590800" cy="16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280000"/>
            <a:ext cx="50800" cy="16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040" y="4460000"/>
            <a:ext cx="2290800" cy="620000"/>
          </a:xfrm>
          <a:prstGeom prst="rect">
            <a:avLst/>
          </a:prstGeom>
          <a:noFill/>
        </p:spPr>
        <p:txBody>
          <a:bodyPr wrap="square" anchor="t" lIns="0" rIns="0" tIns="0" bIns="0">
            <a:spAutoFit/>
          </a:bodyPr>
          <a:lstStyle/>
          <a:p>
            <a:pPr algn="l"/>
            <a:r>
              <a:rPr sz="3000" b="1" i="0">
                <a:solidFill>
                  <a:srgbClr val="1A1A1A"/>
                </a:solidFill>
                <a:latin typeface="Arial"/>
              </a:rPr>
              <a:t>91</a:t>
            </a:r>
          </a:p>
        </p:txBody>
      </p:sp>
      <p:sp>
        <p:nvSpPr>
          <p:cNvPr id="13" name="TextBox 12"/>
          <p:cNvSpPr txBox="1"/>
          <p:nvPr/>
        </p:nvSpPr>
        <p:spPr>
          <a:xfrm>
            <a:off x="828040" y="5180000"/>
            <a:ext cx="2290800" cy="62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Public evidence</a:t>
            </a:r>
          </a:p>
          <a:p>
            <a:pPr algn="l">
              <a:lnSpc>
                <a:spcPct val="120000"/>
              </a:lnSpc>
            </a:pPr>
            <a:r>
              <a:rPr sz="950" b="0" i="0">
                <a:solidFill>
                  <a:srgbClr val="5B6470"/>
                </a:solidFill>
                <a:latin typeface="Arial"/>
              </a:rPr>
              <a:t>records (56 sources)</a:t>
            </a:r>
          </a:p>
        </p:txBody>
      </p:sp>
      <p:sp>
        <p:nvSpPr>
          <p:cNvPr id="14" name="Rectangle 13"/>
          <p:cNvSpPr/>
          <p:nvPr/>
        </p:nvSpPr>
        <p:spPr>
          <a:xfrm>
            <a:off x="3413760" y="4280000"/>
            <a:ext cx="2590800" cy="16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3760" y="4280000"/>
            <a:ext cx="50800" cy="16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1720" y="4460000"/>
            <a:ext cx="2290800" cy="620000"/>
          </a:xfrm>
          <a:prstGeom prst="rect">
            <a:avLst/>
          </a:prstGeom>
          <a:noFill/>
        </p:spPr>
        <p:txBody>
          <a:bodyPr wrap="square" anchor="t" lIns="0" rIns="0" tIns="0" bIns="0">
            <a:spAutoFit/>
          </a:bodyPr>
          <a:lstStyle/>
          <a:p>
            <a:pPr algn="l"/>
            <a:r>
              <a:rPr sz="3000" b="1" i="0">
                <a:solidFill>
                  <a:srgbClr val="1A1A1A"/>
                </a:solidFill>
                <a:latin typeface="Arial"/>
              </a:rPr>
              <a:t>4</a:t>
            </a:r>
          </a:p>
        </p:txBody>
      </p:sp>
      <p:sp>
        <p:nvSpPr>
          <p:cNvPr id="17" name="TextBox 16"/>
          <p:cNvSpPr txBox="1"/>
          <p:nvPr/>
        </p:nvSpPr>
        <p:spPr>
          <a:xfrm>
            <a:off x="3601720" y="5180000"/>
            <a:ext cx="2290800" cy="62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Anonymized</a:t>
            </a:r>
          </a:p>
          <a:p>
            <a:pPr algn="l">
              <a:lnSpc>
                <a:spcPct val="120000"/>
              </a:lnSpc>
            </a:pPr>
            <a:r>
              <a:rPr sz="950" b="0" i="0">
                <a:solidFill>
                  <a:srgbClr val="5B6470"/>
                </a:solidFill>
                <a:latin typeface="Arial"/>
              </a:rPr>
              <a:t>interviews</a:t>
            </a:r>
          </a:p>
        </p:txBody>
      </p:sp>
      <p:sp>
        <p:nvSpPr>
          <p:cNvPr id="18" name="Rectangle 17"/>
          <p:cNvSpPr/>
          <p:nvPr/>
        </p:nvSpPr>
        <p:spPr>
          <a:xfrm>
            <a:off x="6187440" y="4280000"/>
            <a:ext cx="2590800" cy="16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7440" y="4280000"/>
            <a:ext cx="50800" cy="16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5400" y="4460000"/>
            <a:ext cx="2290800" cy="620000"/>
          </a:xfrm>
          <a:prstGeom prst="rect">
            <a:avLst/>
          </a:prstGeom>
          <a:noFill/>
        </p:spPr>
        <p:txBody>
          <a:bodyPr wrap="square" anchor="t" lIns="0" rIns="0" tIns="0" bIns="0">
            <a:spAutoFit/>
          </a:bodyPr>
          <a:lstStyle/>
          <a:p>
            <a:pPr algn="l"/>
            <a:r>
              <a:rPr sz="3000" b="1" i="0">
                <a:solidFill>
                  <a:srgbClr val="1A1A1A"/>
                </a:solidFill>
                <a:latin typeface="Arial"/>
              </a:rPr>
              <a:t>4</a:t>
            </a:r>
          </a:p>
        </p:txBody>
      </p:sp>
      <p:sp>
        <p:nvSpPr>
          <p:cNvPr id="21" name="TextBox 20"/>
          <p:cNvSpPr txBox="1"/>
          <p:nvPr/>
        </p:nvSpPr>
        <p:spPr>
          <a:xfrm>
            <a:off x="6375400" y="5180000"/>
            <a:ext cx="2290800" cy="62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Vendor</a:t>
            </a:r>
          </a:p>
          <a:p>
            <a:pPr algn="l">
              <a:lnSpc>
                <a:spcPct val="120000"/>
              </a:lnSpc>
            </a:pPr>
            <a:r>
              <a:rPr sz="950" b="0" i="0">
                <a:solidFill>
                  <a:srgbClr val="5B6470"/>
                </a:solidFill>
                <a:latin typeface="Arial"/>
              </a:rPr>
              <a:t>teardowns</a:t>
            </a:r>
          </a:p>
        </p:txBody>
      </p:sp>
      <p:sp>
        <p:nvSpPr>
          <p:cNvPr id="22" name="Rectangle 21"/>
          <p:cNvSpPr/>
          <p:nvPr/>
        </p:nvSpPr>
        <p:spPr>
          <a:xfrm>
            <a:off x="8961120" y="4280000"/>
            <a:ext cx="2590800" cy="16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4280000"/>
            <a:ext cx="50800" cy="16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9080" y="4460000"/>
            <a:ext cx="2290800" cy="620000"/>
          </a:xfrm>
          <a:prstGeom prst="rect">
            <a:avLst/>
          </a:prstGeom>
          <a:noFill/>
        </p:spPr>
        <p:txBody>
          <a:bodyPr wrap="square" anchor="t" lIns="0" rIns="0" tIns="0" bIns="0">
            <a:spAutoFit/>
          </a:bodyPr>
          <a:lstStyle/>
          <a:p>
            <a:pPr algn="l"/>
            <a:r>
              <a:rPr sz="3000" b="1" i="0">
                <a:solidFill>
                  <a:srgbClr val="1A1A1A"/>
                </a:solidFill>
                <a:latin typeface="Arial"/>
              </a:rPr>
              <a:t>1</a:t>
            </a:r>
          </a:p>
        </p:txBody>
      </p:sp>
      <p:sp>
        <p:nvSpPr>
          <p:cNvPr id="25" name="TextBox 24"/>
          <p:cNvSpPr txBox="1"/>
          <p:nvPr/>
        </p:nvSpPr>
        <p:spPr>
          <a:xfrm>
            <a:off x="9149080" y="5180000"/>
            <a:ext cx="2290800" cy="62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Bottom-up</a:t>
            </a:r>
          </a:p>
          <a:p>
            <a:pPr algn="l">
              <a:lnSpc>
                <a:spcPct val="120000"/>
              </a:lnSpc>
            </a:pPr>
            <a:r>
              <a:rPr sz="950" b="0" i="0">
                <a:solidFill>
                  <a:srgbClr val="5B6470"/>
                </a:solidFill>
                <a:latin typeface="Arial"/>
              </a:rPr>
              <a:t>market analysis</a:t>
            </a:r>
          </a:p>
        </p:txBody>
      </p:sp>
      <p:sp>
        <p:nvSpPr>
          <p:cNvPr id="26" name="TextBox 25"/>
          <p:cNvSpPr txBox="1"/>
          <p:nvPr/>
        </p:nvSpPr>
        <p:spPr>
          <a:xfrm>
            <a:off x="640080" y="6420000"/>
            <a:ext cx="10911840" cy="300000"/>
          </a:xfrm>
          <a:prstGeom prst="rect">
            <a:avLst/>
          </a:prstGeom>
          <a:noFill/>
        </p:spPr>
        <p:txBody>
          <a:bodyPr wrap="square" anchor="t" lIns="0" rIns="0" tIns="0" bIns="0">
            <a:spAutoFit/>
          </a:bodyPr>
          <a:lstStyle/>
          <a:p>
            <a:pPr algn="l"/>
            <a:r>
              <a:rPr sz="950" b="0" i="0">
                <a:solidFill>
                  <a:srgbClr val="5B6470"/>
                </a:solidFill>
                <a:latin typeface="Arial"/>
              </a:rPr>
              <a:t>Praveen Veera   ·   Airtribe — AI-First Product Management   ·   September 2026</a:t>
            </a:r>
          </a:p>
        </p:txBody>
      </p:sp>
      <p:cxnSp>
        <p:nvCxnSpPr>
          <p:cNvPr id="27" name="Connector 26"/>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HOW TO USE THIS DECK</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700" b="1" i="0">
                <a:solidFill>
                  <a:srgbClr val="1A1A1A"/>
                </a:solidFill>
                <a:latin typeface="Arial"/>
              </a:rPr>
              <a:t>The 5-minute story, plus everything behind it</a:t>
            </a:r>
          </a:p>
        </p:txBody>
      </p:sp>
      <p:sp>
        <p:nvSpPr>
          <p:cNvPr id="5" name="Rectangle 4"/>
          <p:cNvSpPr/>
          <p:nvPr/>
        </p:nvSpPr>
        <p:spPr>
          <a:xfrm>
            <a:off x="640080" y="1780000"/>
            <a:ext cx="10911840" cy="19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0000"/>
            <a:ext cx="50800" cy="1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8040" y="1780000"/>
            <a:ext cx="10211840" cy="1900000"/>
          </a:xfrm>
          <a:prstGeom prst="rect">
            <a:avLst/>
          </a:prstGeom>
          <a:noFill/>
        </p:spPr>
        <p:txBody>
          <a:bodyPr wrap="square" anchor="t" lIns="0" rIns="0" tIns="0" bIns="0">
            <a:spAutoFit/>
          </a:bodyPr>
          <a:lstStyle/>
          <a:p>
            <a:pPr algn="l">
              <a:lnSpc>
                <a:spcPct val="135000"/>
              </a:lnSpc>
            </a:pPr>
            <a:r>
              <a:rPr sz="1200" b="1" i="0">
                <a:solidFill>
                  <a:srgbClr val="8A480B"/>
                </a:solidFill>
                <a:latin typeface="Arial"/>
              </a:rPr>
              <a:t>THE STORY  ·  SLIDES 3–12
</a:t>
            </a:r>
          </a:p>
          <a:p>
            <a:pPr algn="l">
              <a:lnSpc>
                <a:spcPct val="135000"/>
              </a:lnSpc>
            </a:pPr>
            <a:r>
              <a:rPr sz="1100" b="0" i="0">
                <a:solidFill>
                  <a:srgbClr val="1A1A1A"/>
                </a:solidFill>
                <a:latin typeface="Arial"/>
              </a:rPr>
              <a:t>The decision, the diagnosis behind it, who it's for, the problem, the competitive read, what ships first, the moat, how it expands, and where it stands today. Everything needed to follow the recommendation.</a:t>
            </a:r>
          </a:p>
        </p:txBody>
      </p:sp>
      <p:sp>
        <p:nvSpPr>
          <p:cNvPr id="8" name="Rectangle 7"/>
          <p:cNvSpPr/>
          <p:nvPr/>
        </p:nvSpPr>
        <p:spPr>
          <a:xfrm>
            <a:off x="640080" y="3900000"/>
            <a:ext cx="10911840" cy="19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900000"/>
            <a:ext cx="50800" cy="1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40" y="3900000"/>
            <a:ext cx="10211840" cy="1900000"/>
          </a:xfrm>
          <a:prstGeom prst="rect">
            <a:avLst/>
          </a:prstGeom>
          <a:noFill/>
        </p:spPr>
        <p:txBody>
          <a:bodyPr wrap="square" anchor="t" lIns="0" rIns="0" tIns="0" bIns="0">
            <a:spAutoFit/>
          </a:bodyPr>
          <a:lstStyle/>
          <a:p>
            <a:pPr algn="l">
              <a:lnSpc>
                <a:spcPct val="135000"/>
              </a:lnSpc>
            </a:pPr>
            <a:r>
              <a:rPr sz="1200" b="1" i="0">
                <a:solidFill>
                  <a:srgbClr val="1A1A1A"/>
                </a:solidFill>
                <a:latin typeface="Arial"/>
              </a:rPr>
              <a:t>APPENDIX  ·  SLIDES 13–29
</a:t>
            </a:r>
          </a:p>
          <a:p>
            <a:pPr algn="l">
              <a:lnSpc>
                <a:spcPct val="135000"/>
              </a:lnSpc>
            </a:pPr>
            <a:r>
              <a:rPr sz="1100" b="0" i="0">
                <a:solidFill>
                  <a:srgbClr val="5B6470"/>
                </a:solidFill>
                <a:latin typeface="Arial"/>
              </a:rPr>
              <a:t>The full evidence behind every claim in the story: methodology, segment and problem detail, all four interviews, the market model, the complete four-vendor teardown, MVP sequencing, the roadmap, moat mechanisms, GTM, and the risk/decision-gate register.</a:t>
            </a:r>
          </a:p>
        </p:txBody>
      </p:sp>
      <p:sp>
        <p:nvSpPr>
          <p:cNvPr id="11" name="TextBox 10"/>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2" name="TextBox 11"/>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a:t>
            </a:r>
          </a:p>
        </p:txBody>
      </p:sp>
      <p:cxnSp>
        <p:nvCxnSpPr>
          <p:cNvPr id="13" name="Connector 12"/>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THE DECISION IN ONE LINE</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700" b="1" i="0">
                <a:solidFill>
                  <a:srgbClr val="1A1A1A"/>
                </a:solidFill>
                <a:latin typeface="Arial"/>
              </a:rPr>
              <a:t>Land narrow. Prove it's safe. Earn the platform.</a:t>
            </a:r>
          </a:p>
        </p:txBody>
      </p:sp>
      <p:sp>
        <p:nvSpPr>
          <p:cNvPr id="5" name="Rectangle 4"/>
          <p:cNvSpPr/>
          <p:nvPr/>
        </p:nvSpPr>
        <p:spPr>
          <a:xfrm>
            <a:off x="640080" y="1780000"/>
            <a:ext cx="10911840" cy="115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0000"/>
            <a:ext cx="50800" cy="11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8040" y="1780000"/>
            <a:ext cx="10211840" cy="1150000"/>
          </a:xfrm>
          <a:prstGeom prst="rect">
            <a:avLst/>
          </a:prstGeom>
          <a:noFill/>
        </p:spPr>
        <p:txBody>
          <a:bodyPr wrap="square" anchor="ctr" lIns="0" rIns="0" tIns="0" bIns="0">
            <a:spAutoFit/>
          </a:bodyPr>
          <a:lstStyle/>
          <a:p>
            <a:pPr algn="l">
              <a:lnSpc>
                <a:spcPct val="130000"/>
              </a:lnSpc>
            </a:pPr>
            <a:r>
              <a:rPr sz="1300" b="1" i="0">
                <a:solidFill>
                  <a:srgbClr val="1A1A1A"/>
                </a:solidFill>
                <a:latin typeface="Arial"/>
              </a:rPr>
              <a:t>Leadership is right that the destination is a comprehensive Customer Operations Platform — but naming it doesn't earn it. Land one narrow, low-trust workflow; prove it; expand only after it's earned.</a:t>
            </a:r>
          </a:p>
        </p:txBody>
      </p:sp>
      <p:sp>
        <p:nvSpPr>
          <p:cNvPr id="8" name="Rectangle 7"/>
          <p:cNvSpPr/>
          <p:nvPr/>
        </p:nvSpPr>
        <p:spPr>
          <a:xfrm>
            <a:off x="921680" y="2925680"/>
            <a:ext cx="10348640" cy="3784489"/>
          </a:xfrm>
          <a:prstGeom prst="rect">
            <a:avLst/>
          </a:prstGeom>
          <a:solidFill>
            <a:srgbClr val="FFFFF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admap_timeline.png"/>
          <p:cNvPicPr>
            <a:picLocks noChangeAspect="1"/>
          </p:cNvPicPr>
          <p:nvPr/>
        </p:nvPicPr>
        <p:blipFill>
          <a:blip r:embed="rId2"/>
          <a:stretch>
            <a:fillRect/>
          </a:stretch>
        </p:blipFill>
        <p:spPr>
          <a:xfrm>
            <a:off x="1196000" y="3200000"/>
            <a:ext cx="9800000" cy="3235849"/>
          </a:xfrm>
          <a:prstGeom prst="rect">
            <a:avLst/>
          </a:prstGeom>
        </p:spPr>
      </p:pic>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3</a:t>
            </a:r>
          </a:p>
        </p:txBody>
      </p:sp>
      <p:cxnSp>
        <p:nvCxnSpPr>
          <p:cNvPr id="12" name="Connector 1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THE DIAGNOSIS</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Why did the original motion stall?</a:t>
            </a:r>
          </a:p>
        </p:txBody>
      </p:sp>
      <p:sp>
        <p:nvSpPr>
          <p:cNvPr id="5" name="TextBox 4"/>
          <p:cNvSpPr txBox="1"/>
          <p:nvPr/>
        </p:nvSpPr>
        <p:spPr>
          <a:xfrm>
            <a:off x="640080" y="1600000"/>
            <a:ext cx="10911840" cy="500000"/>
          </a:xfrm>
          <a:prstGeom prst="rect">
            <a:avLst/>
          </a:prstGeom>
          <a:noFill/>
        </p:spPr>
        <p:txBody>
          <a:bodyPr wrap="square" anchor="t" lIns="0" rIns="0" tIns="0" bIns="0">
            <a:spAutoFit/>
          </a:bodyPr>
          <a:lstStyle/>
          <a:p>
            <a:pPr algn="l">
              <a:lnSpc>
                <a:spcPct val="120000"/>
              </a:lnSpc>
            </a:pPr>
            <a:r>
              <a:rPr sz="1100" b="0" i="0">
                <a:solidFill>
                  <a:srgbClr val="5B6470"/>
                </a:solidFill>
                <a:latin typeface="Arial"/>
              </a:rPr>
              <a:t>The brief hands us a fact: mid-sized businesses (200–1,000 employees) were targeted first, and adoption was slower than expected. Four failure modes explain it — each traceable to evidence already on file.</a:t>
            </a:r>
          </a:p>
        </p:txBody>
      </p:sp>
      <p:sp>
        <p:nvSpPr>
          <p:cNvPr id="6" name="Rectangle 5"/>
          <p:cNvSpPr/>
          <p:nvPr/>
        </p:nvSpPr>
        <p:spPr>
          <a:xfrm>
            <a:off x="640080" y="2250000"/>
            <a:ext cx="531876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2500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sitioning.png"/>
          <p:cNvPicPr>
            <a:picLocks noChangeAspect="1"/>
          </p:cNvPicPr>
          <p:nvPr/>
        </p:nvPicPr>
        <p:blipFill>
          <a:blip r:embed="rId2"/>
          <a:stretch>
            <a:fillRect/>
          </a:stretch>
        </p:blipFill>
        <p:spPr>
          <a:xfrm>
            <a:off x="4858840" y="2800000"/>
            <a:ext cx="880000" cy="880000"/>
          </a:xfrm>
          <a:prstGeom prst="rect">
            <a:avLst/>
          </a:prstGeom>
        </p:spPr>
      </p:pic>
      <p:sp>
        <p:nvSpPr>
          <p:cNvPr id="9" name="Rounded Rectangle 8"/>
          <p:cNvSpPr/>
          <p:nvPr/>
        </p:nvSpPr>
        <p:spPr>
          <a:xfrm>
            <a:off x="828040" y="2478600"/>
            <a:ext cx="420000" cy="42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10" name="TextBox 9"/>
          <p:cNvSpPr txBox="1"/>
          <p:nvPr/>
        </p:nvSpPr>
        <p:spPr>
          <a:xfrm>
            <a:off x="1378040" y="2478600"/>
            <a:ext cx="4348760" cy="500000"/>
          </a:xfrm>
          <a:prstGeom prst="rect">
            <a:avLst/>
          </a:prstGeom>
          <a:noFill/>
        </p:spPr>
        <p:txBody>
          <a:bodyPr wrap="square" anchor="ctr" lIns="0" rIns="0" tIns="0" bIns="0">
            <a:spAutoFit/>
          </a:bodyPr>
          <a:lstStyle/>
          <a:p>
            <a:pPr algn="l"/>
            <a:r>
              <a:rPr sz="1400" b="1" i="0">
                <a:solidFill>
                  <a:srgbClr val="1A1A1A"/>
                </a:solidFill>
                <a:latin typeface="Arial"/>
              </a:rPr>
              <a:t>Positioning trap</a:t>
            </a:r>
          </a:p>
        </p:txBody>
      </p:sp>
      <p:sp>
        <p:nvSpPr>
          <p:cNvPr id="11" name="TextBox 10"/>
          <p:cNvSpPr txBox="1"/>
          <p:nvPr/>
        </p:nvSpPr>
        <p:spPr>
          <a:xfrm>
            <a:off x="828040" y="3030000"/>
            <a:ext cx="4118760" cy="750000"/>
          </a:xfrm>
          <a:prstGeom prst="rect">
            <a:avLst/>
          </a:prstGeom>
          <a:noFill/>
        </p:spPr>
        <p:txBody>
          <a:bodyPr wrap="square" anchor="t" lIns="0" rIns="0" tIns="0" bIns="0">
            <a:spAutoFit/>
          </a:bodyPr>
          <a:lstStyle/>
          <a:p>
            <a:pPr algn="l">
              <a:lnSpc>
                <a:spcPct val="120000"/>
              </a:lnSpc>
            </a:pPr>
            <a:r>
              <a:rPr sz="1000" b="0" i="0">
                <a:solidFill>
                  <a:srgbClr val="5B6470"/>
                </a:solidFill>
                <a:latin typeface="Arial"/>
              </a:rPr>
              <a:t>Sold as “another AI chatbot.” Every incumbent already claims AI agents, integrations and governance.</a:t>
            </a:r>
          </a:p>
        </p:txBody>
      </p:sp>
      <p:sp>
        <p:nvSpPr>
          <p:cNvPr id="12" name="Rectangle 11"/>
          <p:cNvSpPr/>
          <p:nvPr/>
        </p:nvSpPr>
        <p:spPr>
          <a:xfrm>
            <a:off x="6233160" y="2250000"/>
            <a:ext cx="531876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160" y="22500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ccess.png"/>
          <p:cNvPicPr>
            <a:picLocks noChangeAspect="1"/>
          </p:cNvPicPr>
          <p:nvPr/>
        </p:nvPicPr>
        <p:blipFill>
          <a:blip r:embed="rId3"/>
          <a:stretch>
            <a:fillRect/>
          </a:stretch>
        </p:blipFill>
        <p:spPr>
          <a:xfrm>
            <a:off x="10451920" y="2800000"/>
            <a:ext cx="880000" cy="880000"/>
          </a:xfrm>
          <a:prstGeom prst="rect">
            <a:avLst/>
          </a:prstGeom>
        </p:spPr>
      </p:pic>
      <p:sp>
        <p:nvSpPr>
          <p:cNvPr id="15" name="Rounded Rectangle 14"/>
          <p:cNvSpPr/>
          <p:nvPr/>
        </p:nvSpPr>
        <p:spPr>
          <a:xfrm>
            <a:off x="6421120" y="2478600"/>
            <a:ext cx="420000" cy="42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6" name="TextBox 15"/>
          <p:cNvSpPr txBox="1"/>
          <p:nvPr/>
        </p:nvSpPr>
        <p:spPr>
          <a:xfrm>
            <a:off x="6971120" y="2478600"/>
            <a:ext cx="4348760" cy="500000"/>
          </a:xfrm>
          <a:prstGeom prst="rect">
            <a:avLst/>
          </a:prstGeom>
          <a:noFill/>
        </p:spPr>
        <p:txBody>
          <a:bodyPr wrap="square" anchor="ctr" lIns="0" rIns="0" tIns="0" bIns="0">
            <a:spAutoFit/>
          </a:bodyPr>
          <a:lstStyle/>
          <a:p>
            <a:pPr algn="l"/>
            <a:r>
              <a:rPr sz="1400" b="1" i="0">
                <a:solidFill>
                  <a:srgbClr val="1A1A1A"/>
                </a:solidFill>
                <a:latin typeface="Arial"/>
              </a:rPr>
              <a:t>Access-and-trust veto</a:t>
            </a:r>
          </a:p>
        </p:txBody>
      </p:sp>
      <p:sp>
        <p:nvSpPr>
          <p:cNvPr id="17" name="TextBox 16"/>
          <p:cNvSpPr txBox="1"/>
          <p:nvPr/>
        </p:nvSpPr>
        <p:spPr>
          <a:xfrm>
            <a:off x="6421120" y="3030000"/>
            <a:ext cx="4118760" cy="750000"/>
          </a:xfrm>
          <a:prstGeom prst="rect">
            <a:avLst/>
          </a:prstGeom>
          <a:noFill/>
        </p:spPr>
        <p:txBody>
          <a:bodyPr wrap="square" anchor="t" lIns="0" rIns="0" tIns="0" bIns="0">
            <a:spAutoFit/>
          </a:bodyPr>
          <a:lstStyle/>
          <a:p>
            <a:pPr algn="l">
              <a:lnSpc>
                <a:spcPct val="120000"/>
              </a:lnSpc>
            </a:pPr>
            <a:r>
              <a:rPr sz="1000" b="0" i="0">
                <a:solidFill>
                  <a:srgbClr val="5B6470"/>
                </a:solidFill>
                <a:latin typeface="Arial"/>
              </a:rPr>
              <a:t>IT/security can kill a deal before the product is evaluated. P03: pilot capped to 2 queues, write-back disabled.</a:t>
            </a:r>
          </a:p>
        </p:txBody>
      </p:sp>
      <p:sp>
        <p:nvSpPr>
          <p:cNvPr id="18" name="Rectangle 17"/>
          <p:cNvSpPr/>
          <p:nvPr/>
        </p:nvSpPr>
        <p:spPr>
          <a:xfrm>
            <a:off x="640080" y="4128600"/>
            <a:ext cx="531876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1286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undled.png"/>
          <p:cNvPicPr>
            <a:picLocks noChangeAspect="1"/>
          </p:cNvPicPr>
          <p:nvPr/>
        </p:nvPicPr>
        <p:blipFill>
          <a:blip r:embed="rId4"/>
          <a:stretch>
            <a:fillRect/>
          </a:stretch>
        </p:blipFill>
        <p:spPr>
          <a:xfrm>
            <a:off x="4858840" y="4678600"/>
            <a:ext cx="880000" cy="880000"/>
          </a:xfrm>
          <a:prstGeom prst="rect">
            <a:avLst/>
          </a:prstGeom>
        </p:spPr>
      </p:pic>
      <p:sp>
        <p:nvSpPr>
          <p:cNvPr id="21" name="Rounded Rectangle 20"/>
          <p:cNvSpPr/>
          <p:nvPr/>
        </p:nvSpPr>
        <p:spPr>
          <a:xfrm>
            <a:off x="828040" y="4357200"/>
            <a:ext cx="420000" cy="42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22" name="TextBox 21"/>
          <p:cNvSpPr txBox="1"/>
          <p:nvPr/>
        </p:nvSpPr>
        <p:spPr>
          <a:xfrm>
            <a:off x="1378040" y="4357200"/>
            <a:ext cx="4348760" cy="500000"/>
          </a:xfrm>
          <a:prstGeom prst="rect">
            <a:avLst/>
          </a:prstGeom>
          <a:noFill/>
        </p:spPr>
        <p:txBody>
          <a:bodyPr wrap="square" anchor="ctr" lIns="0" rIns="0" tIns="0" bIns="0">
            <a:spAutoFit/>
          </a:bodyPr>
          <a:lstStyle/>
          <a:p>
            <a:pPr algn="l"/>
            <a:r>
              <a:rPr sz="1400" b="1" i="0">
                <a:solidFill>
                  <a:srgbClr val="1A1A1A"/>
                </a:solidFill>
                <a:latin typeface="Arial"/>
              </a:rPr>
              <a:t>Bundled-AI trap</a:t>
            </a:r>
          </a:p>
        </p:txBody>
      </p:sp>
      <p:sp>
        <p:nvSpPr>
          <p:cNvPr id="23" name="TextBox 22"/>
          <p:cNvSpPr txBox="1"/>
          <p:nvPr/>
        </p:nvSpPr>
        <p:spPr>
          <a:xfrm>
            <a:off x="828040" y="4908600"/>
            <a:ext cx="4118760" cy="750000"/>
          </a:xfrm>
          <a:prstGeom prst="rect">
            <a:avLst/>
          </a:prstGeom>
          <a:noFill/>
        </p:spPr>
        <p:txBody>
          <a:bodyPr wrap="square" anchor="t" lIns="0" rIns="0" tIns="0" bIns="0">
            <a:spAutoFit/>
          </a:bodyPr>
          <a:lstStyle/>
          <a:p>
            <a:pPr algn="l">
              <a:lnSpc>
                <a:spcPct val="120000"/>
              </a:lnSpc>
            </a:pPr>
            <a:r>
              <a:rPr sz="1000" b="0" i="0">
                <a:solidFill>
                  <a:srgbClr val="5B6470"/>
                </a:solidFill>
                <a:latin typeface="Arial"/>
              </a:rPr>
              <a:t>Buyers compare a new vendor to the AI they already pay for. Freshworks: 36% still stuck in pilots.</a:t>
            </a:r>
          </a:p>
        </p:txBody>
      </p:sp>
      <p:sp>
        <p:nvSpPr>
          <p:cNvPr id="24" name="Rectangle 23"/>
          <p:cNvSpPr/>
          <p:nvPr/>
        </p:nvSpPr>
        <p:spPr>
          <a:xfrm>
            <a:off x="6233160" y="4128600"/>
            <a:ext cx="531876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3160" y="41286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mismatch.png"/>
          <p:cNvPicPr>
            <a:picLocks noChangeAspect="1"/>
          </p:cNvPicPr>
          <p:nvPr/>
        </p:nvPicPr>
        <p:blipFill>
          <a:blip r:embed="rId5"/>
          <a:stretch>
            <a:fillRect/>
          </a:stretch>
        </p:blipFill>
        <p:spPr>
          <a:xfrm>
            <a:off x="10451920" y="4678600"/>
            <a:ext cx="880000" cy="880000"/>
          </a:xfrm>
          <a:prstGeom prst="rect">
            <a:avLst/>
          </a:prstGeom>
        </p:spPr>
      </p:pic>
      <p:sp>
        <p:nvSpPr>
          <p:cNvPr id="27" name="Rounded Rectangle 26"/>
          <p:cNvSpPr/>
          <p:nvPr/>
        </p:nvSpPr>
        <p:spPr>
          <a:xfrm>
            <a:off x="6421120" y="4357200"/>
            <a:ext cx="420000" cy="42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8" name="TextBox 27"/>
          <p:cNvSpPr txBox="1"/>
          <p:nvPr/>
        </p:nvSpPr>
        <p:spPr>
          <a:xfrm>
            <a:off x="6971120" y="4357200"/>
            <a:ext cx="4348760" cy="500000"/>
          </a:xfrm>
          <a:prstGeom prst="rect">
            <a:avLst/>
          </a:prstGeom>
          <a:noFill/>
        </p:spPr>
        <p:txBody>
          <a:bodyPr wrap="square" anchor="ctr" lIns="0" rIns="0" tIns="0" bIns="0">
            <a:spAutoFit/>
          </a:bodyPr>
          <a:lstStyle/>
          <a:p>
            <a:pPr algn="l"/>
            <a:r>
              <a:rPr sz="1400" b="1" i="0">
                <a:solidFill>
                  <a:srgbClr val="1A1A1A"/>
                </a:solidFill>
                <a:latin typeface="Arial"/>
              </a:rPr>
              <a:t>Workflow mismatch</a:t>
            </a:r>
          </a:p>
        </p:txBody>
      </p:sp>
      <p:sp>
        <p:nvSpPr>
          <p:cNvPr id="29" name="TextBox 28"/>
          <p:cNvSpPr txBox="1"/>
          <p:nvPr/>
        </p:nvSpPr>
        <p:spPr>
          <a:xfrm>
            <a:off x="6421120" y="4908600"/>
            <a:ext cx="4118760" cy="750000"/>
          </a:xfrm>
          <a:prstGeom prst="rect">
            <a:avLst/>
          </a:prstGeom>
          <a:noFill/>
        </p:spPr>
        <p:txBody>
          <a:bodyPr wrap="square" anchor="t" lIns="0" rIns="0" tIns="0" bIns="0">
            <a:spAutoFit/>
          </a:bodyPr>
          <a:lstStyle/>
          <a:p>
            <a:pPr algn="l">
              <a:lnSpc>
                <a:spcPct val="120000"/>
              </a:lnSpc>
            </a:pPr>
            <a:r>
              <a:rPr sz="1000" b="0" i="0">
                <a:solidFill>
                  <a:srgbClr val="5B6470"/>
                </a:solidFill>
                <a:latin typeface="Arial"/>
              </a:rPr>
              <a:t>Chat deflection was sold; the pain (P01, P02, P04) is back-office context work, not failed FAQs.</a:t>
            </a:r>
          </a:p>
        </p:txBody>
      </p:sp>
      <p:sp>
        <p:nvSpPr>
          <p:cNvPr id="30" name="TextBox 2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31" name="TextBox 3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4</a:t>
            </a:r>
          </a:p>
        </p:txBody>
      </p:sp>
      <p:cxnSp>
        <p:nvCxnSpPr>
          <p:cNvPr id="32" name="Connector 3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WHO THIS IS FOR</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Keep the size band. Narrow hard on who.</a:t>
            </a:r>
          </a:p>
        </p:txBody>
      </p:sp>
      <p:sp>
        <p:nvSpPr>
          <p:cNvPr id="5" name="Rectangle 4"/>
          <p:cNvSpPr/>
          <p:nvPr/>
        </p:nvSpPr>
        <p:spPr>
          <a:xfrm>
            <a:off x="640080" y="1780000"/>
            <a:ext cx="10911840" cy="9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0000"/>
            <a:ext cx="50800" cy="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8040" y="1780000"/>
            <a:ext cx="10211840" cy="900000"/>
          </a:xfrm>
          <a:prstGeom prst="rect">
            <a:avLst/>
          </a:prstGeom>
          <a:noFill/>
        </p:spPr>
        <p:txBody>
          <a:bodyPr wrap="square" anchor="ctr" lIns="0" rIns="0" tIns="0" bIns="0">
            <a:spAutoFit/>
          </a:bodyPr>
          <a:lstStyle/>
          <a:p>
            <a:pPr algn="l">
              <a:lnSpc>
                <a:spcPct val="125000"/>
              </a:lnSpc>
            </a:pPr>
            <a:r>
              <a:rPr sz="1100" b="1" i="0">
                <a:solidFill>
                  <a:srgbClr val="8A480B"/>
                </a:solidFill>
                <a:latin typeface="Arial"/>
              </a:rPr>
              <a:t>WORKING SEGMENT   </a:t>
            </a:r>
            <a:r>
              <a:rPr sz="1300" b="1" i="0">
                <a:solidFill>
                  <a:srgbClr val="1A1A1A"/>
                </a:solidFill>
                <a:latin typeface="Arial"/>
              </a:rPr>
              <a:t>B2B SaaS / tech-enabled services, ~51–1,000 employees, running a helpdesk AND a separate CRM or system of record.</a:t>
            </a:r>
          </a:p>
        </p:txBody>
      </p:sp>
      <p:sp>
        <p:nvSpPr>
          <p:cNvPr id="8" name="TextBox 7"/>
          <p:cNvSpPr txBox="1"/>
          <p:nvPr/>
        </p:nvSpPr>
        <p:spPr>
          <a:xfrm>
            <a:off x="640080" y="2960000"/>
            <a:ext cx="10911840" cy="300000"/>
          </a:xfrm>
          <a:prstGeom prst="rect">
            <a:avLst/>
          </a:prstGeom>
          <a:noFill/>
        </p:spPr>
        <p:txBody>
          <a:bodyPr wrap="square" anchor="t" lIns="0" rIns="0" tIns="0" bIns="0">
            <a:spAutoFit/>
          </a:bodyPr>
          <a:lstStyle/>
          <a:p>
            <a:pPr algn="l"/>
            <a:r>
              <a:rPr sz="1100" b="1" i="0" spc="100">
                <a:solidFill>
                  <a:srgbClr val="B56012"/>
                </a:solidFill>
                <a:latin typeface="Arial"/>
              </a:rPr>
              <a:t>ANTI-PERSONAS — NOT:</a:t>
            </a:r>
          </a:p>
        </p:txBody>
      </p:sp>
      <p:sp>
        <p:nvSpPr>
          <p:cNvPr id="9" name="Rectangle 8"/>
          <p:cNvSpPr/>
          <p:nvPr/>
        </p:nvSpPr>
        <p:spPr>
          <a:xfrm>
            <a:off x="640080" y="3380000"/>
            <a:ext cx="345440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3800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040" y="3560000"/>
            <a:ext cx="2984400" cy="700000"/>
          </a:xfrm>
          <a:prstGeom prst="rect">
            <a:avLst/>
          </a:prstGeom>
          <a:noFill/>
        </p:spPr>
        <p:txBody>
          <a:bodyPr wrap="square" anchor="t" lIns="0" rIns="0" tIns="0" bIns="0">
            <a:spAutoFit/>
          </a:bodyPr>
          <a:lstStyle/>
          <a:p>
            <a:pPr algn="l">
              <a:lnSpc>
                <a:spcPct val="115000"/>
              </a:lnSpc>
            </a:pPr>
            <a:r>
              <a:rPr sz="1150" b="1" i="0">
                <a:solidFill>
                  <a:srgbClr val="1A1A1A"/>
                </a:solidFill>
                <a:latin typeface="Arial"/>
              </a:rPr>
              <a:t>Regulated / financial services</a:t>
            </a:r>
          </a:p>
        </p:txBody>
      </p:sp>
      <p:sp>
        <p:nvSpPr>
          <p:cNvPr id="12" name="TextBox 11"/>
          <p:cNvSpPr txBox="1"/>
          <p:nvPr/>
        </p:nvSpPr>
        <p:spPr>
          <a:xfrm>
            <a:off x="828040" y="4230000"/>
            <a:ext cx="2984400" cy="75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P02 shows the compliance approval chain this triggers.</a:t>
            </a:r>
          </a:p>
        </p:txBody>
      </p:sp>
      <p:sp>
        <p:nvSpPr>
          <p:cNvPr id="13" name="Rectangle 12"/>
          <p:cNvSpPr/>
          <p:nvPr/>
        </p:nvSpPr>
        <p:spPr>
          <a:xfrm>
            <a:off x="4368800" y="3380000"/>
            <a:ext cx="345440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8800" y="33800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6760" y="3560000"/>
            <a:ext cx="2984400" cy="700000"/>
          </a:xfrm>
          <a:prstGeom prst="rect">
            <a:avLst/>
          </a:prstGeom>
          <a:noFill/>
        </p:spPr>
        <p:txBody>
          <a:bodyPr wrap="square" anchor="t" lIns="0" rIns="0" tIns="0" bIns="0">
            <a:spAutoFit/>
          </a:bodyPr>
          <a:lstStyle/>
          <a:p>
            <a:pPr algn="l">
              <a:lnSpc>
                <a:spcPct val="115000"/>
              </a:lnSpc>
            </a:pPr>
            <a:r>
              <a:rPr sz="1150" b="1" i="0">
                <a:solidFill>
                  <a:srgbClr val="1A1A1A"/>
                </a:solidFill>
                <a:latin typeface="Arial"/>
              </a:rPr>
              <a:t>Single-system shops</a:t>
            </a:r>
          </a:p>
        </p:txBody>
      </p:sp>
      <p:sp>
        <p:nvSpPr>
          <p:cNvPr id="16" name="TextBox 15"/>
          <p:cNvSpPr txBox="1"/>
          <p:nvPr/>
        </p:nvSpPr>
        <p:spPr>
          <a:xfrm>
            <a:off x="4556760" y="4230000"/>
            <a:ext cx="2984400" cy="75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No context to reassemble means no wedge.</a:t>
            </a:r>
          </a:p>
        </p:txBody>
      </p:sp>
      <p:sp>
        <p:nvSpPr>
          <p:cNvPr id="17" name="Rectangle 16"/>
          <p:cNvSpPr/>
          <p:nvPr/>
        </p:nvSpPr>
        <p:spPr>
          <a:xfrm>
            <a:off x="8097520" y="3380000"/>
            <a:ext cx="3454400" cy="16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7520" y="3380000"/>
            <a:ext cx="50800" cy="16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5480" y="3560000"/>
            <a:ext cx="2984400" cy="700000"/>
          </a:xfrm>
          <a:prstGeom prst="rect">
            <a:avLst/>
          </a:prstGeom>
          <a:noFill/>
        </p:spPr>
        <p:txBody>
          <a:bodyPr wrap="square" anchor="t" lIns="0" rIns="0" tIns="0" bIns="0">
            <a:spAutoFit/>
          </a:bodyPr>
          <a:lstStyle/>
          <a:p>
            <a:pPr algn="l">
              <a:lnSpc>
                <a:spcPct val="115000"/>
              </a:lnSpc>
            </a:pPr>
            <a:r>
              <a:rPr sz="1150" b="1" i="0">
                <a:solidFill>
                  <a:srgbClr val="1A1A1A"/>
                </a:solidFill>
                <a:latin typeface="Arial"/>
              </a:rPr>
              <a:t>Multi-client outsourced support (BPOs)</a:t>
            </a:r>
          </a:p>
        </p:txBody>
      </p:sp>
      <p:sp>
        <p:nvSpPr>
          <p:cNvPr id="20" name="TextBox 19"/>
          <p:cNvSpPr txBox="1"/>
          <p:nvPr/>
        </p:nvSpPr>
        <p:spPr>
          <a:xfrm>
            <a:off x="8285480" y="4230000"/>
            <a:ext cx="2984400" cy="750000"/>
          </a:xfrm>
          <a:prstGeom prst="rect">
            <a:avLst/>
          </a:prstGeom>
          <a:noFill/>
        </p:spPr>
        <p:txBody>
          <a:bodyPr wrap="square" anchor="t" lIns="0" rIns="0" tIns="0" bIns="0">
            <a:spAutoFit/>
          </a:bodyPr>
          <a:lstStyle/>
          <a:p>
            <a:pPr algn="l">
              <a:lnSpc>
                <a:spcPct val="120000"/>
              </a:lnSpc>
            </a:pPr>
            <a:r>
              <a:rPr sz="950" b="0" i="0">
                <a:solidFill>
                  <a:srgbClr val="5B6470"/>
                </a:solidFill>
                <a:latin typeface="Arial"/>
              </a:rPr>
              <a:t>P01's stack changes by client; no one owns access.</a:t>
            </a:r>
          </a:p>
        </p:txBody>
      </p:sp>
      <p:sp>
        <p:nvSpPr>
          <p:cNvPr id="21" name="TextBox 20"/>
          <p:cNvSpPr txBox="1"/>
          <p:nvPr/>
        </p:nvSpPr>
        <p:spPr>
          <a:xfrm>
            <a:off x="640080" y="5250000"/>
            <a:ext cx="10911840" cy="700000"/>
          </a:xfrm>
          <a:prstGeom prst="rect">
            <a:avLst/>
          </a:prstGeom>
          <a:noFill/>
        </p:spPr>
        <p:txBody>
          <a:bodyPr wrap="square" anchor="t" lIns="0" rIns="0" tIns="0" bIns="0">
            <a:spAutoFit/>
          </a:bodyPr>
          <a:lstStyle/>
          <a:p>
            <a:pPr algn="l">
              <a:lnSpc>
                <a:spcPct val="125000"/>
              </a:lnSpc>
            </a:pPr>
            <a:r>
              <a:rPr sz="1050" b="0" i="0">
                <a:solidFill>
                  <a:srgbClr val="5B6470"/>
                </a:solidFill>
                <a:latin typeface="Arial"/>
              </a:rPr>
              <a:t>Primary persona: frontline support/operations practitioner owning escalation work across several systems — searches, copies, waits, and reconstructs history; handoff context isn't durable.</a:t>
            </a:r>
          </a:p>
        </p:txBody>
      </p:sp>
      <p:sp>
        <p:nvSpPr>
          <p:cNvPr id="22" name="TextBox 21"/>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23" name="TextBox 22"/>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5</a:t>
            </a:r>
          </a:p>
        </p:txBody>
      </p:sp>
      <p:cxnSp>
        <p:nvCxnSpPr>
          <p:cNvPr id="24" name="Connector 23"/>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THE CORE PROBLEM</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One problem, aimed at the mismatch</a:t>
            </a:r>
          </a:p>
        </p:txBody>
      </p:sp>
      <p:sp>
        <p:nvSpPr>
          <p:cNvPr id="5" name="Rectangle 4"/>
          <p:cNvSpPr/>
          <p:nvPr/>
        </p:nvSpPr>
        <p:spPr>
          <a:xfrm>
            <a:off x="640080" y="1900000"/>
            <a:ext cx="10911840" cy="19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900000"/>
            <a:ext cx="50800" cy="1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8040" y="1900000"/>
            <a:ext cx="10211840" cy="1900000"/>
          </a:xfrm>
          <a:prstGeom prst="rect">
            <a:avLst/>
          </a:prstGeom>
          <a:noFill/>
        </p:spPr>
        <p:txBody>
          <a:bodyPr wrap="square" anchor="ctr" lIns="0" rIns="0" tIns="0" bIns="0">
            <a:spAutoFit/>
          </a:bodyPr>
          <a:lstStyle/>
          <a:p>
            <a:pPr algn="l">
              <a:lnSpc>
                <a:spcPct val="125000"/>
              </a:lnSpc>
            </a:pPr>
            <a:r>
              <a:rPr sz="1000" b="1" i="0">
                <a:solidFill>
                  <a:srgbClr val="8A480B"/>
                </a:solidFill>
                <a:latin typeface="Arial"/>
              </a:rPr>
              <a:t>JOB STORY
</a:t>
            </a:r>
          </a:p>
          <a:p>
            <a:pPr algn="l">
              <a:lnSpc>
                <a:spcPct val="125000"/>
              </a:lnSpc>
            </a:pPr>
            <a:r>
              <a:rPr sz="1500" b="1" i="0">
                <a:solidFill>
                  <a:srgbClr val="1A1A1A"/>
                </a:solidFill>
                <a:latin typeface="Arial"/>
              </a:rPr>
              <a:t>When a support agent picks up a case that needs information or action from a second system, they want a single place to see everything relevant — because today that costs 15–25 minutes of manual work per case and leaves duplicate history for the next person to reconstruct.</a:t>
            </a:r>
          </a:p>
        </p:txBody>
      </p:sp>
      <p:sp>
        <p:nvSpPr>
          <p:cNvPr id="8" name="TextBox 7"/>
          <p:cNvSpPr txBox="1"/>
          <p:nvPr/>
        </p:nvSpPr>
        <p:spPr>
          <a:xfrm>
            <a:off x="640080" y="4100000"/>
            <a:ext cx="10911840" cy="700000"/>
          </a:xfrm>
          <a:prstGeom prst="rect">
            <a:avLst/>
          </a:prstGeom>
          <a:noFill/>
        </p:spPr>
        <p:txBody>
          <a:bodyPr wrap="square" anchor="t" lIns="0" rIns="0" tIns="0" bIns="0">
            <a:spAutoFit/>
          </a:bodyPr>
          <a:lstStyle/>
          <a:p>
            <a:pPr algn="l">
              <a:lnSpc>
                <a:spcPct val="125000"/>
              </a:lnSpc>
            </a:pPr>
            <a:r>
              <a:rPr sz="1100" b="0" i="0">
                <a:solidFill>
                  <a:srgbClr val="5B6470"/>
                </a:solidFill>
                <a:latin typeface="Arial"/>
              </a:rPr>
              <a:t>Two of four interviews (P01, P04) describe it — below the interview guide's own 4-participant validation threshold. Leading hypothesis, not proven, aimed directly at the mismatch diagnosed above.</a:t>
            </a:r>
          </a:p>
        </p:txBody>
      </p:sp>
      <p:sp>
        <p:nvSpPr>
          <p:cNvPr id="9" name="TextBox 8"/>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0" name="TextBox 9"/>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6</a:t>
            </a:r>
          </a:p>
        </p:txBody>
      </p:sp>
      <p:cxnSp>
        <p:nvCxnSpPr>
          <p:cNvPr id="11" name="Connector 10"/>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WHERE WE COMPETE, AND WON'T</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500" b="1" i="0">
                <a:solidFill>
                  <a:srgbClr val="1A1A1A"/>
                </a:solidFill>
                <a:latin typeface="Arial"/>
              </a:rPr>
              <a:t>Every incumbent already claims AI. That's not the wedge.</a:t>
            </a:r>
          </a:p>
        </p:txBody>
      </p:sp>
      <p:sp>
        <p:nvSpPr>
          <p:cNvPr id="5" name="Rectangle 4"/>
          <p:cNvSpPr/>
          <p:nvPr/>
        </p:nvSpPr>
        <p:spPr>
          <a:xfrm>
            <a:off x="640080" y="1780000"/>
            <a:ext cx="10911840" cy="17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0000"/>
            <a:ext cx="50800" cy="175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8040" y="1940000"/>
            <a:ext cx="10211840" cy="320000"/>
          </a:xfrm>
          <a:prstGeom prst="rect">
            <a:avLst/>
          </a:prstGeom>
          <a:noFill/>
        </p:spPr>
        <p:txBody>
          <a:bodyPr wrap="square" anchor="t" lIns="0" rIns="0" tIns="0" bIns="0">
            <a:spAutoFit/>
          </a:bodyPr>
          <a:lstStyle/>
          <a:p>
            <a:pPr algn="l"/>
            <a:r>
              <a:rPr sz="1000" b="1" i="0" spc="50">
                <a:solidFill>
                  <a:srgbClr val="5B6470"/>
                </a:solidFill>
                <a:latin typeface="Arial"/>
              </a:rPr>
              <a:t>SEVEN CAPABILITIES EVERY INCUMBENT ALREADY CLAIMS</a:t>
            </a:r>
          </a:p>
        </p:txBody>
      </p:sp>
      <p:sp>
        <p:nvSpPr>
          <p:cNvPr id="8" name="TextBox 7"/>
          <p:cNvSpPr txBox="1"/>
          <p:nvPr/>
        </p:nvSpPr>
        <p:spPr>
          <a:xfrm>
            <a:off x="828040" y="2300000"/>
            <a:ext cx="10211840" cy="900000"/>
          </a:xfrm>
          <a:prstGeom prst="rect">
            <a:avLst/>
          </a:prstGeom>
          <a:noFill/>
        </p:spPr>
        <p:txBody>
          <a:bodyPr wrap="square" anchor="t" lIns="0" rIns="0" tIns="0" bIns="0">
            <a:spAutoFit/>
          </a:bodyPr>
          <a:lstStyle/>
          <a:p>
            <a:pPr algn="l">
              <a:lnSpc>
                <a:spcPct val="135000"/>
              </a:lnSpc>
            </a:pPr>
            <a:r>
              <a:rPr sz="1150" b="0" i="0">
                <a:solidFill>
                  <a:srgbClr val="1A1A1A"/>
                </a:solidFill>
                <a:latin typeface="Arial"/>
              </a:rPr>
              <a:t>AI agents · agent assist &amp; summarization · human handoff · integrations &amp; actions · analytics &amp; governance · usage/outcome pricing · compatibility with an existing stack</a:t>
            </a:r>
          </a:p>
        </p:txBody>
      </p:sp>
      <p:sp>
        <p:nvSpPr>
          <p:cNvPr id="9" name="TextBox 8"/>
          <p:cNvSpPr txBox="1"/>
          <p:nvPr/>
        </p:nvSpPr>
        <p:spPr>
          <a:xfrm>
            <a:off x="828040" y="3130000"/>
            <a:ext cx="10211840" cy="350000"/>
          </a:xfrm>
          <a:prstGeom prst="rect">
            <a:avLst/>
          </a:prstGeom>
          <a:noFill/>
        </p:spPr>
        <p:txBody>
          <a:bodyPr wrap="square" anchor="t" lIns="0" rIns="0" tIns="0" bIns="0">
            <a:spAutoFit/>
          </a:bodyPr>
          <a:lstStyle/>
          <a:p>
            <a:pPr algn="l"/>
            <a:r>
              <a:rPr sz="1050" b="0" i="1">
                <a:solidFill>
                  <a:srgbClr val="5B6470"/>
                </a:solidFill>
                <a:latin typeface="Arial"/>
              </a:rPr>
              <a:t>Generic AI and integration claims cannot carry the strategy on their own.</a:t>
            </a:r>
          </a:p>
        </p:txBody>
      </p:sp>
      <p:sp>
        <p:nvSpPr>
          <p:cNvPr id="10" name="Rectangle 9"/>
          <p:cNvSpPr/>
          <p:nvPr/>
        </p:nvSpPr>
        <p:spPr>
          <a:xfrm>
            <a:off x="640080" y="3730000"/>
            <a:ext cx="10911840" cy="16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730000"/>
            <a:ext cx="50800" cy="16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040" y="3730000"/>
            <a:ext cx="10211840" cy="1600000"/>
          </a:xfrm>
          <a:prstGeom prst="rect">
            <a:avLst/>
          </a:prstGeom>
          <a:noFill/>
        </p:spPr>
        <p:txBody>
          <a:bodyPr wrap="square" anchor="ctr" lIns="0" rIns="0" tIns="0" bIns="0">
            <a:spAutoFit/>
          </a:bodyPr>
          <a:lstStyle/>
          <a:p>
            <a:pPr algn="l">
              <a:lnSpc>
                <a:spcPct val="130000"/>
              </a:lnSpc>
            </a:pPr>
            <a:r>
              <a:rPr sz="1000" b="1" i="0">
                <a:solidFill>
                  <a:srgbClr val="8A480B"/>
                </a:solidFill>
                <a:latin typeface="Arial"/>
              </a:rPr>
              <a:t>THE WEDGE TO TEST
</a:t>
            </a:r>
          </a:p>
          <a:p>
            <a:pPr algn="l">
              <a:lnSpc>
                <a:spcPct val="130000"/>
              </a:lnSpc>
            </a:pPr>
            <a:r>
              <a:rPr sz="1300" b="1" i="0">
                <a:solidFill>
                  <a:srgbClr val="1A1A1A"/>
                </a:solidFill>
                <a:latin typeface="Arial"/>
              </a:rPr>
              <a:t>Workflow-specific completeness — assemble permissioned context, show the evidence used, route approval, preserve the full handoff, and write the result back — faster and cheaper than the incumbent's native AI.</a:t>
            </a:r>
          </a:p>
        </p:txBody>
      </p:sp>
      <p:sp>
        <p:nvSpPr>
          <p:cNvPr id="13" name="TextBox 12"/>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4" name="TextBox 13"/>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7</a:t>
            </a:r>
          </a:p>
        </p:txBody>
      </p:sp>
      <p:cxnSp>
        <p:nvCxnSpPr>
          <p:cNvPr id="15" name="Connector 14"/>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FOUR INTERVIEWS, ONE DIRECTION</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700" b="1" i="0">
                <a:solidFill>
                  <a:srgbClr val="1A1A1A"/>
                </a:solidFill>
                <a:latin typeface="Arial"/>
              </a:rPr>
              <a:t>Different companies. The same shape of pain.</a:t>
            </a:r>
          </a:p>
        </p:txBody>
      </p:sp>
      <p:sp>
        <p:nvSpPr>
          <p:cNvPr id="5" name="Rectangle 4"/>
          <p:cNvSpPr/>
          <p:nvPr/>
        </p:nvSpPr>
        <p:spPr>
          <a:xfrm>
            <a:off x="640080" y="1740000"/>
            <a:ext cx="5318760" cy="162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40000"/>
            <a:ext cx="50800" cy="162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8040" y="192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Arial"/>
              </a:rPr>
              <a:t>P01</a:t>
            </a:r>
          </a:p>
        </p:txBody>
      </p:sp>
      <p:sp>
        <p:nvSpPr>
          <p:cNvPr id="8" name="TextBox 7"/>
          <p:cNvSpPr txBox="1"/>
          <p:nvPr/>
        </p:nvSpPr>
        <p:spPr>
          <a:xfrm>
            <a:off x="1328040" y="1910000"/>
            <a:ext cx="4398760" cy="340000"/>
          </a:xfrm>
          <a:prstGeom prst="rect">
            <a:avLst/>
          </a:prstGeom>
          <a:noFill/>
        </p:spPr>
        <p:txBody>
          <a:bodyPr wrap="square" anchor="ctr" lIns="0" rIns="0" tIns="0" bIns="0">
            <a:spAutoFit/>
          </a:bodyPr>
          <a:lstStyle/>
          <a:p>
            <a:pPr algn="l">
              <a:lnSpc>
                <a:spcPct val="100000"/>
              </a:lnSpc>
            </a:pPr>
            <a:r>
              <a:rPr sz="1200" b="1" i="0">
                <a:solidFill>
                  <a:srgbClr val="1A1A1A"/>
                </a:solidFill>
                <a:latin typeface="Arial"/>
              </a:rPr>
              <a:t>Enterprise outsourced support</a:t>
            </a:r>
          </a:p>
        </p:txBody>
      </p:sp>
      <p:sp>
        <p:nvSpPr>
          <p:cNvPr id="9" name="TextBox 8"/>
          <p:cNvSpPr txBox="1"/>
          <p:nvPr/>
        </p:nvSpPr>
        <p:spPr>
          <a:xfrm>
            <a:off x="1328040" y="2240000"/>
            <a:ext cx="4398760" cy="220000"/>
          </a:xfrm>
          <a:prstGeom prst="rect">
            <a:avLst/>
          </a:prstGeom>
          <a:noFill/>
        </p:spPr>
        <p:txBody>
          <a:bodyPr wrap="square" anchor="ctr" lIns="0" rIns="0" tIns="0" bIns="0">
            <a:spAutoFit/>
          </a:bodyPr>
          <a:lstStyle/>
          <a:p>
            <a:pPr algn="l"/>
            <a:r>
              <a:rPr sz="780" b="1" i="0" spc="50">
                <a:solidFill>
                  <a:srgbClr val="B56012"/>
                </a:solidFill>
                <a:latin typeface="Arial"/>
              </a:rPr>
              <a:t>FRONTLINE PRACTITIONER</a:t>
            </a:r>
          </a:p>
        </p:txBody>
      </p:sp>
      <p:sp>
        <p:nvSpPr>
          <p:cNvPr id="10" name="TextBox 9"/>
          <p:cNvSpPr txBox="1"/>
          <p:nvPr/>
        </p:nvSpPr>
        <p:spPr>
          <a:xfrm>
            <a:off x="828040" y="2520000"/>
            <a:ext cx="4848760" cy="48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Handles 5–6 difficult cases a day; each one costs 20–25 minutes of copying context between the helpdesk and internal systems before the actual fix even starts.</a:t>
            </a:r>
          </a:p>
        </p:txBody>
      </p:sp>
      <p:sp>
        <p:nvSpPr>
          <p:cNvPr id="11" name="Rectangle 10"/>
          <p:cNvSpPr/>
          <p:nvPr/>
        </p:nvSpPr>
        <p:spPr>
          <a:xfrm>
            <a:off x="828040" y="3040000"/>
            <a:ext cx="4848760" cy="4000"/>
          </a:xfrm>
          <a:prstGeom prst="rect">
            <a:avLst/>
          </a:prstGeom>
          <a:solidFill>
            <a:srgbClr val="E4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040" y="3080000"/>
            <a:ext cx="4848760" cy="260000"/>
          </a:xfrm>
          <a:prstGeom prst="rect">
            <a:avLst/>
          </a:prstGeom>
          <a:noFill/>
        </p:spPr>
        <p:txBody>
          <a:bodyPr wrap="square" anchor="t" lIns="0" rIns="0" tIns="0" bIns="0">
            <a:spAutoFit/>
          </a:bodyPr>
          <a:lstStyle/>
          <a:p>
            <a:pPr algn="l"/>
            <a:r>
              <a:rPr sz="860" b="1" i="0" spc="30">
                <a:solidFill>
                  <a:srgbClr val="8A480B"/>
                </a:solidFill>
                <a:latin typeface="Arial"/>
              </a:rPr>
              <a:t>SHOWS   QUANTIFIED CONTEXT AND HANDOFF COST</a:t>
            </a:r>
          </a:p>
        </p:txBody>
      </p:sp>
      <p:sp>
        <p:nvSpPr>
          <p:cNvPr id="13" name="Rectangle 12"/>
          <p:cNvSpPr/>
          <p:nvPr/>
        </p:nvSpPr>
        <p:spPr>
          <a:xfrm>
            <a:off x="6233160" y="1740000"/>
            <a:ext cx="5318760" cy="162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3160" y="1740000"/>
            <a:ext cx="50800" cy="162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21120" y="192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Arial"/>
              </a:rPr>
              <a:t>P02</a:t>
            </a:r>
          </a:p>
        </p:txBody>
      </p:sp>
      <p:sp>
        <p:nvSpPr>
          <p:cNvPr id="16" name="TextBox 15"/>
          <p:cNvSpPr txBox="1"/>
          <p:nvPr/>
        </p:nvSpPr>
        <p:spPr>
          <a:xfrm>
            <a:off x="6921120" y="1910000"/>
            <a:ext cx="4398760" cy="340000"/>
          </a:xfrm>
          <a:prstGeom prst="rect">
            <a:avLst/>
          </a:prstGeom>
          <a:noFill/>
        </p:spPr>
        <p:txBody>
          <a:bodyPr wrap="square" anchor="ctr" lIns="0" rIns="0" tIns="0" bIns="0">
            <a:spAutoFit/>
          </a:bodyPr>
          <a:lstStyle/>
          <a:p>
            <a:pPr algn="l">
              <a:lnSpc>
                <a:spcPct val="100000"/>
              </a:lnSpc>
            </a:pPr>
            <a:r>
              <a:rPr sz="1200" b="1" i="0">
                <a:solidFill>
                  <a:srgbClr val="1A1A1A"/>
                </a:solidFill>
                <a:latin typeface="Arial"/>
              </a:rPr>
              <a:t>Enterprise banking complaints</a:t>
            </a:r>
          </a:p>
        </p:txBody>
      </p:sp>
      <p:sp>
        <p:nvSpPr>
          <p:cNvPr id="17" name="TextBox 16"/>
          <p:cNvSpPr txBox="1"/>
          <p:nvPr/>
        </p:nvSpPr>
        <p:spPr>
          <a:xfrm>
            <a:off x="6921120" y="2240000"/>
            <a:ext cx="4398760" cy="220000"/>
          </a:xfrm>
          <a:prstGeom prst="rect">
            <a:avLst/>
          </a:prstGeom>
          <a:noFill/>
        </p:spPr>
        <p:txBody>
          <a:bodyPr wrap="square" anchor="ctr" lIns="0" rIns="0" tIns="0" bIns="0">
            <a:spAutoFit/>
          </a:bodyPr>
          <a:lstStyle/>
          <a:p>
            <a:pPr algn="l"/>
            <a:r>
              <a:rPr sz="780" b="1" i="0" spc="50">
                <a:solidFill>
                  <a:srgbClr val="B56012"/>
                </a:solidFill>
                <a:latin typeface="Arial"/>
              </a:rPr>
              <a:t>FRONTLINE PRACTITIONER</a:t>
            </a:r>
          </a:p>
        </p:txBody>
      </p:sp>
      <p:sp>
        <p:nvSpPr>
          <p:cNvPr id="18" name="TextBox 17"/>
          <p:cNvSpPr txBox="1"/>
          <p:nvPr/>
        </p:nvSpPr>
        <p:spPr>
          <a:xfrm>
            <a:off x="6421120" y="2520000"/>
            <a:ext cx="4848760" cy="48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Every complaint means 15 minutes of duplicate logging, then a 4–6 hour wait for formal approval — audit evidence ends up split across systems.</a:t>
            </a:r>
          </a:p>
        </p:txBody>
      </p:sp>
      <p:sp>
        <p:nvSpPr>
          <p:cNvPr id="19" name="Rectangle 18"/>
          <p:cNvSpPr/>
          <p:nvPr/>
        </p:nvSpPr>
        <p:spPr>
          <a:xfrm>
            <a:off x="6421120" y="3040000"/>
            <a:ext cx="4848760" cy="4000"/>
          </a:xfrm>
          <a:prstGeom prst="rect">
            <a:avLst/>
          </a:prstGeom>
          <a:solidFill>
            <a:srgbClr val="E4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1120" y="3080000"/>
            <a:ext cx="4848760" cy="260000"/>
          </a:xfrm>
          <a:prstGeom prst="rect">
            <a:avLst/>
          </a:prstGeom>
          <a:noFill/>
        </p:spPr>
        <p:txBody>
          <a:bodyPr wrap="square" anchor="t" lIns="0" rIns="0" tIns="0" bIns="0">
            <a:spAutoFit/>
          </a:bodyPr>
          <a:lstStyle/>
          <a:p>
            <a:pPr algn="l"/>
            <a:r>
              <a:rPr sz="860" b="1" i="0" spc="30">
                <a:solidFill>
                  <a:srgbClr val="8A480B"/>
                </a:solidFill>
                <a:latin typeface="Arial"/>
              </a:rPr>
              <a:t>SHOWS   AUDIT AND APPROVAL FRICTION</a:t>
            </a:r>
          </a:p>
        </p:txBody>
      </p:sp>
      <p:sp>
        <p:nvSpPr>
          <p:cNvPr id="21" name="Rectangle 20"/>
          <p:cNvSpPr/>
          <p:nvPr/>
        </p:nvSpPr>
        <p:spPr>
          <a:xfrm>
            <a:off x="640080" y="3560000"/>
            <a:ext cx="5318760" cy="162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560000"/>
            <a:ext cx="50800" cy="162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8040" y="374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Arial"/>
              </a:rPr>
              <a:t>P03</a:t>
            </a:r>
          </a:p>
        </p:txBody>
      </p:sp>
      <p:sp>
        <p:nvSpPr>
          <p:cNvPr id="24" name="TextBox 23"/>
          <p:cNvSpPr txBox="1"/>
          <p:nvPr/>
        </p:nvSpPr>
        <p:spPr>
          <a:xfrm>
            <a:off x="1328040" y="3730000"/>
            <a:ext cx="4398760" cy="340000"/>
          </a:xfrm>
          <a:prstGeom prst="rect">
            <a:avLst/>
          </a:prstGeom>
          <a:noFill/>
        </p:spPr>
        <p:txBody>
          <a:bodyPr wrap="square" anchor="ctr" lIns="0" rIns="0" tIns="0" bIns="0">
            <a:spAutoFit/>
          </a:bodyPr>
          <a:lstStyle/>
          <a:p>
            <a:pPr algn="l">
              <a:lnSpc>
                <a:spcPct val="100000"/>
              </a:lnSpc>
            </a:pPr>
            <a:r>
              <a:rPr sz="1200" b="1" i="0">
                <a:solidFill>
                  <a:srgbClr val="1A1A1A"/>
                </a:solidFill>
                <a:latin typeface="Arial"/>
              </a:rPr>
              <a:t>Mid-market application approval</a:t>
            </a:r>
          </a:p>
        </p:txBody>
      </p:sp>
      <p:sp>
        <p:nvSpPr>
          <p:cNvPr id="25" name="TextBox 24"/>
          <p:cNvSpPr txBox="1"/>
          <p:nvPr/>
        </p:nvSpPr>
        <p:spPr>
          <a:xfrm>
            <a:off x="1328040" y="4060000"/>
            <a:ext cx="4398760" cy="220000"/>
          </a:xfrm>
          <a:prstGeom prst="rect">
            <a:avLst/>
          </a:prstGeom>
          <a:noFill/>
        </p:spPr>
        <p:txBody>
          <a:bodyPr wrap="square" anchor="ctr" lIns="0" rIns="0" tIns="0" bIns="0">
            <a:spAutoFit/>
          </a:bodyPr>
          <a:lstStyle/>
          <a:p>
            <a:pPr algn="l"/>
            <a:r>
              <a:rPr sz="780" b="1" i="0" spc="50">
                <a:solidFill>
                  <a:srgbClr val="B56012"/>
                </a:solidFill>
                <a:latin typeface="Arial"/>
              </a:rPr>
              <a:t>APPLICATION-APPROVAL STAKEHOLDER (~400 EMPLOYEES)</a:t>
            </a:r>
          </a:p>
        </p:txBody>
      </p:sp>
      <p:sp>
        <p:nvSpPr>
          <p:cNvPr id="26" name="TextBox 25"/>
          <p:cNvSpPr txBox="1"/>
          <p:nvPr/>
        </p:nvSpPr>
        <p:spPr>
          <a:xfrm>
            <a:off x="828040" y="4340000"/>
            <a:ext cx="4848760" cy="48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Approved a one-month pilot only after it was capped to two queues with write-back disabled — access had to be earned, not assumed.</a:t>
            </a:r>
          </a:p>
        </p:txBody>
      </p:sp>
      <p:sp>
        <p:nvSpPr>
          <p:cNvPr id="27" name="Rectangle 26"/>
          <p:cNvSpPr/>
          <p:nvPr/>
        </p:nvSpPr>
        <p:spPr>
          <a:xfrm>
            <a:off x="828040" y="4860000"/>
            <a:ext cx="4848760" cy="4000"/>
          </a:xfrm>
          <a:prstGeom prst="rect">
            <a:avLst/>
          </a:prstGeom>
          <a:solidFill>
            <a:srgbClr val="E4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8040" y="4900000"/>
            <a:ext cx="4848760" cy="260000"/>
          </a:xfrm>
          <a:prstGeom prst="rect">
            <a:avLst/>
          </a:prstGeom>
          <a:noFill/>
        </p:spPr>
        <p:txBody>
          <a:bodyPr wrap="square" anchor="t" lIns="0" rIns="0" tIns="0" bIns="0">
            <a:spAutoFit/>
          </a:bodyPr>
          <a:lstStyle/>
          <a:p>
            <a:pPr algn="l"/>
            <a:r>
              <a:rPr sz="860" b="1" i="0" spc="30">
                <a:solidFill>
                  <a:srgbClr val="8A480B"/>
                </a:solidFill>
                <a:latin typeface="Arial"/>
              </a:rPr>
              <a:t>SHOWS   TRUST HAS TO BE EARNED IN STAGES</a:t>
            </a:r>
          </a:p>
        </p:txBody>
      </p:sp>
      <p:sp>
        <p:nvSpPr>
          <p:cNvPr id="29" name="Rectangle 28"/>
          <p:cNvSpPr/>
          <p:nvPr/>
        </p:nvSpPr>
        <p:spPr>
          <a:xfrm>
            <a:off x="6233160" y="3560000"/>
            <a:ext cx="5318760" cy="162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3160" y="3560000"/>
            <a:ext cx="50800" cy="162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21120" y="374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FFFFFF"/>
                </a:solidFill>
                <a:latin typeface="Arial"/>
              </a:rPr>
              <a:t>P04</a:t>
            </a:r>
          </a:p>
        </p:txBody>
      </p:sp>
      <p:sp>
        <p:nvSpPr>
          <p:cNvPr id="32" name="TextBox 31"/>
          <p:cNvSpPr txBox="1"/>
          <p:nvPr/>
        </p:nvSpPr>
        <p:spPr>
          <a:xfrm>
            <a:off x="6921120" y="3730000"/>
            <a:ext cx="4398760" cy="340000"/>
          </a:xfrm>
          <a:prstGeom prst="rect">
            <a:avLst/>
          </a:prstGeom>
          <a:noFill/>
        </p:spPr>
        <p:txBody>
          <a:bodyPr wrap="square" anchor="ctr" lIns="0" rIns="0" tIns="0" bIns="0">
            <a:spAutoFit/>
          </a:bodyPr>
          <a:lstStyle/>
          <a:p>
            <a:pPr algn="l">
              <a:lnSpc>
                <a:spcPct val="100000"/>
              </a:lnSpc>
            </a:pPr>
            <a:r>
              <a:rPr sz="1200" b="1" i="0">
                <a:solidFill>
                  <a:srgbClr val="1A1A1A"/>
                </a:solidFill>
                <a:latin typeface="Arial"/>
              </a:rPr>
              <a:t>Mid-market B2B SaaS/services</a:t>
            </a:r>
          </a:p>
        </p:txBody>
      </p:sp>
      <p:sp>
        <p:nvSpPr>
          <p:cNvPr id="33" name="TextBox 32"/>
          <p:cNvSpPr txBox="1"/>
          <p:nvPr/>
        </p:nvSpPr>
        <p:spPr>
          <a:xfrm>
            <a:off x="6921120" y="4060000"/>
            <a:ext cx="4398760" cy="220000"/>
          </a:xfrm>
          <a:prstGeom prst="rect">
            <a:avLst/>
          </a:prstGeom>
          <a:noFill/>
        </p:spPr>
        <p:txBody>
          <a:bodyPr wrap="square" anchor="ctr" lIns="0" rIns="0" tIns="0" bIns="0">
            <a:spAutoFit/>
          </a:bodyPr>
          <a:lstStyle/>
          <a:p>
            <a:pPr algn="l"/>
            <a:r>
              <a:rPr sz="780" b="1" i="0" spc="50">
                <a:solidFill>
                  <a:srgbClr val="B56012"/>
                </a:solidFill>
                <a:latin typeface="Arial"/>
              </a:rPr>
              <a:t>FRONTLINE PRACTITIONER</a:t>
            </a:r>
          </a:p>
        </p:txBody>
      </p:sp>
      <p:sp>
        <p:nvSpPr>
          <p:cNvPr id="34" name="TextBox 33"/>
          <p:cNvSpPr txBox="1"/>
          <p:nvPr/>
        </p:nvSpPr>
        <p:spPr>
          <a:xfrm>
            <a:off x="6421120" y="4340000"/>
            <a:ext cx="4848760" cy="48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Manually reassembles Zendesk history inside Jira for every engineering escalation, and explicitly warned against adding a duplicate system.</a:t>
            </a:r>
          </a:p>
        </p:txBody>
      </p:sp>
      <p:sp>
        <p:nvSpPr>
          <p:cNvPr id="35" name="Rectangle 34"/>
          <p:cNvSpPr/>
          <p:nvPr/>
        </p:nvSpPr>
        <p:spPr>
          <a:xfrm>
            <a:off x="6421120" y="4860000"/>
            <a:ext cx="4848760" cy="4000"/>
          </a:xfrm>
          <a:prstGeom prst="rect">
            <a:avLst/>
          </a:prstGeom>
          <a:solidFill>
            <a:srgbClr val="E4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1120" y="4900000"/>
            <a:ext cx="4848760" cy="260000"/>
          </a:xfrm>
          <a:prstGeom prst="rect">
            <a:avLst/>
          </a:prstGeom>
          <a:noFill/>
        </p:spPr>
        <p:txBody>
          <a:bodyPr wrap="square" anchor="t" lIns="0" rIns="0" tIns="0" bIns="0">
            <a:spAutoFit/>
          </a:bodyPr>
          <a:lstStyle/>
          <a:p>
            <a:pPr algn="l"/>
            <a:r>
              <a:rPr sz="860" b="1" i="0" spc="30">
                <a:solidFill>
                  <a:srgbClr val="8A480B"/>
                </a:solidFill>
                <a:latin typeface="Arial"/>
              </a:rPr>
              <a:t>SHOWS   THE PATTERN REPEATS, UNPROMPTED</a:t>
            </a:r>
          </a:p>
        </p:txBody>
      </p:sp>
      <p:sp>
        <p:nvSpPr>
          <p:cNvPr id="37" name="Rectangle 36"/>
          <p:cNvSpPr/>
          <p:nvPr/>
        </p:nvSpPr>
        <p:spPr>
          <a:xfrm>
            <a:off x="640080" y="5330000"/>
            <a:ext cx="10911840" cy="98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5330000"/>
            <a:ext cx="50800" cy="98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8040" y="5330000"/>
            <a:ext cx="10211840" cy="980000"/>
          </a:xfrm>
          <a:prstGeom prst="rect">
            <a:avLst/>
          </a:prstGeom>
          <a:noFill/>
        </p:spPr>
        <p:txBody>
          <a:bodyPr wrap="square" anchor="ctr" lIns="0" rIns="0" tIns="0" bIns="0">
            <a:spAutoFit/>
          </a:bodyPr>
          <a:lstStyle/>
          <a:p>
            <a:pPr algn="l">
              <a:lnSpc>
                <a:spcPct val="125000"/>
              </a:lnSpc>
            </a:pPr>
            <a:r>
              <a:rPr sz="1000" b="1" i="0">
                <a:solidFill>
                  <a:srgbClr val="8A480B"/>
                </a:solidFill>
                <a:latin typeface="Arial"/>
              </a:rPr>
              <a:t>THE COMMON THREAD   </a:t>
            </a:r>
            <a:r>
              <a:rPr sz="1050" b="1" i="0">
                <a:solidFill>
                  <a:srgbClr val="1A1A1A"/>
                </a:solidFill>
                <a:latin typeface="Arial"/>
              </a:rPr>
              <a:t>every one of these is the same root problem wearing a different costume: information stuck in a system the agent isn't in, and no fast, safe way to get it.</a:t>
            </a:r>
          </a:p>
          <a:p>
            <a:pPr algn="l">
              <a:lnSpc>
                <a:spcPct val="125000"/>
              </a:lnSpc>
            </a:pPr>
            <a:r>
              <a:rPr sz="900" b="0" i="1">
                <a:solidFill>
                  <a:srgbClr val="5B6470"/>
                </a:solidFill>
                <a:latin typeface="Arial"/>
              </a:rPr>
              <a:t>4 of the requested 8–12 interviews — directional evidence for the workflow pattern, not a validated sample.</a:t>
            </a:r>
          </a:p>
        </p:txBody>
      </p:sp>
      <p:sp>
        <p:nvSpPr>
          <p:cNvPr id="40" name="TextBox 3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41" name="TextBox 4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8</a:t>
            </a:r>
          </a:p>
        </p:txBody>
      </p:sp>
      <p:cxnSp>
        <p:nvCxnSpPr>
          <p:cNvPr id="42" name="Connector 4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WHAT WE'D BUILD FIRST</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700" b="1" i="0">
                <a:solidFill>
                  <a:srgbClr val="1A1A1A"/>
                </a:solidFill>
                <a:latin typeface="Arial"/>
              </a:rPr>
              <a:t>One workflow, six steps, human in the loop</a:t>
            </a:r>
          </a:p>
        </p:txBody>
      </p:sp>
      <p:sp>
        <p:nvSpPr>
          <p:cNvPr id="5" name="TextBox 4"/>
          <p:cNvSpPr txBox="1"/>
          <p:nvPr/>
        </p:nvSpPr>
        <p:spPr>
          <a:xfrm>
            <a:off x="640080" y="1560000"/>
            <a:ext cx="10911840" cy="300000"/>
          </a:xfrm>
          <a:prstGeom prst="rect">
            <a:avLst/>
          </a:prstGeom>
          <a:noFill/>
        </p:spPr>
        <p:txBody>
          <a:bodyPr wrap="square" anchor="t" lIns="0" rIns="0" tIns="0" bIns="0">
            <a:spAutoFit/>
          </a:bodyPr>
          <a:lstStyle/>
          <a:p>
            <a:pPr algn="l"/>
            <a:r>
              <a:rPr sz="1000" b="0" i="1">
                <a:solidFill>
                  <a:srgbClr val="5B6470"/>
                </a:solidFill>
                <a:latin typeface="Arial"/>
              </a:rPr>
              <a:t>Where the AI actually does the work — not just automation with extra steps.</a:t>
            </a:r>
          </a:p>
        </p:txBody>
      </p:sp>
      <p:graphicFrame>
        <p:nvGraphicFramePr>
          <p:cNvPr id="6" name="Table 5"/>
          <p:cNvGraphicFramePr>
            <a:graphicFrameLocks noGrp="1"/>
          </p:cNvGraphicFramePr>
          <p:nvPr/>
        </p:nvGraphicFramePr>
        <p:xfrm>
          <a:off x="640080" y="1900000"/>
          <a:ext cx="10911840" cy="3180000"/>
        </p:xfrm>
        <a:graphic>
          <a:graphicData uri="http://schemas.openxmlformats.org/drawingml/2006/table">
            <a:tbl>
              <a:tblPr firstRow="0" bandRow="0">
                <a:tableStyleId>{5C22544A-7EE6-4342-B048-85BDC9FD1C3A}</a:tableStyleId>
              </a:tblPr>
              <a:tblGrid>
                <a:gridCol w="1700000"/>
                <a:gridCol w="5300000"/>
                <a:gridCol w="1300000"/>
                <a:gridCol w="2611840"/>
              </a:tblGrid>
              <a:tr h="420000">
                <a:tc>
                  <a:txBody>
                    <a:bodyPr wrap="square"/>
                    <a:lstStyle/>
                    <a:p>
                      <a:pPr algn="l"/>
                      <a:r>
                        <a:rPr sz="850" b="1">
                          <a:solidFill>
                            <a:srgbClr val="FFFFFF"/>
                          </a:solidFill>
                          <a:latin typeface="Arial"/>
                        </a:rPr>
                        <a:t>STEP</a:t>
                      </a:r>
                    </a:p>
                  </a:txBody>
                  <a:tcPr marL="91440" marR="91440" marT="45720" marB="45720" anchor="ctr">
                    <a:solidFill>
                      <a:srgbClr val="8A480B"/>
                    </a:solidFill>
                  </a:tcPr>
                </a:tc>
                <a:tc>
                  <a:txBody>
                    <a:bodyPr wrap="square"/>
                    <a:lstStyle/>
                    <a:p>
                      <a:pPr algn="l"/>
                      <a:r>
                        <a:rPr sz="850" b="1">
                          <a:solidFill>
                            <a:srgbClr val="FFFFFF"/>
                          </a:solidFill>
                          <a:latin typeface="Arial"/>
                        </a:rPr>
                        <a:t>PRODUCT RESPONSIBILITY</a:t>
                      </a:r>
                    </a:p>
                  </a:txBody>
                  <a:tcPr marL="91440" marR="91440" marT="45720" marB="45720" anchor="ctr">
                    <a:solidFill>
                      <a:srgbClr val="8A480B"/>
                    </a:solidFill>
                  </a:tcPr>
                </a:tc>
                <a:tc>
                  <a:txBody>
                    <a:bodyPr wrap="square"/>
                    <a:lstStyle/>
                    <a:p>
                      <a:pPr algn="l"/>
                      <a:r>
                        <a:rPr sz="850" b="1">
                          <a:solidFill>
                            <a:srgbClr val="FFFFFF"/>
                          </a:solidFill>
                          <a:latin typeface="Arial"/>
                        </a:rPr>
                        <a:t>SHIPS AT</a:t>
                      </a:r>
                    </a:p>
                  </a:txBody>
                  <a:tcPr marL="91440" marR="91440" marT="45720" marB="45720" anchor="ctr">
                    <a:solidFill>
                      <a:srgbClr val="8A480B"/>
                    </a:solidFill>
                  </a:tcPr>
                </a:tc>
                <a:tc>
                  <a:txBody>
                    <a:bodyPr wrap="square"/>
                    <a:lstStyle/>
                    <a:p>
                      <a:pPr algn="l"/>
                      <a:r>
                        <a:rPr sz="850" b="1">
                          <a:solidFill>
                            <a:srgbClr val="FFFFFF"/>
                          </a:solidFill>
                          <a:latin typeface="Arial"/>
                        </a:rPr>
                        <a:t>WHAT'S AI</a:t>
                      </a:r>
                    </a:p>
                  </a:txBody>
                  <a:tcPr marL="91440" marR="91440" marT="45720" marB="45720" anchor="ctr">
                    <a:solidFill>
                      <a:srgbClr val="8A480B"/>
                    </a:solidFill>
                  </a:tcPr>
                </a:tc>
              </a:tr>
              <a:tr h="460000">
                <a:tc>
                  <a:txBody>
                    <a:bodyPr wrap="square"/>
                    <a:lstStyle/>
                    <a:p>
                      <a:pPr algn="l"/>
                      <a:r>
                        <a:rPr sz="869" b="1">
                          <a:solidFill>
                            <a:srgbClr val="1A1A1A"/>
                          </a:solidFill>
                          <a:latin typeface="Arial"/>
                        </a:rPr>
                        <a:t>1. Detect</a:t>
                      </a:r>
                    </a:p>
                  </a:txBody>
                  <a:tcPr marL="91440" marR="91440" marT="45720" marB="45720" anchor="ctr">
                    <a:solidFill>
                      <a:srgbClr val="FFFFFF"/>
                    </a:solidFill>
                  </a:tcPr>
                </a:tc>
                <a:tc>
                  <a:txBody>
                    <a:bodyPr wrap="square"/>
                    <a:lstStyle/>
                    <a:p>
                      <a:pPr algn="l"/>
                      <a:r>
                        <a:rPr sz="869" b="0">
                          <a:solidFill>
                            <a:srgbClr val="5B6470"/>
                          </a:solidFill>
                          <a:latin typeface="Arial"/>
                        </a:rPr>
                        <a:t>Identify a difficult or escalated case in the existing helpdesk</a:t>
                      </a:r>
                    </a:p>
                  </a:txBody>
                  <a:tcPr marL="91440" marR="91440" marT="45720" marB="45720" anchor="ctr">
                    <a:solidFill>
                      <a:srgbClr val="FFFFFF"/>
                    </a:solidFill>
                  </a:tcPr>
                </a:tc>
                <a:tc>
                  <a:txBody>
                    <a:bodyPr wrap="square"/>
                    <a:lstStyle/>
                    <a:p>
                      <a:pPr algn="l"/>
                      <a:r>
                        <a:rPr sz="869" b="0">
                          <a:solidFill>
                            <a:srgbClr val="5B6470"/>
                          </a:solidFill>
                          <a:latin typeface="Arial"/>
                        </a:rPr>
                        <a:t>Land</a:t>
                      </a:r>
                    </a:p>
                  </a:txBody>
                  <a:tcPr marL="91440" marR="91440" marT="45720" marB="45720" anchor="ctr">
                    <a:solidFill>
                      <a:srgbClr val="FFFFFF"/>
                    </a:solidFill>
                  </a:tcPr>
                </a:tc>
                <a:tc>
                  <a:txBody>
                    <a:bodyPr wrap="square"/>
                    <a:lstStyle/>
                    <a:p>
                      <a:pPr algn="l"/>
                      <a:r>
                        <a:rPr sz="869" b="0">
                          <a:solidFill>
                            <a:srgbClr val="5B6470"/>
                          </a:solidFill>
                          <a:latin typeface="Arial"/>
                        </a:rPr>
                        <a:t>Classifies case difficulty</a:t>
                      </a:r>
                    </a:p>
                  </a:txBody>
                  <a:tcPr marL="91440" marR="91440" marT="45720" marB="45720" anchor="ctr">
                    <a:solidFill>
                      <a:srgbClr val="FFFFFF"/>
                    </a:solidFill>
                  </a:tcPr>
                </a:tc>
              </a:tr>
              <a:tr h="460000">
                <a:tc>
                  <a:txBody>
                    <a:bodyPr wrap="square"/>
                    <a:lstStyle/>
                    <a:p>
                      <a:pPr algn="l"/>
                      <a:r>
                        <a:rPr sz="869" b="1">
                          <a:solidFill>
                            <a:srgbClr val="1A1A1A"/>
                          </a:solidFill>
                          <a:latin typeface="Arial"/>
                        </a:rPr>
                        <a:t>2. Resolve identity</a:t>
                      </a:r>
                    </a:p>
                  </a:txBody>
                  <a:tcPr marL="91440" marR="91440" marT="45720" marB="45720" anchor="ctr">
                    <a:solidFill>
                      <a:srgbClr val="FBEBD9"/>
                    </a:solidFill>
                  </a:tcPr>
                </a:tc>
                <a:tc>
                  <a:txBody>
                    <a:bodyPr wrap="square"/>
                    <a:lstStyle/>
                    <a:p>
                      <a:pPr algn="l"/>
                      <a:r>
                        <a:rPr sz="869" b="0">
                          <a:solidFill>
                            <a:srgbClr val="5B6470"/>
                          </a:solidFill>
                          <a:latin typeface="Arial"/>
                        </a:rPr>
                        <a:t>Link customer/account across helpdesk and one system of record</a:t>
                      </a:r>
                    </a:p>
                  </a:txBody>
                  <a:tcPr marL="91440" marR="91440" marT="45720" marB="45720" anchor="ctr">
                    <a:solidFill>
                      <a:srgbClr val="FBEBD9"/>
                    </a:solidFill>
                  </a:tcPr>
                </a:tc>
                <a:tc>
                  <a:txBody>
                    <a:bodyPr wrap="square"/>
                    <a:lstStyle/>
                    <a:p>
                      <a:pPr algn="l"/>
                      <a:r>
                        <a:rPr sz="869" b="0">
                          <a:solidFill>
                            <a:srgbClr val="5B6470"/>
                          </a:solidFill>
                          <a:latin typeface="Arial"/>
                        </a:rPr>
                        <a:t>Land</a:t>
                      </a:r>
                    </a:p>
                  </a:txBody>
                  <a:tcPr marL="91440" marR="91440" marT="45720" marB="45720" anchor="ctr">
                    <a:solidFill>
                      <a:srgbClr val="FBEBD9"/>
                    </a:solidFill>
                  </a:tcPr>
                </a:tc>
                <a:tc>
                  <a:txBody>
                    <a:bodyPr wrap="square"/>
                    <a:lstStyle/>
                    <a:p>
                      <a:pPr algn="l"/>
                      <a:r>
                        <a:rPr sz="869" b="0">
                          <a:solidFill>
                            <a:srgbClr val="5B6470"/>
                          </a:solidFill>
                          <a:latin typeface="Arial"/>
                        </a:rPr>
                        <a:t>Deterministic — not AI</a:t>
                      </a:r>
                    </a:p>
                  </a:txBody>
                  <a:tcPr marL="91440" marR="91440" marT="45720" marB="45720" anchor="ctr">
                    <a:solidFill>
                      <a:srgbClr val="FBEBD9"/>
                    </a:solidFill>
                  </a:tcPr>
                </a:tc>
              </a:tr>
              <a:tr h="460000">
                <a:tc>
                  <a:txBody>
                    <a:bodyPr wrap="square"/>
                    <a:lstStyle/>
                    <a:p>
                      <a:pPr algn="l"/>
                      <a:r>
                        <a:rPr sz="869" b="1">
                          <a:solidFill>
                            <a:srgbClr val="1A1A1A"/>
                          </a:solidFill>
                          <a:latin typeface="Arial"/>
                        </a:rPr>
                        <a:t>3. Assemble context</a:t>
                      </a:r>
                    </a:p>
                  </a:txBody>
                  <a:tcPr marL="91440" marR="91440" marT="45720" marB="45720" anchor="ctr">
                    <a:solidFill>
                      <a:srgbClr val="FFFFFF"/>
                    </a:solidFill>
                  </a:tcPr>
                </a:tc>
                <a:tc>
                  <a:txBody>
                    <a:bodyPr wrap="square"/>
                    <a:lstStyle/>
                    <a:p>
                      <a:pPr algn="l"/>
                      <a:r>
                        <a:rPr sz="869" b="0">
                          <a:solidFill>
                            <a:srgbClr val="5B6470"/>
                          </a:solidFill>
                          <a:latin typeface="Arial"/>
                        </a:rPr>
                        <a:t>Retrieve recent ticket, account and approval state, read-only, sources shown</a:t>
                      </a:r>
                    </a:p>
                  </a:txBody>
                  <a:tcPr marL="91440" marR="91440" marT="45720" marB="45720" anchor="ctr">
                    <a:solidFill>
                      <a:srgbClr val="FFFFFF"/>
                    </a:solidFill>
                  </a:tcPr>
                </a:tc>
                <a:tc>
                  <a:txBody>
                    <a:bodyPr wrap="square"/>
                    <a:lstStyle/>
                    <a:p>
                      <a:pPr algn="l"/>
                      <a:r>
                        <a:rPr sz="869" b="0">
                          <a:solidFill>
                            <a:srgbClr val="5B6470"/>
                          </a:solidFill>
                          <a:latin typeface="Arial"/>
                        </a:rPr>
                        <a:t>Land</a:t>
                      </a:r>
                    </a:p>
                  </a:txBody>
                  <a:tcPr marL="91440" marR="91440" marT="45720" marB="45720" anchor="ctr">
                    <a:solidFill>
                      <a:srgbClr val="FFFFFF"/>
                    </a:solidFill>
                  </a:tcPr>
                </a:tc>
                <a:tc>
                  <a:txBody>
                    <a:bodyPr wrap="square"/>
                    <a:lstStyle/>
                    <a:p>
                      <a:pPr algn="l"/>
                      <a:r>
                        <a:rPr sz="869" b="0">
                          <a:solidFill>
                            <a:srgbClr val="5B6470"/>
                          </a:solidFill>
                          <a:latin typeface="Arial"/>
                        </a:rPr>
                        <a:t>Retrieves + synthesizes across systems (RAG)</a:t>
                      </a:r>
                    </a:p>
                  </a:txBody>
                  <a:tcPr marL="91440" marR="91440" marT="45720" marB="45720" anchor="ctr">
                    <a:solidFill>
                      <a:srgbClr val="FFFFFF"/>
                    </a:solidFill>
                  </a:tcPr>
                </a:tc>
              </a:tr>
              <a:tr h="460000">
                <a:tc>
                  <a:txBody>
                    <a:bodyPr wrap="square"/>
                    <a:lstStyle/>
                    <a:p>
                      <a:pPr algn="l"/>
                      <a:r>
                        <a:rPr sz="869" b="1">
                          <a:solidFill>
                            <a:srgbClr val="1A1A1A"/>
                          </a:solidFill>
                          <a:latin typeface="Arial"/>
                        </a:rPr>
                        <a:t>4. Recommend</a:t>
                      </a:r>
                    </a:p>
                  </a:txBody>
                  <a:tcPr marL="91440" marR="91440" marT="45720" marB="45720" anchor="ctr">
                    <a:solidFill>
                      <a:srgbClr val="FBEBD9"/>
                    </a:solidFill>
                  </a:tcPr>
                </a:tc>
                <a:tc>
                  <a:txBody>
                    <a:bodyPr wrap="square"/>
                    <a:lstStyle/>
                    <a:p>
                      <a:pPr algn="l"/>
                      <a:r>
                        <a:rPr sz="869" b="0">
                          <a:solidFill>
                            <a:srgbClr val="5B6470"/>
                          </a:solidFill>
                          <a:latin typeface="Arial"/>
                        </a:rPr>
                        <a:t>Summarize history, gap and next action; draft a customer update</a:t>
                      </a:r>
                    </a:p>
                  </a:txBody>
                  <a:tcPr marL="91440" marR="91440" marT="45720" marB="45720" anchor="ctr">
                    <a:solidFill>
                      <a:srgbClr val="FBEBD9"/>
                    </a:solidFill>
                  </a:tcPr>
                </a:tc>
                <a:tc>
                  <a:txBody>
                    <a:bodyPr wrap="square"/>
                    <a:lstStyle/>
                    <a:p>
                      <a:pPr algn="l"/>
                      <a:r>
                        <a:rPr sz="869" b="0">
                          <a:solidFill>
                            <a:srgbClr val="5B6470"/>
                          </a:solidFill>
                          <a:latin typeface="Arial"/>
                        </a:rPr>
                        <a:t>Expand</a:t>
                      </a:r>
                    </a:p>
                  </a:txBody>
                  <a:tcPr marL="91440" marR="91440" marT="45720" marB="45720" anchor="ctr">
                    <a:solidFill>
                      <a:srgbClr val="FBEBD9"/>
                    </a:solidFill>
                  </a:tcPr>
                </a:tc>
                <a:tc>
                  <a:txBody>
                    <a:bodyPr wrap="square"/>
                    <a:lstStyle/>
                    <a:p>
                      <a:pPr algn="l"/>
                      <a:r>
                        <a:rPr sz="869" b="0">
                          <a:solidFill>
                            <a:srgbClr val="5B6470"/>
                          </a:solidFill>
                          <a:latin typeface="Arial"/>
                        </a:rPr>
                        <a:t>Drafts the update in plain language</a:t>
                      </a:r>
                    </a:p>
                  </a:txBody>
                  <a:tcPr marL="91440" marR="91440" marT="45720" marB="45720" anchor="ctr">
                    <a:solidFill>
                      <a:srgbClr val="FBEBD9"/>
                    </a:solidFill>
                  </a:tcPr>
                </a:tc>
              </a:tr>
              <a:tr h="460000">
                <a:tc>
                  <a:txBody>
                    <a:bodyPr wrap="square"/>
                    <a:lstStyle/>
                    <a:p>
                      <a:pPr algn="l"/>
                      <a:r>
                        <a:rPr sz="869" b="1">
                          <a:solidFill>
                            <a:srgbClr val="1A1A1A"/>
                          </a:solidFill>
                          <a:latin typeface="Arial"/>
                        </a:rPr>
                        <a:t>5. Approve / hand off</a:t>
                      </a:r>
                    </a:p>
                  </a:txBody>
                  <a:tcPr marL="91440" marR="91440" marT="45720" marB="45720" anchor="ctr">
                    <a:solidFill>
                      <a:srgbClr val="FFFFFF"/>
                    </a:solidFill>
                  </a:tcPr>
                </a:tc>
                <a:tc>
                  <a:txBody>
                    <a:bodyPr wrap="square"/>
                    <a:lstStyle/>
                    <a:p>
                      <a:pPr algn="l"/>
                      <a:r>
                        <a:rPr sz="869" b="0">
                          <a:solidFill>
                            <a:srgbClr val="5B6470"/>
                          </a:solidFill>
                          <a:latin typeface="Arial"/>
                        </a:rPr>
                        <a:t>Route high-risk steps to the right person with complete context</a:t>
                      </a:r>
                    </a:p>
                  </a:txBody>
                  <a:tcPr marL="91440" marR="91440" marT="45720" marB="45720" anchor="ctr">
                    <a:solidFill>
                      <a:srgbClr val="FFFFFF"/>
                    </a:solidFill>
                  </a:tcPr>
                </a:tc>
                <a:tc>
                  <a:txBody>
                    <a:bodyPr wrap="square"/>
                    <a:lstStyle/>
                    <a:p>
                      <a:pPr algn="l"/>
                      <a:r>
                        <a:rPr sz="869" b="0">
                          <a:solidFill>
                            <a:srgbClr val="5B6470"/>
                          </a:solidFill>
                          <a:latin typeface="Arial"/>
                        </a:rPr>
                        <a:t>Expand</a:t>
                      </a:r>
                    </a:p>
                  </a:txBody>
                  <a:tcPr marL="91440" marR="91440" marT="45720" marB="45720" anchor="ctr">
                    <a:solidFill>
                      <a:srgbClr val="FFFFFF"/>
                    </a:solidFill>
                  </a:tcPr>
                </a:tc>
                <a:tc>
                  <a:txBody>
                    <a:bodyPr wrap="square"/>
                    <a:lstStyle/>
                    <a:p>
                      <a:pPr algn="l"/>
                      <a:r>
                        <a:rPr sz="869" b="0">
                          <a:solidFill>
                            <a:srgbClr val="5B6470"/>
                          </a:solidFill>
                          <a:latin typeface="Arial"/>
                        </a:rPr>
                        <a:t>Judges its own risk/confidence</a:t>
                      </a:r>
                    </a:p>
                  </a:txBody>
                  <a:tcPr marL="91440" marR="91440" marT="45720" marB="45720" anchor="ctr">
                    <a:solidFill>
                      <a:srgbClr val="FFFFFF"/>
                    </a:solidFill>
                  </a:tcPr>
                </a:tc>
              </a:tr>
              <a:tr h="460000">
                <a:tc>
                  <a:txBody>
                    <a:bodyPr wrap="square"/>
                    <a:lstStyle/>
                    <a:p>
                      <a:pPr algn="l"/>
                      <a:r>
                        <a:rPr sz="869" b="1">
                          <a:solidFill>
                            <a:srgbClr val="1A1A1A"/>
                          </a:solidFill>
                          <a:latin typeface="Arial"/>
                        </a:rPr>
                        <a:t>6. Write back</a:t>
                      </a:r>
                    </a:p>
                  </a:txBody>
                  <a:tcPr marL="91440" marR="91440" marT="45720" marB="45720" anchor="ctr">
                    <a:solidFill>
                      <a:srgbClr val="FBEBD9"/>
                    </a:solidFill>
                  </a:tcPr>
                </a:tc>
                <a:tc>
                  <a:txBody>
                    <a:bodyPr wrap="square"/>
                    <a:lstStyle/>
                    <a:p>
                      <a:pPr algn="l"/>
                      <a:r>
                        <a:rPr sz="869" b="0">
                          <a:solidFill>
                            <a:srgbClr val="5B6470"/>
                          </a:solidFill>
                          <a:latin typeface="Arial"/>
                        </a:rPr>
                        <a:t>Record outcome, source and next step in the system of record</a:t>
                      </a:r>
                    </a:p>
                  </a:txBody>
                  <a:tcPr marL="91440" marR="91440" marT="45720" marB="45720" anchor="ctr">
                    <a:solidFill>
                      <a:srgbClr val="FBEBD9"/>
                    </a:solidFill>
                  </a:tcPr>
                </a:tc>
                <a:tc>
                  <a:txBody>
                    <a:bodyPr wrap="square"/>
                    <a:lstStyle/>
                    <a:p>
                      <a:pPr algn="l"/>
                      <a:r>
                        <a:rPr sz="869" b="0">
                          <a:solidFill>
                            <a:srgbClr val="5B6470"/>
                          </a:solidFill>
                          <a:latin typeface="Arial"/>
                        </a:rPr>
                        <a:t>Expand</a:t>
                      </a:r>
                    </a:p>
                  </a:txBody>
                  <a:tcPr marL="91440" marR="91440" marT="45720" marB="45720" anchor="ctr">
                    <a:solidFill>
                      <a:srgbClr val="FBEBD9"/>
                    </a:solidFill>
                  </a:tcPr>
                </a:tc>
                <a:tc>
                  <a:txBody>
                    <a:bodyPr wrap="square"/>
                    <a:lstStyle/>
                    <a:p>
                      <a:pPr algn="l"/>
                      <a:r>
                        <a:rPr sz="869" b="0">
                          <a:solidFill>
                            <a:srgbClr val="5B6470"/>
                          </a:solidFill>
                          <a:latin typeface="Arial"/>
                        </a:rPr>
                        <a:t>Executes once approved — mechanical</a:t>
                      </a:r>
                    </a:p>
                  </a:txBody>
                  <a:tcPr marL="91440" marR="91440" marT="45720" marB="45720" anchor="ctr">
                    <a:solidFill>
                      <a:srgbClr val="FBEBD9"/>
                    </a:solidFill>
                  </a:tcPr>
                </a:tc>
              </a:tr>
            </a:tbl>
          </a:graphicData>
        </a:graphic>
      </p:graphicFrame>
      <p:sp>
        <p:nvSpPr>
          <p:cNvPr id="7" name="Rectangle 6"/>
          <p:cNvSpPr/>
          <p:nvPr/>
        </p:nvSpPr>
        <p:spPr>
          <a:xfrm>
            <a:off x="640080" y="5220000"/>
            <a:ext cx="10911840" cy="8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5220000"/>
            <a:ext cx="50800" cy="8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040" y="5220000"/>
            <a:ext cx="10211840" cy="800000"/>
          </a:xfrm>
          <a:prstGeom prst="rect">
            <a:avLst/>
          </a:prstGeom>
          <a:noFill/>
        </p:spPr>
        <p:txBody>
          <a:bodyPr wrap="square" anchor="ctr" lIns="0" rIns="0" tIns="0" bIns="0">
            <a:spAutoFit/>
          </a:bodyPr>
          <a:lstStyle/>
          <a:p>
            <a:pPr algn="l">
              <a:lnSpc>
                <a:spcPct val="120000"/>
              </a:lnSpc>
            </a:pPr>
            <a:r>
              <a:rPr sz="950" b="0" i="0">
                <a:solidFill>
                  <a:srgbClr val="1A1A1A"/>
                </a:solidFill>
                <a:latin typeface="Arial"/>
              </a:rPr>
              <a:t>MVP BOUNDARY   one helpdesk, one system of record, one workflow, agent-assist/shadow mode, citations, approval, audit. Not in scope: helpdesk replacement, open-ended autonomous actions, general chatbot.</a:t>
            </a:r>
          </a:p>
        </p:txBody>
      </p:sp>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9</a:t>
            </a:r>
          </a:p>
        </p:txBody>
      </p:sp>
      <p:cxnSp>
        <p:nvCxnSpPr>
          <p:cNvPr id="12" name="Connector 1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MOAT: WHAT COMPOUNDS</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700" b="1" i="0">
                <a:solidFill>
                  <a:srgbClr val="1A1A1A"/>
                </a:solidFill>
                <a:latin typeface="Arial"/>
              </a:rPr>
              <a:t>Not the model. What repeats after it.</a:t>
            </a:r>
          </a:p>
        </p:txBody>
      </p:sp>
      <p:sp>
        <p:nvSpPr>
          <p:cNvPr id="5" name="Rectangle 4"/>
          <p:cNvSpPr/>
          <p:nvPr/>
        </p:nvSpPr>
        <p:spPr>
          <a:xfrm>
            <a:off x="640080" y="1650000"/>
            <a:ext cx="10911840" cy="76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50000"/>
            <a:ext cx="50800" cy="76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val_data.png"/>
          <p:cNvPicPr>
            <a:picLocks noChangeAspect="1"/>
          </p:cNvPicPr>
          <p:nvPr/>
        </p:nvPicPr>
        <p:blipFill>
          <a:blip r:embed="rId2"/>
          <a:stretch>
            <a:fillRect/>
          </a:stretch>
        </p:blipFill>
        <p:spPr>
          <a:xfrm>
            <a:off x="10601920" y="1730000"/>
            <a:ext cx="600000" cy="600000"/>
          </a:xfrm>
          <a:prstGeom prst="rect">
            <a:avLst/>
          </a:prstGeom>
        </p:spPr>
      </p:pic>
      <p:sp>
        <p:nvSpPr>
          <p:cNvPr id="8" name="Rounded Rectangle 7"/>
          <p:cNvSpPr/>
          <p:nvPr/>
        </p:nvSpPr>
        <p:spPr>
          <a:xfrm>
            <a:off x="828040" y="184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9" name="TextBox 8"/>
          <p:cNvSpPr txBox="1"/>
          <p:nvPr/>
        </p:nvSpPr>
        <p:spPr>
          <a:xfrm>
            <a:off x="1348040" y="1740000"/>
            <a:ext cx="9191840" cy="620000"/>
          </a:xfrm>
          <a:prstGeom prst="rect">
            <a:avLst/>
          </a:prstGeom>
          <a:noFill/>
        </p:spPr>
        <p:txBody>
          <a:bodyPr wrap="square" anchor="t" lIns="0" rIns="0" tIns="0" bIns="0">
            <a:spAutoFit/>
          </a:bodyPr>
          <a:lstStyle/>
          <a:p>
            <a:pPr algn="l">
              <a:lnSpc>
                <a:spcPct val="120000"/>
              </a:lnSpc>
            </a:pPr>
            <a:r>
              <a:rPr sz="1150" b="1" i="0">
                <a:solidFill>
                  <a:srgbClr val="1A1A1A"/>
                </a:solidFill>
                <a:latin typeface="Arial"/>
              </a:rPr>
              <a:t>Workflow evaluation data   </a:t>
            </a:r>
            <a:r>
              <a:rPr sz="900" b="0" i="0">
                <a:solidFill>
                  <a:srgbClr val="5B6470"/>
                </a:solidFill>
                <a:latin typeface="Arial"/>
              </a:rPr>
              <a:t>Every case this workflow handles — like P02's regulated-banking approval — becomes a labeled example of a correct answer, a safe refusal, or an escalation.</a:t>
            </a:r>
          </a:p>
          <a:p>
            <a:pPr algn="l">
              <a:lnSpc>
                <a:spcPct val="120000"/>
              </a:lnSpc>
            </a:pPr>
            <a:r>
              <a:rPr sz="830" b="1" i="0">
                <a:solidFill>
                  <a:srgbClr val="8A480B"/>
                </a:solidFill>
                <a:latin typeface="Arial"/>
              </a:rPr>
              <a:t>DEFEATS   </a:t>
            </a:r>
            <a:r>
              <a:rPr sz="830" b="1" i="0">
                <a:solidFill>
                  <a:srgbClr val="8A480B"/>
                </a:solidFill>
                <a:latin typeface="Arial"/>
              </a:rPr>
              <a:t>Competitors starting quality from zero, with no examples of their own.</a:t>
            </a:r>
          </a:p>
        </p:txBody>
      </p:sp>
      <p:sp>
        <p:nvSpPr>
          <p:cNvPr id="10" name="Rectangle 9"/>
          <p:cNvSpPr/>
          <p:nvPr/>
        </p:nvSpPr>
        <p:spPr>
          <a:xfrm>
            <a:off x="640080" y="2500000"/>
            <a:ext cx="10911840" cy="76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500000"/>
            <a:ext cx="50800" cy="76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ction_contracts.png"/>
          <p:cNvPicPr>
            <a:picLocks noChangeAspect="1"/>
          </p:cNvPicPr>
          <p:nvPr/>
        </p:nvPicPr>
        <p:blipFill>
          <a:blip r:embed="rId3"/>
          <a:stretch>
            <a:fillRect/>
          </a:stretch>
        </p:blipFill>
        <p:spPr>
          <a:xfrm>
            <a:off x="10601920" y="2580000"/>
            <a:ext cx="600000" cy="600000"/>
          </a:xfrm>
          <a:prstGeom prst="rect">
            <a:avLst/>
          </a:prstGeom>
        </p:spPr>
      </p:pic>
      <p:sp>
        <p:nvSpPr>
          <p:cNvPr id="13" name="Rounded Rectangle 12"/>
          <p:cNvSpPr/>
          <p:nvPr/>
        </p:nvSpPr>
        <p:spPr>
          <a:xfrm>
            <a:off x="828040" y="269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4" name="TextBox 13"/>
          <p:cNvSpPr txBox="1"/>
          <p:nvPr/>
        </p:nvSpPr>
        <p:spPr>
          <a:xfrm>
            <a:off x="1348040" y="2590000"/>
            <a:ext cx="9191840" cy="620000"/>
          </a:xfrm>
          <a:prstGeom prst="rect">
            <a:avLst/>
          </a:prstGeom>
          <a:noFill/>
        </p:spPr>
        <p:txBody>
          <a:bodyPr wrap="square" anchor="t" lIns="0" rIns="0" tIns="0" bIns="0">
            <a:spAutoFit/>
          </a:bodyPr>
          <a:lstStyle/>
          <a:p>
            <a:pPr algn="l">
              <a:lnSpc>
                <a:spcPct val="120000"/>
              </a:lnSpc>
            </a:pPr>
            <a:r>
              <a:rPr sz="1150" b="1" i="0">
                <a:solidFill>
                  <a:srgbClr val="1A1A1A"/>
                </a:solidFill>
                <a:latin typeface="Arial"/>
              </a:rPr>
              <a:t>Reliable action contracts   </a:t>
            </a:r>
            <a:r>
              <a:rPr sz="900" b="0" i="0">
                <a:solidFill>
                  <a:srgbClr val="5B6470"/>
                </a:solidFill>
                <a:latin typeface="Arial"/>
              </a:rPr>
              <a:t>Each system connection (helpdesk ↔ CRM, helpdesk ↔ ticketing) is versioned, scoped, audited, and reversible, so a failed write-back rolls back safely.</a:t>
            </a:r>
          </a:p>
          <a:p>
            <a:pPr algn="l">
              <a:lnSpc>
                <a:spcPct val="120000"/>
              </a:lnSpc>
            </a:pPr>
            <a:r>
              <a:rPr sz="830" b="1" i="0">
                <a:solidFill>
                  <a:srgbClr val="8A480B"/>
                </a:solidFill>
                <a:latin typeface="Arial"/>
              </a:rPr>
              <a:t>DEFEATS   </a:t>
            </a:r>
            <a:r>
              <a:rPr sz="830" b="1" i="0">
                <a:solidFill>
                  <a:srgbClr val="8A480B"/>
                </a:solidFill>
                <a:latin typeface="Arial"/>
              </a:rPr>
              <a:t>An easy-to-copy idea undermined by hard-to-copy operational hardening.</a:t>
            </a:r>
          </a:p>
        </p:txBody>
      </p:sp>
      <p:sp>
        <p:nvSpPr>
          <p:cNvPr id="15" name="Rectangle 14"/>
          <p:cNvSpPr/>
          <p:nvPr/>
        </p:nvSpPr>
        <p:spPr>
          <a:xfrm>
            <a:off x="640080" y="3350000"/>
            <a:ext cx="10911840" cy="76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350000"/>
            <a:ext cx="50800" cy="76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earning_loop.png"/>
          <p:cNvPicPr>
            <a:picLocks noChangeAspect="1"/>
          </p:cNvPicPr>
          <p:nvPr/>
        </p:nvPicPr>
        <p:blipFill>
          <a:blip r:embed="rId4"/>
          <a:stretch>
            <a:fillRect/>
          </a:stretch>
        </p:blipFill>
        <p:spPr>
          <a:xfrm>
            <a:off x="10601920" y="3430000"/>
            <a:ext cx="600000" cy="600000"/>
          </a:xfrm>
          <a:prstGeom prst="rect">
            <a:avLst/>
          </a:prstGeom>
        </p:spPr>
      </p:pic>
      <p:sp>
        <p:nvSpPr>
          <p:cNvPr id="18" name="Rounded Rectangle 17"/>
          <p:cNvSpPr/>
          <p:nvPr/>
        </p:nvSpPr>
        <p:spPr>
          <a:xfrm>
            <a:off x="828040" y="354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9" name="TextBox 18"/>
          <p:cNvSpPr txBox="1"/>
          <p:nvPr/>
        </p:nvSpPr>
        <p:spPr>
          <a:xfrm>
            <a:off x="1348040" y="3440000"/>
            <a:ext cx="9191840" cy="620000"/>
          </a:xfrm>
          <a:prstGeom prst="rect">
            <a:avLst/>
          </a:prstGeom>
          <a:noFill/>
        </p:spPr>
        <p:txBody>
          <a:bodyPr wrap="square" anchor="t" lIns="0" rIns="0" tIns="0" bIns="0">
            <a:spAutoFit/>
          </a:bodyPr>
          <a:lstStyle/>
          <a:p>
            <a:pPr algn="l">
              <a:lnSpc>
                <a:spcPct val="120000"/>
              </a:lnSpc>
            </a:pPr>
            <a:r>
              <a:rPr sz="1150" b="1" i="0">
                <a:solidFill>
                  <a:srgbClr val="1A1A1A"/>
                </a:solidFill>
                <a:latin typeface="Arial"/>
              </a:rPr>
              <a:t>Operational learning loop   </a:t>
            </a:r>
            <a:r>
              <a:rPr sz="900" b="0" i="0">
                <a:solidFill>
                  <a:srgbClr val="5B6470"/>
                </a:solidFill>
                <a:latin typeface="Arial"/>
              </a:rPr>
              <a:t>When a context-gathering mistake like P01's happens once, it becomes a regression test — the same error can't quietly resurface in the next release.</a:t>
            </a:r>
          </a:p>
          <a:p>
            <a:pPr algn="l">
              <a:lnSpc>
                <a:spcPct val="120000"/>
              </a:lnSpc>
            </a:pPr>
            <a:r>
              <a:rPr sz="830" b="1" i="0">
                <a:solidFill>
                  <a:srgbClr val="8A480B"/>
                </a:solidFill>
                <a:latin typeface="Arial"/>
              </a:rPr>
              <a:t>DEFEATS   </a:t>
            </a:r>
            <a:r>
              <a:rPr sz="830" b="1" i="0">
                <a:solidFill>
                  <a:srgbClr val="8A480B"/>
                </a:solidFill>
                <a:latin typeface="Arial"/>
              </a:rPr>
              <a:t>Quality resetting with every new release.</a:t>
            </a:r>
          </a:p>
        </p:txBody>
      </p:sp>
      <p:sp>
        <p:nvSpPr>
          <p:cNvPr id="20" name="Rectangle 19"/>
          <p:cNvSpPr/>
          <p:nvPr/>
        </p:nvSpPr>
        <p:spPr>
          <a:xfrm>
            <a:off x="640080" y="4200000"/>
            <a:ext cx="10911840" cy="76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200000"/>
            <a:ext cx="50800" cy="76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able.png"/>
          <p:cNvPicPr>
            <a:picLocks noChangeAspect="1"/>
          </p:cNvPicPr>
          <p:nvPr/>
        </p:nvPicPr>
        <p:blipFill>
          <a:blip r:embed="rId5"/>
          <a:stretch>
            <a:fillRect/>
          </a:stretch>
        </p:blipFill>
        <p:spPr>
          <a:xfrm>
            <a:off x="10601920" y="4280000"/>
            <a:ext cx="600000" cy="600000"/>
          </a:xfrm>
          <a:prstGeom prst="rect">
            <a:avLst/>
          </a:prstGeom>
        </p:spPr>
      </p:pic>
      <p:sp>
        <p:nvSpPr>
          <p:cNvPr id="23" name="Rounded Rectangle 22"/>
          <p:cNvSpPr/>
          <p:nvPr/>
        </p:nvSpPr>
        <p:spPr>
          <a:xfrm>
            <a:off x="828040" y="439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24" name="TextBox 23"/>
          <p:cNvSpPr txBox="1"/>
          <p:nvPr/>
        </p:nvSpPr>
        <p:spPr>
          <a:xfrm>
            <a:off x="1348040" y="4290000"/>
            <a:ext cx="9191840" cy="620000"/>
          </a:xfrm>
          <a:prstGeom prst="rect">
            <a:avLst/>
          </a:prstGeom>
          <a:noFill/>
        </p:spPr>
        <p:txBody>
          <a:bodyPr wrap="square" anchor="t" lIns="0" rIns="0" tIns="0" bIns="0">
            <a:spAutoFit/>
          </a:bodyPr>
          <a:lstStyle/>
          <a:p>
            <a:pPr algn="l">
              <a:lnSpc>
                <a:spcPct val="120000"/>
              </a:lnSpc>
            </a:pPr>
            <a:r>
              <a:rPr sz="1150" b="1" i="0">
                <a:solidFill>
                  <a:srgbClr val="1A1A1A"/>
                </a:solidFill>
                <a:latin typeface="Arial"/>
              </a:rPr>
              <a:t>Repeatable deployment   </a:t>
            </a:r>
            <a:r>
              <a:rPr sz="900" b="0" i="0">
                <a:solidFill>
                  <a:srgbClr val="5B6470"/>
                </a:solidFill>
                <a:latin typeface="Arial"/>
              </a:rPr>
              <a:t>The second customer running the same helpdesk-plus-CRM combination deploys from a template, not from scratch.</a:t>
            </a:r>
          </a:p>
          <a:p>
            <a:pPr algn="l">
              <a:lnSpc>
                <a:spcPct val="120000"/>
              </a:lnSpc>
            </a:pPr>
            <a:r>
              <a:rPr sz="830" b="1" i="0">
                <a:solidFill>
                  <a:srgbClr val="8A480B"/>
                </a:solidFill>
                <a:latin typeface="Arial"/>
              </a:rPr>
              <a:t>DEFEATS   </a:t>
            </a:r>
            <a:r>
              <a:rPr sz="830" b="1" i="0">
                <a:solidFill>
                  <a:srgbClr val="8A480B"/>
                </a:solidFill>
                <a:latin typeface="Arial"/>
              </a:rPr>
              <a:t>Slow, expensive, bespoke deployments that never get cheaper.</a:t>
            </a:r>
          </a:p>
        </p:txBody>
      </p:sp>
      <p:sp>
        <p:nvSpPr>
          <p:cNvPr id="25" name="Rectangle 24"/>
          <p:cNvSpPr/>
          <p:nvPr/>
        </p:nvSpPr>
        <p:spPr>
          <a:xfrm>
            <a:off x="640080" y="5050000"/>
            <a:ext cx="10911840" cy="76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5050000"/>
            <a:ext cx="50800" cy="76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witching_cost.png"/>
          <p:cNvPicPr>
            <a:picLocks noChangeAspect="1"/>
          </p:cNvPicPr>
          <p:nvPr/>
        </p:nvPicPr>
        <p:blipFill>
          <a:blip r:embed="rId6"/>
          <a:stretch>
            <a:fillRect/>
          </a:stretch>
        </p:blipFill>
        <p:spPr>
          <a:xfrm>
            <a:off x="10601920" y="5130000"/>
            <a:ext cx="600000" cy="600000"/>
          </a:xfrm>
          <a:prstGeom prst="rect">
            <a:avLst/>
          </a:prstGeom>
        </p:spPr>
      </p:pic>
      <p:sp>
        <p:nvSpPr>
          <p:cNvPr id="28" name="Rounded Rectangle 27"/>
          <p:cNvSpPr/>
          <p:nvPr/>
        </p:nvSpPr>
        <p:spPr>
          <a:xfrm>
            <a:off x="828040" y="5240000"/>
            <a:ext cx="380000" cy="38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5</a:t>
            </a:r>
          </a:p>
        </p:txBody>
      </p:sp>
      <p:sp>
        <p:nvSpPr>
          <p:cNvPr id="29" name="TextBox 28"/>
          <p:cNvSpPr txBox="1"/>
          <p:nvPr/>
        </p:nvSpPr>
        <p:spPr>
          <a:xfrm>
            <a:off x="1348040" y="5140000"/>
            <a:ext cx="9191840" cy="620000"/>
          </a:xfrm>
          <a:prstGeom prst="rect">
            <a:avLst/>
          </a:prstGeom>
          <a:noFill/>
        </p:spPr>
        <p:txBody>
          <a:bodyPr wrap="square" anchor="t" lIns="0" rIns="0" tIns="0" bIns="0">
            <a:spAutoFit/>
          </a:bodyPr>
          <a:lstStyle/>
          <a:p>
            <a:pPr algn="l">
              <a:lnSpc>
                <a:spcPct val="120000"/>
              </a:lnSpc>
            </a:pPr>
            <a:r>
              <a:rPr sz="1150" b="1" i="0">
                <a:solidFill>
                  <a:srgbClr val="1A1A1A"/>
                </a:solidFill>
                <a:latin typeface="Arial"/>
              </a:rPr>
              <a:t>Switching cost, trusted ops   </a:t>
            </a:r>
            <a:r>
              <a:rPr sz="900" b="0" i="0">
                <a:solidFill>
                  <a:srgbClr val="5B6470"/>
                </a:solidFill>
                <a:latin typeface="Arial"/>
              </a:rPr>
              <a:t>Every month of use builds a customer-specific permission and evaluation profile — the same P03-style trust a capped, two-queue pilot took time to earn.</a:t>
            </a:r>
          </a:p>
          <a:p>
            <a:pPr algn="l">
              <a:lnSpc>
                <a:spcPct val="120000"/>
              </a:lnSpc>
            </a:pPr>
            <a:r>
              <a:rPr sz="830" b="1" i="0">
                <a:solidFill>
                  <a:srgbClr val="8A480B"/>
                </a:solidFill>
                <a:latin typeface="Arial"/>
              </a:rPr>
              <a:t>DEFEATS   </a:t>
            </a:r>
            <a:r>
              <a:rPr sz="830" b="1" i="0">
                <a:solidFill>
                  <a:srgbClr val="8A480B"/>
                </a:solidFill>
                <a:latin typeface="Arial"/>
              </a:rPr>
              <a:t>A competitor being swapped in easily.</a:t>
            </a:r>
          </a:p>
        </p:txBody>
      </p:sp>
      <p:sp>
        <p:nvSpPr>
          <p:cNvPr id="30" name="TextBox 29"/>
          <p:cNvSpPr txBox="1"/>
          <p:nvPr/>
        </p:nvSpPr>
        <p:spPr>
          <a:xfrm>
            <a:off x="640080" y="5940000"/>
            <a:ext cx="10911840" cy="300000"/>
          </a:xfrm>
          <a:prstGeom prst="rect">
            <a:avLst/>
          </a:prstGeom>
          <a:noFill/>
        </p:spPr>
        <p:txBody>
          <a:bodyPr wrap="square" anchor="t" lIns="0" rIns="0" tIns="0" bIns="0">
            <a:spAutoFit/>
          </a:bodyPr>
          <a:lstStyle/>
          <a:p>
            <a:pPr algn="l"/>
            <a:r>
              <a:rPr sz="880" b="0" i="1">
                <a:solidFill>
                  <a:srgbClr val="5B6470"/>
                </a:solidFill>
                <a:latin typeface="Arial"/>
              </a:rPr>
              <a:t>None of the five above is the model, generic retrieval, or connector-catalogue size — those are copyable, not defensible.</a:t>
            </a:r>
          </a:p>
        </p:txBody>
      </p:sp>
      <p:sp>
        <p:nvSpPr>
          <p:cNvPr id="31" name="TextBox 30"/>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32" name="TextBox 31"/>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10</a:t>
            </a:r>
          </a:p>
        </p:txBody>
      </p:sp>
      <p:cxnSp>
        <p:nvCxnSpPr>
          <p:cNvPr id="33" name="Connector 32"/>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LAND AND EXPAND</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600" b="1" i="0">
                <a:solidFill>
                  <a:srgbClr val="1A1A1A"/>
                </a:solidFill>
                <a:latin typeface="Arial"/>
              </a:rPr>
              <a:t>Small door in. Wide footprint, only if earned.</a:t>
            </a:r>
          </a:p>
        </p:txBody>
      </p:sp>
      <p:sp>
        <p:nvSpPr>
          <p:cNvPr id="5" name="Rectangle 4"/>
          <p:cNvSpPr/>
          <p:nvPr/>
        </p:nvSpPr>
        <p:spPr>
          <a:xfrm>
            <a:off x="921680" y="1575680"/>
            <a:ext cx="10348640" cy="3752486"/>
          </a:xfrm>
          <a:prstGeom prst="rect">
            <a:avLst/>
          </a:prstGeom>
          <a:solidFill>
            <a:srgbClr val="FFFFF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doption_motion_chart.png"/>
          <p:cNvPicPr>
            <a:picLocks noChangeAspect="1"/>
          </p:cNvPicPr>
          <p:nvPr/>
        </p:nvPicPr>
        <p:blipFill>
          <a:blip r:embed="rId2"/>
          <a:stretch>
            <a:fillRect/>
          </a:stretch>
        </p:blipFill>
        <p:spPr>
          <a:xfrm>
            <a:off x="1196000" y="1850000"/>
            <a:ext cx="9800000" cy="3203846"/>
          </a:xfrm>
          <a:prstGeom prst="rect">
            <a:avLst/>
          </a:prstGeom>
        </p:spPr>
      </p:pic>
      <p:sp>
        <p:nvSpPr>
          <p:cNvPr id="7" name="Rectangle 6"/>
          <p:cNvSpPr/>
          <p:nvPr/>
        </p:nvSpPr>
        <p:spPr>
          <a:xfrm>
            <a:off x="640080" y="5100000"/>
            <a:ext cx="10911840" cy="7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5100000"/>
            <a:ext cx="50800" cy="7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8040" y="5100000"/>
            <a:ext cx="10211840" cy="700000"/>
          </a:xfrm>
          <a:prstGeom prst="rect">
            <a:avLst/>
          </a:prstGeom>
          <a:noFill/>
        </p:spPr>
        <p:txBody>
          <a:bodyPr wrap="square" anchor="ctr" lIns="0" rIns="0" tIns="0" bIns="0">
            <a:spAutoFit/>
          </a:bodyPr>
          <a:lstStyle/>
          <a:p>
            <a:pPr algn="l">
              <a:lnSpc>
                <a:spcPct val="120000"/>
              </a:lnSpc>
            </a:pPr>
            <a:r>
              <a:rPr sz="950" b="0" i="0">
                <a:solidFill>
                  <a:srgbClr val="1A1A1A"/>
                </a:solidFill>
                <a:latin typeface="Arial"/>
              </a:rPr>
              <a:t>BUYER &amp; APPROVERS   Head/VP Support or Customer Ops buys; Support Ops operates; IT/security approve. Starting read-only means the hardest approver has almost nothing to review on day one.</a:t>
            </a:r>
          </a:p>
        </p:txBody>
      </p:sp>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11</a:t>
            </a:r>
          </a:p>
        </p:txBody>
      </p:sp>
      <p:cxnSp>
        <p:nvCxnSpPr>
          <p:cNvPr id="12" name="Connector 1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00000" y="4258000"/>
            <a:ext cx="4200000" cy="4200000"/>
          </a:xfrm>
          <a:prstGeom prst="ellipse">
            <a:avLst/>
          </a:prstGeom>
          <a:noFill/>
          <a:ln w="22225">
            <a:solidFill>
              <a:srgbClr val="332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00000"/>
            <a:ext cx="10911840" cy="320000"/>
          </a:xfrm>
          <a:prstGeom prst="rect">
            <a:avLst/>
          </a:prstGeom>
          <a:noFill/>
        </p:spPr>
        <p:txBody>
          <a:bodyPr wrap="square" anchor="t" lIns="0" rIns="0" tIns="0" bIns="0">
            <a:spAutoFit/>
          </a:bodyPr>
          <a:lstStyle/>
          <a:p>
            <a:pPr algn="l"/>
            <a:r>
              <a:rPr sz="1200" b="1" i="0" spc="200">
                <a:solidFill>
                  <a:srgbClr val="B56012"/>
                </a:solidFill>
                <a:latin typeface="Arial"/>
              </a:rPr>
              <a:t>IN CLOSE</a:t>
            </a:r>
          </a:p>
        </p:txBody>
      </p:sp>
      <p:sp>
        <p:nvSpPr>
          <p:cNvPr id="6" name="TextBox 5"/>
          <p:cNvSpPr txBox="1"/>
          <p:nvPr/>
        </p:nvSpPr>
        <p:spPr>
          <a:xfrm>
            <a:off x="640080" y="1650000"/>
            <a:ext cx="10911840" cy="1900000"/>
          </a:xfrm>
          <a:prstGeom prst="rect">
            <a:avLst/>
          </a:prstGeom>
          <a:noFill/>
        </p:spPr>
        <p:txBody>
          <a:bodyPr wrap="square" anchor="t" lIns="0" rIns="0" tIns="0" bIns="0">
            <a:spAutoFit/>
          </a:bodyPr>
          <a:lstStyle/>
          <a:p>
            <a:pPr algn="l">
              <a:lnSpc>
                <a:spcPct val="110000"/>
              </a:lnSpc>
            </a:pPr>
            <a:r>
              <a:rPr sz="3200" b="1" i="0">
                <a:solidFill>
                  <a:srgbClr val="FFFFFF"/>
                </a:solidFill>
                <a:latin typeface="Arial"/>
              </a:rPr>
              <a:t>Four decision gates.</a:t>
            </a:r>
          </a:p>
          <a:p>
            <a:pPr algn="l">
              <a:lnSpc>
                <a:spcPct val="110000"/>
              </a:lnSpc>
            </a:pPr>
            <a:r>
              <a:rPr sz="3200" b="1" i="0">
                <a:solidFill>
                  <a:srgbClr val="FFFFFF"/>
                </a:solidFill>
                <a:latin typeface="Arial"/>
              </a:rPr>
              <a:t>Zero fully met.</a:t>
            </a:r>
          </a:p>
          <a:p>
            <a:pPr algn="l">
              <a:lnSpc>
                <a:spcPct val="110000"/>
              </a:lnSpc>
            </a:pPr>
            <a:r>
              <a:rPr sz="3200" b="1" i="0">
                <a:solidFill>
                  <a:srgbClr val="FFFFFF"/>
                </a:solidFill>
                <a:latin typeface="Arial"/>
              </a:rPr>
              <a:t>That's the honest starting line.</a:t>
            </a:r>
          </a:p>
        </p:txBody>
      </p:sp>
      <p:sp>
        <p:nvSpPr>
          <p:cNvPr id="7" name="TextBox 6"/>
          <p:cNvSpPr txBox="1"/>
          <p:nvPr/>
        </p:nvSpPr>
        <p:spPr>
          <a:xfrm>
            <a:off x="640080" y="3750000"/>
            <a:ext cx="9711840" cy="800000"/>
          </a:xfrm>
          <a:prstGeom prst="rect">
            <a:avLst/>
          </a:prstGeom>
          <a:noFill/>
        </p:spPr>
        <p:txBody>
          <a:bodyPr wrap="square" anchor="t" lIns="0" rIns="0" tIns="0" bIns="0">
            <a:spAutoFit/>
          </a:bodyPr>
          <a:lstStyle/>
          <a:p>
            <a:pPr algn="l">
              <a:lnSpc>
                <a:spcPct val="130000"/>
              </a:lnSpc>
            </a:pPr>
            <a:r>
              <a:rPr sz="1300" b="0" i="0">
                <a:solidFill>
                  <a:srgbClr val="C9C4BC"/>
                </a:solidFill>
                <a:latin typeface="Arial"/>
              </a:rPr>
              <a:t>Proceed only as a bounded, assist-first hypothesis, validated through a controlled pilot. The platform ambition doesn't change — how we get there does.</a:t>
            </a:r>
          </a:p>
        </p:txBody>
      </p:sp>
      <p:sp>
        <p:nvSpPr>
          <p:cNvPr id="8" name="Rectangle 7"/>
          <p:cNvSpPr/>
          <p:nvPr/>
        </p:nvSpPr>
        <p:spPr>
          <a:xfrm>
            <a:off x="640080" y="4850000"/>
            <a:ext cx="3000000" cy="24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50000"/>
            <a:ext cx="10911840" cy="360000"/>
          </a:xfrm>
          <a:prstGeom prst="rect">
            <a:avLst/>
          </a:prstGeom>
          <a:noFill/>
        </p:spPr>
        <p:txBody>
          <a:bodyPr wrap="square" anchor="t" lIns="0" rIns="0" tIns="0" bIns="0">
            <a:spAutoFit/>
          </a:bodyPr>
          <a:lstStyle/>
          <a:p>
            <a:pPr algn="l"/>
            <a:r>
              <a:rPr sz="1200" b="1" i="0">
                <a:solidFill>
                  <a:srgbClr val="FFFFFF"/>
                </a:solidFill>
                <a:latin typeface="Arial"/>
              </a:rPr>
              <a:t>Appendix follows — the full evidence behind every slide in this story.</a:t>
            </a:r>
          </a:p>
        </p:txBody>
      </p:sp>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88827A"/>
                </a:solidFill>
                <a:latin typeface="Arial"/>
              </a:rPr>
              <a:t>B2B Product Strategy</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8882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00000"/>
            <a:ext cx="10911840" cy="900000"/>
          </a:xfrm>
          <a:prstGeom prst="rect">
            <a:avLst/>
          </a:prstGeom>
          <a:noFill/>
        </p:spPr>
        <p:txBody>
          <a:bodyPr wrap="square" anchor="t" lIns="0" rIns="0" tIns="0" bIns="0">
            <a:spAutoFit/>
          </a:bodyPr>
          <a:lstStyle/>
          <a:p>
            <a:pPr algn="l"/>
            <a:r>
              <a:rPr sz="4800" b="1" i="0">
                <a:solidFill>
                  <a:srgbClr val="FFFFFF"/>
                </a:solidFill>
                <a:latin typeface="Arial"/>
              </a:rPr>
              <a:t>APPENDIX</a:t>
            </a:r>
          </a:p>
        </p:txBody>
      </p:sp>
      <p:sp>
        <p:nvSpPr>
          <p:cNvPr id="5" name="TextBox 4"/>
          <p:cNvSpPr txBox="1"/>
          <p:nvPr/>
        </p:nvSpPr>
        <p:spPr>
          <a:xfrm>
            <a:off x="640080" y="3750000"/>
            <a:ext cx="10911840" cy="500000"/>
          </a:xfrm>
          <a:prstGeom prst="rect">
            <a:avLst/>
          </a:prstGeom>
          <a:noFill/>
        </p:spPr>
        <p:txBody>
          <a:bodyPr wrap="square" anchor="t" lIns="0" rIns="0" tIns="0" bIns="0">
            <a:spAutoFit/>
          </a:bodyPr>
          <a:lstStyle/>
          <a:p>
            <a:pPr algn="l"/>
            <a:r>
              <a:rPr sz="1600" b="0" i="0">
                <a:solidFill>
                  <a:srgbClr val="C9B69A"/>
                </a:solidFill>
                <a:latin typeface="Arial"/>
              </a:rPr>
              <a:t>The full evidence behind every slide in the story</a:t>
            </a:r>
          </a:p>
        </p:txBody>
      </p:sp>
      <p:sp>
        <p:nvSpPr>
          <p:cNvPr id="6" name="Rectangle 5"/>
          <p:cNvSpPr/>
          <p:nvPr/>
        </p:nvSpPr>
        <p:spPr>
          <a:xfrm>
            <a:off x="640080" y="4350000"/>
            <a:ext cx="1800000" cy="24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AAAAAA"/>
                </a:solidFill>
                <a:latin typeface="Arial"/>
              </a:rPr>
              <a:t>B2B Product Strategy — Appendix</a:t>
            </a:r>
          </a:p>
        </p:txBody>
      </p:sp>
      <p:sp>
        <p:nvSpPr>
          <p:cNvPr id="8" name="TextBox 7"/>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AAAAA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METHODOLOGY AND EVIDENCE BASE</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Four layers, never mixed</a:t>
            </a:r>
          </a:p>
        </p:txBody>
      </p:sp>
      <p:graphicFrame>
        <p:nvGraphicFramePr>
          <p:cNvPr id="5" name="Table 4"/>
          <p:cNvGraphicFramePr>
            <a:graphicFrameLocks noGrp="1"/>
          </p:cNvGraphicFramePr>
          <p:nvPr/>
        </p:nvGraphicFramePr>
        <p:xfrm>
          <a:off x="640080" y="1780000"/>
          <a:ext cx="10911840" cy="2340000"/>
        </p:xfrm>
        <a:graphic>
          <a:graphicData uri="http://schemas.openxmlformats.org/drawingml/2006/table">
            <a:tbl>
              <a:tblPr firstRow="0" bandRow="0">
                <a:tableStyleId>{5C22544A-7EE6-4342-B048-85BDC9FD1C3A}</a:tableStyleId>
              </a:tblPr>
              <a:tblGrid>
                <a:gridCol w="1200000"/>
                <a:gridCol w="9711840"/>
              </a:tblGrid>
              <a:tr h="420000">
                <a:tc>
                  <a:txBody>
                    <a:bodyPr wrap="square"/>
                    <a:lstStyle/>
                    <a:p>
                      <a:pPr algn="l"/>
                      <a:r>
                        <a:rPr sz="1000" b="1">
                          <a:solidFill>
                            <a:srgbClr val="FFFFFF"/>
                          </a:solidFill>
                          <a:latin typeface="Arial"/>
                        </a:rPr>
                        <a:t>COUNT</a:t>
                      </a:r>
                    </a:p>
                  </a:txBody>
                  <a:tcPr marL="91440" marR="91440" marT="45720" marB="45720" anchor="ctr">
                    <a:solidFill>
                      <a:srgbClr val="8A480B"/>
                    </a:solidFill>
                  </a:tcPr>
                </a:tc>
                <a:tc>
                  <a:txBody>
                    <a:bodyPr wrap="square"/>
                    <a:lstStyle/>
                    <a:p>
                      <a:pPr algn="l"/>
                      <a:r>
                        <a:rPr sz="1000" b="1">
                          <a:solidFill>
                            <a:srgbClr val="FFFFFF"/>
                          </a:solidFill>
                          <a:latin typeface="Arial"/>
                        </a:rPr>
                        <a:t>MEANING</a:t>
                      </a:r>
                    </a:p>
                  </a:txBody>
                  <a:tcPr marL="91440" marR="91440" marT="45720" marB="45720" anchor="ctr">
                    <a:solidFill>
                      <a:srgbClr val="8A480B"/>
                    </a:solidFill>
                  </a:tcPr>
                </a:tc>
              </a:tr>
              <a:tr h="480000">
                <a:tc>
                  <a:txBody>
                    <a:bodyPr wrap="square"/>
                    <a:lstStyle/>
                    <a:p>
                      <a:pPr algn="l"/>
                      <a:r>
                        <a:rPr sz="1100" b="1">
                          <a:solidFill>
                            <a:srgbClr val="1A1A1A"/>
                          </a:solidFill>
                          <a:latin typeface="Arial"/>
                        </a:rPr>
                        <a:t>65</a:t>
                      </a:r>
                    </a:p>
                  </a:txBody>
                  <a:tcPr marL="91440" marR="91440" marT="45720" marB="45720" anchor="ctr">
                    <a:solidFill>
                      <a:srgbClr val="FFFFFF"/>
                    </a:solidFill>
                  </a:tcPr>
                </a:tc>
                <a:tc>
                  <a:txBody>
                    <a:bodyPr wrap="square"/>
                    <a:lstStyle/>
                    <a:p>
                      <a:pPr algn="l"/>
                      <a:r>
                        <a:rPr sz="1100" b="0">
                          <a:solidFill>
                            <a:srgbClr val="5B6470"/>
                          </a:solidFill>
                          <a:latin typeface="Arial"/>
                        </a:rPr>
                        <a:t>Source register entries: 64 external sources plus the assignment brief</a:t>
                      </a:r>
                    </a:p>
                  </a:txBody>
                  <a:tcPr marL="91440" marR="91440" marT="45720" marB="45720" anchor="ctr">
                    <a:solidFill>
                      <a:srgbClr val="FFFFFF"/>
                    </a:solidFill>
                  </a:tcPr>
                </a:tc>
              </a:tr>
              <a:tr h="480000">
                <a:tc>
                  <a:txBody>
                    <a:bodyPr wrap="square"/>
                    <a:lstStyle/>
                    <a:p>
                      <a:pPr algn="l"/>
                      <a:r>
                        <a:rPr sz="1100" b="1">
                          <a:solidFill>
                            <a:srgbClr val="1A1A1A"/>
                          </a:solidFill>
                          <a:latin typeface="Arial"/>
                        </a:rPr>
                        <a:t>56</a:t>
                      </a:r>
                    </a:p>
                  </a:txBody>
                  <a:tcPr marL="91440" marR="91440" marT="45720" marB="45720" anchor="ctr">
                    <a:solidFill>
                      <a:srgbClr val="FBEBD9"/>
                    </a:solidFill>
                  </a:tcPr>
                </a:tc>
                <a:tc>
                  <a:txBody>
                    <a:bodyPr wrap="square"/>
                    <a:lstStyle/>
                    <a:p>
                      <a:pPr algn="l"/>
                      <a:r>
                        <a:rPr sz="1100" b="0">
                          <a:solidFill>
                            <a:srgbClr val="5B6470"/>
                          </a:solidFill>
                          <a:latin typeface="Arial"/>
                        </a:rPr>
                        <a:t>Unique source IDs referenced by the 91 evidence records</a:t>
                      </a:r>
                    </a:p>
                  </a:txBody>
                  <a:tcPr marL="91440" marR="91440" marT="45720" marB="45720" anchor="ctr">
                    <a:solidFill>
                      <a:srgbClr val="FBEBD9"/>
                    </a:solidFill>
                  </a:tcPr>
                </a:tc>
              </a:tr>
              <a:tr h="480000">
                <a:tc>
                  <a:txBody>
                    <a:bodyPr wrap="square"/>
                    <a:lstStyle/>
                    <a:p>
                      <a:pPr algn="l"/>
                      <a:r>
                        <a:rPr sz="1100" b="1">
                          <a:solidFill>
                            <a:srgbClr val="1A1A1A"/>
                          </a:solidFill>
                          <a:latin typeface="Arial"/>
                        </a:rPr>
                        <a:t>91</a:t>
                      </a:r>
                    </a:p>
                  </a:txBody>
                  <a:tcPr marL="91440" marR="91440" marT="45720" marB="45720" anchor="ctr">
                    <a:solidFill>
                      <a:srgbClr val="FFFFFF"/>
                    </a:solidFill>
                  </a:tcPr>
                </a:tc>
                <a:tc>
                  <a:txBody>
                    <a:bodyPr wrap="square"/>
                    <a:lstStyle/>
                    <a:p>
                      <a:pPr algn="l"/>
                      <a:r>
                        <a:rPr sz="1100" b="0">
                          <a:solidFill>
                            <a:srgbClr val="5B6470"/>
                          </a:solidFill>
                          <a:latin typeface="Arial"/>
                        </a:rPr>
                        <a:t>Claim-level public evidence records with source URL, confidence and limitation</a:t>
                      </a:r>
                    </a:p>
                  </a:txBody>
                  <a:tcPr marL="91440" marR="91440" marT="45720" marB="45720" anchor="ctr">
                    <a:solidFill>
                      <a:srgbClr val="FFFFFF"/>
                    </a:solidFill>
                  </a:tcPr>
                </a:tc>
              </a:tr>
              <a:tr h="480000">
                <a:tc>
                  <a:txBody>
                    <a:bodyPr wrap="square"/>
                    <a:lstStyle/>
                    <a:p>
                      <a:pPr algn="l"/>
                      <a:r>
                        <a:rPr sz="1100" b="1">
                          <a:solidFill>
                            <a:srgbClr val="1A1A1A"/>
                          </a:solidFill>
                          <a:latin typeface="Arial"/>
                        </a:rPr>
                        <a:t>4</a:t>
                      </a:r>
                    </a:p>
                  </a:txBody>
                  <a:tcPr marL="91440" marR="91440" marT="45720" marB="45720" anchor="ctr">
                    <a:solidFill>
                      <a:srgbClr val="FBEBD9"/>
                    </a:solidFill>
                  </a:tcPr>
                </a:tc>
                <a:tc>
                  <a:txBody>
                    <a:bodyPr wrap="square"/>
                    <a:lstStyle/>
                    <a:p>
                      <a:pPr algn="l"/>
                      <a:r>
                        <a:rPr sz="1100" b="0">
                          <a:solidFill>
                            <a:srgbClr val="5B6470"/>
                          </a:solidFill>
                          <a:latin typeface="Arial"/>
                        </a:rPr>
                        <a:t>Interview records, maintained separately from public evidence</a:t>
                      </a:r>
                    </a:p>
                  </a:txBody>
                  <a:tcPr marL="91440" marR="91440" marT="45720" marB="45720" anchor="ctr">
                    <a:solidFill>
                      <a:srgbClr val="FBEBD9"/>
                    </a:solidFill>
                  </a:tcPr>
                </a:tc>
              </a:tr>
            </a:tbl>
          </a:graphicData>
        </a:graphic>
      </p:graphicFrame>
      <p:sp>
        <p:nvSpPr>
          <p:cNvPr id="6" name="Rectangle 5"/>
          <p:cNvSpPr/>
          <p:nvPr/>
        </p:nvSpPr>
        <p:spPr>
          <a:xfrm>
            <a:off x="640080" y="4560000"/>
            <a:ext cx="10911840" cy="9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4560000"/>
            <a:ext cx="50800" cy="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4560000"/>
            <a:ext cx="10211840" cy="900000"/>
          </a:xfrm>
          <a:prstGeom prst="rect">
            <a:avLst/>
          </a:prstGeom>
          <a:noFill/>
        </p:spPr>
        <p:txBody>
          <a:bodyPr wrap="square" anchor="ctr" lIns="0" rIns="0" tIns="0" bIns="0">
            <a:spAutoFit/>
          </a:bodyPr>
          <a:lstStyle/>
          <a:p>
            <a:pPr algn="l">
              <a:lnSpc>
                <a:spcPct val="120000"/>
              </a:lnSpc>
            </a:pPr>
            <a:r>
              <a:rPr sz="1000" b="0" i="0">
                <a:solidFill>
                  <a:srgbClr val="1A1A1A"/>
                </a:solidFill>
                <a:latin typeface="Arial"/>
              </a:rPr>
              <a:t>INTEGRITY RULE   no review post is treated as an interview; no vendor statistic is treated as universal market fact. The competitive teardown keeps its own register in the same discipline — V (vendor claim), R (review signal), I (interview), H (synthesis), U (unresolved).</a:t>
            </a:r>
          </a:p>
        </p:txBody>
      </p:sp>
      <p:sp>
        <p:nvSpPr>
          <p:cNvPr id="9" name="TextBox 8"/>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0" name="TextBox 9"/>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14</a:t>
            </a:r>
          </a:p>
        </p:txBody>
      </p:sp>
      <p:cxnSp>
        <p:nvCxnSpPr>
          <p:cNvPr id="11" name="Connector 10"/>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SEGMENT AND PROBLEM</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Who it's for, and what breaks for them today</a:t>
            </a:r>
          </a:p>
        </p:txBody>
      </p:sp>
      <p:graphicFrame>
        <p:nvGraphicFramePr>
          <p:cNvPr id="5" name="Table 4"/>
          <p:cNvGraphicFramePr>
            <a:graphicFrameLocks noGrp="1"/>
          </p:cNvGraphicFramePr>
          <p:nvPr/>
        </p:nvGraphicFramePr>
        <p:xfrm>
          <a:off x="640080" y="1680000"/>
          <a:ext cx="10911840" cy="1940000"/>
        </p:xfrm>
        <a:graphic>
          <a:graphicData uri="http://schemas.openxmlformats.org/drawingml/2006/table">
            <a:tbl>
              <a:tblPr firstRow="0" bandRow="0">
                <a:tableStyleId>{5C22544A-7EE6-4342-B048-85BDC9FD1C3A}</a:tableStyleId>
              </a:tblPr>
              <a:tblGrid>
                <a:gridCol w="1900000"/>
                <a:gridCol w="4800000"/>
                <a:gridCol w="4211840"/>
              </a:tblGrid>
              <a:tr h="420000">
                <a:tc>
                  <a:txBody>
                    <a:bodyPr wrap="square"/>
                    <a:lstStyle/>
                    <a:p>
                      <a:pPr algn="l"/>
                      <a:r>
                        <a:rPr sz="950" b="1">
                          <a:solidFill>
                            <a:srgbClr val="FFFFFF"/>
                          </a:solidFill>
                          <a:latin typeface="Arial"/>
                        </a:rPr>
                        <a:t>SEGMENT</a:t>
                      </a:r>
                    </a:p>
                  </a:txBody>
                  <a:tcPr marL="91440" marR="91440" marT="45720" marB="45720" anchor="ctr">
                    <a:solidFill>
                      <a:srgbClr val="8A480B"/>
                    </a:solidFill>
                  </a:tcPr>
                </a:tc>
                <a:tc>
                  <a:txBody>
                    <a:bodyPr wrap="square"/>
                    <a:lstStyle/>
                    <a:p>
                      <a:pPr algn="l"/>
                      <a:r>
                        <a:rPr sz="950" b="1">
                          <a:solidFill>
                            <a:srgbClr val="FFFFFF"/>
                          </a:solidFill>
                          <a:latin typeface="Arial"/>
                        </a:rPr>
                        <a:t>PAIN EVIDENCE</a:t>
                      </a:r>
                    </a:p>
                  </a:txBody>
                  <a:tcPr marL="91440" marR="91440" marT="45720" marB="45720" anchor="ctr">
                    <a:solidFill>
                      <a:srgbClr val="8A480B"/>
                    </a:solidFill>
                  </a:tcPr>
                </a:tc>
                <a:tc>
                  <a:txBody>
                    <a:bodyPr wrap="square"/>
                    <a:lstStyle/>
                    <a:p>
                      <a:pPr algn="l"/>
                      <a:r>
                        <a:rPr sz="950" b="1">
                          <a:solidFill>
                            <a:srgbClr val="FFFFFF"/>
                          </a:solidFill>
                          <a:latin typeface="Arial"/>
                        </a:rPr>
                        <a:t>WHY NOT</a:t>
                      </a:r>
                    </a:p>
                  </a:txBody>
                  <a:tcPr marL="91440" marR="91440" marT="45720" marB="45720" anchor="ctr">
                    <a:solidFill>
                      <a:srgbClr val="8A480B"/>
                    </a:solidFill>
                  </a:tcPr>
                </a:tc>
              </a:tr>
              <a:tr h="560000">
                <a:tc>
                  <a:txBody>
                    <a:bodyPr wrap="square"/>
                    <a:lstStyle/>
                    <a:p>
                      <a:pPr algn="l"/>
                      <a:r>
                        <a:rPr sz="1000" b="1">
                          <a:solidFill>
                            <a:srgbClr val="1A1A1A"/>
                          </a:solidFill>
                          <a:latin typeface="Arial"/>
                        </a:rPr>
                        <a:t>Enterprise</a:t>
                      </a:r>
                    </a:p>
                  </a:txBody>
                  <a:tcPr marL="91440" marR="91440" marT="45720" marB="45720" anchor="ctr">
                    <a:solidFill>
                      <a:srgbClr val="FFFFFF"/>
                    </a:solidFill>
                  </a:tcPr>
                </a:tc>
                <a:tc>
                  <a:txBody>
                    <a:bodyPr wrap="square"/>
                    <a:lstStyle/>
                    <a:p>
                      <a:pPr algn="l"/>
                      <a:r>
                        <a:rPr sz="1000" b="0">
                          <a:solidFill>
                            <a:srgbClr val="5B6470"/>
                          </a:solidFill>
                          <a:latin typeface="Arial"/>
                        </a:rPr>
                        <a:t>Most acute (P01 ~100–150 min/day; P02 4–6 hr waits)</a:t>
                      </a:r>
                    </a:p>
                  </a:txBody>
                  <a:tcPr marL="91440" marR="91440" marT="45720" marB="45720" anchor="ctr">
                    <a:solidFill>
                      <a:srgbClr val="FFFFFF"/>
                    </a:solidFill>
                  </a:tcPr>
                </a:tc>
                <a:tc>
                  <a:txBody>
                    <a:bodyPr wrap="square"/>
                    <a:lstStyle/>
                    <a:p>
                      <a:pPr algn="l"/>
                      <a:r>
                        <a:rPr sz="1000" b="0">
                          <a:solidFill>
                            <a:srgbClr val="5B6470"/>
                          </a:solidFill>
                          <a:latin typeface="Arial"/>
                        </a:rPr>
                        <a:t>P02 is regulated banking; P01 is a multi-client BPO with no stack owner</a:t>
                      </a:r>
                    </a:p>
                  </a:txBody>
                  <a:tcPr marL="91440" marR="91440" marT="45720" marB="45720" anchor="ctr">
                    <a:solidFill>
                      <a:srgbClr val="FFFFFF"/>
                    </a:solidFill>
                  </a:tcPr>
                </a:tc>
              </a:tr>
              <a:tr h="480000">
                <a:tc>
                  <a:txBody>
                    <a:bodyPr wrap="square"/>
                    <a:lstStyle/>
                    <a:p>
                      <a:pPr algn="l"/>
                      <a:r>
                        <a:rPr sz="1000" b="1">
                          <a:solidFill>
                            <a:srgbClr val="1A1A1A"/>
                          </a:solidFill>
                          <a:latin typeface="Arial"/>
                        </a:rPr>
                        <a:t>SMB / startups</a:t>
                      </a:r>
                    </a:p>
                  </a:txBody>
                  <a:tcPr marL="91440" marR="91440" marT="45720" marB="45720" anchor="ctr">
                    <a:solidFill>
                      <a:srgbClr val="FBEBD9"/>
                    </a:solidFill>
                  </a:tcPr>
                </a:tc>
                <a:tc>
                  <a:txBody>
                    <a:bodyPr wrap="square"/>
                    <a:lstStyle/>
                    <a:p>
                      <a:pPr algn="l"/>
                      <a:r>
                        <a:rPr sz="1000" b="0">
                          <a:solidFill>
                            <a:srgbClr val="5B6470"/>
                          </a:solidFill>
                          <a:latin typeface="Arial"/>
                        </a:rPr>
                        <a:t>Usually one consolidated tool</a:t>
                      </a:r>
                    </a:p>
                  </a:txBody>
                  <a:tcPr marL="91440" marR="91440" marT="45720" marB="45720" anchor="ctr">
                    <a:solidFill>
                      <a:srgbClr val="FBEBD9"/>
                    </a:solidFill>
                  </a:tcPr>
                </a:tc>
                <a:tc>
                  <a:txBody>
                    <a:bodyPr wrap="square"/>
                    <a:lstStyle/>
                    <a:p>
                      <a:pPr algn="l"/>
                      <a:r>
                        <a:rPr sz="1000" b="0">
                          <a:solidFill>
                            <a:srgbClr val="5B6470"/>
                          </a:solidFill>
                          <a:latin typeface="Arial"/>
                        </a:rPr>
                        <a:t>No helpdesk+CRM seam — no wedge to build on</a:t>
                      </a:r>
                    </a:p>
                  </a:txBody>
                  <a:tcPr marL="91440" marR="91440" marT="45720" marB="45720" anchor="ctr">
                    <a:solidFill>
                      <a:srgbClr val="FBEBD9"/>
                    </a:solidFill>
                  </a:tcPr>
                </a:tc>
              </a:tr>
              <a:tr h="480000">
                <a:tc>
                  <a:txBody>
                    <a:bodyPr wrap="square"/>
                    <a:lstStyle/>
                    <a:p>
                      <a:pPr algn="l"/>
                      <a:r>
                        <a:rPr sz="1000" b="1">
                          <a:solidFill>
                            <a:srgbClr val="1A1A1A"/>
                          </a:solidFill>
                          <a:latin typeface="Arial"/>
                        </a:rPr>
                        <a:t>Mid-market, filtered</a:t>
                      </a:r>
                    </a:p>
                  </a:txBody>
                  <a:tcPr marL="91440" marR="91440" marT="45720" marB="45720" anchor="ctr">
                    <a:solidFill>
                      <a:srgbClr val="FFFFFF"/>
                    </a:solidFill>
                  </a:tcPr>
                </a:tc>
                <a:tc>
                  <a:txBody>
                    <a:bodyPr wrap="square"/>
                    <a:lstStyle/>
                    <a:p>
                      <a:pPr algn="l"/>
                      <a:r>
                        <a:rPr sz="1000" b="0">
                          <a:solidFill>
                            <a:srgbClr val="5B6470"/>
                          </a:solidFill>
                          <a:latin typeface="Arial"/>
                        </a:rPr>
                        <a:t>The seam exists; buyer is reachable</a:t>
                      </a:r>
                    </a:p>
                  </a:txBody>
                  <a:tcPr marL="91440" marR="91440" marT="45720" marB="45720" anchor="ctr">
                    <a:solidFill>
                      <a:srgbClr val="FFFFFF"/>
                    </a:solidFill>
                  </a:tcPr>
                </a:tc>
                <a:tc>
                  <a:txBody>
                    <a:bodyPr wrap="square"/>
                    <a:lstStyle/>
                    <a:p>
                      <a:pPr algn="l"/>
                      <a:r>
                        <a:rPr sz="1000" b="0">
                          <a:solidFill>
                            <a:srgbClr val="5B6470"/>
                          </a:solidFill>
                          <a:latin typeface="Arial"/>
                        </a:rPr>
                        <a:t>Selected — avoids all three traps at once</a:t>
                      </a:r>
                    </a:p>
                  </a:txBody>
                  <a:tcPr marL="91440" marR="91440" marT="45720" marB="45720" anchor="ctr">
                    <a:solidFill>
                      <a:srgbClr val="FFFFFF"/>
                    </a:solidFill>
                  </a:tcPr>
                </a:tc>
              </a:tr>
            </a:tbl>
          </a:graphicData>
        </a:graphic>
      </p:graphicFrame>
      <p:sp>
        <p:nvSpPr>
          <p:cNvPr id="6" name="Rectangle 5"/>
          <p:cNvSpPr/>
          <p:nvPr/>
        </p:nvSpPr>
        <p:spPr>
          <a:xfrm>
            <a:off x="640080" y="4020000"/>
            <a:ext cx="10911840" cy="9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4020000"/>
            <a:ext cx="50800" cy="9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4020000"/>
            <a:ext cx="10211840" cy="900000"/>
          </a:xfrm>
          <a:prstGeom prst="rect">
            <a:avLst/>
          </a:prstGeom>
          <a:noFill/>
        </p:spPr>
        <p:txBody>
          <a:bodyPr wrap="square" anchor="ctr" lIns="0" rIns="0" tIns="0" bIns="0">
            <a:spAutoFit/>
          </a:bodyPr>
          <a:lstStyle/>
          <a:p>
            <a:pPr algn="l">
              <a:lnSpc>
                <a:spcPct val="120000"/>
              </a:lnSpc>
            </a:pPr>
            <a:r>
              <a:rPr sz="1000" b="1" i="0">
                <a:solidFill>
                  <a:srgbClr val="8A480B"/>
                </a:solidFill>
                <a:latin typeface="Arial"/>
              </a:rPr>
              <a:t>PROBLEM STATEMENT   </a:t>
            </a:r>
            <a:r>
              <a:rPr sz="1050" b="1" i="0">
                <a:solidFill>
                  <a:srgbClr val="1A1A1A"/>
                </a:solidFill>
                <a:latin typeface="Arial"/>
              </a:rPr>
              <a:t>Across four interviews, two frontline cases show manual context transfer during complex escalation; a banking case shows duplicate audit work and approval delay; an application stakeholder shows permission and write-back barriers.</a:t>
            </a:r>
          </a:p>
        </p:txBody>
      </p:sp>
      <p:sp>
        <p:nvSpPr>
          <p:cNvPr id="9" name="TextBox 8"/>
          <p:cNvSpPr txBox="1"/>
          <p:nvPr/>
        </p:nvSpPr>
        <p:spPr>
          <a:xfrm>
            <a:off x="640080" y="5040000"/>
            <a:ext cx="10911840" cy="500000"/>
          </a:xfrm>
          <a:prstGeom prst="rect">
            <a:avLst/>
          </a:prstGeom>
          <a:noFill/>
        </p:spPr>
        <p:txBody>
          <a:bodyPr wrap="square" anchor="t" lIns="0" rIns="0" tIns="0" bIns="0">
            <a:spAutoFit/>
          </a:bodyPr>
          <a:lstStyle/>
          <a:p>
            <a:pPr algn="l">
              <a:lnSpc>
                <a:spcPct val="120000"/>
              </a:lnSpc>
            </a:pPr>
            <a:r>
              <a:rPr sz="1050" b="0" i="0">
                <a:solidFill>
                  <a:srgbClr val="5B6470"/>
                </a:solidFill>
                <a:latin typeface="Arial"/>
              </a:rPr>
              <a:t>Primary persona: frontline support/operations practitioner owning L1.5, escalation or exception work across several systems.</a:t>
            </a:r>
          </a:p>
        </p:txBody>
      </p:sp>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15</a:t>
            </a:r>
          </a:p>
        </p:txBody>
      </p:sp>
      <p:cxnSp>
        <p:nvCxnSpPr>
          <p:cNvPr id="12" name="Connector 1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INTERVIEW EVIDENCE</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Four perspectives, full detail</a:t>
            </a:r>
          </a:p>
        </p:txBody>
      </p:sp>
      <p:sp>
        <p:nvSpPr>
          <p:cNvPr id="5" name="Rectangle 4"/>
          <p:cNvSpPr/>
          <p:nvPr/>
        </p:nvSpPr>
        <p:spPr>
          <a:xfrm>
            <a:off x="640080" y="1680000"/>
            <a:ext cx="5318760" cy="12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80000"/>
            <a:ext cx="50800" cy="12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8040" y="1880000"/>
            <a:ext cx="400000" cy="40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P01</a:t>
            </a:r>
          </a:p>
        </p:txBody>
      </p:sp>
      <p:sp>
        <p:nvSpPr>
          <p:cNvPr id="8" name="TextBox 7"/>
          <p:cNvSpPr txBox="1"/>
          <p:nvPr/>
        </p:nvSpPr>
        <p:spPr>
          <a:xfrm>
            <a:off x="1348040" y="18800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Enterprise outsourced support · frontline</a:t>
            </a:r>
          </a:p>
        </p:txBody>
      </p:sp>
      <p:sp>
        <p:nvSpPr>
          <p:cNvPr id="9" name="TextBox 8"/>
          <p:cNvSpPr txBox="1"/>
          <p:nvPr/>
        </p:nvSpPr>
        <p:spPr>
          <a:xfrm>
            <a:off x="828040" y="2400000"/>
            <a:ext cx="4848760" cy="380000"/>
          </a:xfrm>
          <a:prstGeom prst="rect">
            <a:avLst/>
          </a:prstGeom>
          <a:noFill/>
        </p:spPr>
        <p:txBody>
          <a:bodyPr wrap="square" anchor="t" lIns="0" rIns="0" tIns="0" bIns="0">
            <a:spAutoFit/>
          </a:bodyPr>
          <a:lstStyle/>
          <a:p>
            <a:pPr algn="l">
              <a:lnSpc>
                <a:spcPct val="120000"/>
              </a:lnSpc>
            </a:pPr>
            <a:r>
              <a:rPr sz="930" b="0" i="0">
                <a:solidFill>
                  <a:srgbClr val="5B6470"/>
                </a:solidFill>
                <a:latin typeface="Arial"/>
              </a:rPr>
              <a:t>5–6 difficult cases/day; 20–25 min context work per case. Strategic use: quantified context and handoff cost.</a:t>
            </a:r>
          </a:p>
        </p:txBody>
      </p:sp>
      <p:sp>
        <p:nvSpPr>
          <p:cNvPr id="10" name="Rectangle 9"/>
          <p:cNvSpPr/>
          <p:nvPr/>
        </p:nvSpPr>
        <p:spPr>
          <a:xfrm>
            <a:off x="6233160" y="1680000"/>
            <a:ext cx="5318760" cy="12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160" y="1680000"/>
            <a:ext cx="50800" cy="12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1120" y="1880000"/>
            <a:ext cx="400000" cy="40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P02</a:t>
            </a:r>
          </a:p>
        </p:txBody>
      </p:sp>
      <p:sp>
        <p:nvSpPr>
          <p:cNvPr id="13" name="TextBox 12"/>
          <p:cNvSpPr txBox="1"/>
          <p:nvPr/>
        </p:nvSpPr>
        <p:spPr>
          <a:xfrm>
            <a:off x="6941120" y="18800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Enterprise banking complaints · frontline</a:t>
            </a:r>
          </a:p>
        </p:txBody>
      </p:sp>
      <p:sp>
        <p:nvSpPr>
          <p:cNvPr id="14" name="TextBox 13"/>
          <p:cNvSpPr txBox="1"/>
          <p:nvPr/>
        </p:nvSpPr>
        <p:spPr>
          <a:xfrm>
            <a:off x="6421120" y="2400000"/>
            <a:ext cx="4848760" cy="380000"/>
          </a:xfrm>
          <a:prstGeom prst="rect">
            <a:avLst/>
          </a:prstGeom>
          <a:noFill/>
        </p:spPr>
        <p:txBody>
          <a:bodyPr wrap="square" anchor="t" lIns="0" rIns="0" tIns="0" bIns="0">
            <a:spAutoFit/>
          </a:bodyPr>
          <a:lstStyle/>
          <a:p>
            <a:pPr algn="l">
              <a:lnSpc>
                <a:spcPct val="120000"/>
              </a:lnSpc>
            </a:pPr>
            <a:r>
              <a:rPr sz="930" b="0" i="0">
                <a:solidFill>
                  <a:srgbClr val="5B6470"/>
                </a:solidFill>
                <a:latin typeface="Arial"/>
              </a:rPr>
              <a:t>15 min duplicate logging; 4–6 hr formal approval wait. Strategic use: audit, approval and read-only constraints.</a:t>
            </a:r>
          </a:p>
        </p:txBody>
      </p:sp>
      <p:sp>
        <p:nvSpPr>
          <p:cNvPr id="15" name="Rectangle 14"/>
          <p:cNvSpPr/>
          <p:nvPr/>
        </p:nvSpPr>
        <p:spPr>
          <a:xfrm>
            <a:off x="640080" y="3108600"/>
            <a:ext cx="5318760" cy="12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108600"/>
            <a:ext cx="50800" cy="12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8040" y="3308600"/>
            <a:ext cx="400000" cy="40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P03</a:t>
            </a:r>
          </a:p>
        </p:txBody>
      </p:sp>
      <p:sp>
        <p:nvSpPr>
          <p:cNvPr id="18" name="TextBox 17"/>
          <p:cNvSpPr txBox="1"/>
          <p:nvPr/>
        </p:nvSpPr>
        <p:spPr>
          <a:xfrm>
            <a:off x="1348040" y="33086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Mid-market (~400) · application approval</a:t>
            </a:r>
          </a:p>
        </p:txBody>
      </p:sp>
      <p:sp>
        <p:nvSpPr>
          <p:cNvPr id="19" name="TextBox 18"/>
          <p:cNvSpPr txBox="1"/>
          <p:nvPr/>
        </p:nvSpPr>
        <p:spPr>
          <a:xfrm>
            <a:off x="828040" y="3828600"/>
            <a:ext cx="4848760" cy="380000"/>
          </a:xfrm>
          <a:prstGeom prst="rect">
            <a:avLst/>
          </a:prstGeom>
          <a:noFill/>
        </p:spPr>
        <p:txBody>
          <a:bodyPr wrap="square" anchor="t" lIns="0" rIns="0" tIns="0" bIns="0">
            <a:spAutoFit/>
          </a:bodyPr>
          <a:lstStyle/>
          <a:p>
            <a:pPr algn="l">
              <a:lnSpc>
                <a:spcPct val="120000"/>
              </a:lnSpc>
            </a:pPr>
            <a:r>
              <a:rPr sz="930" b="0" i="0">
                <a:solidFill>
                  <a:srgbClr val="5B6470"/>
                </a:solidFill>
                <a:latin typeface="Arial"/>
              </a:rPr>
              <a:t>One-month pilot, 2 queues, write-back disabled. Strategic use: least-privilege, reversible pilot design.</a:t>
            </a:r>
          </a:p>
        </p:txBody>
      </p:sp>
      <p:sp>
        <p:nvSpPr>
          <p:cNvPr id="20" name="Rectangle 19"/>
          <p:cNvSpPr/>
          <p:nvPr/>
        </p:nvSpPr>
        <p:spPr>
          <a:xfrm>
            <a:off x="6233160" y="3108600"/>
            <a:ext cx="5318760" cy="12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160" y="3108600"/>
            <a:ext cx="50800" cy="12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1120" y="3308600"/>
            <a:ext cx="400000" cy="400000"/>
          </a:xfrm>
          <a:prstGeom prst="roundRect">
            <a:avLst>
              <a:gd name="adj" fmla="val 22000"/>
            </a:avLst>
          </a:prstGeom>
          <a:solidFill>
            <a:srgbClr val="1A1A1A"/>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P04</a:t>
            </a:r>
          </a:p>
        </p:txBody>
      </p:sp>
      <p:sp>
        <p:nvSpPr>
          <p:cNvPr id="23" name="TextBox 22"/>
          <p:cNvSpPr txBox="1"/>
          <p:nvPr/>
        </p:nvSpPr>
        <p:spPr>
          <a:xfrm>
            <a:off x="6941120" y="33086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Mid-market B2B SaaS/services · frontline</a:t>
            </a:r>
          </a:p>
        </p:txBody>
      </p:sp>
      <p:sp>
        <p:nvSpPr>
          <p:cNvPr id="24" name="TextBox 23"/>
          <p:cNvSpPr txBox="1"/>
          <p:nvPr/>
        </p:nvSpPr>
        <p:spPr>
          <a:xfrm>
            <a:off x="6421120" y="3828600"/>
            <a:ext cx="4848760" cy="380000"/>
          </a:xfrm>
          <a:prstGeom prst="rect">
            <a:avLst/>
          </a:prstGeom>
          <a:noFill/>
        </p:spPr>
        <p:txBody>
          <a:bodyPr wrap="square" anchor="t" lIns="0" rIns="0" tIns="0" bIns="0">
            <a:spAutoFit/>
          </a:bodyPr>
          <a:lstStyle/>
          <a:p>
            <a:pPr algn="l">
              <a:lnSpc>
                <a:spcPct val="120000"/>
              </a:lnSpc>
            </a:pPr>
            <a:r>
              <a:rPr sz="930" b="0" i="0">
                <a:solidFill>
                  <a:srgbClr val="5B6470"/>
                </a:solidFill>
                <a:latin typeface="Arial"/>
              </a:rPr>
              <a:t>Manual Zendesk-to-Jira summary; warns against a duplicate system. Strategic use: second context/handoff case plus counter-evidence.</a:t>
            </a:r>
          </a:p>
        </p:txBody>
      </p:sp>
      <p:sp>
        <p:nvSpPr>
          <p:cNvPr id="25" name="Rectangle 24"/>
          <p:cNvSpPr/>
          <p:nvPr/>
        </p:nvSpPr>
        <p:spPr>
          <a:xfrm>
            <a:off x="640080" y="4560000"/>
            <a:ext cx="10911840" cy="82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560000"/>
            <a:ext cx="50800" cy="82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040" y="4560000"/>
            <a:ext cx="10211840" cy="820000"/>
          </a:xfrm>
          <a:prstGeom prst="rect">
            <a:avLst/>
          </a:prstGeom>
          <a:noFill/>
        </p:spPr>
        <p:txBody>
          <a:bodyPr wrap="square" anchor="ctr" lIns="0" rIns="0" tIns="0" bIns="0">
            <a:spAutoFit/>
          </a:bodyPr>
          <a:lstStyle/>
          <a:p>
            <a:pPr algn="l">
              <a:lnSpc>
                <a:spcPct val="120000"/>
              </a:lnSpc>
            </a:pPr>
            <a:r>
              <a:rPr sz="1000" b="0" i="0">
                <a:solidFill>
                  <a:srgbClr val="1A1A1A"/>
                </a:solidFill>
                <a:latin typeface="Arial"/>
              </a:rPr>
              <a:t>DIVERSITY AUDIT / LIMITATION   2 enterprise + 2 mid-market; 3 frontline + 1 application-approval stakeholder; no support manager or economic buyer. Sample is 4 of the requested 8–12 minimum.</a:t>
            </a:r>
          </a:p>
        </p:txBody>
      </p:sp>
      <p:sp>
        <p:nvSpPr>
          <p:cNvPr id="28" name="TextBox 27"/>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29" name="TextBox 28"/>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16</a:t>
            </a:r>
          </a:p>
        </p:txBody>
      </p:sp>
      <p:cxnSp>
        <p:nvCxnSpPr>
          <p:cNvPr id="30" name="Connector 29"/>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INTERVIEW EVIDENCE, QUANTIFIED</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Where interviews gave a number</a:t>
            </a:r>
          </a:p>
        </p:txBody>
      </p:sp>
      <p:sp>
        <p:nvSpPr>
          <p:cNvPr id="5" name="Rectangle 4"/>
          <p:cNvSpPr/>
          <p:nvPr/>
        </p:nvSpPr>
        <p:spPr>
          <a:xfrm>
            <a:off x="1521680" y="1625680"/>
            <a:ext cx="9148640" cy="3517687"/>
          </a:xfrm>
          <a:prstGeom prst="rect">
            <a:avLst/>
          </a:prstGeom>
          <a:solidFill>
            <a:srgbClr val="FFFFF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in_time_chart.png"/>
          <p:cNvPicPr>
            <a:picLocks noChangeAspect="1"/>
          </p:cNvPicPr>
          <p:nvPr/>
        </p:nvPicPr>
        <p:blipFill>
          <a:blip r:embed="rId2"/>
          <a:stretch>
            <a:fillRect/>
          </a:stretch>
        </p:blipFill>
        <p:spPr>
          <a:xfrm>
            <a:off x="1796000" y="1900000"/>
            <a:ext cx="8600000" cy="2969047"/>
          </a:xfrm>
          <a:prstGeom prst="rect">
            <a:avLst/>
          </a:prstGeom>
        </p:spPr>
      </p:pic>
      <p:sp>
        <p:nvSpPr>
          <p:cNvPr id="7" name="TextBox 6"/>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8" name="TextBox 7"/>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17</a:t>
            </a:r>
          </a:p>
        </p:txBody>
      </p:sp>
      <p:cxnSp>
        <p:nvCxnSpPr>
          <p:cNvPr id="9" name="Connector 8"/>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MARKET OPPORTUNITY</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Big category, frequent workflow, unproven price</a:t>
            </a:r>
          </a:p>
        </p:txBody>
      </p:sp>
      <p:sp>
        <p:nvSpPr>
          <p:cNvPr id="5" name="Rectangle 4"/>
          <p:cNvSpPr/>
          <p:nvPr/>
        </p:nvSpPr>
        <p:spPr>
          <a:xfrm>
            <a:off x="365760" y="1405680"/>
            <a:ext cx="7148640" cy="2828640"/>
          </a:xfrm>
          <a:prstGeom prst="rect">
            <a:avLst/>
          </a:prstGeom>
          <a:solidFill>
            <a:srgbClr val="FFFFF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rket_chart.png"/>
          <p:cNvPicPr>
            <a:picLocks noChangeAspect="1"/>
          </p:cNvPicPr>
          <p:nvPr/>
        </p:nvPicPr>
        <p:blipFill>
          <a:blip r:embed="rId2"/>
          <a:stretch>
            <a:fillRect/>
          </a:stretch>
        </p:blipFill>
        <p:spPr>
          <a:xfrm>
            <a:off x="640080" y="1680000"/>
            <a:ext cx="6600000" cy="2280000"/>
          </a:xfrm>
          <a:prstGeom prst="rect">
            <a:avLst/>
          </a:prstGeom>
        </p:spPr>
      </p:pic>
      <p:sp>
        <p:nvSpPr>
          <p:cNvPr id="7" name="Rectangle 6"/>
          <p:cNvSpPr/>
          <p:nvPr/>
        </p:nvSpPr>
        <p:spPr>
          <a:xfrm>
            <a:off x="7540080" y="1680000"/>
            <a:ext cx="4011840" cy="228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0080" y="1680000"/>
            <a:ext cx="50800" cy="228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8040" y="1810000"/>
            <a:ext cx="3311840" cy="2000000"/>
          </a:xfrm>
          <a:prstGeom prst="rect">
            <a:avLst/>
          </a:prstGeom>
          <a:noFill/>
        </p:spPr>
        <p:txBody>
          <a:bodyPr wrap="square" anchor="t" lIns="0" rIns="0" tIns="0" bIns="0">
            <a:spAutoFit/>
          </a:bodyPr>
          <a:lstStyle/>
          <a:p>
            <a:pPr algn="l">
              <a:lnSpc>
                <a:spcPct val="120000"/>
              </a:lnSpc>
            </a:pPr>
            <a:r>
              <a:rPr sz="950" b="1" i="0">
                <a:solidFill>
                  <a:srgbClr val="8A480B"/>
                </a:solidFill>
                <a:latin typeface="Arial"/>
              </a:rPr>
              <a:t>BOTTOM-UP
COST POOL
</a:t>
            </a:r>
          </a:p>
          <a:p>
            <a:pPr algn="l">
              <a:lnSpc>
                <a:spcPct val="120000"/>
              </a:lnSpc>
            </a:pPr>
            <a:r>
              <a:rPr sz="2200" b="1" i="0">
                <a:solidFill>
                  <a:srgbClr val="8A480B"/>
                </a:solidFill>
                <a:latin typeface="Arial"/>
              </a:rPr>
              <a:t>$430–860M</a:t>
            </a:r>
          </a:p>
          <a:p>
            <a:pPr algn="l">
              <a:lnSpc>
                <a:spcPct val="120000"/>
              </a:lnSpc>
            </a:pPr>
            <a:r>
              <a:rPr sz="880" b="0" i="0">
                <a:solidFill>
                  <a:srgbClr val="1A1A1A"/>
                </a:solidFill>
                <a:latin typeface="Arial"/>
              </a:rPr>
              <a:t>/year, illustrative — a cost-of-the-problem ceiling, not a revenue forecast.</a:t>
            </a:r>
          </a:p>
        </p:txBody>
      </p:sp>
      <p:cxnSp>
        <p:nvCxnSpPr>
          <p:cNvPr id="10" name="Connector 9"/>
          <p:cNvCxnSpPr/>
          <p:nvPr/>
        </p:nvCxnSpPr>
        <p:spPr>
          <a:xfrm>
            <a:off x="640080" y="4090000"/>
            <a:ext cx="10911840" cy="0"/>
          </a:xfrm>
          <a:prstGeom prst="line">
            <a:avLst/>
          </a:prstGeom>
          <a:ln w="9525">
            <a:solidFill>
              <a:srgbClr val="E4E1D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4290000"/>
            <a:ext cx="10911840" cy="700000"/>
          </a:xfrm>
          <a:prstGeom prst="rect">
            <a:avLst/>
          </a:prstGeom>
          <a:noFill/>
        </p:spPr>
        <p:txBody>
          <a:bodyPr wrap="square" anchor="t" lIns="0" rIns="0" tIns="0" bIns="0">
            <a:spAutoFit/>
          </a:bodyPr>
          <a:lstStyle/>
          <a:p>
            <a:pPr algn="l">
              <a:lnSpc>
                <a:spcPct val="120000"/>
              </a:lnSpc>
            </a:pPr>
            <a:r>
              <a:rPr sz="1050" b="0" i="0">
                <a:solidFill>
                  <a:srgbClr val="5B6470"/>
                </a:solidFill>
                <a:latin typeface="Arial"/>
              </a:rPr>
              <a:t>Willingness-to-pay logic: customers may pay if the product removes measurable coordination work and avoids reopens at a predictable total cost. No interview established an economic buyer, budget threshold, or purchase intent.</a:t>
            </a:r>
          </a:p>
        </p:txBody>
      </p:sp>
      <p:sp>
        <p:nvSpPr>
          <p:cNvPr id="12" name="TextBox 11"/>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3" name="TextBox 12"/>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18</a:t>
            </a:r>
          </a:p>
        </p:txBody>
      </p:sp>
      <p:cxnSp>
        <p:nvCxnSpPr>
          <p:cNvPr id="14" name="Connector 13"/>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COMPETITIVE MAP</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Four different entry doors</a:t>
            </a:r>
          </a:p>
        </p:txBody>
      </p:sp>
      <p:sp>
        <p:nvSpPr>
          <p:cNvPr id="5" name="Rectangle 4"/>
          <p:cNvSpPr/>
          <p:nvPr/>
        </p:nvSpPr>
        <p:spPr>
          <a:xfrm>
            <a:off x="3171680" y="1445680"/>
            <a:ext cx="5848640" cy="4559450"/>
          </a:xfrm>
          <a:prstGeom prst="rect">
            <a:avLst/>
          </a:prstGeom>
          <a:solidFill>
            <a:srgbClr val="FFFFF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mpetitive_positioning.png"/>
          <p:cNvPicPr>
            <a:picLocks noChangeAspect="1"/>
          </p:cNvPicPr>
          <p:nvPr/>
        </p:nvPicPr>
        <p:blipFill>
          <a:blip r:embed="rId2"/>
          <a:stretch>
            <a:fillRect/>
          </a:stretch>
        </p:blipFill>
        <p:spPr>
          <a:xfrm>
            <a:off x="3446000" y="1720000"/>
            <a:ext cx="5300000" cy="4010810"/>
          </a:xfrm>
          <a:prstGeom prst="rect">
            <a:avLst/>
          </a:prstGeom>
        </p:spPr>
      </p:pic>
      <p:sp>
        <p:nvSpPr>
          <p:cNvPr id="7" name="TextBox 6"/>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8" name="TextBox 7"/>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19</a:t>
            </a:r>
          </a:p>
        </p:txBody>
      </p:sp>
      <p:cxnSp>
        <p:nvCxnSpPr>
          <p:cNvPr id="9" name="Connector 8"/>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COMPETITIVE POSITION</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What each incumbent already owns</a:t>
            </a:r>
          </a:p>
        </p:txBody>
      </p:sp>
      <p:sp>
        <p:nvSpPr>
          <p:cNvPr id="5" name="Rectangle 4"/>
          <p:cNvSpPr/>
          <p:nvPr/>
        </p:nvSpPr>
        <p:spPr>
          <a:xfrm>
            <a:off x="640080" y="1680000"/>
            <a:ext cx="5318760" cy="13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80000"/>
            <a:ext cx="50800" cy="1350000"/>
          </a:xfrm>
          <a:prstGeom prst="rect">
            <a:avLst/>
          </a:prstGeom>
          <a:solidFill>
            <a:srgbClr val="5B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8040" y="1880000"/>
            <a:ext cx="400000" cy="40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IN</a:t>
            </a:r>
          </a:p>
        </p:txBody>
      </p:sp>
      <p:sp>
        <p:nvSpPr>
          <p:cNvPr id="8" name="TextBox 7"/>
          <p:cNvSpPr txBox="1"/>
          <p:nvPr/>
        </p:nvSpPr>
        <p:spPr>
          <a:xfrm>
            <a:off x="1348040" y="18800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Intercom / Fin</a:t>
            </a:r>
          </a:p>
        </p:txBody>
      </p:sp>
      <p:sp>
        <p:nvSpPr>
          <p:cNvPr id="9" name="TextBox 8"/>
          <p:cNvSpPr txBox="1"/>
          <p:nvPr/>
        </p:nvSpPr>
        <p:spPr>
          <a:xfrm>
            <a:off x="828040" y="2400000"/>
            <a:ext cx="4848760" cy="53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Promise (V1–V3): AI resolution, clear outcome unit. Weakness (R1, R2): complex workflows can shift work back to support ops.</a:t>
            </a:r>
          </a:p>
        </p:txBody>
      </p:sp>
      <p:sp>
        <p:nvSpPr>
          <p:cNvPr id="10" name="Rectangle 9"/>
          <p:cNvSpPr/>
          <p:nvPr/>
        </p:nvSpPr>
        <p:spPr>
          <a:xfrm>
            <a:off x="6233160" y="1680000"/>
            <a:ext cx="5318760" cy="13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160" y="1680000"/>
            <a:ext cx="50800" cy="1350000"/>
          </a:xfrm>
          <a:prstGeom prst="rect">
            <a:avLst/>
          </a:prstGeom>
          <a:solidFill>
            <a:srgbClr val="5B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1120" y="1880000"/>
            <a:ext cx="400000" cy="40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ZD</a:t>
            </a:r>
          </a:p>
        </p:txBody>
      </p:sp>
      <p:sp>
        <p:nvSpPr>
          <p:cNvPr id="13" name="TextBox 12"/>
          <p:cNvSpPr txBox="1"/>
          <p:nvPr/>
        </p:nvSpPr>
        <p:spPr>
          <a:xfrm>
            <a:off x="6941120" y="18800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Zendesk AI</a:t>
            </a:r>
          </a:p>
        </p:txBody>
      </p:sp>
      <p:sp>
        <p:nvSpPr>
          <p:cNvPr id="14" name="TextBox 13"/>
          <p:cNvSpPr txBox="1"/>
          <p:nvPr/>
        </p:nvSpPr>
        <p:spPr>
          <a:xfrm>
            <a:off x="6421120" y="2400000"/>
            <a:ext cx="4848760" cy="53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Promise (V4, V5): complete service ops with embedded AI. Weakness (R3, R4): breadth raises configuration and cost complexity.</a:t>
            </a:r>
          </a:p>
        </p:txBody>
      </p:sp>
      <p:sp>
        <p:nvSpPr>
          <p:cNvPr id="15" name="Rectangle 14"/>
          <p:cNvSpPr/>
          <p:nvPr/>
        </p:nvSpPr>
        <p:spPr>
          <a:xfrm>
            <a:off x="640080" y="3258600"/>
            <a:ext cx="5318760" cy="13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258600"/>
            <a:ext cx="50800" cy="1350000"/>
          </a:xfrm>
          <a:prstGeom prst="rect">
            <a:avLst/>
          </a:prstGeom>
          <a:solidFill>
            <a:srgbClr val="5B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8040" y="3458600"/>
            <a:ext cx="400000" cy="40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FD</a:t>
            </a:r>
          </a:p>
        </p:txBody>
      </p:sp>
      <p:sp>
        <p:nvSpPr>
          <p:cNvPr id="18" name="TextBox 17"/>
          <p:cNvSpPr txBox="1"/>
          <p:nvPr/>
        </p:nvSpPr>
        <p:spPr>
          <a:xfrm>
            <a:off x="1348040" y="34586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Freshdesk / Freddy AI</a:t>
            </a:r>
          </a:p>
        </p:txBody>
      </p:sp>
      <p:sp>
        <p:nvSpPr>
          <p:cNvPr id="19" name="TextBox 18"/>
          <p:cNvSpPr txBox="1"/>
          <p:nvPr/>
        </p:nvSpPr>
        <p:spPr>
          <a:xfrm>
            <a:off x="828040" y="3978600"/>
            <a:ext cx="4848760" cy="53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Promise (V6–V8): approachable omnichannel, packaged AI. Weakness (R5): advanced depth lags as teams mature.</a:t>
            </a:r>
          </a:p>
        </p:txBody>
      </p:sp>
      <p:sp>
        <p:nvSpPr>
          <p:cNvPr id="20" name="Rectangle 19"/>
          <p:cNvSpPr/>
          <p:nvPr/>
        </p:nvSpPr>
        <p:spPr>
          <a:xfrm>
            <a:off x="6233160" y="3258600"/>
            <a:ext cx="5318760" cy="135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160" y="3258600"/>
            <a:ext cx="50800" cy="1350000"/>
          </a:xfrm>
          <a:prstGeom prst="rect">
            <a:avLst/>
          </a:prstGeom>
          <a:solidFill>
            <a:srgbClr val="5B64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1120" y="3458600"/>
            <a:ext cx="400000" cy="40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SF</a:t>
            </a:r>
          </a:p>
        </p:txBody>
      </p:sp>
      <p:sp>
        <p:nvSpPr>
          <p:cNvPr id="23" name="TextBox 22"/>
          <p:cNvSpPr txBox="1"/>
          <p:nvPr/>
        </p:nvSpPr>
        <p:spPr>
          <a:xfrm>
            <a:off x="6941120" y="3458600"/>
            <a:ext cx="4378760" cy="460000"/>
          </a:xfrm>
          <a:prstGeom prst="rect">
            <a:avLst/>
          </a:prstGeom>
          <a:noFill/>
        </p:spPr>
        <p:txBody>
          <a:bodyPr wrap="square" anchor="ctr" lIns="0" rIns="0" tIns="0" bIns="0">
            <a:spAutoFit/>
          </a:bodyPr>
          <a:lstStyle/>
          <a:p>
            <a:pPr algn="l">
              <a:lnSpc>
                <a:spcPct val="105000"/>
              </a:lnSpc>
            </a:pPr>
            <a:r>
              <a:rPr sz="1250" b="1" i="0">
                <a:solidFill>
                  <a:srgbClr val="1A1A1A"/>
                </a:solidFill>
                <a:latin typeface="Arial"/>
              </a:rPr>
              <a:t>Salesforce / Agentforce</a:t>
            </a:r>
          </a:p>
        </p:txBody>
      </p:sp>
      <p:sp>
        <p:nvSpPr>
          <p:cNvPr id="24" name="TextBox 23"/>
          <p:cNvSpPr txBox="1"/>
          <p:nvPr/>
        </p:nvSpPr>
        <p:spPr>
          <a:xfrm>
            <a:off x="6421120" y="3978600"/>
            <a:ext cx="4848760" cy="530000"/>
          </a:xfrm>
          <a:prstGeom prst="rect">
            <a:avLst/>
          </a:prstGeom>
          <a:noFill/>
        </p:spPr>
        <p:txBody>
          <a:bodyPr wrap="square" anchor="t" lIns="0" rIns="0" tIns="0" bIns="0">
            <a:spAutoFit/>
          </a:bodyPr>
          <a:lstStyle/>
          <a:p>
            <a:pPr algn="l">
              <a:lnSpc>
                <a:spcPct val="120000"/>
              </a:lnSpc>
            </a:pPr>
            <a:r>
              <a:rPr sz="900" b="0" i="0">
                <a:solidFill>
                  <a:srgbClr val="5B6470"/>
                </a:solidFill>
                <a:latin typeface="Arial"/>
              </a:rPr>
              <a:t>Promise (V9–V11): governed AI on trusted CRM context. Weakness (R6): time to value and cross-cloud complexity.</a:t>
            </a:r>
          </a:p>
        </p:txBody>
      </p:sp>
      <p:sp>
        <p:nvSpPr>
          <p:cNvPr id="25" name="TextBox 24"/>
          <p:cNvSpPr txBox="1"/>
          <p:nvPr/>
        </p:nvSpPr>
        <p:spPr>
          <a:xfrm>
            <a:off x="640080" y="5580000"/>
            <a:ext cx="10911840" cy="320000"/>
          </a:xfrm>
          <a:prstGeom prst="rect">
            <a:avLst/>
          </a:prstGeom>
          <a:noFill/>
        </p:spPr>
        <p:txBody>
          <a:bodyPr wrap="square" anchor="t" lIns="0" rIns="0" tIns="0" bIns="0">
            <a:spAutoFit/>
          </a:bodyPr>
          <a:lstStyle/>
          <a:p>
            <a:pPr algn="l"/>
            <a:r>
              <a:rPr sz="950" b="0" i="1">
                <a:solidFill>
                  <a:srgbClr val="5B6470"/>
                </a:solidFill>
                <a:latin typeface="Arial"/>
              </a:rPr>
              <a:t>Rejected differentiators: “uses AI,” “unifies context,” “integrates,” “governed and secure,” “vendor neutral” — necessary, none sufficient.</a:t>
            </a:r>
          </a:p>
        </p:txBody>
      </p:sp>
      <p:sp>
        <p:nvSpPr>
          <p:cNvPr id="26" name="TextBox 25"/>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27" name="TextBox 26"/>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20</a:t>
            </a:r>
          </a:p>
        </p:txBody>
      </p:sp>
      <p:cxnSp>
        <p:nvCxnSpPr>
          <p:cNvPr id="28" name="Connector 27"/>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WEDGE AND VULNERABILITY</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Where each incumbent is strong, and where to test</a:t>
            </a:r>
          </a:p>
        </p:txBody>
      </p:sp>
      <p:graphicFrame>
        <p:nvGraphicFramePr>
          <p:cNvPr id="5" name="Table 4"/>
          <p:cNvGraphicFramePr>
            <a:graphicFrameLocks noGrp="1"/>
          </p:cNvGraphicFramePr>
          <p:nvPr/>
        </p:nvGraphicFramePr>
        <p:xfrm>
          <a:off x="640080" y="1780000"/>
          <a:ext cx="10911840" cy="3300000"/>
        </p:xfrm>
        <a:graphic>
          <a:graphicData uri="http://schemas.openxmlformats.org/drawingml/2006/table">
            <a:tbl>
              <a:tblPr firstRow="0" bandRow="0">
                <a:tableStyleId>{5C22544A-7EE6-4342-B048-85BDC9FD1C3A}</a:tableStyleId>
              </a:tblPr>
              <a:tblGrid>
                <a:gridCol w="2100000"/>
                <a:gridCol w="2500000"/>
                <a:gridCol w="3200000"/>
                <a:gridCol w="3111840"/>
              </a:tblGrid>
              <a:tr h="500000">
                <a:tc>
                  <a:txBody>
                    <a:bodyPr wrap="square"/>
                    <a:lstStyle/>
                    <a:p>
                      <a:pPr algn="l"/>
                      <a:r>
                        <a:rPr sz="850" b="1">
                          <a:solidFill>
                            <a:srgbClr val="FFFFFF"/>
                          </a:solidFill>
                          <a:latin typeface="Arial"/>
                        </a:rPr>
                        <a:t>PRODUCT</a:t>
                      </a:r>
                    </a:p>
                  </a:txBody>
                  <a:tcPr marL="91440" marR="91440" marT="45720" marB="45720" anchor="ctr">
                    <a:solidFill>
                      <a:srgbClr val="8A480B"/>
                    </a:solidFill>
                  </a:tcPr>
                </a:tc>
                <a:tc>
                  <a:txBody>
                    <a:bodyPr wrap="square"/>
                    <a:lstStyle/>
                    <a:p>
                      <a:pPr algn="l"/>
                      <a:r>
                        <a:rPr sz="850" b="1">
                          <a:solidFill>
                            <a:srgbClr val="FFFFFF"/>
                          </a:solidFill>
                          <a:latin typeface="Arial"/>
                        </a:rPr>
                        <a:t>ENTRY WEDGE</a:t>
                      </a:r>
                    </a:p>
                  </a:txBody>
                  <a:tcPr marL="91440" marR="91440" marT="45720" marB="45720" anchor="ctr">
                    <a:solidFill>
                      <a:srgbClr val="8A480B"/>
                    </a:solidFill>
                  </a:tcPr>
                </a:tc>
                <a:tc>
                  <a:txBody>
                    <a:bodyPr wrap="square"/>
                    <a:lstStyle/>
                    <a:p>
                      <a:pPr algn="l"/>
                      <a:r>
                        <a:rPr sz="850" b="1">
                          <a:solidFill>
                            <a:srgbClr val="FFFFFF"/>
                          </a:solidFill>
                          <a:latin typeface="Arial"/>
                        </a:rPr>
                        <a:t>WHAT COMPOUNDS</a:t>
                      </a:r>
                    </a:p>
                  </a:txBody>
                  <a:tcPr marL="91440" marR="91440" marT="45720" marB="45720" anchor="ctr">
                    <a:solidFill>
                      <a:srgbClr val="8A480B"/>
                    </a:solidFill>
                  </a:tcPr>
                </a:tc>
                <a:tc>
                  <a:txBody>
                    <a:bodyPr wrap="square"/>
                    <a:lstStyle/>
                    <a:p>
                      <a:pPr algn="l"/>
                      <a:r>
                        <a:rPr sz="850" b="1">
                          <a:solidFill>
                            <a:srgbClr val="FFFFFF"/>
                          </a:solidFill>
                          <a:latin typeface="Arial"/>
                        </a:rPr>
                        <a:t>VULNERABILITY TO TEST</a:t>
                      </a:r>
                    </a:p>
                  </a:txBody>
                  <a:tcPr marL="91440" marR="91440" marT="45720" marB="45720" anchor="ctr">
                    <a:solidFill>
                      <a:srgbClr val="8A480B"/>
                    </a:solidFill>
                  </a:tcPr>
                </a:tc>
              </a:tr>
              <a:tr h="700000">
                <a:tc>
                  <a:txBody>
                    <a:bodyPr wrap="square"/>
                    <a:lstStyle/>
                    <a:p>
                      <a:pPr algn="l"/>
                      <a:r>
                        <a:rPr sz="880" b="1">
                          <a:solidFill>
                            <a:srgbClr val="1A1A1A"/>
                          </a:solidFill>
                          <a:latin typeface="Arial"/>
                        </a:rPr>
                        <a:t>Intercom / Fin</a:t>
                      </a:r>
                    </a:p>
                  </a:txBody>
                  <a:tcPr marL="91440" marR="91440" marT="45720" marB="45720" anchor="ctr">
                    <a:solidFill>
                      <a:srgbClr val="FFFFFF"/>
                    </a:solidFill>
                  </a:tcPr>
                </a:tc>
                <a:tc>
                  <a:txBody>
                    <a:bodyPr wrap="square"/>
                    <a:lstStyle/>
                    <a:p>
                      <a:pPr algn="l"/>
                      <a:r>
                        <a:rPr sz="880" b="0">
                          <a:solidFill>
                            <a:srgbClr val="5B6470"/>
                          </a:solidFill>
                          <a:latin typeface="Arial"/>
                        </a:rPr>
                        <a:t>Standalone, outcome-priced AI agent</a:t>
                      </a:r>
                    </a:p>
                  </a:txBody>
                  <a:tcPr marL="91440" marR="91440" marT="45720" marB="45720" anchor="ctr">
                    <a:solidFill>
                      <a:srgbClr val="FFFFFF"/>
                    </a:solidFill>
                  </a:tcPr>
                </a:tc>
                <a:tc>
                  <a:txBody>
                    <a:bodyPr wrap="square"/>
                    <a:lstStyle/>
                    <a:p>
                      <a:pPr algn="l"/>
                      <a:r>
                        <a:rPr sz="880" b="0">
                          <a:solidFill>
                            <a:srgbClr val="5B6470"/>
                          </a:solidFill>
                          <a:latin typeface="Arial"/>
                        </a:rPr>
                        <a:t>Conversation, knowledge, workflow, evaluation data</a:t>
                      </a:r>
                    </a:p>
                  </a:txBody>
                  <a:tcPr marL="91440" marR="91440" marT="45720" marB="45720" anchor="ctr">
                    <a:solidFill>
                      <a:srgbClr val="FFFFFF"/>
                    </a:solidFill>
                  </a:tcPr>
                </a:tc>
                <a:tc>
                  <a:txBody>
                    <a:bodyPr wrap="square"/>
                    <a:lstStyle/>
                    <a:p>
                      <a:pPr algn="l"/>
                      <a:r>
                        <a:rPr sz="880" b="0">
                          <a:solidFill>
                            <a:srgbClr val="5B6470"/>
                          </a:solidFill>
                          <a:latin typeface="Arial"/>
                        </a:rPr>
                        <a:t>Tuning effort, handoff quality, cost predictability</a:t>
                      </a:r>
                    </a:p>
                  </a:txBody>
                  <a:tcPr marL="91440" marR="91440" marT="45720" marB="45720" anchor="ctr">
                    <a:solidFill>
                      <a:srgbClr val="FFFFFF"/>
                    </a:solidFill>
                  </a:tcPr>
                </a:tc>
              </a:tr>
              <a:tr h="700000">
                <a:tc>
                  <a:txBody>
                    <a:bodyPr wrap="square"/>
                    <a:lstStyle/>
                    <a:p>
                      <a:pPr algn="l"/>
                      <a:r>
                        <a:rPr sz="880" b="1">
                          <a:solidFill>
                            <a:srgbClr val="1A1A1A"/>
                          </a:solidFill>
                          <a:latin typeface="Arial"/>
                        </a:rPr>
                        <a:t>Zendesk AI</a:t>
                      </a:r>
                    </a:p>
                  </a:txBody>
                  <a:tcPr marL="91440" marR="91440" marT="45720" marB="45720" anchor="ctr">
                    <a:solidFill>
                      <a:srgbClr val="FBEBD9"/>
                    </a:solidFill>
                  </a:tcPr>
                </a:tc>
                <a:tc>
                  <a:txBody>
                    <a:bodyPr wrap="square"/>
                    <a:lstStyle/>
                    <a:p>
                      <a:pPr algn="l"/>
                      <a:r>
                        <a:rPr sz="880" b="0">
                          <a:solidFill>
                            <a:srgbClr val="5B6470"/>
                          </a:solidFill>
                          <a:latin typeface="Arial"/>
                        </a:rPr>
                        <a:t>Trusted ticketing system of record</a:t>
                      </a:r>
                    </a:p>
                  </a:txBody>
                  <a:tcPr marL="91440" marR="91440" marT="45720" marB="45720" anchor="ctr">
                    <a:solidFill>
                      <a:srgbClr val="FBEBD9"/>
                    </a:solidFill>
                  </a:tcPr>
                </a:tc>
                <a:tc>
                  <a:txBody>
                    <a:bodyPr wrap="square"/>
                    <a:lstStyle/>
                    <a:p>
                      <a:pPr algn="l"/>
                      <a:r>
                        <a:rPr sz="880" b="0">
                          <a:solidFill>
                            <a:srgbClr val="5B6470"/>
                          </a:solidFill>
                          <a:latin typeface="Arial"/>
                        </a:rPr>
                        <a:t>Case history, routing, reporting, marketplace</a:t>
                      </a:r>
                    </a:p>
                  </a:txBody>
                  <a:tcPr marL="91440" marR="91440" marT="45720" marB="45720" anchor="ctr">
                    <a:solidFill>
                      <a:srgbClr val="FBEBD9"/>
                    </a:solidFill>
                  </a:tcPr>
                </a:tc>
                <a:tc>
                  <a:txBody>
                    <a:bodyPr wrap="square"/>
                    <a:lstStyle/>
                    <a:p>
                      <a:pPr algn="l"/>
                      <a:r>
                        <a:rPr sz="880" b="0">
                          <a:solidFill>
                            <a:srgbClr val="5B6470"/>
                          </a:solidFill>
                          <a:latin typeface="Arial"/>
                        </a:rPr>
                        <a:t>Setup effort and workflow-specific resolution quality</a:t>
                      </a:r>
                    </a:p>
                  </a:txBody>
                  <a:tcPr marL="91440" marR="91440" marT="45720" marB="45720" anchor="ctr">
                    <a:solidFill>
                      <a:srgbClr val="FBEBD9"/>
                    </a:solidFill>
                  </a:tcPr>
                </a:tc>
              </a:tr>
              <a:tr h="700000">
                <a:tc>
                  <a:txBody>
                    <a:bodyPr wrap="square"/>
                    <a:lstStyle/>
                    <a:p>
                      <a:pPr algn="l"/>
                      <a:r>
                        <a:rPr sz="880" b="1">
                          <a:solidFill>
                            <a:srgbClr val="1A1A1A"/>
                          </a:solidFill>
                          <a:latin typeface="Arial"/>
                        </a:rPr>
                        <a:t>Freshdesk / Freddy AI</a:t>
                      </a:r>
                    </a:p>
                  </a:txBody>
                  <a:tcPr marL="91440" marR="91440" marT="45720" marB="45720" anchor="ctr">
                    <a:solidFill>
                      <a:srgbClr val="FFFFFF"/>
                    </a:solidFill>
                  </a:tcPr>
                </a:tc>
                <a:tc>
                  <a:txBody>
                    <a:bodyPr wrap="square"/>
                    <a:lstStyle/>
                    <a:p>
                      <a:pPr algn="l"/>
                      <a:r>
                        <a:rPr sz="880" b="0">
                          <a:solidFill>
                            <a:srgbClr val="5B6470"/>
                          </a:solidFill>
                          <a:latin typeface="Arial"/>
                        </a:rPr>
                        <a:t>Ease and accessible price-to-value</a:t>
                      </a:r>
                    </a:p>
                  </a:txBody>
                  <a:tcPr marL="91440" marR="91440" marT="45720" marB="45720" anchor="ctr">
                    <a:solidFill>
                      <a:srgbClr val="FFFFFF"/>
                    </a:solidFill>
                  </a:tcPr>
                </a:tc>
                <a:tc>
                  <a:txBody>
                    <a:bodyPr wrap="square"/>
                    <a:lstStyle/>
                    <a:p>
                      <a:pPr algn="l"/>
                      <a:r>
                        <a:rPr sz="880" b="0">
                          <a:solidFill>
                            <a:srgbClr val="5B6470"/>
                          </a:solidFill>
                          <a:latin typeface="Arial"/>
                        </a:rPr>
                        <a:t>Configured helpdesk workflow, apps, suite</a:t>
                      </a:r>
                    </a:p>
                  </a:txBody>
                  <a:tcPr marL="91440" marR="91440" marT="45720" marB="45720" anchor="ctr">
                    <a:solidFill>
                      <a:srgbClr val="FFFFFF"/>
                    </a:solidFill>
                  </a:tcPr>
                </a:tc>
                <a:tc>
                  <a:txBody>
                    <a:bodyPr wrap="square"/>
                    <a:lstStyle/>
                    <a:p>
                      <a:pPr algn="l"/>
                      <a:r>
                        <a:rPr sz="880" b="0">
                          <a:solidFill>
                            <a:srgbClr val="5B6470"/>
                          </a:solidFill>
                          <a:latin typeface="Arial"/>
                        </a:rPr>
                        <a:t>Advanced depth and integration reliability</a:t>
                      </a:r>
                    </a:p>
                  </a:txBody>
                  <a:tcPr marL="91440" marR="91440" marT="45720" marB="45720" anchor="ctr">
                    <a:solidFill>
                      <a:srgbClr val="FFFFFF"/>
                    </a:solidFill>
                  </a:tcPr>
                </a:tc>
              </a:tr>
              <a:tr h="700000">
                <a:tc>
                  <a:txBody>
                    <a:bodyPr wrap="square"/>
                    <a:lstStyle/>
                    <a:p>
                      <a:pPr algn="l"/>
                      <a:r>
                        <a:rPr sz="880" b="1">
                          <a:solidFill>
                            <a:srgbClr val="1A1A1A"/>
                          </a:solidFill>
                          <a:latin typeface="Arial"/>
                        </a:rPr>
                        <a:t>Salesforce / Agentforce</a:t>
                      </a:r>
                    </a:p>
                  </a:txBody>
                  <a:tcPr marL="91440" marR="91440" marT="45720" marB="45720" anchor="ctr">
                    <a:solidFill>
                      <a:srgbClr val="FBEBD9"/>
                    </a:solidFill>
                  </a:tcPr>
                </a:tc>
                <a:tc>
                  <a:txBody>
                    <a:bodyPr wrap="square"/>
                    <a:lstStyle/>
                    <a:p>
                      <a:pPr algn="l"/>
                      <a:r>
                        <a:rPr sz="880" b="0">
                          <a:solidFill>
                            <a:srgbClr val="5B6470"/>
                          </a:solidFill>
                          <a:latin typeface="Arial"/>
                        </a:rPr>
                        <a:t>CRM context, enterprise governance</a:t>
                      </a:r>
                    </a:p>
                  </a:txBody>
                  <a:tcPr marL="91440" marR="91440" marT="45720" marB="45720" anchor="ctr">
                    <a:solidFill>
                      <a:srgbClr val="FBEBD9"/>
                    </a:solidFill>
                  </a:tcPr>
                </a:tc>
                <a:tc>
                  <a:txBody>
                    <a:bodyPr wrap="square"/>
                    <a:lstStyle/>
                    <a:p>
                      <a:pPr algn="l"/>
                      <a:r>
                        <a:rPr sz="880" b="0">
                          <a:solidFill>
                            <a:srgbClr val="5B6470"/>
                          </a:solidFill>
                          <a:latin typeface="Arial"/>
                        </a:rPr>
                        <a:t>Data, flows, permissions, partners</a:t>
                      </a:r>
                    </a:p>
                  </a:txBody>
                  <a:tcPr marL="91440" marR="91440" marT="45720" marB="45720" anchor="ctr">
                    <a:solidFill>
                      <a:srgbClr val="FBEBD9"/>
                    </a:solidFill>
                  </a:tcPr>
                </a:tc>
                <a:tc>
                  <a:txBody>
                    <a:bodyPr wrap="square"/>
                    <a:lstStyle/>
                    <a:p>
                      <a:pPr algn="l"/>
                      <a:r>
                        <a:rPr sz="880" b="0">
                          <a:solidFill>
                            <a:srgbClr val="5B6470"/>
                          </a:solidFill>
                          <a:latin typeface="Arial"/>
                        </a:rPr>
                        <a:t>Time to value, fit for non-Salesforce stacks</a:t>
                      </a:r>
                    </a:p>
                  </a:txBody>
                  <a:tcPr marL="91440" marR="91440" marT="45720" marB="45720" anchor="ctr">
                    <a:solidFill>
                      <a:srgbClr val="FBEBD9"/>
                    </a:solidFill>
                  </a:tcPr>
                </a:tc>
              </a:tr>
            </a:tbl>
          </a:graphicData>
        </a:graphic>
      </p:graphicFrame>
      <p:sp>
        <p:nvSpPr>
          <p:cNvPr id="6" name="TextBox 5"/>
          <p:cNvSpPr txBox="1"/>
          <p:nvPr/>
        </p:nvSpPr>
        <p:spPr>
          <a:xfrm>
            <a:off x="640080" y="5480000"/>
            <a:ext cx="10911840" cy="320000"/>
          </a:xfrm>
          <a:prstGeom prst="rect">
            <a:avLst/>
          </a:prstGeom>
          <a:noFill/>
        </p:spPr>
        <p:txBody>
          <a:bodyPr wrap="square" anchor="t" lIns="0" rIns="0" tIns="0" bIns="0">
            <a:spAutoFit/>
          </a:bodyPr>
          <a:lstStyle/>
          <a:p>
            <a:pPr algn="l"/>
            <a:r>
              <a:rPr sz="900" b="0" i="1">
                <a:solidFill>
                  <a:srgbClr val="5B6470"/>
                </a:solidFill>
                <a:latin typeface="Arial"/>
              </a:rPr>
              <a:t>H: derived from current vendor positioning, packaging, and workflow — not independently measured moats.</a:t>
            </a:r>
          </a:p>
        </p:txBody>
      </p:sp>
      <p:sp>
        <p:nvSpPr>
          <p:cNvPr id="7" name="TextBox 6"/>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8" name="TextBox 7"/>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21</a:t>
            </a:r>
          </a:p>
        </p:txBody>
      </p:sp>
      <p:cxnSp>
        <p:nvCxnSpPr>
          <p:cNvPr id="9" name="Connector 8"/>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CROWDED CAPABILITY SPACE</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Seven capabilities every incumbent already claims</a:t>
            </a:r>
          </a:p>
        </p:txBody>
      </p:sp>
      <p:sp>
        <p:nvSpPr>
          <p:cNvPr id="5" name="Rounded Rectangle 4"/>
          <p:cNvSpPr/>
          <p:nvPr/>
        </p:nvSpPr>
        <p:spPr>
          <a:xfrm>
            <a:off x="640080" y="182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1</a:t>
            </a:r>
          </a:p>
        </p:txBody>
      </p:sp>
      <p:sp>
        <p:nvSpPr>
          <p:cNvPr id="6" name="TextBox 5"/>
          <p:cNvSpPr txBox="1"/>
          <p:nvPr/>
        </p:nvSpPr>
        <p:spPr>
          <a:xfrm>
            <a:off x="1120080" y="178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AI agents and knowledge-grounded answers</a:t>
            </a:r>
          </a:p>
        </p:txBody>
      </p:sp>
      <p:sp>
        <p:nvSpPr>
          <p:cNvPr id="7" name="Rounded Rectangle 6"/>
          <p:cNvSpPr/>
          <p:nvPr/>
        </p:nvSpPr>
        <p:spPr>
          <a:xfrm>
            <a:off x="640080" y="230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2</a:t>
            </a:r>
          </a:p>
        </p:txBody>
      </p:sp>
      <p:sp>
        <p:nvSpPr>
          <p:cNvPr id="8" name="TextBox 7"/>
          <p:cNvSpPr txBox="1"/>
          <p:nvPr/>
        </p:nvSpPr>
        <p:spPr>
          <a:xfrm>
            <a:off x="1120080" y="226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Agent assistance and summarization</a:t>
            </a:r>
          </a:p>
        </p:txBody>
      </p:sp>
      <p:sp>
        <p:nvSpPr>
          <p:cNvPr id="9" name="Rounded Rectangle 8"/>
          <p:cNvSpPr/>
          <p:nvPr/>
        </p:nvSpPr>
        <p:spPr>
          <a:xfrm>
            <a:off x="640080" y="278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3</a:t>
            </a:r>
          </a:p>
        </p:txBody>
      </p:sp>
      <p:sp>
        <p:nvSpPr>
          <p:cNvPr id="10" name="TextBox 9"/>
          <p:cNvSpPr txBox="1"/>
          <p:nvPr/>
        </p:nvSpPr>
        <p:spPr>
          <a:xfrm>
            <a:off x="1120080" y="274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Human handoff and approvals</a:t>
            </a:r>
          </a:p>
        </p:txBody>
      </p:sp>
      <p:sp>
        <p:nvSpPr>
          <p:cNvPr id="11" name="Rounded Rectangle 10"/>
          <p:cNvSpPr/>
          <p:nvPr/>
        </p:nvSpPr>
        <p:spPr>
          <a:xfrm>
            <a:off x="640080" y="326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4</a:t>
            </a:r>
          </a:p>
        </p:txBody>
      </p:sp>
      <p:sp>
        <p:nvSpPr>
          <p:cNvPr id="12" name="TextBox 11"/>
          <p:cNvSpPr txBox="1"/>
          <p:nvPr/>
        </p:nvSpPr>
        <p:spPr>
          <a:xfrm>
            <a:off x="1120080" y="322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External integrations and system actions</a:t>
            </a:r>
          </a:p>
        </p:txBody>
      </p:sp>
      <p:sp>
        <p:nvSpPr>
          <p:cNvPr id="13" name="Rounded Rectangle 12"/>
          <p:cNvSpPr/>
          <p:nvPr/>
        </p:nvSpPr>
        <p:spPr>
          <a:xfrm>
            <a:off x="640080" y="374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5</a:t>
            </a:r>
          </a:p>
        </p:txBody>
      </p:sp>
      <p:sp>
        <p:nvSpPr>
          <p:cNvPr id="14" name="TextBox 13"/>
          <p:cNvSpPr txBox="1"/>
          <p:nvPr/>
        </p:nvSpPr>
        <p:spPr>
          <a:xfrm>
            <a:off x="1120080" y="370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Analytics, evaluation, and governance</a:t>
            </a:r>
          </a:p>
        </p:txBody>
      </p:sp>
      <p:sp>
        <p:nvSpPr>
          <p:cNvPr id="15" name="Rounded Rectangle 14"/>
          <p:cNvSpPr/>
          <p:nvPr/>
        </p:nvSpPr>
        <p:spPr>
          <a:xfrm>
            <a:off x="640080" y="422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6</a:t>
            </a:r>
          </a:p>
        </p:txBody>
      </p:sp>
      <p:sp>
        <p:nvSpPr>
          <p:cNvPr id="16" name="TextBox 15"/>
          <p:cNvSpPr txBox="1"/>
          <p:nvPr/>
        </p:nvSpPr>
        <p:spPr>
          <a:xfrm>
            <a:off x="1120080" y="418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Usage- or outcome-based pricing</a:t>
            </a:r>
          </a:p>
        </p:txBody>
      </p:sp>
      <p:sp>
        <p:nvSpPr>
          <p:cNvPr id="17" name="Rounded Rectangle 16"/>
          <p:cNvSpPr/>
          <p:nvPr/>
        </p:nvSpPr>
        <p:spPr>
          <a:xfrm>
            <a:off x="640080" y="4700000"/>
            <a:ext cx="340000" cy="340000"/>
          </a:xfrm>
          <a:prstGeom prst="roundRect">
            <a:avLst>
              <a:gd name="adj" fmla="val 22000"/>
            </a:avLst>
          </a:prstGeom>
          <a:solidFill>
            <a:srgbClr val="5B6470"/>
          </a:solidFill>
          <a:ln>
            <a:noFill/>
          </a:ln>
          <a:effectLst>
            <a:outerShdw blurRad="55000" dist="16000" dir="5400000" rotWithShape="0">
              <a:srgbClr val="1A1A1A">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Arial"/>
              </a:rPr>
              <a:t>7</a:t>
            </a:r>
          </a:p>
        </p:txBody>
      </p:sp>
      <p:sp>
        <p:nvSpPr>
          <p:cNvPr id="18" name="TextBox 17"/>
          <p:cNvSpPr txBox="1"/>
          <p:nvPr/>
        </p:nvSpPr>
        <p:spPr>
          <a:xfrm>
            <a:off x="1120080" y="4660000"/>
            <a:ext cx="10431840" cy="480000"/>
          </a:xfrm>
          <a:prstGeom prst="rect">
            <a:avLst/>
          </a:prstGeom>
          <a:noFill/>
        </p:spPr>
        <p:txBody>
          <a:bodyPr wrap="square" anchor="ctr" lIns="0" rIns="0" tIns="0" bIns="0">
            <a:spAutoFit/>
          </a:bodyPr>
          <a:lstStyle/>
          <a:p>
            <a:pPr algn="l">
              <a:lnSpc>
                <a:spcPct val="110000"/>
              </a:lnSpc>
            </a:pPr>
            <a:r>
              <a:rPr sz="1200" b="0" i="0">
                <a:solidFill>
                  <a:srgbClr val="1A1A1A"/>
                </a:solidFill>
                <a:latin typeface="Arial"/>
              </a:rPr>
              <a:t>Compatibility with an existing service stack</a:t>
            </a:r>
          </a:p>
        </p:txBody>
      </p:sp>
      <p:sp>
        <p:nvSpPr>
          <p:cNvPr id="19" name="Rectangle 18"/>
          <p:cNvSpPr/>
          <p:nvPr/>
        </p:nvSpPr>
        <p:spPr>
          <a:xfrm>
            <a:off x="640080" y="5290000"/>
            <a:ext cx="10911840" cy="70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290000"/>
            <a:ext cx="50800" cy="7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040" y="5290000"/>
            <a:ext cx="10211840" cy="700000"/>
          </a:xfrm>
          <a:prstGeom prst="rect">
            <a:avLst/>
          </a:prstGeom>
          <a:noFill/>
        </p:spPr>
        <p:txBody>
          <a:bodyPr wrap="square" anchor="ctr" lIns="0" rIns="0" tIns="0" bIns="0">
            <a:spAutoFit/>
          </a:bodyPr>
          <a:lstStyle/>
          <a:p>
            <a:pPr algn="l">
              <a:lnSpc>
                <a:spcPct val="120000"/>
              </a:lnSpc>
            </a:pPr>
            <a:r>
              <a:rPr sz="1000" b="0" i="0">
                <a:solidFill>
                  <a:srgbClr val="1A1A1A"/>
                </a:solidFill>
                <a:latin typeface="Arial"/>
              </a:rPr>
              <a:t>STRATEGY IMPLICATION   generic AI and integration claims cannot carry the product strategy. A credible entry needs one workflow where the product proves better completion, control, effort, or cost.</a:t>
            </a:r>
          </a:p>
        </p:txBody>
      </p:sp>
      <p:sp>
        <p:nvSpPr>
          <p:cNvPr id="22" name="TextBox 21"/>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23" name="TextBox 22"/>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22</a:t>
            </a:r>
          </a:p>
        </p:txBody>
      </p:sp>
      <p:cxnSp>
        <p:nvCxnSpPr>
          <p:cNvPr id="24" name="Connector 23"/>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INITIAL WORKFLOW</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The six-step workflow and its trust-graduated stages</a:t>
            </a:r>
          </a:p>
        </p:txBody>
      </p:sp>
      <p:graphicFrame>
        <p:nvGraphicFramePr>
          <p:cNvPr id="5" name="Table 4"/>
          <p:cNvGraphicFramePr>
            <a:graphicFrameLocks noGrp="1"/>
          </p:cNvGraphicFramePr>
          <p:nvPr/>
        </p:nvGraphicFramePr>
        <p:xfrm>
          <a:off x="640080" y="1780000"/>
          <a:ext cx="10911840" cy="3800000"/>
        </p:xfrm>
        <a:graphic>
          <a:graphicData uri="http://schemas.openxmlformats.org/drawingml/2006/table">
            <a:tbl>
              <a:tblPr firstRow="0" bandRow="0">
                <a:tableStyleId>{5C22544A-7EE6-4342-B048-85BDC9FD1C3A}</a:tableStyleId>
              </a:tblPr>
              <a:tblGrid>
                <a:gridCol w="1700000"/>
                <a:gridCol w="3700000"/>
                <a:gridCol w="2500000"/>
                <a:gridCol w="3011840"/>
              </a:tblGrid>
              <a:tr h="500000">
                <a:tc>
                  <a:txBody>
                    <a:bodyPr wrap="square"/>
                    <a:lstStyle/>
                    <a:p>
                      <a:pPr algn="l"/>
                      <a:r>
                        <a:rPr sz="850" b="1">
                          <a:solidFill>
                            <a:srgbClr val="FFFFFF"/>
                          </a:solidFill>
                          <a:latin typeface="Arial"/>
                        </a:rPr>
                        <a:t>STAGE</a:t>
                      </a:r>
                    </a:p>
                  </a:txBody>
                  <a:tcPr marL="91440" marR="91440" marT="45720" marB="45720" anchor="ctr">
                    <a:solidFill>
                      <a:srgbClr val="8A480B"/>
                    </a:solidFill>
                  </a:tcPr>
                </a:tc>
                <a:tc>
                  <a:txBody>
                    <a:bodyPr wrap="square"/>
                    <a:lstStyle/>
                    <a:p>
                      <a:pPr algn="l"/>
                      <a:r>
                        <a:rPr sz="850" b="1">
                          <a:solidFill>
                            <a:srgbClr val="FFFFFF"/>
                          </a:solidFill>
                          <a:latin typeface="Arial"/>
                        </a:rPr>
                        <a:t>WHAT SHIPS</a:t>
                      </a:r>
                    </a:p>
                  </a:txBody>
                  <a:tcPr marL="91440" marR="91440" marT="45720" marB="45720" anchor="ctr">
                    <a:solidFill>
                      <a:srgbClr val="8A480B"/>
                    </a:solidFill>
                  </a:tcPr>
                </a:tc>
                <a:tc>
                  <a:txBody>
                    <a:bodyPr wrap="square"/>
                    <a:lstStyle/>
                    <a:p>
                      <a:pPr algn="l"/>
                      <a:r>
                        <a:rPr sz="850" b="1">
                          <a:solidFill>
                            <a:srgbClr val="FFFFFF"/>
                          </a:solidFill>
                          <a:latin typeface="Arial"/>
                        </a:rPr>
                        <a:t>ACCESS REQUIRED</a:t>
                      </a:r>
                    </a:p>
                  </a:txBody>
                  <a:tcPr marL="91440" marR="91440" marT="45720" marB="45720" anchor="ctr">
                    <a:solidFill>
                      <a:srgbClr val="8A480B"/>
                    </a:solidFill>
                  </a:tcPr>
                </a:tc>
                <a:tc>
                  <a:txBody>
                    <a:bodyPr wrap="square"/>
                    <a:lstStyle/>
                    <a:p>
                      <a:pPr algn="l"/>
                      <a:r>
                        <a:rPr sz="850" b="1">
                          <a:solidFill>
                            <a:srgbClr val="FFFFFF"/>
                          </a:solidFill>
                          <a:latin typeface="Arial"/>
                        </a:rPr>
                        <a:t>EXIT SIGNAL</a:t>
                      </a:r>
                    </a:p>
                  </a:txBody>
                  <a:tcPr marL="91440" marR="91440" marT="45720" marB="45720" anchor="ctr">
                    <a:solidFill>
                      <a:srgbClr val="8A480B"/>
                    </a:solidFill>
                  </a:tcPr>
                </a:tc>
              </a:tr>
              <a:tr h="700000">
                <a:tc>
                  <a:txBody>
                    <a:bodyPr wrap="square"/>
                    <a:lstStyle/>
                    <a:p>
                      <a:pPr algn="l"/>
                      <a:r>
                        <a:rPr sz="900" b="1">
                          <a:solidFill>
                            <a:srgbClr val="1A1A1A"/>
                          </a:solidFill>
                          <a:latin typeface="Arial"/>
                        </a:rPr>
                        <a:t>Land</a:t>
                      </a:r>
                    </a:p>
                  </a:txBody>
                  <a:tcPr marL="91440" marR="91440" marT="45720" marB="45720" anchor="ctr">
                    <a:solidFill>
                      <a:srgbClr val="FFFFFF"/>
                    </a:solidFill>
                  </a:tcPr>
                </a:tc>
                <a:tc>
                  <a:txBody>
                    <a:bodyPr wrap="square"/>
                    <a:lstStyle/>
                    <a:p>
                      <a:pPr algn="l"/>
                      <a:r>
                        <a:rPr sz="900" b="0">
                          <a:solidFill>
                            <a:srgbClr val="5B6470"/>
                          </a:solidFill>
                          <a:latin typeface="Arial"/>
                        </a:rPr>
                        <a:t>Read-only view (steps 1–3). No draft, no write-back.</a:t>
                      </a:r>
                    </a:p>
                  </a:txBody>
                  <a:tcPr marL="91440" marR="91440" marT="45720" marB="45720" anchor="ctr">
                    <a:solidFill>
                      <a:srgbClr val="FFFFFF"/>
                    </a:solidFill>
                  </a:tcPr>
                </a:tc>
                <a:tc>
                  <a:txBody>
                    <a:bodyPr wrap="square"/>
                    <a:lstStyle/>
                    <a:p>
                      <a:pPr algn="l"/>
                      <a:r>
                        <a:rPr sz="900" b="0">
                          <a:solidFill>
                            <a:srgbClr val="5B6470"/>
                          </a:solidFill>
                          <a:latin typeface="Arial"/>
                        </a:rPr>
                        <a:t>Read-only, zero write scopes</a:t>
                      </a:r>
                    </a:p>
                  </a:txBody>
                  <a:tcPr marL="91440" marR="91440" marT="45720" marB="45720" anchor="ctr">
                    <a:solidFill>
                      <a:srgbClr val="FFFFFF"/>
                    </a:solidFill>
                  </a:tcPr>
                </a:tc>
                <a:tc>
                  <a:txBody>
                    <a:bodyPr wrap="square"/>
                    <a:lstStyle/>
                    <a:p>
                      <a:pPr algn="l"/>
                      <a:r>
                        <a:rPr sz="900" b="0">
                          <a:solidFill>
                            <a:srgbClr val="5B6470"/>
                          </a:solidFill>
                          <a:latin typeface="Arial"/>
                        </a:rPr>
                        <a:t>Unprompted use; time-to-context drops</a:t>
                      </a:r>
                    </a:p>
                  </a:txBody>
                  <a:tcPr marL="91440" marR="91440" marT="45720" marB="45720" anchor="ctr">
                    <a:solidFill>
                      <a:srgbClr val="FFFFFF"/>
                    </a:solidFill>
                  </a:tcPr>
                </a:tc>
              </a:tr>
              <a:tr h="600000">
                <a:tc>
                  <a:txBody>
                    <a:bodyPr wrap="square"/>
                    <a:lstStyle/>
                    <a:p>
                      <a:pPr algn="l"/>
                      <a:r>
                        <a:rPr sz="900" b="1">
                          <a:solidFill>
                            <a:srgbClr val="1A1A1A"/>
                          </a:solidFill>
                          <a:latin typeface="Arial"/>
                        </a:rPr>
                        <a:t>Control / Prove</a:t>
                      </a:r>
                    </a:p>
                  </a:txBody>
                  <a:tcPr marL="91440" marR="91440" marT="45720" marB="45720" anchor="ctr">
                    <a:solidFill>
                      <a:srgbClr val="FBEBD9"/>
                    </a:solidFill>
                  </a:tcPr>
                </a:tc>
                <a:tc>
                  <a:txBody>
                    <a:bodyPr wrap="square"/>
                    <a:lstStyle/>
                    <a:p>
                      <a:pPr algn="l"/>
                      <a:r>
                        <a:rPr sz="900" b="0">
                          <a:solidFill>
                            <a:srgbClr val="5B6470"/>
                          </a:solidFill>
                          <a:latin typeface="Arial"/>
                        </a:rPr>
                        <a:t>Same surface, same access. Measure minutes saved.</a:t>
                      </a:r>
                    </a:p>
                  </a:txBody>
                  <a:tcPr marL="91440" marR="91440" marT="45720" marB="45720" anchor="ctr">
                    <a:solidFill>
                      <a:srgbClr val="FBEBD9"/>
                    </a:solidFill>
                  </a:tcPr>
                </a:tc>
                <a:tc>
                  <a:txBody>
                    <a:bodyPr wrap="square"/>
                    <a:lstStyle/>
                    <a:p>
                      <a:pPr algn="l"/>
                      <a:r>
                        <a:rPr sz="900" b="0">
                          <a:solidFill>
                            <a:srgbClr val="5B6470"/>
                          </a:solidFill>
                          <a:latin typeface="Arial"/>
                        </a:rPr>
                        <a:t>Unchanged</a:t>
                      </a:r>
                    </a:p>
                  </a:txBody>
                  <a:tcPr marL="91440" marR="91440" marT="45720" marB="45720" anchor="ctr">
                    <a:solidFill>
                      <a:srgbClr val="FBEBD9"/>
                    </a:solidFill>
                  </a:tcPr>
                </a:tc>
                <a:tc>
                  <a:txBody>
                    <a:bodyPr wrap="square"/>
                    <a:lstStyle/>
                    <a:p>
                      <a:pPr algn="l"/>
                      <a:r>
                        <a:rPr sz="900" b="0">
                          <a:solidFill>
                            <a:srgbClr val="5B6470"/>
                          </a:solidFill>
                          <a:latin typeface="Arial"/>
                        </a:rPr>
                        <a:t>Sustained use, no incident</a:t>
                      </a:r>
                    </a:p>
                  </a:txBody>
                  <a:tcPr marL="91440" marR="91440" marT="45720" marB="45720" anchor="ctr">
                    <a:solidFill>
                      <a:srgbClr val="FBEBD9"/>
                    </a:solidFill>
                  </a:tcPr>
                </a:tc>
              </a:tr>
              <a:tr h="700000">
                <a:tc>
                  <a:txBody>
                    <a:bodyPr wrap="square"/>
                    <a:lstStyle/>
                    <a:p>
                      <a:pPr algn="l"/>
                      <a:r>
                        <a:rPr sz="900" b="1">
                          <a:solidFill>
                            <a:srgbClr val="1A1A1A"/>
                          </a:solidFill>
                          <a:latin typeface="Arial"/>
                        </a:rPr>
                        <a:t>Expand (early)</a:t>
                      </a:r>
                    </a:p>
                  </a:txBody>
                  <a:tcPr marL="91440" marR="91440" marT="45720" marB="45720" anchor="ctr">
                    <a:solidFill>
                      <a:srgbClr val="FFFFFF"/>
                    </a:solidFill>
                  </a:tcPr>
                </a:tc>
                <a:tc>
                  <a:txBody>
                    <a:bodyPr wrap="square"/>
                    <a:lstStyle/>
                    <a:p>
                      <a:pPr algn="l"/>
                      <a:r>
                        <a:rPr sz="900" b="0">
                          <a:solidFill>
                            <a:srgbClr val="5B6470"/>
                          </a:solidFill>
                          <a:latin typeface="Arial"/>
                        </a:rPr>
                        <a:t>Drafted suggestion (step 4), human-approved (step 5)</a:t>
                      </a:r>
                    </a:p>
                  </a:txBody>
                  <a:tcPr marL="91440" marR="91440" marT="45720" marB="45720" anchor="ctr">
                    <a:solidFill>
                      <a:srgbClr val="FFFFFF"/>
                    </a:solidFill>
                  </a:tcPr>
                </a:tc>
                <a:tc>
                  <a:txBody>
                    <a:bodyPr wrap="square"/>
                    <a:lstStyle/>
                    <a:p>
                      <a:pPr algn="l"/>
                      <a:r>
                        <a:rPr sz="900" b="0">
                          <a:solidFill>
                            <a:srgbClr val="5B6470"/>
                          </a:solidFill>
                          <a:latin typeface="Arial"/>
                        </a:rPr>
                        <a:t>+1 narrow write scope</a:t>
                      </a:r>
                    </a:p>
                  </a:txBody>
                  <a:tcPr marL="91440" marR="91440" marT="45720" marB="45720" anchor="ctr">
                    <a:solidFill>
                      <a:srgbClr val="FFFFFF"/>
                    </a:solidFill>
                  </a:tcPr>
                </a:tc>
                <a:tc>
                  <a:txBody>
                    <a:bodyPr wrap="square"/>
                    <a:lstStyle/>
                    <a:p>
                      <a:pPr algn="l"/>
                      <a:r>
                        <a:rPr sz="900" b="0">
                          <a:solidFill>
                            <a:srgbClr val="5B6470"/>
                          </a:solidFill>
                          <a:latin typeface="Arial"/>
                        </a:rPr>
                        <a:t>Drafts accepted often enough to save time</a:t>
                      </a:r>
                    </a:p>
                  </a:txBody>
                  <a:tcPr marL="91440" marR="91440" marT="45720" marB="45720" anchor="ctr">
                    <a:solidFill>
                      <a:srgbClr val="FFFFFF"/>
                    </a:solidFill>
                  </a:tcPr>
                </a:tc>
              </a:tr>
              <a:tr h="700000">
                <a:tc>
                  <a:txBody>
                    <a:bodyPr wrap="square"/>
                    <a:lstStyle/>
                    <a:p>
                      <a:pPr algn="l"/>
                      <a:r>
                        <a:rPr sz="900" b="1">
                          <a:solidFill>
                            <a:srgbClr val="1A1A1A"/>
                          </a:solidFill>
                          <a:latin typeface="Arial"/>
                        </a:rPr>
                        <a:t>Expand (later)</a:t>
                      </a:r>
                    </a:p>
                  </a:txBody>
                  <a:tcPr marL="91440" marR="91440" marT="45720" marB="45720" anchor="ctr">
                    <a:solidFill>
                      <a:srgbClr val="FBEBD9"/>
                    </a:solidFill>
                  </a:tcPr>
                </a:tc>
                <a:tc>
                  <a:txBody>
                    <a:bodyPr wrap="square"/>
                    <a:lstStyle/>
                    <a:p>
                      <a:pPr algn="l"/>
                      <a:r>
                        <a:rPr sz="900" b="0">
                          <a:solidFill>
                            <a:srgbClr val="5B6470"/>
                          </a:solidFill>
                          <a:latin typeface="Arial"/>
                        </a:rPr>
                        <a:t>Write-back (step 6); adjacent workflows</a:t>
                      </a:r>
                    </a:p>
                  </a:txBody>
                  <a:tcPr marL="91440" marR="91440" marT="45720" marB="45720" anchor="ctr">
                    <a:solidFill>
                      <a:srgbClr val="FBEBD9"/>
                    </a:solidFill>
                  </a:tcPr>
                </a:tc>
                <a:tc>
                  <a:txBody>
                    <a:bodyPr wrap="square"/>
                    <a:lstStyle/>
                    <a:p>
                      <a:pPr algn="l"/>
                      <a:r>
                        <a:rPr sz="900" b="0">
                          <a:solidFill>
                            <a:srgbClr val="5B6470"/>
                          </a:solidFill>
                          <a:latin typeface="Arial"/>
                        </a:rPr>
                        <a:t>Scoped, audited write-back</a:t>
                      </a:r>
                    </a:p>
                  </a:txBody>
                  <a:tcPr marL="91440" marR="91440" marT="45720" marB="45720" anchor="ctr">
                    <a:solidFill>
                      <a:srgbClr val="FBEBD9"/>
                    </a:solidFill>
                  </a:tcPr>
                </a:tc>
                <a:tc>
                  <a:txBody>
                    <a:bodyPr wrap="square"/>
                    <a:lstStyle/>
                    <a:p>
                      <a:pPr algn="l"/>
                      <a:r>
                        <a:rPr sz="900" b="0">
                          <a:solidFill>
                            <a:srgbClr val="5B6470"/>
                          </a:solidFill>
                          <a:latin typeface="Arial"/>
                        </a:rPr>
                        <a:t>Renewal, manager pull</a:t>
                      </a:r>
                    </a:p>
                  </a:txBody>
                  <a:tcPr marL="91440" marR="91440" marT="45720" marB="45720" anchor="ctr">
                    <a:solidFill>
                      <a:srgbClr val="FBEBD9"/>
                    </a:solidFill>
                  </a:tcPr>
                </a:tc>
              </a:tr>
              <a:tr h="600000">
                <a:tc>
                  <a:txBody>
                    <a:bodyPr wrap="square"/>
                    <a:lstStyle/>
                    <a:p>
                      <a:pPr algn="l"/>
                      <a:r>
                        <a:rPr sz="900" b="1">
                          <a:solidFill>
                            <a:srgbClr val="1A1A1A"/>
                          </a:solidFill>
                          <a:latin typeface="Arial"/>
                        </a:rPr>
                        <a:t>Platform yr 2–3</a:t>
                      </a:r>
                    </a:p>
                  </a:txBody>
                  <a:tcPr marL="91440" marR="91440" marT="45720" marB="45720" anchor="ctr">
                    <a:solidFill>
                      <a:srgbClr val="FFFFFF"/>
                    </a:solidFill>
                  </a:tcPr>
                </a:tc>
                <a:tc>
                  <a:txBody>
                    <a:bodyPr wrap="square"/>
                    <a:lstStyle/>
                    <a:p>
                      <a:pPr algn="l"/>
                      <a:r>
                        <a:rPr sz="900" b="0">
                          <a:solidFill>
                            <a:srgbClr val="5B6470"/>
                          </a:solidFill>
                          <a:latin typeface="Arial"/>
                        </a:rPr>
                        <a:t>Adjacent Customer Ops workflows, same model replayed</a:t>
                      </a:r>
                    </a:p>
                  </a:txBody>
                  <a:tcPr marL="91440" marR="91440" marT="45720" marB="45720" anchor="ctr">
                    <a:solidFill>
                      <a:srgbClr val="FFFFFF"/>
                    </a:solidFill>
                  </a:tcPr>
                </a:tc>
                <a:tc>
                  <a:txBody>
                    <a:bodyPr wrap="square"/>
                    <a:lstStyle/>
                    <a:p>
                      <a:pPr algn="l"/>
                      <a:r>
                        <a:rPr sz="900" b="0">
                          <a:solidFill>
                            <a:srgbClr val="5B6470"/>
                          </a:solidFill>
                          <a:latin typeface="Arial"/>
                        </a:rPr>
                        <a:t>Same model per workflow</a:t>
                      </a:r>
                    </a:p>
                  </a:txBody>
                  <a:tcPr marL="91440" marR="91440" marT="45720" marB="45720" anchor="ctr">
                    <a:solidFill>
                      <a:srgbClr val="FFFFFF"/>
                    </a:solidFill>
                  </a:tcPr>
                </a:tc>
                <a:tc>
                  <a:txBody>
                    <a:bodyPr wrap="square"/>
                    <a:lstStyle/>
                    <a:p>
                      <a:pPr algn="l"/>
                      <a:r>
                        <a:rPr sz="900" b="0">
                          <a:solidFill>
                            <a:srgbClr val="5B6470"/>
                          </a:solidFill>
                          <a:latin typeface="Arial"/>
                        </a:rPr>
                        <a:t>Expansion without a bespoke project</a:t>
                      </a:r>
                    </a:p>
                  </a:txBody>
                  <a:tcPr marL="91440" marR="91440" marT="45720" marB="45720" anchor="ctr">
                    <a:solidFill>
                      <a:srgbClr val="FFFFFF"/>
                    </a:solidFill>
                  </a:tcPr>
                </a:tc>
              </a:tr>
            </a:tbl>
          </a:graphicData>
        </a:graphic>
      </p:graphicFrame>
      <p:sp>
        <p:nvSpPr>
          <p:cNvPr id="6" name="TextBox 5"/>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7" name="TextBox 6"/>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23</a:t>
            </a:r>
          </a:p>
        </p:txBody>
      </p:sp>
      <p:cxnSp>
        <p:nvCxnSpPr>
          <p:cNvPr id="8" name="Connector 7"/>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ROADMAP</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Earn the platform, one gate at a time</a:t>
            </a:r>
          </a:p>
        </p:txBody>
      </p:sp>
      <p:graphicFrame>
        <p:nvGraphicFramePr>
          <p:cNvPr id="5" name="Table 4"/>
          <p:cNvGraphicFramePr>
            <a:graphicFrameLocks noGrp="1"/>
          </p:cNvGraphicFramePr>
          <p:nvPr/>
        </p:nvGraphicFramePr>
        <p:xfrm>
          <a:off x="640080" y="1780000"/>
          <a:ext cx="10911840" cy="2760000"/>
        </p:xfrm>
        <a:graphic>
          <a:graphicData uri="http://schemas.openxmlformats.org/drawingml/2006/table">
            <a:tbl>
              <a:tblPr firstRow="0" bandRow="0">
                <a:tableStyleId>{5C22544A-7EE6-4342-B048-85BDC9FD1C3A}</a:tableStyleId>
              </a:tblPr>
              <a:tblGrid>
                <a:gridCol w="2200000"/>
                <a:gridCol w="4000000"/>
                <a:gridCol w="4711840"/>
              </a:tblGrid>
              <a:tr h="460000">
                <a:tc>
                  <a:txBody>
                    <a:bodyPr wrap="square"/>
                    <a:lstStyle/>
                    <a:p>
                      <a:pPr algn="l"/>
                      <a:r>
                        <a:rPr sz="950" b="1">
                          <a:solidFill>
                            <a:srgbClr val="FFFFFF"/>
                          </a:solidFill>
                          <a:latin typeface="Arial"/>
                        </a:rPr>
                        <a:t>HORIZON</a:t>
                      </a:r>
                    </a:p>
                  </a:txBody>
                  <a:tcPr marL="91440" marR="91440" marT="45720" marB="45720" anchor="ctr">
                    <a:solidFill>
                      <a:srgbClr val="8A480B"/>
                    </a:solidFill>
                  </a:tcPr>
                </a:tc>
                <a:tc>
                  <a:txBody>
                    <a:bodyPr wrap="square"/>
                    <a:lstStyle/>
                    <a:p>
                      <a:pPr algn="l"/>
                      <a:r>
                        <a:rPr sz="950" b="1">
                          <a:solidFill>
                            <a:srgbClr val="FFFFFF"/>
                          </a:solidFill>
                          <a:latin typeface="Arial"/>
                        </a:rPr>
                        <a:t>GOAL</a:t>
                      </a:r>
                    </a:p>
                  </a:txBody>
                  <a:tcPr marL="91440" marR="91440" marT="45720" marB="45720" anchor="ctr">
                    <a:solidFill>
                      <a:srgbClr val="8A480B"/>
                    </a:solidFill>
                  </a:tcPr>
                </a:tc>
                <a:tc>
                  <a:txBody>
                    <a:bodyPr wrap="square"/>
                    <a:lstStyle/>
                    <a:p>
                      <a:pPr algn="l"/>
                      <a:r>
                        <a:rPr sz="950" b="1">
                          <a:solidFill>
                            <a:srgbClr val="FFFFFF"/>
                          </a:solidFill>
                          <a:latin typeface="Arial"/>
                        </a:rPr>
                        <a:t>EVIDENCE GATE</a:t>
                      </a:r>
                    </a:p>
                  </a:txBody>
                  <a:tcPr marL="91440" marR="91440" marT="45720" marB="45720" anchor="ctr">
                    <a:solidFill>
                      <a:srgbClr val="8A480B"/>
                    </a:solidFill>
                  </a:tcPr>
                </a:tc>
              </a:tr>
              <a:tr h="620000">
                <a:tc>
                  <a:txBody>
                    <a:bodyPr wrap="square"/>
                    <a:lstStyle/>
                    <a:p>
                      <a:pPr algn="l"/>
                      <a:r>
                        <a:rPr sz="1000" b="1">
                          <a:solidFill>
                            <a:srgbClr val="1A1A1A"/>
                          </a:solidFill>
                          <a:latin typeface="Arial"/>
                        </a:rPr>
                        <a:t>0–6 mo · Prove</a:t>
                      </a:r>
                    </a:p>
                  </a:txBody>
                  <a:tcPr marL="91440" marR="91440" marT="45720" marB="45720" anchor="ctr">
                    <a:solidFill>
                      <a:srgbClr val="FFFFFF"/>
                    </a:solidFill>
                  </a:tcPr>
                </a:tc>
                <a:tc>
                  <a:txBody>
                    <a:bodyPr wrap="square"/>
                    <a:lstStyle/>
                    <a:p>
                      <a:pPr algn="l"/>
                      <a:r>
                        <a:rPr sz="1000" b="0">
                          <a:solidFill>
                            <a:srgbClr val="5B6470"/>
                          </a:solidFill>
                          <a:latin typeface="Arial"/>
                        </a:rPr>
                        <a:t>One workflow in one segment</a:t>
                      </a:r>
                    </a:p>
                  </a:txBody>
                  <a:tcPr marL="91440" marR="91440" marT="45720" marB="45720" anchor="ctr">
                    <a:solidFill>
                      <a:srgbClr val="FFFFFF"/>
                    </a:solidFill>
                  </a:tcPr>
                </a:tc>
                <a:tc>
                  <a:txBody>
                    <a:bodyPr wrap="square"/>
                    <a:lstStyle/>
                    <a:p>
                      <a:pPr algn="l"/>
                      <a:r>
                        <a:rPr sz="1000" b="0">
                          <a:solidFill>
                            <a:srgbClr val="5B6470"/>
                          </a:solidFill>
                          <a:latin typeface="Arial"/>
                        </a:rPr>
                        <a:t>≥4 customers show the same workflow; ≥2 paid/committed pilots</a:t>
                      </a:r>
                    </a:p>
                  </a:txBody>
                  <a:tcPr marL="91440" marR="91440" marT="45720" marB="45720" anchor="ctr">
                    <a:solidFill>
                      <a:srgbClr val="FFFFFF"/>
                    </a:solidFill>
                  </a:tcPr>
                </a:tc>
              </a:tr>
              <a:tr h="560000">
                <a:tc>
                  <a:txBody>
                    <a:bodyPr wrap="square"/>
                    <a:lstStyle/>
                    <a:p>
                      <a:pPr algn="l"/>
                      <a:r>
                        <a:rPr sz="1000" b="1">
                          <a:solidFill>
                            <a:srgbClr val="1A1A1A"/>
                          </a:solidFill>
                          <a:latin typeface="Arial"/>
                        </a:rPr>
                        <a:t>6–12 mo · Repeat</a:t>
                      </a:r>
                    </a:p>
                  </a:txBody>
                  <a:tcPr marL="91440" marR="91440" marT="45720" marB="45720" anchor="ctr">
                    <a:solidFill>
                      <a:srgbClr val="FBEBD9"/>
                    </a:solidFill>
                  </a:tcPr>
                </a:tc>
                <a:tc>
                  <a:txBody>
                    <a:bodyPr wrap="square"/>
                    <a:lstStyle/>
                    <a:p>
                      <a:pPr algn="l"/>
                      <a:r>
                        <a:rPr sz="1000" b="0">
                          <a:solidFill>
                            <a:srgbClr val="5B6470"/>
                          </a:solidFill>
                          <a:latin typeface="Arial"/>
                        </a:rPr>
                        <a:t>Deploy the same workflow faster</a:t>
                      </a:r>
                    </a:p>
                  </a:txBody>
                  <a:tcPr marL="91440" marR="91440" marT="45720" marB="45720" anchor="ctr">
                    <a:solidFill>
                      <a:srgbClr val="FBEBD9"/>
                    </a:solidFill>
                  </a:tcPr>
                </a:tc>
                <a:tc>
                  <a:txBody>
                    <a:bodyPr wrap="square"/>
                    <a:lstStyle/>
                    <a:p>
                      <a:pPr algn="l"/>
                      <a:r>
                        <a:rPr sz="1000" b="0">
                          <a:solidFill>
                            <a:srgbClr val="5B6470"/>
                          </a:solidFill>
                          <a:latin typeface="Arial"/>
                        </a:rPr>
                        <a:t>Faster repeat deploys; retention; acceptable margin</a:t>
                      </a:r>
                    </a:p>
                  </a:txBody>
                  <a:tcPr marL="91440" marR="91440" marT="45720" marB="45720" anchor="ctr">
                    <a:solidFill>
                      <a:srgbClr val="FBEBD9"/>
                    </a:solidFill>
                  </a:tcPr>
                </a:tc>
              </a:tr>
              <a:tr h="560000">
                <a:tc>
                  <a:txBody>
                    <a:bodyPr wrap="square"/>
                    <a:lstStyle/>
                    <a:p>
                      <a:pPr algn="l"/>
                      <a:r>
                        <a:rPr sz="1000" b="1">
                          <a:solidFill>
                            <a:srgbClr val="1A1A1A"/>
                          </a:solidFill>
                          <a:latin typeface="Arial"/>
                        </a:rPr>
                        <a:t>12–24 mo · Expand</a:t>
                      </a:r>
                    </a:p>
                  </a:txBody>
                  <a:tcPr marL="91440" marR="91440" marT="45720" marB="45720" anchor="ctr">
                    <a:solidFill>
                      <a:srgbClr val="FFFFFF"/>
                    </a:solidFill>
                  </a:tcPr>
                </a:tc>
                <a:tc>
                  <a:txBody>
                    <a:bodyPr wrap="square"/>
                    <a:lstStyle/>
                    <a:p>
                      <a:pPr algn="l"/>
                      <a:r>
                        <a:rPr sz="1000" b="0">
                          <a:solidFill>
                            <a:srgbClr val="5B6470"/>
                          </a:solidFill>
                          <a:latin typeface="Arial"/>
                        </a:rPr>
                        <a:t>Adjacent workflows for the same team</a:t>
                      </a:r>
                    </a:p>
                  </a:txBody>
                  <a:tcPr marL="91440" marR="91440" marT="45720" marB="45720" anchor="ctr">
                    <a:solidFill>
                      <a:srgbClr val="FFFFFF"/>
                    </a:solidFill>
                  </a:tcPr>
                </a:tc>
                <a:tc>
                  <a:txBody>
                    <a:bodyPr wrap="square"/>
                    <a:lstStyle/>
                    <a:p>
                      <a:pPr algn="l"/>
                      <a:r>
                        <a:rPr sz="1000" b="0">
                          <a:solidFill>
                            <a:srgbClr val="5B6470"/>
                          </a:solidFill>
                          <a:latin typeface="Arial"/>
                        </a:rPr>
                        <a:t>Usage/renewal pull; repeatable cross-workflow expansion</a:t>
                      </a:r>
                    </a:p>
                  </a:txBody>
                  <a:tcPr marL="91440" marR="91440" marT="45720" marB="45720" anchor="ctr">
                    <a:solidFill>
                      <a:srgbClr val="FFFFFF"/>
                    </a:solidFill>
                  </a:tcPr>
                </a:tc>
              </a:tr>
              <a:tr h="560000">
                <a:tc>
                  <a:txBody>
                    <a:bodyPr wrap="square"/>
                    <a:lstStyle/>
                    <a:p>
                      <a:pPr algn="l"/>
                      <a:r>
                        <a:rPr sz="1000" b="1">
                          <a:solidFill>
                            <a:srgbClr val="1A1A1A"/>
                          </a:solidFill>
                          <a:latin typeface="Arial"/>
                        </a:rPr>
                        <a:t>24–36 mo · Platform</a:t>
                      </a:r>
                    </a:p>
                  </a:txBody>
                  <a:tcPr marL="91440" marR="91440" marT="45720" marB="45720" anchor="ctr">
                    <a:solidFill>
                      <a:srgbClr val="FBEBD9"/>
                    </a:solidFill>
                  </a:tcPr>
                </a:tc>
                <a:tc>
                  <a:txBody>
                    <a:bodyPr wrap="square"/>
                    <a:lstStyle/>
                    <a:p>
                      <a:pPr algn="l"/>
                      <a:r>
                        <a:rPr sz="1000" b="0">
                          <a:solidFill>
                            <a:srgbClr val="5B6470"/>
                          </a:solidFill>
                          <a:latin typeface="Arial"/>
                        </a:rPr>
                        <a:t>Selected Customer Operations workflows</a:t>
                      </a:r>
                    </a:p>
                  </a:txBody>
                  <a:tcPr marL="91440" marR="91440" marT="45720" marB="45720" anchor="ctr">
                    <a:solidFill>
                      <a:srgbClr val="FBEBD9"/>
                    </a:solidFill>
                  </a:tcPr>
                </a:tc>
                <a:tc>
                  <a:txBody>
                    <a:bodyPr wrap="square"/>
                    <a:lstStyle/>
                    <a:p>
                      <a:pPr algn="l"/>
                      <a:r>
                        <a:rPr sz="1000" b="0">
                          <a:solidFill>
                            <a:srgbClr val="5B6470"/>
                          </a:solidFill>
                          <a:latin typeface="Arial"/>
                        </a:rPr>
                        <a:t>Expansion without custom-project economics</a:t>
                      </a:r>
                    </a:p>
                  </a:txBody>
                  <a:tcPr marL="91440" marR="91440" marT="45720" marB="45720" anchor="ctr">
                    <a:solidFill>
                      <a:srgbClr val="FBEBD9"/>
                    </a:solidFill>
                  </a:tcPr>
                </a:tc>
              </a:tr>
            </a:tbl>
          </a:graphicData>
        </a:graphic>
      </p:graphicFrame>
      <p:sp>
        <p:nvSpPr>
          <p:cNvPr id="6" name="Rectangle 5"/>
          <p:cNvSpPr/>
          <p:nvPr/>
        </p:nvSpPr>
        <p:spPr>
          <a:xfrm>
            <a:off x="640080" y="5100000"/>
            <a:ext cx="10911840" cy="7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5100000"/>
            <a:ext cx="50800" cy="7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5100000"/>
            <a:ext cx="10211840" cy="700000"/>
          </a:xfrm>
          <a:prstGeom prst="rect">
            <a:avLst/>
          </a:prstGeom>
          <a:noFill/>
        </p:spPr>
        <p:txBody>
          <a:bodyPr wrap="square" anchor="ctr" lIns="0" rIns="0" tIns="0" bIns="0">
            <a:spAutoFit/>
          </a:bodyPr>
          <a:lstStyle/>
          <a:p>
            <a:pPr algn="l">
              <a:lnSpc>
                <a:spcPct val="120000"/>
              </a:lnSpc>
            </a:pPr>
            <a:r>
              <a:rPr sz="950" b="0" i="0">
                <a:solidFill>
                  <a:srgbClr val="1A1A1A"/>
                </a:solidFill>
                <a:latin typeface="Arial"/>
              </a:rPr>
              <a:t>QUARTERLY STOP RULES   narrow or stop if customers prefer incumbent-native AI at acceptable cost; don't call it a platform until expansion happens without services-heavy customization.</a:t>
            </a:r>
          </a:p>
        </p:txBody>
      </p:sp>
      <p:sp>
        <p:nvSpPr>
          <p:cNvPr id="9" name="TextBox 8"/>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0" name="TextBox 9"/>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24</a:t>
            </a:r>
          </a:p>
        </p:txBody>
      </p:sp>
      <p:cxnSp>
        <p:nvCxnSpPr>
          <p:cNvPr id="11" name="Connector 10"/>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MOAT MECHANISMS</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How each mechanism compounds</a:t>
            </a:r>
          </a:p>
        </p:txBody>
      </p:sp>
      <p:graphicFrame>
        <p:nvGraphicFramePr>
          <p:cNvPr id="5" name="Table 4"/>
          <p:cNvGraphicFramePr>
            <a:graphicFrameLocks noGrp="1"/>
          </p:cNvGraphicFramePr>
          <p:nvPr/>
        </p:nvGraphicFramePr>
        <p:xfrm>
          <a:off x="640080" y="1780000"/>
          <a:ext cx="10911840" cy="3260000"/>
        </p:xfrm>
        <a:graphic>
          <a:graphicData uri="http://schemas.openxmlformats.org/drawingml/2006/table">
            <a:tbl>
              <a:tblPr firstRow="0" bandRow="0">
                <a:tableStyleId>{5C22544A-7EE6-4342-B048-85BDC9FD1C3A}</a:tableStyleId>
              </a:tblPr>
              <a:tblGrid>
                <a:gridCol w="2600000"/>
                <a:gridCol w="4900000"/>
                <a:gridCol w="3411840"/>
              </a:tblGrid>
              <a:tr h="460000">
                <a:tc>
                  <a:txBody>
                    <a:bodyPr wrap="square"/>
                    <a:lstStyle/>
                    <a:p>
                      <a:pPr algn="l"/>
                      <a:r>
                        <a:rPr sz="900" b="1">
                          <a:solidFill>
                            <a:srgbClr val="FFFFFF"/>
                          </a:solidFill>
                          <a:latin typeface="Arial"/>
                        </a:rPr>
                        <a:t>MECHANISM</a:t>
                      </a:r>
                    </a:p>
                  </a:txBody>
                  <a:tcPr marL="91440" marR="91440" marT="45720" marB="45720" anchor="ctr">
                    <a:solidFill>
                      <a:srgbClr val="8A480B"/>
                    </a:solidFill>
                  </a:tcPr>
                </a:tc>
                <a:tc>
                  <a:txBody>
                    <a:bodyPr wrap="square"/>
                    <a:lstStyle/>
                    <a:p>
                      <a:pPr algn="l"/>
                      <a:r>
                        <a:rPr sz="900" b="1">
                          <a:solidFill>
                            <a:srgbClr val="FFFFFF"/>
                          </a:solidFill>
                          <a:latin typeface="Arial"/>
                        </a:rPr>
                        <a:t>CONCRETE ARTIFACT</a:t>
                      </a:r>
                    </a:p>
                  </a:txBody>
                  <a:tcPr marL="91440" marR="91440" marT="45720" marB="45720" anchor="ctr">
                    <a:solidFill>
                      <a:srgbClr val="8A480B"/>
                    </a:solidFill>
                  </a:tcPr>
                </a:tc>
                <a:tc>
                  <a:txBody>
                    <a:bodyPr wrap="square"/>
                    <a:lstStyle/>
                    <a:p>
                      <a:pPr algn="l"/>
                      <a:r>
                        <a:rPr sz="900" b="1">
                          <a:solidFill>
                            <a:srgbClr val="FFFFFF"/>
                          </a:solidFill>
                          <a:latin typeface="Arial"/>
                        </a:rPr>
                        <a:t>RISK IT DEFEATS</a:t>
                      </a:r>
                    </a:p>
                  </a:txBody>
                  <a:tcPr marL="91440" marR="91440" marT="45720" marB="45720" anchor="ctr">
                    <a:solidFill>
                      <a:srgbClr val="8A480B"/>
                    </a:solidFill>
                  </a:tcPr>
                </a:tc>
              </a:tr>
              <a:tr h="560000">
                <a:tc>
                  <a:txBody>
                    <a:bodyPr wrap="square"/>
                    <a:lstStyle/>
                    <a:p>
                      <a:pPr algn="l"/>
                      <a:r>
                        <a:rPr sz="950" b="1">
                          <a:solidFill>
                            <a:srgbClr val="1A1A1A"/>
                          </a:solidFill>
                          <a:latin typeface="Arial"/>
                        </a:rPr>
                        <a:t>Workflow evaluation data</a:t>
                      </a:r>
                    </a:p>
                  </a:txBody>
                  <a:tcPr marL="91440" marR="91440" marT="45720" marB="45720" anchor="ctr">
                    <a:solidFill>
                      <a:srgbClr val="FFFFFF"/>
                    </a:solidFill>
                  </a:tcPr>
                </a:tc>
                <a:tc>
                  <a:txBody>
                    <a:bodyPr wrap="square"/>
                    <a:lstStyle/>
                    <a:p>
                      <a:pPr algn="l"/>
                      <a:r>
                        <a:rPr sz="950" b="0">
                          <a:solidFill>
                            <a:srgbClr val="5B6470"/>
                          </a:solidFill>
                          <a:latin typeface="Arial"/>
                        </a:rPr>
                        <a:t>Per-workflow library of correct/refuse/escalate examples</a:t>
                      </a:r>
                    </a:p>
                  </a:txBody>
                  <a:tcPr marL="91440" marR="91440" marT="45720" marB="45720" anchor="ctr">
                    <a:solidFill>
                      <a:srgbClr val="FFFFFF"/>
                    </a:solidFill>
                  </a:tcPr>
                </a:tc>
                <a:tc>
                  <a:txBody>
                    <a:bodyPr wrap="square"/>
                    <a:lstStyle/>
                    <a:p>
                      <a:pPr algn="l"/>
                      <a:r>
                        <a:rPr sz="950" b="0">
                          <a:solidFill>
                            <a:srgbClr val="5B6470"/>
                          </a:solidFill>
                          <a:latin typeface="Arial"/>
                        </a:rPr>
                        <a:t>Competitors starting quality from zero</a:t>
                      </a:r>
                    </a:p>
                  </a:txBody>
                  <a:tcPr marL="91440" marR="91440" marT="45720" marB="45720" anchor="ctr">
                    <a:solidFill>
                      <a:srgbClr val="FFFFFF"/>
                    </a:solidFill>
                  </a:tcPr>
                </a:tc>
              </a:tr>
              <a:tr h="560000">
                <a:tc>
                  <a:txBody>
                    <a:bodyPr wrap="square"/>
                    <a:lstStyle/>
                    <a:p>
                      <a:pPr algn="l"/>
                      <a:r>
                        <a:rPr sz="950" b="1">
                          <a:solidFill>
                            <a:srgbClr val="1A1A1A"/>
                          </a:solidFill>
                          <a:latin typeface="Arial"/>
                        </a:rPr>
                        <a:t>Reliable action contracts</a:t>
                      </a:r>
                    </a:p>
                  </a:txBody>
                  <a:tcPr marL="91440" marR="91440" marT="45720" marB="45720" anchor="ctr">
                    <a:solidFill>
                      <a:srgbClr val="FBEBD9"/>
                    </a:solidFill>
                  </a:tcPr>
                </a:tc>
                <a:tc>
                  <a:txBody>
                    <a:bodyPr wrap="square"/>
                    <a:lstStyle/>
                    <a:p>
                      <a:pPr algn="l"/>
                      <a:r>
                        <a:rPr sz="950" b="0">
                          <a:solidFill>
                            <a:srgbClr val="5B6470"/>
                          </a:solidFill>
                          <a:latin typeface="Arial"/>
                        </a:rPr>
                        <a:t>Versioned, scoped, audited, reversible connectors</a:t>
                      </a:r>
                    </a:p>
                  </a:txBody>
                  <a:tcPr marL="91440" marR="91440" marT="45720" marB="45720" anchor="ctr">
                    <a:solidFill>
                      <a:srgbClr val="FBEBD9"/>
                    </a:solidFill>
                  </a:tcPr>
                </a:tc>
                <a:tc>
                  <a:txBody>
                    <a:bodyPr wrap="square"/>
                    <a:lstStyle/>
                    <a:p>
                      <a:pPr algn="l"/>
                      <a:r>
                        <a:rPr sz="950" b="0">
                          <a:solidFill>
                            <a:srgbClr val="5B6470"/>
                          </a:solidFill>
                          <a:latin typeface="Arial"/>
                        </a:rPr>
                        <a:t>Easy-to-copy idea, hard-to-copy hardening</a:t>
                      </a:r>
                    </a:p>
                  </a:txBody>
                  <a:tcPr marL="91440" marR="91440" marT="45720" marB="45720" anchor="ctr">
                    <a:solidFill>
                      <a:srgbClr val="FBEBD9"/>
                    </a:solidFill>
                  </a:tcPr>
                </a:tc>
              </a:tr>
              <a:tr h="560000">
                <a:tc>
                  <a:txBody>
                    <a:bodyPr wrap="square"/>
                    <a:lstStyle/>
                    <a:p>
                      <a:pPr algn="l"/>
                      <a:r>
                        <a:rPr sz="950" b="1">
                          <a:solidFill>
                            <a:srgbClr val="1A1A1A"/>
                          </a:solidFill>
                          <a:latin typeface="Arial"/>
                        </a:rPr>
                        <a:t>Operational learning loop</a:t>
                      </a:r>
                    </a:p>
                  </a:txBody>
                  <a:tcPr marL="91440" marR="91440" marT="45720" marB="45720" anchor="ctr">
                    <a:solidFill>
                      <a:srgbClr val="FFFFFF"/>
                    </a:solidFill>
                  </a:tcPr>
                </a:tc>
                <a:tc>
                  <a:txBody>
                    <a:bodyPr wrap="square"/>
                    <a:lstStyle/>
                    <a:p>
                      <a:pPr algn="l"/>
                      <a:r>
                        <a:rPr sz="950" b="0">
                          <a:solidFill>
                            <a:srgbClr val="5B6470"/>
                          </a:solidFill>
                          <a:latin typeface="Arial"/>
                        </a:rPr>
                        <a:t>Corrections/reopens become regression tests</a:t>
                      </a:r>
                    </a:p>
                  </a:txBody>
                  <a:tcPr marL="91440" marR="91440" marT="45720" marB="45720" anchor="ctr">
                    <a:solidFill>
                      <a:srgbClr val="FFFFFF"/>
                    </a:solidFill>
                  </a:tcPr>
                </a:tc>
                <a:tc>
                  <a:txBody>
                    <a:bodyPr wrap="square"/>
                    <a:lstStyle/>
                    <a:p>
                      <a:pPr algn="l"/>
                      <a:r>
                        <a:rPr sz="950" b="0">
                          <a:solidFill>
                            <a:srgbClr val="5B6470"/>
                          </a:solidFill>
                          <a:latin typeface="Arial"/>
                        </a:rPr>
                        <a:t>Quality resetting each release</a:t>
                      </a:r>
                    </a:p>
                  </a:txBody>
                  <a:tcPr marL="91440" marR="91440" marT="45720" marB="45720" anchor="ctr">
                    <a:solidFill>
                      <a:srgbClr val="FFFFFF"/>
                    </a:solidFill>
                  </a:tcPr>
                </a:tc>
              </a:tr>
              <a:tr h="560000">
                <a:tc>
                  <a:txBody>
                    <a:bodyPr wrap="square"/>
                    <a:lstStyle/>
                    <a:p>
                      <a:pPr algn="l"/>
                      <a:r>
                        <a:rPr sz="950" b="1">
                          <a:solidFill>
                            <a:srgbClr val="1A1A1A"/>
                          </a:solidFill>
                          <a:latin typeface="Arial"/>
                        </a:rPr>
                        <a:t>Repeatable deployment</a:t>
                      </a:r>
                    </a:p>
                  </a:txBody>
                  <a:tcPr marL="91440" marR="91440" marT="45720" marB="45720" anchor="ctr">
                    <a:solidFill>
                      <a:srgbClr val="FBEBD9"/>
                    </a:solidFill>
                  </a:tcPr>
                </a:tc>
                <a:tc>
                  <a:txBody>
                    <a:bodyPr wrap="square"/>
                    <a:lstStyle/>
                    <a:p>
                      <a:pPr algn="l"/>
                      <a:r>
                        <a:rPr sz="950" b="0">
                          <a:solidFill>
                            <a:srgbClr val="5B6470"/>
                          </a:solidFill>
                          <a:latin typeface="Arial"/>
                        </a:rPr>
                        <a:t>Templates per stack combination</a:t>
                      </a:r>
                    </a:p>
                  </a:txBody>
                  <a:tcPr marL="91440" marR="91440" marT="45720" marB="45720" anchor="ctr">
                    <a:solidFill>
                      <a:srgbClr val="FBEBD9"/>
                    </a:solidFill>
                  </a:tcPr>
                </a:tc>
                <a:tc>
                  <a:txBody>
                    <a:bodyPr wrap="square"/>
                    <a:lstStyle/>
                    <a:p>
                      <a:pPr algn="l"/>
                      <a:r>
                        <a:rPr sz="950" b="0">
                          <a:solidFill>
                            <a:srgbClr val="5B6470"/>
                          </a:solidFill>
                          <a:latin typeface="Arial"/>
                        </a:rPr>
                        <a:t>Slow, costly repeat deployments</a:t>
                      </a:r>
                    </a:p>
                  </a:txBody>
                  <a:tcPr marL="91440" marR="91440" marT="45720" marB="45720" anchor="ctr">
                    <a:solidFill>
                      <a:srgbClr val="FBEBD9"/>
                    </a:solidFill>
                  </a:tcPr>
                </a:tc>
              </a:tr>
              <a:tr h="560000">
                <a:tc>
                  <a:txBody>
                    <a:bodyPr wrap="square"/>
                    <a:lstStyle/>
                    <a:p>
                      <a:pPr algn="l"/>
                      <a:r>
                        <a:rPr sz="950" b="1">
                          <a:solidFill>
                            <a:srgbClr val="1A1A1A"/>
                          </a:solidFill>
                          <a:latin typeface="Arial"/>
                        </a:rPr>
                        <a:t>Switching cost, trusted ops</a:t>
                      </a:r>
                    </a:p>
                  </a:txBody>
                  <a:tcPr marL="91440" marR="91440" marT="45720" marB="45720" anchor="ctr">
                    <a:solidFill>
                      <a:srgbClr val="FFFFFF"/>
                    </a:solidFill>
                  </a:tcPr>
                </a:tc>
                <a:tc>
                  <a:txBody>
                    <a:bodyPr wrap="square"/>
                    <a:lstStyle/>
                    <a:p>
                      <a:pPr algn="l"/>
                      <a:r>
                        <a:rPr sz="950" b="0">
                          <a:solidFill>
                            <a:srgbClr val="5B6470"/>
                          </a:solidFill>
                          <a:latin typeface="Arial"/>
                        </a:rPr>
                        <a:t>Per-customer permission + evaluation profile</a:t>
                      </a:r>
                    </a:p>
                  </a:txBody>
                  <a:tcPr marL="91440" marR="91440" marT="45720" marB="45720" anchor="ctr">
                    <a:solidFill>
                      <a:srgbClr val="FFFFFF"/>
                    </a:solidFill>
                  </a:tcPr>
                </a:tc>
                <a:tc>
                  <a:txBody>
                    <a:bodyPr wrap="square"/>
                    <a:lstStyle/>
                    <a:p>
                      <a:pPr algn="l"/>
                      <a:r>
                        <a:rPr sz="950" b="0">
                          <a:solidFill>
                            <a:srgbClr val="5B6470"/>
                          </a:solidFill>
                          <a:latin typeface="Arial"/>
                        </a:rPr>
                        <a:t>Easy vendor replacement</a:t>
                      </a:r>
                    </a:p>
                  </a:txBody>
                  <a:tcPr marL="91440" marR="91440" marT="45720" marB="45720" anchor="ctr">
                    <a:solidFill>
                      <a:srgbClr val="FFFFFF"/>
                    </a:solidFill>
                  </a:tcPr>
                </a:tc>
              </a:tr>
            </a:tbl>
          </a:graphicData>
        </a:graphic>
      </p:graphicFrame>
      <p:sp>
        <p:nvSpPr>
          <p:cNvPr id="6" name="TextBox 5"/>
          <p:cNvSpPr txBox="1"/>
          <p:nvPr/>
        </p:nvSpPr>
        <p:spPr>
          <a:xfrm>
            <a:off x="640080" y="5320000"/>
            <a:ext cx="10911840" cy="500000"/>
          </a:xfrm>
          <a:prstGeom prst="rect">
            <a:avLst/>
          </a:prstGeom>
          <a:noFill/>
        </p:spPr>
        <p:txBody>
          <a:bodyPr wrap="square" anchor="t" lIns="0" rIns="0" tIns="0" bIns="0">
            <a:spAutoFit/>
          </a:bodyPr>
          <a:lstStyle/>
          <a:p>
            <a:pPr algn="l">
              <a:lnSpc>
                <a:spcPct val="120000"/>
              </a:lnSpc>
            </a:pPr>
            <a:r>
              <a:rPr sz="950" b="0" i="1">
                <a:solidFill>
                  <a:srgbClr val="5B6470"/>
                </a:solidFill>
                <a:latin typeface="Arial"/>
              </a:rPr>
              <a:t>The first three mechanisms were already visible in the competitive teardown; the last two sharpen that list further. None of the five is the model, generic retrieval, or connector-catalogue size — those are copyable, not defensible.</a:t>
            </a:r>
          </a:p>
        </p:txBody>
      </p:sp>
      <p:sp>
        <p:nvSpPr>
          <p:cNvPr id="7" name="TextBox 6"/>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8" name="TextBox 7"/>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25</a:t>
            </a:r>
          </a:p>
        </p:txBody>
      </p:sp>
      <p:cxnSp>
        <p:nvCxnSpPr>
          <p:cNvPr id="9" name="Connector 8"/>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GTM, METRICS AND PRICING</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How the motion is measured and priced</a:t>
            </a:r>
          </a:p>
        </p:txBody>
      </p:sp>
      <p:graphicFrame>
        <p:nvGraphicFramePr>
          <p:cNvPr id="5" name="Table 4"/>
          <p:cNvGraphicFramePr>
            <a:graphicFrameLocks noGrp="1"/>
          </p:cNvGraphicFramePr>
          <p:nvPr/>
        </p:nvGraphicFramePr>
        <p:xfrm>
          <a:off x="640080" y="1700000"/>
          <a:ext cx="10911840" cy="2600000"/>
        </p:xfrm>
        <a:graphic>
          <a:graphicData uri="http://schemas.openxmlformats.org/drawingml/2006/table">
            <a:tbl>
              <a:tblPr firstRow="0" bandRow="0">
                <a:tableStyleId>{5C22544A-7EE6-4342-B048-85BDC9FD1C3A}</a:tableStyleId>
              </a:tblPr>
              <a:tblGrid>
                <a:gridCol w="1400000"/>
                <a:gridCol w="3400000"/>
                <a:gridCol w="2900000"/>
                <a:gridCol w="3211840"/>
              </a:tblGrid>
              <a:tr h="460000">
                <a:tc>
                  <a:txBody>
                    <a:bodyPr wrap="square"/>
                    <a:lstStyle/>
                    <a:p>
                      <a:pPr algn="l"/>
                      <a:r>
                        <a:rPr sz="850" b="1">
                          <a:solidFill>
                            <a:srgbClr val="FFFFFF"/>
                          </a:solidFill>
                          <a:latin typeface="Arial"/>
                        </a:rPr>
                        <a:t>MOTION</a:t>
                      </a:r>
                    </a:p>
                  </a:txBody>
                  <a:tcPr marL="91440" marR="91440" marT="45720" marB="45720" anchor="ctr">
                    <a:solidFill>
                      <a:srgbClr val="8A480B"/>
                    </a:solidFill>
                  </a:tcPr>
                </a:tc>
                <a:tc>
                  <a:txBody>
                    <a:bodyPr wrap="square"/>
                    <a:lstStyle/>
                    <a:p>
                      <a:pPr algn="l"/>
                      <a:r>
                        <a:rPr sz="850" b="1">
                          <a:solidFill>
                            <a:srgbClr val="FFFFFF"/>
                          </a:solidFill>
                          <a:latin typeface="Arial"/>
                        </a:rPr>
                        <a:t>WHO</a:t>
                      </a:r>
                    </a:p>
                  </a:txBody>
                  <a:tcPr marL="91440" marR="91440" marT="45720" marB="45720" anchor="ctr">
                    <a:solidFill>
                      <a:srgbClr val="8A480B"/>
                    </a:solidFill>
                  </a:tcPr>
                </a:tc>
                <a:tc>
                  <a:txBody>
                    <a:bodyPr wrap="square"/>
                    <a:lstStyle/>
                    <a:p>
                      <a:pPr algn="l"/>
                      <a:r>
                        <a:rPr sz="850" b="1">
                          <a:solidFill>
                            <a:srgbClr val="FFFFFF"/>
                          </a:solidFill>
                          <a:latin typeface="Arial"/>
                        </a:rPr>
                        <a:t>OFFER</a:t>
                      </a:r>
                    </a:p>
                  </a:txBody>
                  <a:tcPr marL="91440" marR="91440" marT="45720" marB="45720" anchor="ctr">
                    <a:solidFill>
                      <a:srgbClr val="8A480B"/>
                    </a:solidFill>
                  </a:tcPr>
                </a:tc>
                <a:tc>
                  <a:txBody>
                    <a:bodyPr wrap="square"/>
                    <a:lstStyle/>
                    <a:p>
                      <a:pPr algn="l"/>
                      <a:r>
                        <a:rPr sz="850" b="1">
                          <a:solidFill>
                            <a:srgbClr val="FFFFFF"/>
                          </a:solidFill>
                          <a:latin typeface="Arial"/>
                        </a:rPr>
                        <a:t>TRIGGER TO ADVANCE</a:t>
                      </a:r>
                    </a:p>
                  </a:txBody>
                  <a:tcPr marL="91440" marR="91440" marT="45720" marB="45720" anchor="ctr">
                    <a:solidFill>
                      <a:srgbClr val="8A480B"/>
                    </a:solidFill>
                  </a:tcPr>
                </a:tc>
              </a:tr>
              <a:tr h="620000">
                <a:tc>
                  <a:txBody>
                    <a:bodyPr wrap="square"/>
                    <a:lstStyle/>
                    <a:p>
                      <a:pPr algn="l"/>
                      <a:r>
                        <a:rPr sz="900" b="1">
                          <a:solidFill>
                            <a:srgbClr val="1A1A1A"/>
                          </a:solidFill>
                          <a:latin typeface="Arial"/>
                        </a:rPr>
                        <a:t>Land</a:t>
                      </a:r>
                    </a:p>
                  </a:txBody>
                  <a:tcPr marL="91440" marR="91440" marT="45720" marB="45720" anchor="ctr">
                    <a:solidFill>
                      <a:srgbClr val="FFFFFF"/>
                    </a:solidFill>
                  </a:tcPr>
                </a:tc>
                <a:tc>
                  <a:txBody>
                    <a:bodyPr wrap="square"/>
                    <a:lstStyle/>
                    <a:p>
                      <a:pPr algn="l"/>
                      <a:r>
                        <a:rPr sz="900" b="0">
                          <a:solidFill>
                            <a:srgbClr val="5B6470"/>
                          </a:solidFill>
                          <a:latin typeface="Arial"/>
                        </a:rPr>
                        <a:t>Head/VP Support or Customer Ops buys; Support Ops operates; IT/security approve</a:t>
                      </a:r>
                    </a:p>
                  </a:txBody>
                  <a:tcPr marL="91440" marR="91440" marT="45720" marB="45720" anchor="ctr">
                    <a:solidFill>
                      <a:srgbClr val="FFFFFF"/>
                    </a:solidFill>
                  </a:tcPr>
                </a:tc>
                <a:tc>
                  <a:txBody>
                    <a:bodyPr wrap="square"/>
                    <a:lstStyle/>
                    <a:p>
                      <a:pPr algn="l"/>
                      <a:r>
                        <a:rPr sz="900" b="0">
                          <a:solidFill>
                            <a:srgbClr val="5B6470"/>
                          </a:solidFill>
                          <a:latin typeface="Arial"/>
                        </a:rPr>
                        <a:t>30–60 day pilot for one workflow</a:t>
                      </a:r>
                    </a:p>
                  </a:txBody>
                  <a:tcPr marL="91440" marR="91440" marT="45720" marB="45720" anchor="ctr">
                    <a:solidFill>
                      <a:srgbClr val="FFFFFF"/>
                    </a:solidFill>
                  </a:tcPr>
                </a:tc>
                <a:tc>
                  <a:txBody>
                    <a:bodyPr wrap="square"/>
                    <a:lstStyle/>
                    <a:p>
                      <a:pPr algn="l"/>
                      <a:r>
                        <a:rPr sz="900" b="0">
                          <a:solidFill>
                            <a:srgbClr val="5B6470"/>
                          </a:solidFill>
                          <a:latin typeface="Arial"/>
                        </a:rPr>
                        <a:t>Baseline volume, measurable pain, access approved</a:t>
                      </a:r>
                    </a:p>
                  </a:txBody>
                  <a:tcPr marL="91440" marR="91440" marT="45720" marB="45720" anchor="ctr">
                    <a:solidFill>
                      <a:srgbClr val="FFFFFF"/>
                    </a:solidFill>
                  </a:tcPr>
                </a:tc>
              </a:tr>
              <a:tr h="560000">
                <a:tc>
                  <a:txBody>
                    <a:bodyPr wrap="square"/>
                    <a:lstStyle/>
                    <a:p>
                      <a:pPr algn="l"/>
                      <a:r>
                        <a:rPr sz="900" b="1">
                          <a:solidFill>
                            <a:srgbClr val="1A1A1A"/>
                          </a:solidFill>
                          <a:latin typeface="Arial"/>
                        </a:rPr>
                        <a:t>Control / Prove</a:t>
                      </a:r>
                    </a:p>
                  </a:txBody>
                  <a:tcPr marL="91440" marR="91440" marT="45720" marB="45720" anchor="ctr">
                    <a:solidFill>
                      <a:srgbClr val="FBEBD9"/>
                    </a:solidFill>
                  </a:tcPr>
                </a:tc>
                <a:tc>
                  <a:txBody>
                    <a:bodyPr wrap="square"/>
                    <a:lstStyle/>
                    <a:p>
                      <a:pPr algn="l"/>
                      <a:r>
                        <a:rPr sz="900" b="0">
                          <a:solidFill>
                            <a:srgbClr val="5B6470"/>
                          </a:solidFill>
                          <a:latin typeface="Arial"/>
                        </a:rPr>
                        <a:t>Frontline agents and support managers</a:t>
                      </a:r>
                    </a:p>
                  </a:txBody>
                  <a:tcPr marL="91440" marR="91440" marT="45720" marB="45720" anchor="ctr">
                    <a:solidFill>
                      <a:srgbClr val="FBEBD9"/>
                    </a:solidFill>
                  </a:tcPr>
                </a:tc>
                <a:tc>
                  <a:txBody>
                    <a:bodyPr wrap="square"/>
                    <a:lstStyle/>
                    <a:p>
                      <a:pPr algn="l"/>
                      <a:r>
                        <a:rPr sz="900" b="0">
                          <a:solidFill>
                            <a:srgbClr val="5B6470"/>
                          </a:solidFill>
                          <a:latin typeface="Arial"/>
                        </a:rPr>
                        <a:t>Shadow/assist workflow, read-only</a:t>
                      </a:r>
                    </a:p>
                  </a:txBody>
                  <a:tcPr marL="91440" marR="91440" marT="45720" marB="45720" anchor="ctr">
                    <a:solidFill>
                      <a:srgbClr val="FBEBD9"/>
                    </a:solidFill>
                  </a:tcPr>
                </a:tc>
                <a:tc>
                  <a:txBody>
                    <a:bodyPr wrap="square"/>
                    <a:lstStyle/>
                    <a:p>
                      <a:pPr algn="l"/>
                      <a:r>
                        <a:rPr sz="900" b="0">
                          <a:solidFill>
                            <a:srgbClr val="5B6470"/>
                          </a:solidFill>
                          <a:latin typeface="Arial"/>
                        </a:rPr>
                        <a:t>No rise in reopens, unsafe actions or audit gaps</a:t>
                      </a:r>
                    </a:p>
                  </a:txBody>
                  <a:tcPr marL="91440" marR="91440" marT="45720" marB="45720" anchor="ctr">
                    <a:solidFill>
                      <a:srgbClr val="FBEBD9"/>
                    </a:solidFill>
                  </a:tcPr>
                </a:tc>
              </a:tr>
              <a:tr h="480000">
                <a:tc>
                  <a:txBody>
                    <a:bodyPr wrap="square"/>
                    <a:lstStyle/>
                    <a:p>
                      <a:pPr algn="l"/>
                      <a:r>
                        <a:rPr sz="900" b="1">
                          <a:solidFill>
                            <a:srgbClr val="1A1A1A"/>
                          </a:solidFill>
                          <a:latin typeface="Arial"/>
                        </a:rPr>
                        <a:t>Expand (early)</a:t>
                      </a:r>
                    </a:p>
                  </a:txBody>
                  <a:tcPr marL="91440" marR="91440" marT="45720" marB="45720" anchor="ctr">
                    <a:solidFill>
                      <a:srgbClr val="FFFFFF"/>
                    </a:solidFill>
                  </a:tcPr>
                </a:tc>
                <a:tc>
                  <a:txBody>
                    <a:bodyPr wrap="square"/>
                    <a:lstStyle/>
                    <a:p>
                      <a:pPr algn="l"/>
                      <a:r>
                        <a:rPr sz="900" b="0">
                          <a:solidFill>
                            <a:srgbClr val="5B6470"/>
                          </a:solidFill>
                          <a:latin typeface="Arial"/>
                        </a:rPr>
                        <a:t>Same support team</a:t>
                      </a:r>
                    </a:p>
                  </a:txBody>
                  <a:tcPr marL="91440" marR="91440" marT="45720" marB="45720" anchor="ctr">
                    <a:solidFill>
                      <a:srgbClr val="FFFFFF"/>
                    </a:solidFill>
                  </a:tcPr>
                </a:tc>
                <a:tc>
                  <a:txBody>
                    <a:bodyPr wrap="square"/>
                    <a:lstStyle/>
                    <a:p>
                      <a:pPr algn="l"/>
                      <a:r>
                        <a:rPr sz="900" b="0">
                          <a:solidFill>
                            <a:srgbClr val="5B6470"/>
                          </a:solidFill>
                          <a:latin typeface="Arial"/>
                        </a:rPr>
                        <a:t>Adjacent variant or second system</a:t>
                      </a:r>
                    </a:p>
                  </a:txBody>
                  <a:tcPr marL="91440" marR="91440" marT="45720" marB="45720" anchor="ctr">
                    <a:solidFill>
                      <a:srgbClr val="FFFFFF"/>
                    </a:solidFill>
                  </a:tcPr>
                </a:tc>
                <a:tc>
                  <a:txBody>
                    <a:bodyPr wrap="square"/>
                    <a:lstStyle/>
                    <a:p>
                      <a:pPr algn="l"/>
                      <a:r>
                        <a:rPr sz="900" b="0">
                          <a:solidFill>
                            <a:srgbClr val="5B6470"/>
                          </a:solidFill>
                          <a:latin typeface="Arial"/>
                        </a:rPr>
                        <a:t>Repeated usage, manager pull</a:t>
                      </a:r>
                    </a:p>
                  </a:txBody>
                  <a:tcPr marL="91440" marR="91440" marT="45720" marB="45720" anchor="ctr">
                    <a:solidFill>
                      <a:srgbClr val="FFFFFF"/>
                    </a:solidFill>
                  </a:tcPr>
                </a:tc>
              </a:tr>
              <a:tr h="480000">
                <a:tc>
                  <a:txBody>
                    <a:bodyPr wrap="square"/>
                    <a:lstStyle/>
                    <a:p>
                      <a:pPr algn="l"/>
                      <a:r>
                        <a:rPr sz="900" b="1">
                          <a:solidFill>
                            <a:srgbClr val="1A1A1A"/>
                          </a:solidFill>
                          <a:latin typeface="Arial"/>
                        </a:rPr>
                        <a:t>Expand (later)</a:t>
                      </a:r>
                    </a:p>
                  </a:txBody>
                  <a:tcPr marL="91440" marR="91440" marT="45720" marB="45720" anchor="ctr">
                    <a:solidFill>
                      <a:srgbClr val="FBEBD9"/>
                    </a:solidFill>
                  </a:tcPr>
                </a:tc>
                <a:tc>
                  <a:txBody>
                    <a:bodyPr wrap="square"/>
                    <a:lstStyle/>
                    <a:p>
                      <a:pPr algn="l"/>
                      <a:r>
                        <a:rPr sz="900" b="0">
                          <a:solidFill>
                            <a:srgbClr val="5B6470"/>
                          </a:solidFill>
                          <a:latin typeface="Arial"/>
                        </a:rPr>
                        <a:t>Customer success / operations</a:t>
                      </a:r>
                    </a:p>
                  </a:txBody>
                  <a:tcPr marL="91440" marR="91440" marT="45720" marB="45720" anchor="ctr">
                    <a:solidFill>
                      <a:srgbClr val="FBEBD9"/>
                    </a:solidFill>
                  </a:tcPr>
                </a:tc>
                <a:tc>
                  <a:txBody>
                    <a:bodyPr wrap="square"/>
                    <a:lstStyle/>
                    <a:p>
                      <a:pPr algn="l"/>
                      <a:r>
                        <a:rPr sz="900" b="0">
                          <a:solidFill>
                            <a:srgbClr val="5B6470"/>
                          </a:solidFill>
                          <a:latin typeface="Arial"/>
                        </a:rPr>
                        <a:t>Adjacent workflows, shared controls</a:t>
                      </a:r>
                    </a:p>
                  </a:txBody>
                  <a:tcPr marL="91440" marR="91440" marT="45720" marB="45720" anchor="ctr">
                    <a:solidFill>
                      <a:srgbClr val="FBEBD9"/>
                    </a:solidFill>
                  </a:tcPr>
                </a:tc>
                <a:tc>
                  <a:txBody>
                    <a:bodyPr wrap="square"/>
                    <a:lstStyle/>
                    <a:p>
                      <a:pPr algn="l"/>
                      <a:r>
                        <a:rPr sz="900" b="0">
                          <a:solidFill>
                            <a:srgbClr val="5B6470"/>
                          </a:solidFill>
                          <a:latin typeface="Arial"/>
                        </a:rPr>
                        <a:t>Renewal, buyer-backed ROI</a:t>
                      </a:r>
                    </a:p>
                  </a:txBody>
                  <a:tcPr marL="91440" marR="91440" marT="45720" marB="45720" anchor="ctr">
                    <a:solidFill>
                      <a:srgbClr val="FBEBD9"/>
                    </a:solidFill>
                  </a:tcPr>
                </a:tc>
              </a:tr>
            </a:tbl>
          </a:graphicData>
        </a:graphic>
      </p:graphicFrame>
      <p:sp>
        <p:nvSpPr>
          <p:cNvPr id="6" name="Rectangle 5"/>
          <p:cNvSpPr/>
          <p:nvPr/>
        </p:nvSpPr>
        <p:spPr>
          <a:xfrm>
            <a:off x="640080" y="5320000"/>
            <a:ext cx="10911840" cy="640000"/>
          </a:xfrm>
          <a:prstGeom prst="rect">
            <a:avLst/>
          </a:prstGeom>
          <a:solidFill>
            <a:srgbClr val="FBEBD9"/>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5320000"/>
            <a:ext cx="50800" cy="64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5320000"/>
            <a:ext cx="10211840" cy="640000"/>
          </a:xfrm>
          <a:prstGeom prst="rect">
            <a:avLst/>
          </a:prstGeom>
          <a:noFill/>
        </p:spPr>
        <p:txBody>
          <a:bodyPr wrap="square" anchor="ctr" lIns="0" rIns="0" tIns="0" bIns="0">
            <a:spAutoFit/>
          </a:bodyPr>
          <a:lstStyle/>
          <a:p>
            <a:pPr algn="l">
              <a:lnSpc>
                <a:spcPct val="115000"/>
              </a:lnSpc>
            </a:pPr>
            <a:r>
              <a:rPr sz="930" b="0" i="0">
                <a:solidFill>
                  <a:srgbClr val="1A1A1A"/>
                </a:solidFill>
                <a:latin typeface="Arial"/>
              </a:rPr>
              <a:t>METRICS   primary: median context-collection minutes per difficult case. Guardrails: reopen rate, unauthorized action rate, audit completeness, connector failures, CSAT.</a:t>
            </a:r>
          </a:p>
        </p:txBody>
      </p:sp>
      <p:sp>
        <p:nvSpPr>
          <p:cNvPr id="9" name="TextBox 8"/>
          <p:cNvSpPr txBox="1"/>
          <p:nvPr/>
        </p:nvSpPr>
        <p:spPr>
          <a:xfrm>
            <a:off x="640080" y="6060000"/>
            <a:ext cx="10911840" cy="320000"/>
          </a:xfrm>
          <a:prstGeom prst="rect">
            <a:avLst/>
          </a:prstGeom>
          <a:noFill/>
        </p:spPr>
        <p:txBody>
          <a:bodyPr wrap="square" anchor="t" lIns="0" rIns="0" tIns="0" bIns="0">
            <a:spAutoFit/>
          </a:bodyPr>
          <a:lstStyle/>
          <a:p>
            <a:pPr algn="l">
              <a:lnSpc>
                <a:spcPct val="115000"/>
              </a:lnSpc>
            </a:pPr>
            <a:r>
              <a:rPr sz="900" b="0" i="1">
                <a:solidFill>
                  <a:srgbClr val="5B6470"/>
                </a:solidFill>
                <a:latin typeface="Arial"/>
              </a:rPr>
              <a:t>Pricing hypothesis: a predictable base subscription plus a capped usage tier tied to workflow volume or verified outcomes.</a:t>
            </a:r>
          </a:p>
        </p:txBody>
      </p:sp>
      <p:sp>
        <p:nvSpPr>
          <p:cNvPr id="10" name="TextBox 9"/>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1" name="TextBox 10"/>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26</a:t>
            </a:r>
          </a:p>
        </p:txBody>
      </p:sp>
      <p:cxnSp>
        <p:nvCxnSpPr>
          <p:cNvPr id="12" name="Connector 11"/>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RISKS AND DECISION GATES</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What has to be true before this scales</a:t>
            </a:r>
          </a:p>
        </p:txBody>
      </p:sp>
      <p:graphicFrame>
        <p:nvGraphicFramePr>
          <p:cNvPr id="5" name="Table 4"/>
          <p:cNvGraphicFramePr>
            <a:graphicFrameLocks noGrp="1"/>
          </p:cNvGraphicFramePr>
          <p:nvPr/>
        </p:nvGraphicFramePr>
        <p:xfrm>
          <a:off x="640080" y="1700000"/>
          <a:ext cx="10911840" cy="2820000"/>
        </p:xfrm>
        <a:graphic>
          <a:graphicData uri="http://schemas.openxmlformats.org/drawingml/2006/table">
            <a:tbl>
              <a:tblPr firstRow="0" bandRow="0">
                <a:tableStyleId>{5C22544A-7EE6-4342-B048-85BDC9FD1C3A}</a:tableStyleId>
              </a:tblPr>
              <a:tblGrid>
                <a:gridCol w="4400000"/>
                <a:gridCol w="6511840"/>
              </a:tblGrid>
              <a:tr h="460000">
                <a:tc>
                  <a:txBody>
                    <a:bodyPr wrap="square"/>
                    <a:lstStyle/>
                    <a:p>
                      <a:pPr algn="l"/>
                      <a:r>
                        <a:rPr sz="950" b="1">
                          <a:solidFill>
                            <a:srgbClr val="FFFFFF"/>
                          </a:solidFill>
                          <a:latin typeface="Arial"/>
                        </a:rPr>
                        <a:t>RISK</a:t>
                      </a:r>
                    </a:p>
                  </a:txBody>
                  <a:tcPr marL="91440" marR="91440" marT="45720" marB="45720" anchor="ctr">
                    <a:solidFill>
                      <a:srgbClr val="8A480B"/>
                    </a:solidFill>
                  </a:tcPr>
                </a:tc>
                <a:tc>
                  <a:txBody>
                    <a:bodyPr wrap="square"/>
                    <a:lstStyle/>
                    <a:p>
                      <a:pPr algn="l"/>
                      <a:r>
                        <a:rPr sz="950" b="1">
                          <a:solidFill>
                            <a:srgbClr val="FFFFFF"/>
                          </a:solidFill>
                          <a:latin typeface="Arial"/>
                        </a:rPr>
                        <a:t>MITIGATION</a:t>
                      </a:r>
                    </a:p>
                  </a:txBody>
                  <a:tcPr marL="91440" marR="91440" marT="45720" marB="45720" anchor="ctr">
                    <a:solidFill>
                      <a:srgbClr val="8A480B"/>
                    </a:solidFill>
                  </a:tcPr>
                </a:tc>
              </a:tr>
              <a:tr h="620000">
                <a:tc>
                  <a:txBody>
                    <a:bodyPr wrap="square"/>
                    <a:lstStyle/>
                    <a:p>
                      <a:pPr algn="l"/>
                      <a:r>
                        <a:rPr sz="1000" b="1">
                          <a:solidFill>
                            <a:srgbClr val="1A1A1A"/>
                          </a:solidFill>
                          <a:latin typeface="Arial"/>
                        </a:rPr>
                        <a:t>Incumbents close the gap</a:t>
                      </a:r>
                    </a:p>
                  </a:txBody>
                  <a:tcPr marL="91440" marR="91440" marT="45720" marB="45720" anchor="ctr">
                    <a:solidFill>
                      <a:srgbClr val="FFFFFF"/>
                    </a:solidFill>
                  </a:tcPr>
                </a:tc>
                <a:tc>
                  <a:txBody>
                    <a:bodyPr wrap="square"/>
                    <a:lstStyle/>
                    <a:p>
                      <a:pPr algn="l"/>
                      <a:r>
                        <a:rPr sz="1000" b="0">
                          <a:solidFill>
                            <a:srgbClr val="5B6470"/>
                          </a:solidFill>
                          <a:latin typeface="Arial"/>
                        </a:rPr>
                        <a:t>Win only with a validated workflow, faster deployment, better economics</a:t>
                      </a:r>
                    </a:p>
                  </a:txBody>
                  <a:tcPr marL="91440" marR="91440" marT="45720" marB="45720" anchor="ctr">
                    <a:solidFill>
                      <a:srgbClr val="FFFFFF"/>
                    </a:solidFill>
                  </a:tcPr>
                </a:tc>
              </a:tr>
              <a:tr h="620000">
                <a:tc>
                  <a:txBody>
                    <a:bodyPr wrap="square"/>
                    <a:lstStyle/>
                    <a:p>
                      <a:pPr algn="l"/>
                      <a:r>
                        <a:rPr sz="1000" b="1">
                          <a:solidFill>
                            <a:srgbClr val="1A1A1A"/>
                          </a:solidFill>
                          <a:latin typeface="Arial"/>
                        </a:rPr>
                        <a:t>Poor context or unsafe action</a:t>
                      </a:r>
                    </a:p>
                  </a:txBody>
                  <a:tcPr marL="91440" marR="91440" marT="45720" marB="45720" anchor="ctr">
                    <a:solidFill>
                      <a:srgbClr val="FBEBD9"/>
                    </a:solidFill>
                  </a:tcPr>
                </a:tc>
                <a:tc>
                  <a:txBody>
                    <a:bodyPr wrap="square"/>
                    <a:lstStyle/>
                    <a:p>
                      <a:pPr algn="l"/>
                      <a:r>
                        <a:rPr sz="1000" b="0">
                          <a:solidFill>
                            <a:srgbClr val="5B6470"/>
                          </a:solidFill>
                          <a:latin typeface="Arial"/>
                        </a:rPr>
                        <a:t>Read-only first, citations, approval, audit, rollback, safe stop</a:t>
                      </a:r>
                    </a:p>
                  </a:txBody>
                  <a:tcPr marL="91440" marR="91440" marT="45720" marB="45720" anchor="ctr">
                    <a:solidFill>
                      <a:srgbClr val="FBEBD9"/>
                    </a:solidFill>
                  </a:tcPr>
                </a:tc>
              </a:tr>
              <a:tr h="560000">
                <a:tc>
                  <a:txBody>
                    <a:bodyPr wrap="square"/>
                    <a:lstStyle/>
                    <a:p>
                      <a:pPr algn="l"/>
                      <a:r>
                        <a:rPr sz="1000" b="1">
                          <a:solidFill>
                            <a:srgbClr val="1A1A1A"/>
                          </a:solidFill>
                          <a:latin typeface="Arial"/>
                        </a:rPr>
                        <a:t>Interview evidence is too narrow</a:t>
                      </a:r>
                    </a:p>
                  </a:txBody>
                  <a:tcPr marL="91440" marR="91440" marT="45720" marB="45720" anchor="ctr">
                    <a:solidFill>
                      <a:srgbClr val="FFFFFF"/>
                    </a:solidFill>
                  </a:tcPr>
                </a:tc>
                <a:tc>
                  <a:txBody>
                    <a:bodyPr wrap="square"/>
                    <a:lstStyle/>
                    <a:p>
                      <a:pPr algn="l"/>
                      <a:r>
                        <a:rPr sz="1000" b="0">
                          <a:solidFill>
                            <a:srgbClr val="5B6470"/>
                          </a:solidFill>
                          <a:latin typeface="Arial"/>
                        </a:rPr>
                        <a:t>Disclose 4/8; treat ICP and workflow as hypotheses</a:t>
                      </a:r>
                    </a:p>
                  </a:txBody>
                  <a:tcPr marL="91440" marR="91440" marT="45720" marB="45720" anchor="ctr">
                    <a:solidFill>
                      <a:srgbClr val="FFFFFF"/>
                    </a:solidFill>
                  </a:tcPr>
                </a:tc>
              </a:tr>
              <a:tr h="560000">
                <a:tc>
                  <a:txBody>
                    <a:bodyPr wrap="square"/>
                    <a:lstStyle/>
                    <a:p>
                      <a:pPr algn="l"/>
                      <a:r>
                        <a:rPr sz="1000" b="1">
                          <a:solidFill>
                            <a:srgbClr val="1A1A1A"/>
                          </a:solidFill>
                          <a:latin typeface="Arial"/>
                        </a:rPr>
                        <a:t>Bottom-up estimate overstates confidence</a:t>
                      </a:r>
                    </a:p>
                  </a:txBody>
                  <a:tcPr marL="91440" marR="91440" marT="45720" marB="45720" anchor="ctr">
                    <a:solidFill>
                      <a:srgbClr val="FBEBD9"/>
                    </a:solidFill>
                  </a:tcPr>
                </a:tc>
                <a:tc>
                  <a:txBody>
                    <a:bodyPr wrap="square"/>
                    <a:lstStyle/>
                    <a:p>
                      <a:pPr algn="l"/>
                      <a:r>
                        <a:rPr sz="1000" b="0">
                          <a:solidFill>
                            <a:srgbClr val="5B6470"/>
                          </a:solidFill>
                          <a:latin typeface="Arial"/>
                        </a:rPr>
                        <a:t>Vertical-share input labeled an assumption, not fact</a:t>
                      </a:r>
                    </a:p>
                  </a:txBody>
                  <a:tcPr marL="91440" marR="91440" marT="45720" marB="45720" anchor="ctr">
                    <a:solidFill>
                      <a:srgbClr val="FBEBD9"/>
                    </a:solidFill>
                  </a:tcPr>
                </a:tc>
              </a:tr>
            </a:tbl>
          </a:graphicData>
        </a:graphic>
      </p:graphicFrame>
      <p:sp>
        <p:nvSpPr>
          <p:cNvPr id="6" name="Rectangle 5"/>
          <p:cNvSpPr/>
          <p:nvPr/>
        </p:nvSpPr>
        <p:spPr>
          <a:xfrm>
            <a:off x="640080" y="5000000"/>
            <a:ext cx="10911840" cy="8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5000000"/>
            <a:ext cx="50800" cy="8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5000000"/>
            <a:ext cx="10211840" cy="800000"/>
          </a:xfrm>
          <a:prstGeom prst="rect">
            <a:avLst/>
          </a:prstGeom>
          <a:noFill/>
        </p:spPr>
        <p:txBody>
          <a:bodyPr wrap="square" anchor="ctr" lIns="0" rIns="0" tIns="0" bIns="0">
            <a:spAutoFit/>
          </a:bodyPr>
          <a:lstStyle/>
          <a:p>
            <a:pPr algn="l">
              <a:lnSpc>
                <a:spcPct val="120000"/>
              </a:lnSpc>
            </a:pPr>
            <a:r>
              <a:rPr sz="930" b="0" i="0">
                <a:solidFill>
                  <a:srgbClr val="1A1A1A"/>
                </a:solidFill>
                <a:latin typeface="Arial"/>
              </a:rPr>
              <a:t>REJECT OR NARROW IF   customers can't name one urgent workflow; IT/security won't permit access; the incumbent completes it well enough already; no buyer will sponsor a pilot.</a:t>
            </a:r>
          </a:p>
        </p:txBody>
      </p:sp>
      <p:sp>
        <p:nvSpPr>
          <p:cNvPr id="9" name="TextBox 8"/>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0" name="TextBox 9"/>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27</a:t>
            </a:r>
          </a:p>
        </p:txBody>
      </p:sp>
      <p:cxnSp>
        <p:nvCxnSpPr>
          <p:cNvPr id="11" name="Connector 10"/>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INTERVIEW DECISION GATES</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All four gates are still unmet</a:t>
            </a:r>
          </a:p>
        </p:txBody>
      </p:sp>
      <p:graphicFrame>
        <p:nvGraphicFramePr>
          <p:cNvPr id="5" name="Table 4"/>
          <p:cNvGraphicFramePr>
            <a:graphicFrameLocks noGrp="1"/>
          </p:cNvGraphicFramePr>
          <p:nvPr/>
        </p:nvGraphicFramePr>
        <p:xfrm>
          <a:off x="640080" y="1700000"/>
          <a:ext cx="10911840" cy="2700000"/>
        </p:xfrm>
        <a:graphic>
          <a:graphicData uri="http://schemas.openxmlformats.org/drawingml/2006/table">
            <a:tbl>
              <a:tblPr firstRow="0" bandRow="0">
                <a:tableStyleId>{5C22544A-7EE6-4342-B048-85BDC9FD1C3A}</a:tableStyleId>
              </a:tblPr>
              <a:tblGrid>
                <a:gridCol w="4700000"/>
                <a:gridCol w="2300000"/>
                <a:gridCol w="1900000"/>
                <a:gridCol w="2011840"/>
              </a:tblGrid>
              <a:tr h="460000">
                <a:tc>
                  <a:txBody>
                    <a:bodyPr wrap="square"/>
                    <a:lstStyle/>
                    <a:p>
                      <a:pPr algn="l"/>
                      <a:r>
                        <a:rPr sz="950" b="1">
                          <a:solidFill>
                            <a:srgbClr val="FFFFFF"/>
                          </a:solidFill>
                          <a:latin typeface="Arial"/>
                        </a:rPr>
                        <a:t>GATE</a:t>
                      </a:r>
                    </a:p>
                  </a:txBody>
                  <a:tcPr marL="91440" marR="91440" marT="45720" marB="45720" anchor="ctr">
                    <a:solidFill>
                      <a:srgbClr val="8A480B"/>
                    </a:solidFill>
                  </a:tcPr>
                </a:tc>
                <a:tc>
                  <a:txBody>
                    <a:bodyPr wrap="square"/>
                    <a:lstStyle/>
                    <a:p>
                      <a:pPr algn="l"/>
                      <a:r>
                        <a:rPr sz="950" b="1">
                          <a:solidFill>
                            <a:srgbClr val="FFFFFF"/>
                          </a:solidFill>
                          <a:latin typeface="Arial"/>
                        </a:rPr>
                        <a:t>THRESHOLD</a:t>
                      </a:r>
                    </a:p>
                  </a:txBody>
                  <a:tcPr marL="91440" marR="91440" marT="45720" marB="45720" anchor="ctr">
                    <a:solidFill>
                      <a:srgbClr val="8A480B"/>
                    </a:solidFill>
                  </a:tcPr>
                </a:tc>
                <a:tc>
                  <a:txBody>
                    <a:bodyPr wrap="square"/>
                    <a:lstStyle/>
                    <a:p>
                      <a:pPr algn="l"/>
                      <a:r>
                        <a:rPr sz="950" b="1">
                          <a:solidFill>
                            <a:srgbClr val="FFFFFF"/>
                          </a:solidFill>
                          <a:latin typeface="Arial"/>
                        </a:rPr>
                        <a:t>OBSERVED</a:t>
                      </a:r>
                    </a:p>
                  </a:txBody>
                  <a:tcPr marL="91440" marR="91440" marT="45720" marB="45720" anchor="ctr">
                    <a:solidFill>
                      <a:srgbClr val="8A480B"/>
                    </a:solidFill>
                  </a:tcPr>
                </a:tc>
                <a:tc>
                  <a:txBody>
                    <a:bodyPr wrap="square"/>
                    <a:lstStyle/>
                    <a:p>
                      <a:pPr algn="l"/>
                      <a:r>
                        <a:rPr sz="950" b="1">
                          <a:solidFill>
                            <a:srgbClr val="FFFFFF"/>
                          </a:solidFill>
                          <a:latin typeface="Arial"/>
                        </a:rPr>
                        <a:t>STATUS</a:t>
                      </a:r>
                    </a:p>
                  </a:txBody>
                  <a:tcPr marL="91440" marR="91440" marT="45720" marB="45720" anchor="ctr">
                    <a:solidFill>
                      <a:srgbClr val="8A480B"/>
                    </a:solidFill>
                  </a:tcPr>
                </a:tc>
              </a:tr>
              <a:tr h="620000">
                <a:tc>
                  <a:txBody>
                    <a:bodyPr wrap="square"/>
                    <a:lstStyle/>
                    <a:p>
                      <a:pPr algn="l"/>
                      <a:r>
                        <a:rPr sz="1000" b="1">
                          <a:solidFill>
                            <a:srgbClr val="1A1A1A"/>
                          </a:solidFill>
                          <a:latin typeface="Arial"/>
                        </a:rPr>
                        <a:t>Same repeated workflow</a:t>
                      </a:r>
                    </a:p>
                  </a:txBody>
                  <a:tcPr marL="91440" marR="91440" marT="45720" marB="45720" anchor="ctr">
                    <a:solidFill>
                      <a:srgbClr val="FFFFFF"/>
                    </a:solidFill>
                  </a:tcPr>
                </a:tc>
                <a:tc>
                  <a:txBody>
                    <a:bodyPr wrap="square"/>
                    <a:lstStyle/>
                    <a:p>
                      <a:pPr algn="l"/>
                      <a:r>
                        <a:rPr sz="1000" b="0">
                          <a:solidFill>
                            <a:srgbClr val="5B6470"/>
                          </a:solidFill>
                          <a:latin typeface="Arial"/>
                        </a:rPr>
                        <a:t>≥4 participants</a:t>
                      </a:r>
                    </a:p>
                  </a:txBody>
                  <a:tcPr marL="91440" marR="91440" marT="45720" marB="45720" anchor="ctr">
                    <a:solidFill>
                      <a:srgbClr val="FFFFFF"/>
                    </a:solidFill>
                  </a:tcPr>
                </a:tc>
                <a:tc>
                  <a:txBody>
                    <a:bodyPr wrap="square"/>
                    <a:lstStyle/>
                    <a:p>
                      <a:pPr algn="l"/>
                      <a:r>
                        <a:rPr sz="1000" b="0">
                          <a:solidFill>
                            <a:srgbClr val="5B6470"/>
                          </a:solidFill>
                          <a:latin typeface="Arial"/>
                        </a:rPr>
                        <a:t>2</a:t>
                      </a:r>
                    </a:p>
                  </a:txBody>
                  <a:tcPr marL="91440" marR="91440" marT="45720" marB="45720" anchor="ctr">
                    <a:solidFill>
                      <a:srgbClr val="FFFFFF"/>
                    </a:solidFill>
                  </a:tcPr>
                </a:tc>
                <a:tc>
                  <a:txBody>
                    <a:bodyPr wrap="square"/>
                    <a:lstStyle/>
                    <a:p>
                      <a:pPr algn="l"/>
                      <a:r>
                        <a:rPr sz="1000" b="0">
                          <a:solidFill>
                            <a:srgbClr val="5B6470"/>
                          </a:solidFill>
                          <a:latin typeface="Arial"/>
                        </a:rPr>
                        <a:t>Not met</a:t>
                      </a:r>
                    </a:p>
                  </a:txBody>
                  <a:tcPr marL="91440" marR="91440" marT="45720" marB="45720" anchor="ctr">
                    <a:solidFill>
                      <a:srgbClr val="FFFFFF"/>
                    </a:solidFill>
                  </a:tcPr>
                </a:tc>
              </a:tr>
              <a:tr h="620000">
                <a:tc>
                  <a:txBody>
                    <a:bodyPr wrap="square"/>
                    <a:lstStyle/>
                    <a:p>
                      <a:pPr algn="l"/>
                      <a:r>
                        <a:rPr sz="1000" b="1">
                          <a:solidFill>
                            <a:srgbClr val="1A1A1A"/>
                          </a:solidFill>
                          <a:latin typeface="Arial"/>
                        </a:rPr>
                        <a:t>Measurable impact, leading workflow</a:t>
                      </a:r>
                    </a:p>
                  </a:txBody>
                  <a:tcPr marL="91440" marR="91440" marT="45720" marB="45720" anchor="ctr">
                    <a:solidFill>
                      <a:srgbClr val="FBEBD9"/>
                    </a:solidFill>
                  </a:tcPr>
                </a:tc>
                <a:tc>
                  <a:txBody>
                    <a:bodyPr wrap="square"/>
                    <a:lstStyle/>
                    <a:p>
                      <a:pPr algn="l"/>
                      <a:r>
                        <a:rPr sz="1000" b="0">
                          <a:solidFill>
                            <a:srgbClr val="5B6470"/>
                          </a:solidFill>
                          <a:latin typeface="Arial"/>
                        </a:rPr>
                        <a:t>≥3 participants</a:t>
                      </a:r>
                    </a:p>
                  </a:txBody>
                  <a:tcPr marL="91440" marR="91440" marT="45720" marB="45720" anchor="ctr">
                    <a:solidFill>
                      <a:srgbClr val="FBEBD9"/>
                    </a:solidFill>
                  </a:tcPr>
                </a:tc>
                <a:tc>
                  <a:txBody>
                    <a:bodyPr wrap="square"/>
                    <a:lstStyle/>
                    <a:p>
                      <a:pPr algn="l"/>
                      <a:r>
                        <a:rPr sz="1000" b="0">
                          <a:solidFill>
                            <a:srgbClr val="5B6470"/>
                          </a:solidFill>
                          <a:latin typeface="Arial"/>
                        </a:rPr>
                        <a:t>1</a:t>
                      </a:r>
                    </a:p>
                  </a:txBody>
                  <a:tcPr marL="91440" marR="91440" marT="45720" marB="45720" anchor="ctr">
                    <a:solidFill>
                      <a:srgbClr val="FBEBD9"/>
                    </a:solidFill>
                  </a:tcPr>
                </a:tc>
                <a:tc>
                  <a:txBody>
                    <a:bodyPr wrap="square"/>
                    <a:lstStyle/>
                    <a:p>
                      <a:pPr algn="l"/>
                      <a:r>
                        <a:rPr sz="1000" b="0">
                          <a:solidFill>
                            <a:srgbClr val="5B6470"/>
                          </a:solidFill>
                          <a:latin typeface="Arial"/>
                        </a:rPr>
                        <a:t>Not met</a:t>
                      </a:r>
                    </a:p>
                  </a:txBody>
                  <a:tcPr marL="91440" marR="91440" marT="45720" marB="45720" anchor="ctr">
                    <a:solidFill>
                      <a:srgbClr val="FBEBD9"/>
                    </a:solidFill>
                  </a:tcPr>
                </a:tc>
              </a:tr>
              <a:tr h="500000">
                <a:tc>
                  <a:txBody>
                    <a:bodyPr wrap="square"/>
                    <a:lstStyle/>
                    <a:p>
                      <a:pPr algn="l"/>
                      <a:r>
                        <a:rPr sz="1000" b="1">
                          <a:solidFill>
                            <a:srgbClr val="1A1A1A"/>
                          </a:solidFill>
                          <a:latin typeface="Arial"/>
                        </a:rPr>
                        <a:t>Native tool insufficient</a:t>
                      </a:r>
                    </a:p>
                  </a:txBody>
                  <a:tcPr marL="91440" marR="91440" marT="45720" marB="45720" anchor="ctr">
                    <a:solidFill>
                      <a:srgbClr val="FFFFFF"/>
                    </a:solidFill>
                  </a:tcPr>
                </a:tc>
                <a:tc>
                  <a:txBody>
                    <a:bodyPr wrap="square"/>
                    <a:lstStyle/>
                    <a:p>
                      <a:pPr algn="l"/>
                      <a:r>
                        <a:rPr sz="1000" b="0">
                          <a:solidFill>
                            <a:srgbClr val="5B6470"/>
                          </a:solidFill>
                          <a:latin typeface="Arial"/>
                        </a:rPr>
                        <a:t>≥3 participants</a:t>
                      </a:r>
                    </a:p>
                  </a:txBody>
                  <a:tcPr marL="91440" marR="91440" marT="45720" marB="45720" anchor="ctr">
                    <a:solidFill>
                      <a:srgbClr val="FFFFFF"/>
                    </a:solidFill>
                  </a:tcPr>
                </a:tc>
                <a:tc>
                  <a:txBody>
                    <a:bodyPr wrap="square"/>
                    <a:lstStyle/>
                    <a:p>
                      <a:pPr algn="l"/>
                      <a:r>
                        <a:rPr sz="1000" b="0">
                          <a:solidFill>
                            <a:srgbClr val="5B6470"/>
                          </a:solidFill>
                          <a:latin typeface="Arial"/>
                        </a:rPr>
                        <a:t>2</a:t>
                      </a:r>
                    </a:p>
                  </a:txBody>
                  <a:tcPr marL="91440" marR="91440" marT="45720" marB="45720" anchor="ctr">
                    <a:solidFill>
                      <a:srgbClr val="FFFFFF"/>
                    </a:solidFill>
                  </a:tcPr>
                </a:tc>
                <a:tc>
                  <a:txBody>
                    <a:bodyPr wrap="square"/>
                    <a:lstStyle/>
                    <a:p>
                      <a:pPr algn="l"/>
                      <a:r>
                        <a:rPr sz="1000" b="0">
                          <a:solidFill>
                            <a:srgbClr val="5B6470"/>
                          </a:solidFill>
                          <a:latin typeface="Arial"/>
                        </a:rPr>
                        <a:t>Not met</a:t>
                      </a:r>
                    </a:p>
                  </a:txBody>
                  <a:tcPr marL="91440" marR="91440" marT="45720" marB="45720" anchor="ctr">
                    <a:solidFill>
                      <a:srgbClr val="FFFFFF"/>
                    </a:solidFill>
                  </a:tcPr>
                </a:tc>
              </a:tr>
              <a:tr h="500000">
                <a:tc>
                  <a:txBody>
                    <a:bodyPr wrap="square"/>
                    <a:lstStyle/>
                    <a:p>
                      <a:pPr algn="l"/>
                      <a:r>
                        <a:rPr sz="1000" b="1">
                          <a:solidFill>
                            <a:srgbClr val="1A1A1A"/>
                          </a:solidFill>
                          <a:latin typeface="Arial"/>
                        </a:rPr>
                        <a:t>Strong pilot interest</a:t>
                      </a:r>
                    </a:p>
                  </a:txBody>
                  <a:tcPr marL="91440" marR="91440" marT="45720" marB="45720" anchor="ctr">
                    <a:solidFill>
                      <a:srgbClr val="FBEBD9"/>
                    </a:solidFill>
                  </a:tcPr>
                </a:tc>
                <a:tc>
                  <a:txBody>
                    <a:bodyPr wrap="square"/>
                    <a:lstStyle/>
                    <a:p>
                      <a:pPr algn="l"/>
                      <a:r>
                        <a:rPr sz="1000" b="0">
                          <a:solidFill>
                            <a:srgbClr val="5B6470"/>
                          </a:solidFill>
                          <a:latin typeface="Arial"/>
                        </a:rPr>
                        <a:t>≥2 participants</a:t>
                      </a:r>
                    </a:p>
                  </a:txBody>
                  <a:tcPr marL="91440" marR="91440" marT="45720" marB="45720" anchor="ctr">
                    <a:solidFill>
                      <a:srgbClr val="FBEBD9"/>
                    </a:solidFill>
                  </a:tcPr>
                </a:tc>
                <a:tc>
                  <a:txBody>
                    <a:bodyPr wrap="square"/>
                    <a:lstStyle/>
                    <a:p>
                      <a:pPr algn="l"/>
                      <a:r>
                        <a:rPr sz="1000" b="0">
                          <a:solidFill>
                            <a:srgbClr val="5B6470"/>
                          </a:solidFill>
                          <a:latin typeface="Arial"/>
                        </a:rPr>
                        <a:t>0</a:t>
                      </a:r>
                    </a:p>
                  </a:txBody>
                  <a:tcPr marL="91440" marR="91440" marT="45720" marB="45720" anchor="ctr">
                    <a:solidFill>
                      <a:srgbClr val="FBEBD9"/>
                    </a:solidFill>
                  </a:tcPr>
                </a:tc>
                <a:tc>
                  <a:txBody>
                    <a:bodyPr wrap="square"/>
                    <a:lstStyle/>
                    <a:p>
                      <a:pPr algn="l"/>
                      <a:r>
                        <a:rPr sz="1000" b="0">
                          <a:solidFill>
                            <a:srgbClr val="5B6470"/>
                          </a:solidFill>
                          <a:latin typeface="Arial"/>
                        </a:rPr>
                        <a:t>Not met</a:t>
                      </a:r>
                    </a:p>
                  </a:txBody>
                  <a:tcPr marL="91440" marR="91440" marT="45720" marB="45720" anchor="ctr">
                    <a:solidFill>
                      <a:srgbClr val="FBEBD9"/>
                    </a:solidFill>
                  </a:tcPr>
                </a:tc>
              </a:tr>
            </a:tbl>
          </a:graphicData>
        </a:graphic>
      </p:graphicFrame>
      <p:sp>
        <p:nvSpPr>
          <p:cNvPr id="6" name="Rectangle 5"/>
          <p:cNvSpPr/>
          <p:nvPr/>
        </p:nvSpPr>
        <p:spPr>
          <a:xfrm>
            <a:off x="640080" y="4900000"/>
            <a:ext cx="10911840" cy="1200000"/>
          </a:xfrm>
          <a:prstGeom prst="rect">
            <a:avLst/>
          </a:prstGeom>
          <a:solidFill>
            <a:srgbClr val="F2F1EF"/>
          </a:solidFill>
          <a:ln>
            <a:noFill/>
          </a:ln>
          <a:effectLst>
            <a:outerShdw blurRad="95000" dist="26000" dir="5400000" rotWithShape="0">
              <a:srgbClr val="1A1A1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4900000"/>
            <a:ext cx="50800" cy="1200000"/>
          </a:xfrm>
          <a:prstGeom prst="rect">
            <a:avLst/>
          </a:prstGeom>
          <a:solidFill>
            <a:srgbClr val="B560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040" y="4900000"/>
            <a:ext cx="10211840" cy="1200000"/>
          </a:xfrm>
          <a:prstGeom prst="rect">
            <a:avLst/>
          </a:prstGeom>
          <a:noFill/>
        </p:spPr>
        <p:txBody>
          <a:bodyPr wrap="square" anchor="ctr" lIns="0" rIns="0" tIns="0" bIns="0">
            <a:spAutoFit/>
          </a:bodyPr>
          <a:lstStyle/>
          <a:p>
            <a:pPr algn="l">
              <a:lnSpc>
                <a:spcPct val="125000"/>
              </a:lnSpc>
            </a:pPr>
            <a:r>
              <a:rPr sz="930" b="0" i="0">
                <a:solidFill>
                  <a:srgbClr val="1A1A1A"/>
                </a:solidFill>
                <a:latin typeface="Arial"/>
              </a:rPr>
              <a:t>EVIDENCE STILL MISSING   buyer interviews across company size; recent workflow frequency and failure cost; a hands-on incumbent comparison; security/permission requirements; pilot sponsorship and a full cost model.</a:t>
            </a:r>
          </a:p>
        </p:txBody>
      </p:sp>
      <p:sp>
        <p:nvSpPr>
          <p:cNvPr id="9" name="TextBox 8"/>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10" name="TextBox 9"/>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28</a:t>
            </a:r>
          </a:p>
        </p:txBody>
      </p:sp>
      <p:cxnSp>
        <p:nvCxnSpPr>
          <p:cNvPr id="11" name="Connector 10"/>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0000"/>
            <a:ext cx="10911840" cy="320040"/>
          </a:xfrm>
          <a:prstGeom prst="rect">
            <a:avLst/>
          </a:prstGeom>
          <a:noFill/>
        </p:spPr>
        <p:txBody>
          <a:bodyPr wrap="square" anchor="t" lIns="0" rIns="0" tIns="0" bIns="0">
            <a:spAutoFit/>
          </a:bodyPr>
          <a:lstStyle/>
          <a:p>
            <a:pPr algn="l"/>
            <a:r>
              <a:rPr sz="1200" b="1" i="0" spc="200">
                <a:solidFill>
                  <a:srgbClr val="B56012"/>
                </a:solidFill>
                <a:latin typeface="Arial"/>
              </a:rPr>
              <a:t>APPENDIX · EVIDENCE REGISTER</a:t>
            </a:r>
          </a:p>
        </p:txBody>
      </p:sp>
      <p:sp>
        <p:nvSpPr>
          <p:cNvPr id="4" name="TextBox 3"/>
          <p:cNvSpPr txBox="1"/>
          <p:nvPr/>
        </p:nvSpPr>
        <p:spPr>
          <a:xfrm>
            <a:off x="640080" y="900000"/>
            <a:ext cx="10911840" cy="560000"/>
          </a:xfrm>
          <a:prstGeom prst="rect">
            <a:avLst/>
          </a:prstGeom>
          <a:noFill/>
        </p:spPr>
        <p:txBody>
          <a:bodyPr wrap="square" anchor="t" lIns="0" rIns="0" tIns="0" bIns="0">
            <a:spAutoFit/>
          </a:bodyPr>
          <a:lstStyle/>
          <a:p>
            <a:pPr algn="l">
              <a:lnSpc>
                <a:spcPct val="105000"/>
              </a:lnSpc>
            </a:pPr>
            <a:r>
              <a:rPr sz="2800" b="1" i="0">
                <a:solidFill>
                  <a:srgbClr val="1A1A1A"/>
                </a:solidFill>
                <a:latin typeface="Arial"/>
              </a:rPr>
              <a:t>The research record behind this deck</a:t>
            </a:r>
          </a:p>
        </p:txBody>
      </p:sp>
      <p:graphicFrame>
        <p:nvGraphicFramePr>
          <p:cNvPr id="5" name="Table 4"/>
          <p:cNvGraphicFramePr>
            <a:graphicFrameLocks noGrp="1"/>
          </p:cNvGraphicFramePr>
          <p:nvPr/>
        </p:nvGraphicFramePr>
        <p:xfrm>
          <a:off x="640080" y="1780000"/>
          <a:ext cx="10911840" cy="1860000"/>
        </p:xfrm>
        <a:graphic>
          <a:graphicData uri="http://schemas.openxmlformats.org/drawingml/2006/table">
            <a:tbl>
              <a:tblPr firstRow="0" bandRow="0">
                <a:tableStyleId>{5C22544A-7EE6-4342-B048-85BDC9FD1C3A}</a:tableStyleId>
              </a:tblPr>
              <a:tblGrid>
                <a:gridCol w="2800000"/>
                <a:gridCol w="8111840"/>
              </a:tblGrid>
              <a:tr h="460000">
                <a:tc>
                  <a:txBody>
                    <a:bodyPr wrap="square"/>
                    <a:lstStyle/>
                    <a:p>
                      <a:pPr algn="l"/>
                      <a:r>
                        <a:rPr sz="950" b="1">
                          <a:solidFill>
                            <a:srgbClr val="FFFFFF"/>
                          </a:solidFill>
                          <a:latin typeface="Arial"/>
                        </a:rPr>
                        <a:t>REGISTER</a:t>
                      </a:r>
                    </a:p>
                  </a:txBody>
                  <a:tcPr marL="91440" marR="91440" marT="45720" marB="45720" anchor="ctr">
                    <a:solidFill>
                      <a:srgbClr val="8A480B"/>
                    </a:solidFill>
                  </a:tcPr>
                </a:tc>
                <a:tc>
                  <a:txBody>
                    <a:bodyPr wrap="square"/>
                    <a:lstStyle/>
                    <a:p>
                      <a:pPr algn="l"/>
                      <a:r>
                        <a:rPr sz="950" b="1">
                          <a:solidFill>
                            <a:srgbClr val="FFFFFF"/>
                          </a:solidFill>
                          <a:latin typeface="Arial"/>
                        </a:rPr>
                        <a:t>WHAT IT COVERS</a:t>
                      </a:r>
                    </a:p>
                  </a:txBody>
                  <a:tcPr marL="91440" marR="91440" marT="45720" marB="45720" anchor="ctr">
                    <a:solidFill>
                      <a:srgbClr val="8A480B"/>
                    </a:solidFill>
                  </a:tcPr>
                </a:tc>
              </a:tr>
              <a:tr h="700000">
                <a:tc>
                  <a:txBody>
                    <a:bodyPr wrap="square"/>
                    <a:lstStyle/>
                    <a:p>
                      <a:pPr algn="l"/>
                      <a:r>
                        <a:rPr sz="1050" b="1">
                          <a:solidFill>
                            <a:srgbClr val="1A1A1A"/>
                          </a:solidFill>
                          <a:latin typeface="Arial"/>
                        </a:rPr>
                        <a:t>General research base</a:t>
                      </a:r>
                    </a:p>
                  </a:txBody>
                  <a:tcPr marL="91440" marR="91440" marT="45720" marB="45720" anchor="ctr">
                    <a:solidFill>
                      <a:srgbClr val="FFFFFF"/>
                    </a:solidFill>
                  </a:tcPr>
                </a:tc>
                <a:tc>
                  <a:txBody>
                    <a:bodyPr wrap="square"/>
                    <a:lstStyle/>
                    <a:p>
                      <a:pPr algn="l"/>
                      <a:r>
                        <a:rPr sz="1050" b="0">
                          <a:solidFill>
                            <a:srgbClr val="5B6470"/>
                          </a:solidFill>
                          <a:latin typeface="Arial"/>
                        </a:rPr>
                        <a:t>65 sources → 56 linked → 91 evidence records; 4 interviews (P01–P04), kept separate</a:t>
                      </a:r>
                    </a:p>
                  </a:txBody>
                  <a:tcPr marL="91440" marR="91440" marT="45720" marB="45720" anchor="ctr">
                    <a:solidFill>
                      <a:srgbClr val="FFFFFF"/>
                    </a:solidFill>
                  </a:tcPr>
                </a:tc>
              </a:tr>
              <a:tr h="700000">
                <a:tc>
                  <a:txBody>
                    <a:bodyPr wrap="square"/>
                    <a:lstStyle/>
                    <a:p>
                      <a:pPr algn="l"/>
                      <a:r>
                        <a:rPr sz="1050" b="1">
                          <a:solidFill>
                            <a:srgbClr val="1A1A1A"/>
                          </a:solidFill>
                          <a:latin typeface="Arial"/>
                        </a:rPr>
                        <a:t>Competitive teardown</a:t>
                      </a:r>
                    </a:p>
                  </a:txBody>
                  <a:tcPr marL="91440" marR="91440" marT="45720" marB="45720" anchor="ctr">
                    <a:solidFill>
                      <a:srgbClr val="FBEBD9"/>
                    </a:solidFill>
                  </a:tcPr>
                </a:tc>
                <a:tc>
                  <a:txBody>
                    <a:bodyPr wrap="square"/>
                    <a:lstStyle/>
                    <a:p>
                      <a:pPr algn="l"/>
                      <a:r>
                        <a:rPr sz="1050" b="0">
                          <a:solidFill>
                            <a:srgbClr val="5B6470"/>
                          </a:solidFill>
                          <a:latin typeface="Arial"/>
                        </a:rPr>
                        <a:t>V1–V11 (vendor claims), R1–R6 (review signals), I1–I2 (interviews), H (synthesis), U (unresolved)</a:t>
                      </a:r>
                    </a:p>
                  </a:txBody>
                  <a:tcPr marL="91440" marR="91440" marT="45720" marB="45720" anchor="ctr">
                    <a:solidFill>
                      <a:srgbClr val="FBEBD9"/>
                    </a:solidFill>
                  </a:tcPr>
                </a:tc>
              </a:tr>
            </a:tbl>
          </a:graphicData>
        </a:graphic>
      </p:graphicFrame>
      <p:sp>
        <p:nvSpPr>
          <p:cNvPr id="6" name="TextBox 5"/>
          <p:cNvSpPr txBox="1"/>
          <p:nvPr/>
        </p:nvSpPr>
        <p:spPr>
          <a:xfrm>
            <a:off x="640080" y="3900000"/>
            <a:ext cx="10911840" cy="700000"/>
          </a:xfrm>
          <a:prstGeom prst="rect">
            <a:avLst/>
          </a:prstGeom>
          <a:noFill/>
        </p:spPr>
        <p:txBody>
          <a:bodyPr wrap="square" anchor="t" lIns="0" rIns="0" tIns="0" bIns="0">
            <a:spAutoFit/>
          </a:bodyPr>
          <a:lstStyle/>
          <a:p>
            <a:pPr algn="l">
              <a:lnSpc>
                <a:spcPct val="130000"/>
              </a:lnSpc>
            </a:pPr>
            <a:r>
              <a:rPr sz="950" b="0" i="0">
                <a:solidFill>
                  <a:srgbClr val="5B6470"/>
                </a:solidFill>
                <a:latin typeface="Arial"/>
              </a:rPr>
              <a:t>secondary-research-report.md · source-inventory.csv · review-evidence.csv · interview notes P01–P04 · research/bottom-up-market-estimate.md · research/competitive-teardowns/</a:t>
            </a:r>
          </a:p>
        </p:txBody>
      </p:sp>
      <p:sp>
        <p:nvSpPr>
          <p:cNvPr id="7" name="TextBox 6"/>
          <p:cNvSpPr txBox="1"/>
          <p:nvPr/>
        </p:nvSpPr>
        <p:spPr>
          <a:xfrm>
            <a:off x="640080" y="4700000"/>
            <a:ext cx="10911840" cy="400000"/>
          </a:xfrm>
          <a:prstGeom prst="rect">
            <a:avLst/>
          </a:prstGeom>
          <a:noFill/>
        </p:spPr>
        <p:txBody>
          <a:bodyPr wrap="square" anchor="t" lIns="0" rIns="0" tIns="0" bIns="0">
            <a:spAutoFit/>
          </a:bodyPr>
          <a:lstStyle/>
          <a:p>
            <a:pPr algn="l"/>
            <a:r>
              <a:rPr sz="950" b="0" i="1">
                <a:solidFill>
                  <a:srgbClr val="5B6470"/>
                </a:solidFill>
                <a:latin typeface="Arial"/>
              </a:rPr>
              <a:t>The two registers are related but kept distinct — never merged into one ID system.</a:t>
            </a:r>
          </a:p>
        </p:txBody>
      </p:sp>
      <p:sp>
        <p:nvSpPr>
          <p:cNvPr id="8" name="TextBox 7"/>
          <p:cNvSpPr txBox="1"/>
          <p:nvPr/>
        </p:nvSpPr>
        <p:spPr>
          <a:xfrm>
            <a:off x="640080" y="6420000"/>
            <a:ext cx="5486400" cy="300000"/>
          </a:xfrm>
          <a:prstGeom prst="rect">
            <a:avLst/>
          </a:prstGeom>
          <a:noFill/>
        </p:spPr>
        <p:txBody>
          <a:bodyPr wrap="square" anchor="t" lIns="0" rIns="0" tIns="0" bIns="0">
            <a:spAutoFit/>
          </a:bodyPr>
          <a:lstStyle/>
          <a:p>
            <a:pPr algn="l"/>
            <a:r>
              <a:rPr sz="900" b="0" i="0">
                <a:solidFill>
                  <a:srgbClr val="5B6470"/>
                </a:solidFill>
                <a:latin typeface="Arial"/>
              </a:rPr>
              <a:t>B2B Product Strategy — Appendix</a:t>
            </a:r>
          </a:p>
        </p:txBody>
      </p:sp>
      <p:sp>
        <p:nvSpPr>
          <p:cNvPr id="9" name="TextBox 8"/>
          <p:cNvSpPr txBox="1"/>
          <p:nvPr/>
        </p:nvSpPr>
        <p:spPr>
          <a:xfrm>
            <a:off x="10851920" y="6420000"/>
            <a:ext cx="700000" cy="300000"/>
          </a:xfrm>
          <a:prstGeom prst="rect">
            <a:avLst/>
          </a:prstGeom>
          <a:noFill/>
        </p:spPr>
        <p:txBody>
          <a:bodyPr wrap="square" anchor="t" lIns="0" rIns="0" tIns="0" bIns="0">
            <a:spAutoFit/>
          </a:bodyPr>
          <a:lstStyle/>
          <a:p>
            <a:pPr algn="r"/>
            <a:r>
              <a:rPr sz="900" b="0" i="0">
                <a:solidFill>
                  <a:srgbClr val="5B6470"/>
                </a:solidFill>
                <a:latin typeface="Arial"/>
              </a:rPr>
              <a:t>29</a:t>
            </a:r>
          </a:p>
        </p:txBody>
      </p:sp>
      <p:cxnSp>
        <p:nvCxnSpPr>
          <p:cNvPr id="10" name="Connector 9"/>
          <p:cNvCxnSpPr/>
          <p:nvPr/>
        </p:nvCxnSpPr>
        <p:spPr>
          <a:xfrm>
            <a:off x="640080" y="6360000"/>
            <a:ext cx="10911840" cy="0"/>
          </a:xfrm>
          <a:prstGeom prst="line">
            <a:avLst/>
          </a:prstGeom>
          <a:ln w="6350">
            <a:solidFill>
              <a:srgbClr val="E4E1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Earn the Platform, Don't Announce It — B2B Product Strategy</dc:title>
  <dc:subject>2-3 year AI-powered Customer Operations Platform strategy — Airtribe B2B Product Strategy Assignment</dc:subject>
  <dc:creator>Praveen Veera</dc:creator>
  <cp:keywords>B2B SaaS, AI customer support, product strategy, Airtribe, Customer Operations Platform</cp:keywords>
  <dc:description/>
  <cp:lastModifiedBy>Praveen Veera</cp:lastModifiedBy>
  <cp:revision>1</cp:revision>
  <dcterms:created xsi:type="dcterms:W3CDTF">2013-01-27T09:14:16Z</dcterms:created>
  <dcterms:modified xsi:type="dcterms:W3CDTF">2013-01-27T09:15:58Z</dcterms:modified>
  <cp:category/>
</cp:coreProperties>
</file>