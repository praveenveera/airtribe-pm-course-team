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Find My Ride — a look at why, after you book an Uber, you and the driver still sometimes can't find each other. It's built on 62 real survey responses from Hyderabad and a few comparison cities, not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note before we start — this deck has a short story, then the full evidence sits in the appendix if you want to check any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was simple: when a pickup goes wrong, why does it go wrong, and what do people actually do about it? I didn't invent a metric to judge this by — the closest thing Uber could check today, without any new research, is the gap between the app saying "driver has arrived" and the trip actually starting. I don't have that number. But Uber does, or could pull it in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headline: this isn't everyone's problem. Only about half of recent riders reported real difficulty. But for that half, it wasn't a one-off — 23 of 28 said it had happened before, clustered in specific places: airports, gated communities, malls, office campuses — big or controlled spaces where the map pin and the real world don't line up. The clearest single finding: the app can say "driver arrived" while you're still nowhere near each other. One rider told us it took almost ten minutes after that message. People fall back on calling and texting, and it usually works. But for six people here, nothing worked at all — no help, no way to escalate. That's the real gap: not that communication is missing, but that when it fails, there's no floor under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direction: focus on making that fallback — the calling, the texting, the waiting — faster and less effortful, at the specific places where it keeps happening. Not a redesign of the pin. Not an airport-only fix, because airport isn't even a majority of the cases. One honest gap before I go further: this data is almost entirely riders. Only 4 of 62 responses came from drivers. Every time a driver circles a block looking for someone, they're losing paid time — and I don't have evidence yet on what that does to them, whether they get frustrated with certain locations, whether it affects whether they'll take that kind of trip again. That's not a footnote — it's the single biggest thing I'd want answered before anyone commits real money to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 simple structured note, exchanged a few minutes before the driver arrives — landmark, which gate, where to stand. One rider in our survey already does this by hand, unprompted, every time. Lyft already ships almost exactly this feature, so this isn't a bet on something unproven — it's catching up to a competitor's already-validated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 guaranteed next step when things stall. Right now, if calling and texting don't work, you either wait indefinitely or cancel. This adds something in between — a guided way to reconnect, or in the worst case, reassignment. Worth saying clearly: reassignment means the original driver loses that time for nothing, so this needs a real compensation answer, not just a nicer screen for the rider.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for the handful of places where this keeps happening, invest once in a shared note every future rider and driver can pull from, instead of everyone rediscovering the same friction. This one's the least proven of the three — we only checked venue rules from public sources, not by visiting — so treat it as a hypothesis, not a locked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upfront about the limits. This is a convenience sample — people from my own network, not a random sample of Hyderabad. Zero Hindi responses came in, even though we tried. And the group least able to recover from a bad pickup on their own — someone who doesn't read the map easily, or doesn't speak the app's language — is probably underrepresented here, not overrepresented. So this isn't a “we're sure, build it” pitch. It's: here's a real, evidence-backed pattern, here's the one number Uber could check tomorrow to validate it, and here's the one research gap — the driver side — that needs filling before I'd bet more on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C2B45"/>
          </a:solidFill>
          <a:ln/>
        </p:spPr>
      </p:sp>
      <p:sp>
        <p:nvSpPr>
          <p:cNvPr id="3" name="Text 1"/>
          <p:cNvSpPr txBox="1"/>
          <p:nvPr/>
        </p:nvSpPr>
        <p:spPr>
          <a:xfrm>
            <a:off x="548640" y="64008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AIRTRIBE  ·  PRODUCT MANAGEMENT COURSEWORK  ·  PROJECT 3</a:t>
            </a:r>
            <a:endParaRPr lang="en-US" sz="1200" dirty="0"/>
          </a:p>
        </p:txBody>
      </p:sp>
      <p:sp>
        <p:nvSpPr>
          <p:cNvPr id="4" name="Text 2"/>
          <p:cNvSpPr txBox="1"/>
          <p:nvPr/>
        </p:nvSpPr>
        <p:spPr>
          <a:xfrm>
            <a:off x="548640" y="1143000"/>
            <a:ext cx="1088136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Find My Ride</a:t>
            </a:r>
            <a:endParaRPr lang="en-US" sz="5400" dirty="0"/>
          </a:p>
        </p:txBody>
      </p:sp>
      <p:sp>
        <p:nvSpPr>
          <p:cNvPr id="5" name="Text 3"/>
          <p:cNvSpPr txBox="1"/>
          <p:nvPr/>
        </p:nvSpPr>
        <p:spPr>
          <a:xfrm>
            <a:off x="548640" y="2331720"/>
            <a:ext cx="8686800" cy="822960"/>
          </a:xfrm>
          <a:prstGeom prst="rect">
            <a:avLst/>
          </a:prstGeom>
          <a:noFill/>
          <a:ln/>
        </p:spPr>
        <p:txBody>
          <a:bodyPr wrap="square" lIns="0" tIns="0" rIns="0" bIns="0" rtlCol="0" anchor="ctr"/>
          <a:lstStyle/>
          <a:p>
            <a:pPr indent="0" marL="0">
              <a:buNone/>
            </a:pPr>
            <a:r>
              <a:rPr lang="en-US" sz="1800" dirty="0">
                <a:solidFill>
                  <a:srgbClr val="C7CEDD"/>
                </a:solidFill>
                <a:latin typeface="Calibri" pitchFamily="34" charset="0"/>
                <a:ea typeface="Calibri" pitchFamily="34" charset="-122"/>
                <a:cs typeface="Calibri" pitchFamily="34" charset="-120"/>
              </a:rPr>
              <a:t>Why riders and drivers still can't find each other after the app says "arrived" — and what to do about it.</a:t>
            </a:r>
            <a:endParaRPr lang="en-US" sz="1800" dirty="0"/>
          </a:p>
        </p:txBody>
      </p:sp>
      <p:sp>
        <p:nvSpPr>
          <p:cNvPr id="6" name="Shape 4"/>
          <p:cNvSpPr/>
          <p:nvPr/>
        </p:nvSpPr>
        <p:spPr>
          <a:xfrm>
            <a:off x="548640" y="3749040"/>
            <a:ext cx="2514600" cy="1371600"/>
          </a:xfrm>
          <a:prstGeom prst="rect">
            <a:avLst/>
          </a:prstGeom>
          <a:solidFill>
            <a:srgbClr val="2E4269"/>
          </a:solidFill>
          <a:ln/>
        </p:spPr>
      </p:sp>
      <p:sp>
        <p:nvSpPr>
          <p:cNvPr id="7" name="Text 5"/>
          <p:cNvSpPr txBox="1"/>
          <p:nvPr/>
        </p:nvSpPr>
        <p:spPr>
          <a:xfrm>
            <a:off x="713232" y="3886200"/>
            <a:ext cx="2185416" cy="685800"/>
          </a:xfrm>
          <a:prstGeom prst="rect">
            <a:avLst/>
          </a:prstGeom>
          <a:noFill/>
          <a:ln/>
        </p:spPr>
        <p:txBody>
          <a:bodyPr wrap="square" lIns="0" tIns="0" rIns="0" bIns="0" rtlCol="0" anchor="ctr"/>
          <a:lstStyle/>
          <a:p>
            <a:pPr indent="0" marL="0">
              <a:buNone/>
            </a:pPr>
            <a:r>
              <a:rPr lang="en-US" sz="3000" b="1" dirty="0">
                <a:solidFill>
                  <a:srgbClr val="D9762E"/>
                </a:solidFill>
                <a:latin typeface="Cambria" pitchFamily="34" charset="0"/>
                <a:ea typeface="Cambria" pitchFamily="34" charset="-122"/>
                <a:cs typeface="Cambria" pitchFamily="34" charset="-120"/>
              </a:rPr>
              <a:t>62</a:t>
            </a:r>
            <a:endParaRPr lang="en-US" sz="3000" dirty="0"/>
          </a:p>
        </p:txBody>
      </p:sp>
      <p:sp>
        <p:nvSpPr>
          <p:cNvPr id="8" name="Text 6"/>
          <p:cNvSpPr txBox="1"/>
          <p:nvPr/>
        </p:nvSpPr>
        <p:spPr>
          <a:xfrm>
            <a:off x="713232" y="4526280"/>
            <a:ext cx="2185416" cy="502920"/>
          </a:xfrm>
          <a:prstGeom prst="rect">
            <a:avLst/>
          </a:prstGeom>
          <a:noFill/>
          <a:ln/>
        </p:spPr>
        <p:txBody>
          <a:bodyPr wrap="square" lIns="0" tIns="0" rIns="0" bIns="0" rtlCol="0" anchor="ctr"/>
          <a:lstStyle/>
          <a:p>
            <a:pPr indent="0" marL="0">
              <a:buNone/>
            </a:pPr>
            <a:r>
              <a:rPr lang="en-US" sz="1050" dirty="0">
                <a:solidFill>
                  <a:srgbClr val="C7CEDD"/>
                </a:solidFill>
                <a:latin typeface="Calibri" pitchFamily="34" charset="0"/>
                <a:ea typeface="Calibri" pitchFamily="34" charset="-122"/>
                <a:cs typeface="Calibri" pitchFamily="34" charset="-120"/>
              </a:rPr>
              <a:t>Survey responses</a:t>
            </a:r>
            <a:endParaRPr lang="en-US" sz="1050" dirty="0"/>
          </a:p>
        </p:txBody>
      </p:sp>
      <p:sp>
        <p:nvSpPr>
          <p:cNvPr id="9" name="Shape 7"/>
          <p:cNvSpPr/>
          <p:nvPr/>
        </p:nvSpPr>
        <p:spPr>
          <a:xfrm>
            <a:off x="3291840" y="3749040"/>
            <a:ext cx="2514600" cy="1371600"/>
          </a:xfrm>
          <a:prstGeom prst="rect">
            <a:avLst/>
          </a:prstGeom>
          <a:solidFill>
            <a:srgbClr val="2E4269"/>
          </a:solidFill>
          <a:ln/>
        </p:spPr>
      </p:sp>
      <p:sp>
        <p:nvSpPr>
          <p:cNvPr id="10" name="Text 8"/>
          <p:cNvSpPr txBox="1"/>
          <p:nvPr/>
        </p:nvSpPr>
        <p:spPr>
          <a:xfrm>
            <a:off x="3456432" y="3886200"/>
            <a:ext cx="2185416" cy="685800"/>
          </a:xfrm>
          <a:prstGeom prst="rect">
            <a:avLst/>
          </a:prstGeom>
          <a:noFill/>
          <a:ln/>
        </p:spPr>
        <p:txBody>
          <a:bodyPr wrap="square" lIns="0" tIns="0" rIns="0" bIns="0" rtlCol="0" anchor="ctr"/>
          <a:lstStyle/>
          <a:p>
            <a:pPr indent="0" marL="0">
              <a:buNone/>
            </a:pPr>
            <a:r>
              <a:rPr lang="en-US" sz="3000" b="1" dirty="0">
                <a:solidFill>
                  <a:srgbClr val="D9762E"/>
                </a:solidFill>
                <a:latin typeface="Cambria" pitchFamily="34" charset="0"/>
                <a:ea typeface="Cambria" pitchFamily="34" charset="-122"/>
                <a:cs typeface="Cambria" pitchFamily="34" charset="-120"/>
              </a:rPr>
              <a:t>24/52</a:t>
            </a:r>
            <a:endParaRPr lang="en-US" sz="3000" dirty="0"/>
          </a:p>
        </p:txBody>
      </p:sp>
      <p:sp>
        <p:nvSpPr>
          <p:cNvPr id="11" name="Text 9"/>
          <p:cNvSpPr txBox="1"/>
          <p:nvPr/>
        </p:nvSpPr>
        <p:spPr>
          <a:xfrm>
            <a:off x="3456432" y="4526280"/>
            <a:ext cx="2185416" cy="502920"/>
          </a:xfrm>
          <a:prstGeom prst="rect">
            <a:avLst/>
          </a:prstGeom>
          <a:noFill/>
          <a:ln/>
        </p:spPr>
        <p:txBody>
          <a:bodyPr wrap="square" lIns="0" tIns="0" rIns="0" bIns="0" rtlCol="0" anchor="ctr"/>
          <a:lstStyle/>
          <a:p>
            <a:pPr indent="0" marL="0">
              <a:buNone/>
            </a:pPr>
            <a:r>
              <a:rPr lang="en-US" sz="1050" dirty="0">
                <a:solidFill>
                  <a:srgbClr val="C7CEDD"/>
                </a:solidFill>
                <a:latin typeface="Calibri" pitchFamily="34" charset="0"/>
                <a:ea typeface="Calibri" pitchFamily="34" charset="-122"/>
                <a:cs typeface="Calibri" pitchFamily="34" charset="-120"/>
              </a:rPr>
              <a:t>Recent users reporting difficulty</a:t>
            </a:r>
            <a:endParaRPr lang="en-US" sz="1050" dirty="0"/>
          </a:p>
        </p:txBody>
      </p:sp>
      <p:sp>
        <p:nvSpPr>
          <p:cNvPr id="12" name="Shape 10"/>
          <p:cNvSpPr/>
          <p:nvPr/>
        </p:nvSpPr>
        <p:spPr>
          <a:xfrm>
            <a:off x="6035040" y="3749040"/>
            <a:ext cx="2514600" cy="1371600"/>
          </a:xfrm>
          <a:prstGeom prst="rect">
            <a:avLst/>
          </a:prstGeom>
          <a:solidFill>
            <a:srgbClr val="2E4269"/>
          </a:solidFill>
          <a:ln/>
        </p:spPr>
      </p:sp>
      <p:sp>
        <p:nvSpPr>
          <p:cNvPr id="13" name="Text 11"/>
          <p:cNvSpPr txBox="1"/>
          <p:nvPr/>
        </p:nvSpPr>
        <p:spPr>
          <a:xfrm>
            <a:off x="6199632" y="3886200"/>
            <a:ext cx="2185416" cy="685800"/>
          </a:xfrm>
          <a:prstGeom prst="rect">
            <a:avLst/>
          </a:prstGeom>
          <a:noFill/>
          <a:ln/>
        </p:spPr>
        <p:txBody>
          <a:bodyPr wrap="square" lIns="0" tIns="0" rIns="0" bIns="0" rtlCol="0" anchor="ctr"/>
          <a:lstStyle/>
          <a:p>
            <a:pPr indent="0" marL="0">
              <a:buNone/>
            </a:pPr>
            <a:r>
              <a:rPr lang="en-US" sz="3000" b="1" dirty="0">
                <a:solidFill>
                  <a:srgbClr val="D9762E"/>
                </a:solidFill>
                <a:latin typeface="Cambria" pitchFamily="34" charset="0"/>
                <a:ea typeface="Cambria" pitchFamily="34" charset="-122"/>
                <a:cs typeface="Cambria" pitchFamily="34" charset="-120"/>
              </a:rPr>
              <a:t>4</a:t>
            </a:r>
            <a:endParaRPr lang="en-US" sz="3000" dirty="0"/>
          </a:p>
        </p:txBody>
      </p:sp>
      <p:sp>
        <p:nvSpPr>
          <p:cNvPr id="14" name="Text 12"/>
          <p:cNvSpPr txBox="1"/>
          <p:nvPr/>
        </p:nvSpPr>
        <p:spPr>
          <a:xfrm>
            <a:off x="6199632" y="4526280"/>
            <a:ext cx="2185416" cy="502920"/>
          </a:xfrm>
          <a:prstGeom prst="rect">
            <a:avLst/>
          </a:prstGeom>
          <a:noFill/>
          <a:ln/>
        </p:spPr>
        <p:txBody>
          <a:bodyPr wrap="square" lIns="0" tIns="0" rIns="0" bIns="0" rtlCol="0" anchor="ctr"/>
          <a:lstStyle/>
          <a:p>
            <a:pPr indent="0" marL="0">
              <a:buNone/>
            </a:pPr>
            <a:r>
              <a:rPr lang="en-US" sz="1050" dirty="0">
                <a:solidFill>
                  <a:srgbClr val="C7CEDD"/>
                </a:solidFill>
                <a:latin typeface="Calibri" pitchFamily="34" charset="0"/>
                <a:ea typeface="Calibri" pitchFamily="34" charset="-122"/>
                <a:cs typeface="Calibri" pitchFamily="34" charset="-120"/>
              </a:rPr>
              <a:t>Driver responses (the open gap)</a:t>
            </a:r>
            <a:endParaRPr lang="en-US" sz="1050" dirty="0"/>
          </a:p>
        </p:txBody>
      </p:sp>
      <p:sp>
        <p:nvSpPr>
          <p:cNvPr id="15" name="Shape 13"/>
          <p:cNvSpPr/>
          <p:nvPr/>
        </p:nvSpPr>
        <p:spPr>
          <a:xfrm>
            <a:off x="8778240" y="3749040"/>
            <a:ext cx="2514600" cy="1371600"/>
          </a:xfrm>
          <a:prstGeom prst="rect">
            <a:avLst/>
          </a:prstGeom>
          <a:solidFill>
            <a:srgbClr val="2E4269"/>
          </a:solidFill>
          <a:ln/>
        </p:spPr>
      </p:sp>
      <p:sp>
        <p:nvSpPr>
          <p:cNvPr id="16" name="Text 14"/>
          <p:cNvSpPr txBox="1"/>
          <p:nvPr/>
        </p:nvSpPr>
        <p:spPr>
          <a:xfrm>
            <a:off x="8942832" y="3886200"/>
            <a:ext cx="2185416" cy="685800"/>
          </a:xfrm>
          <a:prstGeom prst="rect">
            <a:avLst/>
          </a:prstGeom>
          <a:noFill/>
          <a:ln/>
        </p:spPr>
        <p:txBody>
          <a:bodyPr wrap="square" lIns="0" tIns="0" rIns="0" bIns="0" rtlCol="0" anchor="ctr"/>
          <a:lstStyle/>
          <a:p>
            <a:pPr indent="0" marL="0">
              <a:buNone/>
            </a:pPr>
            <a:r>
              <a:rPr lang="en-US" sz="3000" b="1" dirty="0">
                <a:solidFill>
                  <a:srgbClr val="D9762E"/>
                </a:solidFill>
                <a:latin typeface="Cambria" pitchFamily="34" charset="0"/>
                <a:ea typeface="Cambria" pitchFamily="34" charset="-122"/>
                <a:cs typeface="Cambria" pitchFamily="34" charset="-120"/>
              </a:rPr>
              <a:t>3</a:t>
            </a:r>
            <a:endParaRPr lang="en-US" sz="3000" dirty="0"/>
          </a:p>
        </p:txBody>
      </p:sp>
      <p:sp>
        <p:nvSpPr>
          <p:cNvPr id="17" name="Text 15"/>
          <p:cNvSpPr txBox="1"/>
          <p:nvPr/>
        </p:nvSpPr>
        <p:spPr>
          <a:xfrm>
            <a:off x="8942832" y="4526280"/>
            <a:ext cx="2185416" cy="502920"/>
          </a:xfrm>
          <a:prstGeom prst="rect">
            <a:avLst/>
          </a:prstGeom>
          <a:noFill/>
          <a:ln/>
        </p:spPr>
        <p:txBody>
          <a:bodyPr wrap="square" lIns="0" tIns="0" rIns="0" bIns="0" rtlCol="0" anchor="ctr"/>
          <a:lstStyle/>
          <a:p>
            <a:pPr indent="0" marL="0">
              <a:buNone/>
            </a:pPr>
            <a:r>
              <a:rPr lang="en-US" sz="1050" dirty="0">
                <a:solidFill>
                  <a:srgbClr val="C7CEDD"/>
                </a:solidFill>
                <a:latin typeface="Calibri" pitchFamily="34" charset="0"/>
                <a:ea typeface="Calibri" pitchFamily="34" charset="-122"/>
                <a:cs typeface="Calibri" pitchFamily="34" charset="-120"/>
              </a:rPr>
              <a:t>Research-led product ideas</a:t>
            </a:r>
            <a:endParaRPr lang="en-US" sz="1050" dirty="0"/>
          </a:p>
        </p:txBody>
      </p:sp>
      <p:sp>
        <p:nvSpPr>
          <p:cNvPr id="18" name="Text 16"/>
          <p:cNvSpPr txBox="1"/>
          <p:nvPr/>
        </p:nvSpPr>
        <p:spPr>
          <a:xfrm>
            <a:off x="548640" y="6126480"/>
            <a:ext cx="8229600" cy="365760"/>
          </a:xfrm>
          <a:prstGeom prst="rect">
            <a:avLst/>
          </a:prstGeom>
          <a:noFill/>
          <a:ln/>
        </p:spPr>
        <p:txBody>
          <a:bodyPr wrap="square" lIns="0" tIns="0" rIns="0" bIns="0" rtlCol="0" anchor="ctr"/>
          <a:lstStyle/>
          <a:p>
            <a:pPr indent="0" marL="0">
              <a:buNone/>
            </a:pPr>
            <a:r>
              <a:rPr lang="en-US" sz="1100" dirty="0">
                <a:solidFill>
                  <a:srgbClr val="8B96AD"/>
                </a:solidFill>
                <a:latin typeface="Calibri" pitchFamily="34" charset="0"/>
                <a:ea typeface="Calibri" pitchFamily="34" charset="-122"/>
                <a:cs typeface="Calibri" pitchFamily="34" charset="-120"/>
              </a:rPr>
              <a:t>Praveen Veera   ·   Hyderabad, India   ·   18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FF3"/>
          </a:solidFill>
          <a:ln/>
        </p:spPr>
      </p:sp>
      <p:sp>
        <p:nvSpPr>
          <p:cNvPr id="3" name="Text 1"/>
          <p:cNvSpPr txBox="1"/>
          <p:nvPr/>
        </p:nvSpPr>
        <p:spPr>
          <a:xfrm>
            <a:off x="548640" y="50292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HOW TO USE THIS DECK</a:t>
            </a:r>
            <a:endParaRPr lang="en-US" sz="1200" dirty="0"/>
          </a:p>
        </p:txBody>
      </p:sp>
      <p:sp>
        <p:nvSpPr>
          <p:cNvPr id="4" name="Text 2"/>
          <p:cNvSpPr txBox="1"/>
          <p:nvPr/>
        </p:nvSpPr>
        <p:spPr>
          <a:xfrm>
            <a:off x="548640" y="822960"/>
            <a:ext cx="10881360" cy="822960"/>
          </a:xfrm>
          <a:prstGeom prst="rect">
            <a:avLst/>
          </a:prstGeom>
          <a:noFill/>
          <a:ln/>
        </p:spPr>
        <p:txBody>
          <a:bodyPr wrap="square" lIns="0" tIns="0" rIns="0" bIns="0" rtlCol="0" anchor="ctr"/>
          <a:lstStyle/>
          <a:p>
            <a:pPr indent="0" marL="0">
              <a:buNone/>
            </a:pPr>
            <a:r>
              <a:rPr lang="en-US" sz="3000" b="1" dirty="0">
                <a:solidFill>
                  <a:srgbClr val="1C2B45"/>
                </a:solidFill>
                <a:latin typeface="Cambria" pitchFamily="34" charset="0"/>
                <a:ea typeface="Cambria" pitchFamily="34" charset="-122"/>
                <a:cs typeface="Cambria" pitchFamily="34" charset="-120"/>
              </a:rPr>
              <a:t>A five-minute story, then the full evidence</a:t>
            </a:r>
            <a:endParaRPr lang="en-US" sz="3000" dirty="0"/>
          </a:p>
        </p:txBody>
      </p:sp>
      <p:sp>
        <p:nvSpPr>
          <p:cNvPr id="5" name="Shape 3"/>
          <p:cNvSpPr/>
          <p:nvPr/>
        </p:nvSpPr>
        <p:spPr>
          <a:xfrm>
            <a:off x="548640" y="1920240"/>
            <a:ext cx="5349240" cy="3566160"/>
          </a:xfrm>
          <a:prstGeom prst="rect">
            <a:avLst/>
          </a:prstGeom>
          <a:solidFill>
            <a:srgbClr val="FFFFFF"/>
          </a:solidFill>
          <a:ln w="12700">
            <a:solidFill>
              <a:srgbClr val="D8DCE6"/>
            </a:solidFill>
            <a:prstDash val="solid"/>
          </a:ln>
        </p:spPr>
      </p:sp>
      <p:sp>
        <p:nvSpPr>
          <p:cNvPr id="6" name="Text 4"/>
          <p:cNvSpPr txBox="1"/>
          <p:nvPr/>
        </p:nvSpPr>
        <p:spPr>
          <a:xfrm>
            <a:off x="822960" y="2148840"/>
            <a:ext cx="4846320" cy="320040"/>
          </a:xfrm>
          <a:prstGeom prst="rect">
            <a:avLst/>
          </a:prstGeom>
          <a:noFill/>
          <a:ln/>
        </p:spPr>
        <p:txBody>
          <a:bodyPr wrap="square" lIns="0" tIns="0" rIns="0" bIns="0" rtlCol="0" anchor="ctr"/>
          <a:lstStyle/>
          <a:p>
            <a:pPr indent="0" marL="0">
              <a:buNone/>
            </a:pPr>
            <a:r>
              <a:rPr lang="en-US" sz="1100" b="1" spc="150" kern="0" dirty="0">
                <a:solidFill>
                  <a:srgbClr val="D9762E"/>
                </a:solidFill>
                <a:latin typeface="Calibri" pitchFamily="34" charset="0"/>
                <a:ea typeface="Calibri" pitchFamily="34" charset="-122"/>
                <a:cs typeface="Calibri" pitchFamily="34" charset="-120"/>
              </a:rPr>
              <a:t>THE STORY  ·  SLIDES 3–9</a:t>
            </a:r>
            <a:endParaRPr lang="en-US" sz="1100" dirty="0"/>
          </a:p>
        </p:txBody>
      </p:sp>
      <p:sp>
        <p:nvSpPr>
          <p:cNvPr id="7" name="Text 5"/>
          <p:cNvSpPr txBox="1"/>
          <p:nvPr/>
        </p:nvSpPr>
        <p:spPr>
          <a:xfrm>
            <a:off x="822960" y="2560320"/>
            <a:ext cx="4846320" cy="2743200"/>
          </a:xfrm>
          <a:prstGeom prst="rect">
            <a:avLst/>
          </a:prstGeom>
          <a:noFill/>
          <a:ln/>
        </p:spPr>
        <p:txBody>
          <a:bodyPr wrap="square" lIns="0" tIns="0" rIns="0" bIns="0" rtlCol="0" anchor="ctr"/>
          <a:lstStyle/>
          <a:p>
            <a:pPr indent="0" marL="0">
              <a:lnSpc>
                <a:spcPct val="125000"/>
              </a:lnSpc>
              <a:buNone/>
            </a:pPr>
            <a:r>
              <a:rPr lang="en-US" sz="1350" dirty="0">
                <a:solidFill>
                  <a:srgbClr val="1C2B45"/>
                </a:solidFill>
                <a:latin typeface="Calibri" pitchFamily="34" charset="0"/>
                <a:ea typeface="Calibri" pitchFamily="34" charset="-122"/>
                <a:cs typeface="Calibri" pitchFamily="34" charset="-120"/>
              </a:rPr>
              <a:t>The research goal, what the evidence showed, the strategy direction, and the three product ideas — everything needed to follow the recommendation and record the walkthrough.</a:t>
            </a:r>
            <a:endParaRPr lang="en-US" sz="1350" dirty="0"/>
          </a:p>
        </p:txBody>
      </p:sp>
      <p:sp>
        <p:nvSpPr>
          <p:cNvPr id="8" name="Shape 6"/>
          <p:cNvSpPr/>
          <p:nvPr/>
        </p:nvSpPr>
        <p:spPr>
          <a:xfrm>
            <a:off x="6172200" y="1920240"/>
            <a:ext cx="5349240" cy="3566160"/>
          </a:xfrm>
          <a:prstGeom prst="rect">
            <a:avLst/>
          </a:prstGeom>
          <a:solidFill>
            <a:srgbClr val="FFFFFF"/>
          </a:solidFill>
          <a:ln w="12700">
            <a:solidFill>
              <a:srgbClr val="D8DCE6"/>
            </a:solidFill>
            <a:prstDash val="solid"/>
          </a:ln>
        </p:spPr>
      </p:sp>
      <p:sp>
        <p:nvSpPr>
          <p:cNvPr id="9" name="Text 7"/>
          <p:cNvSpPr txBox="1"/>
          <p:nvPr/>
        </p:nvSpPr>
        <p:spPr>
          <a:xfrm>
            <a:off x="6446520" y="2148840"/>
            <a:ext cx="4846320" cy="320040"/>
          </a:xfrm>
          <a:prstGeom prst="rect">
            <a:avLst/>
          </a:prstGeom>
          <a:noFill/>
          <a:ln/>
        </p:spPr>
        <p:txBody>
          <a:bodyPr wrap="square" lIns="0" tIns="0" rIns="0" bIns="0" rtlCol="0" anchor="ctr"/>
          <a:lstStyle/>
          <a:p>
            <a:pPr indent="0" marL="0">
              <a:buNone/>
            </a:pPr>
            <a:r>
              <a:rPr lang="en-US" sz="1100" b="1" spc="150" kern="0" dirty="0">
                <a:solidFill>
                  <a:srgbClr val="3E7C86"/>
                </a:solidFill>
                <a:latin typeface="Calibri" pitchFamily="34" charset="0"/>
                <a:ea typeface="Calibri" pitchFamily="34" charset="-122"/>
                <a:cs typeface="Calibri" pitchFamily="34" charset="-120"/>
              </a:rPr>
              <a:t>APPENDIX  ·  SLIDES 10–19</a:t>
            </a:r>
            <a:endParaRPr lang="en-US" sz="1100" dirty="0"/>
          </a:p>
        </p:txBody>
      </p:sp>
      <p:sp>
        <p:nvSpPr>
          <p:cNvPr id="10" name="Text 8"/>
          <p:cNvSpPr txBox="1"/>
          <p:nvPr/>
        </p:nvSpPr>
        <p:spPr>
          <a:xfrm>
            <a:off x="6446520" y="2560320"/>
            <a:ext cx="4846320" cy="2743200"/>
          </a:xfrm>
          <a:prstGeom prst="rect">
            <a:avLst/>
          </a:prstGeom>
          <a:noFill/>
          <a:ln/>
        </p:spPr>
        <p:txBody>
          <a:bodyPr wrap="square" lIns="0" tIns="0" rIns="0" bIns="0" rtlCol="0" anchor="ctr"/>
          <a:lstStyle/>
          <a:p>
            <a:pPr indent="0" marL="0">
              <a:lnSpc>
                <a:spcPct val="125000"/>
              </a:lnSpc>
              <a:buNone/>
            </a:pPr>
            <a:r>
              <a:rPr lang="en-US" sz="1350" dirty="0">
                <a:solidFill>
                  <a:srgbClr val="1C2B45"/>
                </a:solidFill>
                <a:latin typeface="Calibri" pitchFamily="34" charset="0"/>
                <a:ea typeface="Calibri" pitchFamily="34" charset="-122"/>
                <a:cs typeface="Calibri" pitchFamily="34" charset="-120"/>
              </a:rPr>
              <a:t>The full evidence behind every claim in the story: methodology, all ten survey insights, the complete strategy reconciliation, every field of all three product ideas, and the full limitations register.</a:t>
            </a:r>
            <a:endParaRPr lang="en-US" sz="1350" dirty="0"/>
          </a:p>
        </p:txBody>
      </p:sp>
      <p:sp>
        <p:nvSpPr>
          <p:cNvPr id="11" name="Text 9"/>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Find My Ride</a:t>
            </a:r>
            <a:endParaRPr lang="en-US" sz="900" dirty="0"/>
          </a:p>
        </p:txBody>
      </p:sp>
      <p:sp>
        <p:nvSpPr>
          <p:cNvPr id="12" name="Text 10"/>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FF3"/>
          </a:solidFill>
          <a:ln/>
        </p:spPr>
      </p:sp>
      <p:sp>
        <p:nvSpPr>
          <p:cNvPr id="3" name="Text 1"/>
          <p:cNvSpPr txBox="1"/>
          <p:nvPr/>
        </p:nvSpPr>
        <p:spPr>
          <a:xfrm>
            <a:off x="548640" y="50292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SECTION 1 · RESEARCH GOAL</a:t>
            </a:r>
            <a:endParaRPr lang="en-US" sz="1200" dirty="0"/>
          </a:p>
        </p:txBody>
      </p:sp>
      <p:sp>
        <p:nvSpPr>
          <p:cNvPr id="4" name="Text 2"/>
          <p:cNvSpPr txBox="1"/>
          <p:nvPr/>
        </p:nvSpPr>
        <p:spPr>
          <a:xfrm>
            <a:off x="548640" y="822960"/>
            <a:ext cx="10515600" cy="822960"/>
          </a:xfrm>
          <a:prstGeom prst="rect">
            <a:avLst/>
          </a:prstGeom>
          <a:noFill/>
          <a:ln/>
        </p:spPr>
        <p:txBody>
          <a:bodyPr wrap="square" lIns="0" tIns="0" rIns="0" bIns="0" rtlCol="0" anchor="ctr"/>
          <a:lstStyle/>
          <a:p>
            <a:pPr indent="0" marL="0">
              <a:buNone/>
            </a:pPr>
            <a:r>
              <a:rPr lang="en-US" sz="2700" b="1" dirty="0">
                <a:solidFill>
                  <a:srgbClr val="1C2B45"/>
                </a:solidFill>
                <a:latin typeface="Cambria" pitchFamily="34" charset="0"/>
                <a:ea typeface="Cambria" pitchFamily="34" charset="-122"/>
                <a:cs typeface="Cambria" pitchFamily="34" charset="-120"/>
              </a:rPr>
              <a:t>One question, one honest gap in how we'd measure it</a:t>
            </a:r>
            <a:endParaRPr lang="en-US" sz="2700" dirty="0"/>
          </a:p>
        </p:txBody>
      </p:sp>
      <p:sp>
        <p:nvSpPr>
          <p:cNvPr id="5" name="Shape 3"/>
          <p:cNvSpPr/>
          <p:nvPr/>
        </p:nvSpPr>
        <p:spPr>
          <a:xfrm>
            <a:off x="548640" y="1965960"/>
            <a:ext cx="10177272" cy="1051560"/>
          </a:xfrm>
          <a:prstGeom prst="rect">
            <a:avLst/>
          </a:prstGeom>
          <a:solidFill>
            <a:srgbClr val="1C2B45"/>
          </a:solidFill>
          <a:ln/>
        </p:spPr>
      </p:sp>
      <p:sp>
        <p:nvSpPr>
          <p:cNvPr id="6" name="Text 4"/>
          <p:cNvSpPr txBox="1"/>
          <p:nvPr/>
        </p:nvSpPr>
        <p:spPr>
          <a:xfrm>
            <a:off x="822960" y="2194560"/>
            <a:ext cx="9601200" cy="640080"/>
          </a:xfrm>
          <a:prstGeom prst="rect">
            <a:avLst/>
          </a:prstGeom>
          <a:noFill/>
          <a:ln/>
        </p:spPr>
        <p:txBody>
          <a:bodyPr wrap="square" lIns="0" tIns="0" rIns="0" bIns="0" rtlCol="0" anchor="ctr"/>
          <a:lstStyle/>
          <a:p>
            <a:pPr indent="0" marL="0">
              <a:buNone/>
            </a:pPr>
            <a:r>
              <a:rPr lang="en-US" sz="1700" i="1" dirty="0">
                <a:solidFill>
                  <a:srgbClr val="FFFFFF"/>
                </a:solidFill>
                <a:latin typeface="Cambria" pitchFamily="34" charset="0"/>
                <a:ea typeface="Cambria" pitchFamily="34" charset="-122"/>
                <a:cs typeface="Cambria" pitchFamily="34" charset="-120"/>
              </a:rPr>
              <a:t>When a pickup goes wrong, why does it go wrong — and what do riders and drivers actually do about it?</a:t>
            </a:r>
            <a:endParaRPr lang="en-US" sz="1700" dirty="0"/>
          </a:p>
        </p:txBody>
      </p:sp>
      <p:sp>
        <p:nvSpPr>
          <p:cNvPr id="7" name="Text 5"/>
          <p:cNvSpPr txBox="1"/>
          <p:nvPr/>
        </p:nvSpPr>
        <p:spPr>
          <a:xfrm>
            <a:off x="548640" y="3337560"/>
            <a:ext cx="5486400" cy="274320"/>
          </a:xfrm>
          <a:prstGeom prst="rect">
            <a:avLst/>
          </a:prstGeom>
          <a:noFill/>
          <a:ln/>
        </p:spPr>
        <p:txBody>
          <a:bodyPr wrap="square" lIns="0" tIns="0" rIns="0" bIns="0" rtlCol="0" anchor="ctr"/>
          <a:lstStyle/>
          <a:p>
            <a:pPr indent="0" marL="0">
              <a:buNone/>
            </a:pPr>
            <a:r>
              <a:rPr lang="en-US" sz="1100" b="1" spc="100" kern="0" dirty="0">
                <a:solidFill>
                  <a:srgbClr val="D9762E"/>
                </a:solidFill>
                <a:latin typeface="Calibri" pitchFamily="34" charset="0"/>
                <a:ea typeface="Calibri" pitchFamily="34" charset="-122"/>
                <a:cs typeface="Calibri" pitchFamily="34" charset="-120"/>
              </a:rPr>
              <a:t>THE METRIC WE'D WANT</a:t>
            </a:r>
            <a:endParaRPr lang="en-US" sz="1100" dirty="0"/>
          </a:p>
        </p:txBody>
      </p:sp>
      <p:sp>
        <p:nvSpPr>
          <p:cNvPr id="8" name="Text 6"/>
          <p:cNvSpPr txBox="1"/>
          <p:nvPr/>
        </p:nvSpPr>
        <p:spPr>
          <a:xfrm>
            <a:off x="548640" y="3657600"/>
            <a:ext cx="5120640" cy="1005840"/>
          </a:xfrm>
          <a:prstGeom prst="rect">
            <a:avLst/>
          </a:prstGeom>
          <a:noFill/>
          <a:ln/>
        </p:spPr>
        <p:txBody>
          <a:bodyPr wrap="square" lIns="0" tIns="0" rIns="0" bIns="0" rtlCol="0" anchor="ctr"/>
          <a:lstStyle/>
          <a:p>
            <a:pPr indent="0" marL="0">
              <a:lnSpc>
                <a:spcPct val="120000"/>
              </a:lnSpc>
              <a:buNone/>
            </a:pPr>
            <a:r>
              <a:rPr lang="en-US" sz="1450" dirty="0">
                <a:solidFill>
                  <a:srgbClr val="1C2B45"/>
                </a:solidFill>
                <a:latin typeface="Calibri" pitchFamily="34" charset="0"/>
                <a:ea typeface="Calibri" pitchFamily="34" charset="-122"/>
                <a:cs typeface="Calibri" pitchFamily="34" charset="-120"/>
              </a:rPr>
              <a:t>Dwell time between the app's "driver arrived" state and trip start, by pickup location.</a:t>
            </a:r>
            <a:endParaRPr lang="en-US" sz="1450" dirty="0"/>
          </a:p>
        </p:txBody>
      </p:sp>
      <p:sp>
        <p:nvSpPr>
          <p:cNvPr id="9" name="Shape 7"/>
          <p:cNvSpPr/>
          <p:nvPr/>
        </p:nvSpPr>
        <p:spPr>
          <a:xfrm>
            <a:off x="6172200" y="3337560"/>
            <a:ext cx="4553712" cy="1783080"/>
          </a:xfrm>
          <a:prstGeom prst="rect">
            <a:avLst/>
          </a:prstGeom>
          <a:solidFill>
            <a:srgbClr val="F7E4D2"/>
          </a:solidFill>
          <a:ln/>
        </p:spPr>
      </p:sp>
      <p:sp>
        <p:nvSpPr>
          <p:cNvPr id="10" name="Text 8"/>
          <p:cNvSpPr txBox="1"/>
          <p:nvPr/>
        </p:nvSpPr>
        <p:spPr>
          <a:xfrm>
            <a:off x="6400800" y="3520440"/>
            <a:ext cx="4114800" cy="274320"/>
          </a:xfrm>
          <a:prstGeom prst="rect">
            <a:avLst/>
          </a:prstGeom>
          <a:noFill/>
          <a:ln/>
        </p:spPr>
        <p:txBody>
          <a:bodyPr wrap="square" lIns="0" tIns="0" rIns="0" bIns="0" rtlCol="0" anchor="ctr"/>
          <a:lstStyle/>
          <a:p>
            <a:pPr indent="0" marL="0">
              <a:buNone/>
            </a:pPr>
            <a:r>
              <a:rPr lang="en-US" sz="1050" b="1" spc="100" kern="0" dirty="0">
                <a:solidFill>
                  <a:srgbClr val="8A4A1E"/>
                </a:solidFill>
                <a:latin typeface="Calibri" pitchFamily="34" charset="0"/>
                <a:ea typeface="Calibri" pitchFamily="34" charset="-122"/>
                <a:cs typeface="Calibri" pitchFamily="34" charset="-120"/>
              </a:rPr>
              <a:t>WE DON'T HAVE THIS NUMBER</a:t>
            </a:r>
            <a:endParaRPr lang="en-US" sz="1050" dirty="0"/>
          </a:p>
        </p:txBody>
      </p:sp>
      <p:sp>
        <p:nvSpPr>
          <p:cNvPr id="11" name="Text 9"/>
          <p:cNvSpPr txBox="1"/>
          <p:nvPr/>
        </p:nvSpPr>
        <p:spPr>
          <a:xfrm>
            <a:off x="6400800" y="3840480"/>
            <a:ext cx="4114800" cy="1188720"/>
          </a:xfrm>
          <a:prstGeom prst="rect">
            <a:avLst/>
          </a:prstGeom>
          <a:noFill/>
          <a:ln/>
        </p:spPr>
        <p:txBody>
          <a:bodyPr wrap="square" lIns="0" tIns="0" rIns="0" bIns="0" rtlCol="0" anchor="ctr"/>
          <a:lstStyle/>
          <a:p>
            <a:pPr indent="0" marL="0">
              <a:lnSpc>
                <a:spcPct val="120000"/>
              </a:lnSpc>
              <a:buNone/>
            </a:pPr>
            <a:r>
              <a:rPr lang="en-US" sz="1300" dirty="0">
                <a:solidFill>
                  <a:srgbClr val="5A2E10"/>
                </a:solidFill>
                <a:latin typeface="Calibri" pitchFamily="34" charset="0"/>
                <a:ea typeface="Calibri" pitchFamily="34" charset="-122"/>
                <a:cs typeface="Calibri" pitchFamily="34" charset="-120"/>
              </a:rPr>
              <a:t>But Uber does — or could pull it in a day. It's the single highest-value next step, ahead of any more research.</a:t>
            </a:r>
            <a:endParaRPr lang="en-US" sz="1300" dirty="0"/>
          </a:p>
        </p:txBody>
      </p:sp>
      <p:sp>
        <p:nvSpPr>
          <p:cNvPr id="12" name="Text 10"/>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Find My Ride</a:t>
            </a:r>
            <a:endParaRPr lang="en-US" sz="90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FF3"/>
          </a:solidFill>
          <a:ln/>
        </p:spPr>
      </p:sp>
      <p:sp>
        <p:nvSpPr>
          <p:cNvPr id="3" name="Text 1"/>
          <p:cNvSpPr txBox="1"/>
          <p:nvPr/>
        </p:nvSpPr>
        <p:spPr>
          <a:xfrm>
            <a:off x="548640" y="50292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SECTION 2 · WHAT THE EVIDENCE SHOWED</a:t>
            </a:r>
            <a:endParaRPr lang="en-US" sz="1200" dirty="0"/>
          </a:p>
        </p:txBody>
      </p:sp>
      <p:sp>
        <p:nvSpPr>
          <p:cNvPr id="4" name="Text 2"/>
          <p:cNvSpPr txBox="1"/>
          <p:nvPr/>
        </p:nvSpPr>
        <p:spPr>
          <a:xfrm>
            <a:off x="548640" y="822960"/>
            <a:ext cx="10515600" cy="822960"/>
          </a:xfrm>
          <a:prstGeom prst="rect">
            <a:avLst/>
          </a:prstGeom>
          <a:noFill/>
          <a:ln/>
        </p:spPr>
        <p:txBody>
          <a:bodyPr wrap="square" lIns="0" tIns="0" rIns="0" bIns="0" rtlCol="0" anchor="ctr"/>
          <a:lstStyle/>
          <a:p>
            <a:pPr indent="0" marL="0">
              <a:buNone/>
            </a:pPr>
            <a:r>
              <a:rPr lang="en-US" sz="2700" b="1" dirty="0">
                <a:solidFill>
                  <a:srgbClr val="1C2B45"/>
                </a:solidFill>
                <a:latin typeface="Cambria" pitchFamily="34" charset="0"/>
                <a:ea typeface="Cambria" pitchFamily="34" charset="-122"/>
                <a:cs typeface="Cambria" pitchFamily="34" charset="-120"/>
              </a:rPr>
              <a:t>Not everyone's problem — but a real, recurring one</a:t>
            </a:r>
            <a:endParaRPr lang="en-US" sz="2700" dirty="0"/>
          </a:p>
        </p:txBody>
      </p:sp>
      <p:sp>
        <p:nvSpPr>
          <p:cNvPr id="5" name="Shape 3"/>
          <p:cNvSpPr/>
          <p:nvPr/>
        </p:nvSpPr>
        <p:spPr>
          <a:xfrm>
            <a:off x="548640" y="1965960"/>
            <a:ext cx="3291840" cy="1234440"/>
          </a:xfrm>
          <a:prstGeom prst="rect">
            <a:avLst/>
          </a:prstGeom>
          <a:solidFill>
            <a:srgbClr val="FFFFFF"/>
          </a:solidFill>
          <a:ln w="12700">
            <a:solidFill>
              <a:srgbClr val="D8DCE6"/>
            </a:solidFill>
            <a:prstDash val="solid"/>
          </a:ln>
        </p:spPr>
      </p:sp>
      <p:sp>
        <p:nvSpPr>
          <p:cNvPr id="6" name="Text 4"/>
          <p:cNvSpPr txBox="1"/>
          <p:nvPr/>
        </p:nvSpPr>
        <p:spPr>
          <a:xfrm>
            <a:off x="685800" y="2075688"/>
            <a:ext cx="3017520" cy="678942"/>
          </a:xfrm>
          <a:prstGeom prst="rect">
            <a:avLst/>
          </a:prstGeom>
          <a:noFill/>
          <a:ln/>
        </p:spPr>
        <p:txBody>
          <a:bodyPr wrap="square" lIns="0" tIns="0" rIns="0" bIns="0" rtlCol="0" anchor="ctr"/>
          <a:lstStyle/>
          <a:p>
            <a:pPr indent="0" marL="0">
              <a:buNone/>
            </a:pPr>
            <a:r>
              <a:rPr lang="en-US" sz="3000" b="1" dirty="0">
                <a:solidFill>
                  <a:srgbClr val="1C2B45"/>
                </a:solidFill>
                <a:latin typeface="Cambria" pitchFamily="34" charset="0"/>
                <a:ea typeface="Cambria" pitchFamily="34" charset="-122"/>
                <a:cs typeface="Cambria" pitchFamily="34" charset="-120"/>
              </a:rPr>
              <a:t>24 / 52</a:t>
            </a:r>
            <a:endParaRPr lang="en-US" sz="3000" dirty="0"/>
          </a:p>
        </p:txBody>
      </p:sp>
      <p:sp>
        <p:nvSpPr>
          <p:cNvPr id="7" name="Text 5"/>
          <p:cNvSpPr txBox="1"/>
          <p:nvPr/>
        </p:nvSpPr>
        <p:spPr>
          <a:xfrm>
            <a:off x="685800" y="2706624"/>
            <a:ext cx="3017520" cy="469087"/>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recent riders reported difficulty</a:t>
            </a:r>
            <a:endParaRPr lang="en-US" sz="1050" dirty="0"/>
          </a:p>
        </p:txBody>
      </p:sp>
      <p:sp>
        <p:nvSpPr>
          <p:cNvPr id="8" name="Shape 6"/>
          <p:cNvSpPr/>
          <p:nvPr/>
        </p:nvSpPr>
        <p:spPr>
          <a:xfrm>
            <a:off x="3977640" y="1965960"/>
            <a:ext cx="3291840" cy="1234440"/>
          </a:xfrm>
          <a:prstGeom prst="rect">
            <a:avLst/>
          </a:prstGeom>
          <a:solidFill>
            <a:srgbClr val="FFFFFF"/>
          </a:solidFill>
          <a:ln w="12700">
            <a:solidFill>
              <a:srgbClr val="D8DCE6"/>
            </a:solidFill>
            <a:prstDash val="solid"/>
          </a:ln>
        </p:spPr>
      </p:sp>
      <p:sp>
        <p:nvSpPr>
          <p:cNvPr id="9" name="Text 7"/>
          <p:cNvSpPr txBox="1"/>
          <p:nvPr/>
        </p:nvSpPr>
        <p:spPr>
          <a:xfrm>
            <a:off x="4114800" y="2075688"/>
            <a:ext cx="3017520" cy="678942"/>
          </a:xfrm>
          <a:prstGeom prst="rect">
            <a:avLst/>
          </a:prstGeom>
          <a:noFill/>
          <a:ln/>
        </p:spPr>
        <p:txBody>
          <a:bodyPr wrap="square" lIns="0" tIns="0" rIns="0" bIns="0" rtlCol="0" anchor="ctr"/>
          <a:lstStyle/>
          <a:p>
            <a:pPr indent="0" marL="0">
              <a:buNone/>
            </a:pPr>
            <a:r>
              <a:rPr lang="en-US" sz="3000" b="1" dirty="0">
                <a:solidFill>
                  <a:srgbClr val="1C2B45"/>
                </a:solidFill>
                <a:latin typeface="Cambria" pitchFamily="34" charset="0"/>
                <a:ea typeface="Cambria" pitchFamily="34" charset="-122"/>
                <a:cs typeface="Cambria" pitchFamily="34" charset="-120"/>
              </a:rPr>
              <a:t>23 / 28</a:t>
            </a:r>
            <a:endParaRPr lang="en-US" sz="3000" dirty="0"/>
          </a:p>
        </p:txBody>
      </p:sp>
      <p:sp>
        <p:nvSpPr>
          <p:cNvPr id="10" name="Text 8"/>
          <p:cNvSpPr txBox="1"/>
          <p:nvPr/>
        </p:nvSpPr>
        <p:spPr>
          <a:xfrm>
            <a:off x="4114800" y="2706624"/>
            <a:ext cx="3017520" cy="469087"/>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issue cases had happened before</a:t>
            </a:r>
            <a:endParaRPr lang="en-US" sz="1050" dirty="0"/>
          </a:p>
        </p:txBody>
      </p:sp>
      <p:sp>
        <p:nvSpPr>
          <p:cNvPr id="11" name="Shape 9"/>
          <p:cNvSpPr/>
          <p:nvPr/>
        </p:nvSpPr>
        <p:spPr>
          <a:xfrm>
            <a:off x="7406640" y="1965960"/>
            <a:ext cx="3291840" cy="1234440"/>
          </a:xfrm>
          <a:prstGeom prst="rect">
            <a:avLst/>
          </a:prstGeom>
          <a:solidFill>
            <a:srgbClr val="FFFFFF"/>
          </a:solidFill>
          <a:ln w="12700">
            <a:solidFill>
              <a:srgbClr val="D8DCE6"/>
            </a:solidFill>
            <a:prstDash val="solid"/>
          </a:ln>
        </p:spPr>
      </p:sp>
      <p:sp>
        <p:nvSpPr>
          <p:cNvPr id="12" name="Text 10"/>
          <p:cNvSpPr txBox="1"/>
          <p:nvPr/>
        </p:nvSpPr>
        <p:spPr>
          <a:xfrm>
            <a:off x="7543800" y="2075688"/>
            <a:ext cx="3017520" cy="678942"/>
          </a:xfrm>
          <a:prstGeom prst="rect">
            <a:avLst/>
          </a:prstGeom>
          <a:noFill/>
          <a:ln/>
        </p:spPr>
        <p:txBody>
          <a:bodyPr wrap="square" lIns="0" tIns="0" rIns="0" bIns="0" rtlCol="0" anchor="ctr"/>
          <a:lstStyle/>
          <a:p>
            <a:pPr indent="0" marL="0">
              <a:buNone/>
            </a:pPr>
            <a:r>
              <a:rPr lang="en-US" sz="3000" b="1" dirty="0">
                <a:solidFill>
                  <a:srgbClr val="1C2B45"/>
                </a:solidFill>
                <a:latin typeface="Cambria" pitchFamily="34" charset="0"/>
                <a:ea typeface="Cambria" pitchFamily="34" charset="-122"/>
                <a:cs typeface="Cambria" pitchFamily="34" charset="-120"/>
              </a:rPr>
              <a:t>6 / 28</a:t>
            </a:r>
            <a:endParaRPr lang="en-US" sz="3000" dirty="0"/>
          </a:p>
        </p:txBody>
      </p:sp>
      <p:sp>
        <p:nvSpPr>
          <p:cNvPr id="13" name="Text 11"/>
          <p:cNvSpPr txBox="1"/>
          <p:nvPr/>
        </p:nvSpPr>
        <p:spPr>
          <a:xfrm>
            <a:off x="7543800" y="2706624"/>
            <a:ext cx="3017520" cy="469087"/>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said nothing helped at all</a:t>
            </a:r>
            <a:endParaRPr lang="en-US" sz="1050" dirty="0"/>
          </a:p>
        </p:txBody>
      </p:sp>
      <p:sp>
        <p:nvSpPr>
          <p:cNvPr id="14" name="Shape 12"/>
          <p:cNvSpPr/>
          <p:nvPr/>
        </p:nvSpPr>
        <p:spPr>
          <a:xfrm>
            <a:off x="548640" y="3429000"/>
            <a:ext cx="10177272" cy="2057400"/>
          </a:xfrm>
          <a:prstGeom prst="rect">
            <a:avLst/>
          </a:prstGeom>
          <a:solidFill>
            <a:srgbClr val="1C2B45"/>
          </a:solidFill>
          <a:ln/>
        </p:spPr>
      </p:sp>
      <p:sp>
        <p:nvSpPr>
          <p:cNvPr id="15" name="Text 13"/>
          <p:cNvSpPr txBox="1"/>
          <p:nvPr/>
        </p:nvSpPr>
        <p:spPr>
          <a:xfrm>
            <a:off x="822960" y="3611880"/>
            <a:ext cx="5486400" cy="274320"/>
          </a:xfrm>
          <a:prstGeom prst="rect">
            <a:avLst/>
          </a:prstGeom>
          <a:noFill/>
          <a:ln/>
        </p:spPr>
        <p:txBody>
          <a:bodyPr wrap="square" lIns="0" tIns="0" rIns="0" bIns="0" rtlCol="0" anchor="ctr"/>
          <a:lstStyle/>
          <a:p>
            <a:pPr indent="0" marL="0">
              <a:buNone/>
            </a:pPr>
            <a:r>
              <a:rPr lang="en-US" sz="1050" b="1" spc="100" kern="0" dirty="0">
                <a:solidFill>
                  <a:srgbClr val="D9762E"/>
                </a:solidFill>
                <a:latin typeface="Calibri" pitchFamily="34" charset="0"/>
                <a:ea typeface="Calibri" pitchFamily="34" charset="-122"/>
                <a:cs typeface="Calibri" pitchFamily="34" charset="-120"/>
              </a:rPr>
              <a:t>THE CLEAREST SINGLE FINDING</a:t>
            </a:r>
            <a:endParaRPr lang="en-US" sz="1050" dirty="0"/>
          </a:p>
        </p:txBody>
      </p:sp>
      <p:sp>
        <p:nvSpPr>
          <p:cNvPr id="16" name="Text 14"/>
          <p:cNvSpPr txBox="1"/>
          <p:nvPr/>
        </p:nvSpPr>
        <p:spPr>
          <a:xfrm>
            <a:off x="822960" y="3931920"/>
            <a:ext cx="9601200" cy="64008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“The app says he has arrived, but almost 10 minutes to locate each other.”</a:t>
            </a:r>
            <a:endParaRPr lang="en-US" sz="1800" dirty="0"/>
          </a:p>
        </p:txBody>
      </p:sp>
      <p:sp>
        <p:nvSpPr>
          <p:cNvPr id="17" name="Text 15"/>
          <p:cNvSpPr txBox="1"/>
          <p:nvPr/>
        </p:nvSpPr>
        <p:spPr>
          <a:xfrm>
            <a:off x="822960" y="4572000"/>
            <a:ext cx="9601200" cy="365760"/>
          </a:xfrm>
          <a:prstGeom prst="rect">
            <a:avLst/>
          </a:prstGeom>
          <a:noFill/>
          <a:ln/>
        </p:spPr>
        <p:txBody>
          <a:bodyPr wrap="square" lIns="0" tIns="0" rIns="0" bIns="0" rtlCol="0" anchor="ctr"/>
          <a:lstStyle/>
          <a:p>
            <a:pPr indent="0" marL="0">
              <a:buNone/>
            </a:pPr>
            <a:r>
              <a:rPr lang="en-US" sz="1200" dirty="0">
                <a:solidFill>
                  <a:srgbClr val="C7CEDD"/>
                </a:solidFill>
                <a:latin typeface="Calibri" pitchFamily="34" charset="0"/>
                <a:ea typeface="Calibri" pitchFamily="34" charset="-122"/>
                <a:cs typeface="Calibri" pitchFamily="34" charset="-120"/>
              </a:rPr>
              <a:t>R067, rider  —  “arrived” can be technically true and still leave two people lost.</a:t>
            </a:r>
            <a:endParaRPr lang="en-US" sz="1200" dirty="0"/>
          </a:p>
        </p:txBody>
      </p:sp>
      <p:sp>
        <p:nvSpPr>
          <p:cNvPr id="18" name="Text 16"/>
          <p:cNvSpPr txBox="1"/>
          <p:nvPr/>
        </p:nvSpPr>
        <p:spPr>
          <a:xfrm>
            <a:off x="822960" y="4983480"/>
            <a:ext cx="9601200" cy="411480"/>
          </a:xfrm>
          <a:prstGeom prst="rect">
            <a:avLst/>
          </a:prstGeom>
          <a:noFill/>
          <a:ln/>
        </p:spPr>
        <p:txBody>
          <a:bodyPr wrap="square" lIns="0" tIns="0" rIns="0" bIns="0" rtlCol="0" anchor="ctr"/>
          <a:lstStyle/>
          <a:p>
            <a:pPr indent="0" marL="0">
              <a:buNone/>
            </a:pPr>
            <a:r>
              <a:rPr lang="en-US" sz="1300" b="1" dirty="0">
                <a:solidFill>
                  <a:srgbClr val="D9762E"/>
                </a:solidFill>
                <a:latin typeface="Calibri" pitchFamily="34" charset="0"/>
                <a:ea typeface="Calibri" pitchFamily="34" charset="-122"/>
                <a:cs typeface="Calibri" pitchFamily="34" charset="-120"/>
              </a:rPr>
              <a:t>Calling and texting usually recover it. For 6 of 28, nothing did — no help, no floor.</a:t>
            </a:r>
            <a:endParaRPr lang="en-US" sz="1300" dirty="0"/>
          </a:p>
        </p:txBody>
      </p:sp>
      <p:sp>
        <p:nvSpPr>
          <p:cNvPr id="19" name="Text 1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Find My Ride</a:t>
            </a:r>
            <a:endParaRPr lang="en-US" sz="900" dirty="0"/>
          </a:p>
        </p:txBody>
      </p:sp>
      <p:sp>
        <p:nvSpPr>
          <p:cNvPr id="20" name="Text 1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FF3"/>
          </a:solidFill>
          <a:ln/>
        </p:spPr>
      </p:sp>
      <p:sp>
        <p:nvSpPr>
          <p:cNvPr id="3" name="Text 1"/>
          <p:cNvSpPr txBox="1"/>
          <p:nvPr/>
        </p:nvSpPr>
        <p:spPr>
          <a:xfrm>
            <a:off x="548640" y="50292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SECTION 3 · STRATEGY IMPLICATIONS</a:t>
            </a:r>
            <a:endParaRPr lang="en-US" sz="1200" dirty="0"/>
          </a:p>
        </p:txBody>
      </p:sp>
      <p:sp>
        <p:nvSpPr>
          <p:cNvPr id="4" name="Text 2"/>
          <p:cNvSpPr txBox="1"/>
          <p:nvPr/>
        </p:nvSpPr>
        <p:spPr>
          <a:xfrm>
            <a:off x="548640" y="822960"/>
            <a:ext cx="10515600" cy="822960"/>
          </a:xfrm>
          <a:prstGeom prst="rect">
            <a:avLst/>
          </a:prstGeom>
          <a:noFill/>
          <a:ln/>
        </p:spPr>
        <p:txBody>
          <a:bodyPr wrap="square" lIns="0" tIns="0" rIns="0" bIns="0" rtlCol="0" anchor="ctr"/>
          <a:lstStyle/>
          <a:p>
            <a:pPr indent="0" marL="0">
              <a:buNone/>
            </a:pPr>
            <a:r>
              <a:rPr lang="en-US" sz="2700" b="1" dirty="0">
                <a:solidFill>
                  <a:srgbClr val="1C2B45"/>
                </a:solidFill>
                <a:latin typeface="Cambria" pitchFamily="34" charset="0"/>
                <a:ea typeface="Cambria" pitchFamily="34" charset="-122"/>
                <a:cs typeface="Cambria" pitchFamily="34" charset="-120"/>
              </a:rPr>
              <a:t>Make the fallback faster — not a pin redesign</a:t>
            </a:r>
            <a:endParaRPr lang="en-US" sz="2700" dirty="0"/>
          </a:p>
        </p:txBody>
      </p:sp>
      <p:sp>
        <p:nvSpPr>
          <p:cNvPr id="5" name="Shape 3"/>
          <p:cNvSpPr/>
          <p:nvPr/>
        </p:nvSpPr>
        <p:spPr>
          <a:xfrm>
            <a:off x="548640" y="1920240"/>
            <a:ext cx="10177272" cy="1234440"/>
          </a:xfrm>
          <a:prstGeom prst="rect">
            <a:avLst/>
          </a:prstGeom>
          <a:solidFill>
            <a:srgbClr val="DDEAEC"/>
          </a:solidFill>
          <a:ln/>
        </p:spPr>
      </p:sp>
      <p:sp>
        <p:nvSpPr>
          <p:cNvPr id="6" name="Text 4"/>
          <p:cNvSpPr txBox="1"/>
          <p:nvPr/>
        </p:nvSpPr>
        <p:spPr>
          <a:xfrm>
            <a:off x="822960" y="2084832"/>
            <a:ext cx="5486400" cy="274320"/>
          </a:xfrm>
          <a:prstGeom prst="rect">
            <a:avLst/>
          </a:prstGeom>
          <a:noFill/>
          <a:ln/>
        </p:spPr>
        <p:txBody>
          <a:bodyPr wrap="square" lIns="0" tIns="0" rIns="0" bIns="0" rtlCol="0" anchor="ctr"/>
          <a:lstStyle/>
          <a:p>
            <a:pPr indent="0" marL="0">
              <a:buNone/>
            </a:pPr>
            <a:r>
              <a:rPr lang="en-US" sz="1050" b="1" spc="100" kern="0" dirty="0">
                <a:solidFill>
                  <a:srgbClr val="3E7C86"/>
                </a:solidFill>
                <a:latin typeface="Calibri" pitchFamily="34" charset="0"/>
                <a:ea typeface="Calibri" pitchFamily="34" charset="-122"/>
                <a:cs typeface="Calibri" pitchFamily="34" charset="-120"/>
              </a:rPr>
              <a:t>RECOMMENDED DIRECTION</a:t>
            </a:r>
            <a:endParaRPr lang="en-US" sz="1050" dirty="0"/>
          </a:p>
        </p:txBody>
      </p:sp>
      <p:sp>
        <p:nvSpPr>
          <p:cNvPr id="7" name="Text 5"/>
          <p:cNvSpPr txBox="1"/>
          <p:nvPr/>
        </p:nvSpPr>
        <p:spPr>
          <a:xfrm>
            <a:off x="822960" y="2377440"/>
            <a:ext cx="9601200" cy="731520"/>
          </a:xfrm>
          <a:prstGeom prst="rect">
            <a:avLst/>
          </a:prstGeom>
          <a:noFill/>
          <a:ln/>
        </p:spPr>
        <p:txBody>
          <a:bodyPr wrap="square" lIns="0" tIns="0" rIns="0" bIns="0" rtlCol="0" anchor="ctr"/>
          <a:lstStyle/>
          <a:p>
            <a:pPr indent="0" marL="0">
              <a:lnSpc>
                <a:spcPct val="120000"/>
              </a:lnSpc>
              <a:buNone/>
            </a:pPr>
            <a:r>
              <a:rPr lang="en-US" sz="1450" b="1" dirty="0">
                <a:solidFill>
                  <a:srgbClr val="1C2B45"/>
                </a:solidFill>
                <a:latin typeface="Calibri" pitchFamily="34" charset="0"/>
                <a:ea typeface="Calibri" pitchFamily="34" charset="-122"/>
                <a:cs typeface="Calibri" pitchFamily="34" charset="-120"/>
              </a:rPr>
              <a:t>Reduce the effort of the manual recovery step — calling, texting, waiting — at a defined set of complex locations. Not the pin. Not airport-only.</a:t>
            </a:r>
            <a:endParaRPr lang="en-US" sz="1450" dirty="0"/>
          </a:p>
        </p:txBody>
      </p:sp>
      <p:sp>
        <p:nvSpPr>
          <p:cNvPr id="8" name="Shape 6"/>
          <p:cNvSpPr/>
          <p:nvPr/>
        </p:nvSpPr>
        <p:spPr>
          <a:xfrm>
            <a:off x="548640" y="3429000"/>
            <a:ext cx="10177272" cy="2148840"/>
          </a:xfrm>
          <a:prstGeom prst="rect">
            <a:avLst/>
          </a:prstGeom>
          <a:solidFill>
            <a:srgbClr val="F2DEDA"/>
          </a:solidFill>
          <a:ln/>
        </p:spPr>
      </p:sp>
      <p:sp>
        <p:nvSpPr>
          <p:cNvPr id="9" name="Text 7"/>
          <p:cNvSpPr txBox="1"/>
          <p:nvPr/>
        </p:nvSpPr>
        <p:spPr>
          <a:xfrm>
            <a:off x="822960" y="3611880"/>
            <a:ext cx="7315200" cy="274320"/>
          </a:xfrm>
          <a:prstGeom prst="rect">
            <a:avLst/>
          </a:prstGeom>
          <a:noFill/>
          <a:ln/>
        </p:spPr>
        <p:txBody>
          <a:bodyPr wrap="square" lIns="0" tIns="0" rIns="0" bIns="0" rtlCol="0" anchor="ctr"/>
          <a:lstStyle/>
          <a:p>
            <a:pPr indent="0" marL="0">
              <a:buNone/>
            </a:pPr>
            <a:r>
              <a:rPr lang="en-US" sz="1050" b="1" spc="100" kern="0" dirty="0">
                <a:solidFill>
                  <a:srgbClr val="AA4A3C"/>
                </a:solidFill>
                <a:latin typeface="Calibri" pitchFamily="34" charset="0"/>
                <a:ea typeface="Calibri" pitchFamily="34" charset="-122"/>
                <a:cs typeface="Calibri" pitchFamily="34" charset="-120"/>
              </a:rPr>
              <a:t>THE HONEST GAP — BEFORE WE GO FURTHER</a:t>
            </a:r>
            <a:endParaRPr lang="en-US" sz="1050" dirty="0"/>
          </a:p>
        </p:txBody>
      </p:sp>
      <p:sp>
        <p:nvSpPr>
          <p:cNvPr id="10" name="Text 8"/>
          <p:cNvSpPr txBox="1"/>
          <p:nvPr/>
        </p:nvSpPr>
        <p:spPr>
          <a:xfrm>
            <a:off x="822960" y="3931920"/>
            <a:ext cx="9601200" cy="502920"/>
          </a:xfrm>
          <a:prstGeom prst="rect">
            <a:avLst/>
          </a:prstGeom>
          <a:noFill/>
          <a:ln/>
        </p:spPr>
        <p:txBody>
          <a:bodyPr wrap="square" lIns="0" tIns="0" rIns="0" bIns="0" rtlCol="0" anchor="ctr"/>
          <a:lstStyle/>
          <a:p>
            <a:pPr indent="0" marL="0">
              <a:buNone/>
            </a:pPr>
            <a:r>
              <a:rPr lang="en-US" sz="1650" i="1" dirty="0">
                <a:solidFill>
                  <a:srgbClr val="5A241C"/>
                </a:solidFill>
                <a:latin typeface="Cambria" pitchFamily="34" charset="0"/>
                <a:ea typeface="Cambria" pitchFamily="34" charset="-122"/>
                <a:cs typeface="Cambria" pitchFamily="34" charset="-120"/>
              </a:rPr>
              <a:t>This evidence is almost entirely riders. Only 4 of 62 responses came from drivers.</a:t>
            </a:r>
            <a:endParaRPr lang="en-US" sz="1650" dirty="0"/>
          </a:p>
        </p:txBody>
      </p:sp>
      <p:sp>
        <p:nvSpPr>
          <p:cNvPr id="11" name="Text 9"/>
          <p:cNvSpPr txBox="1"/>
          <p:nvPr/>
        </p:nvSpPr>
        <p:spPr>
          <a:xfrm>
            <a:off x="822960" y="4480560"/>
            <a:ext cx="9601200" cy="960120"/>
          </a:xfrm>
          <a:prstGeom prst="rect">
            <a:avLst/>
          </a:prstGeom>
          <a:noFill/>
          <a:ln/>
        </p:spPr>
        <p:txBody>
          <a:bodyPr wrap="square" lIns="0" tIns="0" rIns="0" bIns="0" rtlCol="0" anchor="ctr"/>
          <a:lstStyle/>
          <a:p>
            <a:pPr indent="0" marL="0">
              <a:lnSpc>
                <a:spcPct val="120000"/>
              </a:lnSpc>
              <a:buNone/>
            </a:pPr>
            <a:r>
              <a:rPr lang="en-US" sz="1300" dirty="0">
                <a:solidFill>
                  <a:srgbClr val="5A241C"/>
                </a:solidFill>
                <a:latin typeface="Calibri" pitchFamily="34" charset="0"/>
                <a:ea typeface="Calibri" pitchFamily="34" charset="-122"/>
                <a:cs typeface="Calibri" pitchFamily="34" charset="-120"/>
              </a:rPr>
              <a:t>Every driver who circles a block loses paid time — we don't yet know if it changes whether they'll take that kind of trip again. That's the single biggest thing to answer before committing real money here.</a:t>
            </a:r>
            <a:endParaRPr lang="en-US" sz="1300" dirty="0"/>
          </a:p>
        </p:txBody>
      </p:sp>
      <p:sp>
        <p:nvSpPr>
          <p:cNvPr id="12" name="Text 10"/>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Find My Ride</a:t>
            </a:r>
            <a:endParaRPr lang="en-US" sz="90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FF3"/>
          </a:solidFill>
          <a:ln/>
        </p:spPr>
      </p:sp>
      <p:sp>
        <p:nvSpPr>
          <p:cNvPr id="3" name="Text 1"/>
          <p:cNvSpPr txBox="1"/>
          <p:nvPr/>
        </p:nvSpPr>
        <p:spPr>
          <a:xfrm>
            <a:off x="548640" y="50292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SECTION 4 · PRIORITY 1 OF 3</a:t>
            </a:r>
            <a:endParaRPr lang="en-US" sz="1200" dirty="0"/>
          </a:p>
        </p:txBody>
      </p:sp>
      <p:sp>
        <p:nvSpPr>
          <p:cNvPr id="4" name="Text 2"/>
          <p:cNvSpPr txBox="1"/>
          <p:nvPr/>
        </p:nvSpPr>
        <p:spPr>
          <a:xfrm>
            <a:off x="548640" y="822960"/>
            <a:ext cx="10515600" cy="822960"/>
          </a:xfrm>
          <a:prstGeom prst="rect">
            <a:avLst/>
          </a:prstGeom>
          <a:noFill/>
          <a:ln/>
        </p:spPr>
        <p:txBody>
          <a:bodyPr wrap="square" lIns="0" tIns="0" rIns="0" bIns="0" rtlCol="0" anchor="ctr"/>
          <a:lstStyle/>
          <a:p>
            <a:pPr indent="0" marL="0">
              <a:buNone/>
            </a:pPr>
            <a:r>
              <a:rPr lang="en-US" sz="2600" b="1" dirty="0">
                <a:solidFill>
                  <a:srgbClr val="1C2B45"/>
                </a:solidFill>
                <a:latin typeface="Cambria" pitchFamily="34" charset="0"/>
                <a:ea typeface="Cambria" pitchFamily="34" charset="-122"/>
                <a:cs typeface="Cambria" pitchFamily="34" charset="-120"/>
              </a:rPr>
              <a:t>Pickup coordination notes</a:t>
            </a:r>
            <a:endParaRPr lang="en-US" sz="2600" dirty="0"/>
          </a:p>
        </p:txBody>
      </p:sp>
      <p:sp>
        <p:nvSpPr>
          <p:cNvPr id="5" name="Shape 3"/>
          <p:cNvSpPr/>
          <p:nvPr/>
        </p:nvSpPr>
        <p:spPr>
          <a:xfrm>
            <a:off x="548640" y="1600200"/>
            <a:ext cx="2624328" cy="292608"/>
          </a:xfrm>
          <a:prstGeom prst="roundRect">
            <a:avLst>
              <a:gd name="adj" fmla="val 18750"/>
            </a:avLst>
          </a:prstGeom>
          <a:solidFill>
            <a:srgbClr val="DDEAEC"/>
          </a:solidFill>
          <a:ln/>
        </p:spPr>
      </p:sp>
      <p:sp>
        <p:nvSpPr>
          <p:cNvPr id="6" name="Text 4"/>
          <p:cNvSpPr txBox="1"/>
          <p:nvPr/>
        </p:nvSpPr>
        <p:spPr>
          <a:xfrm>
            <a:off x="548640" y="1600200"/>
            <a:ext cx="2624328" cy="292608"/>
          </a:xfrm>
          <a:prstGeom prst="rect">
            <a:avLst/>
          </a:prstGeom>
          <a:noFill/>
          <a:ln/>
        </p:spPr>
        <p:txBody>
          <a:bodyPr wrap="square" lIns="0" tIns="0" rIns="0" bIns="0" rtlCol="0" anchor="ctr"/>
          <a:lstStyle/>
          <a:p>
            <a:pPr algn="ctr" indent="0" marL="0">
              <a:buNone/>
            </a:pPr>
            <a:r>
              <a:rPr lang="en-US" sz="950" b="1" spc="50" kern="0" dirty="0">
                <a:solidFill>
                  <a:srgbClr val="3E7C86"/>
                </a:solidFill>
                <a:latin typeface="Calibri" pitchFamily="34" charset="0"/>
                <a:ea typeface="Calibri" pitchFamily="34" charset="-122"/>
                <a:cs typeface="Calibri" pitchFamily="34" charset="-120"/>
              </a:rPr>
              <a:t>STRONGEST EVIDENCE</a:t>
            </a:r>
            <a:endParaRPr lang="en-US" sz="950" dirty="0"/>
          </a:p>
        </p:txBody>
      </p:sp>
      <p:sp>
        <p:nvSpPr>
          <p:cNvPr id="7" name="Shape 5"/>
          <p:cNvSpPr/>
          <p:nvPr/>
        </p:nvSpPr>
        <p:spPr>
          <a:xfrm>
            <a:off x="548640" y="2148840"/>
            <a:ext cx="10177272" cy="1691640"/>
          </a:xfrm>
          <a:prstGeom prst="rect">
            <a:avLst/>
          </a:prstGeom>
          <a:solidFill>
            <a:srgbClr val="FFFFFF"/>
          </a:solidFill>
          <a:ln w="12700">
            <a:solidFill>
              <a:srgbClr val="D8DCE6"/>
            </a:solidFill>
            <a:prstDash val="solid"/>
          </a:ln>
        </p:spPr>
      </p:sp>
      <p:sp>
        <p:nvSpPr>
          <p:cNvPr id="8" name="Text 6"/>
          <p:cNvSpPr txBox="1"/>
          <p:nvPr/>
        </p:nvSpPr>
        <p:spPr>
          <a:xfrm>
            <a:off x="822960" y="2331720"/>
            <a:ext cx="9601200" cy="274320"/>
          </a:xfrm>
          <a:prstGeom prst="rect">
            <a:avLst/>
          </a:prstGeom>
          <a:noFill/>
          <a:ln/>
        </p:spPr>
        <p:txBody>
          <a:bodyPr wrap="square" lIns="0" tIns="0" rIns="0" bIns="0" rtlCol="0" anchor="ctr"/>
          <a:lstStyle/>
          <a:p>
            <a:pPr indent="0" marL="0">
              <a:buNone/>
            </a:pPr>
            <a:r>
              <a:rPr lang="en-US" sz="1050" b="1" spc="100" kern="0" dirty="0">
                <a:solidFill>
                  <a:srgbClr val="D9762E"/>
                </a:solidFill>
                <a:latin typeface="Calibri" pitchFamily="34" charset="0"/>
                <a:ea typeface="Calibri" pitchFamily="34" charset="-122"/>
                <a:cs typeface="Calibri" pitchFamily="34" charset="-120"/>
              </a:rPr>
              <a:t>THE PROBLEM</a:t>
            </a:r>
            <a:endParaRPr lang="en-US" sz="1050" dirty="0"/>
          </a:p>
        </p:txBody>
      </p:sp>
      <p:sp>
        <p:nvSpPr>
          <p:cNvPr id="9" name="Text 7"/>
          <p:cNvSpPr txBox="1"/>
          <p:nvPr/>
        </p:nvSpPr>
        <p:spPr>
          <a:xfrm>
            <a:off x="822960" y="2633472"/>
            <a:ext cx="9601200" cy="1097280"/>
          </a:xfrm>
          <a:prstGeom prst="rect">
            <a:avLst/>
          </a:prstGeom>
          <a:noFill/>
          <a:ln/>
        </p:spPr>
        <p:txBody>
          <a:bodyPr wrap="square" lIns="0" tIns="0" rIns="0" bIns="0" rtlCol="0" anchor="ctr"/>
          <a:lstStyle/>
          <a:p>
            <a:pPr indent="0" marL="0">
              <a:lnSpc>
                <a:spcPct val="120000"/>
              </a:lnSpc>
              <a:buNone/>
            </a:pPr>
            <a:r>
              <a:rPr lang="en-US" sz="1350" dirty="0">
                <a:solidFill>
                  <a:srgbClr val="1C2B45"/>
                </a:solidFill>
                <a:latin typeface="Calibri" pitchFamily="34" charset="0"/>
                <a:ea typeface="Calibri" pitchFamily="34" charset="-122"/>
                <a:cs typeface="Calibri" pitchFamily="34" charset="-120"/>
              </a:rPr>
              <a:t>Calling and texting are the default recovery layer, but they're unstructured and reactive. “Driver arrived” can still mean lost.</a:t>
            </a:r>
            <a:endParaRPr lang="en-US" sz="1350" dirty="0"/>
          </a:p>
        </p:txBody>
      </p:sp>
      <p:sp>
        <p:nvSpPr>
          <p:cNvPr id="10" name="Shape 8"/>
          <p:cNvSpPr/>
          <p:nvPr/>
        </p:nvSpPr>
        <p:spPr>
          <a:xfrm>
            <a:off x="548640" y="3977640"/>
            <a:ext cx="10177272" cy="1691640"/>
          </a:xfrm>
          <a:prstGeom prst="rect">
            <a:avLst/>
          </a:prstGeom>
          <a:solidFill>
            <a:srgbClr val="1C2B45"/>
          </a:solidFill>
          <a:ln/>
        </p:spPr>
      </p:sp>
      <p:sp>
        <p:nvSpPr>
          <p:cNvPr id="11" name="Text 9"/>
          <p:cNvSpPr txBox="1"/>
          <p:nvPr/>
        </p:nvSpPr>
        <p:spPr>
          <a:xfrm>
            <a:off x="822960" y="4160520"/>
            <a:ext cx="9601200" cy="274320"/>
          </a:xfrm>
          <a:prstGeom prst="rect">
            <a:avLst/>
          </a:prstGeom>
          <a:noFill/>
          <a:ln/>
        </p:spPr>
        <p:txBody>
          <a:bodyPr wrap="square" lIns="0" tIns="0" rIns="0" bIns="0" rtlCol="0" anchor="ctr"/>
          <a:lstStyle/>
          <a:p>
            <a:pPr indent="0" marL="0">
              <a:buNone/>
            </a:pPr>
            <a:r>
              <a:rPr lang="en-US" sz="1050" b="1" spc="100" kern="0" dirty="0">
                <a:solidFill>
                  <a:srgbClr val="D9762E"/>
                </a:solidFill>
                <a:latin typeface="Calibri" pitchFamily="34" charset="0"/>
                <a:ea typeface="Calibri" pitchFamily="34" charset="-122"/>
                <a:cs typeface="Calibri" pitchFamily="34" charset="-120"/>
              </a:rPr>
              <a:t>WHY THIS ONE, WHY FIRST</a:t>
            </a:r>
            <a:endParaRPr lang="en-US" sz="1050" dirty="0"/>
          </a:p>
        </p:txBody>
      </p:sp>
      <p:sp>
        <p:nvSpPr>
          <p:cNvPr id="12" name="Text 10"/>
          <p:cNvSpPr txBox="1"/>
          <p:nvPr/>
        </p:nvSpPr>
        <p:spPr>
          <a:xfrm>
            <a:off x="822960" y="4462272"/>
            <a:ext cx="9601200" cy="1097280"/>
          </a:xfrm>
          <a:prstGeom prst="rect">
            <a:avLst/>
          </a:prstGeom>
          <a:noFill/>
          <a:ln/>
        </p:spPr>
        <p:txBody>
          <a:bodyPr wrap="square" lIns="0" tIns="0" rIns="0" bIns="0" rtlCol="0" anchor="ctr"/>
          <a:lstStyle/>
          <a:p>
            <a:pPr indent="0" marL="0">
              <a:lnSpc>
                <a:spcPct val="120000"/>
              </a:lnSpc>
              <a:buNone/>
            </a:pPr>
            <a:r>
              <a:rPr lang="en-US" sz="1350" dirty="0">
                <a:solidFill>
                  <a:srgbClr val="FFFFFF"/>
                </a:solidFill>
                <a:latin typeface="Calibri" pitchFamily="34" charset="0"/>
                <a:ea typeface="Calibri" pitchFamily="34" charset="-122"/>
                <a:cs typeface="Calibri" pitchFamily="34" charset="-120"/>
              </a:rPr>
              <a:t>One rider already does this by hand, unprompted: “I always place a message on where I would stand with details.” And Lyft already ships almost exactly this as “Pickup Notes” — this closes a proven, shipped competitor gap, not an unproven bet.</a:t>
            </a:r>
            <a:endParaRPr lang="en-US" sz="1350" dirty="0"/>
          </a:p>
        </p:txBody>
      </p:sp>
      <p:sp>
        <p:nvSpPr>
          <p:cNvPr id="13" name="Text 1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Find My Ride</a:t>
            </a:r>
            <a:endParaRPr lang="en-US" sz="900" dirty="0"/>
          </a:p>
        </p:txBody>
      </p:sp>
      <p:sp>
        <p:nvSpPr>
          <p:cNvPr id="14" name="Text 1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FF3"/>
          </a:solidFill>
          <a:ln/>
        </p:spPr>
      </p:sp>
      <p:sp>
        <p:nvSpPr>
          <p:cNvPr id="3" name="Text 1"/>
          <p:cNvSpPr txBox="1"/>
          <p:nvPr/>
        </p:nvSpPr>
        <p:spPr>
          <a:xfrm>
            <a:off x="548640" y="50292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SECTION 4 · PRIORITY 2 OF 3</a:t>
            </a:r>
            <a:endParaRPr lang="en-US" sz="1200" dirty="0"/>
          </a:p>
        </p:txBody>
      </p:sp>
      <p:sp>
        <p:nvSpPr>
          <p:cNvPr id="4" name="Text 2"/>
          <p:cNvSpPr txBox="1"/>
          <p:nvPr/>
        </p:nvSpPr>
        <p:spPr>
          <a:xfrm>
            <a:off x="548640" y="822960"/>
            <a:ext cx="10515600" cy="822960"/>
          </a:xfrm>
          <a:prstGeom prst="rect">
            <a:avLst/>
          </a:prstGeom>
          <a:noFill/>
          <a:ln/>
        </p:spPr>
        <p:txBody>
          <a:bodyPr wrap="square" lIns="0" tIns="0" rIns="0" bIns="0" rtlCol="0" anchor="ctr"/>
          <a:lstStyle/>
          <a:p>
            <a:pPr indent="0" marL="0">
              <a:buNone/>
            </a:pPr>
            <a:r>
              <a:rPr lang="en-US" sz="2600" b="1" dirty="0">
                <a:solidFill>
                  <a:srgbClr val="1C2B45"/>
                </a:solidFill>
                <a:latin typeface="Cambria" pitchFamily="34" charset="0"/>
                <a:ea typeface="Cambria" pitchFamily="34" charset="-122"/>
                <a:cs typeface="Cambria" pitchFamily="34" charset="-120"/>
              </a:rPr>
              <a:t>A guaranteed next step when coordination stalls</a:t>
            </a:r>
            <a:endParaRPr lang="en-US" sz="2600" dirty="0"/>
          </a:p>
        </p:txBody>
      </p:sp>
      <p:sp>
        <p:nvSpPr>
          <p:cNvPr id="5" name="Shape 3"/>
          <p:cNvSpPr/>
          <p:nvPr/>
        </p:nvSpPr>
        <p:spPr>
          <a:xfrm>
            <a:off x="548640" y="1600200"/>
            <a:ext cx="3520440" cy="292608"/>
          </a:xfrm>
          <a:prstGeom prst="roundRect">
            <a:avLst>
              <a:gd name="adj" fmla="val 18750"/>
            </a:avLst>
          </a:prstGeom>
          <a:solidFill>
            <a:srgbClr val="F2DEDA"/>
          </a:solidFill>
          <a:ln/>
        </p:spPr>
      </p:sp>
      <p:sp>
        <p:nvSpPr>
          <p:cNvPr id="6" name="Text 4"/>
          <p:cNvSpPr txBox="1"/>
          <p:nvPr/>
        </p:nvSpPr>
        <p:spPr>
          <a:xfrm>
            <a:off x="548640" y="1600200"/>
            <a:ext cx="3520440" cy="292608"/>
          </a:xfrm>
          <a:prstGeom prst="rect">
            <a:avLst/>
          </a:prstGeom>
          <a:noFill/>
          <a:ln/>
        </p:spPr>
        <p:txBody>
          <a:bodyPr wrap="square" lIns="0" tIns="0" rIns="0" bIns="0" rtlCol="0" anchor="ctr"/>
          <a:lstStyle/>
          <a:p>
            <a:pPr algn="ctr" indent="0" marL="0">
              <a:buNone/>
            </a:pPr>
            <a:r>
              <a:rPr lang="en-US" sz="950" b="1" spc="50" kern="0" dirty="0">
                <a:solidFill>
                  <a:srgbClr val="AA4A3C"/>
                </a:solidFill>
                <a:latin typeface="Calibri" pitchFamily="34" charset="0"/>
                <a:ea typeface="Calibri" pitchFamily="34" charset="-122"/>
                <a:cs typeface="Calibri" pitchFamily="34" charset="-120"/>
              </a:rPr>
              <a:t>NEEDS AN ECONOMICS ANSWER</a:t>
            </a:r>
            <a:endParaRPr lang="en-US" sz="950" dirty="0"/>
          </a:p>
        </p:txBody>
      </p:sp>
      <p:sp>
        <p:nvSpPr>
          <p:cNvPr id="7" name="Shape 5"/>
          <p:cNvSpPr/>
          <p:nvPr/>
        </p:nvSpPr>
        <p:spPr>
          <a:xfrm>
            <a:off x="548640" y="2148840"/>
            <a:ext cx="10177272" cy="1691640"/>
          </a:xfrm>
          <a:prstGeom prst="rect">
            <a:avLst/>
          </a:prstGeom>
          <a:solidFill>
            <a:srgbClr val="FFFFFF"/>
          </a:solidFill>
          <a:ln w="12700">
            <a:solidFill>
              <a:srgbClr val="D8DCE6"/>
            </a:solidFill>
            <a:prstDash val="solid"/>
          </a:ln>
        </p:spPr>
      </p:sp>
      <p:sp>
        <p:nvSpPr>
          <p:cNvPr id="8" name="Text 6"/>
          <p:cNvSpPr txBox="1"/>
          <p:nvPr/>
        </p:nvSpPr>
        <p:spPr>
          <a:xfrm>
            <a:off x="822960" y="2331720"/>
            <a:ext cx="9601200" cy="274320"/>
          </a:xfrm>
          <a:prstGeom prst="rect">
            <a:avLst/>
          </a:prstGeom>
          <a:noFill/>
          <a:ln/>
        </p:spPr>
        <p:txBody>
          <a:bodyPr wrap="square" lIns="0" tIns="0" rIns="0" bIns="0" rtlCol="0" anchor="ctr"/>
          <a:lstStyle/>
          <a:p>
            <a:pPr indent="0" marL="0">
              <a:buNone/>
            </a:pPr>
            <a:r>
              <a:rPr lang="en-US" sz="1050" b="1" spc="100" kern="0" dirty="0">
                <a:solidFill>
                  <a:srgbClr val="D9762E"/>
                </a:solidFill>
                <a:latin typeface="Calibri" pitchFamily="34" charset="0"/>
                <a:ea typeface="Calibri" pitchFamily="34" charset="-122"/>
                <a:cs typeface="Calibri" pitchFamily="34" charset="-120"/>
              </a:rPr>
              <a:t>THE PROBLEM</a:t>
            </a:r>
            <a:endParaRPr lang="en-US" sz="1050" dirty="0"/>
          </a:p>
        </p:txBody>
      </p:sp>
      <p:sp>
        <p:nvSpPr>
          <p:cNvPr id="9" name="Text 7"/>
          <p:cNvSpPr txBox="1"/>
          <p:nvPr/>
        </p:nvSpPr>
        <p:spPr>
          <a:xfrm>
            <a:off x="822960" y="2633472"/>
            <a:ext cx="9601200" cy="1097280"/>
          </a:xfrm>
          <a:prstGeom prst="rect">
            <a:avLst/>
          </a:prstGeom>
          <a:noFill/>
          <a:ln/>
        </p:spPr>
        <p:txBody>
          <a:bodyPr wrap="square" lIns="0" tIns="0" rIns="0" bIns="0" rtlCol="0" anchor="ctr"/>
          <a:lstStyle/>
          <a:p>
            <a:pPr indent="0" marL="0">
              <a:lnSpc>
                <a:spcPct val="120000"/>
              </a:lnSpc>
              <a:buNone/>
            </a:pPr>
            <a:r>
              <a:rPr lang="en-US" sz="1350" dirty="0">
                <a:solidFill>
                  <a:srgbClr val="1C2B45"/>
                </a:solidFill>
                <a:latin typeface="Calibri" pitchFamily="34" charset="0"/>
                <a:ea typeface="Calibri" pitchFamily="34" charset="-122"/>
                <a:cs typeface="Calibri" pitchFamily="34" charset="-120"/>
              </a:rPr>
              <a:t>6 of 28 issue respondents said nothing helped. “No one to seek redressal or help... grievance redressal has to be immediate.” Right now the only options are wait indefinitely or cancel.</a:t>
            </a:r>
            <a:endParaRPr lang="en-US" sz="1350" dirty="0"/>
          </a:p>
        </p:txBody>
      </p:sp>
      <p:sp>
        <p:nvSpPr>
          <p:cNvPr id="10" name="Shape 8"/>
          <p:cNvSpPr/>
          <p:nvPr/>
        </p:nvSpPr>
        <p:spPr>
          <a:xfrm>
            <a:off x="548640" y="3977640"/>
            <a:ext cx="10177272" cy="1691640"/>
          </a:xfrm>
          <a:prstGeom prst="rect">
            <a:avLst/>
          </a:prstGeom>
          <a:solidFill>
            <a:srgbClr val="1C2B45"/>
          </a:solidFill>
          <a:ln/>
        </p:spPr>
      </p:sp>
      <p:sp>
        <p:nvSpPr>
          <p:cNvPr id="11" name="Text 9"/>
          <p:cNvSpPr txBox="1"/>
          <p:nvPr/>
        </p:nvSpPr>
        <p:spPr>
          <a:xfrm>
            <a:off x="822960" y="4160520"/>
            <a:ext cx="9601200" cy="274320"/>
          </a:xfrm>
          <a:prstGeom prst="rect">
            <a:avLst/>
          </a:prstGeom>
          <a:noFill/>
          <a:ln/>
        </p:spPr>
        <p:txBody>
          <a:bodyPr wrap="square" lIns="0" tIns="0" rIns="0" bIns="0" rtlCol="0" anchor="ctr"/>
          <a:lstStyle/>
          <a:p>
            <a:pPr indent="0" marL="0">
              <a:buNone/>
            </a:pPr>
            <a:r>
              <a:rPr lang="en-US" sz="1050" b="1" spc="100" kern="0" dirty="0">
                <a:solidFill>
                  <a:srgbClr val="D9762E"/>
                </a:solidFill>
                <a:latin typeface="Calibri" pitchFamily="34" charset="0"/>
                <a:ea typeface="Calibri" pitchFamily="34" charset="-122"/>
                <a:cs typeface="Calibri" pitchFamily="34" charset="-120"/>
              </a:rPr>
              <a:t>THE CATCH WE'RE NAMING OUT LOUD</a:t>
            </a:r>
            <a:endParaRPr lang="en-US" sz="1050" dirty="0"/>
          </a:p>
        </p:txBody>
      </p:sp>
      <p:sp>
        <p:nvSpPr>
          <p:cNvPr id="12" name="Text 10"/>
          <p:cNvSpPr txBox="1"/>
          <p:nvPr/>
        </p:nvSpPr>
        <p:spPr>
          <a:xfrm>
            <a:off x="822960" y="4462272"/>
            <a:ext cx="9601200" cy="1097280"/>
          </a:xfrm>
          <a:prstGeom prst="rect">
            <a:avLst/>
          </a:prstGeom>
          <a:noFill/>
          <a:ln/>
        </p:spPr>
        <p:txBody>
          <a:bodyPr wrap="square" lIns="0" tIns="0" rIns="0" bIns="0" rtlCol="0" anchor="ctr"/>
          <a:lstStyle/>
          <a:p>
            <a:pPr indent="0" marL="0">
              <a:lnSpc>
                <a:spcPct val="120000"/>
              </a:lnSpc>
              <a:buNone/>
            </a:pPr>
            <a:r>
              <a:rPr lang="en-US" sz="1350" dirty="0">
                <a:solidFill>
                  <a:srgbClr val="FFFFFF"/>
                </a:solidFill>
                <a:latin typeface="Calibri" pitchFamily="34" charset="0"/>
                <a:ea typeface="Calibri" pitchFamily="34" charset="-122"/>
                <a:cs typeface="Calibri" pitchFamily="34" charset="-120"/>
              </a:rPr>
              <a:t>A guided reconnect flow, or in the worst case reassignment. But reassignment means the original driver loses that time for nothing — this needs a real compensation answer, not just a nicer screen for the rider.</a:t>
            </a:r>
            <a:endParaRPr lang="en-US" sz="1350" dirty="0"/>
          </a:p>
        </p:txBody>
      </p:sp>
      <p:sp>
        <p:nvSpPr>
          <p:cNvPr id="13" name="Text 1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Find My Ride</a:t>
            </a:r>
            <a:endParaRPr lang="en-US" sz="900" dirty="0"/>
          </a:p>
        </p:txBody>
      </p:sp>
      <p:sp>
        <p:nvSpPr>
          <p:cNvPr id="14" name="Text 1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FF3"/>
          </a:solidFill>
          <a:ln/>
        </p:spPr>
      </p:sp>
      <p:sp>
        <p:nvSpPr>
          <p:cNvPr id="3" name="Text 1"/>
          <p:cNvSpPr txBox="1"/>
          <p:nvPr/>
        </p:nvSpPr>
        <p:spPr>
          <a:xfrm>
            <a:off x="548640" y="50292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SECTION 4 · PRIORITY 3 OF 3</a:t>
            </a:r>
            <a:endParaRPr lang="en-US" sz="1200" dirty="0"/>
          </a:p>
        </p:txBody>
      </p:sp>
      <p:sp>
        <p:nvSpPr>
          <p:cNvPr id="4" name="Text 2"/>
          <p:cNvSpPr txBox="1"/>
          <p:nvPr/>
        </p:nvSpPr>
        <p:spPr>
          <a:xfrm>
            <a:off x="548640" y="822960"/>
            <a:ext cx="10515600" cy="822960"/>
          </a:xfrm>
          <a:prstGeom prst="rect">
            <a:avLst/>
          </a:prstGeom>
          <a:noFill/>
          <a:ln/>
        </p:spPr>
        <p:txBody>
          <a:bodyPr wrap="square" lIns="0" tIns="0" rIns="0" bIns="0" rtlCol="0" anchor="ctr"/>
          <a:lstStyle/>
          <a:p>
            <a:pPr indent="0" marL="0">
              <a:buNone/>
            </a:pPr>
            <a:r>
              <a:rPr lang="en-US" sz="2600" b="1" dirty="0">
                <a:solidFill>
                  <a:srgbClr val="1C2B45"/>
                </a:solidFill>
                <a:latin typeface="Cambria" pitchFamily="34" charset="0"/>
                <a:ea typeface="Cambria" pitchFamily="34" charset="-122"/>
                <a:cs typeface="Cambria" pitchFamily="34" charset="-120"/>
              </a:rPr>
              <a:t>Reusable, venue-specific coordination notes</a:t>
            </a:r>
            <a:endParaRPr lang="en-US" sz="2600" dirty="0"/>
          </a:p>
        </p:txBody>
      </p:sp>
      <p:sp>
        <p:nvSpPr>
          <p:cNvPr id="5" name="Shape 3"/>
          <p:cNvSpPr/>
          <p:nvPr/>
        </p:nvSpPr>
        <p:spPr>
          <a:xfrm>
            <a:off x="548640" y="1600200"/>
            <a:ext cx="2752344" cy="292608"/>
          </a:xfrm>
          <a:prstGeom prst="roundRect">
            <a:avLst>
              <a:gd name="adj" fmla="val 18750"/>
            </a:avLst>
          </a:prstGeom>
          <a:solidFill>
            <a:srgbClr val="F2DEDA"/>
          </a:solidFill>
          <a:ln/>
        </p:spPr>
      </p:sp>
      <p:sp>
        <p:nvSpPr>
          <p:cNvPr id="6" name="Text 4"/>
          <p:cNvSpPr txBox="1"/>
          <p:nvPr/>
        </p:nvSpPr>
        <p:spPr>
          <a:xfrm>
            <a:off x="548640" y="1600200"/>
            <a:ext cx="2752344" cy="292608"/>
          </a:xfrm>
          <a:prstGeom prst="rect">
            <a:avLst/>
          </a:prstGeom>
          <a:noFill/>
          <a:ln/>
        </p:spPr>
        <p:txBody>
          <a:bodyPr wrap="square" lIns="0" tIns="0" rIns="0" bIns="0" rtlCol="0" anchor="ctr"/>
          <a:lstStyle/>
          <a:p>
            <a:pPr algn="ctr" indent="0" marL="0">
              <a:buNone/>
            </a:pPr>
            <a:r>
              <a:rPr lang="en-US" sz="950" b="1" spc="50" kern="0" dirty="0">
                <a:solidFill>
                  <a:srgbClr val="AA4A3C"/>
                </a:solidFill>
                <a:latin typeface="Calibri" pitchFamily="34" charset="0"/>
                <a:ea typeface="Calibri" pitchFamily="34" charset="-122"/>
                <a:cs typeface="Calibri" pitchFamily="34" charset="-120"/>
              </a:rPr>
              <a:t>DESK-VALIDATED ONLY</a:t>
            </a:r>
            <a:endParaRPr lang="en-US" sz="950" dirty="0"/>
          </a:p>
        </p:txBody>
      </p:sp>
      <p:sp>
        <p:nvSpPr>
          <p:cNvPr id="7" name="Shape 5"/>
          <p:cNvSpPr/>
          <p:nvPr/>
        </p:nvSpPr>
        <p:spPr>
          <a:xfrm>
            <a:off x="548640" y="2148840"/>
            <a:ext cx="10177272" cy="1691640"/>
          </a:xfrm>
          <a:prstGeom prst="rect">
            <a:avLst/>
          </a:prstGeom>
          <a:solidFill>
            <a:srgbClr val="FFFFFF"/>
          </a:solidFill>
          <a:ln w="12700">
            <a:solidFill>
              <a:srgbClr val="D8DCE6"/>
            </a:solidFill>
            <a:prstDash val="solid"/>
          </a:ln>
        </p:spPr>
      </p:sp>
      <p:sp>
        <p:nvSpPr>
          <p:cNvPr id="8" name="Text 6"/>
          <p:cNvSpPr txBox="1"/>
          <p:nvPr/>
        </p:nvSpPr>
        <p:spPr>
          <a:xfrm>
            <a:off x="822960" y="2331720"/>
            <a:ext cx="9601200" cy="274320"/>
          </a:xfrm>
          <a:prstGeom prst="rect">
            <a:avLst/>
          </a:prstGeom>
          <a:noFill/>
          <a:ln/>
        </p:spPr>
        <p:txBody>
          <a:bodyPr wrap="square" lIns="0" tIns="0" rIns="0" bIns="0" rtlCol="0" anchor="ctr"/>
          <a:lstStyle/>
          <a:p>
            <a:pPr indent="0" marL="0">
              <a:buNone/>
            </a:pPr>
            <a:r>
              <a:rPr lang="en-US" sz="1050" b="1" spc="100" kern="0" dirty="0">
                <a:solidFill>
                  <a:srgbClr val="D9762E"/>
                </a:solidFill>
                <a:latin typeface="Calibri" pitchFamily="34" charset="0"/>
                <a:ea typeface="Calibri" pitchFamily="34" charset="-122"/>
                <a:cs typeface="Calibri" pitchFamily="34" charset="-120"/>
              </a:rPr>
              <a:t>THE PROBLEM</a:t>
            </a:r>
            <a:endParaRPr lang="en-US" sz="1050" dirty="0"/>
          </a:p>
        </p:txBody>
      </p:sp>
      <p:sp>
        <p:nvSpPr>
          <p:cNvPr id="9" name="Text 7"/>
          <p:cNvSpPr txBox="1"/>
          <p:nvPr/>
        </p:nvSpPr>
        <p:spPr>
          <a:xfrm>
            <a:off x="822960" y="2633472"/>
            <a:ext cx="9601200" cy="1097280"/>
          </a:xfrm>
          <a:prstGeom prst="rect">
            <a:avLst/>
          </a:prstGeom>
          <a:noFill/>
          <a:ln/>
        </p:spPr>
        <p:txBody>
          <a:bodyPr wrap="square" lIns="0" tIns="0" rIns="0" bIns="0" rtlCol="0" anchor="ctr"/>
          <a:lstStyle/>
          <a:p>
            <a:pPr indent="0" marL="0">
              <a:lnSpc>
                <a:spcPct val="120000"/>
              </a:lnSpc>
              <a:buNone/>
            </a:pPr>
            <a:r>
              <a:rPr lang="en-US" sz="1350" dirty="0">
                <a:solidFill>
                  <a:srgbClr val="1C2B45"/>
                </a:solidFill>
                <a:latin typeface="Calibri" pitchFamily="34" charset="0"/>
                <a:ea typeface="Calibri" pitchFamily="34" charset="-122"/>
                <a:cs typeface="Calibri" pitchFamily="34" charset="-120"/>
              </a:rPr>
              <a:t>23 of 28 issue cases said the problem had happened before — the same kind of place, over and over. Generic map data misses real rules, like Secunderabad Station's 15-minute pickup/drop access window.</a:t>
            </a:r>
            <a:endParaRPr lang="en-US" sz="1350" dirty="0"/>
          </a:p>
        </p:txBody>
      </p:sp>
      <p:sp>
        <p:nvSpPr>
          <p:cNvPr id="10" name="Shape 8"/>
          <p:cNvSpPr/>
          <p:nvPr/>
        </p:nvSpPr>
        <p:spPr>
          <a:xfrm>
            <a:off x="548640" y="3977640"/>
            <a:ext cx="10177272" cy="1691640"/>
          </a:xfrm>
          <a:prstGeom prst="rect">
            <a:avLst/>
          </a:prstGeom>
          <a:solidFill>
            <a:srgbClr val="1C2B45"/>
          </a:solidFill>
          <a:ln/>
        </p:spPr>
      </p:sp>
      <p:sp>
        <p:nvSpPr>
          <p:cNvPr id="11" name="Text 9"/>
          <p:cNvSpPr txBox="1"/>
          <p:nvPr/>
        </p:nvSpPr>
        <p:spPr>
          <a:xfrm>
            <a:off x="822960" y="4160520"/>
            <a:ext cx="9601200" cy="274320"/>
          </a:xfrm>
          <a:prstGeom prst="rect">
            <a:avLst/>
          </a:prstGeom>
          <a:noFill/>
          <a:ln/>
        </p:spPr>
        <p:txBody>
          <a:bodyPr wrap="square" lIns="0" tIns="0" rIns="0" bIns="0" rtlCol="0" anchor="ctr"/>
          <a:lstStyle/>
          <a:p>
            <a:pPr indent="0" marL="0">
              <a:buNone/>
            </a:pPr>
            <a:r>
              <a:rPr lang="en-US" sz="1050" b="1" spc="100" kern="0" dirty="0">
                <a:solidFill>
                  <a:srgbClr val="D9762E"/>
                </a:solidFill>
                <a:latin typeface="Calibri" pitchFamily="34" charset="0"/>
                <a:ea typeface="Calibri" pitchFamily="34" charset="-122"/>
                <a:cs typeface="Calibri" pitchFamily="34" charset="-120"/>
              </a:rPr>
              <a:t>WHY IT'S THE LEAST PROVEN OF THE THREE</a:t>
            </a:r>
            <a:endParaRPr lang="en-US" sz="1050" dirty="0"/>
          </a:p>
        </p:txBody>
      </p:sp>
      <p:sp>
        <p:nvSpPr>
          <p:cNvPr id="12" name="Text 10"/>
          <p:cNvSpPr txBox="1"/>
          <p:nvPr/>
        </p:nvSpPr>
        <p:spPr>
          <a:xfrm>
            <a:off x="822960" y="4462272"/>
            <a:ext cx="9601200" cy="1097280"/>
          </a:xfrm>
          <a:prstGeom prst="rect">
            <a:avLst/>
          </a:prstGeom>
          <a:noFill/>
          <a:ln/>
        </p:spPr>
        <p:txBody>
          <a:bodyPr wrap="square" lIns="0" tIns="0" rIns="0" bIns="0" rtlCol="0" anchor="ctr"/>
          <a:lstStyle/>
          <a:p>
            <a:pPr indent="0" marL="0">
              <a:lnSpc>
                <a:spcPct val="120000"/>
              </a:lnSpc>
              <a:buNone/>
            </a:pPr>
            <a:r>
              <a:rPr lang="en-US" sz="1350" dirty="0">
                <a:solidFill>
                  <a:srgbClr val="FFFFFF"/>
                </a:solidFill>
                <a:latin typeface="Calibri" pitchFamily="34" charset="0"/>
                <a:ea typeface="Calibri" pitchFamily="34" charset="-122"/>
                <a:cs typeface="Calibri" pitchFamily="34" charset="-120"/>
              </a:rPr>
              <a:t>We only checked venue rules from public sources, not by visiting. Treat this as a hypothesis to pilot at 2–3 venues, not a locked plan — and let per-trip note usage pick the shortlist.</a:t>
            </a:r>
            <a:endParaRPr lang="en-US" sz="1350" dirty="0"/>
          </a:p>
        </p:txBody>
      </p:sp>
      <p:sp>
        <p:nvSpPr>
          <p:cNvPr id="13" name="Text 1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Find My Ride</a:t>
            </a:r>
            <a:endParaRPr lang="en-US" sz="900" dirty="0"/>
          </a:p>
        </p:txBody>
      </p:sp>
      <p:sp>
        <p:nvSpPr>
          <p:cNvPr id="14" name="Text 1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C2B45"/>
          </a:solidFill>
          <a:ln/>
        </p:spPr>
      </p:sp>
      <p:sp>
        <p:nvSpPr>
          <p:cNvPr id="3" name="Text 1"/>
          <p:cNvSpPr txBox="1"/>
          <p:nvPr/>
        </p:nvSpPr>
        <p:spPr>
          <a:xfrm>
            <a:off x="548640" y="50292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IN CLOSE</a:t>
            </a:r>
            <a:endParaRPr lang="en-US" sz="1200" dirty="0"/>
          </a:p>
        </p:txBody>
      </p:sp>
      <p:sp>
        <p:nvSpPr>
          <p:cNvPr id="4" name="Text 2"/>
          <p:cNvSpPr txBox="1"/>
          <p:nvPr/>
        </p:nvSpPr>
        <p:spPr>
          <a:xfrm>
            <a:off x="548640" y="1188720"/>
            <a:ext cx="10515600" cy="1463040"/>
          </a:xfrm>
          <a:prstGeom prst="rect">
            <a:avLst/>
          </a:prstGeom>
          <a:noFill/>
          <a:ln/>
        </p:spPr>
        <p:txBody>
          <a:bodyPr wrap="square" lIns="0" tIns="0" rIns="0" bIns="0" rtlCol="0" anchor="ctr"/>
          <a:lstStyle/>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An evidence-backed pattern.</a:t>
            </a:r>
            <a:endParaRPr lang="en-US" sz="3200" dirty="0"/>
          </a:p>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Not a “we're sure, build it” pitch.</a:t>
            </a:r>
            <a:endParaRPr lang="en-US" sz="3200" dirty="0"/>
          </a:p>
        </p:txBody>
      </p:sp>
      <p:sp>
        <p:nvSpPr>
          <p:cNvPr id="5" name="Text 3"/>
          <p:cNvSpPr txBox="1"/>
          <p:nvPr/>
        </p:nvSpPr>
        <p:spPr>
          <a:xfrm>
            <a:off x="548640" y="2880360"/>
            <a:ext cx="10177272" cy="1005840"/>
          </a:xfrm>
          <a:prstGeom prst="rect">
            <a:avLst/>
          </a:prstGeom>
          <a:noFill/>
          <a:ln/>
        </p:spPr>
        <p:txBody>
          <a:bodyPr wrap="square" lIns="0" tIns="0" rIns="0" bIns="0" rtlCol="0" anchor="ctr"/>
          <a:lstStyle/>
          <a:p>
            <a:pPr indent="0" marL="0">
              <a:lnSpc>
                <a:spcPct val="125000"/>
              </a:lnSpc>
              <a:buNone/>
            </a:pPr>
            <a:r>
              <a:rPr lang="en-US" sz="1450" dirty="0">
                <a:solidFill>
                  <a:srgbClr val="C7CEDD"/>
                </a:solidFill>
                <a:latin typeface="Calibri" pitchFamily="34" charset="0"/>
                <a:ea typeface="Calibri" pitchFamily="34" charset="-122"/>
                <a:cs typeface="Calibri" pitchFamily="34" charset="-120"/>
              </a:rPr>
              <a:t>This is a convenience sample from the researcher's own network — not random. Zero Hindi responses came in despite outreach. The group least able to self-recover from a bad pickup is probably underrepresented here, not overrepresented.</a:t>
            </a:r>
            <a:endParaRPr lang="en-US" sz="1450" dirty="0"/>
          </a:p>
        </p:txBody>
      </p:sp>
      <p:sp>
        <p:nvSpPr>
          <p:cNvPr id="6" name="Shape 4"/>
          <p:cNvSpPr/>
          <p:nvPr/>
        </p:nvSpPr>
        <p:spPr>
          <a:xfrm>
            <a:off x="548640" y="4160520"/>
            <a:ext cx="4974336" cy="1280160"/>
          </a:xfrm>
          <a:prstGeom prst="rect">
            <a:avLst/>
          </a:prstGeom>
          <a:solidFill>
            <a:srgbClr val="2E4269"/>
          </a:solidFill>
          <a:ln/>
        </p:spPr>
      </p:sp>
      <p:sp>
        <p:nvSpPr>
          <p:cNvPr id="7" name="Text 5"/>
          <p:cNvSpPr txBox="1"/>
          <p:nvPr/>
        </p:nvSpPr>
        <p:spPr>
          <a:xfrm>
            <a:off x="777240" y="4315968"/>
            <a:ext cx="4572000" cy="548640"/>
          </a:xfrm>
          <a:prstGeom prst="rect">
            <a:avLst/>
          </a:prstGeom>
          <a:noFill/>
          <a:ln/>
        </p:spPr>
        <p:txBody>
          <a:bodyPr wrap="square" lIns="0" tIns="0" rIns="0" bIns="0" rtlCol="0" anchor="ctr"/>
          <a:lstStyle/>
          <a:p>
            <a:pPr indent="0" marL="0">
              <a:buNone/>
            </a:pPr>
            <a:r>
              <a:rPr lang="en-US" sz="2400" b="1" dirty="0">
                <a:solidFill>
                  <a:srgbClr val="D9762E"/>
                </a:solidFill>
                <a:latin typeface="Cambria" pitchFamily="34" charset="0"/>
                <a:ea typeface="Cambria" pitchFamily="34" charset="-122"/>
                <a:cs typeface="Cambria" pitchFamily="34" charset="-120"/>
              </a:rPr>
              <a:t>1 query</a:t>
            </a:r>
            <a:endParaRPr lang="en-US" sz="2400" dirty="0"/>
          </a:p>
        </p:txBody>
      </p:sp>
      <p:sp>
        <p:nvSpPr>
          <p:cNvPr id="8" name="Text 6"/>
          <p:cNvSpPr txBox="1"/>
          <p:nvPr/>
        </p:nvSpPr>
        <p:spPr>
          <a:xfrm>
            <a:off x="777240" y="4846320"/>
            <a:ext cx="4572000" cy="502920"/>
          </a:xfrm>
          <a:prstGeom prst="rect">
            <a:avLst/>
          </a:prstGeom>
          <a:noFill/>
          <a:ln/>
        </p:spPr>
        <p:txBody>
          <a:bodyPr wrap="square" lIns="0" tIns="0" rIns="0" bIns="0" rtlCol="0" anchor="ctr"/>
          <a:lstStyle/>
          <a:p>
            <a:pPr indent="0" marL="0">
              <a:buNone/>
            </a:pPr>
            <a:r>
              <a:rPr lang="en-US" sz="1250" dirty="0">
                <a:solidFill>
                  <a:srgbClr val="C7CEDD"/>
                </a:solidFill>
                <a:latin typeface="Calibri" pitchFamily="34" charset="0"/>
                <a:ea typeface="Calibri" pitchFamily="34" charset="-122"/>
                <a:cs typeface="Calibri" pitchFamily="34" charset="-120"/>
              </a:rPr>
              <a:t>Uber could run tomorrow to validate this</a:t>
            </a:r>
            <a:endParaRPr lang="en-US" sz="1250" dirty="0"/>
          </a:p>
        </p:txBody>
      </p:sp>
      <p:sp>
        <p:nvSpPr>
          <p:cNvPr id="9" name="Shape 7"/>
          <p:cNvSpPr/>
          <p:nvPr/>
        </p:nvSpPr>
        <p:spPr>
          <a:xfrm>
            <a:off x="5760720" y="4160520"/>
            <a:ext cx="4974336" cy="1280160"/>
          </a:xfrm>
          <a:prstGeom prst="rect">
            <a:avLst/>
          </a:prstGeom>
          <a:solidFill>
            <a:srgbClr val="2E4269"/>
          </a:solidFill>
          <a:ln/>
        </p:spPr>
      </p:sp>
      <p:sp>
        <p:nvSpPr>
          <p:cNvPr id="10" name="Text 8"/>
          <p:cNvSpPr txBox="1"/>
          <p:nvPr/>
        </p:nvSpPr>
        <p:spPr>
          <a:xfrm>
            <a:off x="5989320" y="4315968"/>
            <a:ext cx="4572000" cy="548640"/>
          </a:xfrm>
          <a:prstGeom prst="rect">
            <a:avLst/>
          </a:prstGeom>
          <a:noFill/>
          <a:ln/>
        </p:spPr>
        <p:txBody>
          <a:bodyPr wrap="square" lIns="0" tIns="0" rIns="0" bIns="0" rtlCol="0" anchor="ctr"/>
          <a:lstStyle/>
          <a:p>
            <a:pPr indent="0" marL="0">
              <a:buNone/>
            </a:pPr>
            <a:r>
              <a:rPr lang="en-US" sz="2400" b="1" dirty="0">
                <a:solidFill>
                  <a:srgbClr val="D9762E"/>
                </a:solidFill>
                <a:latin typeface="Cambria" pitchFamily="34" charset="0"/>
                <a:ea typeface="Cambria" pitchFamily="34" charset="-122"/>
                <a:cs typeface="Cambria" pitchFamily="34" charset="-120"/>
              </a:rPr>
              <a:t>1 gap</a:t>
            </a:r>
            <a:endParaRPr lang="en-US" sz="2400" dirty="0"/>
          </a:p>
        </p:txBody>
      </p:sp>
      <p:sp>
        <p:nvSpPr>
          <p:cNvPr id="11" name="Text 9"/>
          <p:cNvSpPr txBox="1"/>
          <p:nvPr/>
        </p:nvSpPr>
        <p:spPr>
          <a:xfrm>
            <a:off x="5989320" y="4846320"/>
            <a:ext cx="4572000" cy="502920"/>
          </a:xfrm>
          <a:prstGeom prst="rect">
            <a:avLst/>
          </a:prstGeom>
          <a:noFill/>
          <a:ln/>
        </p:spPr>
        <p:txBody>
          <a:bodyPr wrap="square" lIns="0" tIns="0" rIns="0" bIns="0" rtlCol="0" anchor="ctr"/>
          <a:lstStyle/>
          <a:p>
            <a:pPr indent="0" marL="0">
              <a:buNone/>
            </a:pPr>
            <a:r>
              <a:rPr lang="en-US" sz="1250" dirty="0">
                <a:solidFill>
                  <a:srgbClr val="C7CEDD"/>
                </a:solidFill>
                <a:latin typeface="Calibri" pitchFamily="34" charset="0"/>
                <a:ea typeface="Calibri" pitchFamily="34" charset="-122"/>
                <a:cs typeface="Calibri" pitchFamily="34" charset="-120"/>
              </a:rPr>
              <a:t>Driver-side evidence, before betting more</a:t>
            </a:r>
            <a:endParaRPr lang="en-US" sz="1250" dirty="0"/>
          </a:p>
        </p:txBody>
      </p:sp>
      <p:sp>
        <p:nvSpPr>
          <p:cNvPr id="12" name="Text 10"/>
          <p:cNvSpPr txBox="1"/>
          <p:nvPr/>
        </p:nvSpPr>
        <p:spPr>
          <a:xfrm>
            <a:off x="548640" y="5943600"/>
            <a:ext cx="9144000" cy="365760"/>
          </a:xfrm>
          <a:prstGeom prst="rect">
            <a:avLst/>
          </a:prstGeom>
          <a:noFill/>
          <a:ln/>
        </p:spPr>
        <p:txBody>
          <a:bodyPr wrap="square" lIns="0" tIns="0" rIns="0" bIns="0" rtlCol="0" anchor="ctr"/>
          <a:lstStyle/>
          <a:p>
            <a:pPr indent="0" marL="0">
              <a:buNone/>
            </a:pPr>
            <a:r>
              <a:rPr lang="en-US" sz="1250" i="1" dirty="0">
                <a:solidFill>
                  <a:srgbClr val="8B96AD"/>
                </a:solidFill>
                <a:latin typeface="Calibri" pitchFamily="34" charset="0"/>
                <a:ea typeface="Calibri" pitchFamily="34" charset="-122"/>
                <a:cs typeface="Calibri" pitchFamily="34" charset="-120"/>
              </a:rPr>
              <a:t>Appendix follows — the full evidence behind every claim in this story.</a:t>
            </a:r>
            <a:endParaRPr lang="en-US" sz="1250" dirty="0"/>
          </a:p>
        </p:txBody>
      </p:sp>
      <p:sp>
        <p:nvSpPr>
          <p:cNvPr id="13" name="Text 1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8B96AD"/>
                </a:solidFill>
                <a:latin typeface="Calibri" pitchFamily="34" charset="0"/>
                <a:ea typeface="Calibri" pitchFamily="34" charset="-122"/>
                <a:cs typeface="Calibri" pitchFamily="34" charset="-120"/>
              </a:rPr>
              <a:t>Find My Ride</a:t>
            </a:r>
            <a:endParaRPr lang="en-US" sz="900" dirty="0"/>
          </a:p>
        </p:txBody>
      </p:sp>
      <p:sp>
        <p:nvSpPr>
          <p:cNvPr id="14" name="Text 1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8B96AD"/>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C2B45"/>
          </a:solidFill>
          <a:ln/>
        </p:spPr>
      </p:sp>
      <p:sp>
        <p:nvSpPr>
          <p:cNvPr id="3" name="Text 1"/>
          <p:cNvSpPr txBox="1"/>
          <p:nvPr/>
        </p:nvSpPr>
        <p:spPr>
          <a:xfrm>
            <a:off x="548640" y="274320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APPENDIX</a:t>
            </a:r>
            <a:endParaRPr lang="en-US" sz="1200" dirty="0"/>
          </a:p>
        </p:txBody>
      </p:sp>
      <p:sp>
        <p:nvSpPr>
          <p:cNvPr id="4" name="Text 2"/>
          <p:cNvSpPr txBox="1"/>
          <p:nvPr/>
        </p:nvSpPr>
        <p:spPr>
          <a:xfrm>
            <a:off x="548640" y="3063240"/>
            <a:ext cx="1051560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full evidence behind every slide in the story</a:t>
            </a:r>
            <a:endParaRPr lang="en-US" sz="3400" dirty="0"/>
          </a:p>
        </p:txBody>
      </p:sp>
      <p:sp>
        <p:nvSpPr>
          <p:cNvPr id="5" name="Text 3"/>
          <p:cNvSpPr txBox="1"/>
          <p:nvPr/>
        </p:nvSpPr>
        <p:spPr>
          <a:xfrm>
            <a:off x="548640" y="3977640"/>
            <a:ext cx="9601200" cy="548640"/>
          </a:xfrm>
          <a:prstGeom prst="rect">
            <a:avLst/>
          </a:prstGeom>
          <a:noFill/>
          <a:ln/>
        </p:spPr>
        <p:txBody>
          <a:bodyPr wrap="square" lIns="0" tIns="0" rIns="0" bIns="0" rtlCol="0" anchor="ctr"/>
          <a:lstStyle/>
          <a:p>
            <a:pPr indent="0" marL="0">
              <a:buNone/>
            </a:pPr>
            <a:r>
              <a:rPr lang="en-US" sz="1350" dirty="0">
                <a:solidFill>
                  <a:srgbClr val="C7CEDD"/>
                </a:solidFill>
                <a:latin typeface="Calibri" pitchFamily="34" charset="0"/>
                <a:ea typeface="Calibri" pitchFamily="34" charset="-122"/>
                <a:cs typeface="Calibri" pitchFamily="34" charset="-120"/>
              </a:rPr>
              <a:t>Methodology  ·  all ten insights  ·  the full strategy reconciliation  ·  every field of all three ideas  ·  the complete limitations register</a:t>
            </a:r>
            <a:endParaRPr lang="en-US" sz="1350" dirty="0"/>
          </a:p>
        </p:txBody>
      </p:sp>
      <p:sp>
        <p:nvSpPr>
          <p:cNvPr id="6" name="Text 4"/>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8B96AD"/>
                </a:solidFill>
                <a:latin typeface="Calibri" pitchFamily="34" charset="0"/>
                <a:ea typeface="Calibri" pitchFamily="34" charset="-122"/>
                <a:cs typeface="Calibri" pitchFamily="34" charset="-120"/>
              </a:rPr>
              <a:t>Find My Ride — Appendix</a:t>
            </a:r>
            <a:endParaRPr lang="en-US" sz="9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8B96AD"/>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FF3"/>
          </a:solidFill>
          <a:ln/>
        </p:spPr>
      </p:sp>
      <p:sp>
        <p:nvSpPr>
          <p:cNvPr id="3" name="Text 1"/>
          <p:cNvSpPr txBox="1"/>
          <p:nvPr/>
        </p:nvSpPr>
        <p:spPr>
          <a:xfrm>
            <a:off x="548640" y="50292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APPENDIX · METHODOLOGY AND EVIDENCE BASE</a:t>
            </a:r>
            <a:endParaRPr lang="en-US" sz="1200" dirty="0"/>
          </a:p>
        </p:txBody>
      </p:sp>
      <p:sp>
        <p:nvSpPr>
          <p:cNvPr id="4" name="Text 2"/>
          <p:cNvSpPr txBox="1"/>
          <p:nvPr/>
        </p:nvSpPr>
        <p:spPr>
          <a:xfrm>
            <a:off x="548640" y="822960"/>
            <a:ext cx="10881360" cy="822960"/>
          </a:xfrm>
          <a:prstGeom prst="rect">
            <a:avLst/>
          </a:prstGeom>
          <a:noFill/>
          <a:ln/>
        </p:spPr>
        <p:txBody>
          <a:bodyPr wrap="square" lIns="0" tIns="0" rIns="0" bIns="0" rtlCol="0" anchor="ctr"/>
          <a:lstStyle/>
          <a:p>
            <a:pPr indent="0" marL="0">
              <a:buNone/>
            </a:pPr>
            <a:r>
              <a:rPr lang="en-US" sz="2700" b="1" dirty="0">
                <a:solidFill>
                  <a:srgbClr val="1C2B45"/>
                </a:solidFill>
                <a:latin typeface="Cambria" pitchFamily="34" charset="0"/>
                <a:ea typeface="Cambria" pitchFamily="34" charset="-122"/>
                <a:cs typeface="Cambria" pitchFamily="34" charset="-120"/>
              </a:rPr>
              <a:t>One survey, three honest limits</a:t>
            </a:r>
            <a:endParaRPr lang="en-US" sz="2700" dirty="0"/>
          </a:p>
        </p:txBody>
      </p:sp>
      <p:sp>
        <p:nvSpPr>
          <p:cNvPr id="5" name="Shape 3"/>
          <p:cNvSpPr/>
          <p:nvPr/>
        </p:nvSpPr>
        <p:spPr>
          <a:xfrm>
            <a:off x="548640" y="1965960"/>
            <a:ext cx="10177272" cy="914400"/>
          </a:xfrm>
          <a:prstGeom prst="rect">
            <a:avLst/>
          </a:prstGeom>
          <a:solidFill>
            <a:srgbClr val="FFFFFF"/>
          </a:solidFill>
          <a:ln w="12700">
            <a:solidFill>
              <a:srgbClr val="D8DCE6"/>
            </a:solidFill>
            <a:prstDash val="solid"/>
          </a:ln>
        </p:spPr>
      </p:sp>
      <p:sp>
        <p:nvSpPr>
          <p:cNvPr id="6" name="Text 4"/>
          <p:cNvSpPr txBox="1"/>
          <p:nvPr/>
        </p:nvSpPr>
        <p:spPr>
          <a:xfrm>
            <a:off x="777240" y="2075688"/>
            <a:ext cx="3291840" cy="685800"/>
          </a:xfrm>
          <a:prstGeom prst="rect">
            <a:avLst/>
          </a:prstGeom>
          <a:noFill/>
          <a:ln/>
        </p:spPr>
        <p:txBody>
          <a:bodyPr wrap="square" lIns="0" tIns="0" rIns="0" bIns="0" rtlCol="0" anchor="ctr"/>
          <a:lstStyle/>
          <a:p>
            <a:pPr indent="0" marL="0">
              <a:buNone/>
            </a:pPr>
            <a:r>
              <a:rPr lang="en-US" sz="1500" b="1" dirty="0">
                <a:solidFill>
                  <a:srgbClr val="1C2B45"/>
                </a:solidFill>
                <a:latin typeface="Cambria" pitchFamily="34" charset="0"/>
                <a:ea typeface="Cambria" pitchFamily="34" charset="-122"/>
                <a:cs typeface="Cambria" pitchFamily="34" charset="-120"/>
              </a:rPr>
              <a:t>63</a:t>
            </a:r>
            <a:endParaRPr lang="en-US" sz="1500" dirty="0"/>
          </a:p>
        </p:txBody>
      </p:sp>
      <p:sp>
        <p:nvSpPr>
          <p:cNvPr id="7" name="Text 5"/>
          <p:cNvSpPr txBox="1"/>
          <p:nvPr/>
        </p:nvSpPr>
        <p:spPr>
          <a:xfrm>
            <a:off x="4206240" y="2075688"/>
            <a:ext cx="6309360" cy="685800"/>
          </a:xfrm>
          <a:prstGeom prst="rect">
            <a:avLst/>
          </a:prstGeom>
          <a:noFill/>
          <a:ln/>
        </p:spPr>
        <p:txBody>
          <a:bodyPr wrap="square" lIns="0" tIns="0" rIns="0" bIns="0" rtlCol="0" anchor="ctr"/>
          <a:lstStyle/>
          <a:p>
            <a:pPr indent="0" marL="0">
              <a:buNone/>
            </a:pPr>
            <a:r>
              <a:rPr lang="en-US" sz="1250" dirty="0">
                <a:solidFill>
                  <a:srgbClr val="5B6478"/>
                </a:solidFill>
                <a:latin typeface="Calibri" pitchFamily="34" charset="0"/>
                <a:ea typeface="Calibri" pitchFamily="34" charset="-122"/>
                <a:cs typeface="Calibri" pitchFamily="34" charset="-120"/>
              </a:rPr>
              <a:t>total submissions reviewed; 62 unique after 1 confirmed duplicate removed</a:t>
            </a:r>
            <a:endParaRPr lang="en-US" sz="1250" dirty="0"/>
          </a:p>
        </p:txBody>
      </p:sp>
      <p:sp>
        <p:nvSpPr>
          <p:cNvPr id="8" name="Shape 6"/>
          <p:cNvSpPr/>
          <p:nvPr/>
        </p:nvSpPr>
        <p:spPr>
          <a:xfrm>
            <a:off x="548640" y="3063240"/>
            <a:ext cx="10177272" cy="914400"/>
          </a:xfrm>
          <a:prstGeom prst="rect">
            <a:avLst/>
          </a:prstGeom>
          <a:solidFill>
            <a:srgbClr val="FFFFFF"/>
          </a:solidFill>
          <a:ln w="12700">
            <a:solidFill>
              <a:srgbClr val="D8DCE6"/>
            </a:solidFill>
            <a:prstDash val="solid"/>
          </a:ln>
        </p:spPr>
      </p:sp>
      <p:sp>
        <p:nvSpPr>
          <p:cNvPr id="9" name="Text 7"/>
          <p:cNvSpPr txBox="1"/>
          <p:nvPr/>
        </p:nvSpPr>
        <p:spPr>
          <a:xfrm>
            <a:off x="777240" y="3172968"/>
            <a:ext cx="3291840" cy="685800"/>
          </a:xfrm>
          <a:prstGeom prst="rect">
            <a:avLst/>
          </a:prstGeom>
          <a:noFill/>
          <a:ln/>
        </p:spPr>
        <p:txBody>
          <a:bodyPr wrap="square" lIns="0" tIns="0" rIns="0" bIns="0" rtlCol="0" anchor="ctr"/>
          <a:lstStyle/>
          <a:p>
            <a:pPr indent="0" marL="0">
              <a:buNone/>
            </a:pPr>
            <a:r>
              <a:rPr lang="en-US" sz="1500" b="1" dirty="0">
                <a:solidFill>
                  <a:srgbClr val="1C2B45"/>
                </a:solidFill>
                <a:latin typeface="Cambria" pitchFamily="34" charset="0"/>
                <a:ea typeface="Cambria" pitchFamily="34" charset="-122"/>
                <a:cs typeface="Cambria" pitchFamily="34" charset="-120"/>
              </a:rPr>
              <a:t>59 riders / 4 drivers</a:t>
            </a:r>
            <a:endParaRPr lang="en-US" sz="1500" dirty="0"/>
          </a:p>
        </p:txBody>
      </p:sp>
      <p:sp>
        <p:nvSpPr>
          <p:cNvPr id="10" name="Text 8"/>
          <p:cNvSpPr txBox="1"/>
          <p:nvPr/>
        </p:nvSpPr>
        <p:spPr>
          <a:xfrm>
            <a:off x="4206240" y="3172968"/>
            <a:ext cx="6309360" cy="685800"/>
          </a:xfrm>
          <a:prstGeom prst="rect">
            <a:avLst/>
          </a:prstGeom>
          <a:noFill/>
          <a:ln/>
        </p:spPr>
        <p:txBody>
          <a:bodyPr wrap="square" lIns="0" tIns="0" rIns="0" bIns="0" rtlCol="0" anchor="ctr"/>
          <a:lstStyle/>
          <a:p>
            <a:pPr indent="0" marL="0">
              <a:buNone/>
            </a:pPr>
            <a:r>
              <a:rPr lang="en-US" sz="1250" dirty="0">
                <a:solidFill>
                  <a:srgbClr val="5B6478"/>
                </a:solidFill>
                <a:latin typeface="Calibri" pitchFamily="34" charset="0"/>
                <a:ea typeface="Calibri" pitchFamily="34" charset="-122"/>
                <a:cs typeface="Calibri" pitchFamily="34" charset="-120"/>
              </a:rPr>
              <a:t>driver evidence is the project's thinnest data, throughout</a:t>
            </a:r>
            <a:endParaRPr lang="en-US" sz="1250" dirty="0"/>
          </a:p>
        </p:txBody>
      </p:sp>
      <p:sp>
        <p:nvSpPr>
          <p:cNvPr id="11" name="Shape 9"/>
          <p:cNvSpPr/>
          <p:nvPr/>
        </p:nvSpPr>
        <p:spPr>
          <a:xfrm>
            <a:off x="548640" y="4160520"/>
            <a:ext cx="10177272" cy="914400"/>
          </a:xfrm>
          <a:prstGeom prst="rect">
            <a:avLst/>
          </a:prstGeom>
          <a:solidFill>
            <a:srgbClr val="FFFFFF"/>
          </a:solidFill>
          <a:ln w="12700">
            <a:solidFill>
              <a:srgbClr val="D8DCE6"/>
            </a:solidFill>
            <a:prstDash val="solid"/>
          </a:ln>
        </p:spPr>
      </p:sp>
      <p:sp>
        <p:nvSpPr>
          <p:cNvPr id="12" name="Text 10"/>
          <p:cNvSpPr txBox="1"/>
          <p:nvPr/>
        </p:nvSpPr>
        <p:spPr>
          <a:xfrm>
            <a:off x="777240" y="4270248"/>
            <a:ext cx="3291840" cy="685800"/>
          </a:xfrm>
          <a:prstGeom prst="rect">
            <a:avLst/>
          </a:prstGeom>
          <a:noFill/>
          <a:ln/>
        </p:spPr>
        <p:txBody>
          <a:bodyPr wrap="square" lIns="0" tIns="0" rIns="0" bIns="0" rtlCol="0" anchor="ctr"/>
          <a:lstStyle/>
          <a:p>
            <a:pPr indent="0" marL="0">
              <a:buNone/>
            </a:pPr>
            <a:r>
              <a:rPr lang="en-US" sz="1500" b="1" dirty="0">
                <a:solidFill>
                  <a:srgbClr val="1C2B45"/>
                </a:solidFill>
                <a:latin typeface="Cambria" pitchFamily="34" charset="0"/>
                <a:ea typeface="Cambria" pitchFamily="34" charset="-122"/>
                <a:cs typeface="Cambria" pitchFamily="34" charset="-120"/>
              </a:rPr>
              <a:t>Self-serve, async, trilingual</a:t>
            </a:r>
            <a:endParaRPr lang="en-US" sz="1500" dirty="0"/>
          </a:p>
        </p:txBody>
      </p:sp>
      <p:sp>
        <p:nvSpPr>
          <p:cNvPr id="13" name="Text 11"/>
          <p:cNvSpPr txBox="1"/>
          <p:nvPr/>
        </p:nvSpPr>
        <p:spPr>
          <a:xfrm>
            <a:off x="4206240" y="4270248"/>
            <a:ext cx="6309360" cy="685800"/>
          </a:xfrm>
          <a:prstGeom prst="rect">
            <a:avLst/>
          </a:prstGeom>
          <a:noFill/>
          <a:ln/>
        </p:spPr>
        <p:txBody>
          <a:bodyPr wrap="square" lIns="0" tIns="0" rIns="0" bIns="0" rtlCol="0" anchor="ctr"/>
          <a:lstStyle/>
          <a:p>
            <a:pPr indent="0" marL="0">
              <a:buNone/>
            </a:pPr>
            <a:r>
              <a:rPr lang="en-US" sz="1250" dirty="0">
                <a:solidFill>
                  <a:srgbClr val="5B6478"/>
                </a:solidFill>
                <a:latin typeface="Calibri" pitchFamily="34" charset="0"/>
                <a:ea typeface="Calibri" pitchFamily="34" charset="-122"/>
                <a:cs typeface="Calibri" pitchFamily="34" charset="-120"/>
              </a:rPr>
              <a:t>English / Telugu / Hindi — could not probe a vague answer live, unlike a real interview</a:t>
            </a:r>
            <a:endParaRPr lang="en-US" sz="1250" dirty="0"/>
          </a:p>
        </p:txBody>
      </p:sp>
      <p:sp>
        <p:nvSpPr>
          <p:cNvPr id="14" name="Shape 12"/>
          <p:cNvSpPr/>
          <p:nvPr/>
        </p:nvSpPr>
        <p:spPr>
          <a:xfrm>
            <a:off x="548640" y="5257800"/>
            <a:ext cx="10177272" cy="914400"/>
          </a:xfrm>
          <a:prstGeom prst="rect">
            <a:avLst/>
          </a:prstGeom>
          <a:solidFill>
            <a:srgbClr val="FFFFFF"/>
          </a:solidFill>
          <a:ln w="12700">
            <a:solidFill>
              <a:srgbClr val="D8DCE6"/>
            </a:solidFill>
            <a:prstDash val="solid"/>
          </a:ln>
        </p:spPr>
      </p:sp>
      <p:sp>
        <p:nvSpPr>
          <p:cNvPr id="15" name="Text 13"/>
          <p:cNvSpPr txBox="1"/>
          <p:nvPr/>
        </p:nvSpPr>
        <p:spPr>
          <a:xfrm>
            <a:off x="777240" y="5367528"/>
            <a:ext cx="3291840" cy="685800"/>
          </a:xfrm>
          <a:prstGeom prst="rect">
            <a:avLst/>
          </a:prstGeom>
          <a:noFill/>
          <a:ln/>
        </p:spPr>
        <p:txBody>
          <a:bodyPr wrap="square" lIns="0" tIns="0" rIns="0" bIns="0" rtlCol="0" anchor="ctr"/>
          <a:lstStyle/>
          <a:p>
            <a:pPr indent="0" marL="0">
              <a:buNone/>
            </a:pPr>
            <a:r>
              <a:rPr lang="en-US" sz="1500" b="1" dirty="0">
                <a:solidFill>
                  <a:srgbClr val="1C2B45"/>
                </a:solidFill>
                <a:latin typeface="Cambria" pitchFamily="34" charset="0"/>
                <a:ea typeface="Cambria" pitchFamily="34" charset="-122"/>
                <a:cs typeface="Cambria" pitchFamily="34" charset="-120"/>
              </a:rPr>
              <a:t>Convenience sample</a:t>
            </a:r>
            <a:endParaRPr lang="en-US" sz="1500" dirty="0"/>
          </a:p>
        </p:txBody>
      </p:sp>
      <p:sp>
        <p:nvSpPr>
          <p:cNvPr id="16" name="Text 14"/>
          <p:cNvSpPr txBox="1"/>
          <p:nvPr/>
        </p:nvSpPr>
        <p:spPr>
          <a:xfrm>
            <a:off x="4206240" y="5367528"/>
            <a:ext cx="6309360" cy="685800"/>
          </a:xfrm>
          <a:prstGeom prst="rect">
            <a:avLst/>
          </a:prstGeom>
          <a:noFill/>
          <a:ln/>
        </p:spPr>
        <p:txBody>
          <a:bodyPr wrap="square" lIns="0" tIns="0" rIns="0" bIns="0" rtlCol="0" anchor="ctr"/>
          <a:lstStyle/>
          <a:p>
            <a:pPr indent="0" marL="0">
              <a:buNone/>
            </a:pPr>
            <a:r>
              <a:rPr lang="en-US" sz="1250" dirty="0">
                <a:solidFill>
                  <a:srgbClr val="5B6478"/>
                </a:solidFill>
                <a:latin typeface="Calibri" pitchFamily="34" charset="0"/>
                <a:ea typeface="Calibri" pitchFamily="34" charset="-122"/>
                <a:cs typeface="Calibri" pitchFamily="34" charset="-120"/>
              </a:rPr>
              <a:t>researcher's own network — not random, not representative of Hyderabad riders</a:t>
            </a:r>
            <a:endParaRPr lang="en-US" sz="1250" dirty="0"/>
          </a:p>
        </p:txBody>
      </p:sp>
      <p:sp>
        <p:nvSpPr>
          <p:cNvPr id="17" name="Text 15"/>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Find My Ride — Appendix</a:t>
            </a:r>
            <a:endParaRPr lang="en-US" sz="900" dirty="0"/>
          </a:p>
        </p:txBody>
      </p:sp>
      <p:sp>
        <p:nvSpPr>
          <p:cNvPr id="18" name="Text 1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FF3"/>
          </a:solidFill>
          <a:ln/>
        </p:spPr>
      </p:sp>
      <p:sp>
        <p:nvSpPr>
          <p:cNvPr id="3" name="Text 1"/>
          <p:cNvSpPr txBox="1"/>
          <p:nvPr/>
        </p:nvSpPr>
        <p:spPr>
          <a:xfrm>
            <a:off x="548640" y="50292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APPENDIX · TOP 10 INSIGHTS (1–5 OF 10)</a:t>
            </a:r>
            <a:endParaRPr lang="en-US" sz="1200" dirty="0"/>
          </a:p>
        </p:txBody>
      </p:sp>
      <p:sp>
        <p:nvSpPr>
          <p:cNvPr id="4" name="Text 2"/>
          <p:cNvSpPr txBox="1"/>
          <p:nvPr/>
        </p:nvSpPr>
        <p:spPr>
          <a:xfrm>
            <a:off x="548640" y="822960"/>
            <a:ext cx="10881360" cy="822960"/>
          </a:xfrm>
          <a:prstGeom prst="rect">
            <a:avLst/>
          </a:prstGeom>
          <a:noFill/>
          <a:ln/>
        </p:spPr>
        <p:txBody>
          <a:bodyPr wrap="square" lIns="0" tIns="0" rIns="0" bIns="0" rtlCol="0" anchor="ctr"/>
          <a:lstStyle/>
          <a:p>
            <a:pPr indent="0" marL="0">
              <a:buNone/>
            </a:pPr>
            <a:r>
              <a:rPr lang="en-US" sz="2500" b="1" dirty="0">
                <a:solidFill>
                  <a:srgbClr val="1C2B45"/>
                </a:solidFill>
                <a:latin typeface="Cambria" pitchFamily="34" charset="0"/>
                <a:ea typeface="Cambria" pitchFamily="34" charset="-122"/>
                <a:cs typeface="Cambria" pitchFamily="34" charset="-120"/>
              </a:rPr>
              <a:t>Every insight this story is built on</a:t>
            </a:r>
            <a:endParaRPr lang="en-US" sz="2500" dirty="0"/>
          </a:p>
        </p:txBody>
      </p:sp>
      <p:sp>
        <p:nvSpPr>
          <p:cNvPr id="5" name="Shape 3"/>
          <p:cNvSpPr/>
          <p:nvPr/>
        </p:nvSpPr>
        <p:spPr>
          <a:xfrm>
            <a:off x="548640" y="1783080"/>
            <a:ext cx="10177272" cy="777240"/>
          </a:xfrm>
          <a:prstGeom prst="rect">
            <a:avLst/>
          </a:prstGeom>
          <a:solidFill>
            <a:srgbClr val="FFFFFF"/>
          </a:solidFill>
          <a:ln w="12700">
            <a:solidFill>
              <a:srgbClr val="D8DCE6"/>
            </a:solidFill>
            <a:prstDash val="solid"/>
          </a:ln>
        </p:spPr>
      </p:sp>
      <p:sp>
        <p:nvSpPr>
          <p:cNvPr id="6" name="Text 4"/>
          <p:cNvSpPr txBox="1"/>
          <p:nvPr/>
        </p:nvSpPr>
        <p:spPr>
          <a:xfrm>
            <a:off x="713232" y="1856232"/>
            <a:ext cx="502920" cy="594360"/>
          </a:xfrm>
          <a:prstGeom prst="rect">
            <a:avLst/>
          </a:prstGeom>
          <a:noFill/>
          <a:ln/>
        </p:spPr>
        <p:txBody>
          <a:bodyPr wrap="square" lIns="0" tIns="0" rIns="0" bIns="0" rtlCol="0" anchor="ctr"/>
          <a:lstStyle/>
          <a:p>
            <a:pPr indent="0" marL="0">
              <a:buNone/>
            </a:pPr>
            <a:r>
              <a:rPr lang="en-US" sz="2000" b="1" dirty="0">
                <a:solidFill>
                  <a:srgbClr val="C3C9D6"/>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325880" y="1847088"/>
            <a:ext cx="6309360" cy="347472"/>
          </a:xfrm>
          <a:prstGeom prst="rect">
            <a:avLst/>
          </a:prstGeom>
          <a:noFill/>
          <a:ln/>
        </p:spPr>
        <p:txBody>
          <a:bodyPr wrap="square" lIns="0" tIns="0" rIns="0" bIns="0" rtlCol="0" anchor="ctr"/>
          <a:lstStyle/>
          <a:p>
            <a:pPr indent="0" marL="0">
              <a:buNone/>
            </a:pPr>
            <a:r>
              <a:rPr lang="en-US" sz="1250" b="1" dirty="0">
                <a:solidFill>
                  <a:srgbClr val="1C2B45"/>
                </a:solidFill>
                <a:latin typeface="Calibri" pitchFamily="34" charset="0"/>
                <a:ea typeface="Calibri" pitchFamily="34" charset="-122"/>
                <a:cs typeface="Calibri" pitchFamily="34" charset="-120"/>
              </a:rPr>
              <a:t>Pickup difficulty is meaningful, but not universal</a:t>
            </a:r>
            <a:endParaRPr lang="en-US" sz="1250" dirty="0"/>
          </a:p>
        </p:txBody>
      </p:sp>
      <p:sp>
        <p:nvSpPr>
          <p:cNvPr id="8" name="Text 6"/>
          <p:cNvSpPr txBox="1"/>
          <p:nvPr/>
        </p:nvSpPr>
        <p:spPr>
          <a:xfrm>
            <a:off x="1325880" y="2176272"/>
            <a:ext cx="6309360" cy="347472"/>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24 of 52 recent users reported difficulty; 35 of 63 did not.</a:t>
            </a:r>
            <a:endParaRPr lang="en-US" sz="1050" dirty="0"/>
          </a:p>
        </p:txBody>
      </p:sp>
      <p:sp>
        <p:nvSpPr>
          <p:cNvPr id="9" name="Shape 7"/>
          <p:cNvSpPr/>
          <p:nvPr/>
        </p:nvSpPr>
        <p:spPr>
          <a:xfrm>
            <a:off x="7909560" y="2029968"/>
            <a:ext cx="1088136" cy="292608"/>
          </a:xfrm>
          <a:prstGeom prst="roundRect">
            <a:avLst>
              <a:gd name="adj" fmla="val 18750"/>
            </a:avLst>
          </a:prstGeom>
          <a:solidFill>
            <a:srgbClr val="DDEAEC"/>
          </a:solidFill>
          <a:ln/>
        </p:spPr>
      </p:sp>
      <p:sp>
        <p:nvSpPr>
          <p:cNvPr id="10" name="Text 8"/>
          <p:cNvSpPr txBox="1"/>
          <p:nvPr/>
        </p:nvSpPr>
        <p:spPr>
          <a:xfrm>
            <a:off x="7909560" y="2029968"/>
            <a:ext cx="1088136" cy="292608"/>
          </a:xfrm>
          <a:prstGeom prst="rect">
            <a:avLst/>
          </a:prstGeom>
          <a:noFill/>
          <a:ln/>
        </p:spPr>
        <p:txBody>
          <a:bodyPr wrap="square" lIns="0" tIns="0" rIns="0" bIns="0" rtlCol="0" anchor="ctr"/>
          <a:lstStyle/>
          <a:p>
            <a:pPr algn="ctr" indent="0" marL="0">
              <a:buNone/>
            </a:pPr>
            <a:r>
              <a:rPr lang="en-US" sz="950" b="1" spc="50" kern="0" dirty="0">
                <a:solidFill>
                  <a:srgbClr val="3E7C86"/>
                </a:solidFill>
                <a:latin typeface="Calibri" pitchFamily="34" charset="0"/>
                <a:ea typeface="Calibri" pitchFamily="34" charset="-122"/>
                <a:cs typeface="Calibri" pitchFamily="34" charset="-120"/>
              </a:rPr>
              <a:t>STRONG</a:t>
            </a:r>
            <a:endParaRPr lang="en-US" sz="950" dirty="0"/>
          </a:p>
        </p:txBody>
      </p:sp>
      <p:sp>
        <p:nvSpPr>
          <p:cNvPr id="11" name="Shape 9"/>
          <p:cNvSpPr/>
          <p:nvPr/>
        </p:nvSpPr>
        <p:spPr>
          <a:xfrm>
            <a:off x="548640" y="2642616"/>
            <a:ext cx="10177272" cy="777240"/>
          </a:xfrm>
          <a:prstGeom prst="rect">
            <a:avLst/>
          </a:prstGeom>
          <a:solidFill>
            <a:srgbClr val="FFFFFF"/>
          </a:solidFill>
          <a:ln w="12700">
            <a:solidFill>
              <a:srgbClr val="D8DCE6"/>
            </a:solidFill>
            <a:prstDash val="solid"/>
          </a:ln>
        </p:spPr>
      </p:sp>
      <p:sp>
        <p:nvSpPr>
          <p:cNvPr id="12" name="Text 10"/>
          <p:cNvSpPr txBox="1"/>
          <p:nvPr/>
        </p:nvSpPr>
        <p:spPr>
          <a:xfrm>
            <a:off x="713232" y="2715768"/>
            <a:ext cx="502920" cy="594360"/>
          </a:xfrm>
          <a:prstGeom prst="rect">
            <a:avLst/>
          </a:prstGeom>
          <a:noFill/>
          <a:ln/>
        </p:spPr>
        <p:txBody>
          <a:bodyPr wrap="square" lIns="0" tIns="0" rIns="0" bIns="0" rtlCol="0" anchor="ctr"/>
          <a:lstStyle/>
          <a:p>
            <a:pPr indent="0" marL="0">
              <a:buNone/>
            </a:pPr>
            <a:r>
              <a:rPr lang="en-US" sz="2000" b="1" dirty="0">
                <a:solidFill>
                  <a:srgbClr val="C3C9D6"/>
                </a:solidFill>
                <a:latin typeface="Cambria" pitchFamily="34" charset="0"/>
                <a:ea typeface="Cambria" pitchFamily="34" charset="-122"/>
                <a:cs typeface="Cambria" pitchFamily="34" charset="-120"/>
              </a:rPr>
              <a:t>2</a:t>
            </a:r>
            <a:endParaRPr lang="en-US" sz="2000" dirty="0"/>
          </a:p>
        </p:txBody>
      </p:sp>
      <p:sp>
        <p:nvSpPr>
          <p:cNvPr id="13" name="Text 11"/>
          <p:cNvSpPr txBox="1"/>
          <p:nvPr/>
        </p:nvSpPr>
        <p:spPr>
          <a:xfrm>
            <a:off x="1325880" y="2706624"/>
            <a:ext cx="6309360" cy="347472"/>
          </a:xfrm>
          <a:prstGeom prst="rect">
            <a:avLst/>
          </a:prstGeom>
          <a:noFill/>
          <a:ln/>
        </p:spPr>
        <p:txBody>
          <a:bodyPr wrap="square" lIns="0" tIns="0" rIns="0" bIns="0" rtlCol="0" anchor="ctr"/>
          <a:lstStyle/>
          <a:p>
            <a:pPr indent="0" marL="0">
              <a:buNone/>
            </a:pPr>
            <a:r>
              <a:rPr lang="en-US" sz="1250" b="1" dirty="0">
                <a:solidFill>
                  <a:srgbClr val="1C2B45"/>
                </a:solidFill>
                <a:latin typeface="Calibri" pitchFamily="34" charset="0"/>
                <a:ea typeface="Calibri" pitchFamily="34" charset="-122"/>
                <a:cs typeface="Calibri" pitchFamily="34" charset="-120"/>
              </a:rPr>
              <a:t>For affected respondents, the problem usually recurs</a:t>
            </a:r>
            <a:endParaRPr lang="en-US" sz="1250" dirty="0"/>
          </a:p>
        </p:txBody>
      </p:sp>
      <p:sp>
        <p:nvSpPr>
          <p:cNvPr id="14" name="Text 12"/>
          <p:cNvSpPr txBox="1"/>
          <p:nvPr/>
        </p:nvSpPr>
        <p:spPr>
          <a:xfrm>
            <a:off x="1325880" y="3035808"/>
            <a:ext cx="6309360" cy="347472"/>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23 of 28 issue cases said it had happened before.</a:t>
            </a:r>
            <a:endParaRPr lang="en-US" sz="1050" dirty="0"/>
          </a:p>
        </p:txBody>
      </p:sp>
      <p:sp>
        <p:nvSpPr>
          <p:cNvPr id="15" name="Shape 13"/>
          <p:cNvSpPr/>
          <p:nvPr/>
        </p:nvSpPr>
        <p:spPr>
          <a:xfrm>
            <a:off x="7909560" y="2889504"/>
            <a:ext cx="1088136" cy="292608"/>
          </a:xfrm>
          <a:prstGeom prst="roundRect">
            <a:avLst>
              <a:gd name="adj" fmla="val 18750"/>
            </a:avLst>
          </a:prstGeom>
          <a:solidFill>
            <a:srgbClr val="DDEAEC"/>
          </a:solidFill>
          <a:ln/>
        </p:spPr>
      </p:sp>
      <p:sp>
        <p:nvSpPr>
          <p:cNvPr id="16" name="Text 14"/>
          <p:cNvSpPr txBox="1"/>
          <p:nvPr/>
        </p:nvSpPr>
        <p:spPr>
          <a:xfrm>
            <a:off x="7909560" y="2889504"/>
            <a:ext cx="1088136" cy="292608"/>
          </a:xfrm>
          <a:prstGeom prst="rect">
            <a:avLst/>
          </a:prstGeom>
          <a:noFill/>
          <a:ln/>
        </p:spPr>
        <p:txBody>
          <a:bodyPr wrap="square" lIns="0" tIns="0" rIns="0" bIns="0" rtlCol="0" anchor="ctr"/>
          <a:lstStyle/>
          <a:p>
            <a:pPr algn="ctr" indent="0" marL="0">
              <a:buNone/>
            </a:pPr>
            <a:r>
              <a:rPr lang="en-US" sz="950" b="1" spc="50" kern="0" dirty="0">
                <a:solidFill>
                  <a:srgbClr val="3E7C86"/>
                </a:solidFill>
                <a:latin typeface="Calibri" pitchFamily="34" charset="0"/>
                <a:ea typeface="Calibri" pitchFamily="34" charset="-122"/>
                <a:cs typeface="Calibri" pitchFamily="34" charset="-120"/>
              </a:rPr>
              <a:t>STRONG</a:t>
            </a:r>
            <a:endParaRPr lang="en-US" sz="950" dirty="0"/>
          </a:p>
        </p:txBody>
      </p:sp>
      <p:sp>
        <p:nvSpPr>
          <p:cNvPr id="17" name="Shape 15"/>
          <p:cNvSpPr/>
          <p:nvPr/>
        </p:nvSpPr>
        <p:spPr>
          <a:xfrm>
            <a:off x="548640" y="3502152"/>
            <a:ext cx="10177272" cy="777240"/>
          </a:xfrm>
          <a:prstGeom prst="rect">
            <a:avLst/>
          </a:prstGeom>
          <a:solidFill>
            <a:srgbClr val="FFFFFF"/>
          </a:solidFill>
          <a:ln w="12700">
            <a:solidFill>
              <a:srgbClr val="D8DCE6"/>
            </a:solidFill>
            <a:prstDash val="solid"/>
          </a:ln>
        </p:spPr>
      </p:sp>
      <p:sp>
        <p:nvSpPr>
          <p:cNvPr id="18" name="Text 16"/>
          <p:cNvSpPr txBox="1"/>
          <p:nvPr/>
        </p:nvSpPr>
        <p:spPr>
          <a:xfrm>
            <a:off x="713232" y="3575304"/>
            <a:ext cx="502920" cy="594360"/>
          </a:xfrm>
          <a:prstGeom prst="rect">
            <a:avLst/>
          </a:prstGeom>
          <a:noFill/>
          <a:ln/>
        </p:spPr>
        <p:txBody>
          <a:bodyPr wrap="square" lIns="0" tIns="0" rIns="0" bIns="0" rtlCol="0" anchor="ctr"/>
          <a:lstStyle/>
          <a:p>
            <a:pPr indent="0" marL="0">
              <a:buNone/>
            </a:pPr>
            <a:r>
              <a:rPr lang="en-US" sz="2000" b="1" dirty="0">
                <a:solidFill>
                  <a:srgbClr val="C3C9D6"/>
                </a:solidFill>
                <a:latin typeface="Cambria" pitchFamily="34" charset="0"/>
                <a:ea typeface="Cambria" pitchFamily="34" charset="-122"/>
                <a:cs typeface="Cambria" pitchFamily="34" charset="-120"/>
              </a:rPr>
              <a:t>3</a:t>
            </a:r>
            <a:endParaRPr lang="en-US" sz="2000" dirty="0"/>
          </a:p>
        </p:txBody>
      </p:sp>
      <p:sp>
        <p:nvSpPr>
          <p:cNvPr id="19" name="Text 17"/>
          <p:cNvSpPr txBox="1"/>
          <p:nvPr/>
        </p:nvSpPr>
        <p:spPr>
          <a:xfrm>
            <a:off x="1325880" y="3566160"/>
            <a:ext cx="6309360" cy="347472"/>
          </a:xfrm>
          <a:prstGeom prst="rect">
            <a:avLst/>
          </a:prstGeom>
          <a:noFill/>
          <a:ln/>
        </p:spPr>
        <p:txBody>
          <a:bodyPr wrap="square" lIns="0" tIns="0" rIns="0" bIns="0" rtlCol="0" anchor="ctr"/>
          <a:lstStyle/>
          <a:p>
            <a:pPr indent="0" marL="0">
              <a:buNone/>
            </a:pPr>
            <a:r>
              <a:rPr lang="en-US" sz="1250" b="1" dirty="0">
                <a:solidFill>
                  <a:srgbClr val="1C2B45"/>
                </a:solidFill>
                <a:latin typeface="Calibri" pitchFamily="34" charset="0"/>
                <a:ea typeface="Calibri" pitchFamily="34" charset="-122"/>
                <a:cs typeface="Calibri" pitchFamily="34" charset="-120"/>
              </a:rPr>
              <a:t>Complex environments concentrate the problem</a:t>
            </a:r>
            <a:endParaRPr lang="en-US" sz="1250" dirty="0"/>
          </a:p>
        </p:txBody>
      </p:sp>
      <p:sp>
        <p:nvSpPr>
          <p:cNvPr id="20" name="Text 18"/>
          <p:cNvSpPr txBox="1"/>
          <p:nvPr/>
        </p:nvSpPr>
        <p:spPr>
          <a:xfrm>
            <a:off x="1325880" y="3895344"/>
            <a:ext cx="6309360" cy="347472"/>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Airport (10), residential (7), mall (6), office (6) mentions.</a:t>
            </a:r>
            <a:endParaRPr lang="en-US" sz="1050" dirty="0"/>
          </a:p>
        </p:txBody>
      </p:sp>
      <p:sp>
        <p:nvSpPr>
          <p:cNvPr id="21" name="Shape 19"/>
          <p:cNvSpPr/>
          <p:nvPr/>
        </p:nvSpPr>
        <p:spPr>
          <a:xfrm>
            <a:off x="7909560" y="3749040"/>
            <a:ext cx="1088136" cy="292608"/>
          </a:xfrm>
          <a:prstGeom prst="roundRect">
            <a:avLst>
              <a:gd name="adj" fmla="val 18750"/>
            </a:avLst>
          </a:prstGeom>
          <a:solidFill>
            <a:srgbClr val="DDEAEC"/>
          </a:solidFill>
          <a:ln/>
        </p:spPr>
      </p:sp>
      <p:sp>
        <p:nvSpPr>
          <p:cNvPr id="22" name="Text 20"/>
          <p:cNvSpPr txBox="1"/>
          <p:nvPr/>
        </p:nvSpPr>
        <p:spPr>
          <a:xfrm>
            <a:off x="7909560" y="3749040"/>
            <a:ext cx="1088136" cy="292608"/>
          </a:xfrm>
          <a:prstGeom prst="rect">
            <a:avLst/>
          </a:prstGeom>
          <a:noFill/>
          <a:ln/>
        </p:spPr>
        <p:txBody>
          <a:bodyPr wrap="square" lIns="0" tIns="0" rIns="0" bIns="0" rtlCol="0" anchor="ctr"/>
          <a:lstStyle/>
          <a:p>
            <a:pPr algn="ctr" indent="0" marL="0">
              <a:buNone/>
            </a:pPr>
            <a:r>
              <a:rPr lang="en-US" sz="950" b="1" spc="50" kern="0" dirty="0">
                <a:solidFill>
                  <a:srgbClr val="3E7C86"/>
                </a:solidFill>
                <a:latin typeface="Calibri" pitchFamily="34" charset="0"/>
                <a:ea typeface="Calibri" pitchFamily="34" charset="-122"/>
                <a:cs typeface="Calibri" pitchFamily="34" charset="-120"/>
              </a:rPr>
              <a:t>STRONG</a:t>
            </a:r>
            <a:endParaRPr lang="en-US" sz="950" dirty="0"/>
          </a:p>
        </p:txBody>
      </p:sp>
      <p:sp>
        <p:nvSpPr>
          <p:cNvPr id="23" name="Shape 21"/>
          <p:cNvSpPr/>
          <p:nvPr/>
        </p:nvSpPr>
        <p:spPr>
          <a:xfrm>
            <a:off x="548640" y="4361688"/>
            <a:ext cx="10177272" cy="777240"/>
          </a:xfrm>
          <a:prstGeom prst="rect">
            <a:avLst/>
          </a:prstGeom>
          <a:solidFill>
            <a:srgbClr val="FFFFFF"/>
          </a:solidFill>
          <a:ln w="12700">
            <a:solidFill>
              <a:srgbClr val="D8DCE6"/>
            </a:solidFill>
            <a:prstDash val="solid"/>
          </a:ln>
        </p:spPr>
      </p:sp>
      <p:sp>
        <p:nvSpPr>
          <p:cNvPr id="24" name="Text 22"/>
          <p:cNvSpPr txBox="1"/>
          <p:nvPr/>
        </p:nvSpPr>
        <p:spPr>
          <a:xfrm>
            <a:off x="713232" y="4434840"/>
            <a:ext cx="502920" cy="594360"/>
          </a:xfrm>
          <a:prstGeom prst="rect">
            <a:avLst/>
          </a:prstGeom>
          <a:noFill/>
          <a:ln/>
        </p:spPr>
        <p:txBody>
          <a:bodyPr wrap="square" lIns="0" tIns="0" rIns="0" bIns="0" rtlCol="0" anchor="ctr"/>
          <a:lstStyle/>
          <a:p>
            <a:pPr indent="0" marL="0">
              <a:buNone/>
            </a:pPr>
            <a:r>
              <a:rPr lang="en-US" sz="2000" b="1" dirty="0">
                <a:solidFill>
                  <a:srgbClr val="C3C9D6"/>
                </a:solidFill>
                <a:latin typeface="Cambria" pitchFamily="34" charset="0"/>
                <a:ea typeface="Cambria" pitchFamily="34" charset="-122"/>
                <a:cs typeface="Cambria" pitchFamily="34" charset="-120"/>
              </a:rPr>
              <a:t>4</a:t>
            </a:r>
            <a:endParaRPr lang="en-US" sz="2000" dirty="0"/>
          </a:p>
        </p:txBody>
      </p:sp>
      <p:sp>
        <p:nvSpPr>
          <p:cNvPr id="25" name="Text 23"/>
          <p:cNvSpPr txBox="1"/>
          <p:nvPr/>
        </p:nvSpPr>
        <p:spPr>
          <a:xfrm>
            <a:off x="1325880" y="4425696"/>
            <a:ext cx="6309360" cy="347472"/>
          </a:xfrm>
          <a:prstGeom prst="rect">
            <a:avLst/>
          </a:prstGeom>
          <a:noFill/>
          <a:ln/>
        </p:spPr>
        <p:txBody>
          <a:bodyPr wrap="square" lIns="0" tIns="0" rIns="0" bIns="0" rtlCol="0" anchor="ctr"/>
          <a:lstStyle/>
          <a:p>
            <a:pPr indent="0" marL="0">
              <a:buNone/>
            </a:pPr>
            <a:r>
              <a:rPr lang="en-US" sz="1250" b="1" dirty="0">
                <a:solidFill>
                  <a:srgbClr val="1C2B45"/>
                </a:solidFill>
                <a:latin typeface="Calibri" pitchFamily="34" charset="0"/>
                <a:ea typeface="Calibri" pitchFamily="34" charset="-122"/>
                <a:cs typeface="Calibri" pitchFamily="34" charset="-120"/>
              </a:rPr>
              <a:t>“Driver arrived” doesn't mean they can meet</a:t>
            </a:r>
            <a:endParaRPr lang="en-US" sz="1250" dirty="0"/>
          </a:p>
        </p:txBody>
      </p:sp>
      <p:sp>
        <p:nvSpPr>
          <p:cNvPr id="26" name="Text 24"/>
          <p:cNvSpPr txBox="1"/>
          <p:nvPr/>
        </p:nvSpPr>
        <p:spPr>
          <a:xfrm>
            <a:off x="1325880" y="4754880"/>
            <a:ext cx="6309360" cy="347472"/>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R067: ~10 minutes to locate each other after “arrived.”</a:t>
            </a:r>
            <a:endParaRPr lang="en-US" sz="1050" dirty="0"/>
          </a:p>
        </p:txBody>
      </p:sp>
      <p:sp>
        <p:nvSpPr>
          <p:cNvPr id="27" name="Shape 25"/>
          <p:cNvSpPr/>
          <p:nvPr/>
        </p:nvSpPr>
        <p:spPr>
          <a:xfrm>
            <a:off x="7909560" y="4608576"/>
            <a:ext cx="1344168" cy="292608"/>
          </a:xfrm>
          <a:prstGeom prst="roundRect">
            <a:avLst>
              <a:gd name="adj" fmla="val 18750"/>
            </a:avLst>
          </a:prstGeom>
          <a:solidFill>
            <a:srgbClr val="F7E4D2"/>
          </a:solidFill>
          <a:ln/>
        </p:spPr>
      </p:sp>
      <p:sp>
        <p:nvSpPr>
          <p:cNvPr id="28" name="Text 26"/>
          <p:cNvSpPr txBox="1"/>
          <p:nvPr/>
        </p:nvSpPr>
        <p:spPr>
          <a:xfrm>
            <a:off x="7909560" y="4608576"/>
            <a:ext cx="1344168" cy="292608"/>
          </a:xfrm>
          <a:prstGeom prst="rect">
            <a:avLst/>
          </a:prstGeom>
          <a:noFill/>
          <a:ln/>
        </p:spPr>
        <p:txBody>
          <a:bodyPr wrap="square" lIns="0" tIns="0" rIns="0" bIns="0" rtlCol="0" anchor="ctr"/>
          <a:lstStyle/>
          <a:p>
            <a:pPr algn="ctr" indent="0" marL="0">
              <a:buNone/>
            </a:pPr>
            <a:r>
              <a:rPr lang="en-US" sz="950" b="1" spc="50" kern="0" dirty="0">
                <a:solidFill>
                  <a:srgbClr val="D9762E"/>
                </a:solidFill>
                <a:latin typeface="Calibri" pitchFamily="34" charset="0"/>
                <a:ea typeface="Calibri" pitchFamily="34" charset="-122"/>
                <a:cs typeface="Calibri" pitchFamily="34" charset="-120"/>
              </a:rPr>
              <a:t>MODERATE</a:t>
            </a:r>
            <a:endParaRPr lang="en-US" sz="950" dirty="0"/>
          </a:p>
        </p:txBody>
      </p:sp>
      <p:sp>
        <p:nvSpPr>
          <p:cNvPr id="29" name="Shape 27"/>
          <p:cNvSpPr/>
          <p:nvPr/>
        </p:nvSpPr>
        <p:spPr>
          <a:xfrm>
            <a:off x="548640" y="5221224"/>
            <a:ext cx="10177272" cy="777240"/>
          </a:xfrm>
          <a:prstGeom prst="rect">
            <a:avLst/>
          </a:prstGeom>
          <a:solidFill>
            <a:srgbClr val="FFFFFF"/>
          </a:solidFill>
          <a:ln w="12700">
            <a:solidFill>
              <a:srgbClr val="D8DCE6"/>
            </a:solidFill>
            <a:prstDash val="solid"/>
          </a:ln>
        </p:spPr>
      </p:sp>
      <p:sp>
        <p:nvSpPr>
          <p:cNvPr id="30" name="Text 28"/>
          <p:cNvSpPr txBox="1"/>
          <p:nvPr/>
        </p:nvSpPr>
        <p:spPr>
          <a:xfrm>
            <a:off x="713232" y="5294376"/>
            <a:ext cx="502920" cy="594360"/>
          </a:xfrm>
          <a:prstGeom prst="rect">
            <a:avLst/>
          </a:prstGeom>
          <a:noFill/>
          <a:ln/>
        </p:spPr>
        <p:txBody>
          <a:bodyPr wrap="square" lIns="0" tIns="0" rIns="0" bIns="0" rtlCol="0" anchor="ctr"/>
          <a:lstStyle/>
          <a:p>
            <a:pPr indent="0" marL="0">
              <a:buNone/>
            </a:pPr>
            <a:r>
              <a:rPr lang="en-US" sz="2000" b="1" dirty="0">
                <a:solidFill>
                  <a:srgbClr val="C3C9D6"/>
                </a:solidFill>
                <a:latin typeface="Cambria" pitchFamily="34" charset="0"/>
                <a:ea typeface="Cambria" pitchFamily="34" charset="-122"/>
                <a:cs typeface="Cambria" pitchFamily="34" charset="-120"/>
              </a:rPr>
              <a:t>5</a:t>
            </a:r>
            <a:endParaRPr lang="en-US" sz="2000" dirty="0"/>
          </a:p>
        </p:txBody>
      </p:sp>
      <p:sp>
        <p:nvSpPr>
          <p:cNvPr id="31" name="Text 29"/>
          <p:cNvSpPr txBox="1"/>
          <p:nvPr/>
        </p:nvSpPr>
        <p:spPr>
          <a:xfrm>
            <a:off x="1325880" y="5285232"/>
            <a:ext cx="6309360" cy="347472"/>
          </a:xfrm>
          <a:prstGeom prst="rect">
            <a:avLst/>
          </a:prstGeom>
          <a:noFill/>
          <a:ln/>
        </p:spPr>
        <p:txBody>
          <a:bodyPr wrap="square" lIns="0" tIns="0" rIns="0" bIns="0" rtlCol="0" anchor="ctr"/>
          <a:lstStyle/>
          <a:p>
            <a:pPr indent="0" marL="0">
              <a:buNone/>
            </a:pPr>
            <a:r>
              <a:rPr lang="en-US" sz="1250" b="1" dirty="0">
                <a:solidFill>
                  <a:srgbClr val="1C2B45"/>
                </a:solidFill>
                <a:latin typeface="Calibri" pitchFamily="34" charset="0"/>
                <a:ea typeface="Calibri" pitchFamily="34" charset="-122"/>
                <a:cs typeface="Calibri" pitchFamily="34" charset="-120"/>
              </a:rPr>
              <a:t>Calling and messaging are the main recovery layer</a:t>
            </a:r>
            <a:endParaRPr lang="en-US" sz="1250" dirty="0"/>
          </a:p>
        </p:txBody>
      </p:sp>
      <p:sp>
        <p:nvSpPr>
          <p:cNvPr id="32" name="Text 30"/>
          <p:cNvSpPr txBox="1"/>
          <p:nvPr/>
        </p:nvSpPr>
        <p:spPr>
          <a:xfrm>
            <a:off x="1325880" y="5614416"/>
            <a:ext cx="6309360" cy="347472"/>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Helped in 20 of 28 issue cases; called in 17.</a:t>
            </a:r>
            <a:endParaRPr lang="en-US" sz="1050" dirty="0"/>
          </a:p>
        </p:txBody>
      </p:sp>
      <p:sp>
        <p:nvSpPr>
          <p:cNvPr id="33" name="Shape 31"/>
          <p:cNvSpPr/>
          <p:nvPr/>
        </p:nvSpPr>
        <p:spPr>
          <a:xfrm>
            <a:off x="7909560" y="5468112"/>
            <a:ext cx="1088136" cy="292608"/>
          </a:xfrm>
          <a:prstGeom prst="roundRect">
            <a:avLst>
              <a:gd name="adj" fmla="val 18750"/>
            </a:avLst>
          </a:prstGeom>
          <a:solidFill>
            <a:srgbClr val="DDEAEC"/>
          </a:solidFill>
          <a:ln/>
        </p:spPr>
      </p:sp>
      <p:sp>
        <p:nvSpPr>
          <p:cNvPr id="34" name="Text 32"/>
          <p:cNvSpPr txBox="1"/>
          <p:nvPr/>
        </p:nvSpPr>
        <p:spPr>
          <a:xfrm>
            <a:off x="7909560" y="5468112"/>
            <a:ext cx="1088136" cy="292608"/>
          </a:xfrm>
          <a:prstGeom prst="rect">
            <a:avLst/>
          </a:prstGeom>
          <a:noFill/>
          <a:ln/>
        </p:spPr>
        <p:txBody>
          <a:bodyPr wrap="square" lIns="0" tIns="0" rIns="0" bIns="0" rtlCol="0" anchor="ctr"/>
          <a:lstStyle/>
          <a:p>
            <a:pPr algn="ctr" indent="0" marL="0">
              <a:buNone/>
            </a:pPr>
            <a:r>
              <a:rPr lang="en-US" sz="950" b="1" spc="50" kern="0" dirty="0">
                <a:solidFill>
                  <a:srgbClr val="3E7C86"/>
                </a:solidFill>
                <a:latin typeface="Calibri" pitchFamily="34" charset="0"/>
                <a:ea typeface="Calibri" pitchFamily="34" charset="-122"/>
                <a:cs typeface="Calibri" pitchFamily="34" charset="-120"/>
              </a:rPr>
              <a:t>STRONG</a:t>
            </a:r>
            <a:endParaRPr lang="en-US" sz="950" dirty="0"/>
          </a:p>
        </p:txBody>
      </p:sp>
      <p:sp>
        <p:nvSpPr>
          <p:cNvPr id="35" name="Text 3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Find My Ride — Appendix</a:t>
            </a:r>
            <a:endParaRPr lang="en-US" sz="900" dirty="0"/>
          </a:p>
        </p:txBody>
      </p:sp>
      <p:sp>
        <p:nvSpPr>
          <p:cNvPr id="36" name="Text 3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FF3"/>
          </a:solidFill>
          <a:ln/>
        </p:spPr>
      </p:sp>
      <p:sp>
        <p:nvSpPr>
          <p:cNvPr id="3" name="Text 1"/>
          <p:cNvSpPr txBox="1"/>
          <p:nvPr/>
        </p:nvSpPr>
        <p:spPr>
          <a:xfrm>
            <a:off x="548640" y="50292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APPENDIX · TOP 10 INSIGHTS (6–10 OF 10)</a:t>
            </a:r>
            <a:endParaRPr lang="en-US" sz="1200" dirty="0"/>
          </a:p>
        </p:txBody>
      </p:sp>
      <p:sp>
        <p:nvSpPr>
          <p:cNvPr id="4" name="Text 2"/>
          <p:cNvSpPr txBox="1"/>
          <p:nvPr/>
        </p:nvSpPr>
        <p:spPr>
          <a:xfrm>
            <a:off x="548640" y="822960"/>
            <a:ext cx="10881360" cy="822960"/>
          </a:xfrm>
          <a:prstGeom prst="rect">
            <a:avLst/>
          </a:prstGeom>
          <a:noFill/>
          <a:ln/>
        </p:spPr>
        <p:txBody>
          <a:bodyPr wrap="square" lIns="0" tIns="0" rIns="0" bIns="0" rtlCol="0" anchor="ctr"/>
          <a:lstStyle/>
          <a:p>
            <a:pPr indent="0" marL="0">
              <a:buNone/>
            </a:pPr>
            <a:r>
              <a:rPr lang="en-US" sz="2500" b="1" dirty="0">
                <a:solidFill>
                  <a:srgbClr val="1C2B45"/>
                </a:solidFill>
                <a:latin typeface="Cambria" pitchFamily="34" charset="0"/>
                <a:ea typeface="Cambria" pitchFamily="34" charset="-122"/>
                <a:cs typeface="Cambria" pitchFamily="34" charset="-120"/>
              </a:rPr>
              <a:t>Every insight this story is built on</a:t>
            </a:r>
            <a:endParaRPr lang="en-US" sz="2500" dirty="0"/>
          </a:p>
        </p:txBody>
      </p:sp>
      <p:sp>
        <p:nvSpPr>
          <p:cNvPr id="5" name="Shape 3"/>
          <p:cNvSpPr/>
          <p:nvPr/>
        </p:nvSpPr>
        <p:spPr>
          <a:xfrm>
            <a:off x="548640" y="1783080"/>
            <a:ext cx="10177272" cy="777240"/>
          </a:xfrm>
          <a:prstGeom prst="rect">
            <a:avLst/>
          </a:prstGeom>
          <a:solidFill>
            <a:srgbClr val="FFFFFF"/>
          </a:solidFill>
          <a:ln w="12700">
            <a:solidFill>
              <a:srgbClr val="D8DCE6"/>
            </a:solidFill>
            <a:prstDash val="solid"/>
          </a:ln>
        </p:spPr>
      </p:sp>
      <p:sp>
        <p:nvSpPr>
          <p:cNvPr id="6" name="Text 4"/>
          <p:cNvSpPr txBox="1"/>
          <p:nvPr/>
        </p:nvSpPr>
        <p:spPr>
          <a:xfrm>
            <a:off x="713232" y="1856232"/>
            <a:ext cx="502920" cy="594360"/>
          </a:xfrm>
          <a:prstGeom prst="rect">
            <a:avLst/>
          </a:prstGeom>
          <a:noFill/>
          <a:ln/>
        </p:spPr>
        <p:txBody>
          <a:bodyPr wrap="square" lIns="0" tIns="0" rIns="0" bIns="0" rtlCol="0" anchor="ctr"/>
          <a:lstStyle/>
          <a:p>
            <a:pPr indent="0" marL="0">
              <a:buNone/>
            </a:pPr>
            <a:r>
              <a:rPr lang="en-US" sz="2000" b="1" dirty="0">
                <a:solidFill>
                  <a:srgbClr val="C3C9D6"/>
                </a:solidFill>
                <a:latin typeface="Cambria" pitchFamily="34" charset="0"/>
                <a:ea typeface="Cambria" pitchFamily="34" charset="-122"/>
                <a:cs typeface="Cambria" pitchFamily="34" charset="-120"/>
              </a:rPr>
              <a:t>6</a:t>
            </a:r>
            <a:endParaRPr lang="en-US" sz="2000" dirty="0"/>
          </a:p>
        </p:txBody>
      </p:sp>
      <p:sp>
        <p:nvSpPr>
          <p:cNvPr id="7" name="Text 5"/>
          <p:cNvSpPr txBox="1"/>
          <p:nvPr/>
        </p:nvSpPr>
        <p:spPr>
          <a:xfrm>
            <a:off x="1325880" y="1847088"/>
            <a:ext cx="6309360" cy="347472"/>
          </a:xfrm>
          <a:prstGeom prst="rect">
            <a:avLst/>
          </a:prstGeom>
          <a:noFill/>
          <a:ln/>
        </p:spPr>
        <p:txBody>
          <a:bodyPr wrap="square" lIns="0" tIns="0" rIns="0" bIns="0" rtlCol="0" anchor="ctr"/>
          <a:lstStyle/>
          <a:p>
            <a:pPr indent="0" marL="0">
              <a:buNone/>
            </a:pPr>
            <a:r>
              <a:rPr lang="en-US" sz="1250" b="1" dirty="0">
                <a:solidFill>
                  <a:srgbClr val="1C2B45"/>
                </a:solidFill>
                <a:latin typeface="Calibri" pitchFamily="34" charset="0"/>
                <a:ea typeface="Calibri" pitchFamily="34" charset="-122"/>
                <a:cs typeface="Calibri" pitchFamily="34" charset="-120"/>
              </a:rPr>
              <a:t>The rider usually absorbs the recovery effort</a:t>
            </a:r>
            <a:endParaRPr lang="en-US" sz="1250" dirty="0"/>
          </a:p>
        </p:txBody>
      </p:sp>
      <p:sp>
        <p:nvSpPr>
          <p:cNvPr id="8" name="Text 6"/>
          <p:cNvSpPr txBox="1"/>
          <p:nvPr/>
        </p:nvSpPr>
        <p:spPr>
          <a:xfrm>
            <a:off x="1325880" y="2176272"/>
            <a:ext cx="6309360" cy="347472"/>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9 waited, 8 moved position; only 3 said driver moved closer helped.</a:t>
            </a:r>
            <a:endParaRPr lang="en-US" sz="1050" dirty="0"/>
          </a:p>
        </p:txBody>
      </p:sp>
      <p:sp>
        <p:nvSpPr>
          <p:cNvPr id="9" name="Shape 7"/>
          <p:cNvSpPr/>
          <p:nvPr/>
        </p:nvSpPr>
        <p:spPr>
          <a:xfrm>
            <a:off x="7909560" y="2029968"/>
            <a:ext cx="1344168" cy="292608"/>
          </a:xfrm>
          <a:prstGeom prst="roundRect">
            <a:avLst>
              <a:gd name="adj" fmla="val 18750"/>
            </a:avLst>
          </a:prstGeom>
          <a:solidFill>
            <a:srgbClr val="F7E4D2"/>
          </a:solidFill>
          <a:ln/>
        </p:spPr>
      </p:sp>
      <p:sp>
        <p:nvSpPr>
          <p:cNvPr id="10" name="Text 8"/>
          <p:cNvSpPr txBox="1"/>
          <p:nvPr/>
        </p:nvSpPr>
        <p:spPr>
          <a:xfrm>
            <a:off x="7909560" y="2029968"/>
            <a:ext cx="1344168" cy="292608"/>
          </a:xfrm>
          <a:prstGeom prst="rect">
            <a:avLst/>
          </a:prstGeom>
          <a:noFill/>
          <a:ln/>
        </p:spPr>
        <p:txBody>
          <a:bodyPr wrap="square" lIns="0" tIns="0" rIns="0" bIns="0" rtlCol="0" anchor="ctr"/>
          <a:lstStyle/>
          <a:p>
            <a:pPr algn="ctr" indent="0" marL="0">
              <a:buNone/>
            </a:pPr>
            <a:r>
              <a:rPr lang="en-US" sz="950" b="1" spc="50" kern="0" dirty="0">
                <a:solidFill>
                  <a:srgbClr val="D9762E"/>
                </a:solidFill>
                <a:latin typeface="Calibri" pitchFamily="34" charset="0"/>
                <a:ea typeface="Calibri" pitchFamily="34" charset="-122"/>
                <a:cs typeface="Calibri" pitchFamily="34" charset="-120"/>
              </a:rPr>
              <a:t>MODERATE</a:t>
            </a:r>
            <a:endParaRPr lang="en-US" sz="950" dirty="0"/>
          </a:p>
        </p:txBody>
      </p:sp>
      <p:sp>
        <p:nvSpPr>
          <p:cNvPr id="11" name="Shape 9"/>
          <p:cNvSpPr/>
          <p:nvPr/>
        </p:nvSpPr>
        <p:spPr>
          <a:xfrm>
            <a:off x="548640" y="2642616"/>
            <a:ext cx="10177272" cy="777240"/>
          </a:xfrm>
          <a:prstGeom prst="rect">
            <a:avLst/>
          </a:prstGeom>
          <a:solidFill>
            <a:srgbClr val="FFFFFF"/>
          </a:solidFill>
          <a:ln w="12700">
            <a:solidFill>
              <a:srgbClr val="D8DCE6"/>
            </a:solidFill>
            <a:prstDash val="solid"/>
          </a:ln>
        </p:spPr>
      </p:sp>
      <p:sp>
        <p:nvSpPr>
          <p:cNvPr id="12" name="Text 10"/>
          <p:cNvSpPr txBox="1"/>
          <p:nvPr/>
        </p:nvSpPr>
        <p:spPr>
          <a:xfrm>
            <a:off x="713232" y="2715768"/>
            <a:ext cx="502920" cy="594360"/>
          </a:xfrm>
          <a:prstGeom prst="rect">
            <a:avLst/>
          </a:prstGeom>
          <a:noFill/>
          <a:ln/>
        </p:spPr>
        <p:txBody>
          <a:bodyPr wrap="square" lIns="0" tIns="0" rIns="0" bIns="0" rtlCol="0" anchor="ctr"/>
          <a:lstStyle/>
          <a:p>
            <a:pPr indent="0" marL="0">
              <a:buNone/>
            </a:pPr>
            <a:r>
              <a:rPr lang="en-US" sz="2000" b="1" dirty="0">
                <a:solidFill>
                  <a:srgbClr val="C3C9D6"/>
                </a:solidFill>
                <a:latin typeface="Cambria" pitchFamily="34" charset="0"/>
                <a:ea typeface="Cambria" pitchFamily="34" charset="-122"/>
                <a:cs typeface="Cambria" pitchFamily="34" charset="-120"/>
              </a:rPr>
              <a:t>7</a:t>
            </a:r>
            <a:endParaRPr lang="en-US" sz="2000" dirty="0"/>
          </a:p>
        </p:txBody>
      </p:sp>
      <p:sp>
        <p:nvSpPr>
          <p:cNvPr id="13" name="Text 11"/>
          <p:cNvSpPr txBox="1"/>
          <p:nvPr/>
        </p:nvSpPr>
        <p:spPr>
          <a:xfrm>
            <a:off x="1325880" y="2706624"/>
            <a:ext cx="6309360" cy="347472"/>
          </a:xfrm>
          <a:prstGeom prst="rect">
            <a:avLst/>
          </a:prstGeom>
          <a:noFill/>
          <a:ln/>
        </p:spPr>
        <p:txBody>
          <a:bodyPr wrap="square" lIns="0" tIns="0" rIns="0" bIns="0" rtlCol="0" anchor="ctr"/>
          <a:lstStyle/>
          <a:p>
            <a:pPr indent="0" marL="0">
              <a:buNone/>
            </a:pPr>
            <a:r>
              <a:rPr lang="en-US" sz="1250" b="1" dirty="0">
                <a:solidFill>
                  <a:srgbClr val="1C2B45"/>
                </a:solidFill>
                <a:latin typeface="Calibri" pitchFamily="34" charset="0"/>
                <a:ea typeface="Calibri" pitchFamily="34" charset="-122"/>
                <a:cs typeface="Calibri" pitchFamily="34" charset="-120"/>
              </a:rPr>
              <a:t>Pickup failures can create material delay</a:t>
            </a:r>
            <a:endParaRPr lang="en-US" sz="1250" dirty="0"/>
          </a:p>
        </p:txBody>
      </p:sp>
      <p:sp>
        <p:nvSpPr>
          <p:cNvPr id="14" name="Text 12"/>
          <p:cNvSpPr txBox="1"/>
          <p:nvPr/>
        </p:nvSpPr>
        <p:spPr>
          <a:xfrm>
            <a:off x="1325880" y="3035808"/>
            <a:ext cx="6309360" cy="347472"/>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7 of 10 time-tagged records: more than 5 extra minutes.</a:t>
            </a:r>
            <a:endParaRPr lang="en-US" sz="1050" dirty="0"/>
          </a:p>
        </p:txBody>
      </p:sp>
      <p:sp>
        <p:nvSpPr>
          <p:cNvPr id="15" name="Shape 13"/>
          <p:cNvSpPr/>
          <p:nvPr/>
        </p:nvSpPr>
        <p:spPr>
          <a:xfrm>
            <a:off x="7909560" y="2889504"/>
            <a:ext cx="1344168" cy="292608"/>
          </a:xfrm>
          <a:prstGeom prst="roundRect">
            <a:avLst>
              <a:gd name="adj" fmla="val 18750"/>
            </a:avLst>
          </a:prstGeom>
          <a:solidFill>
            <a:srgbClr val="F7E4D2"/>
          </a:solidFill>
          <a:ln/>
        </p:spPr>
      </p:sp>
      <p:sp>
        <p:nvSpPr>
          <p:cNvPr id="16" name="Text 14"/>
          <p:cNvSpPr txBox="1"/>
          <p:nvPr/>
        </p:nvSpPr>
        <p:spPr>
          <a:xfrm>
            <a:off x="7909560" y="2889504"/>
            <a:ext cx="1344168" cy="292608"/>
          </a:xfrm>
          <a:prstGeom prst="rect">
            <a:avLst/>
          </a:prstGeom>
          <a:noFill/>
          <a:ln/>
        </p:spPr>
        <p:txBody>
          <a:bodyPr wrap="square" lIns="0" tIns="0" rIns="0" bIns="0" rtlCol="0" anchor="ctr"/>
          <a:lstStyle/>
          <a:p>
            <a:pPr algn="ctr" indent="0" marL="0">
              <a:buNone/>
            </a:pPr>
            <a:r>
              <a:rPr lang="en-US" sz="950" b="1" spc="50" kern="0" dirty="0">
                <a:solidFill>
                  <a:srgbClr val="D9762E"/>
                </a:solidFill>
                <a:latin typeface="Calibri" pitchFamily="34" charset="0"/>
                <a:ea typeface="Calibri" pitchFamily="34" charset="-122"/>
                <a:cs typeface="Calibri" pitchFamily="34" charset="-120"/>
              </a:rPr>
              <a:t>MODERATE</a:t>
            </a:r>
            <a:endParaRPr lang="en-US" sz="950" dirty="0"/>
          </a:p>
        </p:txBody>
      </p:sp>
      <p:sp>
        <p:nvSpPr>
          <p:cNvPr id="17" name="Shape 15"/>
          <p:cNvSpPr/>
          <p:nvPr/>
        </p:nvSpPr>
        <p:spPr>
          <a:xfrm>
            <a:off x="548640" y="3502152"/>
            <a:ext cx="10177272" cy="777240"/>
          </a:xfrm>
          <a:prstGeom prst="rect">
            <a:avLst/>
          </a:prstGeom>
          <a:solidFill>
            <a:srgbClr val="FFFFFF"/>
          </a:solidFill>
          <a:ln w="12700">
            <a:solidFill>
              <a:srgbClr val="D8DCE6"/>
            </a:solidFill>
            <a:prstDash val="solid"/>
          </a:ln>
        </p:spPr>
      </p:sp>
      <p:sp>
        <p:nvSpPr>
          <p:cNvPr id="18" name="Text 16"/>
          <p:cNvSpPr txBox="1"/>
          <p:nvPr/>
        </p:nvSpPr>
        <p:spPr>
          <a:xfrm>
            <a:off x="713232" y="3575304"/>
            <a:ext cx="502920" cy="594360"/>
          </a:xfrm>
          <a:prstGeom prst="rect">
            <a:avLst/>
          </a:prstGeom>
          <a:noFill/>
          <a:ln/>
        </p:spPr>
        <p:txBody>
          <a:bodyPr wrap="square" lIns="0" tIns="0" rIns="0" bIns="0" rtlCol="0" anchor="ctr"/>
          <a:lstStyle/>
          <a:p>
            <a:pPr indent="0" marL="0">
              <a:buNone/>
            </a:pPr>
            <a:r>
              <a:rPr lang="en-US" sz="2000" b="1" dirty="0">
                <a:solidFill>
                  <a:srgbClr val="C3C9D6"/>
                </a:solidFill>
                <a:latin typeface="Cambria" pitchFamily="34" charset="0"/>
                <a:ea typeface="Cambria" pitchFamily="34" charset="-122"/>
                <a:cs typeface="Cambria" pitchFamily="34" charset="-120"/>
              </a:rPr>
              <a:t>8</a:t>
            </a:r>
            <a:endParaRPr lang="en-US" sz="2000" dirty="0"/>
          </a:p>
        </p:txBody>
      </p:sp>
      <p:sp>
        <p:nvSpPr>
          <p:cNvPr id="19" name="Text 17"/>
          <p:cNvSpPr txBox="1"/>
          <p:nvPr/>
        </p:nvSpPr>
        <p:spPr>
          <a:xfrm>
            <a:off x="1325880" y="3566160"/>
            <a:ext cx="6309360" cy="347472"/>
          </a:xfrm>
          <a:prstGeom prst="rect">
            <a:avLst/>
          </a:prstGeom>
          <a:noFill/>
          <a:ln/>
        </p:spPr>
        <p:txBody>
          <a:bodyPr wrap="square" lIns="0" tIns="0" rIns="0" bIns="0" rtlCol="0" anchor="ctr"/>
          <a:lstStyle/>
          <a:p>
            <a:pPr indent="0" marL="0">
              <a:buNone/>
            </a:pPr>
            <a:r>
              <a:rPr lang="en-US" sz="1250" b="1" dirty="0">
                <a:solidFill>
                  <a:srgbClr val="1C2B45"/>
                </a:solidFill>
                <a:latin typeface="Calibri" pitchFamily="34" charset="0"/>
                <a:ea typeface="Calibri" pitchFamily="34" charset="-122"/>
                <a:cs typeface="Calibri" pitchFamily="34" charset="-120"/>
              </a:rPr>
              <a:t>Cancellation is related, but not always caused by location</a:t>
            </a:r>
            <a:endParaRPr lang="en-US" sz="1250" dirty="0"/>
          </a:p>
        </p:txBody>
      </p:sp>
      <p:sp>
        <p:nvSpPr>
          <p:cNvPr id="20" name="Text 18"/>
          <p:cNvSpPr txBox="1"/>
          <p:nvPr/>
        </p:nvSpPr>
        <p:spPr>
          <a:xfrm>
            <a:off x="1325880" y="3895344"/>
            <a:ext cx="6309360" cy="347472"/>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Destination, fare, payment mode, rain also implicated.</a:t>
            </a:r>
            <a:endParaRPr lang="en-US" sz="1050" dirty="0"/>
          </a:p>
        </p:txBody>
      </p:sp>
      <p:sp>
        <p:nvSpPr>
          <p:cNvPr id="21" name="Shape 19"/>
          <p:cNvSpPr/>
          <p:nvPr/>
        </p:nvSpPr>
        <p:spPr>
          <a:xfrm>
            <a:off x="7909560" y="3749040"/>
            <a:ext cx="1344168" cy="292608"/>
          </a:xfrm>
          <a:prstGeom prst="roundRect">
            <a:avLst>
              <a:gd name="adj" fmla="val 18750"/>
            </a:avLst>
          </a:prstGeom>
          <a:solidFill>
            <a:srgbClr val="F7E4D2"/>
          </a:solidFill>
          <a:ln/>
        </p:spPr>
      </p:sp>
      <p:sp>
        <p:nvSpPr>
          <p:cNvPr id="22" name="Text 20"/>
          <p:cNvSpPr txBox="1"/>
          <p:nvPr/>
        </p:nvSpPr>
        <p:spPr>
          <a:xfrm>
            <a:off x="7909560" y="3749040"/>
            <a:ext cx="1344168" cy="292608"/>
          </a:xfrm>
          <a:prstGeom prst="rect">
            <a:avLst/>
          </a:prstGeom>
          <a:noFill/>
          <a:ln/>
        </p:spPr>
        <p:txBody>
          <a:bodyPr wrap="square" lIns="0" tIns="0" rIns="0" bIns="0" rtlCol="0" anchor="ctr"/>
          <a:lstStyle/>
          <a:p>
            <a:pPr algn="ctr" indent="0" marL="0">
              <a:buNone/>
            </a:pPr>
            <a:r>
              <a:rPr lang="en-US" sz="950" b="1" spc="50" kern="0" dirty="0">
                <a:solidFill>
                  <a:srgbClr val="D9762E"/>
                </a:solidFill>
                <a:latin typeface="Calibri" pitchFamily="34" charset="0"/>
                <a:ea typeface="Calibri" pitchFamily="34" charset="-122"/>
                <a:cs typeface="Calibri" pitchFamily="34" charset="-120"/>
              </a:rPr>
              <a:t>MODERATE</a:t>
            </a:r>
            <a:endParaRPr lang="en-US" sz="950" dirty="0"/>
          </a:p>
        </p:txBody>
      </p:sp>
      <p:sp>
        <p:nvSpPr>
          <p:cNvPr id="23" name="Shape 21"/>
          <p:cNvSpPr/>
          <p:nvPr/>
        </p:nvSpPr>
        <p:spPr>
          <a:xfrm>
            <a:off x="548640" y="4361688"/>
            <a:ext cx="10177272" cy="777240"/>
          </a:xfrm>
          <a:prstGeom prst="rect">
            <a:avLst/>
          </a:prstGeom>
          <a:solidFill>
            <a:srgbClr val="FFFFFF"/>
          </a:solidFill>
          <a:ln w="12700">
            <a:solidFill>
              <a:srgbClr val="D8DCE6"/>
            </a:solidFill>
            <a:prstDash val="solid"/>
          </a:ln>
        </p:spPr>
      </p:sp>
      <p:sp>
        <p:nvSpPr>
          <p:cNvPr id="24" name="Text 22"/>
          <p:cNvSpPr txBox="1"/>
          <p:nvPr/>
        </p:nvSpPr>
        <p:spPr>
          <a:xfrm>
            <a:off x="713232" y="4434840"/>
            <a:ext cx="502920" cy="594360"/>
          </a:xfrm>
          <a:prstGeom prst="rect">
            <a:avLst/>
          </a:prstGeom>
          <a:noFill/>
          <a:ln/>
        </p:spPr>
        <p:txBody>
          <a:bodyPr wrap="square" lIns="0" tIns="0" rIns="0" bIns="0" rtlCol="0" anchor="ctr"/>
          <a:lstStyle/>
          <a:p>
            <a:pPr indent="0" marL="0">
              <a:buNone/>
            </a:pPr>
            <a:r>
              <a:rPr lang="en-US" sz="2000" b="1" dirty="0">
                <a:solidFill>
                  <a:srgbClr val="C3C9D6"/>
                </a:solidFill>
                <a:latin typeface="Cambria" pitchFamily="34" charset="0"/>
                <a:ea typeface="Cambria" pitchFamily="34" charset="-122"/>
                <a:cs typeface="Cambria" pitchFamily="34" charset="-120"/>
              </a:rPr>
              <a:t>9</a:t>
            </a:r>
            <a:endParaRPr lang="en-US" sz="2000" dirty="0"/>
          </a:p>
        </p:txBody>
      </p:sp>
      <p:sp>
        <p:nvSpPr>
          <p:cNvPr id="25" name="Text 23"/>
          <p:cNvSpPr txBox="1"/>
          <p:nvPr/>
        </p:nvSpPr>
        <p:spPr>
          <a:xfrm>
            <a:off x="1325880" y="4425696"/>
            <a:ext cx="6309360" cy="347472"/>
          </a:xfrm>
          <a:prstGeom prst="rect">
            <a:avLst/>
          </a:prstGeom>
          <a:noFill/>
          <a:ln/>
        </p:spPr>
        <p:txBody>
          <a:bodyPr wrap="square" lIns="0" tIns="0" rIns="0" bIns="0" rtlCol="0" anchor="ctr"/>
          <a:lstStyle/>
          <a:p>
            <a:pPr indent="0" marL="0">
              <a:buNone/>
            </a:pPr>
            <a:r>
              <a:rPr lang="en-US" sz="1250" b="1" dirty="0">
                <a:solidFill>
                  <a:srgbClr val="1C2B45"/>
                </a:solidFill>
                <a:latin typeface="Calibri" pitchFamily="34" charset="0"/>
                <a:ea typeface="Calibri" pitchFamily="34" charset="-122"/>
                <a:cs typeface="Calibri" pitchFamily="34" charset="-120"/>
              </a:rPr>
              <a:t>Some respondents found no effective recovery</a:t>
            </a:r>
            <a:endParaRPr lang="en-US" sz="1250" dirty="0"/>
          </a:p>
        </p:txBody>
      </p:sp>
      <p:sp>
        <p:nvSpPr>
          <p:cNvPr id="26" name="Text 24"/>
          <p:cNvSpPr txBox="1"/>
          <p:nvPr/>
        </p:nvSpPr>
        <p:spPr>
          <a:xfrm>
            <a:off x="1325880" y="4754880"/>
            <a:ext cx="6309360" cy="347472"/>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6 of 28 selected “nothing helped.”</a:t>
            </a:r>
            <a:endParaRPr lang="en-US" sz="1050" dirty="0"/>
          </a:p>
        </p:txBody>
      </p:sp>
      <p:sp>
        <p:nvSpPr>
          <p:cNvPr id="27" name="Shape 25"/>
          <p:cNvSpPr/>
          <p:nvPr/>
        </p:nvSpPr>
        <p:spPr>
          <a:xfrm>
            <a:off x="7909560" y="4608576"/>
            <a:ext cx="1344168" cy="292608"/>
          </a:xfrm>
          <a:prstGeom prst="roundRect">
            <a:avLst>
              <a:gd name="adj" fmla="val 18750"/>
            </a:avLst>
          </a:prstGeom>
          <a:solidFill>
            <a:srgbClr val="F7E4D2"/>
          </a:solidFill>
          <a:ln/>
        </p:spPr>
      </p:sp>
      <p:sp>
        <p:nvSpPr>
          <p:cNvPr id="28" name="Text 26"/>
          <p:cNvSpPr txBox="1"/>
          <p:nvPr/>
        </p:nvSpPr>
        <p:spPr>
          <a:xfrm>
            <a:off x="7909560" y="4608576"/>
            <a:ext cx="1344168" cy="292608"/>
          </a:xfrm>
          <a:prstGeom prst="rect">
            <a:avLst/>
          </a:prstGeom>
          <a:noFill/>
          <a:ln/>
        </p:spPr>
        <p:txBody>
          <a:bodyPr wrap="square" lIns="0" tIns="0" rIns="0" bIns="0" rtlCol="0" anchor="ctr"/>
          <a:lstStyle/>
          <a:p>
            <a:pPr algn="ctr" indent="0" marL="0">
              <a:buNone/>
            </a:pPr>
            <a:r>
              <a:rPr lang="en-US" sz="950" b="1" spc="50" kern="0" dirty="0">
                <a:solidFill>
                  <a:srgbClr val="D9762E"/>
                </a:solidFill>
                <a:latin typeface="Calibri" pitchFamily="34" charset="0"/>
                <a:ea typeface="Calibri" pitchFamily="34" charset="-122"/>
                <a:cs typeface="Calibri" pitchFamily="34" charset="-120"/>
              </a:rPr>
              <a:t>MODERATE</a:t>
            </a:r>
            <a:endParaRPr lang="en-US" sz="950" dirty="0"/>
          </a:p>
        </p:txBody>
      </p:sp>
      <p:sp>
        <p:nvSpPr>
          <p:cNvPr id="29" name="Shape 27"/>
          <p:cNvSpPr/>
          <p:nvPr/>
        </p:nvSpPr>
        <p:spPr>
          <a:xfrm>
            <a:off x="548640" y="5221224"/>
            <a:ext cx="10177272" cy="777240"/>
          </a:xfrm>
          <a:prstGeom prst="rect">
            <a:avLst/>
          </a:prstGeom>
          <a:solidFill>
            <a:srgbClr val="FFFFFF"/>
          </a:solidFill>
          <a:ln w="12700">
            <a:solidFill>
              <a:srgbClr val="D8DCE6"/>
            </a:solidFill>
            <a:prstDash val="solid"/>
          </a:ln>
        </p:spPr>
      </p:sp>
      <p:sp>
        <p:nvSpPr>
          <p:cNvPr id="30" name="Text 28"/>
          <p:cNvSpPr txBox="1"/>
          <p:nvPr/>
        </p:nvSpPr>
        <p:spPr>
          <a:xfrm>
            <a:off x="713232" y="5294376"/>
            <a:ext cx="502920" cy="594360"/>
          </a:xfrm>
          <a:prstGeom prst="rect">
            <a:avLst/>
          </a:prstGeom>
          <a:noFill/>
          <a:ln/>
        </p:spPr>
        <p:txBody>
          <a:bodyPr wrap="square" lIns="0" tIns="0" rIns="0" bIns="0" rtlCol="0" anchor="ctr"/>
          <a:lstStyle/>
          <a:p>
            <a:pPr indent="0" marL="0">
              <a:buNone/>
            </a:pPr>
            <a:r>
              <a:rPr lang="en-US" sz="2000" b="1" dirty="0">
                <a:solidFill>
                  <a:srgbClr val="C3C9D6"/>
                </a:solidFill>
                <a:latin typeface="Cambria" pitchFamily="34" charset="0"/>
                <a:ea typeface="Cambria" pitchFamily="34" charset="-122"/>
                <a:cs typeface="Cambria" pitchFamily="34" charset="-120"/>
              </a:rPr>
              <a:t>10</a:t>
            </a:r>
            <a:endParaRPr lang="en-US" sz="2000" dirty="0"/>
          </a:p>
        </p:txBody>
      </p:sp>
      <p:sp>
        <p:nvSpPr>
          <p:cNvPr id="31" name="Text 29"/>
          <p:cNvSpPr txBox="1"/>
          <p:nvPr/>
        </p:nvSpPr>
        <p:spPr>
          <a:xfrm>
            <a:off x="1325880" y="5285232"/>
            <a:ext cx="6309360" cy="347472"/>
          </a:xfrm>
          <a:prstGeom prst="rect">
            <a:avLst/>
          </a:prstGeom>
          <a:noFill/>
          <a:ln/>
        </p:spPr>
        <p:txBody>
          <a:bodyPr wrap="square" lIns="0" tIns="0" rIns="0" bIns="0" rtlCol="0" anchor="ctr"/>
          <a:lstStyle/>
          <a:p>
            <a:pPr indent="0" marL="0">
              <a:buNone/>
            </a:pPr>
            <a:r>
              <a:rPr lang="en-US" sz="1250" b="1" dirty="0">
                <a:solidFill>
                  <a:srgbClr val="1C2B45"/>
                </a:solidFill>
                <a:latin typeface="Calibri" pitchFamily="34" charset="0"/>
                <a:ea typeface="Calibri" pitchFamily="34" charset="-122"/>
                <a:cs typeface="Calibri" pitchFamily="34" charset="-120"/>
              </a:rPr>
              <a:t>Vehicle identification can fail too, not just the pin</a:t>
            </a:r>
            <a:endParaRPr lang="en-US" sz="1250" dirty="0"/>
          </a:p>
        </p:txBody>
      </p:sp>
      <p:sp>
        <p:nvSpPr>
          <p:cNvPr id="32" name="Text 30"/>
          <p:cNvSpPr txBox="1"/>
          <p:nvPr/>
        </p:nvSpPr>
        <p:spPr>
          <a:xfrm>
            <a:off x="1325880" y="5614416"/>
            <a:ext cx="6309360" cy="347472"/>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One respondent: vehicle number didn't match.</a:t>
            </a:r>
            <a:endParaRPr lang="en-US" sz="1050" dirty="0"/>
          </a:p>
        </p:txBody>
      </p:sp>
      <p:sp>
        <p:nvSpPr>
          <p:cNvPr id="33" name="Shape 31"/>
          <p:cNvSpPr/>
          <p:nvPr/>
        </p:nvSpPr>
        <p:spPr>
          <a:xfrm>
            <a:off x="7909560" y="5468112"/>
            <a:ext cx="832104" cy="292608"/>
          </a:xfrm>
          <a:prstGeom prst="roundRect">
            <a:avLst>
              <a:gd name="adj" fmla="val 18750"/>
            </a:avLst>
          </a:prstGeom>
          <a:solidFill>
            <a:srgbClr val="F2DEDA"/>
          </a:solidFill>
          <a:ln/>
        </p:spPr>
      </p:sp>
      <p:sp>
        <p:nvSpPr>
          <p:cNvPr id="34" name="Text 32"/>
          <p:cNvSpPr txBox="1"/>
          <p:nvPr/>
        </p:nvSpPr>
        <p:spPr>
          <a:xfrm>
            <a:off x="7909560" y="5468112"/>
            <a:ext cx="832104" cy="292608"/>
          </a:xfrm>
          <a:prstGeom prst="rect">
            <a:avLst/>
          </a:prstGeom>
          <a:noFill/>
          <a:ln/>
        </p:spPr>
        <p:txBody>
          <a:bodyPr wrap="square" lIns="0" tIns="0" rIns="0" bIns="0" rtlCol="0" anchor="ctr"/>
          <a:lstStyle/>
          <a:p>
            <a:pPr algn="ctr" indent="0" marL="0">
              <a:buNone/>
            </a:pPr>
            <a:r>
              <a:rPr lang="en-US" sz="950" b="1" spc="50" kern="0" dirty="0">
                <a:solidFill>
                  <a:srgbClr val="AA4A3C"/>
                </a:solidFill>
                <a:latin typeface="Calibri" pitchFamily="34" charset="0"/>
                <a:ea typeface="Calibri" pitchFamily="34" charset="-122"/>
                <a:cs typeface="Calibri" pitchFamily="34" charset="-120"/>
              </a:rPr>
              <a:t>WEAK</a:t>
            </a:r>
            <a:endParaRPr lang="en-US" sz="950" dirty="0"/>
          </a:p>
        </p:txBody>
      </p:sp>
      <p:sp>
        <p:nvSpPr>
          <p:cNvPr id="35" name="Text 3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Find My Ride — Appendix</a:t>
            </a:r>
            <a:endParaRPr lang="en-US" sz="900" dirty="0"/>
          </a:p>
        </p:txBody>
      </p:sp>
      <p:sp>
        <p:nvSpPr>
          <p:cNvPr id="36" name="Text 3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FF3"/>
          </a:solidFill>
          <a:ln/>
        </p:spPr>
      </p:sp>
      <p:sp>
        <p:nvSpPr>
          <p:cNvPr id="3" name="Text 1"/>
          <p:cNvSpPr txBox="1"/>
          <p:nvPr/>
        </p:nvSpPr>
        <p:spPr>
          <a:xfrm>
            <a:off x="548640" y="50292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APPENDIX · STRATEGY RECONCILIATION</a:t>
            </a:r>
            <a:endParaRPr lang="en-US" sz="1200" dirty="0"/>
          </a:p>
        </p:txBody>
      </p:sp>
      <p:sp>
        <p:nvSpPr>
          <p:cNvPr id="4" name="Text 2"/>
          <p:cNvSpPr txBox="1"/>
          <p:nvPr/>
        </p:nvSpPr>
        <p:spPr>
          <a:xfrm>
            <a:off x="548640" y="822960"/>
            <a:ext cx="10881360" cy="822960"/>
          </a:xfrm>
          <a:prstGeom prst="rect">
            <a:avLst/>
          </a:prstGeom>
          <a:noFill/>
          <a:ln/>
        </p:spPr>
        <p:txBody>
          <a:bodyPr wrap="square" lIns="0" tIns="0" rIns="0" bIns="0" rtlCol="0" anchor="ctr"/>
          <a:lstStyle/>
          <a:p>
            <a:pPr indent="0" marL="0">
              <a:buNone/>
            </a:pPr>
            <a:r>
              <a:rPr lang="en-US" sz="2700" b="1" dirty="0">
                <a:solidFill>
                  <a:srgbClr val="1C2B45"/>
                </a:solidFill>
                <a:latin typeface="Cambria" pitchFamily="34" charset="0"/>
                <a:ea typeface="Cambria" pitchFamily="34" charset="-122"/>
                <a:cs typeface="Cambria" pitchFamily="34" charset="-120"/>
              </a:rPr>
              <a:t>What not to pursue yet, and why</a:t>
            </a:r>
            <a:endParaRPr lang="en-US" sz="2700" dirty="0"/>
          </a:p>
        </p:txBody>
      </p:sp>
      <p:sp>
        <p:nvSpPr>
          <p:cNvPr id="5" name="Shape 3"/>
          <p:cNvSpPr/>
          <p:nvPr/>
        </p:nvSpPr>
        <p:spPr>
          <a:xfrm>
            <a:off x="548640" y="1783080"/>
            <a:ext cx="10177272" cy="777240"/>
          </a:xfrm>
          <a:prstGeom prst="rect">
            <a:avLst/>
          </a:prstGeom>
          <a:solidFill>
            <a:srgbClr val="FFFFFF"/>
          </a:solidFill>
          <a:ln w="12700">
            <a:solidFill>
              <a:srgbClr val="D8DCE6"/>
            </a:solidFill>
            <a:prstDash val="solid"/>
          </a:ln>
        </p:spPr>
      </p:sp>
      <p:sp>
        <p:nvSpPr>
          <p:cNvPr id="6" name="Text 4"/>
          <p:cNvSpPr txBox="1"/>
          <p:nvPr/>
        </p:nvSpPr>
        <p:spPr>
          <a:xfrm>
            <a:off x="777240" y="1856232"/>
            <a:ext cx="9692640" cy="301752"/>
          </a:xfrm>
          <a:prstGeom prst="rect">
            <a:avLst/>
          </a:prstGeom>
          <a:noFill/>
          <a:ln/>
        </p:spPr>
        <p:txBody>
          <a:bodyPr wrap="square" lIns="0" tIns="0" rIns="0" bIns="0" rtlCol="0" anchor="ctr"/>
          <a:lstStyle/>
          <a:p>
            <a:pPr indent="0" marL="0">
              <a:buNone/>
            </a:pPr>
            <a:r>
              <a:rPr lang="en-US" sz="1200" b="1" dirty="0">
                <a:solidFill>
                  <a:srgbClr val="AA4A3C"/>
                </a:solidFill>
                <a:latin typeface="Calibri" pitchFamily="34" charset="0"/>
                <a:ea typeface="Calibri" pitchFamily="34" charset="-122"/>
                <a:cs typeface="Calibri" pitchFamily="34" charset="-120"/>
              </a:rPr>
              <a:t>A driver-side product direction</a:t>
            </a:r>
            <a:endParaRPr lang="en-US" sz="1200" dirty="0"/>
          </a:p>
        </p:txBody>
      </p:sp>
      <p:sp>
        <p:nvSpPr>
          <p:cNvPr id="7" name="Text 5"/>
          <p:cNvSpPr txBox="1"/>
          <p:nvPr/>
        </p:nvSpPr>
        <p:spPr>
          <a:xfrm>
            <a:off x="777240" y="2167128"/>
            <a:ext cx="9692640" cy="347472"/>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Only 4 driver responses, 1 reporting difficulty — closing this is the highest-value next step instead</a:t>
            </a:r>
            <a:endParaRPr lang="en-US" sz="1050" dirty="0"/>
          </a:p>
        </p:txBody>
      </p:sp>
      <p:sp>
        <p:nvSpPr>
          <p:cNvPr id="8" name="Shape 6"/>
          <p:cNvSpPr/>
          <p:nvPr/>
        </p:nvSpPr>
        <p:spPr>
          <a:xfrm>
            <a:off x="548640" y="2642616"/>
            <a:ext cx="10177272" cy="777240"/>
          </a:xfrm>
          <a:prstGeom prst="rect">
            <a:avLst/>
          </a:prstGeom>
          <a:solidFill>
            <a:srgbClr val="FFFFFF"/>
          </a:solidFill>
          <a:ln w="12700">
            <a:solidFill>
              <a:srgbClr val="D8DCE6"/>
            </a:solidFill>
            <a:prstDash val="solid"/>
          </a:ln>
        </p:spPr>
      </p:sp>
      <p:sp>
        <p:nvSpPr>
          <p:cNvPr id="9" name="Text 7"/>
          <p:cNvSpPr txBox="1"/>
          <p:nvPr/>
        </p:nvSpPr>
        <p:spPr>
          <a:xfrm>
            <a:off x="777240" y="2715768"/>
            <a:ext cx="9692640" cy="301752"/>
          </a:xfrm>
          <a:prstGeom prst="rect">
            <a:avLst/>
          </a:prstGeom>
          <a:noFill/>
          <a:ln/>
        </p:spPr>
        <p:txBody>
          <a:bodyPr wrap="square" lIns="0" tIns="0" rIns="0" bIns="0" rtlCol="0" anchor="ctr"/>
          <a:lstStyle/>
          <a:p>
            <a:pPr indent="0" marL="0">
              <a:buNone/>
            </a:pPr>
            <a:r>
              <a:rPr lang="en-US" sz="1200" b="1" dirty="0">
                <a:solidFill>
                  <a:srgbClr val="AA4A3C"/>
                </a:solidFill>
                <a:latin typeface="Calibri" pitchFamily="34" charset="0"/>
                <a:ea typeface="Calibri" pitchFamily="34" charset="-122"/>
                <a:cs typeface="Calibri" pitchFamily="34" charset="-120"/>
              </a:rPr>
              <a:t>An airport-specific solution</a:t>
            </a:r>
            <a:endParaRPr lang="en-US" sz="1200" dirty="0"/>
          </a:p>
        </p:txBody>
      </p:sp>
      <p:sp>
        <p:nvSpPr>
          <p:cNvPr id="10" name="Text 8"/>
          <p:cNvSpPr txBox="1"/>
          <p:nvPr/>
        </p:nvSpPr>
        <p:spPr>
          <a:xfrm>
            <a:off x="777240" y="3026664"/>
            <a:ext cx="9692640" cy="347472"/>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Airport leads mentions but isn't a majority; residential/mall/office/station/street combined outnumber it</a:t>
            </a:r>
            <a:endParaRPr lang="en-US" sz="1050" dirty="0"/>
          </a:p>
        </p:txBody>
      </p:sp>
      <p:sp>
        <p:nvSpPr>
          <p:cNvPr id="11" name="Shape 9"/>
          <p:cNvSpPr/>
          <p:nvPr/>
        </p:nvSpPr>
        <p:spPr>
          <a:xfrm>
            <a:off x="548640" y="3502152"/>
            <a:ext cx="10177272" cy="777240"/>
          </a:xfrm>
          <a:prstGeom prst="rect">
            <a:avLst/>
          </a:prstGeom>
          <a:solidFill>
            <a:srgbClr val="FFFFFF"/>
          </a:solidFill>
          <a:ln w="12700">
            <a:solidFill>
              <a:srgbClr val="D8DCE6"/>
            </a:solidFill>
            <a:prstDash val="solid"/>
          </a:ln>
        </p:spPr>
      </p:sp>
      <p:sp>
        <p:nvSpPr>
          <p:cNvPr id="12" name="Text 10"/>
          <p:cNvSpPr txBox="1"/>
          <p:nvPr/>
        </p:nvSpPr>
        <p:spPr>
          <a:xfrm>
            <a:off x="777240" y="3575304"/>
            <a:ext cx="9692640" cy="301752"/>
          </a:xfrm>
          <a:prstGeom prst="rect">
            <a:avLst/>
          </a:prstGeom>
          <a:noFill/>
          <a:ln/>
        </p:spPr>
        <p:txBody>
          <a:bodyPr wrap="square" lIns="0" tIns="0" rIns="0" bIns="0" rtlCol="0" anchor="ctr"/>
          <a:lstStyle/>
          <a:p>
            <a:pPr indent="0" marL="0">
              <a:buNone/>
            </a:pPr>
            <a:r>
              <a:rPr lang="en-US" sz="1200" b="1" dirty="0">
                <a:solidFill>
                  <a:srgbClr val="AA4A3C"/>
                </a:solidFill>
                <a:latin typeface="Calibri" pitchFamily="34" charset="0"/>
                <a:ea typeface="Calibri" pitchFamily="34" charset="-122"/>
                <a:cs typeface="Calibri" pitchFamily="34" charset="-120"/>
              </a:rPr>
              <a:t>Any accessibility/language/disability claim</a:t>
            </a:r>
            <a:endParaRPr lang="en-US" sz="1200" dirty="0"/>
          </a:p>
        </p:txBody>
      </p:sp>
      <p:sp>
        <p:nvSpPr>
          <p:cNvPr id="13" name="Text 11"/>
          <p:cNvSpPr txBox="1"/>
          <p:nvPr/>
        </p:nvSpPr>
        <p:spPr>
          <a:xfrm>
            <a:off x="777240" y="3886200"/>
            <a:ext cx="9692640" cy="347472"/>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No survey evidence beyond one weather data point; the sample itself skews away from this segment</a:t>
            </a:r>
            <a:endParaRPr lang="en-US" sz="1050" dirty="0"/>
          </a:p>
        </p:txBody>
      </p:sp>
      <p:sp>
        <p:nvSpPr>
          <p:cNvPr id="14" name="Shape 12"/>
          <p:cNvSpPr/>
          <p:nvPr/>
        </p:nvSpPr>
        <p:spPr>
          <a:xfrm>
            <a:off x="548640" y="4361688"/>
            <a:ext cx="10177272" cy="777240"/>
          </a:xfrm>
          <a:prstGeom prst="rect">
            <a:avLst/>
          </a:prstGeom>
          <a:solidFill>
            <a:srgbClr val="FFFFFF"/>
          </a:solidFill>
          <a:ln w="12700">
            <a:solidFill>
              <a:srgbClr val="D8DCE6"/>
            </a:solidFill>
            <a:prstDash val="solid"/>
          </a:ln>
        </p:spPr>
      </p:sp>
      <p:sp>
        <p:nvSpPr>
          <p:cNvPr id="15" name="Text 13"/>
          <p:cNvSpPr txBox="1"/>
          <p:nvPr/>
        </p:nvSpPr>
        <p:spPr>
          <a:xfrm>
            <a:off x="777240" y="4434840"/>
            <a:ext cx="9692640" cy="301752"/>
          </a:xfrm>
          <a:prstGeom prst="rect">
            <a:avLst/>
          </a:prstGeom>
          <a:noFill/>
          <a:ln/>
        </p:spPr>
        <p:txBody>
          <a:bodyPr wrap="square" lIns="0" tIns="0" rIns="0" bIns="0" rtlCol="0" anchor="ctr"/>
          <a:lstStyle/>
          <a:p>
            <a:pPr indent="0" marL="0">
              <a:buNone/>
            </a:pPr>
            <a:r>
              <a:rPr lang="en-US" sz="1200" b="1" dirty="0">
                <a:solidFill>
                  <a:srgbClr val="AA4A3C"/>
                </a:solidFill>
                <a:latin typeface="Calibri" pitchFamily="34" charset="0"/>
                <a:ea typeface="Calibri" pitchFamily="34" charset="-122"/>
                <a:cs typeface="Calibri" pitchFamily="34" charset="-120"/>
              </a:rPr>
              <a:t>A precise “X% of Hyderabad pickups fail” claim</a:t>
            </a:r>
            <a:endParaRPr lang="en-US" sz="1200" dirty="0"/>
          </a:p>
        </p:txBody>
      </p:sp>
      <p:sp>
        <p:nvSpPr>
          <p:cNvPr id="16" name="Text 14"/>
          <p:cNvSpPr txBox="1"/>
          <p:nvPr/>
        </p:nvSpPr>
        <p:spPr>
          <a:xfrm>
            <a:off x="777240" y="4745736"/>
            <a:ext cx="9692640" cy="347472"/>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No reliable trip-volume data exists publicly; the 40.7% figure is a convenience-sample statistic, not a citywide rate</a:t>
            </a:r>
            <a:endParaRPr lang="en-US" sz="1050" dirty="0"/>
          </a:p>
        </p:txBody>
      </p:sp>
      <p:sp>
        <p:nvSpPr>
          <p:cNvPr id="17" name="Shape 15"/>
          <p:cNvSpPr/>
          <p:nvPr/>
        </p:nvSpPr>
        <p:spPr>
          <a:xfrm>
            <a:off x="548640" y="5221224"/>
            <a:ext cx="10177272" cy="777240"/>
          </a:xfrm>
          <a:prstGeom prst="rect">
            <a:avLst/>
          </a:prstGeom>
          <a:solidFill>
            <a:srgbClr val="FFFFFF"/>
          </a:solidFill>
          <a:ln w="12700">
            <a:solidFill>
              <a:srgbClr val="D8DCE6"/>
            </a:solidFill>
            <a:prstDash val="solid"/>
          </a:ln>
        </p:spPr>
      </p:sp>
      <p:sp>
        <p:nvSpPr>
          <p:cNvPr id="18" name="Text 16"/>
          <p:cNvSpPr txBox="1"/>
          <p:nvPr/>
        </p:nvSpPr>
        <p:spPr>
          <a:xfrm>
            <a:off x="777240" y="5294376"/>
            <a:ext cx="9692640" cy="301752"/>
          </a:xfrm>
          <a:prstGeom prst="rect">
            <a:avLst/>
          </a:prstGeom>
          <a:noFill/>
          <a:ln/>
        </p:spPr>
        <p:txBody>
          <a:bodyPr wrap="square" lIns="0" tIns="0" rIns="0" bIns="0" rtlCol="0" anchor="ctr"/>
          <a:lstStyle/>
          <a:p>
            <a:pPr indent="0" marL="0">
              <a:buNone/>
            </a:pPr>
            <a:r>
              <a:rPr lang="en-US" sz="1200" b="1" dirty="0">
                <a:solidFill>
                  <a:srgbClr val="AA4A3C"/>
                </a:solidFill>
                <a:latin typeface="Calibri" pitchFamily="34" charset="0"/>
                <a:ea typeface="Calibri" pitchFamily="34" charset="-122"/>
                <a:cs typeface="Calibri" pitchFamily="34" charset="-120"/>
              </a:rPr>
              <a:t>A single-technology commitment (e.g. AR)</a:t>
            </a:r>
            <a:endParaRPr lang="en-US" sz="1200" dirty="0"/>
          </a:p>
        </p:txBody>
      </p:sp>
      <p:sp>
        <p:nvSpPr>
          <p:cNvPr id="19" name="Text 17"/>
          <p:cNvSpPr txBox="1"/>
          <p:nvPr/>
        </p:nvSpPr>
        <p:spPr>
          <a:xfrm>
            <a:off x="777240" y="5605272"/>
            <a:ext cx="9692640" cy="347472"/>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No insight supports a specific technical mechanism yet</a:t>
            </a:r>
            <a:endParaRPr lang="en-US" sz="1050" dirty="0"/>
          </a:p>
        </p:txBody>
      </p:sp>
      <p:sp>
        <p:nvSpPr>
          <p:cNvPr id="20" name="Text 18"/>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Find My Ride — Appendix</a:t>
            </a:r>
            <a:endParaRPr lang="en-US" sz="900" dirty="0"/>
          </a:p>
        </p:txBody>
      </p:sp>
      <p:sp>
        <p:nvSpPr>
          <p:cNvPr id="21" name="Text 1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FF3"/>
          </a:solidFill>
          <a:ln/>
        </p:spPr>
      </p:sp>
      <p:sp>
        <p:nvSpPr>
          <p:cNvPr id="3" name="Text 1"/>
          <p:cNvSpPr txBox="1"/>
          <p:nvPr/>
        </p:nvSpPr>
        <p:spPr>
          <a:xfrm>
            <a:off x="548640" y="50292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APPENDIX · PRIORITY 1 OF 3, FULL DETAIL</a:t>
            </a:r>
            <a:endParaRPr lang="en-US" sz="1200" dirty="0"/>
          </a:p>
        </p:txBody>
      </p:sp>
      <p:sp>
        <p:nvSpPr>
          <p:cNvPr id="4" name="Text 2"/>
          <p:cNvSpPr txBox="1"/>
          <p:nvPr/>
        </p:nvSpPr>
        <p:spPr>
          <a:xfrm>
            <a:off x="548640" y="822960"/>
            <a:ext cx="10515600" cy="822960"/>
          </a:xfrm>
          <a:prstGeom prst="rect">
            <a:avLst/>
          </a:prstGeom>
          <a:noFill/>
          <a:ln/>
        </p:spPr>
        <p:txBody>
          <a:bodyPr wrap="square" lIns="0" tIns="0" rIns="0" bIns="0" rtlCol="0" anchor="ctr"/>
          <a:lstStyle/>
          <a:p>
            <a:pPr indent="0" marL="0">
              <a:buNone/>
            </a:pPr>
            <a:r>
              <a:rPr lang="en-US" sz="2400" b="1" dirty="0">
                <a:solidFill>
                  <a:srgbClr val="1C2B45"/>
                </a:solidFill>
                <a:latin typeface="Cambria" pitchFamily="34" charset="0"/>
                <a:ea typeface="Cambria" pitchFamily="34" charset="-122"/>
                <a:cs typeface="Cambria" pitchFamily="34" charset="-120"/>
              </a:rPr>
              <a:t>Pickup coordination notes — full detail</a:t>
            </a:r>
            <a:endParaRPr lang="en-US" sz="2400" dirty="0"/>
          </a:p>
        </p:txBody>
      </p:sp>
      <p:sp>
        <p:nvSpPr>
          <p:cNvPr id="5" name="Shape 3"/>
          <p:cNvSpPr/>
          <p:nvPr/>
        </p:nvSpPr>
        <p:spPr>
          <a:xfrm>
            <a:off x="548640" y="1783080"/>
            <a:ext cx="2011680" cy="795528"/>
          </a:xfrm>
          <a:prstGeom prst="rect">
            <a:avLst/>
          </a:prstGeom>
          <a:solidFill>
            <a:srgbClr val="1C2B45"/>
          </a:solidFill>
          <a:ln/>
        </p:spPr>
      </p:sp>
      <p:sp>
        <p:nvSpPr>
          <p:cNvPr id="6" name="Text 4"/>
          <p:cNvSpPr txBox="1"/>
          <p:nvPr/>
        </p:nvSpPr>
        <p:spPr>
          <a:xfrm>
            <a:off x="685800" y="1783080"/>
            <a:ext cx="1737360" cy="795528"/>
          </a:xfrm>
          <a:prstGeom prst="rect">
            <a:avLst/>
          </a:prstGeom>
          <a:noFill/>
          <a:ln/>
        </p:spPr>
        <p:txBody>
          <a:bodyPr wrap="square" lIns="0" tIns="0" rIns="0" bIns="0" rtlCol="0" anchor="ctr"/>
          <a:lstStyle/>
          <a:p>
            <a:pPr indent="0" marL="0">
              <a:buNone/>
            </a:pPr>
            <a:r>
              <a:rPr lang="en-US" sz="1000" b="1" spc="50" kern="0" dirty="0">
                <a:solidFill>
                  <a:srgbClr val="D9762E"/>
                </a:solidFill>
                <a:latin typeface="Calibri" pitchFamily="34" charset="0"/>
                <a:ea typeface="Calibri" pitchFamily="34" charset="-122"/>
                <a:cs typeface="Calibri" pitchFamily="34" charset="-120"/>
              </a:rPr>
              <a:t>USER</a:t>
            </a:r>
            <a:endParaRPr lang="en-US" sz="1000" dirty="0"/>
          </a:p>
        </p:txBody>
      </p:sp>
      <p:sp>
        <p:nvSpPr>
          <p:cNvPr id="7" name="Shape 5"/>
          <p:cNvSpPr/>
          <p:nvPr/>
        </p:nvSpPr>
        <p:spPr>
          <a:xfrm>
            <a:off x="2560320" y="1783080"/>
            <a:ext cx="8165592" cy="795528"/>
          </a:xfrm>
          <a:prstGeom prst="rect">
            <a:avLst/>
          </a:prstGeom>
          <a:solidFill>
            <a:srgbClr val="FFFFFF"/>
          </a:solidFill>
          <a:ln w="12700">
            <a:solidFill>
              <a:srgbClr val="D8DCE6"/>
            </a:solidFill>
            <a:prstDash val="solid"/>
          </a:ln>
        </p:spPr>
      </p:sp>
      <p:sp>
        <p:nvSpPr>
          <p:cNvPr id="8" name="Text 6"/>
          <p:cNvSpPr txBox="1"/>
          <p:nvPr/>
        </p:nvSpPr>
        <p:spPr>
          <a:xfrm>
            <a:off x="2743200" y="1783080"/>
            <a:ext cx="7818120" cy="795528"/>
          </a:xfrm>
          <a:prstGeom prst="rect">
            <a:avLst/>
          </a:prstGeom>
          <a:noFill/>
          <a:ln/>
        </p:spPr>
        <p:txBody>
          <a:bodyPr wrap="square" lIns="0" tIns="0" rIns="0" bIns="0" rtlCol="0" anchor="ctr"/>
          <a:lstStyle/>
          <a:p>
            <a:pPr indent="0" marL="0">
              <a:lnSpc>
                <a:spcPct val="105000"/>
              </a:lnSpc>
              <a:buNone/>
            </a:pPr>
            <a:r>
              <a:rPr lang="en-US" sz="1100" dirty="0">
                <a:solidFill>
                  <a:srgbClr val="1C2B45"/>
                </a:solidFill>
                <a:latin typeface="Calibri" pitchFamily="34" charset="0"/>
                <a:ea typeface="Calibri" pitchFamily="34" charset="-122"/>
                <a:cs typeface="Calibri" pitchFamily="34" charset="-120"/>
              </a:rPr>
              <a:t>Riders and drivers together, at a defined list of complex location types — not every ride</a:t>
            </a:r>
            <a:endParaRPr lang="en-US" sz="1100" dirty="0"/>
          </a:p>
        </p:txBody>
      </p:sp>
      <p:sp>
        <p:nvSpPr>
          <p:cNvPr id="9" name="Shape 7"/>
          <p:cNvSpPr/>
          <p:nvPr/>
        </p:nvSpPr>
        <p:spPr>
          <a:xfrm>
            <a:off x="548640" y="2633472"/>
            <a:ext cx="2011680" cy="795528"/>
          </a:xfrm>
          <a:prstGeom prst="rect">
            <a:avLst/>
          </a:prstGeom>
          <a:solidFill>
            <a:srgbClr val="1C2B45"/>
          </a:solidFill>
          <a:ln/>
        </p:spPr>
      </p:sp>
      <p:sp>
        <p:nvSpPr>
          <p:cNvPr id="10" name="Text 8"/>
          <p:cNvSpPr txBox="1"/>
          <p:nvPr/>
        </p:nvSpPr>
        <p:spPr>
          <a:xfrm>
            <a:off x="685800" y="2633472"/>
            <a:ext cx="1737360" cy="795528"/>
          </a:xfrm>
          <a:prstGeom prst="rect">
            <a:avLst/>
          </a:prstGeom>
          <a:noFill/>
          <a:ln/>
        </p:spPr>
        <p:txBody>
          <a:bodyPr wrap="square" lIns="0" tIns="0" rIns="0" bIns="0" rtlCol="0" anchor="ctr"/>
          <a:lstStyle/>
          <a:p>
            <a:pPr indent="0" marL="0">
              <a:buNone/>
            </a:pPr>
            <a:r>
              <a:rPr lang="en-US" sz="1000" b="1" spc="50" kern="0" dirty="0">
                <a:solidFill>
                  <a:srgbClr val="D9762E"/>
                </a:solidFill>
                <a:latin typeface="Calibri" pitchFamily="34" charset="0"/>
                <a:ea typeface="Calibri" pitchFamily="34" charset="-122"/>
                <a:cs typeface="Calibri" pitchFamily="34" charset="-120"/>
              </a:rPr>
              <a:t>ACTION</a:t>
            </a:r>
            <a:endParaRPr lang="en-US" sz="1000" dirty="0"/>
          </a:p>
        </p:txBody>
      </p:sp>
      <p:sp>
        <p:nvSpPr>
          <p:cNvPr id="11" name="Shape 9"/>
          <p:cNvSpPr/>
          <p:nvPr/>
        </p:nvSpPr>
        <p:spPr>
          <a:xfrm>
            <a:off x="2560320" y="2633472"/>
            <a:ext cx="8165592" cy="795528"/>
          </a:xfrm>
          <a:prstGeom prst="rect">
            <a:avLst/>
          </a:prstGeom>
          <a:solidFill>
            <a:srgbClr val="FFFFFF"/>
          </a:solidFill>
          <a:ln w="12700">
            <a:solidFill>
              <a:srgbClr val="D8DCE6"/>
            </a:solidFill>
            <a:prstDash val="solid"/>
          </a:ln>
        </p:spPr>
      </p:sp>
      <p:sp>
        <p:nvSpPr>
          <p:cNvPr id="12" name="Text 10"/>
          <p:cNvSpPr txBox="1"/>
          <p:nvPr/>
        </p:nvSpPr>
        <p:spPr>
          <a:xfrm>
            <a:off x="2743200" y="2633472"/>
            <a:ext cx="7818120" cy="795528"/>
          </a:xfrm>
          <a:prstGeom prst="rect">
            <a:avLst/>
          </a:prstGeom>
          <a:noFill/>
          <a:ln/>
        </p:spPr>
        <p:txBody>
          <a:bodyPr wrap="square" lIns="0" tIns="0" rIns="0" bIns="0" rtlCol="0" anchor="ctr"/>
          <a:lstStyle/>
          <a:p>
            <a:pPr indent="0" marL="0">
              <a:lnSpc>
                <a:spcPct val="105000"/>
              </a:lnSpc>
              <a:buNone/>
            </a:pPr>
            <a:r>
              <a:rPr lang="en-US" sz="1100" dirty="0">
                <a:solidFill>
                  <a:srgbClr val="1C2B45"/>
                </a:solidFill>
                <a:latin typeface="Calibri" pitchFamily="34" charset="0"/>
                <a:ea typeface="Calibri" pitchFamily="34" charset="-122"/>
                <a:cs typeface="Calibri" pitchFamily="34" charset="-120"/>
              </a:rPr>
              <a:t>Prompt both sides to exchange one structured note (landmark, gate/side, waiting spot) shortly before arrival</a:t>
            </a:r>
            <a:endParaRPr lang="en-US" sz="1100" dirty="0"/>
          </a:p>
        </p:txBody>
      </p:sp>
      <p:sp>
        <p:nvSpPr>
          <p:cNvPr id="13" name="Shape 11"/>
          <p:cNvSpPr/>
          <p:nvPr/>
        </p:nvSpPr>
        <p:spPr>
          <a:xfrm>
            <a:off x="548640" y="3483864"/>
            <a:ext cx="2011680" cy="795528"/>
          </a:xfrm>
          <a:prstGeom prst="rect">
            <a:avLst/>
          </a:prstGeom>
          <a:solidFill>
            <a:srgbClr val="1C2B45"/>
          </a:solidFill>
          <a:ln/>
        </p:spPr>
      </p:sp>
      <p:sp>
        <p:nvSpPr>
          <p:cNvPr id="14" name="Text 12"/>
          <p:cNvSpPr txBox="1"/>
          <p:nvPr/>
        </p:nvSpPr>
        <p:spPr>
          <a:xfrm>
            <a:off x="685800" y="3483864"/>
            <a:ext cx="1737360" cy="795528"/>
          </a:xfrm>
          <a:prstGeom prst="rect">
            <a:avLst/>
          </a:prstGeom>
          <a:noFill/>
          <a:ln/>
        </p:spPr>
        <p:txBody>
          <a:bodyPr wrap="square" lIns="0" tIns="0" rIns="0" bIns="0" rtlCol="0" anchor="ctr"/>
          <a:lstStyle/>
          <a:p>
            <a:pPr indent="0" marL="0">
              <a:buNone/>
            </a:pPr>
            <a:r>
              <a:rPr lang="en-US" sz="1000" b="1" spc="50" kern="0" dirty="0">
                <a:solidFill>
                  <a:srgbClr val="D9762E"/>
                </a:solidFill>
                <a:latin typeface="Calibri" pitchFamily="34" charset="0"/>
                <a:ea typeface="Calibri" pitchFamily="34" charset="-122"/>
                <a:cs typeface="Calibri" pitchFamily="34" charset="-120"/>
              </a:rPr>
              <a:t>OUTCOME</a:t>
            </a:r>
            <a:endParaRPr lang="en-US" sz="1000" dirty="0"/>
          </a:p>
        </p:txBody>
      </p:sp>
      <p:sp>
        <p:nvSpPr>
          <p:cNvPr id="15" name="Shape 13"/>
          <p:cNvSpPr/>
          <p:nvPr/>
        </p:nvSpPr>
        <p:spPr>
          <a:xfrm>
            <a:off x="2560320" y="3483864"/>
            <a:ext cx="8165592" cy="795528"/>
          </a:xfrm>
          <a:prstGeom prst="rect">
            <a:avLst/>
          </a:prstGeom>
          <a:solidFill>
            <a:srgbClr val="FFFFFF"/>
          </a:solidFill>
          <a:ln w="12700">
            <a:solidFill>
              <a:srgbClr val="D8DCE6"/>
            </a:solidFill>
            <a:prstDash val="solid"/>
          </a:ln>
        </p:spPr>
      </p:sp>
      <p:sp>
        <p:nvSpPr>
          <p:cNvPr id="16" name="Text 14"/>
          <p:cNvSpPr txBox="1"/>
          <p:nvPr/>
        </p:nvSpPr>
        <p:spPr>
          <a:xfrm>
            <a:off x="2743200" y="3483864"/>
            <a:ext cx="7818120" cy="795528"/>
          </a:xfrm>
          <a:prstGeom prst="rect">
            <a:avLst/>
          </a:prstGeom>
          <a:noFill/>
          <a:ln/>
        </p:spPr>
        <p:txBody>
          <a:bodyPr wrap="square" lIns="0" tIns="0" rIns="0" bIns="0" rtlCol="0" anchor="ctr"/>
          <a:lstStyle/>
          <a:p>
            <a:pPr indent="0" marL="0">
              <a:lnSpc>
                <a:spcPct val="105000"/>
              </a:lnSpc>
              <a:buNone/>
            </a:pPr>
            <a:r>
              <a:rPr lang="en-US" sz="1100" dirty="0">
                <a:solidFill>
                  <a:srgbClr val="1C2B45"/>
                </a:solidFill>
                <a:latin typeface="Calibri" pitchFamily="34" charset="0"/>
                <a:ea typeface="Calibri" pitchFamily="34" charset="-122"/>
                <a:cs typeface="Calibri" pitchFamily="34" charset="-120"/>
              </a:rPr>
              <a:t>Fewer reactive calls/messages at the moment of arrival; less of the “arrived but can't find each other” gap</a:t>
            </a:r>
            <a:endParaRPr lang="en-US" sz="1100" dirty="0"/>
          </a:p>
        </p:txBody>
      </p:sp>
      <p:sp>
        <p:nvSpPr>
          <p:cNvPr id="17" name="Shape 15"/>
          <p:cNvSpPr/>
          <p:nvPr/>
        </p:nvSpPr>
        <p:spPr>
          <a:xfrm>
            <a:off x="548640" y="4334256"/>
            <a:ext cx="2011680" cy="795528"/>
          </a:xfrm>
          <a:prstGeom prst="rect">
            <a:avLst/>
          </a:prstGeom>
          <a:solidFill>
            <a:srgbClr val="1C2B45"/>
          </a:solidFill>
          <a:ln/>
        </p:spPr>
      </p:sp>
      <p:sp>
        <p:nvSpPr>
          <p:cNvPr id="18" name="Text 16"/>
          <p:cNvSpPr txBox="1"/>
          <p:nvPr/>
        </p:nvSpPr>
        <p:spPr>
          <a:xfrm>
            <a:off x="685800" y="4334256"/>
            <a:ext cx="1737360" cy="795528"/>
          </a:xfrm>
          <a:prstGeom prst="rect">
            <a:avLst/>
          </a:prstGeom>
          <a:noFill/>
          <a:ln/>
        </p:spPr>
        <p:txBody>
          <a:bodyPr wrap="square" lIns="0" tIns="0" rIns="0" bIns="0" rtlCol="0" anchor="ctr"/>
          <a:lstStyle/>
          <a:p>
            <a:pPr indent="0" marL="0">
              <a:buNone/>
            </a:pPr>
            <a:r>
              <a:rPr lang="en-US" sz="1000" b="1" spc="50" kern="0" dirty="0">
                <a:solidFill>
                  <a:srgbClr val="D9762E"/>
                </a:solidFill>
                <a:latin typeface="Calibri" pitchFamily="34" charset="0"/>
                <a:ea typeface="Calibri" pitchFamily="34" charset="-122"/>
                <a:cs typeface="Calibri" pitchFamily="34" charset="-120"/>
              </a:rPr>
              <a:t>RISK</a:t>
            </a:r>
            <a:endParaRPr lang="en-US" sz="1000" dirty="0"/>
          </a:p>
        </p:txBody>
      </p:sp>
      <p:sp>
        <p:nvSpPr>
          <p:cNvPr id="19" name="Shape 17"/>
          <p:cNvSpPr/>
          <p:nvPr/>
        </p:nvSpPr>
        <p:spPr>
          <a:xfrm>
            <a:off x="2560320" y="4334256"/>
            <a:ext cx="8165592" cy="795528"/>
          </a:xfrm>
          <a:prstGeom prst="rect">
            <a:avLst/>
          </a:prstGeom>
          <a:solidFill>
            <a:srgbClr val="FFFFFF"/>
          </a:solidFill>
          <a:ln w="12700">
            <a:solidFill>
              <a:srgbClr val="D8DCE6"/>
            </a:solidFill>
            <a:prstDash val="solid"/>
          </a:ln>
        </p:spPr>
      </p:sp>
      <p:sp>
        <p:nvSpPr>
          <p:cNvPr id="20" name="Text 18"/>
          <p:cNvSpPr txBox="1"/>
          <p:nvPr/>
        </p:nvSpPr>
        <p:spPr>
          <a:xfrm>
            <a:off x="2743200" y="4334256"/>
            <a:ext cx="7818120" cy="795528"/>
          </a:xfrm>
          <a:prstGeom prst="rect">
            <a:avLst/>
          </a:prstGeom>
          <a:noFill/>
          <a:ln/>
        </p:spPr>
        <p:txBody>
          <a:bodyPr wrap="square" lIns="0" tIns="0" rIns="0" bIns="0" rtlCol="0" anchor="ctr"/>
          <a:lstStyle/>
          <a:p>
            <a:pPr indent="0" marL="0">
              <a:lnSpc>
                <a:spcPct val="105000"/>
              </a:lnSpc>
              <a:buNone/>
            </a:pPr>
            <a:r>
              <a:rPr lang="en-US" sz="1100" dirty="0">
                <a:solidFill>
                  <a:srgbClr val="1C2B45"/>
                </a:solidFill>
                <a:latin typeface="Calibri" pitchFamily="34" charset="0"/>
                <a:ea typeface="Calibri" pitchFamily="34" charset="-122"/>
                <a:cs typeface="Calibri" pitchFamily="34" charset="-120"/>
              </a:rPr>
              <a:t>Shown on every ride, it adds friction to pickups that were never difficult — must stay scoped to flagged locations only</a:t>
            </a:r>
            <a:endParaRPr lang="en-US" sz="1100" dirty="0"/>
          </a:p>
        </p:txBody>
      </p:sp>
      <p:sp>
        <p:nvSpPr>
          <p:cNvPr id="21" name="Shape 19"/>
          <p:cNvSpPr/>
          <p:nvPr/>
        </p:nvSpPr>
        <p:spPr>
          <a:xfrm>
            <a:off x="548640" y="5184648"/>
            <a:ext cx="2011680" cy="795528"/>
          </a:xfrm>
          <a:prstGeom prst="rect">
            <a:avLst/>
          </a:prstGeom>
          <a:solidFill>
            <a:srgbClr val="1C2B45"/>
          </a:solidFill>
          <a:ln/>
        </p:spPr>
      </p:sp>
      <p:sp>
        <p:nvSpPr>
          <p:cNvPr id="22" name="Text 20"/>
          <p:cNvSpPr txBox="1"/>
          <p:nvPr/>
        </p:nvSpPr>
        <p:spPr>
          <a:xfrm>
            <a:off x="685800" y="5184648"/>
            <a:ext cx="1737360" cy="795528"/>
          </a:xfrm>
          <a:prstGeom prst="rect">
            <a:avLst/>
          </a:prstGeom>
          <a:noFill/>
          <a:ln/>
        </p:spPr>
        <p:txBody>
          <a:bodyPr wrap="square" lIns="0" tIns="0" rIns="0" bIns="0" rtlCol="0" anchor="ctr"/>
          <a:lstStyle/>
          <a:p>
            <a:pPr indent="0" marL="0">
              <a:buNone/>
            </a:pPr>
            <a:r>
              <a:rPr lang="en-US" sz="1000" b="1" spc="50" kern="0" dirty="0">
                <a:solidFill>
                  <a:srgbClr val="D9762E"/>
                </a:solidFill>
                <a:latin typeface="Calibri" pitchFamily="34" charset="0"/>
                <a:ea typeface="Calibri" pitchFamily="34" charset="-122"/>
                <a:cs typeface="Calibri" pitchFamily="34" charset="-120"/>
              </a:rPr>
              <a:t>TEST</a:t>
            </a:r>
            <a:endParaRPr lang="en-US" sz="1000" dirty="0"/>
          </a:p>
        </p:txBody>
      </p:sp>
      <p:sp>
        <p:nvSpPr>
          <p:cNvPr id="23" name="Shape 21"/>
          <p:cNvSpPr/>
          <p:nvPr/>
        </p:nvSpPr>
        <p:spPr>
          <a:xfrm>
            <a:off x="2560320" y="5184648"/>
            <a:ext cx="8165592" cy="795528"/>
          </a:xfrm>
          <a:prstGeom prst="rect">
            <a:avLst/>
          </a:prstGeom>
          <a:solidFill>
            <a:srgbClr val="FFFFFF"/>
          </a:solidFill>
          <a:ln w="12700">
            <a:solidFill>
              <a:srgbClr val="D8DCE6"/>
            </a:solidFill>
            <a:prstDash val="solid"/>
          </a:ln>
        </p:spPr>
      </p:sp>
      <p:sp>
        <p:nvSpPr>
          <p:cNvPr id="24" name="Text 22"/>
          <p:cNvSpPr txBox="1"/>
          <p:nvPr/>
        </p:nvSpPr>
        <p:spPr>
          <a:xfrm>
            <a:off x="2743200" y="5184648"/>
            <a:ext cx="7818120" cy="795528"/>
          </a:xfrm>
          <a:prstGeom prst="rect">
            <a:avLst/>
          </a:prstGeom>
          <a:noFill/>
          <a:ln/>
        </p:spPr>
        <p:txBody>
          <a:bodyPr wrap="square" lIns="0" tIns="0" rIns="0" bIns="0" rtlCol="0" anchor="ctr"/>
          <a:lstStyle/>
          <a:p>
            <a:pPr indent="0" marL="0">
              <a:lnSpc>
                <a:spcPct val="105000"/>
              </a:lnSpc>
              <a:buNone/>
            </a:pPr>
            <a:r>
              <a:rPr lang="en-US" sz="1100" dirty="0">
                <a:solidFill>
                  <a:srgbClr val="1C2B45"/>
                </a:solidFill>
                <a:latin typeface="Calibri" pitchFamily="34" charset="0"/>
                <a:ea typeface="Calibri" pitchFamily="34" charset="-122"/>
                <a:cs typeface="Calibri" pitchFamily="34" charset="-120"/>
              </a:rPr>
              <a:t>A/B on flagged-location bookings; measure call/message rate and self-reported wait time against control</a:t>
            </a:r>
            <a:endParaRPr lang="en-US" sz="1100" dirty="0"/>
          </a:p>
        </p:txBody>
      </p:sp>
      <p:sp>
        <p:nvSpPr>
          <p:cNvPr id="25" name="Text 2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Find My Ride — Appendix</a:t>
            </a:r>
            <a:endParaRPr lang="en-US" sz="900" dirty="0"/>
          </a:p>
        </p:txBody>
      </p:sp>
      <p:sp>
        <p:nvSpPr>
          <p:cNvPr id="26" name="Text 2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FF3"/>
          </a:solidFill>
          <a:ln/>
        </p:spPr>
      </p:sp>
      <p:sp>
        <p:nvSpPr>
          <p:cNvPr id="3" name="Text 1"/>
          <p:cNvSpPr txBox="1"/>
          <p:nvPr/>
        </p:nvSpPr>
        <p:spPr>
          <a:xfrm>
            <a:off x="548640" y="50292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APPENDIX · PRIORITY 2 OF 3, FULL DETAIL</a:t>
            </a:r>
            <a:endParaRPr lang="en-US" sz="1200" dirty="0"/>
          </a:p>
        </p:txBody>
      </p:sp>
      <p:sp>
        <p:nvSpPr>
          <p:cNvPr id="4" name="Text 2"/>
          <p:cNvSpPr txBox="1"/>
          <p:nvPr/>
        </p:nvSpPr>
        <p:spPr>
          <a:xfrm>
            <a:off x="548640" y="822960"/>
            <a:ext cx="10515600" cy="822960"/>
          </a:xfrm>
          <a:prstGeom prst="rect">
            <a:avLst/>
          </a:prstGeom>
          <a:noFill/>
          <a:ln/>
        </p:spPr>
        <p:txBody>
          <a:bodyPr wrap="square" lIns="0" tIns="0" rIns="0" bIns="0" rtlCol="0" anchor="ctr"/>
          <a:lstStyle/>
          <a:p>
            <a:pPr indent="0" marL="0">
              <a:buNone/>
            </a:pPr>
            <a:r>
              <a:rPr lang="en-US" sz="2400" b="1" dirty="0">
                <a:solidFill>
                  <a:srgbClr val="1C2B45"/>
                </a:solidFill>
                <a:latin typeface="Cambria" pitchFamily="34" charset="0"/>
                <a:ea typeface="Cambria" pitchFamily="34" charset="-122"/>
                <a:cs typeface="Cambria" pitchFamily="34" charset="-120"/>
              </a:rPr>
              <a:t>Guaranteed next step when coordination stalls — full detail</a:t>
            </a:r>
            <a:endParaRPr lang="en-US" sz="2400" dirty="0"/>
          </a:p>
        </p:txBody>
      </p:sp>
      <p:sp>
        <p:nvSpPr>
          <p:cNvPr id="5" name="Shape 3"/>
          <p:cNvSpPr/>
          <p:nvPr/>
        </p:nvSpPr>
        <p:spPr>
          <a:xfrm>
            <a:off x="548640" y="1783080"/>
            <a:ext cx="2011680" cy="795528"/>
          </a:xfrm>
          <a:prstGeom prst="rect">
            <a:avLst/>
          </a:prstGeom>
          <a:solidFill>
            <a:srgbClr val="1C2B45"/>
          </a:solidFill>
          <a:ln/>
        </p:spPr>
      </p:sp>
      <p:sp>
        <p:nvSpPr>
          <p:cNvPr id="6" name="Text 4"/>
          <p:cNvSpPr txBox="1"/>
          <p:nvPr/>
        </p:nvSpPr>
        <p:spPr>
          <a:xfrm>
            <a:off x="685800" y="1783080"/>
            <a:ext cx="1737360" cy="795528"/>
          </a:xfrm>
          <a:prstGeom prst="rect">
            <a:avLst/>
          </a:prstGeom>
          <a:noFill/>
          <a:ln/>
        </p:spPr>
        <p:txBody>
          <a:bodyPr wrap="square" lIns="0" tIns="0" rIns="0" bIns="0" rtlCol="0" anchor="ctr"/>
          <a:lstStyle/>
          <a:p>
            <a:pPr indent="0" marL="0">
              <a:buNone/>
            </a:pPr>
            <a:r>
              <a:rPr lang="en-US" sz="1000" b="1" spc="50" kern="0" dirty="0">
                <a:solidFill>
                  <a:srgbClr val="D9762E"/>
                </a:solidFill>
                <a:latin typeface="Calibri" pitchFamily="34" charset="0"/>
                <a:ea typeface="Calibri" pitchFamily="34" charset="-122"/>
                <a:cs typeface="Calibri" pitchFamily="34" charset="-120"/>
              </a:rPr>
              <a:t>USER</a:t>
            </a:r>
            <a:endParaRPr lang="en-US" sz="1000" dirty="0"/>
          </a:p>
        </p:txBody>
      </p:sp>
      <p:sp>
        <p:nvSpPr>
          <p:cNvPr id="7" name="Shape 5"/>
          <p:cNvSpPr/>
          <p:nvPr/>
        </p:nvSpPr>
        <p:spPr>
          <a:xfrm>
            <a:off x="2560320" y="1783080"/>
            <a:ext cx="8165592" cy="795528"/>
          </a:xfrm>
          <a:prstGeom prst="rect">
            <a:avLst/>
          </a:prstGeom>
          <a:solidFill>
            <a:srgbClr val="FFFFFF"/>
          </a:solidFill>
          <a:ln w="12700">
            <a:solidFill>
              <a:srgbClr val="D8DCE6"/>
            </a:solidFill>
            <a:prstDash val="solid"/>
          </a:ln>
        </p:spPr>
      </p:sp>
      <p:sp>
        <p:nvSpPr>
          <p:cNvPr id="8" name="Text 6"/>
          <p:cNvSpPr txBox="1"/>
          <p:nvPr/>
        </p:nvSpPr>
        <p:spPr>
          <a:xfrm>
            <a:off x="2743200" y="1783080"/>
            <a:ext cx="7818120" cy="795528"/>
          </a:xfrm>
          <a:prstGeom prst="rect">
            <a:avLst/>
          </a:prstGeom>
          <a:noFill/>
          <a:ln/>
        </p:spPr>
        <p:txBody>
          <a:bodyPr wrap="square" lIns="0" tIns="0" rIns="0" bIns="0" rtlCol="0" anchor="ctr"/>
          <a:lstStyle/>
          <a:p>
            <a:pPr indent="0" marL="0">
              <a:lnSpc>
                <a:spcPct val="105000"/>
              </a:lnSpc>
              <a:buNone/>
            </a:pPr>
            <a:r>
              <a:rPr lang="en-US" sz="1100" dirty="0">
                <a:solidFill>
                  <a:srgbClr val="1C2B45"/>
                </a:solidFill>
                <a:latin typeface="Calibri" pitchFamily="34" charset="0"/>
                <a:ea typeface="Calibri" pitchFamily="34" charset="-122"/>
                <a:cs typeface="Calibri" pitchFamily="34" charset="-120"/>
              </a:rPr>
              <a:t>Riders primarily — the ones left with no recourse when recovery fails</a:t>
            </a:r>
            <a:endParaRPr lang="en-US" sz="1100" dirty="0"/>
          </a:p>
        </p:txBody>
      </p:sp>
      <p:sp>
        <p:nvSpPr>
          <p:cNvPr id="9" name="Shape 7"/>
          <p:cNvSpPr/>
          <p:nvPr/>
        </p:nvSpPr>
        <p:spPr>
          <a:xfrm>
            <a:off x="548640" y="2633472"/>
            <a:ext cx="2011680" cy="795528"/>
          </a:xfrm>
          <a:prstGeom prst="rect">
            <a:avLst/>
          </a:prstGeom>
          <a:solidFill>
            <a:srgbClr val="1C2B45"/>
          </a:solidFill>
          <a:ln/>
        </p:spPr>
      </p:sp>
      <p:sp>
        <p:nvSpPr>
          <p:cNvPr id="10" name="Text 8"/>
          <p:cNvSpPr txBox="1"/>
          <p:nvPr/>
        </p:nvSpPr>
        <p:spPr>
          <a:xfrm>
            <a:off x="685800" y="2633472"/>
            <a:ext cx="1737360" cy="795528"/>
          </a:xfrm>
          <a:prstGeom prst="rect">
            <a:avLst/>
          </a:prstGeom>
          <a:noFill/>
          <a:ln/>
        </p:spPr>
        <p:txBody>
          <a:bodyPr wrap="square" lIns="0" tIns="0" rIns="0" bIns="0" rtlCol="0" anchor="ctr"/>
          <a:lstStyle/>
          <a:p>
            <a:pPr indent="0" marL="0">
              <a:buNone/>
            </a:pPr>
            <a:r>
              <a:rPr lang="en-US" sz="1000" b="1" spc="50" kern="0" dirty="0">
                <a:solidFill>
                  <a:srgbClr val="D9762E"/>
                </a:solidFill>
                <a:latin typeface="Calibri" pitchFamily="34" charset="0"/>
                <a:ea typeface="Calibri" pitchFamily="34" charset="-122"/>
                <a:cs typeface="Calibri" pitchFamily="34" charset="-120"/>
              </a:rPr>
              <a:t>ACTION</a:t>
            </a:r>
            <a:endParaRPr lang="en-US" sz="1000" dirty="0"/>
          </a:p>
        </p:txBody>
      </p:sp>
      <p:sp>
        <p:nvSpPr>
          <p:cNvPr id="11" name="Shape 9"/>
          <p:cNvSpPr/>
          <p:nvPr/>
        </p:nvSpPr>
        <p:spPr>
          <a:xfrm>
            <a:off x="2560320" y="2633472"/>
            <a:ext cx="8165592" cy="795528"/>
          </a:xfrm>
          <a:prstGeom prst="rect">
            <a:avLst/>
          </a:prstGeom>
          <a:solidFill>
            <a:srgbClr val="FFFFFF"/>
          </a:solidFill>
          <a:ln w="12700">
            <a:solidFill>
              <a:srgbClr val="D8DCE6"/>
            </a:solidFill>
            <a:prstDash val="solid"/>
          </a:ln>
        </p:spPr>
      </p:sp>
      <p:sp>
        <p:nvSpPr>
          <p:cNvPr id="12" name="Text 10"/>
          <p:cNvSpPr txBox="1"/>
          <p:nvPr/>
        </p:nvSpPr>
        <p:spPr>
          <a:xfrm>
            <a:off x="2743200" y="2633472"/>
            <a:ext cx="7818120" cy="795528"/>
          </a:xfrm>
          <a:prstGeom prst="rect">
            <a:avLst/>
          </a:prstGeom>
          <a:noFill/>
          <a:ln/>
        </p:spPr>
        <p:txBody>
          <a:bodyPr wrap="square" lIns="0" tIns="0" rIns="0" bIns="0" rtlCol="0" anchor="ctr"/>
          <a:lstStyle/>
          <a:p>
            <a:pPr indent="0" marL="0">
              <a:lnSpc>
                <a:spcPct val="105000"/>
              </a:lnSpc>
              <a:buNone/>
            </a:pPr>
            <a:r>
              <a:rPr lang="en-US" sz="1100" dirty="0">
                <a:solidFill>
                  <a:srgbClr val="1C2B45"/>
                </a:solidFill>
                <a:latin typeface="Calibri" pitchFamily="34" charset="0"/>
                <a:ea typeface="Calibri" pitchFamily="34" charset="-122"/>
                <a:cs typeface="Calibri" pitchFamily="34" charset="-120"/>
              </a:rPr>
              <a:t>If a trip stalls in “arrived” state past a threshold at a flagged location, surface a next step: guided live-location-share-and-call, or reassignment</a:t>
            </a:r>
            <a:endParaRPr lang="en-US" sz="1100" dirty="0"/>
          </a:p>
        </p:txBody>
      </p:sp>
      <p:sp>
        <p:nvSpPr>
          <p:cNvPr id="13" name="Shape 11"/>
          <p:cNvSpPr/>
          <p:nvPr/>
        </p:nvSpPr>
        <p:spPr>
          <a:xfrm>
            <a:off x="548640" y="3483864"/>
            <a:ext cx="2011680" cy="795528"/>
          </a:xfrm>
          <a:prstGeom prst="rect">
            <a:avLst/>
          </a:prstGeom>
          <a:solidFill>
            <a:srgbClr val="1C2B45"/>
          </a:solidFill>
          <a:ln/>
        </p:spPr>
      </p:sp>
      <p:sp>
        <p:nvSpPr>
          <p:cNvPr id="14" name="Text 12"/>
          <p:cNvSpPr txBox="1"/>
          <p:nvPr/>
        </p:nvSpPr>
        <p:spPr>
          <a:xfrm>
            <a:off x="685800" y="3483864"/>
            <a:ext cx="1737360" cy="795528"/>
          </a:xfrm>
          <a:prstGeom prst="rect">
            <a:avLst/>
          </a:prstGeom>
          <a:noFill/>
          <a:ln/>
        </p:spPr>
        <p:txBody>
          <a:bodyPr wrap="square" lIns="0" tIns="0" rIns="0" bIns="0" rtlCol="0" anchor="ctr"/>
          <a:lstStyle/>
          <a:p>
            <a:pPr indent="0" marL="0">
              <a:buNone/>
            </a:pPr>
            <a:r>
              <a:rPr lang="en-US" sz="1000" b="1" spc="50" kern="0" dirty="0">
                <a:solidFill>
                  <a:srgbClr val="D9762E"/>
                </a:solidFill>
                <a:latin typeface="Calibri" pitchFamily="34" charset="0"/>
                <a:ea typeface="Calibri" pitchFamily="34" charset="-122"/>
                <a:cs typeface="Calibri" pitchFamily="34" charset="-120"/>
              </a:rPr>
              <a:t>OUTCOME</a:t>
            </a:r>
            <a:endParaRPr lang="en-US" sz="1000" dirty="0"/>
          </a:p>
        </p:txBody>
      </p:sp>
      <p:sp>
        <p:nvSpPr>
          <p:cNvPr id="15" name="Shape 13"/>
          <p:cNvSpPr/>
          <p:nvPr/>
        </p:nvSpPr>
        <p:spPr>
          <a:xfrm>
            <a:off x="2560320" y="3483864"/>
            <a:ext cx="8165592" cy="795528"/>
          </a:xfrm>
          <a:prstGeom prst="rect">
            <a:avLst/>
          </a:prstGeom>
          <a:solidFill>
            <a:srgbClr val="FFFFFF"/>
          </a:solidFill>
          <a:ln w="12700">
            <a:solidFill>
              <a:srgbClr val="D8DCE6"/>
            </a:solidFill>
            <a:prstDash val="solid"/>
          </a:ln>
        </p:spPr>
      </p:sp>
      <p:sp>
        <p:nvSpPr>
          <p:cNvPr id="16" name="Text 14"/>
          <p:cNvSpPr txBox="1"/>
          <p:nvPr/>
        </p:nvSpPr>
        <p:spPr>
          <a:xfrm>
            <a:off x="2743200" y="3483864"/>
            <a:ext cx="7818120" cy="795528"/>
          </a:xfrm>
          <a:prstGeom prst="rect">
            <a:avLst/>
          </a:prstGeom>
          <a:noFill/>
          <a:ln/>
        </p:spPr>
        <p:txBody>
          <a:bodyPr wrap="square" lIns="0" tIns="0" rIns="0" bIns="0" rtlCol="0" anchor="ctr"/>
          <a:lstStyle/>
          <a:p>
            <a:pPr indent="0" marL="0">
              <a:lnSpc>
                <a:spcPct val="105000"/>
              </a:lnSpc>
              <a:buNone/>
            </a:pPr>
            <a:r>
              <a:rPr lang="en-US" sz="1100" dirty="0">
                <a:solidFill>
                  <a:srgbClr val="1C2B45"/>
                </a:solidFill>
                <a:latin typeface="Calibri" pitchFamily="34" charset="0"/>
                <a:ea typeface="Calibri" pitchFamily="34" charset="-122"/>
                <a:cs typeface="Calibri" pitchFamily="34" charset="-120"/>
              </a:rPr>
              <a:t>Fewer unresolved cancellations with no recourse; a measurable floor under worst-case failures</a:t>
            </a:r>
            <a:endParaRPr lang="en-US" sz="1100" dirty="0"/>
          </a:p>
        </p:txBody>
      </p:sp>
      <p:sp>
        <p:nvSpPr>
          <p:cNvPr id="17" name="Shape 15"/>
          <p:cNvSpPr/>
          <p:nvPr/>
        </p:nvSpPr>
        <p:spPr>
          <a:xfrm>
            <a:off x="548640" y="4334256"/>
            <a:ext cx="2011680" cy="795528"/>
          </a:xfrm>
          <a:prstGeom prst="rect">
            <a:avLst/>
          </a:prstGeom>
          <a:solidFill>
            <a:srgbClr val="1C2B45"/>
          </a:solidFill>
          <a:ln/>
        </p:spPr>
      </p:sp>
      <p:sp>
        <p:nvSpPr>
          <p:cNvPr id="18" name="Text 16"/>
          <p:cNvSpPr txBox="1"/>
          <p:nvPr/>
        </p:nvSpPr>
        <p:spPr>
          <a:xfrm>
            <a:off x="685800" y="4334256"/>
            <a:ext cx="1737360" cy="795528"/>
          </a:xfrm>
          <a:prstGeom prst="rect">
            <a:avLst/>
          </a:prstGeom>
          <a:noFill/>
          <a:ln/>
        </p:spPr>
        <p:txBody>
          <a:bodyPr wrap="square" lIns="0" tIns="0" rIns="0" bIns="0" rtlCol="0" anchor="ctr"/>
          <a:lstStyle/>
          <a:p>
            <a:pPr indent="0" marL="0">
              <a:buNone/>
            </a:pPr>
            <a:r>
              <a:rPr lang="en-US" sz="1000" b="1" spc="50" kern="0" dirty="0">
                <a:solidFill>
                  <a:srgbClr val="D9762E"/>
                </a:solidFill>
                <a:latin typeface="Calibri" pitchFamily="34" charset="0"/>
                <a:ea typeface="Calibri" pitchFamily="34" charset="-122"/>
                <a:cs typeface="Calibri" pitchFamily="34" charset="-120"/>
              </a:rPr>
              <a:t>RISK</a:t>
            </a:r>
            <a:endParaRPr lang="en-US" sz="1000" dirty="0"/>
          </a:p>
        </p:txBody>
      </p:sp>
      <p:sp>
        <p:nvSpPr>
          <p:cNvPr id="19" name="Shape 17"/>
          <p:cNvSpPr/>
          <p:nvPr/>
        </p:nvSpPr>
        <p:spPr>
          <a:xfrm>
            <a:off x="2560320" y="4334256"/>
            <a:ext cx="8165592" cy="795528"/>
          </a:xfrm>
          <a:prstGeom prst="rect">
            <a:avLst/>
          </a:prstGeom>
          <a:solidFill>
            <a:srgbClr val="FFFFFF"/>
          </a:solidFill>
          <a:ln w="12700">
            <a:solidFill>
              <a:srgbClr val="D8DCE6"/>
            </a:solidFill>
            <a:prstDash val="solid"/>
          </a:ln>
        </p:spPr>
      </p:sp>
      <p:sp>
        <p:nvSpPr>
          <p:cNvPr id="20" name="Text 18"/>
          <p:cNvSpPr txBox="1"/>
          <p:nvPr/>
        </p:nvSpPr>
        <p:spPr>
          <a:xfrm>
            <a:off x="2743200" y="4334256"/>
            <a:ext cx="7818120" cy="795528"/>
          </a:xfrm>
          <a:prstGeom prst="rect">
            <a:avLst/>
          </a:prstGeom>
          <a:noFill/>
          <a:ln/>
        </p:spPr>
        <p:txBody>
          <a:bodyPr wrap="square" lIns="0" tIns="0" rIns="0" bIns="0" rtlCol="0" anchor="ctr"/>
          <a:lstStyle/>
          <a:p>
            <a:pPr indent="0" marL="0">
              <a:lnSpc>
                <a:spcPct val="105000"/>
              </a:lnSpc>
              <a:buNone/>
            </a:pPr>
            <a:r>
              <a:rPr lang="en-US" sz="1100" dirty="0">
                <a:solidFill>
                  <a:srgbClr val="1C2B45"/>
                </a:solidFill>
                <a:latin typeface="Calibri" pitchFamily="34" charset="0"/>
                <a:ea typeface="Calibri" pitchFamily="34" charset="-122"/>
                <a:cs typeface="Calibri" pitchFamily="34" charset="-120"/>
              </a:rPr>
              <a:t>Must trigger only on genuine stalls, not become a general complaint channel; reassignment needs a driver-compensation answer, not just a UX flow</a:t>
            </a:r>
            <a:endParaRPr lang="en-US" sz="1100" dirty="0"/>
          </a:p>
        </p:txBody>
      </p:sp>
      <p:sp>
        <p:nvSpPr>
          <p:cNvPr id="21" name="Shape 19"/>
          <p:cNvSpPr/>
          <p:nvPr/>
        </p:nvSpPr>
        <p:spPr>
          <a:xfrm>
            <a:off x="548640" y="5184648"/>
            <a:ext cx="2011680" cy="795528"/>
          </a:xfrm>
          <a:prstGeom prst="rect">
            <a:avLst/>
          </a:prstGeom>
          <a:solidFill>
            <a:srgbClr val="1C2B45"/>
          </a:solidFill>
          <a:ln/>
        </p:spPr>
      </p:sp>
      <p:sp>
        <p:nvSpPr>
          <p:cNvPr id="22" name="Text 20"/>
          <p:cNvSpPr txBox="1"/>
          <p:nvPr/>
        </p:nvSpPr>
        <p:spPr>
          <a:xfrm>
            <a:off x="685800" y="5184648"/>
            <a:ext cx="1737360" cy="795528"/>
          </a:xfrm>
          <a:prstGeom prst="rect">
            <a:avLst/>
          </a:prstGeom>
          <a:noFill/>
          <a:ln/>
        </p:spPr>
        <p:txBody>
          <a:bodyPr wrap="square" lIns="0" tIns="0" rIns="0" bIns="0" rtlCol="0" anchor="ctr"/>
          <a:lstStyle/>
          <a:p>
            <a:pPr indent="0" marL="0">
              <a:buNone/>
            </a:pPr>
            <a:r>
              <a:rPr lang="en-US" sz="1000" b="1" spc="50" kern="0" dirty="0">
                <a:solidFill>
                  <a:srgbClr val="D9762E"/>
                </a:solidFill>
                <a:latin typeface="Calibri" pitchFamily="34" charset="0"/>
                <a:ea typeface="Calibri" pitchFamily="34" charset="-122"/>
                <a:cs typeface="Calibri" pitchFamily="34" charset="-120"/>
              </a:rPr>
              <a:t>TEST</a:t>
            </a:r>
            <a:endParaRPr lang="en-US" sz="1000" dirty="0"/>
          </a:p>
        </p:txBody>
      </p:sp>
      <p:sp>
        <p:nvSpPr>
          <p:cNvPr id="23" name="Shape 21"/>
          <p:cNvSpPr/>
          <p:nvPr/>
        </p:nvSpPr>
        <p:spPr>
          <a:xfrm>
            <a:off x="2560320" y="5184648"/>
            <a:ext cx="8165592" cy="795528"/>
          </a:xfrm>
          <a:prstGeom prst="rect">
            <a:avLst/>
          </a:prstGeom>
          <a:solidFill>
            <a:srgbClr val="FFFFFF"/>
          </a:solidFill>
          <a:ln w="12700">
            <a:solidFill>
              <a:srgbClr val="D8DCE6"/>
            </a:solidFill>
            <a:prstDash val="solid"/>
          </a:ln>
        </p:spPr>
      </p:sp>
      <p:sp>
        <p:nvSpPr>
          <p:cNvPr id="24" name="Text 22"/>
          <p:cNvSpPr txBox="1"/>
          <p:nvPr/>
        </p:nvSpPr>
        <p:spPr>
          <a:xfrm>
            <a:off x="2743200" y="5184648"/>
            <a:ext cx="7818120" cy="795528"/>
          </a:xfrm>
          <a:prstGeom prst="rect">
            <a:avLst/>
          </a:prstGeom>
          <a:noFill/>
          <a:ln/>
        </p:spPr>
        <p:txBody>
          <a:bodyPr wrap="square" lIns="0" tIns="0" rIns="0" bIns="0" rtlCol="0" anchor="ctr"/>
          <a:lstStyle/>
          <a:p>
            <a:pPr indent="0" marL="0">
              <a:lnSpc>
                <a:spcPct val="105000"/>
              </a:lnSpc>
              <a:buNone/>
            </a:pPr>
            <a:r>
              <a:rPr lang="en-US" sz="1100" dirty="0">
                <a:solidFill>
                  <a:srgbClr val="1C2B45"/>
                </a:solidFill>
                <a:latin typeface="Calibri" pitchFamily="34" charset="0"/>
                <a:ea typeface="Calibri" pitchFamily="34" charset="-122"/>
                <a:cs typeface="Calibri" pitchFamily="34" charset="-120"/>
              </a:rPr>
              <a:t>Instrument stalled “arrived” states; offer guided escalation to a sample; measure resolution rate vs. control</a:t>
            </a:r>
            <a:endParaRPr lang="en-US" sz="1100" dirty="0"/>
          </a:p>
        </p:txBody>
      </p:sp>
      <p:sp>
        <p:nvSpPr>
          <p:cNvPr id="25" name="Text 2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Find My Ride — Appendix</a:t>
            </a:r>
            <a:endParaRPr lang="en-US" sz="900" dirty="0"/>
          </a:p>
        </p:txBody>
      </p:sp>
      <p:sp>
        <p:nvSpPr>
          <p:cNvPr id="26" name="Text 2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FF3"/>
          </a:solidFill>
          <a:ln/>
        </p:spPr>
      </p:sp>
      <p:sp>
        <p:nvSpPr>
          <p:cNvPr id="3" name="Text 1"/>
          <p:cNvSpPr txBox="1"/>
          <p:nvPr/>
        </p:nvSpPr>
        <p:spPr>
          <a:xfrm>
            <a:off x="548640" y="50292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APPENDIX · PRIORITY 3 OF 3, FULL DETAIL</a:t>
            </a:r>
            <a:endParaRPr lang="en-US" sz="1200" dirty="0"/>
          </a:p>
        </p:txBody>
      </p:sp>
      <p:sp>
        <p:nvSpPr>
          <p:cNvPr id="4" name="Text 2"/>
          <p:cNvSpPr txBox="1"/>
          <p:nvPr/>
        </p:nvSpPr>
        <p:spPr>
          <a:xfrm>
            <a:off x="548640" y="822960"/>
            <a:ext cx="10515600" cy="822960"/>
          </a:xfrm>
          <a:prstGeom prst="rect">
            <a:avLst/>
          </a:prstGeom>
          <a:noFill/>
          <a:ln/>
        </p:spPr>
        <p:txBody>
          <a:bodyPr wrap="square" lIns="0" tIns="0" rIns="0" bIns="0" rtlCol="0" anchor="ctr"/>
          <a:lstStyle/>
          <a:p>
            <a:pPr indent="0" marL="0">
              <a:buNone/>
            </a:pPr>
            <a:r>
              <a:rPr lang="en-US" sz="2400" b="1" dirty="0">
                <a:solidFill>
                  <a:srgbClr val="1C2B45"/>
                </a:solidFill>
                <a:latin typeface="Cambria" pitchFamily="34" charset="0"/>
                <a:ea typeface="Cambria" pitchFamily="34" charset="-122"/>
                <a:cs typeface="Cambria" pitchFamily="34" charset="-120"/>
              </a:rPr>
              <a:t>Reusable venue-specific coordination notes — full detail</a:t>
            </a:r>
            <a:endParaRPr lang="en-US" sz="2400" dirty="0"/>
          </a:p>
        </p:txBody>
      </p:sp>
      <p:sp>
        <p:nvSpPr>
          <p:cNvPr id="5" name="Shape 3"/>
          <p:cNvSpPr/>
          <p:nvPr/>
        </p:nvSpPr>
        <p:spPr>
          <a:xfrm>
            <a:off x="548640" y="1783080"/>
            <a:ext cx="2011680" cy="795528"/>
          </a:xfrm>
          <a:prstGeom prst="rect">
            <a:avLst/>
          </a:prstGeom>
          <a:solidFill>
            <a:srgbClr val="1C2B45"/>
          </a:solidFill>
          <a:ln/>
        </p:spPr>
      </p:sp>
      <p:sp>
        <p:nvSpPr>
          <p:cNvPr id="6" name="Text 4"/>
          <p:cNvSpPr txBox="1"/>
          <p:nvPr/>
        </p:nvSpPr>
        <p:spPr>
          <a:xfrm>
            <a:off x="685800" y="1783080"/>
            <a:ext cx="1737360" cy="795528"/>
          </a:xfrm>
          <a:prstGeom prst="rect">
            <a:avLst/>
          </a:prstGeom>
          <a:noFill/>
          <a:ln/>
        </p:spPr>
        <p:txBody>
          <a:bodyPr wrap="square" lIns="0" tIns="0" rIns="0" bIns="0" rtlCol="0" anchor="ctr"/>
          <a:lstStyle/>
          <a:p>
            <a:pPr indent="0" marL="0">
              <a:buNone/>
            </a:pPr>
            <a:r>
              <a:rPr lang="en-US" sz="1000" b="1" spc="50" kern="0" dirty="0">
                <a:solidFill>
                  <a:srgbClr val="D9762E"/>
                </a:solidFill>
                <a:latin typeface="Calibri" pitchFamily="34" charset="0"/>
                <a:ea typeface="Calibri" pitchFamily="34" charset="-122"/>
                <a:cs typeface="Calibri" pitchFamily="34" charset="-120"/>
              </a:rPr>
              <a:t>USER</a:t>
            </a:r>
            <a:endParaRPr lang="en-US" sz="1000" dirty="0"/>
          </a:p>
        </p:txBody>
      </p:sp>
      <p:sp>
        <p:nvSpPr>
          <p:cNvPr id="7" name="Shape 5"/>
          <p:cNvSpPr/>
          <p:nvPr/>
        </p:nvSpPr>
        <p:spPr>
          <a:xfrm>
            <a:off x="2560320" y="1783080"/>
            <a:ext cx="8165592" cy="795528"/>
          </a:xfrm>
          <a:prstGeom prst="rect">
            <a:avLst/>
          </a:prstGeom>
          <a:solidFill>
            <a:srgbClr val="FFFFFF"/>
          </a:solidFill>
          <a:ln w="12700">
            <a:solidFill>
              <a:srgbClr val="D8DCE6"/>
            </a:solidFill>
            <a:prstDash val="solid"/>
          </a:ln>
        </p:spPr>
      </p:sp>
      <p:sp>
        <p:nvSpPr>
          <p:cNvPr id="8" name="Text 6"/>
          <p:cNvSpPr txBox="1"/>
          <p:nvPr/>
        </p:nvSpPr>
        <p:spPr>
          <a:xfrm>
            <a:off x="2743200" y="1783080"/>
            <a:ext cx="7818120" cy="795528"/>
          </a:xfrm>
          <a:prstGeom prst="rect">
            <a:avLst/>
          </a:prstGeom>
          <a:noFill/>
          <a:ln/>
        </p:spPr>
        <p:txBody>
          <a:bodyPr wrap="square" lIns="0" tIns="0" rIns="0" bIns="0" rtlCol="0" anchor="ctr"/>
          <a:lstStyle/>
          <a:p>
            <a:pPr indent="0" marL="0">
              <a:lnSpc>
                <a:spcPct val="105000"/>
              </a:lnSpc>
              <a:buNone/>
            </a:pPr>
            <a:r>
              <a:rPr lang="en-US" sz="1100" dirty="0">
                <a:solidFill>
                  <a:srgbClr val="1C2B45"/>
                </a:solidFill>
                <a:latin typeface="Calibri" pitchFamily="34" charset="0"/>
                <a:ea typeface="Calibri" pitchFamily="34" charset="-122"/>
                <a:cs typeface="Calibri" pitchFamily="34" charset="-120"/>
              </a:rPr>
              <a:t>Riders and drivers, at a small shortlist of highest-mention venues — not a general rollout</a:t>
            </a:r>
            <a:endParaRPr lang="en-US" sz="1100" dirty="0"/>
          </a:p>
        </p:txBody>
      </p:sp>
      <p:sp>
        <p:nvSpPr>
          <p:cNvPr id="9" name="Shape 7"/>
          <p:cNvSpPr/>
          <p:nvPr/>
        </p:nvSpPr>
        <p:spPr>
          <a:xfrm>
            <a:off x="548640" y="2633472"/>
            <a:ext cx="2011680" cy="795528"/>
          </a:xfrm>
          <a:prstGeom prst="rect">
            <a:avLst/>
          </a:prstGeom>
          <a:solidFill>
            <a:srgbClr val="1C2B45"/>
          </a:solidFill>
          <a:ln/>
        </p:spPr>
      </p:sp>
      <p:sp>
        <p:nvSpPr>
          <p:cNvPr id="10" name="Text 8"/>
          <p:cNvSpPr txBox="1"/>
          <p:nvPr/>
        </p:nvSpPr>
        <p:spPr>
          <a:xfrm>
            <a:off x="685800" y="2633472"/>
            <a:ext cx="1737360" cy="795528"/>
          </a:xfrm>
          <a:prstGeom prst="rect">
            <a:avLst/>
          </a:prstGeom>
          <a:noFill/>
          <a:ln/>
        </p:spPr>
        <p:txBody>
          <a:bodyPr wrap="square" lIns="0" tIns="0" rIns="0" bIns="0" rtlCol="0" anchor="ctr"/>
          <a:lstStyle/>
          <a:p>
            <a:pPr indent="0" marL="0">
              <a:buNone/>
            </a:pPr>
            <a:r>
              <a:rPr lang="en-US" sz="1000" b="1" spc="50" kern="0" dirty="0">
                <a:solidFill>
                  <a:srgbClr val="D9762E"/>
                </a:solidFill>
                <a:latin typeface="Calibri" pitchFamily="34" charset="0"/>
                <a:ea typeface="Calibri" pitchFamily="34" charset="-122"/>
                <a:cs typeface="Calibri" pitchFamily="34" charset="-120"/>
              </a:rPr>
              <a:t>ACTION</a:t>
            </a:r>
            <a:endParaRPr lang="en-US" sz="1000" dirty="0"/>
          </a:p>
        </p:txBody>
      </p:sp>
      <p:sp>
        <p:nvSpPr>
          <p:cNvPr id="11" name="Shape 9"/>
          <p:cNvSpPr/>
          <p:nvPr/>
        </p:nvSpPr>
        <p:spPr>
          <a:xfrm>
            <a:off x="2560320" y="2633472"/>
            <a:ext cx="8165592" cy="795528"/>
          </a:xfrm>
          <a:prstGeom prst="rect">
            <a:avLst/>
          </a:prstGeom>
          <a:solidFill>
            <a:srgbClr val="FFFFFF"/>
          </a:solidFill>
          <a:ln w="12700">
            <a:solidFill>
              <a:srgbClr val="D8DCE6"/>
            </a:solidFill>
            <a:prstDash val="solid"/>
          </a:ln>
        </p:spPr>
      </p:sp>
      <p:sp>
        <p:nvSpPr>
          <p:cNvPr id="12" name="Text 10"/>
          <p:cNvSpPr txBox="1"/>
          <p:nvPr/>
        </p:nvSpPr>
        <p:spPr>
          <a:xfrm>
            <a:off x="2743200" y="2633472"/>
            <a:ext cx="7818120" cy="795528"/>
          </a:xfrm>
          <a:prstGeom prst="rect">
            <a:avLst/>
          </a:prstGeom>
          <a:noFill/>
          <a:ln/>
        </p:spPr>
        <p:txBody>
          <a:bodyPr wrap="square" lIns="0" tIns="0" rIns="0" bIns="0" rtlCol="0" anchor="ctr"/>
          <a:lstStyle/>
          <a:p>
            <a:pPr indent="0" marL="0">
              <a:lnSpc>
                <a:spcPct val="105000"/>
              </a:lnSpc>
              <a:buNone/>
            </a:pPr>
            <a:r>
              <a:rPr lang="en-US" sz="1100" dirty="0">
                <a:solidFill>
                  <a:srgbClr val="1C2B45"/>
                </a:solidFill>
                <a:latin typeface="Calibri" pitchFamily="34" charset="0"/>
                <a:ea typeface="Calibri" pitchFamily="34" charset="-122"/>
                <a:cs typeface="Calibri" pitchFamily="34" charset="-120"/>
              </a:rPr>
              <a:t>For 2–3 top venues, invest once in a structured note (gate/side, legal stop, access constraints) every rider/driver pulls from</a:t>
            </a:r>
            <a:endParaRPr lang="en-US" sz="1100" dirty="0"/>
          </a:p>
        </p:txBody>
      </p:sp>
      <p:sp>
        <p:nvSpPr>
          <p:cNvPr id="13" name="Shape 11"/>
          <p:cNvSpPr/>
          <p:nvPr/>
        </p:nvSpPr>
        <p:spPr>
          <a:xfrm>
            <a:off x="548640" y="3483864"/>
            <a:ext cx="2011680" cy="795528"/>
          </a:xfrm>
          <a:prstGeom prst="rect">
            <a:avLst/>
          </a:prstGeom>
          <a:solidFill>
            <a:srgbClr val="1C2B45"/>
          </a:solidFill>
          <a:ln/>
        </p:spPr>
      </p:sp>
      <p:sp>
        <p:nvSpPr>
          <p:cNvPr id="14" name="Text 12"/>
          <p:cNvSpPr txBox="1"/>
          <p:nvPr/>
        </p:nvSpPr>
        <p:spPr>
          <a:xfrm>
            <a:off x="685800" y="3483864"/>
            <a:ext cx="1737360" cy="795528"/>
          </a:xfrm>
          <a:prstGeom prst="rect">
            <a:avLst/>
          </a:prstGeom>
          <a:noFill/>
          <a:ln/>
        </p:spPr>
        <p:txBody>
          <a:bodyPr wrap="square" lIns="0" tIns="0" rIns="0" bIns="0" rtlCol="0" anchor="ctr"/>
          <a:lstStyle/>
          <a:p>
            <a:pPr indent="0" marL="0">
              <a:buNone/>
            </a:pPr>
            <a:r>
              <a:rPr lang="en-US" sz="1000" b="1" spc="50" kern="0" dirty="0">
                <a:solidFill>
                  <a:srgbClr val="D9762E"/>
                </a:solidFill>
                <a:latin typeface="Calibri" pitchFamily="34" charset="0"/>
                <a:ea typeface="Calibri" pitchFamily="34" charset="-122"/>
                <a:cs typeface="Calibri" pitchFamily="34" charset="-120"/>
              </a:rPr>
              <a:t>OUTCOME</a:t>
            </a:r>
            <a:endParaRPr lang="en-US" sz="1000" dirty="0"/>
          </a:p>
        </p:txBody>
      </p:sp>
      <p:sp>
        <p:nvSpPr>
          <p:cNvPr id="15" name="Shape 13"/>
          <p:cNvSpPr/>
          <p:nvPr/>
        </p:nvSpPr>
        <p:spPr>
          <a:xfrm>
            <a:off x="2560320" y="3483864"/>
            <a:ext cx="8165592" cy="795528"/>
          </a:xfrm>
          <a:prstGeom prst="rect">
            <a:avLst/>
          </a:prstGeom>
          <a:solidFill>
            <a:srgbClr val="FFFFFF"/>
          </a:solidFill>
          <a:ln w="12700">
            <a:solidFill>
              <a:srgbClr val="D8DCE6"/>
            </a:solidFill>
            <a:prstDash val="solid"/>
          </a:ln>
        </p:spPr>
      </p:sp>
      <p:sp>
        <p:nvSpPr>
          <p:cNvPr id="16" name="Text 14"/>
          <p:cNvSpPr txBox="1"/>
          <p:nvPr/>
        </p:nvSpPr>
        <p:spPr>
          <a:xfrm>
            <a:off x="2743200" y="3483864"/>
            <a:ext cx="7818120" cy="795528"/>
          </a:xfrm>
          <a:prstGeom prst="rect">
            <a:avLst/>
          </a:prstGeom>
          <a:noFill/>
          <a:ln/>
        </p:spPr>
        <p:txBody>
          <a:bodyPr wrap="square" lIns="0" tIns="0" rIns="0" bIns="0" rtlCol="0" anchor="ctr"/>
          <a:lstStyle/>
          <a:p>
            <a:pPr indent="0" marL="0">
              <a:lnSpc>
                <a:spcPct val="105000"/>
              </a:lnSpc>
              <a:buNone/>
            </a:pPr>
            <a:r>
              <a:rPr lang="en-US" sz="1100" dirty="0">
                <a:solidFill>
                  <a:srgbClr val="1C2B45"/>
                </a:solidFill>
                <a:latin typeface="Calibri" pitchFamily="34" charset="0"/>
                <a:ea typeface="Calibri" pitchFamily="34" charset="-122"/>
                <a:cs typeface="Calibri" pitchFamily="34" charset="-120"/>
              </a:rPr>
              <a:t>A one-time venue-level investment pays off across many repeat pickups at that place</a:t>
            </a:r>
            <a:endParaRPr lang="en-US" sz="1100" dirty="0"/>
          </a:p>
        </p:txBody>
      </p:sp>
      <p:sp>
        <p:nvSpPr>
          <p:cNvPr id="17" name="Shape 15"/>
          <p:cNvSpPr/>
          <p:nvPr/>
        </p:nvSpPr>
        <p:spPr>
          <a:xfrm>
            <a:off x="548640" y="4334256"/>
            <a:ext cx="2011680" cy="795528"/>
          </a:xfrm>
          <a:prstGeom prst="rect">
            <a:avLst/>
          </a:prstGeom>
          <a:solidFill>
            <a:srgbClr val="1C2B45"/>
          </a:solidFill>
          <a:ln/>
        </p:spPr>
      </p:sp>
      <p:sp>
        <p:nvSpPr>
          <p:cNvPr id="18" name="Text 16"/>
          <p:cNvSpPr txBox="1"/>
          <p:nvPr/>
        </p:nvSpPr>
        <p:spPr>
          <a:xfrm>
            <a:off x="685800" y="4334256"/>
            <a:ext cx="1737360" cy="795528"/>
          </a:xfrm>
          <a:prstGeom prst="rect">
            <a:avLst/>
          </a:prstGeom>
          <a:noFill/>
          <a:ln/>
        </p:spPr>
        <p:txBody>
          <a:bodyPr wrap="square" lIns="0" tIns="0" rIns="0" bIns="0" rtlCol="0" anchor="ctr"/>
          <a:lstStyle/>
          <a:p>
            <a:pPr indent="0" marL="0">
              <a:buNone/>
            </a:pPr>
            <a:r>
              <a:rPr lang="en-US" sz="1000" b="1" spc="50" kern="0" dirty="0">
                <a:solidFill>
                  <a:srgbClr val="D9762E"/>
                </a:solidFill>
                <a:latin typeface="Calibri" pitchFamily="34" charset="0"/>
                <a:ea typeface="Calibri" pitchFamily="34" charset="-122"/>
                <a:cs typeface="Calibri" pitchFamily="34" charset="-120"/>
              </a:rPr>
              <a:t>RISK</a:t>
            </a:r>
            <a:endParaRPr lang="en-US" sz="1000" dirty="0"/>
          </a:p>
        </p:txBody>
      </p:sp>
      <p:sp>
        <p:nvSpPr>
          <p:cNvPr id="19" name="Shape 17"/>
          <p:cNvSpPr/>
          <p:nvPr/>
        </p:nvSpPr>
        <p:spPr>
          <a:xfrm>
            <a:off x="2560320" y="4334256"/>
            <a:ext cx="8165592" cy="795528"/>
          </a:xfrm>
          <a:prstGeom prst="rect">
            <a:avLst/>
          </a:prstGeom>
          <a:solidFill>
            <a:srgbClr val="FFFFFF"/>
          </a:solidFill>
          <a:ln w="12700">
            <a:solidFill>
              <a:srgbClr val="D8DCE6"/>
            </a:solidFill>
            <a:prstDash val="solid"/>
          </a:ln>
        </p:spPr>
      </p:sp>
      <p:sp>
        <p:nvSpPr>
          <p:cNvPr id="20" name="Text 18"/>
          <p:cNvSpPr txBox="1"/>
          <p:nvPr/>
        </p:nvSpPr>
        <p:spPr>
          <a:xfrm>
            <a:off x="2743200" y="4334256"/>
            <a:ext cx="7818120" cy="795528"/>
          </a:xfrm>
          <a:prstGeom prst="rect">
            <a:avLst/>
          </a:prstGeom>
          <a:noFill/>
          <a:ln/>
        </p:spPr>
        <p:txBody>
          <a:bodyPr wrap="square" lIns="0" tIns="0" rIns="0" bIns="0" rtlCol="0" anchor="ctr"/>
          <a:lstStyle/>
          <a:p>
            <a:pPr indent="0" marL="0">
              <a:lnSpc>
                <a:spcPct val="105000"/>
              </a:lnSpc>
              <a:buNone/>
            </a:pPr>
            <a:r>
              <a:rPr lang="en-US" sz="1100" dirty="0">
                <a:solidFill>
                  <a:srgbClr val="1C2B45"/>
                </a:solidFill>
                <a:latin typeface="Calibri" pitchFamily="34" charset="0"/>
                <a:ea typeface="Calibri" pitchFamily="34" charset="-122"/>
                <a:cs typeface="Calibri" pitchFamily="34" charset="-120"/>
              </a:rPr>
              <a:t>Venue rules change (Secunderabad's did, in 2026); desk-only validated, not field-confirmed — flag “confirm before scaling”</a:t>
            </a:r>
            <a:endParaRPr lang="en-US" sz="1100" dirty="0"/>
          </a:p>
        </p:txBody>
      </p:sp>
      <p:sp>
        <p:nvSpPr>
          <p:cNvPr id="21" name="Shape 19"/>
          <p:cNvSpPr/>
          <p:nvPr/>
        </p:nvSpPr>
        <p:spPr>
          <a:xfrm>
            <a:off x="548640" y="5184648"/>
            <a:ext cx="2011680" cy="795528"/>
          </a:xfrm>
          <a:prstGeom prst="rect">
            <a:avLst/>
          </a:prstGeom>
          <a:solidFill>
            <a:srgbClr val="1C2B45"/>
          </a:solidFill>
          <a:ln/>
        </p:spPr>
      </p:sp>
      <p:sp>
        <p:nvSpPr>
          <p:cNvPr id="22" name="Text 20"/>
          <p:cNvSpPr txBox="1"/>
          <p:nvPr/>
        </p:nvSpPr>
        <p:spPr>
          <a:xfrm>
            <a:off x="685800" y="5184648"/>
            <a:ext cx="1737360" cy="795528"/>
          </a:xfrm>
          <a:prstGeom prst="rect">
            <a:avLst/>
          </a:prstGeom>
          <a:noFill/>
          <a:ln/>
        </p:spPr>
        <p:txBody>
          <a:bodyPr wrap="square" lIns="0" tIns="0" rIns="0" bIns="0" rtlCol="0" anchor="ctr"/>
          <a:lstStyle/>
          <a:p>
            <a:pPr indent="0" marL="0">
              <a:buNone/>
            </a:pPr>
            <a:r>
              <a:rPr lang="en-US" sz="1000" b="1" spc="50" kern="0" dirty="0">
                <a:solidFill>
                  <a:srgbClr val="D9762E"/>
                </a:solidFill>
                <a:latin typeface="Calibri" pitchFamily="34" charset="0"/>
                <a:ea typeface="Calibri" pitchFamily="34" charset="-122"/>
                <a:cs typeface="Calibri" pitchFamily="34" charset="-120"/>
              </a:rPr>
              <a:t>TEST</a:t>
            </a:r>
            <a:endParaRPr lang="en-US" sz="1000" dirty="0"/>
          </a:p>
        </p:txBody>
      </p:sp>
      <p:sp>
        <p:nvSpPr>
          <p:cNvPr id="23" name="Shape 21"/>
          <p:cNvSpPr/>
          <p:nvPr/>
        </p:nvSpPr>
        <p:spPr>
          <a:xfrm>
            <a:off x="2560320" y="5184648"/>
            <a:ext cx="8165592" cy="795528"/>
          </a:xfrm>
          <a:prstGeom prst="rect">
            <a:avLst/>
          </a:prstGeom>
          <a:solidFill>
            <a:srgbClr val="FFFFFF"/>
          </a:solidFill>
          <a:ln w="12700">
            <a:solidFill>
              <a:srgbClr val="D8DCE6"/>
            </a:solidFill>
            <a:prstDash val="solid"/>
          </a:ln>
        </p:spPr>
      </p:sp>
      <p:sp>
        <p:nvSpPr>
          <p:cNvPr id="24" name="Text 22"/>
          <p:cNvSpPr txBox="1"/>
          <p:nvPr/>
        </p:nvSpPr>
        <p:spPr>
          <a:xfrm>
            <a:off x="2743200" y="5184648"/>
            <a:ext cx="7818120" cy="795528"/>
          </a:xfrm>
          <a:prstGeom prst="rect">
            <a:avLst/>
          </a:prstGeom>
          <a:noFill/>
          <a:ln/>
        </p:spPr>
        <p:txBody>
          <a:bodyPr wrap="square" lIns="0" tIns="0" rIns="0" bIns="0" rtlCol="0" anchor="ctr"/>
          <a:lstStyle/>
          <a:p>
            <a:pPr indent="0" marL="0">
              <a:lnSpc>
                <a:spcPct val="105000"/>
              </a:lnSpc>
              <a:buNone/>
            </a:pPr>
            <a:r>
              <a:rPr lang="en-US" sz="1100" dirty="0">
                <a:solidFill>
                  <a:srgbClr val="1C2B45"/>
                </a:solidFill>
                <a:latin typeface="Calibri" pitchFamily="34" charset="0"/>
                <a:ea typeface="Calibri" pitchFamily="34" charset="-122"/>
                <a:cs typeface="Calibri" pitchFamily="34" charset="-120"/>
              </a:rPr>
              <a:t>Pilot at 2–3 venues; compare call/message rate and wait time against comparable non-piloted venues</a:t>
            </a:r>
            <a:endParaRPr lang="en-US" sz="1100" dirty="0"/>
          </a:p>
        </p:txBody>
      </p:sp>
      <p:sp>
        <p:nvSpPr>
          <p:cNvPr id="25" name="Text 2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Find My Ride — Appendix</a:t>
            </a:r>
            <a:endParaRPr lang="en-US" sz="900" dirty="0"/>
          </a:p>
        </p:txBody>
      </p:sp>
      <p:sp>
        <p:nvSpPr>
          <p:cNvPr id="26" name="Text 2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FF3"/>
          </a:solidFill>
          <a:ln/>
        </p:spPr>
      </p:sp>
      <p:sp>
        <p:nvSpPr>
          <p:cNvPr id="3" name="Text 1"/>
          <p:cNvSpPr txBox="1"/>
          <p:nvPr/>
        </p:nvSpPr>
        <p:spPr>
          <a:xfrm>
            <a:off x="548640" y="50292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APPENDIX · EVIDENCE BOUNDARY AND LIMITATIONS</a:t>
            </a:r>
            <a:endParaRPr lang="en-US" sz="1200" dirty="0"/>
          </a:p>
        </p:txBody>
      </p:sp>
      <p:sp>
        <p:nvSpPr>
          <p:cNvPr id="4" name="Text 2"/>
          <p:cNvSpPr txBox="1"/>
          <p:nvPr/>
        </p:nvSpPr>
        <p:spPr>
          <a:xfrm>
            <a:off x="548640" y="822960"/>
            <a:ext cx="10881360" cy="822960"/>
          </a:xfrm>
          <a:prstGeom prst="rect">
            <a:avLst/>
          </a:prstGeom>
          <a:noFill/>
          <a:ln/>
        </p:spPr>
        <p:txBody>
          <a:bodyPr wrap="square" lIns="0" tIns="0" rIns="0" bIns="0" rtlCol="0" anchor="ctr"/>
          <a:lstStyle/>
          <a:p>
            <a:pPr indent="0" marL="0">
              <a:buNone/>
            </a:pPr>
            <a:r>
              <a:rPr lang="en-US" sz="2700" b="1" dirty="0">
                <a:solidFill>
                  <a:srgbClr val="1C2B45"/>
                </a:solidFill>
                <a:latin typeface="Cambria" pitchFamily="34" charset="0"/>
                <a:ea typeface="Cambria" pitchFamily="34" charset="-122"/>
                <a:cs typeface="Cambria" pitchFamily="34" charset="-120"/>
              </a:rPr>
              <a:t>What kind of evidence this is</a:t>
            </a:r>
            <a:endParaRPr lang="en-US" sz="2700" dirty="0"/>
          </a:p>
        </p:txBody>
      </p:sp>
      <p:sp>
        <p:nvSpPr>
          <p:cNvPr id="5" name="Shape 3"/>
          <p:cNvSpPr/>
          <p:nvPr/>
        </p:nvSpPr>
        <p:spPr>
          <a:xfrm>
            <a:off x="548640" y="1975104"/>
            <a:ext cx="146304" cy="146304"/>
          </a:xfrm>
          <a:prstGeom prst="roundRect">
            <a:avLst>
              <a:gd name="adj" fmla="val 50000"/>
            </a:avLst>
          </a:prstGeom>
          <a:solidFill>
            <a:srgbClr val="D9762E"/>
          </a:solidFill>
          <a:ln/>
        </p:spPr>
      </p:sp>
      <p:sp>
        <p:nvSpPr>
          <p:cNvPr id="6" name="Text 4"/>
          <p:cNvSpPr txBox="1"/>
          <p:nvPr/>
        </p:nvSpPr>
        <p:spPr>
          <a:xfrm>
            <a:off x="868680" y="1920240"/>
            <a:ext cx="9692640" cy="548640"/>
          </a:xfrm>
          <a:prstGeom prst="rect">
            <a:avLst/>
          </a:prstGeom>
          <a:noFill/>
          <a:ln/>
        </p:spPr>
        <p:txBody>
          <a:bodyPr wrap="square" lIns="0" tIns="0" rIns="0" bIns="0" rtlCol="0" anchor="t"/>
          <a:lstStyle/>
          <a:p>
            <a:pPr indent="0" marL="0">
              <a:buNone/>
            </a:pPr>
            <a:r>
              <a:rPr lang="en-US" sz="1300" dirty="0">
                <a:solidFill>
                  <a:srgbClr val="1C2B45"/>
                </a:solidFill>
                <a:latin typeface="Calibri" pitchFamily="34" charset="0"/>
                <a:ea typeface="Calibri" pitchFamily="34" charset="-122"/>
                <a:cs typeface="Calibri" pitchFamily="34" charset="-120"/>
              </a:rPr>
              <a:t>Convenience sample from the researcher's own network — not random, not representative of Hyderabad riders</a:t>
            </a:r>
            <a:endParaRPr lang="en-US" sz="1300" dirty="0"/>
          </a:p>
        </p:txBody>
      </p:sp>
      <p:sp>
        <p:nvSpPr>
          <p:cNvPr id="7" name="Shape 5"/>
          <p:cNvSpPr/>
          <p:nvPr/>
        </p:nvSpPr>
        <p:spPr>
          <a:xfrm>
            <a:off x="548640" y="2633472"/>
            <a:ext cx="146304" cy="146304"/>
          </a:xfrm>
          <a:prstGeom prst="roundRect">
            <a:avLst>
              <a:gd name="adj" fmla="val 50000"/>
            </a:avLst>
          </a:prstGeom>
          <a:solidFill>
            <a:srgbClr val="D9762E"/>
          </a:solidFill>
          <a:ln/>
        </p:spPr>
      </p:sp>
      <p:sp>
        <p:nvSpPr>
          <p:cNvPr id="8" name="Text 6"/>
          <p:cNvSpPr txBox="1"/>
          <p:nvPr/>
        </p:nvSpPr>
        <p:spPr>
          <a:xfrm>
            <a:off x="868680" y="2578608"/>
            <a:ext cx="9692640" cy="548640"/>
          </a:xfrm>
          <a:prstGeom prst="rect">
            <a:avLst/>
          </a:prstGeom>
          <a:noFill/>
          <a:ln/>
        </p:spPr>
        <p:txBody>
          <a:bodyPr wrap="square" lIns="0" tIns="0" rIns="0" bIns="0" rtlCol="0" anchor="t"/>
          <a:lstStyle/>
          <a:p>
            <a:pPr indent="0" marL="0">
              <a:buNone/>
            </a:pPr>
            <a:r>
              <a:rPr lang="en-US" sz="1300" dirty="0">
                <a:solidFill>
                  <a:srgbClr val="1C2B45"/>
                </a:solidFill>
                <a:latin typeface="Calibri" pitchFamily="34" charset="0"/>
                <a:ea typeface="Calibri" pitchFamily="34" charset="-122"/>
                <a:cs typeface="Calibri" pitchFamily="34" charset="-120"/>
              </a:rPr>
              <a:t>Self-serve, trilingual, consent-gated survey — asynchronous, not live; could not probe a vague answer</a:t>
            </a:r>
            <a:endParaRPr lang="en-US" sz="1300" dirty="0"/>
          </a:p>
        </p:txBody>
      </p:sp>
      <p:sp>
        <p:nvSpPr>
          <p:cNvPr id="9" name="Shape 7"/>
          <p:cNvSpPr/>
          <p:nvPr/>
        </p:nvSpPr>
        <p:spPr>
          <a:xfrm>
            <a:off x="548640" y="3291840"/>
            <a:ext cx="146304" cy="146304"/>
          </a:xfrm>
          <a:prstGeom prst="roundRect">
            <a:avLst>
              <a:gd name="adj" fmla="val 50000"/>
            </a:avLst>
          </a:prstGeom>
          <a:solidFill>
            <a:srgbClr val="D9762E"/>
          </a:solidFill>
          <a:ln/>
        </p:spPr>
      </p:sp>
      <p:sp>
        <p:nvSpPr>
          <p:cNvPr id="10" name="Text 8"/>
          <p:cNvSpPr txBox="1"/>
          <p:nvPr/>
        </p:nvSpPr>
        <p:spPr>
          <a:xfrm>
            <a:off x="868680" y="3236976"/>
            <a:ext cx="9692640" cy="548640"/>
          </a:xfrm>
          <a:prstGeom prst="rect">
            <a:avLst/>
          </a:prstGeom>
          <a:noFill/>
          <a:ln/>
        </p:spPr>
        <p:txBody>
          <a:bodyPr wrap="square" lIns="0" tIns="0" rIns="0" bIns="0" rtlCol="0" anchor="t"/>
          <a:lstStyle/>
          <a:p>
            <a:pPr indent="0" marL="0">
              <a:buNone/>
            </a:pPr>
            <a:r>
              <a:rPr lang="en-US" sz="1300" dirty="0">
                <a:solidFill>
                  <a:srgbClr val="1C2B45"/>
                </a:solidFill>
                <a:latin typeface="Calibri" pitchFamily="34" charset="0"/>
                <a:ea typeface="Calibri" pitchFamily="34" charset="-122"/>
                <a:cs typeface="Calibri" pitchFamily="34" charset="-120"/>
              </a:rPr>
              <a:t>Only 4 of 63 submissions from drivers, 1 reporting difficulty — driver claims are an open gap, not evidence</a:t>
            </a:r>
            <a:endParaRPr lang="en-US" sz="1300" dirty="0"/>
          </a:p>
        </p:txBody>
      </p:sp>
      <p:sp>
        <p:nvSpPr>
          <p:cNvPr id="11" name="Shape 9"/>
          <p:cNvSpPr/>
          <p:nvPr/>
        </p:nvSpPr>
        <p:spPr>
          <a:xfrm>
            <a:off x="548640" y="3950208"/>
            <a:ext cx="146304" cy="146304"/>
          </a:xfrm>
          <a:prstGeom prst="roundRect">
            <a:avLst>
              <a:gd name="adj" fmla="val 50000"/>
            </a:avLst>
          </a:prstGeom>
          <a:solidFill>
            <a:srgbClr val="D9762E"/>
          </a:solidFill>
          <a:ln/>
        </p:spPr>
      </p:sp>
      <p:sp>
        <p:nvSpPr>
          <p:cNvPr id="12" name="Text 10"/>
          <p:cNvSpPr txBox="1"/>
          <p:nvPr/>
        </p:nvSpPr>
        <p:spPr>
          <a:xfrm>
            <a:off x="868680" y="3895344"/>
            <a:ext cx="9692640" cy="548640"/>
          </a:xfrm>
          <a:prstGeom prst="rect">
            <a:avLst/>
          </a:prstGeom>
          <a:noFill/>
          <a:ln/>
        </p:spPr>
        <p:txBody>
          <a:bodyPr wrap="square" lIns="0" tIns="0" rIns="0" bIns="0" rtlCol="0" anchor="t"/>
          <a:lstStyle/>
          <a:p>
            <a:pPr indent="0" marL="0">
              <a:buNone/>
            </a:pPr>
            <a:r>
              <a:rPr lang="en-US" sz="1300" dirty="0">
                <a:solidFill>
                  <a:srgbClr val="1C2B45"/>
                </a:solidFill>
                <a:latin typeface="Calibri" pitchFamily="34" charset="0"/>
                <a:ea typeface="Calibri" pitchFamily="34" charset="-122"/>
                <a:cs typeface="Calibri" pitchFamily="34" charset="-120"/>
              </a:rPr>
              <a:t>60 English, 3 Telugu, 0 Hindi responses despite outreach — translations not yet native-speaker reviewed</a:t>
            </a:r>
            <a:endParaRPr lang="en-US" sz="1300" dirty="0"/>
          </a:p>
        </p:txBody>
      </p:sp>
      <p:sp>
        <p:nvSpPr>
          <p:cNvPr id="13" name="Shape 11"/>
          <p:cNvSpPr/>
          <p:nvPr/>
        </p:nvSpPr>
        <p:spPr>
          <a:xfrm>
            <a:off x="548640" y="4608576"/>
            <a:ext cx="146304" cy="146304"/>
          </a:xfrm>
          <a:prstGeom prst="roundRect">
            <a:avLst>
              <a:gd name="adj" fmla="val 50000"/>
            </a:avLst>
          </a:prstGeom>
          <a:solidFill>
            <a:srgbClr val="D9762E"/>
          </a:solidFill>
          <a:ln/>
        </p:spPr>
      </p:sp>
      <p:sp>
        <p:nvSpPr>
          <p:cNvPr id="14" name="Text 12"/>
          <p:cNvSpPr txBox="1"/>
          <p:nvPr/>
        </p:nvSpPr>
        <p:spPr>
          <a:xfrm>
            <a:off x="868680" y="4553712"/>
            <a:ext cx="9692640" cy="548640"/>
          </a:xfrm>
          <a:prstGeom prst="rect">
            <a:avLst/>
          </a:prstGeom>
          <a:noFill/>
          <a:ln/>
        </p:spPr>
        <p:txBody>
          <a:bodyPr wrap="square" lIns="0" tIns="0" rIns="0" bIns="0" rtlCol="0" anchor="t"/>
          <a:lstStyle/>
          <a:p>
            <a:pPr indent="0" marL="0">
              <a:buNone/>
            </a:pPr>
            <a:r>
              <a:rPr lang="en-US" sz="1300" dirty="0">
                <a:solidFill>
                  <a:srgbClr val="1C2B45"/>
                </a:solidFill>
                <a:latin typeface="Calibri" pitchFamily="34" charset="0"/>
                <a:ea typeface="Calibri" pitchFamily="34" charset="-122"/>
                <a:cs typeface="Calibri" pitchFamily="34" charset="-120"/>
              </a:rPr>
              <a:t>Live field verification at RGIA, Secunderabad, Raidurg was substituted with a desk-only public-source check</a:t>
            </a:r>
            <a:endParaRPr lang="en-US" sz="1300" dirty="0"/>
          </a:p>
        </p:txBody>
      </p:sp>
      <p:sp>
        <p:nvSpPr>
          <p:cNvPr id="15" name="Shape 13"/>
          <p:cNvSpPr/>
          <p:nvPr/>
        </p:nvSpPr>
        <p:spPr>
          <a:xfrm>
            <a:off x="548640" y="5266944"/>
            <a:ext cx="146304" cy="146304"/>
          </a:xfrm>
          <a:prstGeom prst="roundRect">
            <a:avLst>
              <a:gd name="adj" fmla="val 50000"/>
            </a:avLst>
          </a:prstGeom>
          <a:solidFill>
            <a:srgbClr val="D9762E"/>
          </a:solidFill>
          <a:ln/>
        </p:spPr>
      </p:sp>
      <p:sp>
        <p:nvSpPr>
          <p:cNvPr id="16" name="Text 14"/>
          <p:cNvSpPr txBox="1"/>
          <p:nvPr/>
        </p:nvSpPr>
        <p:spPr>
          <a:xfrm>
            <a:off x="868680" y="5212080"/>
            <a:ext cx="9692640" cy="548640"/>
          </a:xfrm>
          <a:prstGeom prst="rect">
            <a:avLst/>
          </a:prstGeom>
          <a:noFill/>
          <a:ln/>
        </p:spPr>
        <p:txBody>
          <a:bodyPr wrap="square" lIns="0" tIns="0" rIns="0" bIns="0" rtlCol="0" anchor="t"/>
          <a:lstStyle/>
          <a:p>
            <a:pPr indent="0" marL="0">
              <a:buNone/>
            </a:pPr>
            <a:r>
              <a:rPr lang="en-US" sz="1300" dirty="0">
                <a:solidFill>
                  <a:srgbClr val="1C2B45"/>
                </a:solidFill>
                <a:latin typeface="Calibri" pitchFamily="34" charset="0"/>
                <a:ea typeface="Calibri" pitchFamily="34" charset="-122"/>
                <a:cs typeface="Calibri" pitchFamily="34" charset="-120"/>
              </a:rPr>
              <a:t>No reliable Hyderabad-specific trip-volume or failure-rate number exists publicly — none is fabricated here</a:t>
            </a:r>
            <a:endParaRPr lang="en-US" sz="1300" dirty="0"/>
          </a:p>
        </p:txBody>
      </p:sp>
      <p:sp>
        <p:nvSpPr>
          <p:cNvPr id="17" name="Text 15"/>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Find My Ride — Appendix</a:t>
            </a:r>
            <a:endParaRPr lang="en-US" sz="900" dirty="0"/>
          </a:p>
        </p:txBody>
      </p:sp>
      <p:sp>
        <p:nvSpPr>
          <p:cNvPr id="18" name="Text 1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C2B45"/>
          </a:solidFill>
          <a:ln/>
        </p:spPr>
      </p:sp>
      <p:sp>
        <p:nvSpPr>
          <p:cNvPr id="3" name="Text 1"/>
          <p:cNvSpPr txBox="1"/>
          <p:nvPr/>
        </p:nvSpPr>
        <p:spPr>
          <a:xfrm>
            <a:off x="548640" y="502920"/>
            <a:ext cx="10881360" cy="320040"/>
          </a:xfrm>
          <a:prstGeom prst="rect">
            <a:avLst/>
          </a:prstGeom>
          <a:noFill/>
          <a:ln/>
        </p:spPr>
        <p:txBody>
          <a:bodyPr wrap="square" lIns="0" tIns="0" rIns="0" bIns="0" rtlCol="0" anchor="ctr"/>
          <a:lstStyle/>
          <a:p>
            <a:pPr indent="0" marL="0">
              <a:buNone/>
            </a:pPr>
            <a:r>
              <a:rPr lang="en-US" sz="1200" b="1" spc="200" kern="0" dirty="0">
                <a:solidFill>
                  <a:srgbClr val="D9762E"/>
                </a:solidFill>
                <a:latin typeface="Calibri" pitchFamily="34" charset="0"/>
                <a:ea typeface="Calibri" pitchFamily="34" charset="-122"/>
                <a:cs typeface="Calibri" pitchFamily="34" charset="-120"/>
              </a:rPr>
              <a:t>APPENDIX · SOURCE TRACEABILITY</a:t>
            </a:r>
            <a:endParaRPr lang="en-US" sz="1200" dirty="0"/>
          </a:p>
        </p:txBody>
      </p:sp>
      <p:sp>
        <p:nvSpPr>
          <p:cNvPr id="4" name="Text 2"/>
          <p:cNvSpPr txBox="1"/>
          <p:nvPr/>
        </p:nvSpPr>
        <p:spPr>
          <a:xfrm>
            <a:off x="548640" y="822960"/>
            <a:ext cx="10881360" cy="8229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Every claim traces to a file in the repository</a:t>
            </a:r>
            <a:endParaRPr lang="en-US" sz="2600" dirty="0"/>
          </a:p>
        </p:txBody>
      </p:sp>
      <p:sp>
        <p:nvSpPr>
          <p:cNvPr id="5" name="Text 3"/>
          <p:cNvSpPr txBox="1"/>
          <p:nvPr/>
        </p:nvSpPr>
        <p:spPr>
          <a:xfrm>
            <a:off x="548640" y="2286000"/>
            <a:ext cx="10177272" cy="457200"/>
          </a:xfrm>
          <a:prstGeom prst="rect">
            <a:avLst/>
          </a:prstGeom>
          <a:noFill/>
          <a:ln/>
        </p:spPr>
        <p:txBody>
          <a:bodyPr wrap="square" lIns="0" tIns="0" rIns="0" bIns="0" rtlCol="0" anchor="ctr"/>
          <a:lstStyle/>
          <a:p>
            <a:pPr indent="0" marL="0">
              <a:buNone/>
            </a:pPr>
            <a:r>
              <a:rPr lang="en-US" sz="1300" dirty="0">
                <a:solidFill>
                  <a:srgbClr val="C7CEDD"/>
                </a:solidFill>
                <a:latin typeface="Calibri" pitchFamily="34" charset="0"/>
                <a:ea typeface="Calibri" pitchFamily="34" charset="-122"/>
                <a:cs typeface="Calibri" pitchFamily="34" charset="-120"/>
              </a:rPr>
              <a:t>synthesis/01-survey-insights.md — full insight synthesis with cross-tab addenda</a:t>
            </a:r>
            <a:endParaRPr lang="en-US" sz="1300" dirty="0"/>
          </a:p>
        </p:txBody>
      </p:sp>
      <p:sp>
        <p:nvSpPr>
          <p:cNvPr id="6" name="Text 4"/>
          <p:cNvSpPr txBox="1"/>
          <p:nvPr/>
        </p:nvSpPr>
        <p:spPr>
          <a:xfrm>
            <a:off x="548640" y="2852928"/>
            <a:ext cx="10177272" cy="457200"/>
          </a:xfrm>
          <a:prstGeom prst="rect">
            <a:avLst/>
          </a:prstGeom>
          <a:noFill/>
          <a:ln/>
        </p:spPr>
        <p:txBody>
          <a:bodyPr wrap="square" lIns="0" tIns="0" rIns="0" bIns="0" rtlCol="0" anchor="ctr"/>
          <a:lstStyle/>
          <a:p>
            <a:pPr indent="0" marL="0">
              <a:buNone/>
            </a:pPr>
            <a:r>
              <a:rPr lang="en-US" sz="1300" dirty="0">
                <a:solidFill>
                  <a:srgbClr val="C7CEDD"/>
                </a:solidFill>
                <a:latin typeface="Calibri" pitchFamily="34" charset="0"/>
                <a:ea typeface="Calibri" pitchFamily="34" charset="-122"/>
                <a:cs typeface="Calibri" pitchFamily="34" charset="-120"/>
              </a:rPr>
              <a:t>v2/requirement.md, approach.md, solution.md — the senior-PM reframe this deck draws from</a:t>
            </a:r>
            <a:endParaRPr lang="en-US" sz="1300" dirty="0"/>
          </a:p>
        </p:txBody>
      </p:sp>
      <p:sp>
        <p:nvSpPr>
          <p:cNvPr id="7" name="Text 5"/>
          <p:cNvSpPr txBox="1"/>
          <p:nvPr/>
        </p:nvSpPr>
        <p:spPr>
          <a:xfrm>
            <a:off x="548640" y="3419856"/>
            <a:ext cx="10177272" cy="457200"/>
          </a:xfrm>
          <a:prstGeom prst="rect">
            <a:avLst/>
          </a:prstGeom>
          <a:noFill/>
          <a:ln/>
        </p:spPr>
        <p:txBody>
          <a:bodyPr wrap="square" lIns="0" tIns="0" rIns="0" bIns="0" rtlCol="0" anchor="ctr"/>
          <a:lstStyle/>
          <a:p>
            <a:pPr indent="0" marL="0">
              <a:buNone/>
            </a:pPr>
            <a:r>
              <a:rPr lang="en-US" sz="1300" dirty="0">
                <a:solidFill>
                  <a:srgbClr val="C7CEDD"/>
                </a:solidFill>
                <a:latin typeface="Calibri" pitchFamily="34" charset="0"/>
                <a:ea typeface="Calibri" pitchFamily="34" charset="-122"/>
                <a:cs typeface="Calibri" pitchFamily="34" charset="-120"/>
              </a:rPr>
              <a:t>research/product-teardown.md — journey-stage teardown mapping each idea to a breakdown point</a:t>
            </a:r>
            <a:endParaRPr lang="en-US" sz="1300" dirty="0"/>
          </a:p>
        </p:txBody>
      </p:sp>
      <p:sp>
        <p:nvSpPr>
          <p:cNvPr id="8" name="Text 6"/>
          <p:cNvSpPr txBox="1"/>
          <p:nvPr/>
        </p:nvSpPr>
        <p:spPr>
          <a:xfrm>
            <a:off x="548640" y="3986784"/>
            <a:ext cx="10177272" cy="457200"/>
          </a:xfrm>
          <a:prstGeom prst="rect">
            <a:avLst/>
          </a:prstGeom>
          <a:noFill/>
          <a:ln/>
        </p:spPr>
        <p:txBody>
          <a:bodyPr wrap="square" lIns="0" tIns="0" rIns="0" bIns="0" rtlCol="0" anchor="ctr"/>
          <a:lstStyle/>
          <a:p>
            <a:pPr indent="0" marL="0">
              <a:buNone/>
            </a:pPr>
            <a:r>
              <a:rPr lang="en-US" sz="1300" dirty="0">
                <a:solidFill>
                  <a:srgbClr val="C7CEDD"/>
                </a:solidFill>
                <a:latin typeface="Calibri" pitchFamily="34" charset="0"/>
                <a:ea typeface="Calibri" pitchFamily="34" charset="-122"/>
                <a:cs typeface="Calibri" pitchFamily="34" charset="-120"/>
              </a:rPr>
              <a:t>research/competitor-analysis.md — Uber, Grab, Ola, Lyft, Waymo, MyGate, Rapido comparison</a:t>
            </a:r>
            <a:endParaRPr lang="en-US" sz="1300" dirty="0"/>
          </a:p>
        </p:txBody>
      </p:sp>
      <p:sp>
        <p:nvSpPr>
          <p:cNvPr id="9" name="Text 7"/>
          <p:cNvSpPr txBox="1"/>
          <p:nvPr/>
        </p:nvSpPr>
        <p:spPr>
          <a:xfrm>
            <a:off x="548640" y="4553712"/>
            <a:ext cx="10177272" cy="457200"/>
          </a:xfrm>
          <a:prstGeom prst="rect">
            <a:avLst/>
          </a:prstGeom>
          <a:noFill/>
          <a:ln/>
        </p:spPr>
        <p:txBody>
          <a:bodyPr wrap="square" lIns="0" tIns="0" rIns="0" bIns="0" rtlCol="0" anchor="ctr"/>
          <a:lstStyle/>
          <a:p>
            <a:pPr indent="0" marL="0">
              <a:buNone/>
            </a:pPr>
            <a:r>
              <a:rPr lang="en-US" sz="1300" dirty="0">
                <a:solidFill>
                  <a:srgbClr val="C7CEDD"/>
                </a:solidFill>
                <a:latin typeface="Calibri" pitchFamily="34" charset="0"/>
                <a:ea typeface="Calibri" pitchFamily="34" charset="-122"/>
                <a:cs typeface="Calibri" pitchFamily="34" charset="-120"/>
              </a:rPr>
              <a:t>data/survey/ — the normalized dataset and analytics workbook behind every count shown here</a:t>
            </a:r>
            <a:endParaRPr lang="en-US" sz="1300" dirty="0"/>
          </a:p>
        </p:txBody>
      </p:sp>
      <p:sp>
        <p:nvSpPr>
          <p:cNvPr id="10" name="Text 8"/>
          <p:cNvSpPr txBox="1"/>
          <p:nvPr/>
        </p:nvSpPr>
        <p:spPr>
          <a:xfrm>
            <a:off x="548640" y="5943600"/>
            <a:ext cx="9144000" cy="365760"/>
          </a:xfrm>
          <a:prstGeom prst="rect">
            <a:avLst/>
          </a:prstGeom>
          <a:noFill/>
          <a:ln/>
        </p:spPr>
        <p:txBody>
          <a:bodyPr wrap="square" lIns="0" tIns="0" rIns="0" bIns="0" rtlCol="0" anchor="ctr"/>
          <a:lstStyle/>
          <a:p>
            <a:pPr indent="0" marL="0">
              <a:buNone/>
            </a:pPr>
            <a:r>
              <a:rPr lang="en-US" sz="1250" i="1" dirty="0">
                <a:solidFill>
                  <a:srgbClr val="8B96AD"/>
                </a:solidFill>
                <a:latin typeface="Calibri" pitchFamily="34" charset="0"/>
                <a:ea typeface="Calibri" pitchFamily="34" charset="-122"/>
                <a:cs typeface="Calibri" pitchFamily="34" charset="-120"/>
              </a:rPr>
              <a:t>Video walkthrough link and companion PDF: Find_My_Ride_v3.pdf</a:t>
            </a:r>
            <a:endParaRPr lang="en-US" sz="1250" dirty="0"/>
          </a:p>
        </p:txBody>
      </p:sp>
      <p:sp>
        <p:nvSpPr>
          <p:cNvPr id="11" name="Text 9"/>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8B96AD"/>
                </a:solidFill>
                <a:latin typeface="Calibri" pitchFamily="34" charset="0"/>
                <a:ea typeface="Calibri" pitchFamily="34" charset="-122"/>
                <a:cs typeface="Calibri" pitchFamily="34" charset="-120"/>
              </a:rPr>
              <a:t>Find My Ride — Appendix</a:t>
            </a:r>
            <a:endParaRPr lang="en-US" sz="900" dirty="0"/>
          </a:p>
        </p:txBody>
      </p:sp>
      <p:sp>
        <p:nvSpPr>
          <p:cNvPr id="12" name="Text 10"/>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8B96AD"/>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2026-09-18T11:20:46Z</dcterms:created>
  <dcterms:modified xsi:type="dcterms:W3CDTF">2026-09-18T11:20:46Z</dcterms:modified>
</cp:coreProperties>
</file>