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18ebf21fe14807" /><Relationship Type="http://schemas.openxmlformats.org/officeDocument/2006/relationships/extended-properties" Target="/docProps/app.xml" Id="R40aab55a1e9247d6" /><Relationship Type="http://schemas.openxmlformats.org/officeDocument/2006/relationships/officeDocument" Target="/ppt/presentation.xml" Id="R2f02d545879f45e4" /></Relationships>
</file>

<file path=ppt/presentation.xml><?xml version="1.0" encoding="utf-8"?>
<p:presentation xmlns:p="http://schemas.openxmlformats.org/presentationml/2006/main">
  <p:sldMasterIdLst>
    <p:sldMasterId xmlns:r="http://schemas.openxmlformats.org/officeDocument/2006/relationships" id="2147483648" r:id="Reb73b2d42cf546f6"/>
  </p:sldMasterIdLst>
  <p:notesMasterIdLst>
    <p:notesMasterId xmlns:r="http://schemas.openxmlformats.org/officeDocument/2006/relationships" r:id="R6b89d4bccee140e0"/>
  </p:notesMasterIdLst>
  <p:sldIdLst>
    <p:sldId xmlns:r="http://schemas.openxmlformats.org/officeDocument/2006/relationships" id="256" r:id="R656f58d2319945c5"/>
    <p:sldId xmlns:r="http://schemas.openxmlformats.org/officeDocument/2006/relationships" id="257" r:id="R5e7713f05ef34cf8"/>
    <p:sldId xmlns:r="http://schemas.openxmlformats.org/officeDocument/2006/relationships" id="258" r:id="Rfaacdc2ad9c44a03"/>
    <p:sldId xmlns:r="http://schemas.openxmlformats.org/officeDocument/2006/relationships" id="259" r:id="R2090c5a8122c43ad"/>
    <p:sldId xmlns:r="http://schemas.openxmlformats.org/officeDocument/2006/relationships" id="260" r:id="Rebbb29d7a96d43f4"/>
    <p:sldId xmlns:r="http://schemas.openxmlformats.org/officeDocument/2006/relationships" id="261" r:id="Rd028ba8eec654673"/>
    <p:sldId xmlns:r="http://schemas.openxmlformats.org/officeDocument/2006/relationships" id="262" r:id="Rb64eef7de78545b5"/>
    <p:sldId xmlns:r="http://schemas.openxmlformats.org/officeDocument/2006/relationships" id="263" r:id="R82c569af87ae4c23"/>
    <p:sldId xmlns:r="http://schemas.openxmlformats.org/officeDocument/2006/relationships" id="264" r:id="Rfb65fd9244c4425e"/>
    <p:sldId xmlns:r="http://schemas.openxmlformats.org/officeDocument/2006/relationships" id="265" r:id="R6a5e70155c29455d"/>
    <p:sldId xmlns:r="http://schemas.openxmlformats.org/officeDocument/2006/relationships" id="266" r:id="Rc02d7a99025c4900"/>
    <p:sldId xmlns:r="http://schemas.openxmlformats.org/officeDocument/2006/relationships" id="267" r:id="Rc2fd70a03f944ed2"/>
    <p:sldId xmlns:r="http://schemas.openxmlformats.org/officeDocument/2006/relationships" id="268" r:id="Rb2b013d759824dde"/>
    <p:sldId xmlns:r="http://schemas.openxmlformats.org/officeDocument/2006/relationships" id="269" r:id="R7e355749ba5a4005"/>
    <p:sldId xmlns:r="http://schemas.openxmlformats.org/officeDocument/2006/relationships" id="270" r:id="Rf4227d1964324ff3"/>
    <p:sldId xmlns:r="http://schemas.openxmlformats.org/officeDocument/2006/relationships" id="271" r:id="Rbe0750fc2d1a42cd"/>
    <p:sldId xmlns:r="http://schemas.openxmlformats.org/officeDocument/2006/relationships" id="272" r:id="R67bc6ebaf2f34b33"/>
    <p:sldId xmlns:r="http://schemas.openxmlformats.org/officeDocument/2006/relationships" id="273" r:id="Rcdd1a6e742244d64"/>
    <p:sldId xmlns:r="http://schemas.openxmlformats.org/officeDocument/2006/relationships" id="274" r:id="R8ae340babaab4a0c"/>
    <p:sldId xmlns:r="http://schemas.openxmlformats.org/officeDocument/2006/relationships" id="275" r:id="Rdfca3793210945d7"/>
    <p:sldId xmlns:r="http://schemas.openxmlformats.org/officeDocument/2006/relationships" id="276" r:id="R2a4f346b090e4df1"/>
    <p:sldId xmlns:r="http://schemas.openxmlformats.org/officeDocument/2006/relationships" id="277" r:id="Rdb13365c1a7b4a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3ad92876a44fef" /><Relationship Type="http://schemas.openxmlformats.org/officeDocument/2006/relationships/slideMaster" Target="/ppt/slideMasters/slideMaster1.xml" Id="Reb73b2d42cf546f6" /><Relationship Type="http://schemas.openxmlformats.org/officeDocument/2006/relationships/notesMaster" Target="/ppt/notesMasters/notesMaster1.xml" Id="R6b89d4bccee140e0" /><Relationship Type="http://schemas.openxmlformats.org/officeDocument/2006/relationships/presProps" Target="/ppt/presProps.xml" Id="R3d816b58876649fa" /><Relationship Type="http://schemas.openxmlformats.org/officeDocument/2006/relationships/tableStyles" Target="/ppt/tableStyles.xml" Id="Rf7bf59945f764e9d" /><Relationship Type="http://schemas.openxmlformats.org/officeDocument/2006/relationships/slide" Target="/ppt/slides/slide1.xml" Id="R656f58d2319945c5" /><Relationship Type="http://schemas.openxmlformats.org/officeDocument/2006/relationships/slide" Target="/ppt/slides/slide2.xml" Id="R5e7713f05ef34cf8" /><Relationship Type="http://schemas.openxmlformats.org/officeDocument/2006/relationships/slide" Target="/ppt/slides/slide3.xml" Id="Rfaacdc2ad9c44a03" /><Relationship Type="http://schemas.openxmlformats.org/officeDocument/2006/relationships/slide" Target="/ppt/slides/slide4.xml" Id="R2090c5a8122c43ad" /><Relationship Type="http://schemas.openxmlformats.org/officeDocument/2006/relationships/slide" Target="/ppt/slides/slide5.xml" Id="Rebbb29d7a96d43f4" /><Relationship Type="http://schemas.openxmlformats.org/officeDocument/2006/relationships/slide" Target="/ppt/slides/slide6.xml" Id="Rd028ba8eec654673" /><Relationship Type="http://schemas.openxmlformats.org/officeDocument/2006/relationships/slide" Target="/ppt/slides/slide7.xml" Id="Rb64eef7de78545b5" /><Relationship Type="http://schemas.openxmlformats.org/officeDocument/2006/relationships/slide" Target="/ppt/slides/slide8.xml" Id="R82c569af87ae4c23" /><Relationship Type="http://schemas.openxmlformats.org/officeDocument/2006/relationships/slide" Target="/ppt/slides/slide9.xml" Id="Rfb65fd9244c4425e" /><Relationship Type="http://schemas.openxmlformats.org/officeDocument/2006/relationships/slide" Target="/ppt/slides/slide10.xml" Id="R6a5e70155c29455d" /><Relationship Type="http://schemas.openxmlformats.org/officeDocument/2006/relationships/slide" Target="/ppt/slides/slide11.xml" Id="Rc02d7a99025c4900" /><Relationship Type="http://schemas.openxmlformats.org/officeDocument/2006/relationships/slide" Target="/ppt/slides/slide12.xml" Id="Rc2fd70a03f944ed2" /><Relationship Type="http://schemas.openxmlformats.org/officeDocument/2006/relationships/slide" Target="/ppt/slides/slide13.xml" Id="Rb2b013d759824dde" /><Relationship Type="http://schemas.openxmlformats.org/officeDocument/2006/relationships/slide" Target="/ppt/slides/slide14.xml" Id="R7e355749ba5a4005" /><Relationship Type="http://schemas.openxmlformats.org/officeDocument/2006/relationships/slide" Target="/ppt/slides/slide15.xml" Id="Rf4227d1964324ff3" /><Relationship Type="http://schemas.openxmlformats.org/officeDocument/2006/relationships/slide" Target="/ppt/slides/slide16.xml" Id="Rbe0750fc2d1a42cd" /><Relationship Type="http://schemas.openxmlformats.org/officeDocument/2006/relationships/slide" Target="/ppt/slides/slide17.xml" Id="R67bc6ebaf2f34b33" /><Relationship Type="http://schemas.openxmlformats.org/officeDocument/2006/relationships/slide" Target="/ppt/slides/slide18.xml" Id="Rcdd1a6e742244d64" /><Relationship Type="http://schemas.openxmlformats.org/officeDocument/2006/relationships/slide" Target="/ppt/slides/slide19.xml" Id="R8ae340babaab4a0c" /><Relationship Type="http://schemas.openxmlformats.org/officeDocument/2006/relationships/slide" Target="/ppt/slides/slide20.xml" Id="Rdfca3793210945d7" /><Relationship Type="http://schemas.openxmlformats.org/officeDocument/2006/relationships/slide" Target="/ppt/slides/slide21.xml" Id="R2a4f346b090e4df1" /><Relationship Type="http://schemas.openxmlformats.org/officeDocument/2006/relationships/slide" Target="/ppt/slides/slide22.xml" Id="Rdb13365c1a7b4a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395f096d4d46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f05fe3ab944dc9" /><Relationship Type="http://schemas.openxmlformats.org/officeDocument/2006/relationships/notesMaster" Target="/ppt/notesMasters/notesMaster1.xml" Id="R50f31a7c4ed04c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b660ffc1644a8d" /><Relationship Type="http://schemas.openxmlformats.org/officeDocument/2006/relationships/notesMaster" Target="/ppt/notesMasters/notesMaster1.xml" Id="R0f32ba8c30fc47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2aad04f54142d5" /><Relationship Type="http://schemas.openxmlformats.org/officeDocument/2006/relationships/notesMaster" Target="/ppt/notesMasters/notesMaster1.xml" Id="Ra493760cdc434e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3a18b074ee499c" /><Relationship Type="http://schemas.openxmlformats.org/officeDocument/2006/relationships/notesMaster" Target="/ppt/notesMasters/notesMaster1.xml" Id="Reb98f09f2fbc4e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29f8f79d5c46b1" /><Relationship Type="http://schemas.openxmlformats.org/officeDocument/2006/relationships/notesMaster" Target="/ppt/notesMasters/notesMaster1.xml" Id="R4a749f1a82374c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e9b72a2bbbf4b5b" /><Relationship Type="http://schemas.openxmlformats.org/officeDocument/2006/relationships/notesMaster" Target="/ppt/notesMasters/notesMaster1.xml" Id="R0b409d59bb2140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343c2e0c4e94b54" /><Relationship Type="http://schemas.openxmlformats.org/officeDocument/2006/relationships/notesMaster" Target="/ppt/notesMasters/notesMaster1.xml" Id="R28119b43bd7c43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9ae3a27d15f64967" /><Relationship Type="http://schemas.openxmlformats.org/officeDocument/2006/relationships/notesMaster" Target="/ppt/notesMasters/notesMaster1.xml" Id="Rd0779e28b322419e" /></Relationships>
</file>

<file path=ppt/notesSlides/_rels/notesSlide9.xml.rels>&#65279;<?xml version="1.0" encoding="utf-8"?><Relationships xmlns="http://schemas.openxmlformats.org/package/2006/relationships"><Relationship Type="http://schemas.openxmlformats.org/officeDocument/2006/relationships/slide" Target="/ppt/slides/slide9.xml" Id="R30c736fe94dc4568" /><Relationship Type="http://schemas.openxmlformats.org/officeDocument/2006/relationships/notesMaster" Target="/ppt/notesMasters/notesMaster1.xml" Id="Rdd7529d0d587466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af92747988c4ad9" /><Relationship Type="http://schemas.openxmlformats.org/officeDocument/2006/relationships/notesMaster" Target="/ppt/notesMasters/notesMaster1.xml" Id="R3cc2317c7c2a466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081be9312084541" /><Relationship Type="http://schemas.openxmlformats.org/officeDocument/2006/relationships/notesMaster" Target="/ppt/notesMasters/notesMaster1.xml" Id="R2a3395b293a84aa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ec41af8cf264b7f" /><Relationship Type="http://schemas.openxmlformats.org/officeDocument/2006/relationships/notesMaster" Target="/ppt/notesMasters/notesMaster1.xml" Id="R22a9e42c5bac4c3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d040cb6719e4c08" /><Relationship Type="http://schemas.openxmlformats.org/officeDocument/2006/relationships/notesMaster" Target="/ppt/notesMasters/notesMaster1.xml" Id="R16253827fd4e4e8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530b15f61704149" /><Relationship Type="http://schemas.openxmlformats.org/officeDocument/2006/relationships/notesMaster" Target="/ppt/notesMasters/notesMaster1.xml" Id="R06bdf1cf77594e5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1a372f5e4694f78" /><Relationship Type="http://schemas.openxmlformats.org/officeDocument/2006/relationships/notesMaster" Target="/ppt/notesMasters/notesMaster1.xml" Id="Rb4141d51d3b64d2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71f5f58a72e4ca4" /><Relationship Type="http://schemas.openxmlformats.org/officeDocument/2006/relationships/notesMaster" Target="/ppt/notesMasters/notesMaster1.xml" Id="R254e5b147a554c0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de1ad82277b4de1" /><Relationship Type="http://schemas.openxmlformats.org/officeDocument/2006/relationships/notesMaster" Target="/ppt/notesMasters/notesMaster1.xml" Id="R7c02090991eb4d3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452f2d8dc4f45a4" /><Relationship Type="http://schemas.openxmlformats.org/officeDocument/2006/relationships/notesMaster" Target="/ppt/notesMasters/notesMaster1.xml" Id="Rf2df2ad85a964a5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c6192088edb400b" /><Relationship Type="http://schemas.openxmlformats.org/officeDocument/2006/relationships/notesMaster" Target="/ppt/notesMasters/notesMaster1.xml" Id="Rde09dfc810e741d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9ac56196401425b" /><Relationship Type="http://schemas.openxmlformats.org/officeDocument/2006/relationships/notesMaster" Target="/ppt/notesMasters/notesMaster1.xml" Id="Rbcc3df5db85e45c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3977180b97046db" /><Relationship Type="http://schemas.openxmlformats.org/officeDocument/2006/relationships/notesMaster" Target="/ppt/notesMasters/notesMaster1.xml" Id="Rf01584dcec7541c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20c28d46930494f" /><Relationship Type="http://schemas.openxmlformats.org/officeDocument/2006/relationships/notesMaster" Target="/ppt/notesMasters/notesMaster1.xml" Id="Rdb6787d4613b48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Find My Ride examines a narrow but stressful moment: after booking, the app can show a pin — or even say the driver has arrived — while rider and driver still cannot find each other. The goal is not to redesign every pickup, but to understand when coordination breaks and what Uber should test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A word on method. Synchronous interviews were not feasible, so I built a multilingual self-serve app with rider and driver branches and optional open-text or voice prompts. After removing one duplicate, the base is sixty-two respondents: fifty-eight riders and four drivers. Thirty answered open-ended questions and eleven wrote extended accounts. This gave breadth and language coverage, but no live probing, so it does not replace moderated interviews.</a:t>
            </a:r>
          </a:p>
          <a:p xmlns:a="http://schemas.openxmlformats.org/drawingml/2006/main">
            <a:r>
              <a:t/>
            </a:r>
          </a:p>
          <a:p xmlns:a="http://schemas.openxmlformats.org/drawingml/2006/main">
            <a:r>
              <a:t>Sources:</a:t>
            </a:r>
          </a:p>
          <a:p xmlns:a="http://schemas.openxmlformats.org/drawingml/2006/main">
            <a:r>
              <a:t>Local evidence: data/survey/normalized-data.tsv; R032 removed as confirmed duplicate of R031.</a:t>
            </a:r>
          </a:p>
          <a:p xmlns:a="http://schemas.openxmlformats.org/drawingml/2006/main">
            <a:r>
              <a:t>https://praveenveera.github.io/uber-pickup-survey/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Before choosing a feature, I framed the job clearly. The primary user is a four-wheel rider starting from a complex location, with the driver as the connected stakeholder. The working job is to help both sides agree on a legal, recognizable meeting point. This is an assumption to validate. The evidence supports coordination difficulty, but it does not prove the map is always wrong or every cancellation is location-related.</a:t>
            </a:r>
          </a:p>
          <a:p xmlns:a="http://schemas.openxmlformats.org/drawingml/2006/main">
            <a:r>
              <a:t/>
            </a:r>
          </a:p>
          <a:p xmlns:a="http://schemas.openxmlformats.org/drawingml/2006/main">
            <a:r>
              <a:t>Sources:</a:t>
            </a:r>
          </a:p>
          <a:p xmlns:a="http://schemas.openxmlformats.org/drawingml/2006/main">
            <a:r>
              <a:t>Local evidence: synthesis/01-survey-insights.md, synthesis/02-strategy-implications.md, and v2/requirement.md.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Desk research changed the framing. Uber already publishes Hyderabad airport guidance, including in-app directions and the D1 pickup zone. Grab, Lyft, Waymo, and MyGate show patterns for venue guidance, structured handoffs, and access-aware stops. These are design precedents, not proof of local value. The opportunity is better coverage, clarity, and recovery within real access and stopping constraints.</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a:p xmlns:a="http://schemas.openxmlformats.org/drawingml/2006/main">
            <a:r>
              <a:t>https://www.htp.gov.in/road_rules.html</a:t>
            </a:r>
          </a:p>
          <a:p xmlns:a="http://schemas.openxmlformats.org/drawingml/2006/main">
            <a:r>
              <a:t>https://www.indiacode.nic.in/indiacode/handle/123456789/22037?view_type=browse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A credible market estimate needs Hyderabad four-wheel pickup volume, the share starting at complex locations, and the share experiencing material difficulty. Those inputs are not publicly available, so I show the model and exposure pools rather than inventing a TAM. Public sources show large passenger flows at the airport, metro, and railway stations. For this problem, location type is more useful than demographic segmentation.</a:t>
            </a:r>
          </a:p>
          <a:p xmlns:a="http://schemas.openxmlformats.org/drawingml/2006/main">
            <a:r>
              <a:t/>
            </a:r>
          </a:p>
          <a:p xmlns:a="http://schemas.openxmlformats.org/drawingml/2006/main">
            <a:r>
              <a:t>Sources:</a:t>
            </a:r>
          </a:p>
          <a:p xmlns:a="http://schemas.openxmlformats.org/drawingml/2006/main">
            <a:r>
              <a:t>https://www.uber.com/in/en/newsroom/how-india-ubered-in-2025-everyday-travel-extraordinary-scale/</a:t>
            </a:r>
          </a:p>
          <a:p xmlns:a="http://schemas.openxmlformats.org/drawingml/2006/main">
            <a:r>
              <a:t>https://www.uber.com/in/en/newsroom/how-india-ubered-in-2023-a-year-in-rear-view/</a:t>
            </a:r>
          </a:p>
          <a:p xmlns:a="http://schemas.openxmlformats.org/drawingml/2006/main">
            <a:r>
              <a:t>https://www.gmrgroup.com/airports-and-aero-services/airports/hyderabad-airport</a:t>
            </a:r>
          </a:p>
          <a:p xmlns:a="http://schemas.openxmlformats.org/drawingml/2006/main">
            <a:r>
              <a:t>https://www.ltmetro.com/wp-content/uploads/2025/01/28-11-2024-Press-Release-Hyderabad-Metro-Rail-Celebrates-its-7th-Anniversary-181-Chief-Guest.pdf</a:t>
            </a:r>
          </a:p>
          <a:p xmlns:a="http://schemas.openxmlformats.org/drawingml/2006/main">
            <a:r>
              <a:t>https://morth.nic.in/sites/default/files/circulars_document/MV-Aggregators-Guidelines-2025%20-%20English%20and%20Hindi.pdf</a:t>
            </a:r>
          </a:p>
          <a:p xmlns:a="http://schemas.openxmlformats.org/drawingml/2006/main">
            <a:r>
              <a:t>https://www.indiacode.nic.in/indiacode/handle/123456789/22037?view_type=browse</a:t>
            </a:r>
          </a:p>
          <a:p xmlns:a="http://schemas.openxmlformats.org/drawingml/2006/main">
            <a:r>
              <a:t>Local evidence: research/desk-research-report.md sections 3.1, 3.5, 3.6, 3.7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research question was: when a pickup becomes difficult, what breaks, and what do people do to recover? The candidate outcome is a pickup completed without avoidable calls, location changes, extended waiting, or cancellation. Event data could strengthen this, but only if those events are captured reliably.</a:t>
            </a:r>
          </a:p>
          <a:p xmlns:a="http://schemas.openxmlformats.org/drawingml/2006/main">
            <a:r>
              <a:t/>
            </a:r>
          </a:p>
          <a:p xmlns:a="http://schemas.openxmlformats.org/drawingml/2006/main">
            <a:r>
              <a:t>Sources:</a:t>
            </a:r>
          </a:p>
          <a:p xmlns:a="http://schemas.openxmlformats.org/drawingml/2006/main">
            <a:r>
              <a:t>Local evidence: synthesis/01-survey-insights.md and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sample says the problem is meaningful, but not universal. Twenty-four of fifty-one recent four-wheel users reported difficulty or uncertainty. Among twenty-eight issue cases, twenty-three said the problem had happened before, twenty said calls or messages helped, and six said nothing helped. Importantly, “happened before” does not prove that the same venue repeatedly failed, and these percentages are not Hyderabad-wide prevalence.</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cases concentrate in complex places: airports, gated residences, malls, offices, and stations. Calling is the dominant recovery action, followed by waiting and moving. This suggests the app often hands the final physical coordination step back to rider and driver. The opportunity is to reduce that manual effort, not to assume the pickup pin is always wrong.</a:t>
            </a:r>
          </a:p>
          <a:p xmlns:a="http://schemas.openxmlformats.org/drawingml/2006/main">
            <a:r>
              <a:t/>
            </a:r>
          </a:p>
          <a:p xmlns:a="http://schemas.openxmlformats.org/drawingml/2006/main">
            <a:r>
              <a:t>Sources:</a:t>
            </a:r>
          </a:p>
          <a:p xmlns:a="http://schemas.openxmlformats.org/drawingml/2006/main">
            <a:r>
              <a:t>Local evidence: Sanitized-Survey-Evidence.xlsx, Summary and Anonymized Responses sheets. Multi-select counts are mentions, not unique people.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recommended direction is to make the fallback faster, not make the map more complicated. P-zero is a structured meeting note. P-one is guided recovery when coordination stalls. P-two is reusable venue information. This is a test sequence, not a committed roadmap, and it should appear only at selected complex locations.</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The strongest first test is a structured pre-arrival meeting note. At flagged complex pickups, ask for one concise handoff: gate or side, landmark, and waiting spot. One respondent already does this manually. Test whether the prompt reduces reactive calls, arrived-to-trip-start dwell, location changes, and cancellations without adding friction to normal pickups.</a:t>
            </a:r>
          </a:p>
          <a:p xmlns:a="http://schemas.openxmlformats.org/drawingml/2006/main">
            <a:r>
              <a:t/>
            </a:r>
          </a:p>
          <a:p xmlns:a="http://schemas.openxmlformats.org/drawingml/2006/main">
            <a:r>
              <a:t>Sources:</a:t>
            </a:r>
          </a:p>
          <a:p xmlns:a="http://schemas.openxmlformats.org/drawingml/2006/main">
            <a:r>
              <a:t>Local evidence: R061 in normalized-data.tsv; 20 of 28 issue cases reported calls/messages as helpful.</a:t>
            </a:r>
          </a:p>
          <a:p xmlns:a="http://schemas.openxmlformats.org/drawingml/2006/main">
            <a:r>
              <a:t>Competitor precedent: https://help.lyft.com/hc/en-us/all/articles/360047353153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P-one is guided stalled-pickup recovery. Start with reconnect actions, and test reassignment only for unresolved cases because it affects driver time and marketplace cost. P-two is venue-specific coordination information at two or three validated venues. That requires ownership and expiry because stale access guidance can be worse than no guidance.</a:t>
            </a:r>
          </a:p>
          <a:p xmlns:a="http://schemas.openxmlformats.org/drawingml/2006/main">
            <a:r>
              <a:t/>
            </a:r>
          </a:p>
          <a:p xmlns:a="http://schemas.openxmlformats.org/drawingml/2006/main">
            <a:r>
              <a:t>Sources:</a:t>
            </a:r>
          </a:p>
          <a:p xmlns:a="http://schemas.openxmlformats.org/drawingml/2006/main">
            <a:r>
              <a:t>Local evidence: synthesis/04-product-ideas.md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a:t>
            </a:r>
          </a:p>
          <a:p xmlns:a="http://schemas.openxmlformats.org/drawingml/2006/main">
            <a:r>
              <a:t/>
            </a:r>
          </a:p>
          <a:p xmlns:a="http://schemas.openxmlformats.org/drawingml/2006/main">
            <a:r>
              <a:t>My recommendation is to test the smallest coordination aid first, not commit to a broad build. The evidence is limited: asynchronous research without live probing, only four drivers, and a non-representative sample. The highest-value next step is moderated rider and driver research, plus reliable arrived-to-trip-start data at selected venues. The appendix and evidence ZIP carry full traceability.</a:t>
            </a:r>
          </a:p>
          <a:p xmlns:a="http://schemas.openxmlformats.org/drawingml/2006/main">
            <a:r>
              <a:t/>
            </a:r>
          </a:p>
          <a:p xmlns:a="http://schemas.openxmlformats.org/drawingml/2006/main">
            <a:r>
              <a:t>Sources:</a:t>
            </a:r>
          </a:p>
          <a:p xmlns:a="http://schemas.openxmlformats.org/drawingml/2006/main">
            <a:r>
              <a:t>Local evidence: submission-requirements.md and synthesis/*.md.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Methodology evidence.</a:t>
            </a:r>
          </a:p>
          <a:p xmlns:a="http://schemas.openxmlformats.org/drawingml/2006/main">
            <a:r>
              <a:t/>
            </a:r>
          </a:p>
          <a:p xmlns:a="http://schemas.openxmlformats.org/drawingml/2006/main">
            <a:r>
              <a:t>Sources:</a:t>
            </a:r>
          </a:p>
          <a:p xmlns:a="http://schemas.openxmlformats.org/drawingml/2006/main">
            <a:r>
              <a:t>https://praveenveera.github.io/uber-pickup-survey/</a:t>
            </a:r>
          </a:p>
          <a:p xmlns:a="http://schemas.openxmlformats.org/drawingml/2006/main">
            <a:r>
              <a:t>Local evidence: webapp/index.html and Sanitized-Survey-Evidence.xlsx.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ten questions behind the instrument, mapping to template section 1.1. They were asked asynchronously, so vague answers could not be probed.</a:t>
            </a:r>
          </a:p>
          <a:p xmlns:a="http://schemas.openxmlformats.org/drawingml/2006/main">
            <a:r>
              <a:t/>
            </a:r>
          </a:p>
          <a:p xmlns:a="http://schemas.openxmlformats.org/drawingml/2006/main">
            <a:r>
              <a:t>Sources:</a:t>
            </a:r>
          </a:p>
          <a:p xmlns:a="http://schemas.openxmlformats.org/drawingml/2006/main">
            <a:r>
              <a:t>Local evidence: synthesis/01-survey-insights.md section 1.1; interviews/survey-form-content.md.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1 through 5.</a:t>
            </a:r>
          </a:p>
          <a:p xmlns:a="http://schemas.openxmlformats.org/drawingml/2006/main">
            <a:r>
              <a:t/>
            </a:r>
          </a:p>
          <a:p xmlns:a="http://schemas.openxmlformats.org/drawingml/2006/main">
            <a:r>
              <a:t>Sources:</a:t>
            </a:r>
          </a:p>
          <a:p xmlns:a="http://schemas.openxmlformats.org/drawingml/2006/main">
            <a:r>
              <a:t>Local evidence: v3/submission-ready/evidence/03-Anonymized-Responses/Sanitized-Survey-Evidence.xlsx,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Top insights 6 through 10.</a:t>
            </a:r>
          </a:p>
          <a:p xmlns:a="http://schemas.openxmlformats.org/drawingml/2006/main">
            <a:r>
              <a:t/>
            </a:r>
          </a:p>
          <a:p xmlns:a="http://schemas.openxmlformats.org/drawingml/2006/main">
            <a:r>
              <a:t>Sources:</a:t>
            </a:r>
          </a:p>
          <a:p xmlns:a="http://schemas.openxmlformats.org/drawingml/2006/main">
            <a:r>
              <a:t>Local evidence: Sanitized-Survey-Evidence.xlsx, Insight Traceability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Competitor pattern comparison.</a:t>
            </a:r>
          </a:p>
          <a:p xmlns:a="http://schemas.openxmlformats.org/drawingml/2006/main">
            <a:r>
              <a:t/>
            </a:r>
          </a:p>
          <a:p xmlns:a="http://schemas.openxmlformats.org/drawingml/2006/main">
            <a:r>
              <a:t>Sources:</a:t>
            </a:r>
          </a:p>
          <a:p xmlns:a="http://schemas.openxmlformats.org/drawingml/2006/main">
            <a:r>
              <a:t>https://www.uber.com/global/en/r/airports/hyd/pickup/</a:t>
            </a:r>
          </a:p>
          <a:p xmlns:a="http://schemas.openxmlformats.org/drawingml/2006/main">
            <a:r>
              <a:t>https://www.grab.com/inside-grab/stories/were-making-pickups-easier-with-video-guides-in-the-grab-app/</a:t>
            </a:r>
          </a:p>
          <a:p xmlns:a="http://schemas.openxmlformats.org/drawingml/2006/main">
            <a:r>
              <a:t>https://help.lyft.com/hc/en-us/all/articles/360047353153</a:t>
            </a:r>
          </a:p>
          <a:p xmlns:a="http://schemas.openxmlformats.org/drawingml/2006/main">
            <a:r>
              <a:t>https://support.google.com/waymo/answer/9696059?hl=en</a:t>
            </a:r>
          </a:p>
          <a:p xmlns:a="http://schemas.openxmlformats.org/drawingml/2006/main">
            <a:r>
              <a:t>https://help.mygate.in/articles/138755-where-will-my-cab-pick-me-up-if-i-am-using-safe-pickup-mode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 reconciliation.</a:t>
            </a:r>
          </a:p>
          <a:p xmlns:a="http://schemas.openxmlformats.org/drawingml/2006/main">
            <a:r>
              <a:t/>
            </a:r>
          </a:p>
          <a:p xmlns:a="http://schemas.openxmlformats.org/drawingml/2006/main">
            <a:r>
              <a:t>Sources:</a:t>
            </a:r>
          </a:p>
          <a:p xmlns:a="http://schemas.openxmlformats.org/drawingml/2006/main">
            <a:r>
              <a:t>Local evidence: synthesis/02-strategy-implications.md.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test plan.</a:t>
            </a:r>
          </a:p>
          <a:p xmlns:a="http://schemas.openxmlformats.org/drawingml/2006/main">
            <a:r>
              <a:t/>
            </a:r>
          </a:p>
          <a:p xmlns:a="http://schemas.openxmlformats.org/drawingml/2006/main">
            <a:r>
              <a:t>Sources:</a:t>
            </a:r>
          </a:p>
          <a:p xmlns:a="http://schemas.openxmlformats.org/drawingml/2006/main">
            <a:r>
              <a:t>Local evidence: synthesis/04-product-ideas.md.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limitations.</a:t>
            </a:r>
          </a:p>
          <a:p xmlns:a="http://schemas.openxmlformats.org/drawingml/2006/main">
            <a:r>
              <a:t/>
            </a:r>
          </a:p>
          <a:p xmlns:a="http://schemas.openxmlformats.org/drawingml/2006/main">
            <a:r>
              <a:t>Sources:</a:t>
            </a:r>
          </a:p>
          <a:p xmlns:a="http://schemas.openxmlformats.org/drawingml/2006/main">
            <a:r>
              <a:t>Local evidence: submission-requirements.md and Sanitized-Survey-Evidence.xlsx, Method &amp; Limitations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traceability and final submission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94e1ce54d341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aabe18a2414d76" /><Relationship Type="http://schemas.openxmlformats.org/officeDocument/2006/relationships/slideLayout" Target="/ppt/slideLayouts/slideLayout1.xml" Id="R766e3cc5e54746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6e3cc5e54746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2e5066a7e2f47b9" /><Relationship Type="http://schemas.openxmlformats.org/officeDocument/2006/relationships/notesSlide" Target="/ppt/notesSlides/notesSlide1.xml" Id="R2b3e1e1fcd7346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48c7c0ec38649b7" /><Relationship Type="http://schemas.openxmlformats.org/officeDocument/2006/relationships/image" Target="/ppt/media/image.png" Id="R37a58025ce064168" /><Relationship Type="http://schemas.openxmlformats.org/officeDocument/2006/relationships/hyperlink" Target="https://praveenveera.github.io/uber-pickup-survey/" TargetMode="External" Id="R3ff04f16bb9944e3" /><Relationship Type="http://schemas.openxmlformats.org/officeDocument/2006/relationships/notesSlide" Target="/ppt/notesSlides/notesSlide2.xml" Id="Rd3a5a11e7c4f4f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1c35c353eda4206" /><Relationship Type="http://schemas.openxmlformats.org/officeDocument/2006/relationships/notesSlide" Target="/ppt/notesSlides/notesSlide3.xml" Id="R4370056bf3ae4a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76f94caa2e249b1" /><Relationship Type="http://schemas.openxmlformats.org/officeDocument/2006/relationships/notesSlide" Target="/ppt/notesSlides/notesSlide4.xml" Id="R2100af563cf448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d0fd62f78dc49a1" /><Relationship Type="http://schemas.openxmlformats.org/officeDocument/2006/relationships/notesSlide" Target="/ppt/notesSlides/notesSlide5.xml" Id="R0feb1a077bca42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dd70e9fd6354282" /><Relationship Type="http://schemas.openxmlformats.org/officeDocument/2006/relationships/notesSlide" Target="/ppt/notesSlides/notesSlide6.xml" Id="R394f30030a34421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20760cc94d7434c" /><Relationship Type="http://schemas.openxmlformats.org/officeDocument/2006/relationships/notesSlide" Target="/ppt/notesSlides/notesSlide7.xml" Id="Rd53cb64e7a0d40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340e8946bab429e" /><Relationship Type="http://schemas.openxmlformats.org/officeDocument/2006/relationships/notesSlide" Target="/ppt/notesSlides/notesSlide8.xml" Id="R807fe1403e3048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7455dc26d314cab" /><Relationship Type="http://schemas.openxmlformats.org/officeDocument/2006/relationships/notesSlide" Target="/ppt/notesSlides/notesSlide9.xml" Id="R24fe20311aaa4c1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74ddb3c3ee74b4f" /><Relationship Type="http://schemas.openxmlformats.org/officeDocument/2006/relationships/notesSlide" Target="/ppt/notesSlides/notesSlide10.xml" Id="R2ec23ea67c1a4b9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56db2410ddb4e87" /><Relationship Type="http://schemas.openxmlformats.org/officeDocument/2006/relationships/notesSlide" Target="/ppt/notesSlides/notesSlide11.xml" Id="Rd358657c085342f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4d0464bafc244f2" /><Relationship Type="http://schemas.openxmlformats.org/officeDocument/2006/relationships/notesSlide" Target="/ppt/notesSlides/notesSlide12.xml" Id="R019ce72b8d7642f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00e87d058034dab" /><Relationship Type="http://schemas.openxmlformats.org/officeDocument/2006/relationships/notesSlide" Target="/ppt/notesSlides/notesSlide13.xml" Id="Rf22e1bd6ee9b417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dc99ec949f94aa3" /><Relationship Type="http://schemas.openxmlformats.org/officeDocument/2006/relationships/image" Target="/ppt/media/image2.png" Id="R9fa84eaef81b4f01" /><Relationship Type="http://schemas.openxmlformats.org/officeDocument/2006/relationships/image" Target="/ppt/media/image3.png" Id="R778b52db99b84319" /><Relationship Type="http://schemas.openxmlformats.org/officeDocument/2006/relationships/notesSlide" Target="/ppt/notesSlides/notesSlide14.xml" Id="R21192d1a7c5a450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5d6f476bbfd4743" /><Relationship Type="http://schemas.openxmlformats.org/officeDocument/2006/relationships/notesSlide" Target="/ppt/notesSlides/notesSlide15.xml" Id="Rde37b3a3f3584d2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b9bf5cc457c4bd2" /><Relationship Type="http://schemas.openxmlformats.org/officeDocument/2006/relationships/notesSlide" Target="/ppt/notesSlides/notesSlide16.xml" Id="Rf3c3099bfc7e467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192799354dc4aff" /><Relationship Type="http://schemas.openxmlformats.org/officeDocument/2006/relationships/notesSlide" Target="/ppt/notesSlides/notesSlide17.xml" Id="R39f3e4b889ed484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4b9ae9fc89f467b" /><Relationship Type="http://schemas.openxmlformats.org/officeDocument/2006/relationships/notesSlide" Target="/ppt/notesSlides/notesSlide18.xml" Id="Reb180e8f0e7949f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f6f6e8350d84f57" /><Relationship Type="http://schemas.openxmlformats.org/officeDocument/2006/relationships/notesSlide" Target="/ppt/notesSlides/notesSlide19.xml" Id="Raf9cb10d12c546f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052e1fe6b454894" /><Relationship Type="http://schemas.openxmlformats.org/officeDocument/2006/relationships/notesSlide" Target="/ppt/notesSlides/notesSlide20.xml" Id="R9e7b91efe0554eb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3cf4b837c4e4c34" /><Relationship Type="http://schemas.openxmlformats.org/officeDocument/2006/relationships/notesSlide" Target="/ppt/notesSlides/notesSlide21.xml" Id="Rb386f643d8f949e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7cba28085f24eab" /><Relationship Type="http://schemas.openxmlformats.org/officeDocument/2006/relationships/notesSlide" Target="/ppt/notesSlides/notesSlide22.xml" Id="Rb22642d3481d42c3" /></Relationships>
</file>

<file path=ppt/slides/slide1.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A348F85-0306-45C2-BD1B-A7A78F8C14F7}"/>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AIRTRIBE · PRODUCT MANAGEMENT COURSEWORK · PROJECT 3</a:t>
            </a:r>
          </a:p>
        </p:txBody>
      </p:sp>
      <p:sp>
        <p:nvSpPr>
          <p:cNvPr id="2" name="">
            <a:extLst xmlns:a="http://schemas.openxmlformats.org/drawingml/2006/main">
              <a:ext uri="{FF2B5EF4-FFF2-40B4-BE49-F238E27FC236}">
                <a16:creationId xmlns:a16="http://schemas.microsoft.com/office/drawing/2014/main" id="{27EB20A4-D368-43A5-8C0D-AE561E2CDF9F}"/>
              </a:ext>
            </a:extLst>
          </p:cNvPr>
          <p:cNvSpPr>
            <a:spLocks xmlns:a="http://schemas.openxmlformats.org/drawingml/2006/main" noGrp="1"/>
          </p:cNvSpPr>
          <p:nvPr/>
        </p:nvSpPr>
        <p:spPr>
          <a:xfrm xmlns:a="http://schemas.openxmlformats.org/drawingml/2006/main">
            <a:off x="514350" y="876300"/>
            <a:ext cx="857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600" b="1" i="0">
                <a:solidFill>
                  <a:srgbClr val="FFFFFF"/>
                </a:solidFill>
                <a:latin typeface="Calibri"/>
                <a:ea typeface="Calibri"/>
                <a:cs typeface="Calibri"/>
              </a:defRPr>
            </a:pPr>
            <a:r>
              <a:rPr sz="3600" b="1" i="0">
                <a:solidFill>
                  <a:srgbClr val="FFFFFF"/>
                </a:solidFill>
                <a:latin typeface="Calibri"/>
                <a:ea typeface="Calibri"/>
                <a:cs typeface="Calibri"/>
              </a:rPr>
              <a:t>Find My Ride</a:t>
            </a:r>
          </a:p>
        </p:txBody>
      </p:sp>
      <p:sp>
        <p:nvSpPr>
          <p:cNvPr id="3" name="">
            <a:extLst xmlns:a="http://schemas.openxmlformats.org/drawingml/2006/main">
              <a:ext uri="{FF2B5EF4-FFF2-40B4-BE49-F238E27FC236}">
                <a16:creationId xmlns:a16="http://schemas.microsoft.com/office/drawing/2014/main" id="{37C8F9A3-E973-4B8A-96F4-D01761486F75}"/>
              </a:ext>
            </a:extLst>
          </p:cNvPr>
          <p:cNvSpPr>
            <a:spLocks xmlns:a="http://schemas.openxmlformats.org/drawingml/2006/main" noGrp="1"/>
          </p:cNvSpPr>
          <p:nvPr/>
        </p:nvSpPr>
        <p:spPr>
          <a:xfrm xmlns:a="http://schemas.openxmlformats.org/drawingml/2006/main">
            <a:off x="514350" y="1676400"/>
            <a:ext cx="9906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D8E0EC"/>
                </a:solidFill>
                <a:latin typeface="Calibri"/>
                <a:ea typeface="Calibri"/>
                <a:cs typeface="Calibri"/>
              </a:defRPr>
            </a:pPr>
            <a:r>
              <a:rPr sz="1725" b="0" i="0">
                <a:solidFill>
                  <a:srgbClr val="D8E0EC"/>
                </a:solidFill>
                <a:latin typeface="Calibri"/>
                <a:ea typeface="Calibri"/>
                <a:cs typeface="Calibri"/>
              </a:rPr>
              <a:t>Reducing uncertainty when riders and drivers cannot convert an app pin into a workable meeting point</a:t>
            </a:r>
          </a:p>
        </p:txBody>
      </p:sp>
      <p:sp>
        <p:nvSpPr>
          <p:cNvPr id="4" name="">
            <a:extLst xmlns:a="http://schemas.openxmlformats.org/drawingml/2006/main">
              <a:ext uri="{FF2B5EF4-FFF2-40B4-BE49-F238E27FC236}">
                <a16:creationId xmlns:a16="http://schemas.microsoft.com/office/drawing/2014/main" id="{68A5ECAD-4C8C-4378-A4E9-92D8E6F229EE}"/>
              </a:ext>
            </a:extLst>
          </p:cNvPr>
          <p:cNvSpPr>
            <a:spLocks xmlns:a="http://schemas.openxmlformats.org/drawingml/2006/main" noGrp="1"/>
          </p:cNvSpPr>
          <p:nvPr/>
        </p:nvSpPr>
        <p:spPr>
          <a:xfrm xmlns:a="http://schemas.openxmlformats.org/drawingml/2006/main">
            <a:off x="514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123AE2A-6568-4769-9089-85E62DF78B8A}"/>
              </a:ext>
            </a:extLst>
          </p:cNvPr>
          <p:cNvSpPr>
            <a:spLocks xmlns:a="http://schemas.openxmlformats.org/drawingml/2006/main" noGrp="1"/>
          </p:cNvSpPr>
          <p:nvPr/>
        </p:nvSpPr>
        <p:spPr>
          <a:xfrm xmlns:a="http://schemas.openxmlformats.org/drawingml/2006/main">
            <a:off x="666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62</a:t>
            </a:r>
          </a:p>
        </p:txBody>
      </p:sp>
      <p:sp>
        <p:nvSpPr>
          <p:cNvPr id="6" name="">
            <a:extLst xmlns:a="http://schemas.openxmlformats.org/drawingml/2006/main">
              <a:ext uri="{FF2B5EF4-FFF2-40B4-BE49-F238E27FC236}">
                <a16:creationId xmlns:a16="http://schemas.microsoft.com/office/drawing/2014/main" id="{582DBF7A-AB37-459E-837B-15A0A43626F1}"/>
              </a:ext>
            </a:extLst>
          </p:cNvPr>
          <p:cNvSpPr>
            <a:spLocks xmlns:a="http://schemas.openxmlformats.org/drawingml/2006/main" noGrp="1"/>
          </p:cNvSpPr>
          <p:nvPr/>
        </p:nvSpPr>
        <p:spPr>
          <a:xfrm xmlns:a="http://schemas.openxmlformats.org/drawingml/2006/main">
            <a:off x="666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unique survey submissions</a:t>
            </a:r>
          </a:p>
        </p:txBody>
      </p:sp>
      <p:sp>
        <p:nvSpPr>
          <p:cNvPr id="7" name="">
            <a:extLst xmlns:a="http://schemas.openxmlformats.org/drawingml/2006/main">
              <a:ext uri="{FF2B5EF4-FFF2-40B4-BE49-F238E27FC236}">
                <a16:creationId xmlns:a16="http://schemas.microsoft.com/office/drawing/2014/main" id="{B63ED3A7-6EB2-4F04-883A-D0DECF1D62D3}"/>
              </a:ext>
            </a:extLst>
          </p:cNvPr>
          <p:cNvSpPr>
            <a:spLocks xmlns:a="http://schemas.openxmlformats.org/drawingml/2006/main" noGrp="1"/>
          </p:cNvSpPr>
          <p:nvPr/>
        </p:nvSpPr>
        <p:spPr>
          <a:xfrm xmlns:a="http://schemas.openxmlformats.org/drawingml/2006/main">
            <a:off x="3181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5F5C21C-BB3A-48B3-AEBE-A0C1623C3014}"/>
              </a:ext>
            </a:extLst>
          </p:cNvPr>
          <p:cNvSpPr>
            <a:spLocks xmlns:a="http://schemas.openxmlformats.org/drawingml/2006/main" noGrp="1"/>
          </p:cNvSpPr>
          <p:nvPr/>
        </p:nvSpPr>
        <p:spPr>
          <a:xfrm xmlns:a="http://schemas.openxmlformats.org/drawingml/2006/main">
            <a:off x="3333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24 / 51</a:t>
            </a:r>
          </a:p>
        </p:txBody>
      </p:sp>
      <p:sp>
        <p:nvSpPr>
          <p:cNvPr id="9" name="">
            <a:extLst xmlns:a="http://schemas.openxmlformats.org/drawingml/2006/main">
              <a:ext uri="{FF2B5EF4-FFF2-40B4-BE49-F238E27FC236}">
                <a16:creationId xmlns:a16="http://schemas.microsoft.com/office/drawing/2014/main" id="{A7EAB548-C8D0-4B8E-97CD-219D809F277F}"/>
              </a:ext>
            </a:extLst>
          </p:cNvPr>
          <p:cNvSpPr>
            <a:spLocks xmlns:a="http://schemas.openxmlformats.org/drawingml/2006/main" noGrp="1"/>
          </p:cNvSpPr>
          <p:nvPr/>
        </p:nvSpPr>
        <p:spPr>
          <a:xfrm xmlns:a="http://schemas.openxmlformats.org/drawingml/2006/main">
            <a:off x="3333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522"/>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recent users reporting difficulty</a:t>
            </a:r>
          </a:p>
        </p:txBody>
      </p:sp>
      <p:sp>
        <p:nvSpPr>
          <p:cNvPr id="10" name="">
            <a:extLst xmlns:a="http://schemas.openxmlformats.org/drawingml/2006/main">
              <a:ext uri="{FF2B5EF4-FFF2-40B4-BE49-F238E27FC236}">
                <a16:creationId xmlns:a16="http://schemas.microsoft.com/office/drawing/2014/main" id="{7459CE03-8B72-4E3F-B1B7-3928CBE6B63A}"/>
              </a:ext>
            </a:extLst>
          </p:cNvPr>
          <p:cNvSpPr>
            <a:spLocks xmlns:a="http://schemas.openxmlformats.org/drawingml/2006/main" noGrp="1"/>
          </p:cNvSpPr>
          <p:nvPr/>
        </p:nvSpPr>
        <p:spPr>
          <a:xfrm xmlns:a="http://schemas.openxmlformats.org/drawingml/2006/main">
            <a:off x="5848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1642AEA-0908-40D4-BFD2-F5649702520E}"/>
              </a:ext>
            </a:extLst>
          </p:cNvPr>
          <p:cNvSpPr>
            <a:spLocks xmlns:a="http://schemas.openxmlformats.org/drawingml/2006/main" noGrp="1"/>
          </p:cNvSpPr>
          <p:nvPr/>
        </p:nvSpPr>
        <p:spPr>
          <a:xfrm xmlns:a="http://schemas.openxmlformats.org/drawingml/2006/main">
            <a:off x="6000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a:t>
            </a:r>
          </a:p>
        </p:txBody>
      </p:sp>
      <p:sp>
        <p:nvSpPr>
          <p:cNvPr id="12" name="">
            <a:extLst xmlns:a="http://schemas.openxmlformats.org/drawingml/2006/main">
              <a:ext uri="{FF2B5EF4-FFF2-40B4-BE49-F238E27FC236}">
                <a16:creationId xmlns:a16="http://schemas.microsoft.com/office/drawing/2014/main" id="{9025FBB9-AC0A-4653-87F9-B0348272EF61}"/>
              </a:ext>
            </a:extLst>
          </p:cNvPr>
          <p:cNvSpPr>
            <a:spLocks xmlns:a="http://schemas.openxmlformats.org/drawingml/2006/main" noGrp="1"/>
          </p:cNvSpPr>
          <p:nvPr/>
        </p:nvSpPr>
        <p:spPr>
          <a:xfrm xmlns:a="http://schemas.openxmlformats.org/drawingml/2006/main">
            <a:off x="6000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184"/>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driver responses — evidence gap</a:t>
            </a:r>
          </a:p>
        </p:txBody>
      </p:sp>
      <p:sp>
        <p:nvSpPr>
          <p:cNvPr id="13" name="">
            <a:extLst xmlns:a="http://schemas.openxmlformats.org/drawingml/2006/main">
              <a:ext uri="{FF2B5EF4-FFF2-40B4-BE49-F238E27FC236}">
                <a16:creationId xmlns:a16="http://schemas.microsoft.com/office/drawing/2014/main" id="{8A79F644-5C14-49EF-8A50-9BCDE13EBB36}"/>
              </a:ext>
            </a:extLst>
          </p:cNvPr>
          <p:cNvSpPr>
            <a:spLocks xmlns:a="http://schemas.openxmlformats.org/drawingml/2006/main" noGrp="1"/>
          </p:cNvSpPr>
          <p:nvPr/>
        </p:nvSpPr>
        <p:spPr>
          <a:xfrm xmlns:a="http://schemas.openxmlformats.org/drawingml/2006/main">
            <a:off x="8515350" y="3429000"/>
            <a:ext cx="24765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351876B-FDE8-4785-9EDF-FF1343D2C2D5}"/>
              </a:ext>
            </a:extLst>
          </p:cNvPr>
          <p:cNvSpPr>
            <a:spLocks xmlns:a="http://schemas.openxmlformats.org/drawingml/2006/main" noGrp="1"/>
          </p:cNvSpPr>
          <p:nvPr/>
        </p:nvSpPr>
        <p:spPr>
          <a:xfrm xmlns:a="http://schemas.openxmlformats.org/drawingml/2006/main">
            <a:off x="8667750" y="3562350"/>
            <a:ext cx="2171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3</a:t>
            </a:r>
          </a:p>
        </p:txBody>
      </p:sp>
      <p:sp>
        <p:nvSpPr>
          <p:cNvPr id="15" name="">
            <a:extLst xmlns:a="http://schemas.openxmlformats.org/drawingml/2006/main">
              <a:ext uri="{FF2B5EF4-FFF2-40B4-BE49-F238E27FC236}">
                <a16:creationId xmlns:a16="http://schemas.microsoft.com/office/drawing/2014/main" id="{C153CA0E-B809-4B84-BA55-642E9306FFD0}"/>
              </a:ext>
            </a:extLst>
          </p:cNvPr>
          <p:cNvSpPr>
            <a:spLocks xmlns:a="http://schemas.openxmlformats.org/drawingml/2006/main" noGrp="1"/>
          </p:cNvSpPr>
          <p:nvPr/>
        </p:nvSpPr>
        <p:spPr>
          <a:xfrm xmlns:a="http://schemas.openxmlformats.org/drawingml/2006/main">
            <a:off x="8667750" y="4076700"/>
            <a:ext cx="2171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research-led ideas to test</a:t>
            </a:r>
          </a:p>
        </p:txBody>
      </p:sp>
      <p:sp>
        <p:nvSpPr>
          <p:cNvPr id="16" name="">
            <a:extLst xmlns:a="http://schemas.openxmlformats.org/drawingml/2006/main">
              <a:ext uri="{FF2B5EF4-FFF2-40B4-BE49-F238E27FC236}">
                <a16:creationId xmlns:a16="http://schemas.microsoft.com/office/drawing/2014/main" id="{A40F2BBA-6CBF-40A7-8F91-1BC7D1D3A842}"/>
              </a:ext>
            </a:extLst>
          </p:cNvPr>
          <p:cNvSpPr>
            <a:spLocks xmlns:a="http://schemas.openxmlformats.org/drawingml/2006/main" noGrp="1"/>
          </p:cNvSpPr>
          <p:nvPr/>
        </p:nvSpPr>
        <p:spPr>
          <a:xfrm xmlns:a="http://schemas.openxmlformats.org/drawingml/2006/main">
            <a:off x="514350" y="6143625"/>
            <a:ext cx="762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0" i="0">
                <a:solidFill>
                  <a:srgbClr val="AEBBD0"/>
                </a:solidFill>
                <a:latin typeface="Calibri"/>
                <a:ea typeface="Calibri"/>
                <a:cs typeface="Calibri"/>
              </a:defRPr>
            </a:pPr>
            <a:r>
              <a:rPr sz="975" b="0" i="0">
                <a:solidFill>
                  <a:srgbClr val="AEBBD0"/>
                </a:solidFill>
                <a:latin typeface="Calibri"/>
                <a:ea typeface="Calibri"/>
                <a:cs typeface="Calibri"/>
              </a:rPr>
              <a:t>Hyderabad primary · India comparison responses · 18 September 2026</a:t>
            </a:r>
          </a:p>
        </p:txBody>
      </p:sp>
    </p:spTree>
    <p:extLst>
      <p:ext uri="{BB962C8B-B14F-4D97-AF65-F5344CB8AC3E}">
        <p14:creationId xmlns:p14="http://schemas.microsoft.com/office/powerpoint/2010/main" val="258411760"/>
      </p:ext>
    </p:extLst>
  </p:cSld>
</p:sld>
</file>

<file path=ppt/slides/slide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5E58B89-09FF-4FEB-8DA2-98A9E610BE7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 METHOD</a:t>
            </a:r>
          </a:p>
        </p:txBody>
      </p:sp>
      <p:sp>
        <p:nvSpPr>
          <p:cNvPr id="2" name="">
            <a:extLst xmlns:a="http://schemas.openxmlformats.org/drawingml/2006/main">
              <a:ext uri="{FF2B5EF4-FFF2-40B4-BE49-F238E27FC236}">
                <a16:creationId xmlns:a16="http://schemas.microsoft.com/office/drawing/2014/main" id="{20B59713-E20D-45EB-BC99-9067A306144B}"/>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we actually researched</a:t>
            </a:r>
          </a:p>
        </p:txBody>
      </p:sp>
      <p:sp>
        <p:nvSpPr>
          <p:cNvPr id="3" name="">
            <a:extLst xmlns:a="http://schemas.openxmlformats.org/drawingml/2006/main">
              <a:ext uri="{FF2B5EF4-FFF2-40B4-BE49-F238E27FC236}">
                <a16:creationId xmlns:a16="http://schemas.microsoft.com/office/drawing/2014/main" id="{5749B944-3941-4D57-9443-18371AB6EECE}"/>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A deliberate method choice under constraint — stated up front, not buried in a footnote.</a:t>
            </a:r>
          </a:p>
        </p:txBody>
      </p:sp>
      <p:sp>
        <p:nvSpPr>
          <p:cNvPr id="4" name="">
            <a:extLst xmlns:a="http://schemas.openxmlformats.org/drawingml/2006/main">
              <a:ext uri="{FF2B5EF4-FFF2-40B4-BE49-F238E27FC236}">
                <a16:creationId xmlns:a16="http://schemas.microsoft.com/office/drawing/2014/main" id="{CF7C7609-05CB-4B02-9066-9B3A5BEE895F}"/>
              </a:ext>
            </a:extLst>
          </p:cNvPr>
          <p:cNvSpPr>
            <a:spLocks xmlns:a="http://schemas.openxmlformats.org/drawingml/2006/main" noGrp="1"/>
          </p:cNvSpPr>
          <p:nvPr/>
        </p:nvSpPr>
        <p:spPr>
          <a:xfrm xmlns:a="http://schemas.openxmlformats.org/drawingml/2006/main">
            <a:off x="514350" y="1619250"/>
            <a:ext cx="5810250" cy="123825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60FA209A-451A-459C-8D0F-AA6E8F1AD413}"/>
              </a:ext>
            </a:extLst>
          </p:cNvPr>
          <p:cNvSpPr>
            <a:spLocks xmlns:a="http://schemas.openxmlformats.org/drawingml/2006/main" noGrp="1"/>
          </p:cNvSpPr>
          <p:nvPr/>
        </p:nvSpPr>
        <p:spPr>
          <a:xfrm xmlns:a="http://schemas.openxmlformats.org/drawingml/2006/main">
            <a:off x="666750" y="17335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METHOD CHOICE</a:t>
            </a:r>
          </a:p>
        </p:txBody>
      </p:sp>
      <p:sp>
        <p:nvSpPr>
          <p:cNvPr id="6" name="">
            <a:extLst xmlns:a="http://schemas.openxmlformats.org/drawingml/2006/main">
              <a:ext uri="{FF2B5EF4-FFF2-40B4-BE49-F238E27FC236}">
                <a16:creationId xmlns:a16="http://schemas.microsoft.com/office/drawing/2014/main" id="{DE1D4805-6880-4CEA-A836-48DF1B6F48D4}"/>
              </a:ext>
            </a:extLst>
          </p:cNvPr>
          <p:cNvSpPr>
            <a:spLocks xmlns:a="http://schemas.openxmlformats.org/drawingml/2006/main" noGrp="1"/>
          </p:cNvSpPr>
          <p:nvPr/>
        </p:nvSpPr>
        <p:spPr>
          <a:xfrm xmlns:a="http://schemas.openxmlformats.org/drawingml/2006/main">
            <a:off x="666750" y="2066925"/>
            <a:ext cx="5505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Synchronous interviews were not feasible in the available window. I built a multilingual self-serve research app instead: rider/driver branches, structured tags, and four optional open-text or voice prompts.</a:t>
            </a:r>
          </a:p>
        </p:txBody>
      </p:sp>
      <p:sp>
        <p:nvSpPr>
          <p:cNvPr id="7" name="">
            <a:extLst xmlns:a="http://schemas.openxmlformats.org/drawingml/2006/main">
              <a:ext uri="{FF2B5EF4-FFF2-40B4-BE49-F238E27FC236}">
                <a16:creationId xmlns:a16="http://schemas.microsoft.com/office/drawing/2014/main" id="{6F5DD47F-D117-48CB-8495-A6CF0E72D698}"/>
              </a:ext>
            </a:extLst>
          </p:cNvPr>
          <p:cNvSpPr>
            <a:spLocks xmlns:a="http://schemas.openxmlformats.org/drawingml/2006/main" noGrp="1"/>
          </p:cNvSpPr>
          <p:nvPr/>
        </p:nvSpPr>
        <p:spPr>
          <a:xfrm xmlns:a="http://schemas.openxmlformats.org/drawingml/2006/main">
            <a:off x="514350" y="2933700"/>
            <a:ext cx="5810250" cy="1123950"/>
          </a:xfrm>
          <a:prstGeom xmlns:a="http://schemas.openxmlformats.org/drawingml/2006/main" prst="roundRect">
            <a:avLst>
              <a:gd name="adj" fmla="val 5085"/>
            </a:avLst>
          </a:prstGeom>
          <a:solidFill xmlns:a="http://schemas.openxmlformats.org/drawingml/2006/main">
            <a:srgbClr val="E2F4F6"/>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93AE91CE-8667-4D7D-B7F9-01D20D131EDF}"/>
              </a:ext>
            </a:extLst>
          </p:cNvPr>
          <p:cNvSpPr>
            <a:spLocks xmlns:a="http://schemas.openxmlformats.org/drawingml/2006/main" noGrp="1"/>
          </p:cNvSpPr>
          <p:nvPr/>
        </p:nvSpPr>
        <p:spPr>
          <a:xfrm xmlns:a="http://schemas.openxmlformats.org/drawingml/2006/main">
            <a:off x="666750" y="304800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DEPTH ACHIEVED</a:t>
            </a:r>
          </a:p>
        </p:txBody>
      </p:sp>
      <p:sp>
        <p:nvSpPr>
          <p:cNvPr id="9" name="">
            <a:extLst xmlns:a="http://schemas.openxmlformats.org/drawingml/2006/main">
              <a:ext uri="{FF2B5EF4-FFF2-40B4-BE49-F238E27FC236}">
                <a16:creationId xmlns:a16="http://schemas.microsoft.com/office/drawing/2014/main" id="{39B4CEE2-708E-40DB-B031-BFC47BB56E56}"/>
              </a:ext>
            </a:extLst>
          </p:cNvPr>
          <p:cNvSpPr>
            <a:spLocks xmlns:a="http://schemas.openxmlformats.org/drawingml/2006/main" noGrp="1"/>
          </p:cNvSpPr>
          <p:nvPr/>
        </p:nvSpPr>
        <p:spPr>
          <a:xfrm xmlns:a="http://schemas.openxmlformats.org/drawingml/2006/main">
            <a:off x="666750" y="3381375"/>
            <a:ext cx="5505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397"/>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62 unique respondents. 30 answered at least one open-ended narrative prompt, 11 gave extended accounts, and 3 completed all four detailed prompts.</a:t>
            </a:r>
          </a:p>
        </p:txBody>
      </p:sp>
      <p:sp>
        <p:nvSpPr>
          <p:cNvPr id="10" name="">
            <a:extLst xmlns:a="http://schemas.openxmlformats.org/drawingml/2006/main">
              <a:ext uri="{FF2B5EF4-FFF2-40B4-BE49-F238E27FC236}">
                <a16:creationId xmlns:a16="http://schemas.microsoft.com/office/drawing/2014/main" id="{D5ABFA3A-95A3-4067-880C-0CF4064514F2}"/>
              </a:ext>
            </a:extLst>
          </p:cNvPr>
          <p:cNvSpPr>
            <a:spLocks xmlns:a="http://schemas.openxmlformats.org/drawingml/2006/main" noGrp="1"/>
          </p:cNvSpPr>
          <p:nvPr/>
        </p:nvSpPr>
        <p:spPr>
          <a:xfrm xmlns:a="http://schemas.openxmlformats.org/drawingml/2006/main">
            <a:off x="514350" y="4133850"/>
            <a:ext cx="5810250" cy="1200150"/>
          </a:xfrm>
          <a:prstGeom xmlns:a="http://schemas.openxmlformats.org/drawingml/2006/main" prst="roundRect">
            <a:avLst>
              <a:gd name="adj" fmla="val 4762"/>
            </a:avLst>
          </a:prstGeom>
          <a:solidFill xmlns:a="http://schemas.openxmlformats.org/drawingml/2006/main">
            <a:srgbClr val="FBE7D8"/>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257A57AD-F28C-4B91-B461-96938462952B}"/>
              </a:ext>
            </a:extLst>
          </p:cNvPr>
          <p:cNvSpPr>
            <a:spLocks xmlns:a="http://schemas.openxmlformats.org/drawingml/2006/main" noGrp="1"/>
          </p:cNvSpPr>
          <p:nvPr/>
        </p:nvSpPr>
        <p:spPr>
          <a:xfrm xmlns:a="http://schemas.openxmlformats.org/drawingml/2006/main">
            <a:off x="666750" y="4248150"/>
            <a:ext cx="5505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TRADEOFF</a:t>
            </a:r>
          </a:p>
        </p:txBody>
      </p:sp>
      <p:sp>
        <p:nvSpPr>
          <p:cNvPr id="12" name="">
            <a:extLst xmlns:a="http://schemas.openxmlformats.org/drawingml/2006/main">
              <a:ext uri="{FF2B5EF4-FFF2-40B4-BE49-F238E27FC236}">
                <a16:creationId xmlns:a16="http://schemas.microsoft.com/office/drawing/2014/main" id="{7F3B9A21-847E-4FB8-BDE6-143C8830A3D7}"/>
              </a:ext>
            </a:extLst>
          </p:cNvPr>
          <p:cNvSpPr>
            <a:spLocks xmlns:a="http://schemas.openxmlformats.org/drawingml/2006/main" noGrp="1"/>
          </p:cNvSpPr>
          <p:nvPr/>
        </p:nvSpPr>
        <p:spPr>
          <a:xfrm xmlns:a="http://schemas.openxmlformats.org/drawingml/2006/main">
            <a:off x="666750" y="4581525"/>
            <a:ext cx="55054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No live probing and no follow-up on surprising answers. Depth per respondent is lower than a moderated interview; breadth, language coverage and traceability are higher.</a:t>
            </a:r>
          </a:p>
        </p:txBody>
      </p:sp>
      <p:sp>
        <p:nvSpPr>
          <p:cNvPr id="13" name="">
            <a:extLst xmlns:a="http://schemas.openxmlformats.org/drawingml/2006/main">
              <a:ext uri="{FF2B5EF4-FFF2-40B4-BE49-F238E27FC236}">
                <a16:creationId xmlns:a16="http://schemas.microsoft.com/office/drawing/2014/main" id="{481FAA00-5BCF-4B82-A053-D3AD710BAF2D}"/>
              </a:ext>
            </a:extLst>
          </p:cNvPr>
          <p:cNvSpPr>
            <a:spLocks xmlns:a="http://schemas.openxmlformats.org/drawingml/2006/main" noGrp="1"/>
          </p:cNvSpPr>
          <p:nvPr/>
        </p:nvSpPr>
        <p:spPr>
          <a:xfrm xmlns:a="http://schemas.openxmlformats.org/drawingml/2006/main">
            <a:off x="514350" y="542925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62 unique submissions · 58 riders · 4 drivers · 33 Hyderabad / 29 other cities · 30 open-ended responses</a:t>
            </a:r>
          </a:p>
        </p:txBody>
      </p:sp>
      <p:sp>
        <p:nvSpPr>
          <p:cNvPr id="14" name="">
            <a:extLst xmlns:a="http://schemas.openxmlformats.org/drawingml/2006/main">
              <a:ext uri="{FF2B5EF4-FFF2-40B4-BE49-F238E27FC236}">
                <a16:creationId xmlns:a16="http://schemas.microsoft.com/office/drawing/2014/main" id="{3E281450-AE67-4243-AB4E-87D8C8AE7B11}"/>
              </a:ext>
            </a:extLst>
          </p:cNvPr>
          <p:cNvSpPr>
            <a:spLocks xmlns:a="http://schemas.openxmlformats.org/drawingml/2006/main" noGrp="1"/>
          </p:cNvSpPr>
          <p:nvPr/>
        </p:nvSpPr>
        <p:spPr>
          <a:xfrm xmlns:a="http://schemas.openxmlformats.org/drawingml/2006/main">
            <a:off x="7067550" y="1562100"/>
            <a:ext cx="2609850" cy="4343400"/>
          </a:xfrm>
          <a:prstGeom xmlns:a="http://schemas.openxmlformats.org/drawingml/2006/main" prst="roundRect">
            <a:avLst>
              <a:gd name="adj" fmla="val 2920"/>
            </a:avLst>
          </a:prstGeom>
          <a:solidFill xmlns:a="http://schemas.openxmlformats.org/drawingml/2006/main">
            <a:srgbClr val="FFFFFF"/>
          </a:solidFill>
          <a:ln xmlns:a="http://schemas.openxmlformats.org/drawingml/2006/main" w="19050">
            <a:solidFill>
              <a:srgbClr val="1B2B45"/>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37a58025ce064168"/>
          <a:stretch xmlns:a="http://schemas.openxmlformats.org/drawingml/2006/main"/>
        </p:blipFill>
        <p:spPr>
          <a:xfrm xmlns:a="http://schemas.openxmlformats.org/drawingml/2006/main">
            <a:off x="7414456" y="1657350"/>
            <a:ext cx="1916038" cy="41529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D681574F-6410-47F8-B14D-0D3C4865A881}"/>
              </a:ext>
            </a:extLst>
          </p:cNvPr>
          <p:cNvSpPr>
            <a:spLocks xmlns:a="http://schemas.openxmlformats.org/drawingml/2006/main" noGrp="1"/>
          </p:cNvSpPr>
          <p:nvPr/>
        </p:nvSpPr>
        <p:spPr>
          <a:xfrm xmlns:a="http://schemas.openxmlformats.org/drawingml/2006/main">
            <a:off x="9810750" y="2286000"/>
            <a:ext cx="180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2D4672"/>
                </a:solidFill>
                <a:latin typeface="Calibri"/>
                <a:ea typeface="Calibri"/>
                <a:cs typeface="Calibri"/>
              </a:defRPr>
            </a:pPr>
            <a:r>
              <a:rPr sz="1200" b="0" i="0" u="sng">
                <a:solidFill>
                  <a:srgbClr val="2D4672"/>
                </a:solidFill>
                <a:latin typeface="Calibri"/>
                <a:ea typeface="Calibri"/>
                <a:cs typeface="Calibri"/>
                <a:hlinkClick xmlns:r="http://schemas.openxmlformats.org/officeDocument/2006/relationships" r:id="R3ff04f16bb9944e3"/>
              </a:rPr>
              <a:t>https://praveenveera.github.io/uber-pickup-survey/</a:t>
            </a:r>
          </a:p>
        </p:txBody>
      </p:sp>
      <p:sp>
        <p:nvSpPr>
          <p:cNvPr id="17" name="">
            <a:extLst xmlns:a="http://schemas.openxmlformats.org/drawingml/2006/main">
              <a:ext uri="{FF2B5EF4-FFF2-40B4-BE49-F238E27FC236}">
                <a16:creationId xmlns:a16="http://schemas.microsoft.com/office/drawing/2014/main" id="{9DEE28EB-26D9-49E6-A89B-E9A466254F98}"/>
              </a:ext>
            </a:extLst>
          </p:cNvPr>
          <p:cNvSpPr>
            <a:spLocks xmlns:a="http://schemas.openxmlformats.org/drawingml/2006/main" noGrp="1"/>
          </p:cNvSpPr>
          <p:nvPr/>
        </p:nvSpPr>
        <p:spPr>
          <a:xfrm xmlns:a="http://schemas.openxmlformats.org/drawingml/2006/main">
            <a:off x="9810750" y="165735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803"/>
          </a:bodyPr>
          <a:lstStyle xmlns:a="http://schemas.openxmlformats.org/drawingml/2006/main"/>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Live app</a:t>
            </a:r>
          </a:p>
          <a:p xmlns:a="http://schemas.openxmlformats.org/drawingml/2006/main">
            <a:pPr algn="l">
              <a:defRPr sz="1425" b="1" i="0">
                <a:solidFill>
                  <a:srgbClr val="1B2B45"/>
                </a:solidFill>
                <a:latin typeface="Calibri"/>
                <a:ea typeface="Calibri"/>
                <a:cs typeface="Calibri"/>
              </a:defRPr>
            </a:pPr>
            <a:r>
              <a:rPr sz="1425" b="1" i="0">
                <a:solidFill>
                  <a:srgbClr val="1B2B45"/>
                </a:solidFill>
                <a:latin typeface="Calibri"/>
                <a:ea typeface="Calibri"/>
                <a:cs typeface="Calibri"/>
              </a:rPr>
              <a:t>English · Telugu · Hindi</a:t>
            </a:r>
          </a:p>
        </p:txBody>
      </p:sp>
      <p:sp>
        <p:nvSpPr>
          <p:cNvPr id="18" name="">
            <a:extLst xmlns:a="http://schemas.openxmlformats.org/drawingml/2006/main">
              <a:ext uri="{FF2B5EF4-FFF2-40B4-BE49-F238E27FC236}">
                <a16:creationId xmlns:a16="http://schemas.microsoft.com/office/drawing/2014/main" id="{067FB8D4-5463-4004-8686-5B74619A711C}"/>
              </a:ext>
            </a:extLst>
          </p:cNvPr>
          <p:cNvSpPr>
            <a:spLocks xmlns:a="http://schemas.openxmlformats.org/drawingml/2006/main" noGrp="1"/>
          </p:cNvSpPr>
          <p:nvPr/>
        </p:nvSpPr>
        <p:spPr>
          <a:xfrm xmlns:a="http://schemas.openxmlformats.org/drawingml/2006/main">
            <a:off x="9810750" y="3543300"/>
            <a:ext cx="1809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687489"/>
                </a:solidFill>
                <a:latin typeface="Calibri"/>
                <a:ea typeface="Calibri"/>
                <a:cs typeface="Calibri"/>
              </a:defRPr>
            </a:pPr>
            <a:r>
              <a:rPr sz="1275" b="0" i="0">
                <a:solidFill>
                  <a:srgbClr val="687489"/>
                </a:solidFill>
                <a:latin typeface="Calibri"/>
                <a:ea typeface="Calibri"/>
                <a:cs typeface="Calibri"/>
              </a:rPr>
              <a:t>Full consent, question-flow, and anonymized-response evidence is included in the evidence ZIP.</a:t>
            </a:r>
          </a:p>
        </p:txBody>
      </p:sp>
      <p:sp>
        <p:nvSpPr>
          <p:cNvPr id="19" name="">
            <a:extLst xmlns:a="http://schemas.openxmlformats.org/drawingml/2006/main">
              <a:ext uri="{FF2B5EF4-FFF2-40B4-BE49-F238E27FC236}">
                <a16:creationId xmlns:a16="http://schemas.microsoft.com/office/drawing/2014/main" id="{50D29644-3C61-4C5C-BF5D-CA37457EEEA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0" name="">
            <a:extLst xmlns:a="http://schemas.openxmlformats.org/drawingml/2006/main">
              <a:ext uri="{FF2B5EF4-FFF2-40B4-BE49-F238E27FC236}">
                <a16:creationId xmlns:a16="http://schemas.microsoft.com/office/drawing/2014/main" id="{0BAA3246-B6CA-41B6-88E0-2D4115817B8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a:t>
            </a:r>
          </a:p>
        </p:txBody>
      </p:sp>
    </p:spTree>
    <p:extLst>
      <p:ext uri="{BB962C8B-B14F-4D97-AF65-F5344CB8AC3E}">
        <p14:creationId xmlns:p14="http://schemas.microsoft.com/office/powerpoint/2010/main" val="1742373789"/>
      </p:ext>
    </p:extLst>
  </p:cSld>
</p:sld>
</file>

<file path=ppt/slides/slide3.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AD91B3D-3863-4029-AFBA-82E616F33E8B}"/>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PROBLEM FRAMING</a:t>
            </a:r>
          </a:p>
        </p:txBody>
      </p:sp>
      <p:sp>
        <p:nvSpPr>
          <p:cNvPr id="2" name="">
            <a:extLst xmlns:a="http://schemas.openxmlformats.org/drawingml/2006/main">
              <a:ext uri="{FF2B5EF4-FFF2-40B4-BE49-F238E27FC236}">
                <a16:creationId xmlns:a16="http://schemas.microsoft.com/office/drawing/2014/main" id="{556D6511-C808-4A17-8CF6-AC480F263BE5}"/>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The coordination job starts where the map stops</a:t>
            </a:r>
          </a:p>
        </p:txBody>
      </p:sp>
      <p:sp>
        <p:nvSpPr>
          <p:cNvPr id="3" name="">
            <a:extLst xmlns:a="http://schemas.openxmlformats.org/drawingml/2006/main">
              <a:ext uri="{FF2B5EF4-FFF2-40B4-BE49-F238E27FC236}">
                <a16:creationId xmlns:a16="http://schemas.microsoft.com/office/drawing/2014/main" id="{8A097A5B-27D6-41B2-A2DB-257EBF17D990}"/>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Discovery shows what happens. Framing defines the user, context, desired outcome, and boundaries.</a:t>
            </a:r>
          </a:p>
        </p:txBody>
      </p:sp>
      <p:sp>
        <p:nvSpPr>
          <p:cNvPr id="4" name="">
            <a:extLst xmlns:a="http://schemas.openxmlformats.org/drawingml/2006/main">
              <a:ext uri="{FF2B5EF4-FFF2-40B4-BE49-F238E27FC236}">
                <a16:creationId xmlns:a16="http://schemas.microsoft.com/office/drawing/2014/main" id="{3E8842BF-7B35-4F6B-84D3-2886D427F9D2}"/>
              </a:ext>
            </a:extLst>
          </p:cNvPr>
          <p:cNvSpPr>
            <a:spLocks xmlns:a="http://schemas.openxmlformats.org/drawingml/2006/main" noGrp="1"/>
          </p:cNvSpPr>
          <p:nvPr/>
        </p:nvSpPr>
        <p:spPr>
          <a:xfrm xmlns:a="http://schemas.openxmlformats.org/drawingml/2006/main">
            <a:off x="514350" y="1581150"/>
            <a:ext cx="10439400" cy="1314450"/>
          </a:xfrm>
          <a:prstGeom xmlns:a="http://schemas.openxmlformats.org/drawingml/2006/main" prst="roundRect">
            <a:avLst>
              <a:gd name="adj" fmla="val 4348"/>
            </a:avLst>
          </a:prstGeom>
          <a:solidFill xmlns:a="http://schemas.openxmlformats.org/drawingml/2006/main">
            <a:srgbClr val="1B2B4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5ED87C4-2386-4A0C-9631-76CB13A8B6BE}"/>
              </a:ext>
            </a:extLst>
          </p:cNvPr>
          <p:cNvSpPr>
            <a:spLocks xmlns:a="http://schemas.openxmlformats.org/drawingml/2006/main" noGrp="1"/>
          </p:cNvSpPr>
          <p:nvPr/>
        </p:nvSpPr>
        <p:spPr>
          <a:xfrm xmlns:a="http://schemas.openxmlformats.org/drawingml/2006/main">
            <a:off x="742950" y="1733550"/>
            <a:ext cx="9982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l">
              <a:defRPr sz="1125" b="1" i="0">
                <a:solidFill>
                  <a:srgbClr val="F47A22"/>
                </a:solidFill>
                <a:latin typeface="Calibri"/>
                <a:ea typeface="Calibri"/>
                <a:cs typeface="Calibri"/>
              </a:defRPr>
            </a:pPr>
            <a:r>
              <a:rPr sz="1125" b="1" i="0">
                <a:solidFill>
                  <a:srgbClr val="F47A22"/>
                </a:solidFill>
                <a:latin typeface="Calibri"/>
                <a:ea typeface="Calibri"/>
                <a:cs typeface="Calibri"/>
              </a:rPr>
              <a:t>WORKING JTBD · ASSUMPTION TO VALIDATE</a:t>
            </a:r>
          </a:p>
        </p:txBody>
      </p:sp>
      <p:sp>
        <p:nvSpPr>
          <p:cNvPr id="6" name="">
            <a:extLst xmlns:a="http://schemas.openxmlformats.org/drawingml/2006/main">
              <a:ext uri="{FF2B5EF4-FFF2-40B4-BE49-F238E27FC236}">
                <a16:creationId xmlns:a16="http://schemas.microsoft.com/office/drawing/2014/main" id="{F75CFDCD-3203-4EA2-BCC7-52D29A052E6B}"/>
              </a:ext>
            </a:extLst>
          </p:cNvPr>
          <p:cNvSpPr>
            <a:spLocks xmlns:a="http://schemas.openxmlformats.org/drawingml/2006/main" noGrp="1"/>
          </p:cNvSpPr>
          <p:nvPr/>
        </p:nvSpPr>
        <p:spPr>
          <a:xfrm xmlns:a="http://schemas.openxmlformats.org/drawingml/2006/main">
            <a:off x="742950" y="2057400"/>
            <a:ext cx="998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8346"/>
          </a:bodyPr>
          <a:lstStyle xmlns:a="http://schemas.openxmlformats.org/drawingml/2006/main"/>
          <a:p xmlns:a="http://schemas.openxmlformats.org/drawingml/2006/main">
            <a:pPr algn="ctr">
              <a:defRPr sz="1725" b="1" i="0">
                <a:solidFill>
                  <a:srgbClr val="FFFFFF"/>
                </a:solidFill>
                <a:latin typeface="Calibri"/>
                <a:ea typeface="Calibri"/>
                <a:cs typeface="Calibri"/>
              </a:defRPr>
            </a:pPr>
            <a:r>
              <a:rPr sz="1725" b="1" i="0">
                <a:solidFill>
                  <a:srgbClr val="FFFFFF"/>
                </a:solidFill>
                <a:latin typeface="Calibri"/>
                <a:ea typeface="Calibri"/>
                <a:cs typeface="Calibri"/>
              </a:rPr>
              <a:t>When I am waiting at a complex pickup location, help my driver and me agree on a legal, easy-to-recognize meeting point so the trip can start without repeated calls, extra movement, or cancellation.</a:t>
            </a:r>
          </a:p>
        </p:txBody>
      </p:sp>
      <p:sp>
        <p:nvSpPr>
          <p:cNvPr id="7" name="">
            <a:extLst xmlns:a="http://schemas.openxmlformats.org/drawingml/2006/main">
              <a:ext uri="{FF2B5EF4-FFF2-40B4-BE49-F238E27FC236}">
                <a16:creationId xmlns:a16="http://schemas.microsoft.com/office/drawing/2014/main" id="{E5F5F5A4-7CDA-4FA1-89E7-1D9F2F5B7B18}"/>
              </a:ext>
            </a:extLst>
          </p:cNvPr>
          <p:cNvSpPr>
            <a:spLocks xmlns:a="http://schemas.openxmlformats.org/drawingml/2006/main" noGrp="1"/>
          </p:cNvSpPr>
          <p:nvPr/>
        </p:nvSpPr>
        <p:spPr>
          <a:xfrm xmlns:a="http://schemas.openxmlformats.org/drawingml/2006/main">
            <a:off x="514350" y="3105150"/>
            <a:ext cx="3333750" cy="2000250"/>
          </a:xfrm>
          <a:prstGeom xmlns:a="http://schemas.openxmlformats.org/drawingml/2006/main" prst="roundRect">
            <a:avLst>
              <a:gd name="adj" fmla="val 2857"/>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03122D90-CF38-43C1-A1BF-E0E39082FA78}"/>
              </a:ext>
            </a:extLst>
          </p:cNvPr>
          <p:cNvSpPr>
            <a:spLocks xmlns:a="http://schemas.openxmlformats.org/drawingml/2006/main" noGrp="1"/>
          </p:cNvSpPr>
          <p:nvPr/>
        </p:nvSpPr>
        <p:spPr>
          <a:xfrm xmlns:a="http://schemas.openxmlformats.org/drawingml/2006/main">
            <a:off x="666750" y="32194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EVIDENCE-BASED FRAME</a:t>
            </a:r>
          </a:p>
        </p:txBody>
      </p:sp>
      <p:sp>
        <p:nvSpPr>
          <p:cNvPr id="9" name="">
            <a:extLst xmlns:a="http://schemas.openxmlformats.org/drawingml/2006/main">
              <a:ext uri="{FF2B5EF4-FFF2-40B4-BE49-F238E27FC236}">
                <a16:creationId xmlns:a16="http://schemas.microsoft.com/office/drawing/2014/main" id="{DD1D5C2D-A887-4742-9C72-EFB5371C1487}"/>
              </a:ext>
            </a:extLst>
          </p:cNvPr>
          <p:cNvSpPr>
            <a:spLocks xmlns:a="http://schemas.openxmlformats.org/drawingml/2006/main" noGrp="1"/>
          </p:cNvSpPr>
          <p:nvPr/>
        </p:nvSpPr>
        <p:spPr>
          <a:xfrm xmlns:a="http://schemas.openxmlformats.org/drawingml/2006/main">
            <a:off x="666750" y="3552825"/>
            <a:ext cx="30289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At complex pickup locations, the app pin can identify an area without giving rider and driver a shared, workable meeting point.</a:t>
            </a:r>
          </a:p>
        </p:txBody>
      </p:sp>
      <p:sp>
        <p:nvSpPr>
          <p:cNvPr id="10" name="">
            <a:extLst xmlns:a="http://schemas.openxmlformats.org/drawingml/2006/main">
              <a:ext uri="{FF2B5EF4-FFF2-40B4-BE49-F238E27FC236}">
                <a16:creationId xmlns:a16="http://schemas.microsoft.com/office/drawing/2014/main" id="{56DE3863-F0AE-4681-9929-3A766312E716}"/>
              </a:ext>
            </a:extLst>
          </p:cNvPr>
          <p:cNvSpPr>
            <a:spLocks xmlns:a="http://schemas.openxmlformats.org/drawingml/2006/main" noGrp="1"/>
          </p:cNvSpPr>
          <p:nvPr/>
        </p:nvSpPr>
        <p:spPr>
          <a:xfrm xmlns:a="http://schemas.openxmlformats.org/drawingml/2006/main">
            <a:off x="4067175" y="3105150"/>
            <a:ext cx="3333750" cy="2000250"/>
          </a:xfrm>
          <a:prstGeom xmlns:a="http://schemas.openxmlformats.org/drawingml/2006/main" prst="roundRect">
            <a:avLst>
              <a:gd name="adj" fmla="val 2857"/>
            </a:avLst>
          </a:prstGeom>
          <a:solidFill xmlns:a="http://schemas.openxmlformats.org/drawingml/2006/main">
            <a:srgbClr val="E2F4F6"/>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B38923E4-2130-42CD-88D9-50233C2E2445}"/>
              </a:ext>
            </a:extLst>
          </p:cNvPr>
          <p:cNvSpPr>
            <a:spLocks xmlns:a="http://schemas.openxmlformats.org/drawingml/2006/main" noGrp="1"/>
          </p:cNvSpPr>
          <p:nvPr/>
        </p:nvSpPr>
        <p:spPr>
          <a:xfrm xmlns:a="http://schemas.openxmlformats.org/drawingml/2006/main">
            <a:off x="4219575" y="32194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TARGET SEGMENT</a:t>
            </a:r>
          </a:p>
        </p:txBody>
      </p:sp>
      <p:sp>
        <p:nvSpPr>
          <p:cNvPr id="12" name="">
            <a:extLst xmlns:a="http://schemas.openxmlformats.org/drawingml/2006/main">
              <a:ext uri="{FF2B5EF4-FFF2-40B4-BE49-F238E27FC236}">
                <a16:creationId xmlns:a16="http://schemas.microsoft.com/office/drawing/2014/main" id="{17D14889-3122-4A5A-A98B-14EA407D0F52}"/>
              </a:ext>
            </a:extLst>
          </p:cNvPr>
          <p:cNvSpPr>
            <a:spLocks xmlns:a="http://schemas.openxmlformats.org/drawingml/2006/main" noGrp="1"/>
          </p:cNvSpPr>
          <p:nvPr/>
        </p:nvSpPr>
        <p:spPr>
          <a:xfrm xmlns:a="http://schemas.openxmlformats.org/drawingml/2006/main">
            <a:off x="4219575" y="3552825"/>
            <a:ext cx="30289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233248"/>
                </a:solidFill>
                <a:latin typeface="Calibri"/>
                <a:ea typeface="Calibri"/>
                <a:cs typeface="Calibri"/>
              </a:defRPr>
            </a:pPr>
            <a:r>
              <a:rPr sz="1425" b="0" i="0">
                <a:solidFill>
                  <a:srgbClr val="233248"/>
                </a:solidFill>
                <a:latin typeface="Calibri"/>
                <a:ea typeface="Calibri"/>
                <a:cs typeface="Calibri"/>
              </a:rPr>
              <a:t>Primary: Hyderabad four-wheel riders starting at airports, gated residences, malls, offices, and transit hubs. Secondary: drivers serving those pickups.</a:t>
            </a:r>
          </a:p>
        </p:txBody>
      </p:sp>
      <p:sp>
        <p:nvSpPr>
          <p:cNvPr id="13" name="">
            <a:extLst xmlns:a="http://schemas.openxmlformats.org/drawingml/2006/main">
              <a:ext uri="{FF2B5EF4-FFF2-40B4-BE49-F238E27FC236}">
                <a16:creationId xmlns:a16="http://schemas.microsoft.com/office/drawing/2014/main" id="{9B361ACD-F1FA-4C03-8EFE-FE610D1516BE}"/>
              </a:ext>
            </a:extLst>
          </p:cNvPr>
          <p:cNvSpPr>
            <a:spLocks xmlns:a="http://schemas.openxmlformats.org/drawingml/2006/main" noGrp="1"/>
          </p:cNvSpPr>
          <p:nvPr/>
        </p:nvSpPr>
        <p:spPr>
          <a:xfrm xmlns:a="http://schemas.openxmlformats.org/drawingml/2006/main">
            <a:off x="7620000" y="3105150"/>
            <a:ext cx="3333750" cy="2000250"/>
          </a:xfrm>
          <a:prstGeom xmlns:a="http://schemas.openxmlformats.org/drawingml/2006/main" prst="roundRect">
            <a:avLst>
              <a:gd name="adj" fmla="val 2857"/>
            </a:avLst>
          </a:prstGeom>
          <a:solidFill xmlns:a="http://schemas.openxmlformats.org/drawingml/2006/main">
            <a:srgbClr val="FBE7D8"/>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D4528A4E-B724-476D-BC52-0DBB7AE0D715}"/>
              </a:ext>
            </a:extLst>
          </p:cNvPr>
          <p:cNvSpPr>
            <a:spLocks xmlns:a="http://schemas.openxmlformats.org/drawingml/2006/main" noGrp="1"/>
          </p:cNvSpPr>
          <p:nvPr/>
        </p:nvSpPr>
        <p:spPr>
          <a:xfrm xmlns:a="http://schemas.openxmlformats.org/drawingml/2006/main">
            <a:off x="7772400" y="32194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ASSUMPTIONS AND GUARDRAILS</a:t>
            </a:r>
          </a:p>
        </p:txBody>
      </p:sp>
      <p:sp>
        <p:nvSpPr>
          <p:cNvPr id="15" name="">
            <a:extLst xmlns:a="http://schemas.openxmlformats.org/drawingml/2006/main">
              <a:ext uri="{FF2B5EF4-FFF2-40B4-BE49-F238E27FC236}">
                <a16:creationId xmlns:a16="http://schemas.microsoft.com/office/drawing/2014/main" id="{AD20EDD4-9C91-415A-8E9F-B8C7242FA0A2}"/>
              </a:ext>
            </a:extLst>
          </p:cNvPr>
          <p:cNvSpPr>
            <a:spLocks xmlns:a="http://schemas.openxmlformats.org/drawingml/2006/main" noGrp="1"/>
          </p:cNvSpPr>
          <p:nvPr/>
        </p:nvSpPr>
        <p:spPr>
          <a:xfrm xmlns:a="http://schemas.openxmlformats.org/drawingml/2006/main">
            <a:off x="7772400" y="3552825"/>
            <a:ext cx="30289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233248"/>
                </a:solidFill>
                <a:latin typeface="Calibri"/>
                <a:ea typeface="Calibri"/>
                <a:cs typeface="Calibri"/>
              </a:defRPr>
            </a:pPr>
            <a:r>
              <a:rPr sz="1425" b="0" i="0">
                <a:solidFill>
                  <a:srgbClr val="233248"/>
                </a:solidFill>
                <a:latin typeface="Calibri"/>
                <a:ea typeface="Calibri"/>
                <a:cs typeface="Calibri"/>
              </a:rPr>
              <a:t>A structured handoff may reduce recovery effort. Do not assume the map is always wrong, every cancellation is location-related, or every ride needs this help.</a:t>
            </a:r>
          </a:p>
        </p:txBody>
      </p:sp>
      <p:sp>
        <p:nvSpPr>
          <p:cNvPr id="16" name="">
            <a:extLst xmlns:a="http://schemas.openxmlformats.org/drawingml/2006/main">
              <a:ext uri="{FF2B5EF4-FFF2-40B4-BE49-F238E27FC236}">
                <a16:creationId xmlns:a16="http://schemas.microsoft.com/office/drawing/2014/main" id="{52F013D1-3D75-4515-B943-B3A6D17EEF10}"/>
              </a:ext>
            </a:extLst>
          </p:cNvPr>
          <p:cNvSpPr>
            <a:spLocks xmlns:a="http://schemas.openxmlformats.org/drawingml/2006/main" noGrp="1"/>
          </p:cNvSpPr>
          <p:nvPr/>
        </p:nvSpPr>
        <p:spPr>
          <a:xfrm xmlns:a="http://schemas.openxmlformats.org/drawingml/2006/main">
            <a:off x="514350" y="5353050"/>
            <a:ext cx="10439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1" i="0">
                <a:solidFill>
                  <a:srgbClr val="1B2B45"/>
                </a:solidFill>
                <a:latin typeface="Calibri"/>
                <a:ea typeface="Calibri"/>
                <a:cs typeface="Calibri"/>
              </a:defRPr>
            </a:pPr>
            <a:r>
              <a:rPr sz="1350" b="1" i="0">
                <a:solidFill>
                  <a:srgbClr val="1B2B45"/>
                </a:solidFill>
                <a:latin typeface="Calibri"/>
                <a:ea typeface="Calibri"/>
                <a:cs typeface="Calibri"/>
              </a:rPr>
              <a:t>Why framing is difficult: failures mix location, venue rules, user behavior, fare or destination issues, and thin driver evidence.</a:t>
            </a:r>
          </a:p>
        </p:txBody>
      </p:sp>
      <p:sp>
        <p:nvSpPr>
          <p:cNvPr id="17" name="">
            <a:extLst xmlns:a="http://schemas.openxmlformats.org/drawingml/2006/main">
              <a:ext uri="{FF2B5EF4-FFF2-40B4-BE49-F238E27FC236}">
                <a16:creationId xmlns:a16="http://schemas.microsoft.com/office/drawing/2014/main" id="{CFDE7500-936B-46CD-8A87-7A647D577BE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8" name="">
            <a:extLst xmlns:a="http://schemas.openxmlformats.org/drawingml/2006/main">
              <a:ext uri="{FF2B5EF4-FFF2-40B4-BE49-F238E27FC236}">
                <a16:creationId xmlns:a16="http://schemas.microsoft.com/office/drawing/2014/main" id="{46B87629-5FED-40A9-AF64-4E9E154202B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3</a:t>
            </a:r>
          </a:p>
        </p:txBody>
      </p:sp>
    </p:spTree>
    <p:extLst>
      <p:ext uri="{BB962C8B-B14F-4D97-AF65-F5344CB8AC3E}">
        <p14:creationId xmlns:p14="http://schemas.microsoft.com/office/powerpoint/2010/main" val="1500513890"/>
      </p:ext>
    </p:extLst>
  </p:cSld>
</p:sld>
</file>

<file path=ppt/slides/slide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9712092-EB22-4CF1-A993-36FE85135F4D}"/>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AND ALTERNATIVES</a:t>
            </a:r>
          </a:p>
        </p:txBody>
      </p:sp>
      <p:sp>
        <p:nvSpPr>
          <p:cNvPr id="2" name="">
            <a:extLst xmlns:a="http://schemas.openxmlformats.org/drawingml/2006/main">
              <a:ext uri="{FF2B5EF4-FFF2-40B4-BE49-F238E27FC236}">
                <a16:creationId xmlns:a16="http://schemas.microsoft.com/office/drawing/2014/main" id="{BEE567F5-BD51-411E-8A62-45F18D05C284}"/>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Guidance exists — focus on coverage, clarity, and recovery</a:t>
            </a:r>
          </a:p>
        </p:txBody>
      </p:sp>
      <p:sp>
        <p:nvSpPr>
          <p:cNvPr id="3" name="">
            <a:extLst xmlns:a="http://schemas.openxmlformats.org/drawingml/2006/main">
              <a:ext uri="{FF2B5EF4-FFF2-40B4-BE49-F238E27FC236}">
                <a16:creationId xmlns:a16="http://schemas.microsoft.com/office/drawing/2014/main" id="{1EE9E4B1-D23A-44F1-B622-86FB0C625D4C}"/>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Competitor evidence establishes design precedents, not validated Hyderabad outcomes.</a:t>
            </a:r>
          </a:p>
        </p:txBody>
      </p:sp>
      <p:sp>
        <p:nvSpPr>
          <p:cNvPr id="4" name="">
            <a:extLst xmlns:a="http://schemas.openxmlformats.org/drawingml/2006/main">
              <a:ext uri="{FF2B5EF4-FFF2-40B4-BE49-F238E27FC236}">
                <a16:creationId xmlns:a16="http://schemas.microsoft.com/office/drawing/2014/main" id="{3C163212-3CBF-4757-BDF4-29AFEEA23601}"/>
              </a:ext>
            </a:extLst>
          </p:cNvPr>
          <p:cNvSpPr>
            <a:spLocks xmlns:a="http://schemas.openxmlformats.org/drawingml/2006/main" noGrp="1"/>
          </p:cNvSpPr>
          <p:nvPr/>
        </p:nvSpPr>
        <p:spPr>
          <a:xfrm xmlns:a="http://schemas.openxmlformats.org/drawingml/2006/main">
            <a:off x="51435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D45FBADB-DE0F-4AE1-B361-8801C37952C3}"/>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UBER HYDERABAD BASELINE</a:t>
            </a:r>
          </a:p>
        </p:txBody>
      </p:sp>
      <p:sp>
        <p:nvSpPr>
          <p:cNvPr id="6" name="">
            <a:extLst xmlns:a="http://schemas.openxmlformats.org/drawingml/2006/main">
              <a:ext uri="{FF2B5EF4-FFF2-40B4-BE49-F238E27FC236}">
                <a16:creationId xmlns:a16="http://schemas.microsoft.com/office/drawing/2014/main" id="{63B6DB8B-946D-496B-9D23-A957CC60CEF4}"/>
              </a:ext>
            </a:extLst>
          </p:cNvPr>
          <p:cNvSpPr>
            <a:spLocks xmlns:a="http://schemas.openxmlformats.org/drawingml/2006/main" noGrp="1"/>
          </p:cNvSpPr>
          <p:nvPr/>
        </p:nvSpPr>
        <p:spPr>
          <a:xfrm xmlns:a="http://schemas.openxmlformats.org/drawingml/2006/main">
            <a:off x="66675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Uber's HYD guidance points riders to in-app directions and a D1 pickup zone. The case is not “Uber has no pickup guidance.”</a:t>
            </a:r>
          </a:p>
        </p:txBody>
      </p:sp>
      <p:sp>
        <p:nvSpPr>
          <p:cNvPr id="7" name="">
            <a:extLst xmlns:a="http://schemas.openxmlformats.org/drawingml/2006/main">
              <a:ext uri="{FF2B5EF4-FFF2-40B4-BE49-F238E27FC236}">
                <a16:creationId xmlns:a16="http://schemas.microsoft.com/office/drawing/2014/main" id="{B128FC3F-2556-4A66-9455-CA2D9B3DD6CD}"/>
              </a:ext>
            </a:extLst>
          </p:cNvPr>
          <p:cNvSpPr>
            <a:spLocks xmlns:a="http://schemas.openxmlformats.org/drawingml/2006/main" noGrp="1"/>
          </p:cNvSpPr>
          <p:nvPr/>
        </p:nvSpPr>
        <p:spPr>
          <a:xfrm xmlns:a="http://schemas.openxmlformats.org/drawingml/2006/main">
            <a:off x="4067175"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C5B1880F-2951-4B1A-BB5C-E498E8E9C688}"/>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GLOBAL PATTERNS</a:t>
            </a:r>
          </a:p>
        </p:txBody>
      </p:sp>
      <p:sp>
        <p:nvSpPr>
          <p:cNvPr id="9" name="">
            <a:extLst xmlns:a="http://schemas.openxmlformats.org/drawingml/2006/main">
              <a:ext uri="{FF2B5EF4-FFF2-40B4-BE49-F238E27FC236}">
                <a16:creationId xmlns:a16="http://schemas.microsoft.com/office/drawing/2014/main" id="{54C15BED-E4F8-45F5-AA5B-198FCD7E79C1}"/>
              </a:ext>
            </a:extLst>
          </p:cNvPr>
          <p:cNvSpPr>
            <a:spLocks xmlns:a="http://schemas.openxmlformats.org/drawingml/2006/main" noGrp="1"/>
          </p:cNvSpPr>
          <p:nvPr/>
        </p:nvSpPr>
        <p:spPr>
          <a:xfrm xmlns:a="http://schemas.openxmlformats.org/drawingml/2006/main">
            <a:off x="4219575"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Grab uses venue visuals and meeting points. Lyft uses pickup notes. Waymo makes accessible stops and walking trade-offs explicit.</a:t>
            </a:r>
          </a:p>
        </p:txBody>
      </p:sp>
      <p:sp>
        <p:nvSpPr>
          <p:cNvPr id="10" name="">
            <a:extLst xmlns:a="http://schemas.openxmlformats.org/drawingml/2006/main">
              <a:ext uri="{FF2B5EF4-FFF2-40B4-BE49-F238E27FC236}">
                <a16:creationId xmlns:a16="http://schemas.microsoft.com/office/drawing/2014/main" id="{24EB772E-BBE8-450F-B92F-CDF27A4F55A4}"/>
              </a:ext>
            </a:extLst>
          </p:cNvPr>
          <p:cNvSpPr>
            <a:spLocks xmlns:a="http://schemas.openxmlformats.org/drawingml/2006/main" noGrp="1"/>
          </p:cNvSpPr>
          <p:nvPr/>
        </p:nvSpPr>
        <p:spPr>
          <a:xfrm xmlns:a="http://schemas.openxmlformats.org/drawingml/2006/main">
            <a:off x="7620000" y="1657350"/>
            <a:ext cx="3333750" cy="1981200"/>
          </a:xfrm>
          <a:prstGeom xmlns:a="http://schemas.openxmlformats.org/drawingml/2006/main" prst="roundRect">
            <a:avLst>
              <a:gd name="adj" fmla="val 2885"/>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1E623829-AA64-4D09-A562-60557D9A3315}"/>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INDIAN ACCESS PATTERN</a:t>
            </a:r>
          </a:p>
        </p:txBody>
      </p:sp>
      <p:sp>
        <p:nvSpPr>
          <p:cNvPr id="12" name="">
            <a:extLst xmlns:a="http://schemas.openxmlformats.org/drawingml/2006/main">
              <a:ext uri="{FF2B5EF4-FFF2-40B4-BE49-F238E27FC236}">
                <a16:creationId xmlns:a16="http://schemas.microsoft.com/office/drawing/2014/main" id="{42C26525-A442-419C-8D05-7850212560CB}"/>
              </a:ext>
            </a:extLst>
          </p:cNvPr>
          <p:cNvSpPr>
            <a:spLocks xmlns:a="http://schemas.openxmlformats.org/drawingml/2006/main" noGrp="1"/>
          </p:cNvSpPr>
          <p:nvPr/>
        </p:nvSpPr>
        <p:spPr>
          <a:xfrm xmlns:a="http://schemas.openxmlformats.org/drawingml/2006/main">
            <a:off x="7772400" y="2105025"/>
            <a:ext cx="3028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MyGate shows how a privacy-aware gate handoff can work. Historical Ola evidence shows physical zones or human help, but not a current capability.</a:t>
            </a:r>
          </a:p>
        </p:txBody>
      </p:sp>
      <p:sp>
        <p:nvSpPr>
          <p:cNvPr id="13" name="">
            <a:extLst xmlns:a="http://schemas.openxmlformats.org/drawingml/2006/main">
              <a:ext uri="{FF2B5EF4-FFF2-40B4-BE49-F238E27FC236}">
                <a16:creationId xmlns:a16="http://schemas.microsoft.com/office/drawing/2014/main" id="{302A4399-06FE-4D48-BE44-65DAEF17A1A9}"/>
              </a:ext>
            </a:extLst>
          </p:cNvPr>
          <p:cNvSpPr>
            <a:spLocks xmlns:a="http://schemas.openxmlformats.org/drawingml/2006/main" noGrp="1"/>
          </p:cNvSpPr>
          <p:nvPr/>
        </p:nvSpPr>
        <p:spPr>
          <a:xfrm xmlns:a="http://schemas.openxmlformats.org/drawingml/2006/main">
            <a:off x="514350" y="3905250"/>
            <a:ext cx="10439400" cy="1200150"/>
          </a:xfrm>
          <a:prstGeom xmlns:a="http://schemas.openxmlformats.org/drawingml/2006/main" prst="roundRect">
            <a:avLst>
              <a:gd name="adj" fmla="val 4762"/>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24BF838-1092-4D33-A67E-B3CA6857E726}"/>
              </a:ext>
            </a:extLst>
          </p:cNvPr>
          <p:cNvSpPr>
            <a:spLocks xmlns:a="http://schemas.openxmlformats.org/drawingml/2006/main" noGrp="1"/>
          </p:cNvSpPr>
          <p:nvPr/>
        </p:nvSpPr>
        <p:spPr>
          <a:xfrm xmlns:a="http://schemas.openxmlformats.org/drawingml/2006/main">
            <a:off x="704850" y="40576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Product implication</a:t>
            </a:r>
          </a:p>
        </p:txBody>
      </p:sp>
      <p:sp>
        <p:nvSpPr>
          <p:cNvPr id="15" name="">
            <a:extLst xmlns:a="http://schemas.openxmlformats.org/drawingml/2006/main">
              <a:ext uri="{FF2B5EF4-FFF2-40B4-BE49-F238E27FC236}">
                <a16:creationId xmlns:a16="http://schemas.microsoft.com/office/drawing/2014/main" id="{EC921637-644E-45A9-B40E-0D678BA428AE}"/>
              </a:ext>
            </a:extLst>
          </p:cNvPr>
          <p:cNvSpPr>
            <a:spLocks xmlns:a="http://schemas.openxmlformats.org/drawingml/2006/main" noGrp="1"/>
          </p:cNvSpPr>
          <p:nvPr/>
        </p:nvSpPr>
        <p:spPr>
          <a:xfrm xmlns:a="http://schemas.openxmlformats.org/drawingml/2006/main">
            <a:off x="704850" y="4400550"/>
            <a:ext cx="9982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0580"/>
          </a:bodyPr>
          <a:lstStyle xmlns:a="http://schemas.openxmlformats.org/drawingml/2006/main"/>
          <a:p xmlns:a="http://schemas.openxmlformats.org/drawingml/2006/main">
            <a:pPr algn="l">
              <a:defRPr sz="1725" b="1" i="0">
                <a:solidFill>
                  <a:srgbClr val="1B2B45"/>
                </a:solidFill>
                <a:latin typeface="Calibri"/>
                <a:ea typeface="Calibri"/>
                <a:cs typeface="Calibri"/>
              </a:defRPr>
            </a:pPr>
            <a:r>
              <a:rPr sz="1725" b="1" i="0">
                <a:solidFill>
                  <a:srgbClr val="1B2B45"/>
                </a:solidFill>
                <a:latin typeface="Calibri"/>
                <a:ea typeface="Calibri"/>
                <a:cs typeface="Calibri"/>
              </a:rPr>
              <a:t>Test a reusable coordination layer for complex places: valid stopping context, concise handoff information, and one visible recovery step when coordination stalls.</a:t>
            </a:r>
          </a:p>
        </p:txBody>
      </p:sp>
      <p:sp>
        <p:nvSpPr>
          <p:cNvPr id="16" name="">
            <a:extLst xmlns:a="http://schemas.openxmlformats.org/drawingml/2006/main">
              <a:ext uri="{FF2B5EF4-FFF2-40B4-BE49-F238E27FC236}">
                <a16:creationId xmlns:a16="http://schemas.microsoft.com/office/drawing/2014/main" id="{C4777F6B-68AF-460B-8938-949D5FE63E3B}"/>
              </a:ext>
            </a:extLst>
          </p:cNvPr>
          <p:cNvSpPr>
            <a:spLocks xmlns:a="http://schemas.openxmlformats.org/drawingml/2006/main" noGrp="1"/>
          </p:cNvSpPr>
          <p:nvPr/>
        </p:nvSpPr>
        <p:spPr>
          <a:xfrm xmlns:a="http://schemas.openxmlformats.org/drawingml/2006/main">
            <a:off x="514350" y="5314950"/>
            <a:ext cx="10439400" cy="685800"/>
          </a:xfrm>
          <a:prstGeom xmlns:a="http://schemas.openxmlformats.org/drawingml/2006/main" prst="roundRect">
            <a:avLst>
              <a:gd name="adj" fmla="val 8333"/>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6A272F6-F8B8-4CEA-ABFE-1AAAE2675876}"/>
              </a:ext>
            </a:extLst>
          </p:cNvPr>
          <p:cNvSpPr>
            <a:spLocks xmlns:a="http://schemas.openxmlformats.org/drawingml/2006/main" noGrp="1"/>
          </p:cNvSpPr>
          <p:nvPr/>
        </p:nvSpPr>
        <p:spPr>
          <a:xfrm xmlns:a="http://schemas.openxmlformats.org/drawingml/2006/main">
            <a:off x="704850" y="546735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Restrictions to design around: no-stopping and access rules, venue operations, accessibility, privacy, and data minimization. Exact local rules require venue-level validation.</a:t>
            </a:r>
          </a:p>
        </p:txBody>
      </p:sp>
      <p:sp>
        <p:nvSpPr>
          <p:cNvPr id="18" name="">
            <a:extLst xmlns:a="http://schemas.openxmlformats.org/drawingml/2006/main">
              <a:ext uri="{FF2B5EF4-FFF2-40B4-BE49-F238E27FC236}">
                <a16:creationId xmlns:a16="http://schemas.microsoft.com/office/drawing/2014/main" id="{8B20ECAD-4166-4E89-9A67-09E5E4A9D3F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A2865645-3654-4C0D-A2D5-49D2A1E7C272}"/>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4</a:t>
            </a:r>
          </a:p>
        </p:txBody>
      </p:sp>
    </p:spTree>
    <p:extLst>
      <p:ext uri="{BB962C8B-B14F-4D97-AF65-F5344CB8AC3E}">
        <p14:creationId xmlns:p14="http://schemas.microsoft.com/office/powerpoint/2010/main" val="1033712645"/>
      </p:ext>
    </p:extLst>
  </p:cSld>
</p:sld>
</file>

<file path=ppt/slides/slide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DCF063D-15EE-4131-9801-A460B98A777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MARKET, SEGMENTS AND TRENDS</a:t>
            </a:r>
          </a:p>
        </p:txBody>
      </p:sp>
      <p:sp>
        <p:nvSpPr>
          <p:cNvPr id="2" name="">
            <a:extLst xmlns:a="http://schemas.openxmlformats.org/drawingml/2006/main">
              <a:ext uri="{FF2B5EF4-FFF2-40B4-BE49-F238E27FC236}">
                <a16:creationId xmlns:a16="http://schemas.microsoft.com/office/drawing/2014/main" id="{09A4B657-D564-4EEE-B30F-BB281E0A6EE5}"/>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sizing model with a named missing denominator</a:t>
            </a:r>
          </a:p>
        </p:txBody>
      </p:sp>
      <p:sp>
        <p:nvSpPr>
          <p:cNvPr id="3" name="">
            <a:extLst xmlns:a="http://schemas.openxmlformats.org/drawingml/2006/main">
              <a:ext uri="{FF2B5EF4-FFF2-40B4-BE49-F238E27FC236}">
                <a16:creationId xmlns:a16="http://schemas.microsoft.com/office/drawing/2014/main" id="{429EE8E9-DB2C-4B7A-A491-07115492522F}"/>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Refusing a fabricated TAM is the finding — not an omission.</a:t>
            </a:r>
          </a:p>
        </p:txBody>
      </p:sp>
      <p:sp>
        <p:nvSpPr>
          <p:cNvPr id="4" name="">
            <a:extLst xmlns:a="http://schemas.openxmlformats.org/drawingml/2006/main">
              <a:ext uri="{FF2B5EF4-FFF2-40B4-BE49-F238E27FC236}">
                <a16:creationId xmlns:a16="http://schemas.microsoft.com/office/drawing/2014/main" id="{E02B266F-E60F-4E60-8E25-C07CD1B8FE30}"/>
              </a:ext>
            </a:extLst>
          </p:cNvPr>
          <p:cNvSpPr>
            <a:spLocks xmlns:a="http://schemas.openxmlformats.org/drawingml/2006/main" noGrp="1"/>
          </p:cNvSpPr>
          <p:nvPr/>
        </p:nvSpPr>
        <p:spPr>
          <a:xfrm xmlns:a="http://schemas.openxmlformats.org/drawingml/2006/main">
            <a:off x="51435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4BC2410A-987C-4B2F-A42C-CFE57230A7AA}"/>
              </a:ext>
            </a:extLst>
          </p:cNvPr>
          <p:cNvSpPr>
            <a:spLocks xmlns:a="http://schemas.openxmlformats.org/drawingml/2006/main" noGrp="1"/>
          </p:cNvSpPr>
          <p:nvPr/>
        </p:nvSpPr>
        <p:spPr>
          <a:xfrm xmlns:a="http://schemas.openxmlformats.org/drawingml/2006/main">
            <a:off x="66675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SIZING MODEL</a:t>
            </a:r>
          </a:p>
        </p:txBody>
      </p:sp>
      <p:sp>
        <p:nvSpPr>
          <p:cNvPr id="6" name="">
            <a:extLst xmlns:a="http://schemas.openxmlformats.org/drawingml/2006/main">
              <a:ext uri="{FF2B5EF4-FFF2-40B4-BE49-F238E27FC236}">
                <a16:creationId xmlns:a16="http://schemas.microsoft.com/office/drawing/2014/main" id="{B61F8974-92D7-41C2-B72D-FD344423CEC2}"/>
              </a:ext>
            </a:extLst>
          </p:cNvPr>
          <p:cNvSpPr>
            <a:spLocks xmlns:a="http://schemas.openxmlformats.org/drawingml/2006/main" noGrp="1"/>
          </p:cNvSpPr>
          <p:nvPr/>
        </p:nvSpPr>
        <p:spPr>
          <a:xfrm xmlns:a="http://schemas.openxmlformats.org/drawingml/2006/main">
            <a:off x="66675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Annual affected pickups = Hyderabad Uber four-wheel pickups × share beginning at complex locations × share hitting material difficulty. None of the three inputs exists in a reliable public source, so no TAM is claimed.</a:t>
            </a:r>
          </a:p>
        </p:txBody>
      </p:sp>
      <p:sp>
        <p:nvSpPr>
          <p:cNvPr id="7" name="">
            <a:extLst xmlns:a="http://schemas.openxmlformats.org/drawingml/2006/main">
              <a:ext uri="{FF2B5EF4-FFF2-40B4-BE49-F238E27FC236}">
                <a16:creationId xmlns:a16="http://schemas.microsoft.com/office/drawing/2014/main" id="{59A79E3A-CC6B-4B78-9300-AE37DC93CBCC}"/>
              </a:ext>
            </a:extLst>
          </p:cNvPr>
          <p:cNvSpPr>
            <a:spLocks xmlns:a="http://schemas.openxmlformats.org/drawingml/2006/main" noGrp="1"/>
          </p:cNvSpPr>
          <p:nvPr/>
        </p:nvSpPr>
        <p:spPr>
          <a:xfrm xmlns:a="http://schemas.openxmlformats.org/drawingml/2006/main">
            <a:off x="4067175"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D05FBAC2-039B-4477-9143-1C4015C681E0}"/>
              </a:ext>
            </a:extLst>
          </p:cNvPr>
          <p:cNvSpPr>
            <a:spLocks xmlns:a="http://schemas.openxmlformats.org/drawingml/2006/main" noGrp="1"/>
          </p:cNvSpPr>
          <p:nvPr/>
        </p:nvSpPr>
        <p:spPr>
          <a:xfrm xmlns:a="http://schemas.openxmlformats.org/drawingml/2006/main">
            <a:off x="4219575"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7574"/>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EXPOSURE POOLS — NOT THE PROBLEM</a:t>
            </a:r>
          </a:p>
        </p:txBody>
      </p:sp>
      <p:sp>
        <p:nvSpPr>
          <p:cNvPr id="9" name="">
            <a:extLst xmlns:a="http://schemas.openxmlformats.org/drawingml/2006/main">
              <a:ext uri="{FF2B5EF4-FFF2-40B4-BE49-F238E27FC236}">
                <a16:creationId xmlns:a16="http://schemas.microsoft.com/office/drawing/2014/main" id="{F12E2999-6EEA-4D4E-A2DB-FE74E08742B1}"/>
              </a:ext>
            </a:extLst>
          </p:cNvPr>
          <p:cNvSpPr>
            <a:spLocks xmlns:a="http://schemas.openxmlformats.org/drawingml/2006/main" noGrp="1"/>
          </p:cNvSpPr>
          <p:nvPr/>
        </p:nvSpPr>
        <p:spPr>
          <a:xfrm xmlns:a="http://schemas.openxmlformats.org/drawingml/2006/main">
            <a:off x="4219575"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Hyderabad Airport: 30M+ passengers FY2025-26. Hyderabad Metro: 4.75 lakh+ average daily riders across 57 stations. Secunderabad station: ~1.30 lakh per normal day, 2 lakh+ during festivals.</a:t>
            </a:r>
          </a:p>
        </p:txBody>
      </p:sp>
      <p:sp>
        <p:nvSpPr>
          <p:cNvPr id="10" name="">
            <a:extLst xmlns:a="http://schemas.openxmlformats.org/drawingml/2006/main">
              <a:ext uri="{FF2B5EF4-FFF2-40B4-BE49-F238E27FC236}">
                <a16:creationId xmlns:a16="http://schemas.microsoft.com/office/drawing/2014/main" id="{9A26521A-3A07-42FB-94F6-6CBF1E866372}"/>
              </a:ext>
            </a:extLst>
          </p:cNvPr>
          <p:cNvSpPr>
            <a:spLocks xmlns:a="http://schemas.openxmlformats.org/drawingml/2006/main" noGrp="1"/>
          </p:cNvSpPr>
          <p:nvPr/>
        </p:nvSpPr>
        <p:spPr>
          <a:xfrm xmlns:a="http://schemas.openxmlformats.org/drawingml/2006/main">
            <a:off x="7620000" y="1657350"/>
            <a:ext cx="3333750" cy="1905000"/>
          </a:xfrm>
          <a:prstGeom xmlns:a="http://schemas.openxmlformats.org/drawingml/2006/main" prst="roundRect">
            <a:avLst>
              <a:gd name="adj" fmla="val 3000"/>
            </a:avLst>
          </a:prstGeom>
          <a:solidFill xmlns:a="http://schemas.openxmlformats.org/drawingml/2006/main">
            <a:srgbClr val="FFFFFF"/>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7E608CDC-B714-44B5-97EF-CD71715CCC37}"/>
              </a:ext>
            </a:extLst>
          </p:cNvPr>
          <p:cNvSpPr>
            <a:spLocks xmlns:a="http://schemas.openxmlformats.org/drawingml/2006/main" noGrp="1"/>
          </p:cNvSpPr>
          <p:nvPr/>
        </p:nvSpPr>
        <p:spPr>
          <a:xfrm xmlns:a="http://schemas.openxmlformats.org/drawingml/2006/main">
            <a:off x="7772400" y="1771650"/>
            <a:ext cx="3028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2D4672"/>
                </a:solidFill>
                <a:latin typeface="Calibri"/>
                <a:ea typeface="Calibri"/>
                <a:cs typeface="Calibri"/>
              </a:defRPr>
            </a:pPr>
            <a:r>
              <a:rPr sz="1275" b="1" i="0">
                <a:solidFill>
                  <a:srgbClr val="2D4672"/>
                </a:solidFill>
                <a:latin typeface="Calibri"/>
                <a:ea typeface="Calibri"/>
                <a:cs typeface="Calibri"/>
              </a:rPr>
              <a:t>WHERE DEMAND CONCENTRATES</a:t>
            </a:r>
          </a:p>
        </p:txBody>
      </p:sp>
      <p:sp>
        <p:nvSpPr>
          <p:cNvPr id="12" name="">
            <a:extLst xmlns:a="http://schemas.openxmlformats.org/drawingml/2006/main">
              <a:ext uri="{FF2B5EF4-FFF2-40B4-BE49-F238E27FC236}">
                <a16:creationId xmlns:a16="http://schemas.microsoft.com/office/drawing/2014/main" id="{05B3ECA7-E668-49E9-8931-F75D3D8DBC7B}"/>
              </a:ext>
            </a:extLst>
          </p:cNvPr>
          <p:cNvSpPr>
            <a:spLocks xmlns:a="http://schemas.openxmlformats.org/drawingml/2006/main" noGrp="1"/>
          </p:cNvSpPr>
          <p:nvPr/>
        </p:nvSpPr>
        <p:spPr>
          <a:xfrm xmlns:a="http://schemas.openxmlformats.org/drawingml/2006/main">
            <a:off x="7772400" y="2105025"/>
            <a:ext cx="30289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Segment by location type, not demographics. Among 28 issue cases: airport 10, gated residential 7, mall 6, office 6, metro/rail 5, street 3, hotel 2, hospital 1.</a:t>
            </a:r>
          </a:p>
        </p:txBody>
      </p:sp>
      <p:sp>
        <p:nvSpPr>
          <p:cNvPr id="13" name="">
            <a:extLst xmlns:a="http://schemas.openxmlformats.org/drawingml/2006/main">
              <a:ext uri="{FF2B5EF4-FFF2-40B4-BE49-F238E27FC236}">
                <a16:creationId xmlns:a16="http://schemas.microsoft.com/office/drawing/2014/main" id="{2F9B66DE-ADCB-467F-9026-8293DE84FDB1}"/>
              </a:ext>
            </a:extLst>
          </p:cNvPr>
          <p:cNvSpPr>
            <a:spLocks xmlns:a="http://schemas.openxmlformats.org/drawingml/2006/main" noGrp="1"/>
          </p:cNvSpPr>
          <p:nvPr/>
        </p:nvSpPr>
        <p:spPr>
          <a:xfrm xmlns:a="http://schemas.openxmlformats.org/drawingml/2006/main">
            <a:off x="514350" y="3733800"/>
            <a:ext cx="1043940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17A5EF3-F4BA-4DBF-BD67-F36C2B8B83EE}"/>
              </a:ext>
            </a:extLst>
          </p:cNvPr>
          <p:cNvSpPr>
            <a:spLocks xmlns:a="http://schemas.openxmlformats.org/drawingml/2006/main" noGrp="1"/>
          </p:cNvSpPr>
          <p:nvPr/>
        </p:nvSpPr>
        <p:spPr>
          <a:xfrm xmlns:a="http://schemas.openxmlformats.org/drawingml/2006/main">
            <a:off x="704850" y="38481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Market trends</a:t>
            </a:r>
          </a:p>
        </p:txBody>
      </p:sp>
      <p:sp>
        <p:nvSpPr>
          <p:cNvPr id="15" name="">
            <a:extLst xmlns:a="http://schemas.openxmlformats.org/drawingml/2006/main">
              <a:ext uri="{FF2B5EF4-FFF2-40B4-BE49-F238E27FC236}">
                <a16:creationId xmlns:a16="http://schemas.microsoft.com/office/drawing/2014/main" id="{9DB88FD4-2397-4412-B827-68ADC7FB555F}"/>
              </a:ext>
            </a:extLst>
          </p:cNvPr>
          <p:cNvSpPr>
            <a:spLocks xmlns:a="http://schemas.openxmlformats.org/drawingml/2006/main" noGrp="1"/>
          </p:cNvSpPr>
          <p:nvPr/>
        </p:nvSpPr>
        <p:spPr>
          <a:xfrm xmlns:a="http://schemas.openxmlformats.org/drawingml/2006/main">
            <a:off x="704850" y="4114800"/>
            <a:ext cx="10020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Regulatory tailwind — MV Aggregator Guidelines 2025 mandate in-journey location sharing, accessibility features and language support.</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Category maturing — Uber already ships HYD airport guidance; Lyft ships pickup notes; Grab ships venue meeting points.</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Curb space tightening — access-control windows now appear at Indian transport hubs, such as Secunderabad's 15-minute pickup/drop rule.</a:t>
            </a:r>
          </a:p>
          <a:p xmlns:a="http://schemas.openxmlformats.org/drawingml/2006/main">
            <a:pPr algn="l">
              <a:defRPr sz="1200" b="0" i="0">
                <a:solidFill>
                  <a:srgbClr val="1B2B45"/>
                </a:solidFill>
                <a:latin typeface="Calibri"/>
                <a:ea typeface="Calibri"/>
                <a:cs typeface="Calibri"/>
              </a:defRPr>
            </a:pPr>
            <a:r>
              <a:rPr sz="1200" b="0" i="0">
                <a:solidFill>
                  <a:srgbClr val="1B2B45"/>
                </a:solidFill>
                <a:latin typeface="Calibri"/>
                <a:ea typeface="Calibri"/>
                <a:cs typeface="Calibri"/>
              </a:rPr>
              <a:t>Privacy bar rising — the DPDP Act 2023 constrains how venue and location data can be collected and retained.</a:t>
            </a:r>
          </a:p>
        </p:txBody>
      </p:sp>
      <p:sp>
        <p:nvSpPr>
          <p:cNvPr id="16" name="">
            <a:extLst xmlns:a="http://schemas.openxmlformats.org/drawingml/2006/main">
              <a:ext uri="{FF2B5EF4-FFF2-40B4-BE49-F238E27FC236}">
                <a16:creationId xmlns:a16="http://schemas.microsoft.com/office/drawing/2014/main" id="{442F2806-1468-46F4-B719-44AAE61EC2D9}"/>
              </a:ext>
            </a:extLst>
          </p:cNvPr>
          <p:cNvSpPr>
            <a:spLocks xmlns:a="http://schemas.openxmlformats.org/drawingml/2006/main" noGrp="1"/>
          </p:cNvSpPr>
          <p:nvPr/>
        </p:nvSpPr>
        <p:spPr>
          <a:xfrm xmlns:a="http://schemas.openxmlformats.org/drawingml/2006/main">
            <a:off x="514350" y="5295900"/>
            <a:ext cx="10439400" cy="666750"/>
          </a:xfrm>
          <a:prstGeom xmlns:a="http://schemas.openxmlformats.org/drawingml/2006/main" prst="roundRect">
            <a:avLst>
              <a:gd name="adj" fmla="val 8571"/>
            </a:avLst>
          </a:prstGeom>
          <a:solidFill xmlns:a="http://schemas.openxmlformats.org/drawingml/2006/main">
            <a:srgbClr val="FBE7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6B749BD-B601-4BE9-91E5-107ADDD93188}"/>
              </a:ext>
            </a:extLst>
          </p:cNvPr>
          <p:cNvSpPr>
            <a:spLocks xmlns:a="http://schemas.openxmlformats.org/drawingml/2006/main" noGrp="1"/>
          </p:cNvSpPr>
          <p:nvPr/>
        </p:nvSpPr>
        <p:spPr>
          <a:xfrm xmlns:a="http://schemas.openxmlformats.org/drawingml/2006/main">
            <a:off x="704850" y="5448300"/>
            <a:ext cx="10048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Telangana's adoption of the 2025 central guidelines and venue-level stopping rules both require legal and on-site verification. This is product research, not legal advice.</a:t>
            </a:r>
          </a:p>
        </p:txBody>
      </p:sp>
      <p:sp>
        <p:nvSpPr>
          <p:cNvPr id="18" name="">
            <a:extLst xmlns:a="http://schemas.openxmlformats.org/drawingml/2006/main">
              <a:ext uri="{FF2B5EF4-FFF2-40B4-BE49-F238E27FC236}">
                <a16:creationId xmlns:a16="http://schemas.microsoft.com/office/drawing/2014/main" id="{4135A88D-D925-4007-B5B2-262C1DC3B15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8522F7AA-B5B5-47D4-83C3-9A1D420DC5E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5</a:t>
            </a:r>
          </a:p>
        </p:txBody>
      </p:sp>
    </p:spTree>
    <p:extLst>
      <p:ext uri="{BB962C8B-B14F-4D97-AF65-F5344CB8AC3E}">
        <p14:creationId xmlns:p14="http://schemas.microsoft.com/office/powerpoint/2010/main" val="1373647465"/>
      </p:ext>
    </p:extLst>
  </p:cSld>
</p:sld>
</file>

<file path=ppt/slides/slide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371A54D-3677-41DA-B478-8C56140989B9}"/>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 GOAL</a:t>
            </a:r>
          </a:p>
        </p:txBody>
      </p:sp>
      <p:sp>
        <p:nvSpPr>
          <p:cNvPr id="2" name="">
            <a:extLst xmlns:a="http://schemas.openxmlformats.org/drawingml/2006/main">
              <a:ext uri="{FF2B5EF4-FFF2-40B4-BE49-F238E27FC236}">
                <a16:creationId xmlns:a16="http://schemas.microsoft.com/office/drawing/2014/main" id="{B6D2E73B-F59A-4101-BEB0-BAE1D7C4BDE1}"/>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One question and one honest measurement gap</a:t>
            </a:r>
          </a:p>
        </p:txBody>
      </p:sp>
      <p:sp>
        <p:nvSpPr>
          <p:cNvPr id="3" name="">
            <a:extLst xmlns:a="http://schemas.openxmlformats.org/drawingml/2006/main">
              <a:ext uri="{FF2B5EF4-FFF2-40B4-BE49-F238E27FC236}">
                <a16:creationId xmlns:a16="http://schemas.microsoft.com/office/drawing/2014/main" id="{4999CB80-2270-4E1F-B00C-3768328F82F3}"/>
              </a:ext>
            </a:extLst>
          </p:cNvPr>
          <p:cNvSpPr>
            <a:spLocks xmlns:a="http://schemas.openxmlformats.org/drawingml/2006/main" noGrp="1"/>
          </p:cNvSpPr>
          <p:nvPr/>
        </p:nvSpPr>
        <p:spPr>
          <a:xfrm xmlns:a="http://schemas.openxmlformats.org/drawingml/2006/main">
            <a:off x="514350" y="1657350"/>
            <a:ext cx="10439400" cy="1066800"/>
          </a:xfrm>
          <a:prstGeom xmlns:a="http://schemas.openxmlformats.org/drawingml/2006/main" prst="roundRect">
            <a:avLst>
              <a:gd name="adj" fmla="val 5357"/>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F1043E1-149B-4A5F-B104-21512B22E6AA}"/>
              </a:ext>
            </a:extLst>
          </p:cNvPr>
          <p:cNvSpPr>
            <a:spLocks xmlns:a="http://schemas.openxmlformats.org/drawingml/2006/main" noGrp="1"/>
          </p:cNvSpPr>
          <p:nvPr/>
        </p:nvSpPr>
        <p:spPr>
          <a:xfrm xmlns:a="http://schemas.openxmlformats.org/drawingml/2006/main">
            <a:off x="781050" y="188595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83333"/>
          </a:bodyPr>
          <a:lstStyle xmlns:a="http://schemas.openxmlformats.org/drawingml/2006/main"/>
          <a:p xmlns:a="http://schemas.openxmlformats.org/drawingml/2006/main">
            <a:pPr algn="ctr">
              <a:defRPr sz="2100" b="1" i="0">
                <a:solidFill>
                  <a:srgbClr val="FFFFFF"/>
                </a:solidFill>
                <a:latin typeface="Calibri"/>
                <a:ea typeface="Calibri"/>
                <a:cs typeface="Calibri"/>
              </a:defRPr>
            </a:pPr>
            <a:r>
              <a:rPr sz="2100" b="1" i="0">
                <a:solidFill>
                  <a:srgbClr val="FFFFFF"/>
                </a:solidFill>
                <a:latin typeface="Calibri"/>
                <a:ea typeface="Calibri"/>
                <a:cs typeface="Calibri"/>
              </a:rPr>
              <a:t>When a pickup becomes difficult, what breaks — and what do riders and drivers actually do to recover?</a:t>
            </a:r>
          </a:p>
        </p:txBody>
      </p:sp>
      <p:sp>
        <p:nvSpPr>
          <p:cNvPr id="5" name="">
            <a:extLst xmlns:a="http://schemas.openxmlformats.org/drawingml/2006/main">
              <a:ext uri="{FF2B5EF4-FFF2-40B4-BE49-F238E27FC236}">
                <a16:creationId xmlns:a16="http://schemas.microsoft.com/office/drawing/2014/main" id="{AEB3A3F4-2168-419E-80AA-285B667AF252}"/>
              </a:ext>
            </a:extLst>
          </p:cNvPr>
          <p:cNvSpPr>
            <a:spLocks xmlns:a="http://schemas.openxmlformats.org/drawingml/2006/main" noGrp="1"/>
          </p:cNvSpPr>
          <p:nvPr/>
        </p:nvSpPr>
        <p:spPr>
          <a:xfrm xmlns:a="http://schemas.openxmlformats.org/drawingml/2006/main">
            <a:off x="514350" y="3028950"/>
            <a:ext cx="5048250" cy="1809750"/>
          </a:xfrm>
          <a:prstGeom xmlns:a="http://schemas.openxmlformats.org/drawingml/2006/main" prst="roundRect">
            <a:avLst>
              <a:gd name="adj" fmla="val 3158"/>
            </a:avLst>
          </a:prstGeom>
          <a:solidFill xmlns:a="http://schemas.openxmlformats.org/drawingml/2006/main">
            <a:srgbClr val="FFFFFF"/>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4447E563-0403-4148-BAB4-1EF575F58738}"/>
              </a:ext>
            </a:extLst>
          </p:cNvPr>
          <p:cNvSpPr>
            <a:spLocks xmlns:a="http://schemas.openxmlformats.org/drawingml/2006/main" noGrp="1"/>
          </p:cNvSpPr>
          <p:nvPr/>
        </p:nvSpPr>
        <p:spPr>
          <a:xfrm xmlns:a="http://schemas.openxmlformats.org/drawingml/2006/main">
            <a:off x="666750" y="31432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CANDIDATE OUTCOME</a:t>
            </a:r>
          </a:p>
        </p:txBody>
      </p:sp>
      <p:sp>
        <p:nvSpPr>
          <p:cNvPr id="7" name="">
            <a:extLst xmlns:a="http://schemas.openxmlformats.org/drawingml/2006/main">
              <a:ext uri="{FF2B5EF4-FFF2-40B4-BE49-F238E27FC236}">
                <a16:creationId xmlns:a16="http://schemas.microsoft.com/office/drawing/2014/main" id="{DCF75F11-EB1B-44F3-9B67-AB079FE01CF2}"/>
              </a:ext>
            </a:extLst>
          </p:cNvPr>
          <p:cNvSpPr>
            <a:spLocks xmlns:a="http://schemas.openxmlformats.org/drawingml/2006/main" noGrp="1"/>
          </p:cNvSpPr>
          <p:nvPr/>
        </p:nvSpPr>
        <p:spPr>
          <a:xfrm xmlns:a="http://schemas.openxmlformats.org/drawingml/2006/main">
            <a:off x="666750" y="3476625"/>
            <a:ext cx="47434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800" b="0" i="0">
                <a:solidFill>
                  <a:srgbClr val="233248"/>
                </a:solidFill>
                <a:latin typeface="Calibri"/>
                <a:ea typeface="Calibri"/>
                <a:cs typeface="Calibri"/>
              </a:defRPr>
            </a:pPr>
            <a:r>
              <a:rPr sz="1800" b="0" i="0">
                <a:solidFill>
                  <a:srgbClr val="233248"/>
                </a:solidFill>
                <a:latin typeface="Calibri"/>
                <a:ea typeface="Calibri"/>
                <a:cs typeface="Calibri"/>
              </a:rPr>
              <a:t>Pickups completed without avoidable calls, location changes, extended waiting, or cancellation.</a:t>
            </a:r>
          </a:p>
        </p:txBody>
      </p:sp>
      <p:sp>
        <p:nvSpPr>
          <p:cNvPr id="8" name="">
            <a:extLst xmlns:a="http://schemas.openxmlformats.org/drawingml/2006/main">
              <a:ext uri="{FF2B5EF4-FFF2-40B4-BE49-F238E27FC236}">
                <a16:creationId xmlns:a16="http://schemas.microsoft.com/office/drawing/2014/main" id="{06277EE0-FCB8-4231-96F3-2BD107E70ED1}"/>
              </a:ext>
            </a:extLst>
          </p:cNvPr>
          <p:cNvSpPr>
            <a:spLocks xmlns:a="http://schemas.openxmlformats.org/drawingml/2006/main" noGrp="1"/>
          </p:cNvSpPr>
          <p:nvPr/>
        </p:nvSpPr>
        <p:spPr>
          <a:xfrm xmlns:a="http://schemas.openxmlformats.org/drawingml/2006/main">
            <a:off x="5905500" y="3028950"/>
            <a:ext cx="5048250" cy="1809750"/>
          </a:xfrm>
          <a:prstGeom xmlns:a="http://schemas.openxmlformats.org/drawingml/2006/main" prst="roundRect">
            <a:avLst>
              <a:gd name="adj" fmla="val 3158"/>
            </a:avLst>
          </a:prstGeom>
          <a:solidFill xmlns:a="http://schemas.openxmlformats.org/drawingml/2006/main">
            <a:srgbClr val="FBE7D8"/>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1C66140F-54C6-49C3-B2E9-910A4AA3C1CB}"/>
              </a:ext>
            </a:extLst>
          </p:cNvPr>
          <p:cNvSpPr>
            <a:spLocks xmlns:a="http://schemas.openxmlformats.org/drawingml/2006/main" noGrp="1"/>
          </p:cNvSpPr>
          <p:nvPr/>
        </p:nvSpPr>
        <p:spPr>
          <a:xfrm xmlns:a="http://schemas.openxmlformats.org/drawingml/2006/main">
            <a:off x="6057900" y="31432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MEASUREMENT GAP</a:t>
            </a:r>
          </a:p>
        </p:txBody>
      </p:sp>
      <p:sp>
        <p:nvSpPr>
          <p:cNvPr id="10" name="">
            <a:extLst xmlns:a="http://schemas.openxmlformats.org/drawingml/2006/main">
              <a:ext uri="{FF2B5EF4-FFF2-40B4-BE49-F238E27FC236}">
                <a16:creationId xmlns:a16="http://schemas.microsoft.com/office/drawing/2014/main" id="{4E156520-0CE2-44CF-A357-1F70DA7D88E9}"/>
              </a:ext>
            </a:extLst>
          </p:cNvPr>
          <p:cNvSpPr>
            <a:spLocks xmlns:a="http://schemas.openxmlformats.org/drawingml/2006/main" noGrp="1"/>
          </p:cNvSpPr>
          <p:nvPr/>
        </p:nvSpPr>
        <p:spPr>
          <a:xfrm xmlns:a="http://schemas.openxmlformats.org/drawingml/2006/main">
            <a:off x="6057900" y="3476625"/>
            <a:ext cx="47434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If reliable event logs exist, compare driver-arrived to trip-start dwell, calls/messages, location changes, and cancellations at complex locations.</a:t>
            </a:r>
          </a:p>
        </p:txBody>
      </p:sp>
      <p:sp>
        <p:nvSpPr>
          <p:cNvPr id="11" name="">
            <a:extLst xmlns:a="http://schemas.openxmlformats.org/drawingml/2006/main">
              <a:ext uri="{FF2B5EF4-FFF2-40B4-BE49-F238E27FC236}">
                <a16:creationId xmlns:a16="http://schemas.microsoft.com/office/drawing/2014/main" id="{FAF4C6A5-4BED-4CE4-987E-0A43429A4008}"/>
              </a:ext>
            </a:extLst>
          </p:cNvPr>
          <p:cNvSpPr>
            <a:spLocks xmlns:a="http://schemas.openxmlformats.org/drawingml/2006/main" noGrp="1"/>
          </p:cNvSpPr>
          <p:nvPr/>
        </p:nvSpPr>
        <p:spPr>
          <a:xfrm xmlns:a="http://schemas.openxmlformats.org/drawingml/2006/main">
            <a:off x="514350" y="518160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500" b="0" i="1">
                <a:solidFill>
                  <a:srgbClr val="687489"/>
                </a:solidFill>
                <a:latin typeface="Calibri"/>
                <a:ea typeface="Calibri"/>
                <a:cs typeface="Calibri"/>
              </a:defRPr>
            </a:pPr>
            <a:r>
              <a:rPr sz="1500" b="0" i="1">
                <a:solidFill>
                  <a:srgbClr val="687489"/>
                </a:solidFill>
                <a:latin typeface="Calibri"/>
                <a:ea typeface="Calibri"/>
                <a:cs typeface="Calibri"/>
              </a:rPr>
              <a:t>This is a proposed measurement direction — not a confirmed Uber metric or a one-day data pull.</a:t>
            </a:r>
          </a:p>
        </p:txBody>
      </p:sp>
      <p:sp>
        <p:nvSpPr>
          <p:cNvPr id="12" name="">
            <a:extLst xmlns:a="http://schemas.openxmlformats.org/drawingml/2006/main">
              <a:ext uri="{FF2B5EF4-FFF2-40B4-BE49-F238E27FC236}">
                <a16:creationId xmlns:a16="http://schemas.microsoft.com/office/drawing/2014/main" id="{EFC249E5-8220-4169-AABE-4F1C8A618553}"/>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3" name="">
            <a:extLst xmlns:a="http://schemas.openxmlformats.org/drawingml/2006/main">
              <a:ext uri="{FF2B5EF4-FFF2-40B4-BE49-F238E27FC236}">
                <a16:creationId xmlns:a16="http://schemas.microsoft.com/office/drawing/2014/main" id="{3B27BB72-1438-4BBF-90B4-C3786481FBBF}"/>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6</a:t>
            </a:r>
          </a:p>
        </p:txBody>
      </p:sp>
    </p:spTree>
    <p:extLst>
      <p:ext uri="{BB962C8B-B14F-4D97-AF65-F5344CB8AC3E}">
        <p14:creationId xmlns:p14="http://schemas.microsoft.com/office/powerpoint/2010/main" val="1545796448"/>
      </p:ext>
    </p:extLst>
  </p:cSld>
</p:sld>
</file>

<file path=ppt/slides/slide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2823006-25CB-45CD-9C9A-88E7F9ED467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WHAT THE EVIDENCE SHOWED</a:t>
            </a:r>
          </a:p>
        </p:txBody>
      </p:sp>
      <p:sp>
        <p:nvSpPr>
          <p:cNvPr id="2" name="">
            <a:extLst xmlns:a="http://schemas.openxmlformats.org/drawingml/2006/main">
              <a:ext uri="{FF2B5EF4-FFF2-40B4-BE49-F238E27FC236}">
                <a16:creationId xmlns:a16="http://schemas.microsoft.com/office/drawing/2014/main" id="{4748A136-C8E2-44C5-BE67-8822E7C69BB7}"/>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551"/>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Not everyone's problem — but a real, recurring one for affected respondents</a:t>
            </a:r>
          </a:p>
        </p:txBody>
      </p:sp>
      <p:sp>
        <p:nvSpPr>
          <p:cNvPr id="3" name="">
            <a:extLst xmlns:a="http://schemas.openxmlformats.org/drawingml/2006/main">
              <a:ext uri="{FF2B5EF4-FFF2-40B4-BE49-F238E27FC236}">
                <a16:creationId xmlns:a16="http://schemas.microsoft.com/office/drawing/2014/main" id="{08A2FEB9-25EE-4760-AD5E-BBD2147A549B}"/>
              </a:ext>
            </a:extLst>
          </p:cNvPr>
          <p:cNvSpPr>
            <a:spLocks xmlns:a="http://schemas.openxmlformats.org/drawingml/2006/main" noGrp="1"/>
          </p:cNvSpPr>
          <p:nvPr/>
        </p:nvSpPr>
        <p:spPr>
          <a:xfrm xmlns:a="http://schemas.openxmlformats.org/drawingml/2006/main">
            <a:off x="5143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8C5EB01-ECEB-4460-9DA4-B1CEDED6EA38}"/>
              </a:ext>
            </a:extLst>
          </p:cNvPr>
          <p:cNvSpPr>
            <a:spLocks xmlns:a="http://schemas.openxmlformats.org/drawingml/2006/main" noGrp="1"/>
          </p:cNvSpPr>
          <p:nvPr/>
        </p:nvSpPr>
        <p:spPr>
          <a:xfrm xmlns:a="http://schemas.openxmlformats.org/drawingml/2006/main">
            <a:off x="6667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47.1%</a:t>
            </a:r>
          </a:p>
        </p:txBody>
      </p:sp>
      <p:sp>
        <p:nvSpPr>
          <p:cNvPr id="5" name="">
            <a:extLst xmlns:a="http://schemas.openxmlformats.org/drawingml/2006/main">
              <a:ext uri="{FF2B5EF4-FFF2-40B4-BE49-F238E27FC236}">
                <a16:creationId xmlns:a16="http://schemas.microsoft.com/office/drawing/2014/main" id="{25849FE7-7AE9-4201-87F4-F9EAE71BBD6F}"/>
              </a:ext>
            </a:extLst>
          </p:cNvPr>
          <p:cNvSpPr>
            <a:spLocks xmlns:a="http://schemas.openxmlformats.org/drawingml/2006/main" noGrp="1"/>
          </p:cNvSpPr>
          <p:nvPr/>
        </p:nvSpPr>
        <p:spPr>
          <a:xfrm xmlns:a="http://schemas.openxmlformats.org/drawingml/2006/main">
            <a:off x="6667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24 of 51 recent users reported difficulty or uncertainty</a:t>
            </a:r>
          </a:p>
        </p:txBody>
      </p:sp>
      <p:sp>
        <p:nvSpPr>
          <p:cNvPr id="6" name="">
            <a:extLst xmlns:a="http://schemas.openxmlformats.org/drawingml/2006/main">
              <a:ext uri="{FF2B5EF4-FFF2-40B4-BE49-F238E27FC236}">
                <a16:creationId xmlns:a16="http://schemas.microsoft.com/office/drawing/2014/main" id="{6C6BC516-49CE-4DA5-9FD8-549758B6CCA4}"/>
              </a:ext>
            </a:extLst>
          </p:cNvPr>
          <p:cNvSpPr>
            <a:spLocks xmlns:a="http://schemas.openxmlformats.org/drawingml/2006/main" noGrp="1"/>
          </p:cNvSpPr>
          <p:nvPr/>
        </p:nvSpPr>
        <p:spPr>
          <a:xfrm xmlns:a="http://schemas.openxmlformats.org/drawingml/2006/main">
            <a:off x="3067050" y="1657350"/>
            <a:ext cx="2362200" cy="1123950"/>
          </a:xfrm>
          <a:prstGeom xmlns:a="http://schemas.openxmlformats.org/drawingml/2006/main" prst="roundRect">
            <a:avLst>
              <a:gd name="adj" fmla="val 6780"/>
            </a:avLst>
          </a:prstGeom>
          <a:solidFill xmlns:a="http://schemas.openxmlformats.org/drawingml/2006/main">
            <a:srgbClr val="1BB5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0DC2C70-BA59-422F-AE78-4389600DAF9C}"/>
              </a:ext>
            </a:extLst>
          </p:cNvPr>
          <p:cNvSpPr>
            <a:spLocks xmlns:a="http://schemas.openxmlformats.org/drawingml/2006/main" noGrp="1"/>
          </p:cNvSpPr>
          <p:nvPr/>
        </p:nvSpPr>
        <p:spPr>
          <a:xfrm xmlns:a="http://schemas.openxmlformats.org/drawingml/2006/main">
            <a:off x="32194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82.1%</a:t>
            </a:r>
          </a:p>
        </p:txBody>
      </p:sp>
      <p:sp>
        <p:nvSpPr>
          <p:cNvPr id="8" name="">
            <a:extLst xmlns:a="http://schemas.openxmlformats.org/drawingml/2006/main">
              <a:ext uri="{FF2B5EF4-FFF2-40B4-BE49-F238E27FC236}">
                <a16:creationId xmlns:a16="http://schemas.microsoft.com/office/drawing/2014/main" id="{E6979308-6557-4FCC-BD8A-B3CBC6615995}"/>
              </a:ext>
            </a:extLst>
          </p:cNvPr>
          <p:cNvSpPr>
            <a:spLocks xmlns:a="http://schemas.openxmlformats.org/drawingml/2006/main" noGrp="1"/>
          </p:cNvSpPr>
          <p:nvPr/>
        </p:nvSpPr>
        <p:spPr>
          <a:xfrm xmlns:a="http://schemas.openxmlformats.org/drawingml/2006/main">
            <a:off x="32194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2917"/>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23 of 28 issue cases said it happened before</a:t>
            </a:r>
          </a:p>
        </p:txBody>
      </p:sp>
      <p:sp>
        <p:nvSpPr>
          <p:cNvPr id="9" name="">
            <a:extLst xmlns:a="http://schemas.openxmlformats.org/drawingml/2006/main">
              <a:ext uri="{FF2B5EF4-FFF2-40B4-BE49-F238E27FC236}">
                <a16:creationId xmlns:a16="http://schemas.microsoft.com/office/drawing/2014/main" id="{ACC2F1F1-16A0-40EE-96AD-3131C0E36095}"/>
              </a:ext>
            </a:extLst>
          </p:cNvPr>
          <p:cNvSpPr>
            <a:spLocks xmlns:a="http://schemas.openxmlformats.org/drawingml/2006/main" noGrp="1"/>
          </p:cNvSpPr>
          <p:nvPr/>
        </p:nvSpPr>
        <p:spPr>
          <a:xfrm xmlns:a="http://schemas.openxmlformats.org/drawingml/2006/main">
            <a:off x="5619750" y="1657350"/>
            <a:ext cx="2362200" cy="1123950"/>
          </a:xfrm>
          <a:prstGeom xmlns:a="http://schemas.openxmlformats.org/drawingml/2006/main" prst="roundRect">
            <a:avLst>
              <a:gd name="adj" fmla="val 6780"/>
            </a:avLst>
          </a:prstGeom>
          <a:solidFill xmlns:a="http://schemas.openxmlformats.org/drawingml/2006/main">
            <a:srgbClr val="2D467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BD7B729-CE53-4800-8FC1-85FAD5746D54}"/>
              </a:ext>
            </a:extLst>
          </p:cNvPr>
          <p:cNvSpPr>
            <a:spLocks xmlns:a="http://schemas.openxmlformats.org/drawingml/2006/main" noGrp="1"/>
          </p:cNvSpPr>
          <p:nvPr/>
        </p:nvSpPr>
        <p:spPr>
          <a:xfrm xmlns:a="http://schemas.openxmlformats.org/drawingml/2006/main">
            <a:off x="57721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20 / 28</a:t>
            </a:r>
          </a:p>
        </p:txBody>
      </p:sp>
      <p:sp>
        <p:nvSpPr>
          <p:cNvPr id="11" name="">
            <a:extLst xmlns:a="http://schemas.openxmlformats.org/drawingml/2006/main">
              <a:ext uri="{FF2B5EF4-FFF2-40B4-BE49-F238E27FC236}">
                <a16:creationId xmlns:a16="http://schemas.microsoft.com/office/drawing/2014/main" id="{1F6C5A4D-3C84-4C33-AF7F-B2954DE4C27E}"/>
              </a:ext>
            </a:extLst>
          </p:cNvPr>
          <p:cNvSpPr>
            <a:spLocks xmlns:a="http://schemas.openxmlformats.org/drawingml/2006/main" noGrp="1"/>
          </p:cNvSpPr>
          <p:nvPr/>
        </p:nvSpPr>
        <p:spPr>
          <a:xfrm xmlns:a="http://schemas.openxmlformats.org/drawingml/2006/main">
            <a:off x="57721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6903"/>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calling or messaging helped</a:t>
            </a:r>
          </a:p>
        </p:txBody>
      </p:sp>
      <p:sp>
        <p:nvSpPr>
          <p:cNvPr id="12" name="">
            <a:extLst xmlns:a="http://schemas.openxmlformats.org/drawingml/2006/main">
              <a:ext uri="{FF2B5EF4-FFF2-40B4-BE49-F238E27FC236}">
                <a16:creationId xmlns:a16="http://schemas.microsoft.com/office/drawing/2014/main" id="{86CE748D-B65C-495B-B10D-8D3DF5A5B46E}"/>
              </a:ext>
            </a:extLst>
          </p:cNvPr>
          <p:cNvSpPr>
            <a:spLocks xmlns:a="http://schemas.openxmlformats.org/drawingml/2006/main" noGrp="1"/>
          </p:cNvSpPr>
          <p:nvPr/>
        </p:nvSpPr>
        <p:spPr>
          <a:xfrm xmlns:a="http://schemas.openxmlformats.org/drawingml/2006/main">
            <a:off x="8172450" y="1657350"/>
            <a:ext cx="2362200" cy="1123950"/>
          </a:xfrm>
          <a:prstGeom xmlns:a="http://schemas.openxmlformats.org/drawingml/2006/main" prst="roundRect">
            <a:avLst>
              <a:gd name="adj" fmla="val 6780"/>
            </a:avLst>
          </a:prstGeom>
          <a:solidFill xmlns:a="http://schemas.openxmlformats.org/drawingml/2006/main">
            <a:srgbClr val="F47A2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D243293-634D-46F5-AFDB-4394973AB43E}"/>
              </a:ext>
            </a:extLst>
          </p:cNvPr>
          <p:cNvSpPr>
            <a:spLocks xmlns:a="http://schemas.openxmlformats.org/drawingml/2006/main" noGrp="1"/>
          </p:cNvSpPr>
          <p:nvPr/>
        </p:nvSpPr>
        <p:spPr>
          <a:xfrm xmlns:a="http://schemas.openxmlformats.org/drawingml/2006/main">
            <a:off x="8324850" y="1790700"/>
            <a:ext cx="2057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475" b="1" i="0">
                <a:solidFill>
                  <a:srgbClr val="FFFFFF"/>
                </a:solidFill>
                <a:latin typeface="Calibri"/>
                <a:ea typeface="Calibri"/>
                <a:cs typeface="Calibri"/>
              </a:defRPr>
            </a:pPr>
            <a:r>
              <a:rPr sz="2475" b="1" i="0">
                <a:solidFill>
                  <a:srgbClr val="FFFFFF"/>
                </a:solidFill>
                <a:latin typeface="Calibri"/>
                <a:ea typeface="Calibri"/>
                <a:cs typeface="Calibri"/>
              </a:rPr>
              <a:t>6 / 28</a:t>
            </a:r>
          </a:p>
        </p:txBody>
      </p:sp>
      <p:sp>
        <p:nvSpPr>
          <p:cNvPr id="14" name="">
            <a:extLst xmlns:a="http://schemas.openxmlformats.org/drawingml/2006/main">
              <a:ext uri="{FF2B5EF4-FFF2-40B4-BE49-F238E27FC236}">
                <a16:creationId xmlns:a16="http://schemas.microsoft.com/office/drawing/2014/main" id="{94C17313-7C35-4C51-ADEE-258E6B57E880}"/>
              </a:ext>
            </a:extLst>
          </p:cNvPr>
          <p:cNvSpPr>
            <a:spLocks xmlns:a="http://schemas.openxmlformats.org/drawingml/2006/main" noGrp="1"/>
          </p:cNvSpPr>
          <p:nvPr/>
        </p:nvSpPr>
        <p:spPr>
          <a:xfrm xmlns:a="http://schemas.openxmlformats.org/drawingml/2006/main">
            <a:off x="8324850" y="23050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00" b="0" i="0">
                <a:solidFill>
                  <a:srgbClr val="FFFFFF"/>
                </a:solidFill>
                <a:latin typeface="Calibri"/>
                <a:ea typeface="Calibri"/>
                <a:cs typeface="Calibri"/>
              </a:defRPr>
            </a:pPr>
            <a:r>
              <a:rPr sz="1200" b="0" i="0">
                <a:solidFill>
                  <a:srgbClr val="FFFFFF"/>
                </a:solidFill>
                <a:latin typeface="Calibri"/>
                <a:ea typeface="Calibri"/>
                <a:cs typeface="Calibri"/>
              </a:rPr>
              <a:t>said nothing helped</a:t>
            </a:r>
          </a:p>
        </p:txBody>
      </p:sp>
      <p:sp>
        <p:nvSpPr>
          <p:cNvPr id="15" name="">
            <a:extLst xmlns:a="http://schemas.openxmlformats.org/drawingml/2006/main">
              <a:ext uri="{FF2B5EF4-FFF2-40B4-BE49-F238E27FC236}">
                <a16:creationId xmlns:a16="http://schemas.microsoft.com/office/drawing/2014/main" id="{FDE12D36-0A83-4D49-A410-8288B0E67CF8}"/>
              </a:ext>
            </a:extLst>
          </p:cNvPr>
          <p:cNvSpPr>
            <a:spLocks xmlns:a="http://schemas.openxmlformats.org/drawingml/2006/main" noGrp="1"/>
          </p:cNvSpPr>
          <p:nvPr/>
        </p:nvSpPr>
        <p:spPr>
          <a:xfrm xmlns:a="http://schemas.openxmlformats.org/drawingml/2006/main">
            <a:off x="514350" y="3105150"/>
            <a:ext cx="10439400" cy="1562100"/>
          </a:xfrm>
          <a:prstGeom xmlns:a="http://schemas.openxmlformats.org/drawingml/2006/main" prst="roundRect">
            <a:avLst>
              <a:gd name="adj" fmla="val 3659"/>
            </a:avLst>
          </a:prstGeom>
          <a:solidFill xmlns:a="http://schemas.openxmlformats.org/drawingml/2006/main">
            <a:srgbClr val="1B2B4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08FF1E0-BBB1-4A0F-BFB6-D04DA79301FF}"/>
              </a:ext>
            </a:extLst>
          </p:cNvPr>
          <p:cNvSpPr>
            <a:spLocks xmlns:a="http://schemas.openxmlformats.org/drawingml/2006/main" noGrp="1"/>
          </p:cNvSpPr>
          <p:nvPr/>
        </p:nvSpPr>
        <p:spPr>
          <a:xfrm xmlns:a="http://schemas.openxmlformats.org/drawingml/2006/main">
            <a:off x="800100" y="3352800"/>
            <a:ext cx="98679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75" b="0" i="1">
                <a:solidFill>
                  <a:srgbClr val="FFFFFF"/>
                </a:solidFill>
                <a:latin typeface="Calibri"/>
                <a:ea typeface="Calibri"/>
                <a:cs typeface="Calibri"/>
              </a:defRPr>
            </a:pPr>
            <a:r>
              <a:rPr sz="2175" b="0" i="1">
                <a:solidFill>
                  <a:srgbClr val="FFFFFF"/>
                </a:solidFill>
                <a:latin typeface="Calibri"/>
                <a:ea typeface="Calibri"/>
                <a:cs typeface="Calibri"/>
              </a:rPr>
              <a:t>“The app says he has arrived, but almost 10 minutes to locate each other.”</a:t>
            </a:r>
          </a:p>
        </p:txBody>
      </p:sp>
      <p:sp>
        <p:nvSpPr>
          <p:cNvPr id="17" name="">
            <a:extLst xmlns:a="http://schemas.openxmlformats.org/drawingml/2006/main">
              <a:ext uri="{FF2B5EF4-FFF2-40B4-BE49-F238E27FC236}">
                <a16:creationId xmlns:a16="http://schemas.microsoft.com/office/drawing/2014/main" id="{5BF89D7F-9ECE-41D7-9FD2-07FEFABAE835}"/>
              </a:ext>
            </a:extLst>
          </p:cNvPr>
          <p:cNvSpPr>
            <a:spLocks xmlns:a="http://schemas.openxmlformats.org/drawingml/2006/main" noGrp="1"/>
          </p:cNvSpPr>
          <p:nvPr/>
        </p:nvSpPr>
        <p:spPr>
          <a:xfrm xmlns:a="http://schemas.openxmlformats.org/drawingml/2006/main">
            <a:off x="800100" y="4210050"/>
            <a:ext cx="9867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125" b="0" i="0">
                <a:solidFill>
                  <a:srgbClr val="C9D3E2"/>
                </a:solidFill>
                <a:latin typeface="Calibri"/>
                <a:ea typeface="Calibri"/>
                <a:cs typeface="Calibri"/>
              </a:defRPr>
            </a:pPr>
            <a:r>
              <a:rPr sz="1125" b="0" i="0">
                <a:solidFill>
                  <a:srgbClr val="C9D3E2"/>
                </a:solidFill>
                <a:latin typeface="Calibri"/>
                <a:ea typeface="Calibri"/>
                <a:cs typeface="Calibri"/>
              </a:rPr>
              <a:t>R067 · rider · anonymized response</a:t>
            </a:r>
          </a:p>
        </p:txBody>
      </p:sp>
      <p:sp>
        <p:nvSpPr>
          <p:cNvPr id="18" name="">
            <a:extLst xmlns:a="http://schemas.openxmlformats.org/drawingml/2006/main">
              <a:ext uri="{FF2B5EF4-FFF2-40B4-BE49-F238E27FC236}">
                <a16:creationId xmlns:a16="http://schemas.microsoft.com/office/drawing/2014/main" id="{E3492CE9-8DFF-4B91-A9F3-E93B992E785A}"/>
              </a:ext>
            </a:extLst>
          </p:cNvPr>
          <p:cNvSpPr>
            <a:spLocks xmlns:a="http://schemas.openxmlformats.org/drawingml/2006/main" noGrp="1"/>
          </p:cNvSpPr>
          <p:nvPr/>
        </p:nvSpPr>
        <p:spPr>
          <a:xfrm xmlns:a="http://schemas.openxmlformats.org/drawingml/2006/main">
            <a:off x="514350" y="4953000"/>
            <a:ext cx="10439400" cy="876300"/>
          </a:xfrm>
          <a:prstGeom xmlns:a="http://schemas.openxmlformats.org/drawingml/2006/main" prst="roundRect">
            <a:avLst>
              <a:gd name="adj" fmla="val 6522"/>
            </a:avLst>
          </a:prstGeom>
          <a:solidFill xmlns:a="http://schemas.openxmlformats.org/drawingml/2006/main">
            <a:srgbClr val="FBE7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537CD1E-24F3-4395-9F03-FBCCA512288B}"/>
              </a:ext>
            </a:extLst>
          </p:cNvPr>
          <p:cNvSpPr>
            <a:spLocks xmlns:a="http://schemas.openxmlformats.org/drawingml/2006/main" noGrp="1"/>
          </p:cNvSpPr>
          <p:nvPr/>
        </p:nvSpPr>
        <p:spPr>
          <a:xfrm xmlns:a="http://schemas.openxmlformats.org/drawingml/2006/main">
            <a:off x="704850" y="5076825"/>
            <a:ext cx="1005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Interpretation boundary: 23 of 28 means the issue occurred before; it does not prove recurrence at the same venue. These sample percentages are not Hyderabad prevalence. The 28 issue cases are the 24 recent four-wheel users plus 3 respondents with no recent four-wheel trip and 1 unsure, all of whom reported a pickup issue.</a:t>
            </a:r>
          </a:p>
        </p:txBody>
      </p:sp>
      <p:sp>
        <p:nvSpPr>
          <p:cNvPr id="20" name="">
            <a:extLst xmlns:a="http://schemas.openxmlformats.org/drawingml/2006/main">
              <a:ext uri="{FF2B5EF4-FFF2-40B4-BE49-F238E27FC236}">
                <a16:creationId xmlns:a16="http://schemas.microsoft.com/office/drawing/2014/main" id="{E1925F27-C3A5-416C-B4CF-FB1794FC9E1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21" name="">
            <a:extLst xmlns:a="http://schemas.openxmlformats.org/drawingml/2006/main">
              <a:ext uri="{FF2B5EF4-FFF2-40B4-BE49-F238E27FC236}">
                <a16:creationId xmlns:a16="http://schemas.microsoft.com/office/drawing/2014/main" id="{72903CB9-2E25-4C50-BDCB-32A42C9A9F5D}"/>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7</a:t>
            </a:r>
          </a:p>
        </p:txBody>
      </p:sp>
    </p:spTree>
    <p:extLst>
      <p:ext uri="{BB962C8B-B14F-4D97-AF65-F5344CB8AC3E}">
        <p14:creationId xmlns:p14="http://schemas.microsoft.com/office/powerpoint/2010/main" val="1961621233"/>
      </p:ext>
    </p:extLst>
  </p:cSld>
</p:sld>
</file>

<file path=ppt/slides/slide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3F877710-C9CB-4288-80AB-FEB62F64E569}"/>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EVIDENCE PATTERNS</a:t>
            </a:r>
          </a:p>
        </p:txBody>
      </p:sp>
      <p:sp>
        <p:nvSpPr>
          <p:cNvPr id="2" name="">
            <a:extLst xmlns:a="http://schemas.openxmlformats.org/drawingml/2006/main">
              <a:ext uri="{FF2B5EF4-FFF2-40B4-BE49-F238E27FC236}">
                <a16:creationId xmlns:a16="http://schemas.microsoft.com/office/drawing/2014/main" id="{AA5B2673-8FBB-4D5F-8463-614EF5A4B06E}"/>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Where coordination breaks — and how people recover</a:t>
            </a:r>
          </a:p>
        </p:txBody>
      </p:sp>
      <p:sp>
        <p:nvSpPr>
          <p:cNvPr id="3" name="">
            <a:extLst xmlns:a="http://schemas.openxmlformats.org/drawingml/2006/main">
              <a:ext uri="{FF2B5EF4-FFF2-40B4-BE49-F238E27FC236}">
                <a16:creationId xmlns:a16="http://schemas.microsoft.com/office/drawing/2014/main" id="{676A0BEE-922B-4FC9-857C-AE728C3816EE}"/>
              </a:ext>
            </a:extLst>
          </p:cNvPr>
          <p:cNvSpPr>
            <a:spLocks xmlns:a="http://schemas.openxmlformats.org/drawingml/2006/main" noGrp="1"/>
          </p:cNvSpPr>
          <p:nvPr/>
        </p:nvSpPr>
        <p:spPr>
          <a:xfrm xmlns:a="http://schemas.openxmlformats.org/drawingml/2006/main">
            <a:off x="514350" y="1581150"/>
            <a:ext cx="495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021"/>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Problem locations among 28 issue cases — top 6 of 8 types</a:t>
            </a:r>
          </a:p>
        </p:txBody>
      </p:sp>
      <p:sp>
        <p:nvSpPr>
          <p:cNvPr id="4" name="">
            <a:extLst xmlns:a="http://schemas.openxmlformats.org/drawingml/2006/main">
              <a:ext uri="{FF2B5EF4-FFF2-40B4-BE49-F238E27FC236}">
                <a16:creationId xmlns:a16="http://schemas.microsoft.com/office/drawing/2014/main" id="{A96B1E39-43BC-4895-B99C-93C2C9B3E70C}"/>
              </a:ext>
            </a:extLst>
          </p:cNvPr>
          <p:cNvSpPr>
            <a:spLocks xmlns:a="http://schemas.openxmlformats.org/drawingml/2006/main" noGrp="1"/>
          </p:cNvSpPr>
          <p:nvPr/>
        </p:nvSpPr>
        <p:spPr>
          <a:xfrm xmlns:a="http://schemas.openxmlformats.org/drawingml/2006/main">
            <a:off x="5143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a:t>
            </a:r>
          </a:p>
        </p:txBody>
      </p:sp>
      <p:sp>
        <p:nvSpPr>
          <p:cNvPr id="5" name="">
            <a:extLst xmlns:a="http://schemas.openxmlformats.org/drawingml/2006/main">
              <a:ext uri="{FF2B5EF4-FFF2-40B4-BE49-F238E27FC236}">
                <a16:creationId xmlns:a16="http://schemas.microsoft.com/office/drawing/2014/main" id="{35AFD0C6-345B-4173-8266-618F7BB6ADD5}"/>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FAC0561-4178-494F-BD95-173EF55FE63D}"/>
              </a:ext>
            </a:extLst>
          </p:cNvPr>
          <p:cNvSpPr>
            <a:spLocks xmlns:a="http://schemas.openxmlformats.org/drawingml/2006/main" noGrp="1"/>
          </p:cNvSpPr>
          <p:nvPr/>
        </p:nvSpPr>
        <p:spPr>
          <a:xfrm xmlns:a="http://schemas.openxmlformats.org/drawingml/2006/main">
            <a:off x="2590800" y="2038350"/>
            <a:ext cx="249555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873CFF5-599C-404B-AECD-72F2A43C9133}"/>
              </a:ext>
            </a:extLst>
          </p:cNvPr>
          <p:cNvSpPr>
            <a:spLocks xmlns:a="http://schemas.openxmlformats.org/drawingml/2006/main" noGrp="1"/>
          </p:cNvSpPr>
          <p:nvPr/>
        </p:nvSpPr>
        <p:spPr>
          <a:xfrm xmlns:a="http://schemas.openxmlformats.org/drawingml/2006/main">
            <a:off x="51435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10</a:t>
            </a:r>
          </a:p>
        </p:txBody>
      </p:sp>
      <p:sp>
        <p:nvSpPr>
          <p:cNvPr id="8" name="">
            <a:extLst xmlns:a="http://schemas.openxmlformats.org/drawingml/2006/main">
              <a:ext uri="{FF2B5EF4-FFF2-40B4-BE49-F238E27FC236}">
                <a16:creationId xmlns:a16="http://schemas.microsoft.com/office/drawing/2014/main" id="{FB7A5B8D-9A91-4D7B-9C2D-11E7C37C7D6D}"/>
              </a:ext>
            </a:extLst>
          </p:cNvPr>
          <p:cNvSpPr>
            <a:spLocks xmlns:a="http://schemas.openxmlformats.org/drawingml/2006/main" noGrp="1"/>
          </p:cNvSpPr>
          <p:nvPr/>
        </p:nvSpPr>
        <p:spPr>
          <a:xfrm xmlns:a="http://schemas.openxmlformats.org/drawingml/2006/main">
            <a:off x="5143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Residential / gated</a:t>
            </a:r>
          </a:p>
        </p:txBody>
      </p:sp>
      <p:sp>
        <p:nvSpPr>
          <p:cNvPr id="9" name="">
            <a:extLst xmlns:a="http://schemas.openxmlformats.org/drawingml/2006/main">
              <a:ext uri="{FF2B5EF4-FFF2-40B4-BE49-F238E27FC236}">
                <a16:creationId xmlns:a16="http://schemas.microsoft.com/office/drawing/2014/main" id="{3C06794B-3E01-494C-A3C8-D134A9D0083A}"/>
              </a:ext>
            </a:extLst>
          </p:cNvPr>
          <p:cNvSpPr>
            <a:spLocks xmlns:a="http://schemas.openxmlformats.org/drawingml/2006/main" noGrp="1"/>
          </p:cNvSpPr>
          <p:nvPr/>
        </p:nvSpPr>
        <p:spPr>
          <a:xfrm xmlns:a="http://schemas.openxmlformats.org/drawingml/2006/main">
            <a:off x="2590800" y="24860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FEA54A4-6F0A-487C-A119-506B94B69D12}"/>
              </a:ext>
            </a:extLst>
          </p:cNvPr>
          <p:cNvSpPr>
            <a:spLocks xmlns:a="http://schemas.openxmlformats.org/drawingml/2006/main" noGrp="1"/>
          </p:cNvSpPr>
          <p:nvPr/>
        </p:nvSpPr>
        <p:spPr>
          <a:xfrm xmlns:a="http://schemas.openxmlformats.org/drawingml/2006/main">
            <a:off x="2590800" y="2486025"/>
            <a:ext cx="174688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FE6205B-EA2C-4819-909E-9B2EEE1336AA}"/>
              </a:ext>
            </a:extLst>
          </p:cNvPr>
          <p:cNvSpPr>
            <a:spLocks xmlns:a="http://schemas.openxmlformats.org/drawingml/2006/main" noGrp="1"/>
          </p:cNvSpPr>
          <p:nvPr/>
        </p:nvSpPr>
        <p:spPr>
          <a:xfrm xmlns:a="http://schemas.openxmlformats.org/drawingml/2006/main">
            <a:off x="51435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7</a:t>
            </a:r>
          </a:p>
        </p:txBody>
      </p:sp>
      <p:sp>
        <p:nvSpPr>
          <p:cNvPr id="12" name="">
            <a:extLst xmlns:a="http://schemas.openxmlformats.org/drawingml/2006/main">
              <a:ext uri="{FF2B5EF4-FFF2-40B4-BE49-F238E27FC236}">
                <a16:creationId xmlns:a16="http://schemas.microsoft.com/office/drawing/2014/main" id="{F8E550A6-A26E-4739-B6B7-397A727629AB}"/>
              </a:ext>
            </a:extLst>
          </p:cNvPr>
          <p:cNvSpPr>
            <a:spLocks xmlns:a="http://schemas.openxmlformats.org/drawingml/2006/main" noGrp="1"/>
          </p:cNvSpPr>
          <p:nvPr/>
        </p:nvSpPr>
        <p:spPr>
          <a:xfrm xmlns:a="http://schemas.openxmlformats.org/drawingml/2006/main">
            <a:off x="5143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Shopping mall</a:t>
            </a:r>
          </a:p>
        </p:txBody>
      </p:sp>
      <p:sp>
        <p:nvSpPr>
          <p:cNvPr id="13" name="">
            <a:extLst xmlns:a="http://schemas.openxmlformats.org/drawingml/2006/main">
              <a:ext uri="{FF2B5EF4-FFF2-40B4-BE49-F238E27FC236}">
                <a16:creationId xmlns:a16="http://schemas.microsoft.com/office/drawing/2014/main" id="{4F18C972-2D65-46DE-B8E7-CD3E4B6EA78B}"/>
              </a:ext>
            </a:extLst>
          </p:cNvPr>
          <p:cNvSpPr>
            <a:spLocks xmlns:a="http://schemas.openxmlformats.org/drawingml/2006/main" noGrp="1"/>
          </p:cNvSpPr>
          <p:nvPr/>
        </p:nvSpPr>
        <p:spPr>
          <a:xfrm xmlns:a="http://schemas.openxmlformats.org/drawingml/2006/main">
            <a:off x="2590800" y="293370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AB8B5A7-0872-4580-A54F-E1E07B1307CD}"/>
              </a:ext>
            </a:extLst>
          </p:cNvPr>
          <p:cNvSpPr>
            <a:spLocks xmlns:a="http://schemas.openxmlformats.org/drawingml/2006/main" noGrp="1"/>
          </p:cNvSpPr>
          <p:nvPr/>
        </p:nvSpPr>
        <p:spPr>
          <a:xfrm xmlns:a="http://schemas.openxmlformats.org/drawingml/2006/main">
            <a:off x="2590800" y="2933700"/>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FB162B6-2B90-43E4-82A0-24DA6B58AF83}"/>
              </a:ext>
            </a:extLst>
          </p:cNvPr>
          <p:cNvSpPr>
            <a:spLocks xmlns:a="http://schemas.openxmlformats.org/drawingml/2006/main" noGrp="1"/>
          </p:cNvSpPr>
          <p:nvPr/>
        </p:nvSpPr>
        <p:spPr>
          <a:xfrm xmlns:a="http://schemas.openxmlformats.org/drawingml/2006/main">
            <a:off x="51435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16" name="">
            <a:extLst xmlns:a="http://schemas.openxmlformats.org/drawingml/2006/main">
              <a:ext uri="{FF2B5EF4-FFF2-40B4-BE49-F238E27FC236}">
                <a16:creationId xmlns:a16="http://schemas.microsoft.com/office/drawing/2014/main" id="{FC8A9E15-F8F2-4C2F-978B-100B340FE0AD}"/>
              </a:ext>
            </a:extLst>
          </p:cNvPr>
          <p:cNvSpPr>
            <a:spLocks xmlns:a="http://schemas.openxmlformats.org/drawingml/2006/main" noGrp="1"/>
          </p:cNvSpPr>
          <p:nvPr/>
        </p:nvSpPr>
        <p:spPr>
          <a:xfrm xmlns:a="http://schemas.openxmlformats.org/drawingml/2006/main">
            <a:off x="5143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Office / tech campus</a:t>
            </a:r>
          </a:p>
        </p:txBody>
      </p:sp>
      <p:sp>
        <p:nvSpPr>
          <p:cNvPr id="17" name="">
            <a:extLst xmlns:a="http://schemas.openxmlformats.org/drawingml/2006/main">
              <a:ext uri="{FF2B5EF4-FFF2-40B4-BE49-F238E27FC236}">
                <a16:creationId xmlns:a16="http://schemas.microsoft.com/office/drawing/2014/main" id="{8C8C9C75-1D74-4183-BAA2-655350C6717C}"/>
              </a:ext>
            </a:extLst>
          </p:cNvPr>
          <p:cNvSpPr>
            <a:spLocks xmlns:a="http://schemas.openxmlformats.org/drawingml/2006/main" noGrp="1"/>
          </p:cNvSpPr>
          <p:nvPr/>
        </p:nvSpPr>
        <p:spPr>
          <a:xfrm xmlns:a="http://schemas.openxmlformats.org/drawingml/2006/main">
            <a:off x="2590800" y="338137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664E800-509F-4178-AC43-571ABADFD117}"/>
              </a:ext>
            </a:extLst>
          </p:cNvPr>
          <p:cNvSpPr>
            <a:spLocks xmlns:a="http://schemas.openxmlformats.org/drawingml/2006/main" noGrp="1"/>
          </p:cNvSpPr>
          <p:nvPr/>
        </p:nvSpPr>
        <p:spPr>
          <a:xfrm xmlns:a="http://schemas.openxmlformats.org/drawingml/2006/main">
            <a:off x="2590800" y="3381375"/>
            <a:ext cx="1497330"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B0904EA-8841-492B-9387-3030769FF182}"/>
              </a:ext>
            </a:extLst>
          </p:cNvPr>
          <p:cNvSpPr>
            <a:spLocks xmlns:a="http://schemas.openxmlformats.org/drawingml/2006/main" noGrp="1"/>
          </p:cNvSpPr>
          <p:nvPr/>
        </p:nvSpPr>
        <p:spPr>
          <a:xfrm xmlns:a="http://schemas.openxmlformats.org/drawingml/2006/main">
            <a:off x="51435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6</a:t>
            </a:r>
          </a:p>
        </p:txBody>
      </p:sp>
      <p:sp>
        <p:nvSpPr>
          <p:cNvPr id="20" name="">
            <a:extLst xmlns:a="http://schemas.openxmlformats.org/drawingml/2006/main">
              <a:ext uri="{FF2B5EF4-FFF2-40B4-BE49-F238E27FC236}">
                <a16:creationId xmlns:a16="http://schemas.microsoft.com/office/drawing/2014/main" id="{8B805E39-0EFE-4F4B-B564-ACE76E148041}"/>
              </a:ext>
            </a:extLst>
          </p:cNvPr>
          <p:cNvSpPr>
            <a:spLocks xmlns:a="http://schemas.openxmlformats.org/drawingml/2006/main" noGrp="1"/>
          </p:cNvSpPr>
          <p:nvPr/>
        </p:nvSpPr>
        <p:spPr>
          <a:xfrm xmlns:a="http://schemas.openxmlformats.org/drawingml/2006/main">
            <a:off x="5143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Metro / railway</a:t>
            </a:r>
          </a:p>
        </p:txBody>
      </p:sp>
      <p:sp>
        <p:nvSpPr>
          <p:cNvPr id="21" name="">
            <a:extLst xmlns:a="http://schemas.openxmlformats.org/drawingml/2006/main">
              <a:ext uri="{FF2B5EF4-FFF2-40B4-BE49-F238E27FC236}">
                <a16:creationId xmlns:a16="http://schemas.microsoft.com/office/drawing/2014/main" id="{27062773-E5A9-4D1F-98C1-391722886110}"/>
              </a:ext>
            </a:extLst>
          </p:cNvPr>
          <p:cNvSpPr>
            <a:spLocks xmlns:a="http://schemas.openxmlformats.org/drawingml/2006/main" noGrp="1"/>
          </p:cNvSpPr>
          <p:nvPr/>
        </p:nvSpPr>
        <p:spPr>
          <a:xfrm xmlns:a="http://schemas.openxmlformats.org/drawingml/2006/main">
            <a:off x="2590800" y="3829050"/>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287916A-E627-498C-9EA1-A34B316E3BDC}"/>
              </a:ext>
            </a:extLst>
          </p:cNvPr>
          <p:cNvSpPr>
            <a:spLocks xmlns:a="http://schemas.openxmlformats.org/drawingml/2006/main" noGrp="1"/>
          </p:cNvSpPr>
          <p:nvPr/>
        </p:nvSpPr>
        <p:spPr>
          <a:xfrm xmlns:a="http://schemas.openxmlformats.org/drawingml/2006/main">
            <a:off x="2590800" y="3829050"/>
            <a:ext cx="124777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C7F59A7-F59E-4F08-8E6A-35EF1CFA3604}"/>
              </a:ext>
            </a:extLst>
          </p:cNvPr>
          <p:cNvSpPr>
            <a:spLocks xmlns:a="http://schemas.openxmlformats.org/drawingml/2006/main" noGrp="1"/>
          </p:cNvSpPr>
          <p:nvPr/>
        </p:nvSpPr>
        <p:spPr>
          <a:xfrm xmlns:a="http://schemas.openxmlformats.org/drawingml/2006/main">
            <a:off x="51435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24" name="">
            <a:extLst xmlns:a="http://schemas.openxmlformats.org/drawingml/2006/main">
              <a:ext uri="{FF2B5EF4-FFF2-40B4-BE49-F238E27FC236}">
                <a16:creationId xmlns:a16="http://schemas.microsoft.com/office/drawing/2014/main" id="{9EDDB266-8EA2-4B3B-AF1D-01DACEA56676}"/>
              </a:ext>
            </a:extLst>
          </p:cNvPr>
          <p:cNvSpPr>
            <a:spLocks xmlns:a="http://schemas.openxmlformats.org/drawingml/2006/main" noGrp="1"/>
          </p:cNvSpPr>
          <p:nvPr/>
        </p:nvSpPr>
        <p:spPr>
          <a:xfrm xmlns:a="http://schemas.openxmlformats.org/drawingml/2006/main">
            <a:off x="5143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Busy street</a:t>
            </a:r>
          </a:p>
        </p:txBody>
      </p:sp>
      <p:sp>
        <p:nvSpPr>
          <p:cNvPr id="25" name="">
            <a:extLst xmlns:a="http://schemas.openxmlformats.org/drawingml/2006/main">
              <a:ext uri="{FF2B5EF4-FFF2-40B4-BE49-F238E27FC236}">
                <a16:creationId xmlns:a16="http://schemas.microsoft.com/office/drawing/2014/main" id="{CE68A848-9DCB-43EB-B8C9-90705B4A7C6C}"/>
              </a:ext>
            </a:extLst>
          </p:cNvPr>
          <p:cNvSpPr>
            <a:spLocks xmlns:a="http://schemas.openxmlformats.org/drawingml/2006/main" noGrp="1"/>
          </p:cNvSpPr>
          <p:nvPr/>
        </p:nvSpPr>
        <p:spPr>
          <a:xfrm xmlns:a="http://schemas.openxmlformats.org/drawingml/2006/main">
            <a:off x="2590800" y="4276725"/>
            <a:ext cx="24955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931C159-EFD5-457C-A0D5-32CA4295EAC2}"/>
              </a:ext>
            </a:extLst>
          </p:cNvPr>
          <p:cNvSpPr>
            <a:spLocks xmlns:a="http://schemas.openxmlformats.org/drawingml/2006/main" noGrp="1"/>
          </p:cNvSpPr>
          <p:nvPr/>
        </p:nvSpPr>
        <p:spPr>
          <a:xfrm xmlns:a="http://schemas.openxmlformats.org/drawingml/2006/main">
            <a:off x="2590800" y="4276725"/>
            <a:ext cx="748665" cy="161925"/>
          </a:xfrm>
          <a:prstGeom xmlns:a="http://schemas.openxmlformats.org/drawingml/2006/main" prst="roundRect">
            <a:avLst>
              <a:gd name="adj" fmla="val 23529"/>
            </a:avLst>
          </a:prstGeom>
          <a:solidFill xmlns:a="http://schemas.openxmlformats.org/drawingml/2006/main">
            <a:srgbClr val="1BB5C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283B22E-17A1-44DF-B2BA-E07BF14B5BAB}"/>
              </a:ext>
            </a:extLst>
          </p:cNvPr>
          <p:cNvSpPr>
            <a:spLocks xmlns:a="http://schemas.openxmlformats.org/drawingml/2006/main" noGrp="1"/>
          </p:cNvSpPr>
          <p:nvPr/>
        </p:nvSpPr>
        <p:spPr>
          <a:xfrm xmlns:a="http://schemas.openxmlformats.org/drawingml/2006/main">
            <a:off x="51435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3</a:t>
            </a:r>
          </a:p>
        </p:txBody>
      </p:sp>
      <p:sp>
        <p:nvSpPr>
          <p:cNvPr id="28" name="">
            <a:extLst xmlns:a="http://schemas.openxmlformats.org/drawingml/2006/main">
              <a:ext uri="{FF2B5EF4-FFF2-40B4-BE49-F238E27FC236}">
                <a16:creationId xmlns:a16="http://schemas.microsoft.com/office/drawing/2014/main" id="{FA3410BE-1C9D-45C5-B8EA-2D462CC7CDEF}"/>
              </a:ext>
            </a:extLst>
          </p:cNvPr>
          <p:cNvSpPr>
            <a:spLocks xmlns:a="http://schemas.openxmlformats.org/drawingml/2006/main" noGrp="1"/>
          </p:cNvSpPr>
          <p:nvPr/>
        </p:nvSpPr>
        <p:spPr>
          <a:xfrm xmlns:a="http://schemas.openxmlformats.org/drawingml/2006/main">
            <a:off x="6191250" y="15811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5238"/>
          </a:bodyPr>
          <a:lstStyle xmlns:a="http://schemas.openxmlformats.org/drawingml/2006/main"/>
          <a:p xmlns:a="http://schemas.openxmlformats.org/drawingml/2006/main">
            <a:pPr algn="l">
              <a:defRPr sz="1575" b="1" i="0">
                <a:solidFill>
                  <a:srgbClr val="1B2B45"/>
                </a:solidFill>
                <a:latin typeface="Calibri"/>
                <a:ea typeface="Calibri"/>
                <a:cs typeface="Calibri"/>
              </a:defRPr>
            </a:pPr>
            <a:r>
              <a:rPr sz="1575" b="1" i="0">
                <a:solidFill>
                  <a:srgbClr val="1B2B45"/>
                </a:solidFill>
                <a:latin typeface="Calibri"/>
                <a:ea typeface="Calibri"/>
                <a:cs typeface="Calibri"/>
              </a:rPr>
              <a:t>Recovery actions</a:t>
            </a:r>
          </a:p>
        </p:txBody>
      </p:sp>
      <p:sp>
        <p:nvSpPr>
          <p:cNvPr id="29" name="">
            <a:extLst xmlns:a="http://schemas.openxmlformats.org/drawingml/2006/main">
              <a:ext uri="{FF2B5EF4-FFF2-40B4-BE49-F238E27FC236}">
                <a16:creationId xmlns:a16="http://schemas.microsoft.com/office/drawing/2014/main" id="{5DFEF94D-66CB-4E83-97D1-AC42CC73D633}"/>
              </a:ext>
            </a:extLst>
          </p:cNvPr>
          <p:cNvSpPr>
            <a:spLocks xmlns:a="http://schemas.openxmlformats.org/drawingml/2006/main" noGrp="1"/>
          </p:cNvSpPr>
          <p:nvPr/>
        </p:nvSpPr>
        <p:spPr>
          <a:xfrm xmlns:a="http://schemas.openxmlformats.org/drawingml/2006/main">
            <a:off x="6191250" y="20002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Called</a:t>
            </a:r>
          </a:p>
        </p:txBody>
      </p:sp>
      <p:sp>
        <p:nvSpPr>
          <p:cNvPr id="30" name="">
            <a:extLst xmlns:a="http://schemas.openxmlformats.org/drawingml/2006/main">
              <a:ext uri="{FF2B5EF4-FFF2-40B4-BE49-F238E27FC236}">
                <a16:creationId xmlns:a16="http://schemas.microsoft.com/office/drawing/2014/main" id="{15F01B20-E0DA-4CBF-948D-0D6BBCABF1A4}"/>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ECD0EC95-4A58-4413-8DB5-D6368CC03263}"/>
              </a:ext>
            </a:extLst>
          </p:cNvPr>
          <p:cNvSpPr>
            <a:spLocks xmlns:a="http://schemas.openxmlformats.org/drawingml/2006/main" noGrp="1"/>
          </p:cNvSpPr>
          <p:nvPr/>
        </p:nvSpPr>
        <p:spPr>
          <a:xfrm xmlns:a="http://schemas.openxmlformats.org/drawingml/2006/main">
            <a:off x="8267700" y="2038350"/>
            <a:ext cx="2305050"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905A50AF-538A-4D05-AE45-C7383EDF2306}"/>
              </a:ext>
            </a:extLst>
          </p:cNvPr>
          <p:cNvSpPr>
            <a:spLocks xmlns:a="http://schemas.openxmlformats.org/drawingml/2006/main" noGrp="1"/>
          </p:cNvSpPr>
          <p:nvPr/>
        </p:nvSpPr>
        <p:spPr>
          <a:xfrm xmlns:a="http://schemas.openxmlformats.org/drawingml/2006/main">
            <a:off x="10629900" y="19812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17</a:t>
            </a:r>
          </a:p>
        </p:txBody>
      </p:sp>
      <p:sp>
        <p:nvSpPr>
          <p:cNvPr id="33" name="">
            <a:extLst xmlns:a="http://schemas.openxmlformats.org/drawingml/2006/main">
              <a:ext uri="{FF2B5EF4-FFF2-40B4-BE49-F238E27FC236}">
                <a16:creationId xmlns:a16="http://schemas.microsoft.com/office/drawing/2014/main" id="{B1626172-F8CE-488C-BF60-D08F9010D39D}"/>
              </a:ext>
            </a:extLst>
          </p:cNvPr>
          <p:cNvSpPr>
            <a:spLocks xmlns:a="http://schemas.openxmlformats.org/drawingml/2006/main" noGrp="1"/>
          </p:cNvSpPr>
          <p:nvPr/>
        </p:nvSpPr>
        <p:spPr>
          <a:xfrm xmlns:a="http://schemas.openxmlformats.org/drawingml/2006/main">
            <a:off x="6191250" y="24479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Waited</a:t>
            </a:r>
          </a:p>
        </p:txBody>
      </p:sp>
      <p:sp>
        <p:nvSpPr>
          <p:cNvPr id="34" name="">
            <a:extLst xmlns:a="http://schemas.openxmlformats.org/drawingml/2006/main">
              <a:ext uri="{FF2B5EF4-FFF2-40B4-BE49-F238E27FC236}">
                <a16:creationId xmlns:a16="http://schemas.microsoft.com/office/drawing/2014/main" id="{9F0F3E33-9904-4526-BF57-A6C7416E003D}"/>
              </a:ext>
            </a:extLst>
          </p:cNvPr>
          <p:cNvSpPr>
            <a:spLocks xmlns:a="http://schemas.openxmlformats.org/drawingml/2006/main" noGrp="1"/>
          </p:cNvSpPr>
          <p:nvPr/>
        </p:nvSpPr>
        <p:spPr>
          <a:xfrm xmlns:a="http://schemas.openxmlformats.org/drawingml/2006/main">
            <a:off x="8267700" y="24860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6E4F61D5-E6F4-46E5-A6F6-B574DE17A5D2}"/>
              </a:ext>
            </a:extLst>
          </p:cNvPr>
          <p:cNvSpPr>
            <a:spLocks xmlns:a="http://schemas.openxmlformats.org/drawingml/2006/main" noGrp="1"/>
          </p:cNvSpPr>
          <p:nvPr/>
        </p:nvSpPr>
        <p:spPr>
          <a:xfrm xmlns:a="http://schemas.openxmlformats.org/drawingml/2006/main">
            <a:off x="8267700" y="2486025"/>
            <a:ext cx="1220321"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84DAFFD2-A3DB-4D8A-B234-2522F0D5994E}"/>
              </a:ext>
            </a:extLst>
          </p:cNvPr>
          <p:cNvSpPr>
            <a:spLocks xmlns:a="http://schemas.openxmlformats.org/drawingml/2006/main" noGrp="1"/>
          </p:cNvSpPr>
          <p:nvPr/>
        </p:nvSpPr>
        <p:spPr>
          <a:xfrm xmlns:a="http://schemas.openxmlformats.org/drawingml/2006/main">
            <a:off x="10629900" y="24288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9</a:t>
            </a:r>
          </a:p>
        </p:txBody>
      </p:sp>
      <p:sp>
        <p:nvSpPr>
          <p:cNvPr id="37" name="">
            <a:extLst xmlns:a="http://schemas.openxmlformats.org/drawingml/2006/main">
              <a:ext uri="{FF2B5EF4-FFF2-40B4-BE49-F238E27FC236}">
                <a16:creationId xmlns:a16="http://schemas.microsoft.com/office/drawing/2014/main" id="{30A04615-FBA6-4ED0-83DB-63970F36B68B}"/>
              </a:ext>
            </a:extLst>
          </p:cNvPr>
          <p:cNvSpPr>
            <a:spLocks xmlns:a="http://schemas.openxmlformats.org/drawingml/2006/main" noGrp="1"/>
          </p:cNvSpPr>
          <p:nvPr/>
        </p:nvSpPr>
        <p:spPr>
          <a:xfrm xmlns:a="http://schemas.openxmlformats.org/drawingml/2006/main">
            <a:off x="6191250" y="289560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Moved</a:t>
            </a:r>
          </a:p>
        </p:txBody>
      </p:sp>
      <p:sp>
        <p:nvSpPr>
          <p:cNvPr id="38" name="">
            <a:extLst xmlns:a="http://schemas.openxmlformats.org/drawingml/2006/main">
              <a:ext uri="{FF2B5EF4-FFF2-40B4-BE49-F238E27FC236}">
                <a16:creationId xmlns:a16="http://schemas.microsoft.com/office/drawing/2014/main" id="{916E7F09-B15B-4DE2-82F6-A740B4692675}"/>
              </a:ext>
            </a:extLst>
          </p:cNvPr>
          <p:cNvSpPr>
            <a:spLocks xmlns:a="http://schemas.openxmlformats.org/drawingml/2006/main" noGrp="1"/>
          </p:cNvSpPr>
          <p:nvPr/>
        </p:nvSpPr>
        <p:spPr>
          <a:xfrm xmlns:a="http://schemas.openxmlformats.org/drawingml/2006/main">
            <a:off x="8267700" y="293370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A08BCEE4-C55C-4FF0-B4EA-3D1832B5E6B6}"/>
              </a:ext>
            </a:extLst>
          </p:cNvPr>
          <p:cNvSpPr>
            <a:spLocks xmlns:a="http://schemas.openxmlformats.org/drawingml/2006/main" noGrp="1"/>
          </p:cNvSpPr>
          <p:nvPr/>
        </p:nvSpPr>
        <p:spPr>
          <a:xfrm xmlns:a="http://schemas.openxmlformats.org/drawingml/2006/main">
            <a:off x="8267700" y="2933700"/>
            <a:ext cx="1084729"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550924DF-208E-4CF3-9A4D-680C9E8147CC}"/>
              </a:ext>
            </a:extLst>
          </p:cNvPr>
          <p:cNvSpPr>
            <a:spLocks xmlns:a="http://schemas.openxmlformats.org/drawingml/2006/main" noGrp="1"/>
          </p:cNvSpPr>
          <p:nvPr/>
        </p:nvSpPr>
        <p:spPr>
          <a:xfrm xmlns:a="http://schemas.openxmlformats.org/drawingml/2006/main">
            <a:off x="10629900" y="287655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8</a:t>
            </a:r>
          </a:p>
        </p:txBody>
      </p:sp>
      <p:sp>
        <p:nvSpPr>
          <p:cNvPr id="41" name="">
            <a:extLst xmlns:a="http://schemas.openxmlformats.org/drawingml/2006/main">
              <a:ext uri="{FF2B5EF4-FFF2-40B4-BE49-F238E27FC236}">
                <a16:creationId xmlns:a16="http://schemas.microsoft.com/office/drawing/2014/main" id="{C22E64CE-345E-486D-A582-CC899B0BCED7}"/>
              </a:ext>
            </a:extLst>
          </p:cNvPr>
          <p:cNvSpPr>
            <a:spLocks xmlns:a="http://schemas.openxmlformats.org/drawingml/2006/main" noGrp="1"/>
          </p:cNvSpPr>
          <p:nvPr/>
        </p:nvSpPr>
        <p:spPr>
          <a:xfrm xmlns:a="http://schemas.openxmlformats.org/drawingml/2006/main">
            <a:off x="6191250" y="334327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Messaged</a:t>
            </a:r>
          </a:p>
        </p:txBody>
      </p:sp>
      <p:sp>
        <p:nvSpPr>
          <p:cNvPr id="42" name="">
            <a:extLst xmlns:a="http://schemas.openxmlformats.org/drawingml/2006/main">
              <a:ext uri="{FF2B5EF4-FFF2-40B4-BE49-F238E27FC236}">
                <a16:creationId xmlns:a16="http://schemas.microsoft.com/office/drawing/2014/main" id="{66077279-47EF-457C-9094-0FD0D2CF52A2}"/>
              </a:ext>
            </a:extLst>
          </p:cNvPr>
          <p:cNvSpPr>
            <a:spLocks xmlns:a="http://schemas.openxmlformats.org/drawingml/2006/main" noGrp="1"/>
          </p:cNvSpPr>
          <p:nvPr/>
        </p:nvSpPr>
        <p:spPr>
          <a:xfrm xmlns:a="http://schemas.openxmlformats.org/drawingml/2006/main">
            <a:off x="8267700" y="338137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CF57603C-39A6-4D4F-A8A8-8D2D102CFF1A}"/>
              </a:ext>
            </a:extLst>
          </p:cNvPr>
          <p:cNvSpPr>
            <a:spLocks xmlns:a="http://schemas.openxmlformats.org/drawingml/2006/main" noGrp="1"/>
          </p:cNvSpPr>
          <p:nvPr/>
        </p:nvSpPr>
        <p:spPr>
          <a:xfrm xmlns:a="http://schemas.openxmlformats.org/drawingml/2006/main">
            <a:off x="8267700" y="3381375"/>
            <a:ext cx="677956"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8E924DC7-C6AF-46D3-8B72-23DC802C9A93}"/>
              </a:ext>
            </a:extLst>
          </p:cNvPr>
          <p:cNvSpPr>
            <a:spLocks xmlns:a="http://schemas.openxmlformats.org/drawingml/2006/main" noGrp="1"/>
          </p:cNvSpPr>
          <p:nvPr/>
        </p:nvSpPr>
        <p:spPr>
          <a:xfrm xmlns:a="http://schemas.openxmlformats.org/drawingml/2006/main">
            <a:off x="10629900" y="332422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5</a:t>
            </a:r>
          </a:p>
        </p:txBody>
      </p:sp>
      <p:sp>
        <p:nvSpPr>
          <p:cNvPr id="45" name="">
            <a:extLst xmlns:a="http://schemas.openxmlformats.org/drawingml/2006/main">
              <a:ext uri="{FF2B5EF4-FFF2-40B4-BE49-F238E27FC236}">
                <a16:creationId xmlns:a16="http://schemas.microsoft.com/office/drawing/2014/main" id="{58A03A47-4059-42B7-AAA8-0465242CF129}"/>
              </a:ext>
            </a:extLst>
          </p:cNvPr>
          <p:cNvSpPr>
            <a:spLocks xmlns:a="http://schemas.openxmlformats.org/drawingml/2006/main" noGrp="1"/>
          </p:cNvSpPr>
          <p:nvPr/>
        </p:nvSpPr>
        <p:spPr>
          <a:xfrm xmlns:a="http://schemas.openxmlformats.org/drawingml/2006/main">
            <a:off x="6191250" y="3790950"/>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Cancelled</a:t>
            </a:r>
          </a:p>
        </p:txBody>
      </p:sp>
      <p:sp>
        <p:nvSpPr>
          <p:cNvPr id="46" name="">
            <a:extLst xmlns:a="http://schemas.openxmlformats.org/drawingml/2006/main">
              <a:ext uri="{FF2B5EF4-FFF2-40B4-BE49-F238E27FC236}">
                <a16:creationId xmlns:a16="http://schemas.microsoft.com/office/drawing/2014/main" id="{572C3382-7A89-483A-8166-094C42327267}"/>
              </a:ext>
            </a:extLst>
          </p:cNvPr>
          <p:cNvSpPr>
            <a:spLocks xmlns:a="http://schemas.openxmlformats.org/drawingml/2006/main" noGrp="1"/>
          </p:cNvSpPr>
          <p:nvPr/>
        </p:nvSpPr>
        <p:spPr>
          <a:xfrm xmlns:a="http://schemas.openxmlformats.org/drawingml/2006/main">
            <a:off x="8267700" y="3829050"/>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0ACE340B-F69C-487F-9EFA-9CFA52D3EC87}"/>
              </a:ext>
            </a:extLst>
          </p:cNvPr>
          <p:cNvSpPr>
            <a:spLocks xmlns:a="http://schemas.openxmlformats.org/drawingml/2006/main" noGrp="1"/>
          </p:cNvSpPr>
          <p:nvPr/>
        </p:nvSpPr>
        <p:spPr>
          <a:xfrm xmlns:a="http://schemas.openxmlformats.org/drawingml/2006/main">
            <a:off x="8267700" y="3829050"/>
            <a:ext cx="542365" cy="161925"/>
          </a:xfrm>
          <a:prstGeom xmlns:a="http://schemas.openxmlformats.org/drawingml/2006/main" prst="roundRect">
            <a:avLst>
              <a:gd name="adj" fmla="val 23529"/>
            </a:avLst>
          </a:prstGeom>
          <a:solidFill xmlns:a="http://schemas.openxmlformats.org/drawingml/2006/main">
            <a:srgbClr val="F47A22"/>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700A4BEC-6A07-4155-B8C2-42E0AC944FEF}"/>
              </a:ext>
            </a:extLst>
          </p:cNvPr>
          <p:cNvSpPr>
            <a:spLocks xmlns:a="http://schemas.openxmlformats.org/drawingml/2006/main" noGrp="1"/>
          </p:cNvSpPr>
          <p:nvPr/>
        </p:nvSpPr>
        <p:spPr>
          <a:xfrm xmlns:a="http://schemas.openxmlformats.org/drawingml/2006/main">
            <a:off x="10629900" y="3771900"/>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4</a:t>
            </a:r>
          </a:p>
        </p:txBody>
      </p:sp>
      <p:sp>
        <p:nvSpPr>
          <p:cNvPr id="49" name="">
            <a:extLst xmlns:a="http://schemas.openxmlformats.org/drawingml/2006/main">
              <a:ext uri="{FF2B5EF4-FFF2-40B4-BE49-F238E27FC236}">
                <a16:creationId xmlns:a16="http://schemas.microsoft.com/office/drawing/2014/main" id="{393F1A14-FF4E-4FE6-8441-DE3804032008}"/>
              </a:ext>
            </a:extLst>
          </p:cNvPr>
          <p:cNvSpPr>
            <a:spLocks xmlns:a="http://schemas.openxmlformats.org/drawingml/2006/main" noGrp="1"/>
          </p:cNvSpPr>
          <p:nvPr/>
        </p:nvSpPr>
        <p:spPr>
          <a:xfrm xmlns:a="http://schemas.openxmlformats.org/drawingml/2006/main">
            <a:off x="6191250" y="4238625"/>
            <a:ext cx="2000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Other</a:t>
            </a:r>
          </a:p>
        </p:txBody>
      </p:sp>
      <p:sp>
        <p:nvSpPr>
          <p:cNvPr id="50" name="">
            <a:extLst xmlns:a="http://schemas.openxmlformats.org/drawingml/2006/main">
              <a:ext uri="{FF2B5EF4-FFF2-40B4-BE49-F238E27FC236}">
                <a16:creationId xmlns:a16="http://schemas.microsoft.com/office/drawing/2014/main" id="{7E0AE500-9639-44C1-BDB0-C34B0C02EA40}"/>
              </a:ext>
            </a:extLst>
          </p:cNvPr>
          <p:cNvSpPr>
            <a:spLocks xmlns:a="http://schemas.openxmlformats.org/drawingml/2006/main" noGrp="1"/>
          </p:cNvSpPr>
          <p:nvPr/>
        </p:nvSpPr>
        <p:spPr>
          <a:xfrm xmlns:a="http://schemas.openxmlformats.org/drawingml/2006/main">
            <a:off x="8267700" y="4276725"/>
            <a:ext cx="2305050" cy="161925"/>
          </a:xfrm>
          <a:prstGeom xmlns:a="http://schemas.openxmlformats.org/drawingml/2006/main" prst="roundRect">
            <a:avLst>
              <a:gd name="adj" fmla="val 23529"/>
            </a:avLst>
          </a:prstGeom>
          <a:solidFill xmlns:a="http://schemas.openxmlformats.org/drawingml/2006/main">
            <a:srgbClr val="E8ECF1"/>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68642C0D-F082-4F51-B4D1-7D4694A9C718}"/>
              </a:ext>
            </a:extLst>
          </p:cNvPr>
          <p:cNvSpPr>
            <a:spLocks xmlns:a="http://schemas.openxmlformats.org/drawingml/2006/main" noGrp="1"/>
          </p:cNvSpPr>
          <p:nvPr/>
        </p:nvSpPr>
        <p:spPr>
          <a:xfrm xmlns:a="http://schemas.openxmlformats.org/drawingml/2006/main">
            <a:off x="8267700" y="4276725"/>
            <a:ext cx="135591" cy="161925"/>
          </a:xfrm>
          <a:prstGeom xmlns:a="http://schemas.openxmlformats.org/drawingml/2006/main" prst="roundRect">
            <a:avLst>
              <a:gd name="adj" fmla="val 28099"/>
            </a:avLst>
          </a:prstGeom>
          <a:solidFill xmlns:a="http://schemas.openxmlformats.org/drawingml/2006/main">
            <a:srgbClr val="F47A22"/>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57CEF9EB-4E0C-46CC-AE28-AD791AAA0ACB}"/>
              </a:ext>
            </a:extLst>
          </p:cNvPr>
          <p:cNvSpPr>
            <a:spLocks xmlns:a="http://schemas.openxmlformats.org/drawingml/2006/main" noGrp="1"/>
          </p:cNvSpPr>
          <p:nvPr/>
        </p:nvSpPr>
        <p:spPr>
          <a:xfrm xmlns:a="http://schemas.openxmlformats.org/drawingml/2006/main">
            <a:off x="10629900" y="4219575"/>
            <a:ext cx="323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3750"/>
          </a:bodyPr>
          <a:lstStyle xmlns:a="http://schemas.openxmlformats.org/drawingml/2006/main"/>
          <a:p xmlns:a="http://schemas.openxmlformats.org/drawingml/2006/main">
            <a:pPr algn="r">
              <a:defRPr sz="1200" b="1" i="0">
                <a:solidFill>
                  <a:srgbClr val="233248"/>
                </a:solidFill>
                <a:latin typeface="Calibri"/>
                <a:ea typeface="Calibri"/>
                <a:cs typeface="Calibri"/>
              </a:defRPr>
            </a:pPr>
            <a:r>
              <a:rPr sz="1200" b="1" i="0">
                <a:solidFill>
                  <a:srgbClr val="233248"/>
                </a:solidFill>
                <a:latin typeface="Calibri"/>
                <a:ea typeface="Calibri"/>
                <a:cs typeface="Calibri"/>
              </a:rPr>
              <a:t>1</a:t>
            </a:r>
          </a:p>
        </p:txBody>
      </p:sp>
      <p:sp>
        <p:nvSpPr>
          <p:cNvPr id="53" name="">
            <a:extLst xmlns:a="http://schemas.openxmlformats.org/drawingml/2006/main">
              <a:ext uri="{FF2B5EF4-FFF2-40B4-BE49-F238E27FC236}">
                <a16:creationId xmlns:a16="http://schemas.microsoft.com/office/drawing/2014/main" id="{F3DE39E5-928A-475D-91FA-118DE217ED53}"/>
              </a:ext>
            </a:extLst>
          </p:cNvPr>
          <p:cNvSpPr>
            <a:spLocks xmlns:a="http://schemas.openxmlformats.org/drawingml/2006/main" noGrp="1"/>
          </p:cNvSpPr>
          <p:nvPr/>
        </p:nvSpPr>
        <p:spPr>
          <a:xfrm xmlns:a="http://schemas.openxmlformats.org/drawingml/2006/main">
            <a:off x="514350" y="4914900"/>
            <a:ext cx="10439400" cy="1009650"/>
          </a:xfrm>
          <a:prstGeom xmlns:a="http://schemas.openxmlformats.org/drawingml/2006/main" prst="roundRect">
            <a:avLst>
              <a:gd name="adj" fmla="val 5660"/>
            </a:avLst>
          </a:prstGeom>
          <a:solidFill xmlns:a="http://schemas.openxmlformats.org/drawingml/2006/main">
            <a:srgbClr val="1B2B4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022D9A2F-9654-4A3E-B1FE-4FB088D217FE}"/>
              </a:ext>
            </a:extLst>
          </p:cNvPr>
          <p:cNvSpPr>
            <a:spLocks xmlns:a="http://schemas.openxmlformats.org/drawingml/2006/main" noGrp="1"/>
          </p:cNvSpPr>
          <p:nvPr/>
        </p:nvSpPr>
        <p:spPr>
          <a:xfrm xmlns:a="http://schemas.openxmlformats.org/drawingml/2006/main">
            <a:off x="742950" y="5133975"/>
            <a:ext cx="9982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650" b="0" i="0">
                <a:solidFill>
                  <a:srgbClr val="FFFFFF"/>
                </a:solidFill>
                <a:latin typeface="Calibri"/>
                <a:ea typeface="Calibri"/>
                <a:cs typeface="Calibri"/>
              </a:defRPr>
            </a:pPr>
            <a:r>
              <a:rPr sz="1650" b="0" i="0">
                <a:solidFill>
                  <a:srgbClr val="FFFFFF"/>
                </a:solidFill>
                <a:latin typeface="Calibri"/>
                <a:ea typeface="Calibri"/>
                <a:cs typeface="Calibri"/>
              </a:rPr>
              <a:t>The app often hands the last physical coordination step back to the rider and driver. Calls work often — but they add effort and do not provide a reliable fallback when coordination still fails.</a:t>
            </a:r>
          </a:p>
        </p:txBody>
      </p:sp>
      <p:sp>
        <p:nvSpPr>
          <p:cNvPr id="55" name="">
            <a:extLst xmlns:a="http://schemas.openxmlformats.org/drawingml/2006/main">
              <a:ext uri="{FF2B5EF4-FFF2-40B4-BE49-F238E27FC236}">
                <a16:creationId xmlns:a16="http://schemas.microsoft.com/office/drawing/2014/main" id="{04A8764C-FB10-47A4-A8B4-5E6F512DA9CB}"/>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56" name="">
            <a:extLst xmlns:a="http://schemas.openxmlformats.org/drawingml/2006/main">
              <a:ext uri="{FF2B5EF4-FFF2-40B4-BE49-F238E27FC236}">
                <a16:creationId xmlns:a16="http://schemas.microsoft.com/office/drawing/2014/main" id="{4447927A-C6E4-4F1D-B874-5E9102859171}"/>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8</a:t>
            </a:r>
          </a:p>
        </p:txBody>
      </p:sp>
    </p:spTree>
    <p:extLst>
      <p:ext uri="{BB962C8B-B14F-4D97-AF65-F5344CB8AC3E}">
        <p14:creationId xmlns:p14="http://schemas.microsoft.com/office/powerpoint/2010/main" val="1298493386"/>
      </p:ext>
    </p:extLst>
  </p:cSld>
</p:sld>
</file>

<file path=ppt/slides/slide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7202EF7-0E86-4E89-A3AA-422BDD93A236}"/>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STRATEGY IMPLICATION</a:t>
            </a:r>
          </a:p>
        </p:txBody>
      </p:sp>
      <p:sp>
        <p:nvSpPr>
          <p:cNvPr id="2" name="">
            <a:extLst xmlns:a="http://schemas.openxmlformats.org/drawingml/2006/main">
              <a:ext uri="{FF2B5EF4-FFF2-40B4-BE49-F238E27FC236}">
                <a16:creationId xmlns:a16="http://schemas.microsoft.com/office/drawing/2014/main" id="{971D9578-A629-4983-91F6-5307E774730A}"/>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Make the fallback faster — not the map more complicated</a:t>
            </a:r>
          </a:p>
        </p:txBody>
      </p:sp>
      <p:sp>
        <p:nvSpPr>
          <p:cNvPr id="3" name="">
            <a:extLst xmlns:a="http://schemas.openxmlformats.org/drawingml/2006/main">
              <a:ext uri="{FF2B5EF4-FFF2-40B4-BE49-F238E27FC236}">
                <a16:creationId xmlns:a16="http://schemas.microsoft.com/office/drawing/2014/main" id="{85402473-22F0-47E6-9245-D6CF185196A5}"/>
              </a:ext>
            </a:extLst>
          </p:cNvPr>
          <p:cNvSpPr>
            <a:spLocks xmlns:a="http://schemas.openxmlformats.org/drawingml/2006/main" noGrp="1"/>
          </p:cNvSpPr>
          <p:nvPr/>
        </p:nvSpPr>
        <p:spPr>
          <a:xfrm xmlns:a="http://schemas.openxmlformats.org/drawingml/2006/main">
            <a:off x="514350" y="1619250"/>
            <a:ext cx="10439400" cy="1104900"/>
          </a:xfrm>
          <a:prstGeom xmlns:a="http://schemas.openxmlformats.org/drawingml/2006/main" prst="roundRect">
            <a:avLst>
              <a:gd name="adj" fmla="val 5172"/>
            </a:avLst>
          </a:prstGeom>
          <a:solidFill xmlns:a="http://schemas.openxmlformats.org/drawingml/2006/main">
            <a:srgbClr val="E2F4F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4CCF955-16C4-46B1-A45C-012518729CBD}"/>
              </a:ext>
            </a:extLst>
          </p:cNvPr>
          <p:cNvSpPr>
            <a:spLocks xmlns:a="http://schemas.openxmlformats.org/drawingml/2006/main" noGrp="1"/>
          </p:cNvSpPr>
          <p:nvPr/>
        </p:nvSpPr>
        <p:spPr>
          <a:xfrm xmlns:a="http://schemas.openxmlformats.org/drawingml/2006/main">
            <a:off x="704850" y="17716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Recommended direction</a:t>
            </a:r>
          </a:p>
        </p:txBody>
      </p:sp>
      <p:sp>
        <p:nvSpPr>
          <p:cNvPr id="5" name="">
            <a:extLst xmlns:a="http://schemas.openxmlformats.org/drawingml/2006/main">
              <a:ext uri="{FF2B5EF4-FFF2-40B4-BE49-F238E27FC236}">
                <a16:creationId xmlns:a16="http://schemas.microsoft.com/office/drawing/2014/main" id="{A81FC7FB-AE3E-4442-8AAB-D8CE51954ADE}"/>
              </a:ext>
            </a:extLst>
          </p:cNvPr>
          <p:cNvSpPr>
            <a:spLocks xmlns:a="http://schemas.openxmlformats.org/drawingml/2006/main" noGrp="1"/>
          </p:cNvSpPr>
          <p:nvPr/>
        </p:nvSpPr>
        <p:spPr>
          <a:xfrm xmlns:a="http://schemas.openxmlformats.org/drawingml/2006/main">
            <a:off x="704850" y="2114550"/>
            <a:ext cx="998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7805"/>
          </a:bodyPr>
          <a:lstStyle xmlns:a="http://schemas.openxmlformats.org/drawingml/2006/main"/>
          <a:p xmlns:a="http://schemas.openxmlformats.org/drawingml/2006/main">
            <a:pPr algn="l">
              <a:defRPr sz="2025" b="1" i="0">
                <a:solidFill>
                  <a:srgbClr val="1B2B45"/>
                </a:solidFill>
                <a:latin typeface="Calibri"/>
                <a:ea typeface="Calibri"/>
                <a:cs typeface="Calibri"/>
              </a:defRPr>
            </a:pPr>
            <a:r>
              <a:rPr sz="2025" b="1" i="0">
                <a:solidFill>
                  <a:srgbClr val="1B2B45"/>
                </a:solidFill>
                <a:latin typeface="Calibri"/>
                <a:ea typeface="Calibri"/>
                <a:cs typeface="Calibri"/>
              </a:rPr>
              <a:t>Reduce the effort and uncertainty of manual pickup recovery at a defined set of complex location types.</a:t>
            </a:r>
          </a:p>
        </p:txBody>
      </p:sp>
      <p:sp>
        <p:nvSpPr>
          <p:cNvPr id="6" name="">
            <a:extLst xmlns:a="http://schemas.openxmlformats.org/drawingml/2006/main">
              <a:ext uri="{FF2B5EF4-FFF2-40B4-BE49-F238E27FC236}">
                <a16:creationId xmlns:a16="http://schemas.microsoft.com/office/drawing/2014/main" id="{59BC9D55-BFDC-4FD4-A4BC-CE7B5F896992}"/>
              </a:ext>
            </a:extLst>
          </p:cNvPr>
          <p:cNvSpPr>
            <a:spLocks xmlns:a="http://schemas.openxmlformats.org/drawingml/2006/main" noGrp="1"/>
          </p:cNvSpPr>
          <p:nvPr/>
        </p:nvSpPr>
        <p:spPr>
          <a:xfrm xmlns:a="http://schemas.openxmlformats.org/drawingml/2006/main">
            <a:off x="514350" y="3009900"/>
            <a:ext cx="4953000" cy="2019300"/>
          </a:xfrm>
          <a:prstGeom xmlns:a="http://schemas.openxmlformats.org/drawingml/2006/main" prst="roundRect">
            <a:avLst>
              <a:gd name="adj" fmla="val 2830"/>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F5E8E039-7BF6-4677-8928-768C2ED41F49}"/>
              </a:ext>
            </a:extLst>
          </p:cNvPr>
          <p:cNvSpPr>
            <a:spLocks xmlns:a="http://schemas.openxmlformats.org/drawingml/2006/main" noGrp="1"/>
          </p:cNvSpPr>
          <p:nvPr/>
        </p:nvSpPr>
        <p:spPr>
          <a:xfrm xmlns:a="http://schemas.openxmlformats.org/drawingml/2006/main">
            <a:off x="666750" y="312420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TEST ORDER</a:t>
            </a:r>
          </a:p>
        </p:txBody>
      </p:sp>
      <p:sp>
        <p:nvSpPr>
          <p:cNvPr id="8" name="">
            <a:extLst xmlns:a="http://schemas.openxmlformats.org/drawingml/2006/main">
              <a:ext uri="{FF2B5EF4-FFF2-40B4-BE49-F238E27FC236}">
                <a16:creationId xmlns:a16="http://schemas.microsoft.com/office/drawing/2014/main" id="{A0C5FBF9-F7E7-4EF8-B386-6B5E63DBDE07}"/>
              </a:ext>
            </a:extLst>
          </p:cNvPr>
          <p:cNvSpPr>
            <a:spLocks xmlns:a="http://schemas.openxmlformats.org/drawingml/2006/main" noGrp="1"/>
          </p:cNvSpPr>
          <p:nvPr/>
        </p:nvSpPr>
        <p:spPr>
          <a:xfrm xmlns:a="http://schemas.openxmlformats.org/drawingml/2006/main">
            <a:off x="666750" y="3457575"/>
            <a:ext cx="46482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P0 · Structured pre-arrival meeting note</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P1 · Guided stalled-pickup recovery</a:t>
            </a:r>
          </a:p>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P2 · Venue-specific coordination information</a:t>
            </a:r>
          </a:p>
        </p:txBody>
      </p:sp>
      <p:sp>
        <p:nvSpPr>
          <p:cNvPr id="9" name="">
            <a:extLst xmlns:a="http://schemas.openxmlformats.org/drawingml/2006/main">
              <a:ext uri="{FF2B5EF4-FFF2-40B4-BE49-F238E27FC236}">
                <a16:creationId xmlns:a16="http://schemas.microsoft.com/office/drawing/2014/main" id="{D01E5B8A-4498-4E2E-8A7C-843694413991}"/>
              </a:ext>
            </a:extLst>
          </p:cNvPr>
          <p:cNvSpPr>
            <a:spLocks xmlns:a="http://schemas.openxmlformats.org/drawingml/2006/main" noGrp="1"/>
          </p:cNvSpPr>
          <p:nvPr/>
        </p:nvSpPr>
        <p:spPr>
          <a:xfrm xmlns:a="http://schemas.openxmlformats.org/drawingml/2006/main">
            <a:off x="5810250" y="3009900"/>
            <a:ext cx="5143500" cy="2019300"/>
          </a:xfrm>
          <a:prstGeom xmlns:a="http://schemas.openxmlformats.org/drawingml/2006/main" prst="roundRect">
            <a:avLst>
              <a:gd name="adj" fmla="val 2830"/>
            </a:avLst>
          </a:prstGeom>
          <a:solidFill xmlns:a="http://schemas.openxmlformats.org/drawingml/2006/main">
            <a:srgbClr val="FBE7D8"/>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A042623B-D92B-4AB6-AE71-50D5BEA287F8}"/>
              </a:ext>
            </a:extLst>
          </p:cNvPr>
          <p:cNvSpPr>
            <a:spLocks xmlns:a="http://schemas.openxmlformats.org/drawingml/2006/main" noGrp="1"/>
          </p:cNvSpPr>
          <p:nvPr/>
        </p:nvSpPr>
        <p:spPr>
          <a:xfrm xmlns:a="http://schemas.openxmlformats.org/drawingml/2006/main">
            <a:off x="5962650" y="312420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DO NOT</a:t>
            </a:r>
          </a:p>
        </p:txBody>
      </p:sp>
      <p:sp>
        <p:nvSpPr>
          <p:cNvPr id="11" name="">
            <a:extLst xmlns:a="http://schemas.openxmlformats.org/drawingml/2006/main">
              <a:ext uri="{FF2B5EF4-FFF2-40B4-BE49-F238E27FC236}">
                <a16:creationId xmlns:a16="http://schemas.microsoft.com/office/drawing/2014/main" id="{9899E58E-7140-4E66-B824-1F222FB085D7}"/>
              </a:ext>
            </a:extLst>
          </p:cNvPr>
          <p:cNvSpPr>
            <a:spLocks xmlns:a="http://schemas.openxmlformats.org/drawingml/2006/main" noGrp="1"/>
          </p:cNvSpPr>
          <p:nvPr/>
        </p:nvSpPr>
        <p:spPr>
          <a:xfrm xmlns:a="http://schemas.openxmlformats.org/drawingml/2006/main">
            <a:off x="5962650" y="3457575"/>
            <a:ext cx="48387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233248"/>
                </a:solidFill>
                <a:latin typeface="Calibri"/>
                <a:ea typeface="Calibri"/>
                <a:cs typeface="Calibri"/>
              </a:defRPr>
            </a:pPr>
            <a:r>
              <a:rPr sz="1725" b="0" i="0">
                <a:solidFill>
                  <a:srgbClr val="233248"/>
                </a:solidFill>
                <a:latin typeface="Calibri"/>
                <a:ea typeface="Calibri"/>
                <a:cs typeface="Calibri"/>
              </a:rPr>
              <a:t>Do not add friction to every ride, position this as an airport-only problem, or treat all cancellations as map failures.</a:t>
            </a:r>
          </a:p>
        </p:txBody>
      </p:sp>
      <p:sp>
        <p:nvSpPr>
          <p:cNvPr id="12" name="">
            <a:extLst xmlns:a="http://schemas.openxmlformats.org/drawingml/2006/main">
              <a:ext uri="{FF2B5EF4-FFF2-40B4-BE49-F238E27FC236}">
                <a16:creationId xmlns:a16="http://schemas.microsoft.com/office/drawing/2014/main" id="{5A85C680-493C-4F0C-A923-85D4D03D9658}"/>
              </a:ext>
            </a:extLst>
          </p:cNvPr>
          <p:cNvSpPr>
            <a:spLocks xmlns:a="http://schemas.openxmlformats.org/drawingml/2006/main" noGrp="1"/>
          </p:cNvSpPr>
          <p:nvPr/>
        </p:nvSpPr>
        <p:spPr>
          <a:xfrm xmlns:a="http://schemas.openxmlformats.org/drawingml/2006/main">
            <a:off x="514350" y="5314950"/>
            <a:ext cx="1043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88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Biggest open risk: driver evidence and marketplace economics are too thin to support a two-sided rollout decision.</a:t>
            </a:r>
          </a:p>
        </p:txBody>
      </p:sp>
      <p:sp>
        <p:nvSpPr>
          <p:cNvPr id="13" name="">
            <a:extLst xmlns:a="http://schemas.openxmlformats.org/drawingml/2006/main">
              <a:ext uri="{FF2B5EF4-FFF2-40B4-BE49-F238E27FC236}">
                <a16:creationId xmlns:a16="http://schemas.microsoft.com/office/drawing/2014/main" id="{654D4F62-7471-4CF7-83E4-2B7D4C761A84}"/>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4" name="">
            <a:extLst xmlns:a="http://schemas.openxmlformats.org/drawingml/2006/main">
              <a:ext uri="{FF2B5EF4-FFF2-40B4-BE49-F238E27FC236}">
                <a16:creationId xmlns:a16="http://schemas.microsoft.com/office/drawing/2014/main" id="{5F6BE068-DC81-4860-8204-9F586F4A3E77}"/>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9</a:t>
            </a:r>
          </a:p>
        </p:txBody>
      </p:sp>
    </p:spTree>
    <p:extLst>
      <p:ext uri="{BB962C8B-B14F-4D97-AF65-F5344CB8AC3E}">
        <p14:creationId xmlns:p14="http://schemas.microsoft.com/office/powerpoint/2010/main" val="114826366"/>
      </p:ext>
    </p:extLst>
  </p:cSld>
</p:sld>
</file>

<file path=ppt/slides/slide1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2C23CA0-E755-4ED0-BAD3-374FEADC8EF0}"/>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RESEARCH-LED IDEA · P0</a:t>
            </a:r>
          </a:p>
        </p:txBody>
      </p:sp>
      <p:sp>
        <p:nvSpPr>
          <p:cNvPr id="2" name="">
            <a:extLst xmlns:a="http://schemas.openxmlformats.org/drawingml/2006/main">
              <a:ext uri="{FF2B5EF4-FFF2-40B4-BE49-F238E27FC236}">
                <a16:creationId xmlns:a16="http://schemas.microsoft.com/office/drawing/2014/main" id="{50D493E9-7F61-4059-BE67-8F5FC067D624}"/>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Structured pre-arrival meeting note</a:t>
            </a:r>
          </a:p>
        </p:txBody>
      </p:sp>
      <p:sp>
        <p:nvSpPr>
          <p:cNvPr id="3" name="">
            <a:extLst xmlns:a="http://schemas.openxmlformats.org/drawingml/2006/main">
              <a:ext uri="{FF2B5EF4-FFF2-40B4-BE49-F238E27FC236}">
                <a16:creationId xmlns:a16="http://schemas.microsoft.com/office/drawing/2014/main" id="{662FAEA2-1A1D-45C7-BC6C-29C872B8EFC6}"/>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Strongest first test because it formalizes an existing user-created workaround.</a:t>
            </a:r>
          </a:p>
        </p:txBody>
      </p:sp>
      <p:sp>
        <p:nvSpPr>
          <p:cNvPr id="4" name="">
            <a:extLst xmlns:a="http://schemas.openxmlformats.org/drawingml/2006/main">
              <a:ext uri="{FF2B5EF4-FFF2-40B4-BE49-F238E27FC236}">
                <a16:creationId xmlns:a16="http://schemas.microsoft.com/office/drawing/2014/main" id="{A272D55C-29BC-4D5C-898F-D63C90066E39}"/>
              </a:ext>
            </a:extLst>
          </p:cNvPr>
          <p:cNvSpPr>
            <a:spLocks xmlns:a="http://schemas.openxmlformats.org/drawingml/2006/main" noGrp="1"/>
          </p:cNvSpPr>
          <p:nvPr/>
        </p:nvSpPr>
        <p:spPr>
          <a:xfrm xmlns:a="http://schemas.openxmlformats.org/drawingml/2006/main">
            <a:off x="514350" y="165735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5" name="">
            <a:extLst xmlns:a="http://schemas.openxmlformats.org/drawingml/2006/main">
              <a:ext uri="{FF2B5EF4-FFF2-40B4-BE49-F238E27FC236}">
                <a16:creationId xmlns:a16="http://schemas.microsoft.com/office/drawing/2014/main" id="{443C9AD7-3BBE-402C-9B77-1BDD016DEC03}"/>
              </a:ext>
            </a:extLst>
          </p:cNvPr>
          <p:cNvSpPr>
            <a:spLocks xmlns:a="http://schemas.openxmlformats.org/drawingml/2006/main" noGrp="1"/>
          </p:cNvSpPr>
          <p:nvPr/>
        </p:nvSpPr>
        <p:spPr>
          <a:xfrm xmlns:a="http://schemas.openxmlformats.org/drawingml/2006/main">
            <a:off x="666750" y="17716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TRIGGER</a:t>
            </a:r>
          </a:p>
        </p:txBody>
      </p:sp>
      <p:sp>
        <p:nvSpPr>
          <p:cNvPr id="6" name="">
            <a:extLst xmlns:a="http://schemas.openxmlformats.org/drawingml/2006/main">
              <a:ext uri="{FF2B5EF4-FFF2-40B4-BE49-F238E27FC236}">
                <a16:creationId xmlns:a16="http://schemas.microsoft.com/office/drawing/2014/main" id="{8444D4EE-42AB-49AA-A8DF-9906A92A3A00}"/>
              </a:ext>
            </a:extLst>
          </p:cNvPr>
          <p:cNvSpPr>
            <a:spLocks xmlns:a="http://schemas.openxmlformats.org/drawingml/2006/main" noGrp="1"/>
          </p:cNvSpPr>
          <p:nvPr/>
        </p:nvSpPr>
        <p:spPr>
          <a:xfrm xmlns:a="http://schemas.openxmlformats.org/drawingml/2006/main">
            <a:off x="666750" y="210502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Only at flagged complex pickup locations, a few minutes before driver arrival.</a:t>
            </a:r>
          </a:p>
        </p:txBody>
      </p:sp>
      <p:sp>
        <p:nvSpPr>
          <p:cNvPr id="7" name="">
            <a:extLst xmlns:a="http://schemas.openxmlformats.org/drawingml/2006/main">
              <a:ext uri="{FF2B5EF4-FFF2-40B4-BE49-F238E27FC236}">
                <a16:creationId xmlns:a16="http://schemas.microsoft.com/office/drawing/2014/main" id="{4A001760-827E-451D-A25A-59CF4DE0BB5E}"/>
              </a:ext>
            </a:extLst>
          </p:cNvPr>
          <p:cNvSpPr>
            <a:spLocks xmlns:a="http://schemas.openxmlformats.org/drawingml/2006/main" noGrp="1"/>
          </p:cNvSpPr>
          <p:nvPr/>
        </p:nvSpPr>
        <p:spPr>
          <a:xfrm xmlns:a="http://schemas.openxmlformats.org/drawingml/2006/main">
            <a:off x="514350" y="3238500"/>
            <a:ext cx="4972050" cy="14287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E8ECF1"/>
            </a:solidFill>
            <a:prstDash val="solid"/>
          </a:ln>
        </p:spPr>
      </p:sp>
      <p:sp>
        <p:nvSpPr>
          <p:cNvPr id="8" name="">
            <a:extLst xmlns:a="http://schemas.openxmlformats.org/drawingml/2006/main">
              <a:ext uri="{FF2B5EF4-FFF2-40B4-BE49-F238E27FC236}">
                <a16:creationId xmlns:a16="http://schemas.microsoft.com/office/drawing/2014/main" id="{7F8CEB64-FF77-4417-9E78-8B512FA2BF40}"/>
              </a:ext>
            </a:extLst>
          </p:cNvPr>
          <p:cNvSpPr>
            <a:spLocks xmlns:a="http://schemas.openxmlformats.org/drawingml/2006/main" noGrp="1"/>
          </p:cNvSpPr>
          <p:nvPr/>
        </p:nvSpPr>
        <p:spPr>
          <a:xfrm xmlns:a="http://schemas.openxmlformats.org/drawingml/2006/main">
            <a:off x="666750" y="335280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ACTION</a:t>
            </a:r>
          </a:p>
        </p:txBody>
      </p:sp>
      <p:sp>
        <p:nvSpPr>
          <p:cNvPr id="9" name="">
            <a:extLst xmlns:a="http://schemas.openxmlformats.org/drawingml/2006/main">
              <a:ext uri="{FF2B5EF4-FFF2-40B4-BE49-F238E27FC236}">
                <a16:creationId xmlns:a16="http://schemas.microsoft.com/office/drawing/2014/main" id="{FA742ECE-BEE8-4CD0-B4C7-4B30815D44B6}"/>
              </a:ext>
            </a:extLst>
          </p:cNvPr>
          <p:cNvSpPr>
            <a:spLocks xmlns:a="http://schemas.openxmlformats.org/drawingml/2006/main" noGrp="1"/>
          </p:cNvSpPr>
          <p:nvPr/>
        </p:nvSpPr>
        <p:spPr>
          <a:xfrm xmlns:a="http://schemas.openxmlformats.org/drawingml/2006/main">
            <a:off x="666750" y="3686175"/>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Prompt one concise handoff: gate or side, landmark, and waiting spot — reusable where appropriate.</a:t>
            </a:r>
          </a:p>
        </p:txBody>
      </p:sp>
      <p:sp>
        <p:nvSpPr>
          <p:cNvPr id="10" name="">
            <a:extLst xmlns:a="http://schemas.openxmlformats.org/drawingml/2006/main">
              <a:ext uri="{FF2B5EF4-FFF2-40B4-BE49-F238E27FC236}">
                <a16:creationId xmlns:a16="http://schemas.microsoft.com/office/drawing/2014/main" id="{43B0EBA3-7E60-4E5A-A10C-B5CE914798F4}"/>
              </a:ext>
            </a:extLst>
          </p:cNvPr>
          <p:cNvSpPr>
            <a:spLocks xmlns:a="http://schemas.openxmlformats.org/drawingml/2006/main" noGrp="1"/>
          </p:cNvSpPr>
          <p:nvPr/>
        </p:nvSpPr>
        <p:spPr>
          <a:xfrm xmlns:a="http://schemas.openxmlformats.org/drawingml/2006/main">
            <a:off x="5829300" y="1657350"/>
            <a:ext cx="5124450" cy="1428750"/>
          </a:xfrm>
          <a:prstGeom xmlns:a="http://schemas.openxmlformats.org/drawingml/2006/main" prst="roundRect">
            <a:avLst>
              <a:gd name="adj" fmla="val 4000"/>
            </a:avLst>
          </a:prstGeom>
          <a:solidFill xmlns:a="http://schemas.openxmlformats.org/drawingml/2006/main">
            <a:srgbClr val="E2F4F6"/>
          </a:solidFill>
          <a:ln xmlns:a="http://schemas.openxmlformats.org/drawingml/2006/main" w="9525">
            <a:solidFill>
              <a:srgbClr val="E8ECF1"/>
            </a:solidFill>
            <a:prstDash val="solid"/>
          </a:ln>
        </p:spPr>
      </p:sp>
      <p:sp>
        <p:nvSpPr>
          <p:cNvPr id="11" name="">
            <a:extLst xmlns:a="http://schemas.openxmlformats.org/drawingml/2006/main">
              <a:ext uri="{FF2B5EF4-FFF2-40B4-BE49-F238E27FC236}">
                <a16:creationId xmlns:a16="http://schemas.microsoft.com/office/drawing/2014/main" id="{475A8999-9AB4-4C84-85A5-8A0E8EAE237D}"/>
              </a:ext>
            </a:extLst>
          </p:cNvPr>
          <p:cNvSpPr>
            <a:spLocks xmlns:a="http://schemas.openxmlformats.org/drawingml/2006/main" noGrp="1"/>
          </p:cNvSpPr>
          <p:nvPr/>
        </p:nvSpPr>
        <p:spPr>
          <a:xfrm xmlns:a="http://schemas.openxmlformats.org/drawingml/2006/main">
            <a:off x="5981700" y="177165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WHY THIS FIRST</a:t>
            </a:r>
          </a:p>
        </p:txBody>
      </p:sp>
      <p:sp>
        <p:nvSpPr>
          <p:cNvPr id="12" name="">
            <a:extLst xmlns:a="http://schemas.openxmlformats.org/drawingml/2006/main">
              <a:ext uri="{FF2B5EF4-FFF2-40B4-BE49-F238E27FC236}">
                <a16:creationId xmlns:a16="http://schemas.microsoft.com/office/drawing/2014/main" id="{0AD8268D-1B8D-48D5-B6BB-E2CED3268F65}"/>
              </a:ext>
            </a:extLst>
          </p:cNvPr>
          <p:cNvSpPr>
            <a:spLocks xmlns:a="http://schemas.openxmlformats.org/drawingml/2006/main" noGrp="1"/>
          </p:cNvSpPr>
          <p:nvPr/>
        </p:nvSpPr>
        <p:spPr>
          <a:xfrm xmlns:a="http://schemas.openxmlformats.org/drawingml/2006/main">
            <a:off x="5981700" y="210502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Calls/messages helped in 20 of 28 issue cases. R061 already sends these details manually — and reported no pickup difficulty.</a:t>
            </a:r>
          </a:p>
        </p:txBody>
      </p:sp>
      <p:sp>
        <p:nvSpPr>
          <p:cNvPr id="13" name="">
            <a:extLst xmlns:a="http://schemas.openxmlformats.org/drawingml/2006/main">
              <a:ext uri="{FF2B5EF4-FFF2-40B4-BE49-F238E27FC236}">
                <a16:creationId xmlns:a16="http://schemas.microsoft.com/office/drawing/2014/main" id="{4B8E925E-BD71-4718-AB3A-5692E07F9A0E}"/>
              </a:ext>
            </a:extLst>
          </p:cNvPr>
          <p:cNvSpPr>
            <a:spLocks xmlns:a="http://schemas.openxmlformats.org/drawingml/2006/main" noGrp="1"/>
          </p:cNvSpPr>
          <p:nvPr/>
        </p:nvSpPr>
        <p:spPr>
          <a:xfrm xmlns:a="http://schemas.openxmlformats.org/drawingml/2006/main">
            <a:off x="5829300" y="3238500"/>
            <a:ext cx="5124450" cy="1428750"/>
          </a:xfrm>
          <a:prstGeom xmlns:a="http://schemas.openxmlformats.org/drawingml/2006/main" prst="roundRect">
            <a:avLst>
              <a:gd name="adj" fmla="val 4000"/>
            </a:avLst>
          </a:prstGeom>
          <a:solidFill xmlns:a="http://schemas.openxmlformats.org/drawingml/2006/main">
            <a:srgbClr val="FBE7D8"/>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0CE0C322-A299-4C24-BA8C-F3E45EE1323F}"/>
              </a:ext>
            </a:extLst>
          </p:cNvPr>
          <p:cNvSpPr>
            <a:spLocks xmlns:a="http://schemas.openxmlformats.org/drawingml/2006/main" noGrp="1"/>
          </p:cNvSpPr>
          <p:nvPr/>
        </p:nvSpPr>
        <p:spPr>
          <a:xfrm xmlns:a="http://schemas.openxmlformats.org/drawingml/2006/main">
            <a:off x="5981700" y="3352800"/>
            <a:ext cx="481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TEST</a:t>
            </a:r>
          </a:p>
        </p:txBody>
      </p:sp>
      <p:sp>
        <p:nvSpPr>
          <p:cNvPr id="15" name="">
            <a:extLst xmlns:a="http://schemas.openxmlformats.org/drawingml/2006/main">
              <a:ext uri="{FF2B5EF4-FFF2-40B4-BE49-F238E27FC236}">
                <a16:creationId xmlns:a16="http://schemas.microsoft.com/office/drawing/2014/main" id="{D7B9DA4D-889F-4490-B76C-B1C410CE1F9F}"/>
              </a:ext>
            </a:extLst>
          </p:cNvPr>
          <p:cNvSpPr>
            <a:spLocks xmlns:a="http://schemas.openxmlformats.org/drawingml/2006/main" noGrp="1"/>
          </p:cNvSpPr>
          <p:nvPr/>
        </p:nvSpPr>
        <p:spPr>
          <a:xfrm xmlns:a="http://schemas.openxmlformats.org/drawingml/2006/main">
            <a:off x="5981700" y="3686175"/>
            <a:ext cx="48196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75" b="0" i="0">
                <a:solidFill>
                  <a:srgbClr val="233248"/>
                </a:solidFill>
                <a:latin typeface="Calibri"/>
                <a:ea typeface="Calibri"/>
                <a:cs typeface="Calibri"/>
              </a:defRPr>
            </a:pPr>
            <a:r>
              <a:rPr sz="1575" b="0" i="0">
                <a:solidFill>
                  <a:srgbClr val="233248"/>
                </a:solidFill>
                <a:latin typeface="Calibri"/>
                <a:ea typeface="Calibri"/>
                <a:cs typeface="Calibri"/>
              </a:rPr>
              <a:t>At comparable flagged locations, compare reactive call/message rate, arrived-to-trip-start dwell, location changes, and cancellations.</a:t>
            </a:r>
          </a:p>
        </p:txBody>
      </p:sp>
      <p:sp>
        <p:nvSpPr>
          <p:cNvPr id="16" name="">
            <a:extLst xmlns:a="http://schemas.openxmlformats.org/drawingml/2006/main">
              <a:ext uri="{FF2B5EF4-FFF2-40B4-BE49-F238E27FC236}">
                <a16:creationId xmlns:a16="http://schemas.microsoft.com/office/drawing/2014/main" id="{C7B62E1C-93BC-46B0-8517-C8976A5FC4AD}"/>
              </a:ext>
            </a:extLst>
          </p:cNvPr>
          <p:cNvSpPr>
            <a:spLocks xmlns:a="http://schemas.openxmlformats.org/drawingml/2006/main" noGrp="1"/>
          </p:cNvSpPr>
          <p:nvPr/>
        </p:nvSpPr>
        <p:spPr>
          <a:xfrm xmlns:a="http://schemas.openxmlformats.org/drawingml/2006/main">
            <a:off x="514350" y="4972050"/>
            <a:ext cx="10439400" cy="876300"/>
          </a:xfrm>
          <a:prstGeom xmlns:a="http://schemas.openxmlformats.org/drawingml/2006/main" prst="roundRect">
            <a:avLst>
              <a:gd name="adj" fmla="val 6522"/>
            </a:avLst>
          </a:prstGeom>
          <a:solidFill xmlns:a="http://schemas.openxmlformats.org/drawingml/2006/main">
            <a:srgbClr val="1B2B4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2F37C8B-DCB5-42C0-BCC0-2374A98EC694}"/>
              </a:ext>
            </a:extLst>
          </p:cNvPr>
          <p:cNvSpPr>
            <a:spLocks xmlns:a="http://schemas.openxmlformats.org/drawingml/2006/main" noGrp="1"/>
          </p:cNvSpPr>
          <p:nvPr/>
        </p:nvSpPr>
        <p:spPr>
          <a:xfrm xmlns:a="http://schemas.openxmlformats.org/drawingml/2006/main">
            <a:off x="704850" y="5172075"/>
            <a:ext cx="10058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800" b="0" i="1">
                <a:solidFill>
                  <a:srgbClr val="FFFFFF"/>
                </a:solidFill>
                <a:latin typeface="Calibri"/>
                <a:ea typeface="Calibri"/>
                <a:cs typeface="Calibri"/>
              </a:defRPr>
            </a:pPr>
            <a:r>
              <a:rPr sz="1800" b="0" i="1">
                <a:solidFill>
                  <a:srgbClr val="FFFFFF"/>
                </a:solidFill>
                <a:latin typeface="Calibri"/>
                <a:ea typeface="Calibri"/>
                <a:cs typeface="Calibri"/>
              </a:rPr>
              <a:t>“I always place a message on where I would stand with details.” — R061</a:t>
            </a:r>
          </a:p>
        </p:txBody>
      </p:sp>
      <p:sp>
        <p:nvSpPr>
          <p:cNvPr id="18" name="">
            <a:extLst xmlns:a="http://schemas.openxmlformats.org/drawingml/2006/main">
              <a:ext uri="{FF2B5EF4-FFF2-40B4-BE49-F238E27FC236}">
                <a16:creationId xmlns:a16="http://schemas.microsoft.com/office/drawing/2014/main" id="{4E30E516-8717-48DB-A5AF-D9E7415D57B4}"/>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9" name="">
            <a:extLst xmlns:a="http://schemas.openxmlformats.org/drawingml/2006/main">
              <a:ext uri="{FF2B5EF4-FFF2-40B4-BE49-F238E27FC236}">
                <a16:creationId xmlns:a16="http://schemas.microsoft.com/office/drawing/2014/main" id="{0A58C72C-A188-49EE-8023-343A1A8C279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10</a:t>
            </a:r>
          </a:p>
        </p:txBody>
      </p:sp>
    </p:spTree>
    <p:extLst>
      <p:ext uri="{BB962C8B-B14F-4D97-AF65-F5344CB8AC3E}">
        <p14:creationId xmlns:p14="http://schemas.microsoft.com/office/powerpoint/2010/main" val="1038205164"/>
      </p:ext>
    </p:extLst>
  </p:cSld>
</p:sld>
</file>

<file path=ppt/slides/slide1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68858ED-9140-4F8C-B13B-7ADF19159FF5}"/>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RESEARCH-LED IDEAS 2 AND 3</a:t>
            </a:r>
          </a:p>
        </p:txBody>
      </p:sp>
      <p:sp>
        <p:nvSpPr>
          <p:cNvPr id="2" name="">
            <a:extLst xmlns:a="http://schemas.openxmlformats.org/drawingml/2006/main">
              <a:ext uri="{FF2B5EF4-FFF2-40B4-BE49-F238E27FC236}">
                <a16:creationId xmlns:a16="http://schemas.microsoft.com/office/drawing/2014/main" id="{3D4A7AFB-ECAA-4A64-AB41-3AD1114F1702}"/>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Recovery when coordination stalls — then reusable venue context</a:t>
            </a:r>
          </a:p>
        </p:txBody>
      </p:sp>
      <p:sp>
        <p:nvSpPr>
          <p:cNvPr id="3" name="">
            <a:extLst xmlns:a="http://schemas.openxmlformats.org/drawingml/2006/main">
              <a:ext uri="{FF2B5EF4-FFF2-40B4-BE49-F238E27FC236}">
                <a16:creationId xmlns:a16="http://schemas.microsoft.com/office/drawing/2014/main" id="{EE02E934-FF7F-4045-BFB0-E456ECE76420}"/>
              </a:ext>
            </a:extLst>
          </p:cNvPr>
          <p:cNvSpPr>
            <a:spLocks xmlns:a="http://schemas.openxmlformats.org/drawingml/2006/main" noGrp="1"/>
          </p:cNvSpPr>
          <p:nvPr/>
        </p:nvSpPr>
        <p:spPr>
          <a:xfrm xmlns:a="http://schemas.openxmlformats.org/drawingml/2006/main">
            <a:off x="514350" y="1619250"/>
            <a:ext cx="5048250" cy="3276600"/>
          </a:xfrm>
          <a:prstGeom xmlns:a="http://schemas.openxmlformats.org/drawingml/2006/main" prst="roundRect">
            <a:avLst>
              <a:gd name="adj" fmla="val 1744"/>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2ED3E164-3D20-4EC9-879D-269F85A2A342}"/>
              </a:ext>
            </a:extLst>
          </p:cNvPr>
          <p:cNvSpPr>
            <a:spLocks xmlns:a="http://schemas.openxmlformats.org/drawingml/2006/main" noGrp="1"/>
          </p:cNvSpPr>
          <p:nvPr/>
        </p:nvSpPr>
        <p:spPr>
          <a:xfrm xmlns:a="http://schemas.openxmlformats.org/drawingml/2006/main">
            <a:off x="66675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P1 · GUIDED STALLED-PICKUP RECOVERY</a:t>
            </a:r>
          </a:p>
        </p:txBody>
      </p:sp>
      <p:sp>
        <p:nvSpPr>
          <p:cNvPr id="5" name="">
            <a:extLst xmlns:a="http://schemas.openxmlformats.org/drawingml/2006/main">
              <a:ext uri="{FF2B5EF4-FFF2-40B4-BE49-F238E27FC236}">
                <a16:creationId xmlns:a16="http://schemas.microsoft.com/office/drawing/2014/main" id="{D757F478-93E4-4D61-8C27-4DF49A78DA41}"/>
              </a:ext>
            </a:extLst>
          </p:cNvPr>
          <p:cNvSpPr>
            <a:spLocks xmlns:a="http://schemas.openxmlformats.org/drawingml/2006/main" noGrp="1"/>
          </p:cNvSpPr>
          <p:nvPr/>
        </p:nvSpPr>
        <p:spPr>
          <a:xfrm xmlns:a="http://schemas.openxmlformats.org/drawingml/2006/main">
            <a:off x="66675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Trigger after an arrived state remains unresolved past a defined threshold. First guide reconnect actions: share live location, confirm a meeting cue, and retry contact. Test reassignment only for unresolved cases, because it carries marketplace and compensation risk.</a:t>
            </a:r>
          </a:p>
        </p:txBody>
      </p:sp>
      <p:sp>
        <p:nvSpPr>
          <p:cNvPr id="6" name="">
            <a:extLst xmlns:a="http://schemas.openxmlformats.org/drawingml/2006/main">
              <a:ext uri="{FF2B5EF4-FFF2-40B4-BE49-F238E27FC236}">
                <a16:creationId xmlns:a16="http://schemas.microsoft.com/office/drawing/2014/main" id="{58D6C89F-940F-4DB8-8247-8BEA949E4CA2}"/>
              </a:ext>
            </a:extLst>
          </p:cNvPr>
          <p:cNvSpPr>
            <a:spLocks xmlns:a="http://schemas.openxmlformats.org/drawingml/2006/main" noGrp="1"/>
          </p:cNvSpPr>
          <p:nvPr/>
        </p:nvSpPr>
        <p:spPr>
          <a:xfrm xmlns:a="http://schemas.openxmlformats.org/drawingml/2006/main">
            <a:off x="5905500" y="1619250"/>
            <a:ext cx="5048250" cy="3276600"/>
          </a:xfrm>
          <a:prstGeom xmlns:a="http://schemas.openxmlformats.org/drawingml/2006/main" prst="roundRect">
            <a:avLst>
              <a:gd name="adj" fmla="val 1744"/>
            </a:avLst>
          </a:prstGeom>
          <a:solidFill xmlns:a="http://schemas.openxmlformats.org/drawingml/2006/main">
            <a:srgbClr val="E2F4F6"/>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664C1039-B84C-4FA8-966B-740C5B3E7888}"/>
              </a:ext>
            </a:extLst>
          </p:cNvPr>
          <p:cNvSpPr>
            <a:spLocks xmlns:a="http://schemas.openxmlformats.org/drawingml/2006/main" noGrp="1"/>
          </p:cNvSpPr>
          <p:nvPr/>
        </p:nvSpPr>
        <p:spPr>
          <a:xfrm xmlns:a="http://schemas.openxmlformats.org/drawingml/2006/main">
            <a:off x="6057900" y="1733550"/>
            <a:ext cx="474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P2 · VENUE-SPECIFIC COORDINATION INFORMATION</a:t>
            </a:r>
          </a:p>
        </p:txBody>
      </p:sp>
      <p:sp>
        <p:nvSpPr>
          <p:cNvPr id="8" name="">
            <a:extLst xmlns:a="http://schemas.openxmlformats.org/drawingml/2006/main">
              <a:ext uri="{FF2B5EF4-FFF2-40B4-BE49-F238E27FC236}">
                <a16:creationId xmlns:a16="http://schemas.microsoft.com/office/drawing/2014/main" id="{CA7393D5-DC80-4C0C-A4C8-AF0FE6A84A1F}"/>
              </a:ext>
            </a:extLst>
          </p:cNvPr>
          <p:cNvSpPr>
            <a:spLocks xmlns:a="http://schemas.openxmlformats.org/drawingml/2006/main" noGrp="1"/>
          </p:cNvSpPr>
          <p:nvPr/>
        </p:nvSpPr>
        <p:spPr>
          <a:xfrm xmlns:a="http://schemas.openxmlformats.org/drawingml/2006/main">
            <a:off x="6057900" y="2066925"/>
            <a:ext cx="474345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650" b="0" i="0">
                <a:solidFill>
                  <a:srgbClr val="233248"/>
                </a:solidFill>
                <a:latin typeface="Calibri"/>
                <a:ea typeface="Calibri"/>
                <a:cs typeface="Calibri"/>
              </a:defRPr>
            </a:pPr>
            <a:r>
              <a:rPr sz="1650" b="0" i="0">
                <a:solidFill>
                  <a:srgbClr val="233248"/>
                </a:solidFill>
                <a:latin typeface="Calibri"/>
                <a:ea typeface="Calibri"/>
                <a:cs typeface="Calibri"/>
              </a:rPr>
              <a:t>Pilot at 2–3 validated venues. Show accessible gate or side, legal stopping point, expected walk, and access constraints. Treat repeat-issue evidence as a problem signal — not proof that the same venue failed repeatedly.</a:t>
            </a:r>
          </a:p>
        </p:txBody>
      </p:sp>
      <p:sp>
        <p:nvSpPr>
          <p:cNvPr id="9" name="">
            <a:extLst xmlns:a="http://schemas.openxmlformats.org/drawingml/2006/main">
              <a:ext uri="{FF2B5EF4-FFF2-40B4-BE49-F238E27FC236}">
                <a16:creationId xmlns:a16="http://schemas.microsoft.com/office/drawing/2014/main" id="{F97FE697-36CE-4BE5-AC16-89A99D4B587C}"/>
              </a:ext>
            </a:extLst>
          </p:cNvPr>
          <p:cNvSpPr>
            <a:spLocks xmlns:a="http://schemas.openxmlformats.org/drawingml/2006/main" noGrp="1"/>
          </p:cNvSpPr>
          <p:nvPr/>
        </p:nvSpPr>
        <p:spPr>
          <a:xfrm xmlns:a="http://schemas.openxmlformats.org/drawingml/2006/main">
            <a:off x="514350" y="5143500"/>
            <a:ext cx="10439400" cy="800100"/>
          </a:xfrm>
          <a:prstGeom xmlns:a="http://schemas.openxmlformats.org/drawingml/2006/main" prst="roundRect">
            <a:avLst>
              <a:gd name="adj" fmla="val 7143"/>
            </a:avLst>
          </a:prstGeom>
          <a:solidFill xmlns:a="http://schemas.openxmlformats.org/drawingml/2006/main">
            <a:srgbClr val="FBE7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4C23231-C46D-4DD2-A470-06782B6660ED}"/>
              </a:ext>
            </a:extLst>
          </p:cNvPr>
          <p:cNvSpPr>
            <a:spLocks xmlns:a="http://schemas.openxmlformats.org/drawingml/2006/main" noGrp="1"/>
          </p:cNvSpPr>
          <p:nvPr/>
        </p:nvSpPr>
        <p:spPr>
          <a:xfrm xmlns:a="http://schemas.openxmlformats.org/drawingml/2006/main">
            <a:off x="704850" y="5334000"/>
            <a:ext cx="10058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2222"/>
          </a:bodyPr>
          <a:lstStyle xmlns:a="http://schemas.openxmlformats.org/drawingml/2006/main"/>
          <a:p xmlns:a="http://schemas.openxmlformats.org/drawingml/2006/main">
            <a:pPr algn="ctr">
              <a:defRPr sz="1500" b="1" i="0">
                <a:solidFill>
                  <a:srgbClr val="1B2B45"/>
                </a:solidFill>
                <a:latin typeface="Calibri"/>
                <a:ea typeface="Calibri"/>
                <a:cs typeface="Calibri"/>
              </a:defRPr>
            </a:pPr>
            <a:r>
              <a:rPr sz="1500" b="1" i="0">
                <a:solidFill>
                  <a:srgbClr val="1B2B45"/>
                </a:solidFill>
                <a:latin typeface="Calibri"/>
                <a:ea typeface="Calibri"/>
                <a:cs typeface="Calibri"/>
              </a:rPr>
              <a:t>Guardrails: trigger only on genuine coordination stalls; assign venue-data ownership and expiry; validate driver impact before scaling.</a:t>
            </a:r>
          </a:p>
        </p:txBody>
      </p:sp>
      <p:sp>
        <p:nvSpPr>
          <p:cNvPr id="11" name="">
            <a:extLst xmlns:a="http://schemas.openxmlformats.org/drawingml/2006/main">
              <a:ext uri="{FF2B5EF4-FFF2-40B4-BE49-F238E27FC236}">
                <a16:creationId xmlns:a16="http://schemas.microsoft.com/office/drawing/2014/main" id="{8D41F486-83F5-4749-9ADB-14C30E5344C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2" name="">
            <a:extLst xmlns:a="http://schemas.openxmlformats.org/drawingml/2006/main">
              <a:ext uri="{FF2B5EF4-FFF2-40B4-BE49-F238E27FC236}">
                <a16:creationId xmlns:a16="http://schemas.microsoft.com/office/drawing/2014/main" id="{05ED9AC8-7FAA-4740-8532-C69F2C7EC77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11</a:t>
            </a:r>
          </a:p>
        </p:txBody>
      </p:sp>
    </p:spTree>
    <p:extLst>
      <p:ext uri="{BB962C8B-B14F-4D97-AF65-F5344CB8AC3E}">
        <p14:creationId xmlns:p14="http://schemas.microsoft.com/office/powerpoint/2010/main" val="241112682"/>
      </p:ext>
    </p:extLst>
  </p:cSld>
</p:sld>
</file>

<file path=ppt/slides/slide12.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33415F9-2A04-4D59-BB0F-6BE2405FC619}"/>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DECISION AND NEXT EVIDENCE</a:t>
            </a:r>
          </a:p>
        </p:txBody>
      </p:sp>
      <p:sp>
        <p:nvSpPr>
          <p:cNvPr id="2" name="">
            <a:extLst xmlns:a="http://schemas.openxmlformats.org/drawingml/2006/main">
              <a:ext uri="{FF2B5EF4-FFF2-40B4-BE49-F238E27FC236}">
                <a16:creationId xmlns:a16="http://schemas.microsoft.com/office/drawing/2014/main" id="{3127F926-2FE3-4788-98D7-7872CF56DCFF}"/>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A defensible direction — not a “build it” recommendation</a:t>
            </a:r>
          </a:p>
        </p:txBody>
      </p:sp>
      <p:sp>
        <p:nvSpPr>
          <p:cNvPr id="3" name="">
            <a:extLst xmlns:a="http://schemas.openxmlformats.org/drawingml/2006/main">
              <a:ext uri="{FF2B5EF4-FFF2-40B4-BE49-F238E27FC236}">
                <a16:creationId xmlns:a16="http://schemas.microsoft.com/office/drawing/2014/main" id="{EF148CC0-F78B-4767-B615-FB5BE2242476}"/>
              </a:ext>
            </a:extLst>
          </p:cNvPr>
          <p:cNvSpPr>
            <a:spLocks xmlns:a="http://schemas.openxmlformats.org/drawingml/2006/main" noGrp="1"/>
          </p:cNvSpPr>
          <p:nvPr/>
        </p:nvSpPr>
        <p:spPr>
          <a:xfrm xmlns:a="http://schemas.openxmlformats.org/drawingml/2006/main">
            <a:off x="514350" y="1619250"/>
            <a:ext cx="10439400" cy="1085850"/>
          </a:xfrm>
          <a:prstGeom xmlns:a="http://schemas.openxmlformats.org/drawingml/2006/main" prst="roundRect">
            <a:avLst>
              <a:gd name="adj" fmla="val 5263"/>
            </a:avLst>
          </a:prstGeom>
          <a:solidFill xmlns:a="http://schemas.openxmlformats.org/drawingml/2006/main">
            <a:srgbClr val="1B2B4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3EEFF28-C2F8-4CD2-A4DD-DB7D20596BEB}"/>
              </a:ext>
            </a:extLst>
          </p:cNvPr>
          <p:cNvSpPr>
            <a:spLocks xmlns:a="http://schemas.openxmlformats.org/drawingml/2006/main" noGrp="1"/>
          </p:cNvSpPr>
          <p:nvPr/>
        </p:nvSpPr>
        <p:spPr>
          <a:xfrm xmlns:a="http://schemas.openxmlformats.org/drawingml/2006/main">
            <a:off x="742950" y="1828800"/>
            <a:ext cx="9982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95679"/>
          </a:bodyPr>
          <a:lstStyle xmlns:a="http://schemas.openxmlformats.org/drawingml/2006/main"/>
          <a:p xmlns:a="http://schemas.openxmlformats.org/drawingml/2006/main">
            <a:pPr algn="ctr">
              <a:defRPr sz="2025" b="1" i="0">
                <a:solidFill>
                  <a:srgbClr val="FFFFFF"/>
                </a:solidFill>
                <a:latin typeface="Calibri"/>
                <a:ea typeface="Calibri"/>
                <a:cs typeface="Calibri"/>
              </a:defRPr>
            </a:pPr>
            <a:r>
              <a:rPr sz="2025" b="1" i="0">
                <a:solidFill>
                  <a:srgbClr val="FFFFFF"/>
                </a:solidFill>
                <a:latin typeface="Calibri"/>
                <a:ea typeface="Calibri"/>
                <a:cs typeface="Calibri"/>
              </a:rPr>
              <a:t>Test the smallest coordination aid first: a structured note at flagged complex pickups. Move to recovery and venue data only if the evidence supports it.</a:t>
            </a:r>
          </a:p>
        </p:txBody>
      </p:sp>
      <p:sp>
        <p:nvSpPr>
          <p:cNvPr id="5" name="">
            <a:extLst xmlns:a="http://schemas.openxmlformats.org/drawingml/2006/main">
              <a:ext uri="{FF2B5EF4-FFF2-40B4-BE49-F238E27FC236}">
                <a16:creationId xmlns:a16="http://schemas.microsoft.com/office/drawing/2014/main" id="{707549C5-9930-427A-B526-B51B71F1C389}"/>
              </a:ext>
            </a:extLst>
          </p:cNvPr>
          <p:cNvSpPr>
            <a:spLocks xmlns:a="http://schemas.openxmlformats.org/drawingml/2006/main" noGrp="1"/>
          </p:cNvSpPr>
          <p:nvPr/>
        </p:nvSpPr>
        <p:spPr>
          <a:xfrm xmlns:a="http://schemas.openxmlformats.org/drawingml/2006/main">
            <a:off x="514350" y="2990850"/>
            <a:ext cx="3286125" cy="2152650"/>
          </a:xfrm>
          <a:prstGeom xmlns:a="http://schemas.openxmlformats.org/drawingml/2006/main" prst="roundRect">
            <a:avLst>
              <a:gd name="adj" fmla="val 2655"/>
            </a:avLst>
          </a:prstGeom>
          <a:solidFill xmlns:a="http://schemas.openxmlformats.org/drawingml/2006/main">
            <a:srgbClr val="FBE7D8"/>
          </a:solidFill>
          <a:ln xmlns:a="http://schemas.openxmlformats.org/drawingml/2006/main" w="9525">
            <a:solidFill>
              <a:srgbClr val="E8ECF1"/>
            </a:solidFill>
            <a:prstDash val="solid"/>
          </a:ln>
        </p:spPr>
      </p:sp>
      <p:sp>
        <p:nvSpPr>
          <p:cNvPr id="6" name="">
            <a:extLst xmlns:a="http://schemas.openxmlformats.org/drawingml/2006/main">
              <a:ext uri="{FF2B5EF4-FFF2-40B4-BE49-F238E27FC236}">
                <a16:creationId xmlns:a16="http://schemas.microsoft.com/office/drawing/2014/main" id="{7F161DD0-CBCA-4A45-B497-6D1A549F9D90}"/>
              </a:ext>
            </a:extLst>
          </p:cNvPr>
          <p:cNvSpPr>
            <a:spLocks xmlns:a="http://schemas.openxmlformats.org/drawingml/2006/main" noGrp="1"/>
          </p:cNvSpPr>
          <p:nvPr/>
        </p:nvSpPr>
        <p:spPr>
          <a:xfrm xmlns:a="http://schemas.openxmlformats.org/drawingml/2006/main">
            <a:off x="666750"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LIMITS</a:t>
            </a:r>
          </a:p>
        </p:txBody>
      </p:sp>
      <p:sp>
        <p:nvSpPr>
          <p:cNvPr id="7" name="">
            <a:extLst xmlns:a="http://schemas.openxmlformats.org/drawingml/2006/main">
              <a:ext uri="{FF2B5EF4-FFF2-40B4-BE49-F238E27FC236}">
                <a16:creationId xmlns:a16="http://schemas.microsoft.com/office/drawing/2014/main" id="{763B1018-3803-4F64-8F67-787669AE41F3}"/>
              </a:ext>
            </a:extLst>
          </p:cNvPr>
          <p:cNvSpPr>
            <a:spLocks xmlns:a="http://schemas.openxmlformats.org/drawingml/2006/main" noGrp="1"/>
          </p:cNvSpPr>
          <p:nvPr/>
        </p:nvSpPr>
        <p:spPr>
          <a:xfrm xmlns:a="http://schemas.openxmlformats.org/drawingml/2006/main">
            <a:off x="666750"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233248"/>
                </a:solidFill>
                <a:latin typeface="Calibri"/>
                <a:ea typeface="Calibri"/>
                <a:cs typeface="Calibri"/>
              </a:defRPr>
            </a:pPr>
            <a:r>
              <a:rPr sz="1425" b="0" i="0">
                <a:solidFill>
                  <a:srgbClr val="233248"/>
                </a:solidFill>
                <a:latin typeface="Calibri"/>
                <a:ea typeface="Calibri"/>
                <a:cs typeface="Calibri"/>
              </a:rPr>
              <a:t>Convenience sample; interview requirement unmet; 4 drivers; optional open-text depth; 29 other-city responses; no reliable local market denominator.</a:t>
            </a:r>
          </a:p>
        </p:txBody>
      </p:sp>
      <p:sp>
        <p:nvSpPr>
          <p:cNvPr id="8" name="">
            <a:extLst xmlns:a="http://schemas.openxmlformats.org/drawingml/2006/main">
              <a:ext uri="{FF2B5EF4-FFF2-40B4-BE49-F238E27FC236}">
                <a16:creationId xmlns:a16="http://schemas.microsoft.com/office/drawing/2014/main" id="{D0DDC9FE-93B2-4415-A356-A43C766CD6E4}"/>
              </a:ext>
            </a:extLst>
          </p:cNvPr>
          <p:cNvSpPr>
            <a:spLocks xmlns:a="http://schemas.openxmlformats.org/drawingml/2006/main" noGrp="1"/>
          </p:cNvSpPr>
          <p:nvPr/>
        </p:nvSpPr>
        <p:spPr>
          <a:xfrm xmlns:a="http://schemas.openxmlformats.org/drawingml/2006/main">
            <a:off x="3990975" y="2990850"/>
            <a:ext cx="3286125"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9" name="">
            <a:extLst xmlns:a="http://schemas.openxmlformats.org/drawingml/2006/main">
              <a:ext uri="{FF2B5EF4-FFF2-40B4-BE49-F238E27FC236}">
                <a16:creationId xmlns:a16="http://schemas.microsoft.com/office/drawing/2014/main" id="{498EFC29-4F09-4D67-AD90-1A2F68C73911}"/>
              </a:ext>
            </a:extLst>
          </p:cNvPr>
          <p:cNvSpPr>
            <a:spLocks xmlns:a="http://schemas.openxmlformats.org/drawingml/2006/main" noGrp="1"/>
          </p:cNvSpPr>
          <p:nvPr/>
        </p:nvSpPr>
        <p:spPr>
          <a:xfrm xmlns:a="http://schemas.openxmlformats.org/drawingml/2006/main">
            <a:off x="4143375" y="3105150"/>
            <a:ext cx="2981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NEXT RESEARCH</a:t>
            </a:r>
          </a:p>
        </p:txBody>
      </p:sp>
      <p:sp>
        <p:nvSpPr>
          <p:cNvPr id="10" name="">
            <a:extLst xmlns:a="http://schemas.openxmlformats.org/drawingml/2006/main">
              <a:ext uri="{FF2B5EF4-FFF2-40B4-BE49-F238E27FC236}">
                <a16:creationId xmlns:a16="http://schemas.microsoft.com/office/drawing/2014/main" id="{B1065DC6-7DD2-4E5C-BFA4-D5E485890280}"/>
              </a:ext>
            </a:extLst>
          </p:cNvPr>
          <p:cNvSpPr>
            <a:spLocks xmlns:a="http://schemas.openxmlformats.org/drawingml/2006/main" noGrp="1"/>
          </p:cNvSpPr>
          <p:nvPr/>
        </p:nvSpPr>
        <p:spPr>
          <a:xfrm xmlns:a="http://schemas.openxmlformats.org/drawingml/2006/main">
            <a:off x="4143375" y="3438525"/>
            <a:ext cx="29813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Run 6 moderated rider and 4 driver interviews if feasible; include accessibility and venue-operations perspectives.</a:t>
            </a:r>
          </a:p>
        </p:txBody>
      </p:sp>
      <p:sp>
        <p:nvSpPr>
          <p:cNvPr id="11" name="">
            <a:extLst xmlns:a="http://schemas.openxmlformats.org/drawingml/2006/main">
              <a:ext uri="{FF2B5EF4-FFF2-40B4-BE49-F238E27FC236}">
                <a16:creationId xmlns:a16="http://schemas.microsoft.com/office/drawing/2014/main" id="{89D82B05-942F-4913-B1BD-F9DE158051AA}"/>
              </a:ext>
            </a:extLst>
          </p:cNvPr>
          <p:cNvSpPr>
            <a:spLocks xmlns:a="http://schemas.openxmlformats.org/drawingml/2006/main" noGrp="1"/>
          </p:cNvSpPr>
          <p:nvPr/>
        </p:nvSpPr>
        <p:spPr>
          <a:xfrm xmlns:a="http://schemas.openxmlformats.org/drawingml/2006/main">
            <a:off x="7467600" y="2990850"/>
            <a:ext cx="3486150" cy="2152650"/>
          </a:xfrm>
          <a:prstGeom xmlns:a="http://schemas.openxmlformats.org/drawingml/2006/main" prst="roundRect">
            <a:avLst>
              <a:gd name="adj" fmla="val 2655"/>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7C9A1D73-154C-43A0-B8B5-52FBFD5EB15E}"/>
              </a:ext>
            </a:extLst>
          </p:cNvPr>
          <p:cNvSpPr>
            <a:spLocks xmlns:a="http://schemas.openxmlformats.org/drawingml/2006/main" noGrp="1"/>
          </p:cNvSpPr>
          <p:nvPr/>
        </p:nvSpPr>
        <p:spPr>
          <a:xfrm xmlns:a="http://schemas.openxmlformats.org/drawingml/2006/main">
            <a:off x="7620000" y="3105150"/>
            <a:ext cx="3181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NEXT DATA</a:t>
            </a:r>
          </a:p>
        </p:txBody>
      </p:sp>
      <p:sp>
        <p:nvSpPr>
          <p:cNvPr id="13" name="">
            <a:extLst xmlns:a="http://schemas.openxmlformats.org/drawingml/2006/main">
              <a:ext uri="{FF2B5EF4-FFF2-40B4-BE49-F238E27FC236}">
                <a16:creationId xmlns:a16="http://schemas.microsoft.com/office/drawing/2014/main" id="{6C2441A2-BE79-4A40-8F40-6053DAC69F5D}"/>
              </a:ext>
            </a:extLst>
          </p:cNvPr>
          <p:cNvSpPr>
            <a:spLocks xmlns:a="http://schemas.openxmlformats.org/drawingml/2006/main" noGrp="1"/>
          </p:cNvSpPr>
          <p:nvPr/>
        </p:nvSpPr>
        <p:spPr>
          <a:xfrm xmlns:a="http://schemas.openxmlformats.org/drawingml/2006/main">
            <a:off x="7620000" y="3438525"/>
            <a:ext cx="31813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233248"/>
                </a:solidFill>
                <a:latin typeface="Calibri"/>
                <a:ea typeface="Calibri"/>
                <a:cs typeface="Calibri"/>
              </a:defRPr>
            </a:pPr>
            <a:r>
              <a:rPr sz="1500" b="0" i="0">
                <a:solidFill>
                  <a:srgbClr val="233248"/>
                </a:solidFill>
                <a:latin typeface="Calibri"/>
                <a:ea typeface="Calibri"/>
                <a:cs typeface="Calibri"/>
              </a:rPr>
              <a:t>If event logs are trustworthy, baseline arrived-to-trip-start dwell, contacts, location changes, and cancellations at selected venues.</a:t>
            </a:r>
          </a:p>
        </p:txBody>
      </p:sp>
      <p:sp>
        <p:nvSpPr>
          <p:cNvPr id="14" name="">
            <a:extLst xmlns:a="http://schemas.openxmlformats.org/drawingml/2006/main">
              <a:ext uri="{FF2B5EF4-FFF2-40B4-BE49-F238E27FC236}">
                <a16:creationId xmlns:a16="http://schemas.microsoft.com/office/drawing/2014/main" id="{5DBB8D32-4200-4F1D-BC0A-75F7D465920D}"/>
              </a:ext>
            </a:extLst>
          </p:cNvPr>
          <p:cNvSpPr>
            <a:spLocks xmlns:a="http://schemas.openxmlformats.org/drawingml/2006/main" noGrp="1"/>
          </p:cNvSpPr>
          <p:nvPr/>
        </p:nvSpPr>
        <p:spPr>
          <a:xfrm xmlns:a="http://schemas.openxmlformats.org/drawingml/2006/main">
            <a:off x="514350" y="5429250"/>
            <a:ext cx="1043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350" b="0" i="1">
                <a:solidFill>
                  <a:srgbClr val="687489"/>
                </a:solidFill>
                <a:latin typeface="Calibri"/>
                <a:ea typeface="Calibri"/>
                <a:cs typeface="Calibri"/>
              </a:defRPr>
            </a:pPr>
            <a:r>
              <a:rPr sz="1350" b="0" i="1">
                <a:solidFill>
                  <a:srgbClr val="687489"/>
                </a:solidFill>
                <a:latin typeface="Calibri"/>
                <a:ea typeface="Calibri"/>
                <a:cs typeface="Calibri"/>
              </a:rPr>
              <a:t>Appendix: full method, top 10 insights, competitor patterns, idea tests, limitations, and source traceability.</a:t>
            </a:r>
          </a:p>
        </p:txBody>
      </p:sp>
      <p:sp>
        <p:nvSpPr>
          <p:cNvPr id="15" name="">
            <a:extLst xmlns:a="http://schemas.openxmlformats.org/drawingml/2006/main">
              <a:ext uri="{FF2B5EF4-FFF2-40B4-BE49-F238E27FC236}">
                <a16:creationId xmlns:a16="http://schemas.microsoft.com/office/drawing/2014/main" id="{9DB48491-CF03-4A95-B624-83222C0B7532}"/>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a:t>
            </a:r>
          </a:p>
        </p:txBody>
      </p:sp>
      <p:sp>
        <p:nvSpPr>
          <p:cNvPr id="16" name="">
            <a:extLst xmlns:a="http://schemas.openxmlformats.org/drawingml/2006/main">
              <a:ext uri="{FF2B5EF4-FFF2-40B4-BE49-F238E27FC236}">
                <a16:creationId xmlns:a16="http://schemas.microsoft.com/office/drawing/2014/main" id="{4308D258-A206-4E61-8DD9-8F4D08A5492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12</a:t>
            </a:r>
          </a:p>
        </p:txBody>
      </p:sp>
    </p:spTree>
    <p:extLst>
      <p:ext uri="{BB962C8B-B14F-4D97-AF65-F5344CB8AC3E}">
        <p14:creationId xmlns:p14="http://schemas.microsoft.com/office/powerpoint/2010/main" val="1581603547"/>
      </p:ext>
    </p:extLst>
  </p:cSld>
</p:sld>
</file>

<file path=ppt/slides/slide13.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66455BD-9191-447F-BA5A-1B00ED0EC6FD}"/>
              </a:ext>
            </a:extLst>
          </p:cNvPr>
          <p:cNvSpPr>
            <a:spLocks xmlns:a="http://schemas.openxmlformats.org/drawingml/2006/main" noGrp="1"/>
          </p:cNvSpPr>
          <p:nvPr/>
        </p:nvSpPr>
        <p:spPr>
          <a:xfrm xmlns:a="http://schemas.openxmlformats.org/drawingml/2006/main">
            <a:off x="514350" y="1619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1" i="0">
                <a:solidFill>
                  <a:srgbClr val="F47A22"/>
                </a:solidFill>
                <a:latin typeface="Calibri"/>
                <a:ea typeface="Calibri"/>
                <a:cs typeface="Calibri"/>
              </a:defRPr>
            </a:pPr>
            <a:r>
              <a:rPr sz="1350" b="1" i="0">
                <a:solidFill>
                  <a:srgbClr val="F47A22"/>
                </a:solidFill>
                <a:latin typeface="Calibri"/>
                <a:ea typeface="Calibri"/>
                <a:cs typeface="Calibri"/>
              </a:rPr>
              <a:t>APPENDIX</a:t>
            </a:r>
          </a:p>
        </p:txBody>
      </p:sp>
      <p:sp>
        <p:nvSpPr>
          <p:cNvPr id="2" name="">
            <a:extLst xmlns:a="http://schemas.openxmlformats.org/drawingml/2006/main">
              <a:ext uri="{FF2B5EF4-FFF2-40B4-BE49-F238E27FC236}">
                <a16:creationId xmlns:a16="http://schemas.microsoft.com/office/drawing/2014/main" id="{6ADD5346-0761-474C-94DC-20A01C73FF64}"/>
              </a:ext>
            </a:extLst>
          </p:cNvPr>
          <p:cNvSpPr>
            <a:spLocks xmlns:a="http://schemas.openxmlformats.org/drawingml/2006/main" noGrp="1"/>
          </p:cNvSpPr>
          <p:nvPr/>
        </p:nvSpPr>
        <p:spPr>
          <a:xfrm xmlns:a="http://schemas.openxmlformats.org/drawingml/2006/main">
            <a:off x="514350" y="2152650"/>
            <a:ext cx="9334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3300" b="1" i="0">
                <a:solidFill>
                  <a:srgbClr val="FFFFFF"/>
                </a:solidFill>
                <a:latin typeface="Calibri"/>
                <a:ea typeface="Calibri"/>
                <a:cs typeface="Calibri"/>
              </a:defRPr>
            </a:pPr>
            <a:r>
              <a:rPr sz="3300" b="1" i="0">
                <a:solidFill>
                  <a:srgbClr val="FFFFFF"/>
                </a:solidFill>
                <a:latin typeface="Calibri"/>
                <a:ea typeface="Calibri"/>
                <a:cs typeface="Calibri"/>
              </a:rPr>
              <a:t>The evidence behind every claim</a:t>
            </a:r>
          </a:p>
        </p:txBody>
      </p:sp>
      <p:sp>
        <p:nvSpPr>
          <p:cNvPr id="3" name="">
            <a:extLst xmlns:a="http://schemas.openxmlformats.org/drawingml/2006/main">
              <a:ext uri="{FF2B5EF4-FFF2-40B4-BE49-F238E27FC236}">
                <a16:creationId xmlns:a16="http://schemas.microsoft.com/office/drawing/2014/main" id="{73200E8E-DEA4-42B1-AF7D-4669FE4B2E34}"/>
              </a:ext>
            </a:extLst>
          </p:cNvPr>
          <p:cNvSpPr>
            <a:spLocks xmlns:a="http://schemas.openxmlformats.org/drawingml/2006/main" noGrp="1"/>
          </p:cNvSpPr>
          <p:nvPr/>
        </p:nvSpPr>
        <p:spPr>
          <a:xfrm xmlns:a="http://schemas.openxmlformats.org/drawingml/2006/main">
            <a:off x="514350" y="3067050"/>
            <a:ext cx="1028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CDD6E3"/>
                </a:solidFill>
                <a:latin typeface="Calibri"/>
                <a:ea typeface="Calibri"/>
                <a:cs typeface="Calibri"/>
              </a:defRPr>
            </a:pPr>
            <a:r>
              <a:rPr sz="1725" b="0" i="0">
                <a:solidFill>
                  <a:srgbClr val="CDD6E3"/>
                </a:solidFill>
                <a:latin typeface="Calibri"/>
                <a:ea typeface="Calibri"/>
                <a:cs typeface="Calibri"/>
              </a:rPr>
              <a:t>Methodology · Top 10 insights · Market and competitor patterns · Strategy reconciliation · Product tests · Limitations · Sources</a:t>
            </a:r>
          </a:p>
        </p:txBody>
      </p:sp>
      <p:sp>
        <p:nvSpPr>
          <p:cNvPr id="4" name="">
            <a:extLst xmlns:a="http://schemas.openxmlformats.org/drawingml/2006/main">
              <a:ext uri="{FF2B5EF4-FFF2-40B4-BE49-F238E27FC236}">
                <a16:creationId xmlns:a16="http://schemas.microsoft.com/office/drawing/2014/main" id="{B8E2D44A-C1F1-4B77-B61D-0C488A37A7F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BC09B22A-DFA6-4D4A-BA34-FFEB2AECE305}"/>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13</a:t>
            </a:r>
          </a:p>
        </p:txBody>
      </p:sp>
    </p:spTree>
    <p:extLst>
      <p:ext uri="{BB962C8B-B14F-4D97-AF65-F5344CB8AC3E}">
        <p14:creationId xmlns:p14="http://schemas.microsoft.com/office/powerpoint/2010/main" val="775964668"/>
      </p:ext>
    </p:extLst>
  </p:cSld>
</p:sld>
</file>

<file path=ppt/slides/slide14.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5079BB6-B7E7-48A4-B04E-4C4B8102D781}"/>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METHODOLOGY</a:t>
            </a:r>
          </a:p>
        </p:txBody>
      </p:sp>
      <p:sp>
        <p:nvSpPr>
          <p:cNvPr id="2" name="">
            <a:extLst xmlns:a="http://schemas.openxmlformats.org/drawingml/2006/main">
              <a:ext uri="{FF2B5EF4-FFF2-40B4-BE49-F238E27FC236}">
                <a16:creationId xmlns:a16="http://schemas.microsoft.com/office/drawing/2014/main" id="{4121591E-213D-49EC-AC75-3D6A5692F1A2}"/>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Online survey evidence and the exact requirement gap</a:t>
            </a:r>
          </a:p>
        </p:txBody>
      </p:sp>
      <p:sp>
        <p:nvSpPr>
          <p:cNvPr id="3" name="">
            <a:extLst xmlns:a="http://schemas.openxmlformats.org/drawingml/2006/main">
              <a:ext uri="{FF2B5EF4-FFF2-40B4-BE49-F238E27FC236}">
                <a16:creationId xmlns:a16="http://schemas.microsoft.com/office/drawing/2014/main" id="{46AD49C7-456F-4F33-BE08-B8B4D8B99401}"/>
              </a:ext>
            </a:extLst>
          </p:cNvPr>
          <p:cNvSpPr>
            <a:spLocks xmlns:a="http://schemas.openxmlformats.org/drawingml/2006/main" noGrp="1"/>
          </p:cNvSpPr>
          <p:nvPr/>
        </p:nvSpPr>
        <p:spPr>
          <a:xfrm xmlns:a="http://schemas.openxmlformats.org/drawingml/2006/main">
            <a:off x="514350" y="1676400"/>
            <a:ext cx="6286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62 unique submissions after removing confirmed duplicate R032</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58 riders and 4 drivers; driver conclusions remain open</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33 Hyderabad and 29 other-city responses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Self-serve, asynchronous, consent-gated interface in English, Telugu, and Hindi</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optional open-text or voice prompts plus structured tags</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Contact details and raw payload excluded from the sanitized workbook</a:t>
            </a:r>
          </a:p>
          <a:p xmlns:a="http://schemas.openxmlformats.org/drawingml/2006/main">
            <a:pPr marL="228600" indent="-114300">
              <a:spcAft>
                <a:spcPts val="10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Asynchronous online research, not synchronous in-depth interviews: 30 respondents answered open-ended prompts, but no answer could be probed live</a:t>
            </a:r>
          </a:p>
        </p:txBody>
      </p:sp>
      <p:sp>
        <p:nvSpPr>
          <p:cNvPr id="4" name="">
            <a:extLst xmlns:a="http://schemas.openxmlformats.org/drawingml/2006/main">
              <a:ext uri="{FF2B5EF4-FFF2-40B4-BE49-F238E27FC236}">
                <a16:creationId xmlns:a16="http://schemas.microsoft.com/office/drawing/2014/main" id="{D080619E-C985-420D-B827-1509D9259BE2}"/>
              </a:ext>
            </a:extLst>
          </p:cNvPr>
          <p:cNvSpPr>
            <a:spLocks xmlns:a="http://schemas.openxmlformats.org/drawingml/2006/main" noGrp="1"/>
          </p:cNvSpPr>
          <p:nvPr/>
        </p:nvSpPr>
        <p:spPr>
          <a:xfrm xmlns:a="http://schemas.openxmlformats.org/drawingml/2006/main">
            <a:off x="723900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fa84eaef81b4f01"/>
          <a:stretch xmlns:a="http://schemas.openxmlformats.org/drawingml/2006/main"/>
        </p:blipFill>
        <p:spPr>
          <a:xfrm xmlns:a="http://schemas.openxmlformats.org/drawingml/2006/main">
            <a:off x="7464069" y="1695450"/>
            <a:ext cx="1340562" cy="3448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BBB0CD2-23F8-425A-8544-BEBB81C6A1C2}"/>
              </a:ext>
            </a:extLst>
          </p:cNvPr>
          <p:cNvSpPr>
            <a:spLocks xmlns:a="http://schemas.openxmlformats.org/drawingml/2006/main" noGrp="1"/>
          </p:cNvSpPr>
          <p:nvPr/>
        </p:nvSpPr>
        <p:spPr>
          <a:xfrm xmlns:a="http://schemas.openxmlformats.org/drawingml/2006/main">
            <a:off x="9277350" y="1600200"/>
            <a:ext cx="1790700" cy="3638550"/>
          </a:xfrm>
          <a:prstGeom xmlns:a="http://schemas.openxmlformats.org/drawingml/2006/main" prst="roundRect">
            <a:avLst>
              <a:gd name="adj" fmla="val 3191"/>
            </a:avLst>
          </a:prstGeom>
          <a:solidFill xmlns:a="http://schemas.openxmlformats.org/drawingml/2006/main">
            <a:srgbClr val="FFFFFF"/>
          </a:solidFill>
          <a:ln xmlns:a="http://schemas.openxmlformats.org/drawingml/2006/main" w="19050">
            <a:solidFill>
              <a:srgbClr val="1B2B4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78b52db99b84319"/>
          <a:stretch xmlns:a="http://schemas.openxmlformats.org/drawingml/2006/main"/>
        </p:blipFill>
        <p:spPr>
          <a:xfrm xmlns:a="http://schemas.openxmlformats.org/drawingml/2006/main">
            <a:off x="9377281" y="1695450"/>
            <a:ext cx="1590839" cy="34480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0C52341-2DD3-4754-A716-3FF61D7640CA}"/>
              </a:ext>
            </a:extLst>
          </p:cNvPr>
          <p:cNvSpPr>
            <a:spLocks xmlns:a="http://schemas.openxmlformats.org/drawingml/2006/main" noGrp="1"/>
          </p:cNvSpPr>
          <p:nvPr/>
        </p:nvSpPr>
        <p:spPr>
          <a:xfrm xmlns:a="http://schemas.openxmlformats.org/drawingml/2006/main">
            <a:off x="7239000" y="5391150"/>
            <a:ext cx="3829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235"/>
          </a:bodyPr>
          <a:lstStyle xmlns:a="http://schemas.openxmlformats.org/drawingml/2006/main"/>
          <a:p xmlns:a="http://schemas.openxmlformats.org/drawingml/2006/main">
            <a:pPr algn="ctr">
              <a:defRPr sz="1275" b="0" i="0">
                <a:solidFill>
                  <a:srgbClr val="687489"/>
                </a:solidFill>
                <a:latin typeface="Calibri"/>
                <a:ea typeface="Calibri"/>
                <a:cs typeface="Calibri"/>
              </a:defRPr>
            </a:pPr>
            <a:r>
              <a:rPr sz="1275" b="0" i="0">
                <a:solidFill>
                  <a:srgbClr val="687489"/>
                </a:solidFill>
                <a:latin typeface="Calibri"/>
                <a:ea typeface="Calibri"/>
                <a:cs typeface="Calibri"/>
              </a:rPr>
              <a:t>Live app and full-size screenshots are included in the evidence ZIP.</a:t>
            </a:r>
          </a:p>
        </p:txBody>
      </p:sp>
      <p:sp>
        <p:nvSpPr>
          <p:cNvPr id="9" name="">
            <a:extLst xmlns:a="http://schemas.openxmlformats.org/drawingml/2006/main">
              <a:ext uri="{FF2B5EF4-FFF2-40B4-BE49-F238E27FC236}">
                <a16:creationId xmlns:a16="http://schemas.microsoft.com/office/drawing/2014/main" id="{C8141CF8-4A0C-4238-8105-0F5D282F40E1}"/>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0" name="">
            <a:extLst xmlns:a="http://schemas.openxmlformats.org/drawingml/2006/main">
              <a:ext uri="{FF2B5EF4-FFF2-40B4-BE49-F238E27FC236}">
                <a16:creationId xmlns:a16="http://schemas.microsoft.com/office/drawing/2014/main" id="{8B081CF8-2B94-414F-9A9E-CCFBCB6FD629}"/>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14</a:t>
            </a:r>
          </a:p>
        </p:txBody>
      </p:sp>
    </p:spTree>
    <p:extLst>
      <p:ext uri="{BB962C8B-B14F-4D97-AF65-F5344CB8AC3E}">
        <p14:creationId xmlns:p14="http://schemas.microsoft.com/office/powerpoint/2010/main" val="1006432407"/>
      </p:ext>
    </p:extLst>
  </p:cSld>
</p:sld>
</file>

<file path=ppt/slides/slide15.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96090C5-C811-4191-910C-8727C622285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KEY RESEARCH QUESTIONS</a:t>
            </a:r>
          </a:p>
        </p:txBody>
      </p:sp>
      <p:sp>
        <p:nvSpPr>
          <p:cNvPr id="2" name="">
            <a:extLst xmlns:a="http://schemas.openxmlformats.org/drawingml/2006/main">
              <a:ext uri="{FF2B5EF4-FFF2-40B4-BE49-F238E27FC236}">
                <a16:creationId xmlns:a16="http://schemas.microsoft.com/office/drawing/2014/main" id="{9039A8F9-39C6-4884-BBD6-0D58977A620C}"/>
              </a:ext>
            </a:extLst>
          </p:cNvPr>
          <p:cNvSpPr>
            <a:spLocks xmlns:a="http://schemas.openxmlformats.org/drawingml/2006/main" noGrp="1"/>
          </p:cNvSpPr>
          <p:nvPr/>
        </p:nvSpPr>
        <p:spPr>
          <a:xfrm xmlns:a="http://schemas.openxmlformats.org/drawingml/2006/main">
            <a:off x="514350" y="571500"/>
            <a:ext cx="1114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The ten questions the instrument asked</a:t>
            </a:r>
          </a:p>
        </p:txBody>
      </p:sp>
      <p:sp>
        <p:nvSpPr>
          <p:cNvPr id="3" name="">
            <a:extLst xmlns:a="http://schemas.openxmlformats.org/drawingml/2006/main">
              <a:ext uri="{FF2B5EF4-FFF2-40B4-BE49-F238E27FC236}">
                <a16:creationId xmlns:a16="http://schemas.microsoft.com/office/drawing/2014/main" id="{55EF8493-3BDF-412C-82FD-4B374799D739}"/>
              </a:ext>
            </a:extLst>
          </p:cNvPr>
          <p:cNvSpPr>
            <a:spLocks xmlns:a="http://schemas.openxmlformats.org/drawingml/2006/main" noGrp="1"/>
          </p:cNvSpPr>
          <p:nvPr/>
        </p:nvSpPr>
        <p:spPr>
          <a:xfrm xmlns:a="http://schemas.openxmlformats.org/drawingml/2006/main">
            <a:off x="514350" y="10572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350" b="0" i="0">
                <a:solidFill>
                  <a:srgbClr val="687489"/>
                </a:solidFill>
                <a:latin typeface="Calibri"/>
                <a:ea typeface="Calibri"/>
                <a:cs typeface="Calibri"/>
              </a:defRPr>
            </a:pPr>
            <a:r>
              <a:rPr sz="1350" b="0" i="0">
                <a:solidFill>
                  <a:srgbClr val="687489"/>
                </a:solidFill>
                <a:latin typeface="Calibri"/>
                <a:ea typeface="Calibri"/>
                <a:cs typeface="Calibri"/>
              </a:rPr>
              <a:t>Template section 1.1 — asked asynchronously, without live follow-up.</a:t>
            </a:r>
          </a:p>
        </p:txBody>
      </p:sp>
      <p:sp>
        <p:nvSpPr>
          <p:cNvPr id="4" name="">
            <a:extLst xmlns:a="http://schemas.openxmlformats.org/drawingml/2006/main">
              <a:ext uri="{FF2B5EF4-FFF2-40B4-BE49-F238E27FC236}">
                <a16:creationId xmlns:a16="http://schemas.microsoft.com/office/drawing/2014/main" id="{0127059C-B464-44F9-9E14-D650D1C6E295}"/>
              </a:ext>
            </a:extLst>
          </p:cNvPr>
          <p:cNvSpPr>
            <a:spLocks xmlns:a="http://schemas.openxmlformats.org/drawingml/2006/main" noGrp="1"/>
          </p:cNvSpPr>
          <p:nvPr/>
        </p:nvSpPr>
        <p:spPr>
          <a:xfrm xmlns:a="http://schemas.openxmlformats.org/drawingml/2006/main">
            <a:off x="514350" y="1676400"/>
            <a:ext cx="10439400" cy="3771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Tell me about the last time you had difficulty finding your ride after booking it.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Where were you, and what did the app tell you?</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When did you first realize the pickup might not work as expected?</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made the rider and driver difficult to locate or identify?</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did you do next: call, message, move, wait, cancel, or seek help?</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How much extra time or effort did the situation require?</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finally helped, if anything?</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Has the same problem happened at other locations?</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What information or support was missing at the most frustrating moment?</a:t>
            </a:r>
          </a:p>
          <a:p xmlns:a="http://schemas.openxmlformats.org/drawingml/2006/main">
            <a:pPr marL="228600" indent="-114300">
              <a:spcAft>
                <a:spcPts val="500"/>
              </a:spcAft>
              <a:buChar char="•"/>
              <a:defRPr sz="1275">
                <a:solidFill>
                  <a:srgbClr val="233248"/>
                </a:solidFill>
                <a:latin typeface="Calibri"/>
                <a:ea typeface="Calibri"/>
                <a:cs typeface="Calibri"/>
              </a:defRPr>
            </a:pPr>
            <a:r>
              <a:rPr sz="1275">
                <a:solidFill>
                  <a:srgbClr val="233248"/>
                </a:solidFill>
                <a:latin typeface="Calibri"/>
                <a:ea typeface="Calibri"/>
                <a:cs typeface="Calibri"/>
              </a:rPr>
              <a:t>For drivers: what prevented you from reaching the pin or identifying the rider?</a:t>
            </a:r>
          </a:p>
        </p:txBody>
      </p:sp>
      <p:sp>
        <p:nvSpPr>
          <p:cNvPr id="5" name="">
            <a:extLst xmlns:a="http://schemas.openxmlformats.org/drawingml/2006/main">
              <a:ext uri="{FF2B5EF4-FFF2-40B4-BE49-F238E27FC236}">
                <a16:creationId xmlns:a16="http://schemas.microsoft.com/office/drawing/2014/main" id="{131B04E7-C8CD-4BB9-8859-4C85981F1D10}"/>
              </a:ext>
            </a:extLst>
          </p:cNvPr>
          <p:cNvSpPr>
            <a:spLocks xmlns:a="http://schemas.openxmlformats.org/drawingml/2006/main" noGrp="1"/>
          </p:cNvSpPr>
          <p:nvPr/>
        </p:nvSpPr>
        <p:spPr>
          <a:xfrm xmlns:a="http://schemas.openxmlformats.org/drawingml/2006/main">
            <a:off x="514350" y="5524500"/>
            <a:ext cx="10439400" cy="590550"/>
          </a:xfrm>
          <a:prstGeom xmlns:a="http://schemas.openxmlformats.org/drawingml/2006/main" prst="roundRect">
            <a:avLst>
              <a:gd name="adj" fmla="val 9677"/>
            </a:avLst>
          </a:prstGeom>
          <a:solidFill xmlns:a="http://schemas.openxmlformats.org/drawingml/2006/main">
            <a:srgbClr val="FBE7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B966C90-4E20-48D6-95CA-6A8D768E6FAC}"/>
              </a:ext>
            </a:extLst>
          </p:cNvPr>
          <p:cNvSpPr>
            <a:spLocks xmlns:a="http://schemas.openxmlformats.org/drawingml/2006/main" noGrp="1"/>
          </p:cNvSpPr>
          <p:nvPr/>
        </p:nvSpPr>
        <p:spPr>
          <a:xfrm xmlns:a="http://schemas.openxmlformats.org/drawingml/2006/main">
            <a:off x="704850" y="5657850"/>
            <a:ext cx="1004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The four narrative prompts were optional in the interface, and the form could not ask a follow-up when an answer was vague.</a:t>
            </a:r>
          </a:p>
        </p:txBody>
      </p:sp>
      <p:sp>
        <p:nvSpPr>
          <p:cNvPr id="7" name="">
            <a:extLst xmlns:a="http://schemas.openxmlformats.org/drawingml/2006/main">
              <a:ext uri="{FF2B5EF4-FFF2-40B4-BE49-F238E27FC236}">
                <a16:creationId xmlns:a16="http://schemas.microsoft.com/office/drawing/2014/main" id="{6F9A496D-DA22-4A10-8DED-8FCAC33E7094}"/>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8" name="">
            <a:extLst xmlns:a="http://schemas.openxmlformats.org/drawingml/2006/main">
              <a:ext uri="{FF2B5EF4-FFF2-40B4-BE49-F238E27FC236}">
                <a16:creationId xmlns:a16="http://schemas.microsoft.com/office/drawing/2014/main" id="{325193A8-E5AB-4543-AEF4-EB27BC448484}"/>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15</a:t>
            </a:r>
          </a:p>
        </p:txBody>
      </p:sp>
    </p:spTree>
    <p:extLst>
      <p:ext uri="{BB962C8B-B14F-4D97-AF65-F5344CB8AC3E}">
        <p14:creationId xmlns:p14="http://schemas.microsoft.com/office/powerpoint/2010/main" val="1254022077"/>
      </p:ext>
    </p:extLst>
  </p:cSld>
</p:sld>
</file>

<file path=ppt/slides/slide16.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BEDD9DA-8ABD-4024-AB6A-079134C7BC87}"/>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TOP 10 INSIGHTS</a:t>
            </a:r>
          </a:p>
        </p:txBody>
      </p:sp>
      <p:sp>
        <p:nvSpPr>
          <p:cNvPr id="2" name="">
            <a:extLst xmlns:a="http://schemas.openxmlformats.org/drawingml/2006/main">
              <a:ext uri="{FF2B5EF4-FFF2-40B4-BE49-F238E27FC236}">
                <a16:creationId xmlns:a16="http://schemas.microsoft.com/office/drawing/2014/main" id="{E8EB18A4-710D-40F4-8472-DFF82C657E58}"/>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778"/>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1–5: prevalence, recurrence, location, arrived state, and recovery</a:t>
            </a:r>
          </a:p>
        </p:txBody>
      </p:sp>
      <p:sp>
        <p:nvSpPr>
          <p:cNvPr id="3" name="">
            <a:extLst xmlns:a="http://schemas.openxmlformats.org/drawingml/2006/main">
              <a:ext uri="{FF2B5EF4-FFF2-40B4-BE49-F238E27FC236}">
                <a16:creationId xmlns:a16="http://schemas.microsoft.com/office/drawing/2014/main" id="{99F8C564-BE7E-4529-B506-AE9E0E8CA7CF}"/>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382991E9-7665-4674-B903-DEA18205F746}"/>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46A46C4D-1772-4AF4-9B74-649B4A6867E6}"/>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Difficulty is meaningful, not universal</a:t>
            </a:r>
          </a:p>
        </p:txBody>
      </p:sp>
      <p:sp>
        <p:nvSpPr>
          <p:cNvPr id="6" name="">
            <a:extLst xmlns:a="http://schemas.openxmlformats.org/drawingml/2006/main">
              <a:ext uri="{FF2B5EF4-FFF2-40B4-BE49-F238E27FC236}">
                <a16:creationId xmlns:a16="http://schemas.microsoft.com/office/drawing/2014/main" id="{87423EF7-A710-4999-80E1-D87BF6072600}"/>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24/51 reported difficulty or uncertainty; 34/62 no issue</a:t>
            </a:r>
          </a:p>
        </p:txBody>
      </p:sp>
      <p:sp>
        <p:nvSpPr>
          <p:cNvPr id="7" name="">
            <a:extLst xmlns:a="http://schemas.openxmlformats.org/drawingml/2006/main">
              <a:ext uri="{FF2B5EF4-FFF2-40B4-BE49-F238E27FC236}">
                <a16:creationId xmlns:a16="http://schemas.microsoft.com/office/drawing/2014/main" id="{3CBD118E-BA74-42F3-944B-35112C7282FD}"/>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AD203DA-5F86-4A43-B61A-09C03E59EBD0}"/>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9" name="">
            <a:extLst xmlns:a="http://schemas.openxmlformats.org/drawingml/2006/main">
              <a:ext uri="{FF2B5EF4-FFF2-40B4-BE49-F238E27FC236}">
                <a16:creationId xmlns:a16="http://schemas.microsoft.com/office/drawing/2014/main" id="{E62E965D-307D-40D1-B504-0C4700BA1B7C}"/>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B979E371-6537-4D59-97FC-3BFA1515BF05}"/>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2</a:t>
            </a:r>
          </a:p>
        </p:txBody>
      </p:sp>
      <p:sp>
        <p:nvSpPr>
          <p:cNvPr id="11" name="">
            <a:extLst xmlns:a="http://schemas.openxmlformats.org/drawingml/2006/main">
              <a:ext uri="{FF2B5EF4-FFF2-40B4-BE49-F238E27FC236}">
                <a16:creationId xmlns:a16="http://schemas.microsoft.com/office/drawing/2014/main" id="{6DCACF37-E12E-4230-8DD4-BC65FE159365}"/>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For affected respondents, the issue often recurs</a:t>
            </a:r>
          </a:p>
        </p:txBody>
      </p:sp>
      <p:sp>
        <p:nvSpPr>
          <p:cNvPr id="12" name="">
            <a:extLst xmlns:a="http://schemas.openxmlformats.org/drawingml/2006/main">
              <a:ext uri="{FF2B5EF4-FFF2-40B4-BE49-F238E27FC236}">
                <a16:creationId xmlns:a16="http://schemas.microsoft.com/office/drawing/2014/main" id="{4130226E-6D41-409E-B027-053CE620B5FB}"/>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23/28 said it happened before — not necessarily same venue</a:t>
            </a:r>
          </a:p>
        </p:txBody>
      </p:sp>
      <p:sp>
        <p:nvSpPr>
          <p:cNvPr id="13" name="">
            <a:extLst xmlns:a="http://schemas.openxmlformats.org/drawingml/2006/main">
              <a:ext uri="{FF2B5EF4-FFF2-40B4-BE49-F238E27FC236}">
                <a16:creationId xmlns:a16="http://schemas.microsoft.com/office/drawing/2014/main" id="{EA4DAA92-0EDB-4017-9D9B-C8325123E79B}"/>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B692F05-A806-41F0-B525-4F03F7632AF5}"/>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15" name="">
            <a:extLst xmlns:a="http://schemas.openxmlformats.org/drawingml/2006/main">
              <a:ext uri="{FF2B5EF4-FFF2-40B4-BE49-F238E27FC236}">
                <a16:creationId xmlns:a16="http://schemas.microsoft.com/office/drawing/2014/main" id="{6C8FBD11-2C29-4CF1-B089-4951D5156C52}"/>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2947A560-7C38-40E3-98AA-EAD5CA0AE013}"/>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3</a:t>
            </a:r>
          </a:p>
        </p:txBody>
      </p:sp>
      <p:sp>
        <p:nvSpPr>
          <p:cNvPr id="17" name="">
            <a:extLst xmlns:a="http://schemas.openxmlformats.org/drawingml/2006/main">
              <a:ext uri="{FF2B5EF4-FFF2-40B4-BE49-F238E27FC236}">
                <a16:creationId xmlns:a16="http://schemas.microsoft.com/office/drawing/2014/main" id="{9098C7B4-768A-4E81-BB53-5589778F3C38}"/>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Complex environments concentrate coordination failures</a:t>
            </a:r>
          </a:p>
        </p:txBody>
      </p:sp>
      <p:sp>
        <p:nvSpPr>
          <p:cNvPr id="18" name="">
            <a:extLst xmlns:a="http://schemas.openxmlformats.org/drawingml/2006/main">
              <a:ext uri="{FF2B5EF4-FFF2-40B4-BE49-F238E27FC236}">
                <a16:creationId xmlns:a16="http://schemas.microsoft.com/office/drawing/2014/main" id="{715D179B-A18E-4682-BBDB-233938FD8E47}"/>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Airport 10; residential 7; mall 6; office 6</a:t>
            </a:r>
          </a:p>
        </p:txBody>
      </p:sp>
      <p:sp>
        <p:nvSpPr>
          <p:cNvPr id="19" name="">
            <a:extLst xmlns:a="http://schemas.openxmlformats.org/drawingml/2006/main">
              <a:ext uri="{FF2B5EF4-FFF2-40B4-BE49-F238E27FC236}">
                <a16:creationId xmlns:a16="http://schemas.microsoft.com/office/drawing/2014/main" id="{DB364D34-4BEB-411E-B412-A71AB8F1B278}"/>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2F12619-259B-47BB-92A9-031D43EAFF65}"/>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21" name="">
            <a:extLst xmlns:a="http://schemas.openxmlformats.org/drawingml/2006/main">
              <a:ext uri="{FF2B5EF4-FFF2-40B4-BE49-F238E27FC236}">
                <a16:creationId xmlns:a16="http://schemas.microsoft.com/office/drawing/2014/main" id="{0C0A1970-D423-4427-92C5-878C52AD6E81}"/>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3D188599-2B4C-4DF6-ACAB-2DC48FE4084F}"/>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4</a:t>
            </a:r>
          </a:p>
        </p:txBody>
      </p:sp>
      <p:sp>
        <p:nvSpPr>
          <p:cNvPr id="23" name="">
            <a:extLst xmlns:a="http://schemas.openxmlformats.org/drawingml/2006/main">
              <a:ext uri="{FF2B5EF4-FFF2-40B4-BE49-F238E27FC236}">
                <a16:creationId xmlns:a16="http://schemas.microsoft.com/office/drawing/2014/main" id="{DC311A3C-92CF-439E-A562-C30888A36DE4}"/>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Arrived does not mean the rider and driver can meet</a:t>
            </a:r>
          </a:p>
        </p:txBody>
      </p:sp>
      <p:sp>
        <p:nvSpPr>
          <p:cNvPr id="24" name="">
            <a:extLst xmlns:a="http://schemas.openxmlformats.org/drawingml/2006/main">
              <a:ext uri="{FF2B5EF4-FFF2-40B4-BE49-F238E27FC236}">
                <a16:creationId xmlns:a16="http://schemas.microsoft.com/office/drawing/2014/main" id="{6EC078F9-079A-4E04-9E41-5B1B1AD119CE}"/>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Wrong pin, similar gates, cross-road case</a:t>
            </a:r>
          </a:p>
        </p:txBody>
      </p:sp>
      <p:sp>
        <p:nvSpPr>
          <p:cNvPr id="25" name="">
            <a:extLst xmlns:a="http://schemas.openxmlformats.org/drawingml/2006/main">
              <a:ext uri="{FF2B5EF4-FFF2-40B4-BE49-F238E27FC236}">
                <a16:creationId xmlns:a16="http://schemas.microsoft.com/office/drawing/2014/main" id="{ABC799D0-3087-45C9-884E-814160065F9D}"/>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54FCFE4-989A-43B0-A581-DFA82DD83BB9}"/>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A924A6BA-0A39-417A-88D4-B02949F4B0EA}"/>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83C725C0-965F-47C1-AADE-4F73801D8461}"/>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5</a:t>
            </a:r>
          </a:p>
        </p:txBody>
      </p:sp>
      <p:sp>
        <p:nvSpPr>
          <p:cNvPr id="29" name="">
            <a:extLst xmlns:a="http://schemas.openxmlformats.org/drawingml/2006/main">
              <a:ext uri="{FF2B5EF4-FFF2-40B4-BE49-F238E27FC236}">
                <a16:creationId xmlns:a16="http://schemas.microsoft.com/office/drawing/2014/main" id="{1447526D-E3E6-46BD-B2E6-D40CDCAB7360}"/>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Calling and messaging are the main recovery layer</a:t>
            </a:r>
          </a:p>
        </p:txBody>
      </p:sp>
      <p:sp>
        <p:nvSpPr>
          <p:cNvPr id="30" name="">
            <a:extLst xmlns:a="http://schemas.openxmlformats.org/drawingml/2006/main">
              <a:ext uri="{FF2B5EF4-FFF2-40B4-BE49-F238E27FC236}">
                <a16:creationId xmlns:a16="http://schemas.microsoft.com/office/drawing/2014/main" id="{8839AAF0-83C1-416B-B5F0-5E8D9F099755}"/>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20/28 said calling or messaging helped</a:t>
            </a:r>
          </a:p>
        </p:txBody>
      </p:sp>
      <p:sp>
        <p:nvSpPr>
          <p:cNvPr id="31" name="">
            <a:extLst xmlns:a="http://schemas.openxmlformats.org/drawingml/2006/main">
              <a:ext uri="{FF2B5EF4-FFF2-40B4-BE49-F238E27FC236}">
                <a16:creationId xmlns:a16="http://schemas.microsoft.com/office/drawing/2014/main" id="{3F7C80E8-EE1E-4841-A2E2-01CA9384D681}"/>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E2F4F6"/>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81EE161-687D-4B96-A871-6BF132753E33}"/>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Strong</a:t>
            </a:r>
          </a:p>
        </p:txBody>
      </p:sp>
      <p:sp>
        <p:nvSpPr>
          <p:cNvPr id="33" name="">
            <a:extLst xmlns:a="http://schemas.openxmlformats.org/drawingml/2006/main">
              <a:ext uri="{FF2B5EF4-FFF2-40B4-BE49-F238E27FC236}">
                <a16:creationId xmlns:a16="http://schemas.microsoft.com/office/drawing/2014/main" id="{9ADF968F-7903-4F65-A846-70C9E5DEB59E}"/>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E3CED34C-20CA-423E-8FE3-0443234A95BE}"/>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16</a:t>
            </a:r>
          </a:p>
        </p:txBody>
      </p:sp>
    </p:spTree>
    <p:extLst>
      <p:ext uri="{BB962C8B-B14F-4D97-AF65-F5344CB8AC3E}">
        <p14:creationId xmlns:p14="http://schemas.microsoft.com/office/powerpoint/2010/main" val="616955831"/>
      </p:ext>
    </p:extLst>
  </p:cSld>
</p:sld>
</file>

<file path=ppt/slides/slide17.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47DC7A4A-B502-40EB-9CE5-84123CA4C65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TOP 10 INSIGHTS</a:t>
            </a:r>
          </a:p>
        </p:txBody>
      </p:sp>
      <p:sp>
        <p:nvSpPr>
          <p:cNvPr id="2" name="">
            <a:extLst xmlns:a="http://schemas.openxmlformats.org/drawingml/2006/main">
              <a:ext uri="{FF2B5EF4-FFF2-40B4-BE49-F238E27FC236}">
                <a16:creationId xmlns:a16="http://schemas.microsoft.com/office/drawing/2014/main" id="{6EACDAEE-59D1-4804-836F-5AE27BE4687B}"/>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214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Insights 6–10: recovery burden, delay, cancellation, support, and identification</a:t>
            </a:r>
          </a:p>
        </p:txBody>
      </p:sp>
      <p:sp>
        <p:nvSpPr>
          <p:cNvPr id="3" name="">
            <a:extLst xmlns:a="http://schemas.openxmlformats.org/drawingml/2006/main">
              <a:ext uri="{FF2B5EF4-FFF2-40B4-BE49-F238E27FC236}">
                <a16:creationId xmlns:a16="http://schemas.microsoft.com/office/drawing/2014/main" id="{CB58E4CA-021D-465D-BD6A-99442CF8F5E2}"/>
              </a:ext>
            </a:extLst>
          </p:cNvPr>
          <p:cNvSpPr>
            <a:spLocks xmlns:a="http://schemas.openxmlformats.org/drawingml/2006/main" noGrp="1"/>
          </p:cNvSpPr>
          <p:nvPr/>
        </p:nvSpPr>
        <p:spPr>
          <a:xfrm xmlns:a="http://schemas.openxmlformats.org/drawingml/2006/main">
            <a:off x="514350" y="16192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DCFE5377-C5D9-4DEF-8C55-7E603EED2752}"/>
              </a:ext>
            </a:extLst>
          </p:cNvPr>
          <p:cNvSpPr>
            <a:spLocks xmlns:a="http://schemas.openxmlformats.org/drawingml/2006/main" noGrp="1"/>
          </p:cNvSpPr>
          <p:nvPr/>
        </p:nvSpPr>
        <p:spPr>
          <a:xfrm xmlns:a="http://schemas.openxmlformats.org/drawingml/2006/main">
            <a:off x="647700" y="17430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6</a:t>
            </a:r>
          </a:p>
        </p:txBody>
      </p:sp>
      <p:sp>
        <p:nvSpPr>
          <p:cNvPr id="5" name="">
            <a:extLst xmlns:a="http://schemas.openxmlformats.org/drawingml/2006/main">
              <a:ext uri="{FF2B5EF4-FFF2-40B4-BE49-F238E27FC236}">
                <a16:creationId xmlns:a16="http://schemas.microsoft.com/office/drawing/2014/main" id="{201D292A-4B65-473B-A6ED-AEEA17CCB629}"/>
              </a:ext>
            </a:extLst>
          </p:cNvPr>
          <p:cNvSpPr>
            <a:spLocks xmlns:a="http://schemas.openxmlformats.org/drawingml/2006/main" noGrp="1"/>
          </p:cNvSpPr>
          <p:nvPr/>
        </p:nvSpPr>
        <p:spPr>
          <a:xfrm xmlns:a="http://schemas.openxmlformats.org/drawingml/2006/main">
            <a:off x="1200150" y="17145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The rider often absorbs the recovery effort</a:t>
            </a:r>
          </a:p>
        </p:txBody>
      </p:sp>
      <p:sp>
        <p:nvSpPr>
          <p:cNvPr id="6" name="">
            <a:extLst xmlns:a="http://schemas.openxmlformats.org/drawingml/2006/main">
              <a:ext uri="{FF2B5EF4-FFF2-40B4-BE49-F238E27FC236}">
                <a16:creationId xmlns:a16="http://schemas.microsoft.com/office/drawing/2014/main" id="{87243FE4-2085-47BB-A8ED-BE2F6B0EE7F0}"/>
              </a:ext>
            </a:extLst>
          </p:cNvPr>
          <p:cNvSpPr>
            <a:spLocks xmlns:a="http://schemas.openxmlformats.org/drawingml/2006/main" noGrp="1"/>
          </p:cNvSpPr>
          <p:nvPr/>
        </p:nvSpPr>
        <p:spPr>
          <a:xfrm xmlns:a="http://schemas.openxmlformats.org/drawingml/2006/main">
            <a:off x="1200150" y="20002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Waited 9; moved 8; driver moved helped 3</a:t>
            </a:r>
          </a:p>
        </p:txBody>
      </p:sp>
      <p:sp>
        <p:nvSpPr>
          <p:cNvPr id="7" name="">
            <a:extLst xmlns:a="http://schemas.openxmlformats.org/drawingml/2006/main">
              <a:ext uri="{FF2B5EF4-FFF2-40B4-BE49-F238E27FC236}">
                <a16:creationId xmlns:a16="http://schemas.microsoft.com/office/drawing/2014/main" id="{6EA551CD-7395-42CC-9715-66B6F3EE239F}"/>
              </a:ext>
            </a:extLst>
          </p:cNvPr>
          <p:cNvSpPr>
            <a:spLocks xmlns:a="http://schemas.openxmlformats.org/drawingml/2006/main" noGrp="1"/>
          </p:cNvSpPr>
          <p:nvPr/>
        </p:nvSpPr>
        <p:spPr>
          <a:xfrm xmlns:a="http://schemas.openxmlformats.org/drawingml/2006/main">
            <a:off x="9220200" y="18097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AD43BA2-D745-45AD-B148-3E0C0D152BA7}"/>
              </a:ext>
            </a:extLst>
          </p:cNvPr>
          <p:cNvSpPr>
            <a:spLocks xmlns:a="http://schemas.openxmlformats.org/drawingml/2006/main" noGrp="1"/>
          </p:cNvSpPr>
          <p:nvPr/>
        </p:nvSpPr>
        <p:spPr>
          <a:xfrm xmlns:a="http://schemas.openxmlformats.org/drawingml/2006/main">
            <a:off x="9315450" y="18478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9" name="">
            <a:extLst xmlns:a="http://schemas.openxmlformats.org/drawingml/2006/main">
              <a:ext uri="{FF2B5EF4-FFF2-40B4-BE49-F238E27FC236}">
                <a16:creationId xmlns:a16="http://schemas.microsoft.com/office/drawing/2014/main" id="{5BD0C16F-7D96-4322-AAC2-1197F306C597}"/>
              </a:ext>
            </a:extLst>
          </p:cNvPr>
          <p:cNvSpPr>
            <a:spLocks xmlns:a="http://schemas.openxmlformats.org/drawingml/2006/main" noGrp="1"/>
          </p:cNvSpPr>
          <p:nvPr/>
        </p:nvSpPr>
        <p:spPr>
          <a:xfrm xmlns:a="http://schemas.openxmlformats.org/drawingml/2006/main">
            <a:off x="514350" y="248602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44976556-BF59-4D6A-896F-460790AA7371}"/>
              </a:ext>
            </a:extLst>
          </p:cNvPr>
          <p:cNvSpPr>
            <a:spLocks xmlns:a="http://schemas.openxmlformats.org/drawingml/2006/main" noGrp="1"/>
          </p:cNvSpPr>
          <p:nvPr/>
        </p:nvSpPr>
        <p:spPr>
          <a:xfrm xmlns:a="http://schemas.openxmlformats.org/drawingml/2006/main">
            <a:off x="647700" y="260985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7</a:t>
            </a:r>
          </a:p>
        </p:txBody>
      </p:sp>
      <p:sp>
        <p:nvSpPr>
          <p:cNvPr id="11" name="">
            <a:extLst xmlns:a="http://schemas.openxmlformats.org/drawingml/2006/main">
              <a:ext uri="{FF2B5EF4-FFF2-40B4-BE49-F238E27FC236}">
                <a16:creationId xmlns:a16="http://schemas.microsoft.com/office/drawing/2014/main" id="{A0D7FC65-4105-4680-8C65-EE5422BD1547}"/>
              </a:ext>
            </a:extLst>
          </p:cNvPr>
          <p:cNvSpPr>
            <a:spLocks xmlns:a="http://schemas.openxmlformats.org/drawingml/2006/main" noGrp="1"/>
          </p:cNvSpPr>
          <p:nvPr/>
        </p:nvSpPr>
        <p:spPr>
          <a:xfrm xmlns:a="http://schemas.openxmlformats.org/drawingml/2006/main">
            <a:off x="1200150" y="258127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Pickup failures can create material delay</a:t>
            </a:r>
          </a:p>
        </p:txBody>
      </p:sp>
      <p:sp>
        <p:nvSpPr>
          <p:cNvPr id="12" name="">
            <a:extLst xmlns:a="http://schemas.openxmlformats.org/drawingml/2006/main">
              <a:ext uri="{FF2B5EF4-FFF2-40B4-BE49-F238E27FC236}">
                <a16:creationId xmlns:a16="http://schemas.microsoft.com/office/drawing/2014/main" id="{85E29A3C-3C13-4B8B-B0BF-8BCDFB6250FA}"/>
              </a:ext>
            </a:extLst>
          </p:cNvPr>
          <p:cNvSpPr>
            <a:spLocks xmlns:a="http://schemas.openxmlformats.org/drawingml/2006/main" noGrp="1"/>
          </p:cNvSpPr>
          <p:nvPr/>
        </p:nvSpPr>
        <p:spPr>
          <a:xfrm xmlns:a="http://schemas.openxmlformats.org/drawingml/2006/main">
            <a:off x="1200150" y="286702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7/10 time-tagged cases exceeded five minutes</a:t>
            </a:r>
          </a:p>
        </p:txBody>
      </p:sp>
      <p:sp>
        <p:nvSpPr>
          <p:cNvPr id="13" name="">
            <a:extLst xmlns:a="http://schemas.openxmlformats.org/drawingml/2006/main">
              <a:ext uri="{FF2B5EF4-FFF2-40B4-BE49-F238E27FC236}">
                <a16:creationId xmlns:a16="http://schemas.microsoft.com/office/drawing/2014/main" id="{2D88267F-3098-40D7-B67E-7C401EA50245}"/>
              </a:ext>
            </a:extLst>
          </p:cNvPr>
          <p:cNvSpPr>
            <a:spLocks xmlns:a="http://schemas.openxmlformats.org/drawingml/2006/main" noGrp="1"/>
          </p:cNvSpPr>
          <p:nvPr/>
        </p:nvSpPr>
        <p:spPr>
          <a:xfrm xmlns:a="http://schemas.openxmlformats.org/drawingml/2006/main">
            <a:off x="9220200" y="267652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A0F71D3-FA7A-41E6-B237-7F912182C50E}"/>
              </a:ext>
            </a:extLst>
          </p:cNvPr>
          <p:cNvSpPr>
            <a:spLocks xmlns:a="http://schemas.openxmlformats.org/drawingml/2006/main" noGrp="1"/>
          </p:cNvSpPr>
          <p:nvPr/>
        </p:nvSpPr>
        <p:spPr>
          <a:xfrm xmlns:a="http://schemas.openxmlformats.org/drawingml/2006/main">
            <a:off x="9315450" y="27146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15" name="">
            <a:extLst xmlns:a="http://schemas.openxmlformats.org/drawingml/2006/main">
              <a:ext uri="{FF2B5EF4-FFF2-40B4-BE49-F238E27FC236}">
                <a16:creationId xmlns:a16="http://schemas.microsoft.com/office/drawing/2014/main" id="{365CBE89-440A-4E61-B282-AC1607ADF209}"/>
              </a:ext>
            </a:extLst>
          </p:cNvPr>
          <p:cNvSpPr>
            <a:spLocks xmlns:a="http://schemas.openxmlformats.org/drawingml/2006/main" noGrp="1"/>
          </p:cNvSpPr>
          <p:nvPr/>
        </p:nvSpPr>
        <p:spPr>
          <a:xfrm xmlns:a="http://schemas.openxmlformats.org/drawingml/2006/main">
            <a:off x="514350" y="335280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3888D42F-86A2-467B-9A73-53B965A2A0CF}"/>
              </a:ext>
            </a:extLst>
          </p:cNvPr>
          <p:cNvSpPr>
            <a:spLocks xmlns:a="http://schemas.openxmlformats.org/drawingml/2006/main" noGrp="1"/>
          </p:cNvSpPr>
          <p:nvPr/>
        </p:nvSpPr>
        <p:spPr>
          <a:xfrm xmlns:a="http://schemas.openxmlformats.org/drawingml/2006/main">
            <a:off x="647700" y="347662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8</a:t>
            </a:r>
          </a:p>
        </p:txBody>
      </p:sp>
      <p:sp>
        <p:nvSpPr>
          <p:cNvPr id="17" name="">
            <a:extLst xmlns:a="http://schemas.openxmlformats.org/drawingml/2006/main">
              <a:ext uri="{FF2B5EF4-FFF2-40B4-BE49-F238E27FC236}">
                <a16:creationId xmlns:a16="http://schemas.microsoft.com/office/drawing/2014/main" id="{24819BE4-832C-48DD-A496-5E4D97EF0B3E}"/>
              </a:ext>
            </a:extLst>
          </p:cNvPr>
          <p:cNvSpPr>
            <a:spLocks xmlns:a="http://schemas.openxmlformats.org/drawingml/2006/main" noGrp="1"/>
          </p:cNvSpPr>
          <p:nvPr/>
        </p:nvSpPr>
        <p:spPr>
          <a:xfrm xmlns:a="http://schemas.openxmlformats.org/drawingml/2006/main">
            <a:off x="1200150" y="344805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Cancellation is related but multi-causal</a:t>
            </a:r>
          </a:p>
        </p:txBody>
      </p:sp>
      <p:sp>
        <p:nvSpPr>
          <p:cNvPr id="18" name="">
            <a:extLst xmlns:a="http://schemas.openxmlformats.org/drawingml/2006/main">
              <a:ext uri="{FF2B5EF4-FFF2-40B4-BE49-F238E27FC236}">
                <a16:creationId xmlns:a16="http://schemas.microsoft.com/office/drawing/2014/main" id="{E2B4FFD8-D5EC-4D8D-B1C3-CA27F931EF4D}"/>
              </a:ext>
            </a:extLst>
          </p:cNvPr>
          <p:cNvSpPr>
            <a:spLocks xmlns:a="http://schemas.openxmlformats.org/drawingml/2006/main" noGrp="1"/>
          </p:cNvSpPr>
          <p:nvPr/>
        </p:nvSpPr>
        <p:spPr>
          <a:xfrm xmlns:a="http://schemas.openxmlformats.org/drawingml/2006/main">
            <a:off x="1200150" y="373380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Location overlaps with destination, fare, payment, and rain</a:t>
            </a:r>
          </a:p>
        </p:txBody>
      </p:sp>
      <p:sp>
        <p:nvSpPr>
          <p:cNvPr id="19" name="">
            <a:extLst xmlns:a="http://schemas.openxmlformats.org/drawingml/2006/main">
              <a:ext uri="{FF2B5EF4-FFF2-40B4-BE49-F238E27FC236}">
                <a16:creationId xmlns:a16="http://schemas.microsoft.com/office/drawing/2014/main" id="{C65E7D7B-8211-4F0E-B856-E8AECEF6120B}"/>
              </a:ext>
            </a:extLst>
          </p:cNvPr>
          <p:cNvSpPr>
            <a:spLocks xmlns:a="http://schemas.openxmlformats.org/drawingml/2006/main" noGrp="1"/>
          </p:cNvSpPr>
          <p:nvPr/>
        </p:nvSpPr>
        <p:spPr>
          <a:xfrm xmlns:a="http://schemas.openxmlformats.org/drawingml/2006/main">
            <a:off x="9220200" y="354330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76E3999-051F-4D63-8056-741C4568AFCF}"/>
              </a:ext>
            </a:extLst>
          </p:cNvPr>
          <p:cNvSpPr>
            <a:spLocks xmlns:a="http://schemas.openxmlformats.org/drawingml/2006/main" noGrp="1"/>
          </p:cNvSpPr>
          <p:nvPr/>
        </p:nvSpPr>
        <p:spPr>
          <a:xfrm xmlns:a="http://schemas.openxmlformats.org/drawingml/2006/main">
            <a:off x="9315450" y="358140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1" name="">
            <a:extLst xmlns:a="http://schemas.openxmlformats.org/drawingml/2006/main">
              <a:ext uri="{FF2B5EF4-FFF2-40B4-BE49-F238E27FC236}">
                <a16:creationId xmlns:a16="http://schemas.microsoft.com/office/drawing/2014/main" id="{272F39C3-1F3A-4D11-B46F-E08F2F29D9CC}"/>
              </a:ext>
            </a:extLst>
          </p:cNvPr>
          <p:cNvSpPr>
            <a:spLocks xmlns:a="http://schemas.openxmlformats.org/drawingml/2006/main" noGrp="1"/>
          </p:cNvSpPr>
          <p:nvPr/>
        </p:nvSpPr>
        <p:spPr>
          <a:xfrm xmlns:a="http://schemas.openxmlformats.org/drawingml/2006/main">
            <a:off x="514350" y="4219575"/>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5C7DEE66-617F-4596-8575-4598D95A76CB}"/>
              </a:ext>
            </a:extLst>
          </p:cNvPr>
          <p:cNvSpPr>
            <a:spLocks xmlns:a="http://schemas.openxmlformats.org/drawingml/2006/main" noGrp="1"/>
          </p:cNvSpPr>
          <p:nvPr/>
        </p:nvSpPr>
        <p:spPr>
          <a:xfrm xmlns:a="http://schemas.openxmlformats.org/drawingml/2006/main">
            <a:off x="647700" y="4343400"/>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9</a:t>
            </a:r>
          </a:p>
        </p:txBody>
      </p:sp>
      <p:sp>
        <p:nvSpPr>
          <p:cNvPr id="23" name="">
            <a:extLst xmlns:a="http://schemas.openxmlformats.org/drawingml/2006/main">
              <a:ext uri="{FF2B5EF4-FFF2-40B4-BE49-F238E27FC236}">
                <a16:creationId xmlns:a16="http://schemas.microsoft.com/office/drawing/2014/main" id="{0C39EBF8-D6DC-49E2-A5A9-2BD9A13064DC}"/>
              </a:ext>
            </a:extLst>
          </p:cNvPr>
          <p:cNvSpPr>
            <a:spLocks xmlns:a="http://schemas.openxmlformats.org/drawingml/2006/main" noGrp="1"/>
          </p:cNvSpPr>
          <p:nvPr/>
        </p:nvSpPr>
        <p:spPr>
          <a:xfrm xmlns:a="http://schemas.openxmlformats.org/drawingml/2006/main">
            <a:off x="1200150" y="4314825"/>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Some respondents found no effective recovery</a:t>
            </a:r>
          </a:p>
        </p:txBody>
      </p:sp>
      <p:sp>
        <p:nvSpPr>
          <p:cNvPr id="24" name="">
            <a:extLst xmlns:a="http://schemas.openxmlformats.org/drawingml/2006/main">
              <a:ext uri="{FF2B5EF4-FFF2-40B4-BE49-F238E27FC236}">
                <a16:creationId xmlns:a16="http://schemas.microsoft.com/office/drawing/2014/main" id="{7615729A-B84D-49D7-AF7A-890097FF5722}"/>
              </a:ext>
            </a:extLst>
          </p:cNvPr>
          <p:cNvSpPr>
            <a:spLocks xmlns:a="http://schemas.openxmlformats.org/drawingml/2006/main" noGrp="1"/>
          </p:cNvSpPr>
          <p:nvPr/>
        </p:nvSpPr>
        <p:spPr>
          <a:xfrm xmlns:a="http://schemas.openxmlformats.org/drawingml/2006/main">
            <a:off x="1200150" y="4600575"/>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6/28 selected nothing helped</a:t>
            </a:r>
          </a:p>
        </p:txBody>
      </p:sp>
      <p:sp>
        <p:nvSpPr>
          <p:cNvPr id="25" name="">
            <a:extLst xmlns:a="http://schemas.openxmlformats.org/drawingml/2006/main">
              <a:ext uri="{FF2B5EF4-FFF2-40B4-BE49-F238E27FC236}">
                <a16:creationId xmlns:a16="http://schemas.microsoft.com/office/drawing/2014/main" id="{9B25D59C-C15E-430B-9F97-4DB47BEEEB15}"/>
              </a:ext>
            </a:extLst>
          </p:cNvPr>
          <p:cNvSpPr>
            <a:spLocks xmlns:a="http://schemas.openxmlformats.org/drawingml/2006/main" noGrp="1"/>
          </p:cNvSpPr>
          <p:nvPr/>
        </p:nvSpPr>
        <p:spPr>
          <a:xfrm xmlns:a="http://schemas.openxmlformats.org/drawingml/2006/main">
            <a:off x="9220200" y="4410075"/>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20CD97A-37FC-439A-B29F-76B3E4FB6A31}"/>
              </a:ext>
            </a:extLst>
          </p:cNvPr>
          <p:cNvSpPr>
            <a:spLocks xmlns:a="http://schemas.openxmlformats.org/drawingml/2006/main" noGrp="1"/>
          </p:cNvSpPr>
          <p:nvPr/>
        </p:nvSpPr>
        <p:spPr>
          <a:xfrm xmlns:a="http://schemas.openxmlformats.org/drawingml/2006/main">
            <a:off x="9315450" y="44481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Moderate</a:t>
            </a:r>
          </a:p>
        </p:txBody>
      </p:sp>
      <p:sp>
        <p:nvSpPr>
          <p:cNvPr id="27" name="">
            <a:extLst xmlns:a="http://schemas.openxmlformats.org/drawingml/2006/main">
              <a:ext uri="{FF2B5EF4-FFF2-40B4-BE49-F238E27FC236}">
                <a16:creationId xmlns:a16="http://schemas.microsoft.com/office/drawing/2014/main" id="{DCB800F3-BD59-495B-BD7B-87B35AA2C096}"/>
              </a:ext>
            </a:extLst>
          </p:cNvPr>
          <p:cNvSpPr>
            <a:spLocks xmlns:a="http://schemas.openxmlformats.org/drawingml/2006/main" noGrp="1"/>
          </p:cNvSpPr>
          <p:nvPr/>
        </p:nvSpPr>
        <p:spPr>
          <a:xfrm xmlns:a="http://schemas.openxmlformats.org/drawingml/2006/main">
            <a:off x="514350" y="5086350"/>
            <a:ext cx="10439400" cy="723900"/>
          </a:xfrm>
          <a:prstGeom xmlns:a="http://schemas.openxmlformats.org/drawingml/2006/main" prst="roundRect">
            <a:avLst>
              <a:gd name="adj" fmla="val 5263"/>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D45DA305-0D8F-426D-AA32-1E9A5C5C0BC1}"/>
              </a:ext>
            </a:extLst>
          </p:cNvPr>
          <p:cNvSpPr>
            <a:spLocks xmlns:a="http://schemas.openxmlformats.org/drawingml/2006/main" noGrp="1"/>
          </p:cNvSpPr>
          <p:nvPr/>
        </p:nvSpPr>
        <p:spPr>
          <a:xfrm xmlns:a="http://schemas.openxmlformats.org/drawingml/2006/main">
            <a:off x="647700" y="5210175"/>
            <a:ext cx="4000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1950" b="1" i="0">
                <a:solidFill>
                  <a:srgbClr val="F47A22"/>
                </a:solidFill>
                <a:latin typeface="Calibri"/>
                <a:ea typeface="Calibri"/>
                <a:cs typeface="Calibri"/>
              </a:defRPr>
            </a:pPr>
            <a:r>
              <a:rPr sz="1950" b="1" i="0">
                <a:solidFill>
                  <a:srgbClr val="F47A22"/>
                </a:solidFill>
                <a:latin typeface="Calibri"/>
                <a:ea typeface="Calibri"/>
                <a:cs typeface="Calibri"/>
              </a:rPr>
              <a:t>10</a:t>
            </a:r>
          </a:p>
        </p:txBody>
      </p:sp>
      <p:sp>
        <p:nvSpPr>
          <p:cNvPr id="29" name="">
            <a:extLst xmlns:a="http://schemas.openxmlformats.org/drawingml/2006/main">
              <a:ext uri="{FF2B5EF4-FFF2-40B4-BE49-F238E27FC236}">
                <a16:creationId xmlns:a16="http://schemas.microsoft.com/office/drawing/2014/main" id="{DA1E4497-5EC5-4BA1-8B9B-C91AC8492E1D}"/>
              </a:ext>
            </a:extLst>
          </p:cNvPr>
          <p:cNvSpPr>
            <a:spLocks xmlns:a="http://schemas.openxmlformats.org/drawingml/2006/main" noGrp="1"/>
          </p:cNvSpPr>
          <p:nvPr/>
        </p:nvSpPr>
        <p:spPr>
          <a:xfrm xmlns:a="http://schemas.openxmlformats.org/drawingml/2006/main">
            <a:off x="1200150" y="51816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500" b="1" i="0">
                <a:solidFill>
                  <a:srgbClr val="1B2B45"/>
                </a:solidFill>
                <a:latin typeface="Calibri"/>
                <a:ea typeface="Calibri"/>
                <a:cs typeface="Calibri"/>
              </a:defRPr>
            </a:pPr>
            <a:r>
              <a:rPr sz="1500" b="1" i="0">
                <a:solidFill>
                  <a:srgbClr val="1B2B45"/>
                </a:solidFill>
                <a:latin typeface="Calibri"/>
                <a:ea typeface="Calibri"/>
                <a:cs typeface="Calibri"/>
              </a:rPr>
              <a:t>Finding the ride includes vehicle identification</a:t>
            </a:r>
          </a:p>
        </p:txBody>
      </p:sp>
      <p:sp>
        <p:nvSpPr>
          <p:cNvPr id="30" name="">
            <a:extLst xmlns:a="http://schemas.openxmlformats.org/drawingml/2006/main">
              <a:ext uri="{FF2B5EF4-FFF2-40B4-BE49-F238E27FC236}">
                <a16:creationId xmlns:a16="http://schemas.microsoft.com/office/drawing/2014/main" id="{A5333C2E-17BB-48B8-A256-A09963502279}"/>
              </a:ext>
            </a:extLst>
          </p:cNvPr>
          <p:cNvSpPr>
            <a:spLocks xmlns:a="http://schemas.openxmlformats.org/drawingml/2006/main" noGrp="1"/>
          </p:cNvSpPr>
          <p:nvPr/>
        </p:nvSpPr>
        <p:spPr>
          <a:xfrm xmlns:a="http://schemas.openxmlformats.org/drawingml/2006/main">
            <a:off x="1200150" y="5467350"/>
            <a:ext cx="685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3333"/>
          </a:bodyPr>
          <a:lstStyle xmlns:a="http://schemas.openxmlformats.org/drawingml/2006/main"/>
          <a:p xmlns:a="http://schemas.openxmlformats.org/drawingml/2006/main">
            <a:pPr algn="l">
              <a:defRPr sz="1200" b="0" i="0">
                <a:solidFill>
                  <a:srgbClr val="687489"/>
                </a:solidFill>
                <a:latin typeface="Calibri"/>
                <a:ea typeface="Calibri"/>
                <a:cs typeface="Calibri"/>
              </a:defRPr>
            </a:pPr>
            <a:r>
              <a:rPr sz="1200" b="0" i="0">
                <a:solidFill>
                  <a:srgbClr val="687489"/>
                </a:solidFill>
                <a:latin typeface="Calibri"/>
                <a:ea typeface="Calibri"/>
                <a:cs typeface="Calibri"/>
              </a:rPr>
              <a:t>One vehicle-number mismatch report</a:t>
            </a:r>
          </a:p>
        </p:txBody>
      </p:sp>
      <p:sp>
        <p:nvSpPr>
          <p:cNvPr id="31" name="">
            <a:extLst xmlns:a="http://schemas.openxmlformats.org/drawingml/2006/main">
              <a:ext uri="{FF2B5EF4-FFF2-40B4-BE49-F238E27FC236}">
                <a16:creationId xmlns:a16="http://schemas.microsoft.com/office/drawing/2014/main" id="{B41AC687-99EB-415B-88A7-FB1C7CECABB5}"/>
              </a:ext>
            </a:extLst>
          </p:cNvPr>
          <p:cNvSpPr>
            <a:spLocks xmlns:a="http://schemas.openxmlformats.org/drawingml/2006/main" noGrp="1"/>
          </p:cNvSpPr>
          <p:nvPr/>
        </p:nvSpPr>
        <p:spPr>
          <a:xfrm xmlns:a="http://schemas.openxmlformats.org/drawingml/2006/main">
            <a:off x="9220200" y="5276850"/>
            <a:ext cx="1428750" cy="323850"/>
          </a:xfrm>
          <a:prstGeom xmlns:a="http://schemas.openxmlformats.org/drawingml/2006/main" prst="roundRect">
            <a:avLst>
              <a:gd name="adj" fmla="val 47059"/>
            </a:avLst>
          </a:prstGeom>
          <a:solidFill xmlns:a="http://schemas.openxmlformats.org/drawingml/2006/main">
            <a:srgbClr val="FBE7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474AAF6-501F-44A3-810E-5E3299D31321}"/>
              </a:ext>
            </a:extLst>
          </p:cNvPr>
          <p:cNvSpPr>
            <a:spLocks xmlns:a="http://schemas.openxmlformats.org/drawingml/2006/main" noGrp="1"/>
          </p:cNvSpPr>
          <p:nvPr/>
        </p:nvSpPr>
        <p:spPr>
          <a:xfrm xmlns:a="http://schemas.openxmlformats.org/drawingml/2006/main">
            <a:off x="9315450" y="53149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8889"/>
          </a:bodyPr>
          <a:lstStyle xmlns:a="http://schemas.openxmlformats.org/drawingml/2006/main"/>
          <a:p xmlns:a="http://schemas.openxmlformats.org/drawingml/2006/main">
            <a:pPr algn="ctr">
              <a:defRPr sz="1125" b="1" i="0">
                <a:solidFill>
                  <a:srgbClr val="1B2B45"/>
                </a:solidFill>
                <a:latin typeface="Calibri"/>
                <a:ea typeface="Calibri"/>
                <a:cs typeface="Calibri"/>
              </a:defRPr>
            </a:pPr>
            <a:r>
              <a:rPr sz="1125" b="1" i="0">
                <a:solidFill>
                  <a:srgbClr val="1B2B45"/>
                </a:solidFill>
                <a:latin typeface="Calibri"/>
                <a:ea typeface="Calibri"/>
                <a:cs typeface="Calibri"/>
              </a:rPr>
              <a:t>Weak</a:t>
            </a:r>
          </a:p>
        </p:txBody>
      </p:sp>
      <p:sp>
        <p:nvSpPr>
          <p:cNvPr id="33" name="">
            <a:extLst xmlns:a="http://schemas.openxmlformats.org/drawingml/2006/main">
              <a:ext uri="{FF2B5EF4-FFF2-40B4-BE49-F238E27FC236}">
                <a16:creationId xmlns:a16="http://schemas.microsoft.com/office/drawing/2014/main" id="{C8A9C446-BB67-4417-A710-DA30316ACFA7}"/>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34" name="">
            <a:extLst xmlns:a="http://schemas.openxmlformats.org/drawingml/2006/main">
              <a:ext uri="{FF2B5EF4-FFF2-40B4-BE49-F238E27FC236}">
                <a16:creationId xmlns:a16="http://schemas.microsoft.com/office/drawing/2014/main" id="{175FE88F-16B6-49A5-88F7-B0895A7DE453}"/>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17</a:t>
            </a:r>
          </a:p>
        </p:txBody>
      </p:sp>
    </p:spTree>
    <p:extLst>
      <p:ext uri="{BB962C8B-B14F-4D97-AF65-F5344CB8AC3E}">
        <p14:creationId xmlns:p14="http://schemas.microsoft.com/office/powerpoint/2010/main" val="128789330"/>
      </p:ext>
    </p:extLst>
  </p:cSld>
</p:sld>
</file>

<file path=ppt/slides/slide18.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DE7711F4-C95C-4AEE-9107-486A7998844C}"/>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MARKET AND COMPETITOR EVIDENCE</a:t>
            </a:r>
          </a:p>
        </p:txBody>
      </p:sp>
      <p:sp>
        <p:nvSpPr>
          <p:cNvPr id="2" name="">
            <a:extLst xmlns:a="http://schemas.openxmlformats.org/drawingml/2006/main">
              <a:ext uri="{FF2B5EF4-FFF2-40B4-BE49-F238E27FC236}">
                <a16:creationId xmlns:a16="http://schemas.microsoft.com/office/drawing/2014/main" id="{3399E78B-9219-4FFA-A5A2-01048861AA4B}"/>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Design patterns — with transferability limits</a:t>
            </a:r>
          </a:p>
        </p:txBody>
      </p:sp>
      <p:sp>
        <p:nvSpPr>
          <p:cNvPr id="3" name="">
            <a:extLst xmlns:a="http://schemas.openxmlformats.org/drawingml/2006/main">
              <a:ext uri="{FF2B5EF4-FFF2-40B4-BE49-F238E27FC236}">
                <a16:creationId xmlns:a16="http://schemas.microsoft.com/office/drawing/2014/main" id="{7F8423A4-192F-49FA-A1B2-CF05E5A27B15}"/>
              </a:ext>
            </a:extLst>
          </p:cNvPr>
          <p:cNvSpPr>
            <a:spLocks xmlns:a="http://schemas.openxmlformats.org/drawingml/2006/main" noGrp="1"/>
          </p:cNvSpPr>
          <p:nvPr/>
        </p:nvSpPr>
        <p:spPr>
          <a:xfrm xmlns:a="http://schemas.openxmlformats.org/drawingml/2006/main">
            <a:off x="514350" y="1619250"/>
            <a:ext cx="16573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867610AD-70FF-4100-86E5-9EDC5653A8CA}"/>
              </a:ext>
            </a:extLst>
          </p:cNvPr>
          <p:cNvSpPr>
            <a:spLocks xmlns:a="http://schemas.openxmlformats.org/drawingml/2006/main" noGrp="1"/>
          </p:cNvSpPr>
          <p:nvPr/>
        </p:nvSpPr>
        <p:spPr>
          <a:xfrm xmlns:a="http://schemas.openxmlformats.org/drawingml/2006/main">
            <a:off x="590550" y="1733550"/>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Reference</a:t>
            </a:r>
          </a:p>
        </p:txBody>
      </p:sp>
      <p:sp>
        <p:nvSpPr>
          <p:cNvPr id="5" name="">
            <a:extLst xmlns:a="http://schemas.openxmlformats.org/drawingml/2006/main">
              <a:ext uri="{FF2B5EF4-FFF2-40B4-BE49-F238E27FC236}">
                <a16:creationId xmlns:a16="http://schemas.microsoft.com/office/drawing/2014/main" id="{72E80A6D-62F2-4104-BBBD-D2E21162FDAD}"/>
              </a:ext>
            </a:extLst>
          </p:cNvPr>
          <p:cNvSpPr>
            <a:spLocks xmlns:a="http://schemas.openxmlformats.org/drawingml/2006/main" noGrp="1"/>
          </p:cNvSpPr>
          <p:nvPr/>
        </p:nvSpPr>
        <p:spPr>
          <a:xfrm xmlns:a="http://schemas.openxmlformats.org/drawingml/2006/main">
            <a:off x="2171700" y="1619250"/>
            <a:ext cx="27813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8E825AAB-150F-4447-B393-FD594F7BC62E}"/>
              </a:ext>
            </a:extLst>
          </p:cNvPr>
          <p:cNvSpPr>
            <a:spLocks xmlns:a="http://schemas.openxmlformats.org/drawingml/2006/main" noGrp="1"/>
          </p:cNvSpPr>
          <p:nvPr/>
        </p:nvSpPr>
        <p:spPr>
          <a:xfrm xmlns:a="http://schemas.openxmlformats.org/drawingml/2006/main">
            <a:off x="2247900" y="1733550"/>
            <a:ext cx="2628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Observed mechanism</a:t>
            </a:r>
          </a:p>
        </p:txBody>
      </p:sp>
      <p:sp>
        <p:nvSpPr>
          <p:cNvPr id="7" name="">
            <a:extLst xmlns:a="http://schemas.openxmlformats.org/drawingml/2006/main">
              <a:ext uri="{FF2B5EF4-FFF2-40B4-BE49-F238E27FC236}">
                <a16:creationId xmlns:a16="http://schemas.microsoft.com/office/drawing/2014/main" id="{68D02C39-140B-4C7B-BE05-9B4F3CB78D88}"/>
              </a:ext>
            </a:extLst>
          </p:cNvPr>
          <p:cNvSpPr>
            <a:spLocks xmlns:a="http://schemas.openxmlformats.org/drawingml/2006/main" noGrp="1"/>
          </p:cNvSpPr>
          <p:nvPr/>
        </p:nvSpPr>
        <p:spPr>
          <a:xfrm xmlns:a="http://schemas.openxmlformats.org/drawingml/2006/main">
            <a:off x="4953000" y="1619250"/>
            <a:ext cx="325755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F44D7EF3-F7F7-4794-AEB3-5B1DCB7B7ABE}"/>
              </a:ext>
            </a:extLst>
          </p:cNvPr>
          <p:cNvSpPr>
            <a:spLocks xmlns:a="http://schemas.openxmlformats.org/drawingml/2006/main" noGrp="1"/>
          </p:cNvSpPr>
          <p:nvPr/>
        </p:nvSpPr>
        <p:spPr>
          <a:xfrm xmlns:a="http://schemas.openxmlformats.org/drawingml/2006/main">
            <a:off x="5029200" y="1733550"/>
            <a:ext cx="3105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Lesson for this case</a:t>
            </a:r>
          </a:p>
        </p:txBody>
      </p:sp>
      <p:sp>
        <p:nvSpPr>
          <p:cNvPr id="9" name="">
            <a:extLst xmlns:a="http://schemas.openxmlformats.org/drawingml/2006/main">
              <a:ext uri="{FF2B5EF4-FFF2-40B4-BE49-F238E27FC236}">
                <a16:creationId xmlns:a16="http://schemas.microsoft.com/office/drawing/2014/main" id="{297A38BC-24BC-45F4-9B89-9C89CCB556D6}"/>
              </a:ext>
            </a:extLst>
          </p:cNvPr>
          <p:cNvSpPr>
            <a:spLocks xmlns:a="http://schemas.openxmlformats.org/drawingml/2006/main" noGrp="1"/>
          </p:cNvSpPr>
          <p:nvPr/>
        </p:nvSpPr>
        <p:spPr>
          <a:xfrm xmlns:a="http://schemas.openxmlformats.org/drawingml/2006/main">
            <a:off x="8210550" y="1619250"/>
            <a:ext cx="2743200" cy="49530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16FC9DED-F46E-489A-A4D2-28ECA7681618}"/>
              </a:ext>
            </a:extLst>
          </p:cNvPr>
          <p:cNvSpPr>
            <a:spLocks xmlns:a="http://schemas.openxmlformats.org/drawingml/2006/main" noGrp="1"/>
          </p:cNvSpPr>
          <p:nvPr/>
        </p:nvSpPr>
        <p:spPr>
          <a:xfrm xmlns:a="http://schemas.openxmlformats.org/drawingml/2006/main">
            <a:off x="8286750" y="1733550"/>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8039"/>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Boundary</a:t>
            </a:r>
          </a:p>
        </p:txBody>
      </p:sp>
      <p:sp>
        <p:nvSpPr>
          <p:cNvPr id="11" name="">
            <a:extLst xmlns:a="http://schemas.openxmlformats.org/drawingml/2006/main">
              <a:ext uri="{FF2B5EF4-FFF2-40B4-BE49-F238E27FC236}">
                <a16:creationId xmlns:a16="http://schemas.microsoft.com/office/drawing/2014/main" id="{39F21EA4-5759-4FDF-80FE-9981561B9B6C}"/>
              </a:ext>
            </a:extLst>
          </p:cNvPr>
          <p:cNvSpPr>
            <a:spLocks xmlns:a="http://schemas.openxmlformats.org/drawingml/2006/main" noGrp="1"/>
          </p:cNvSpPr>
          <p:nvPr/>
        </p:nvSpPr>
        <p:spPr>
          <a:xfrm xmlns:a="http://schemas.openxmlformats.org/drawingml/2006/main">
            <a:off x="514350" y="21145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2" name="">
            <a:extLst xmlns:a="http://schemas.openxmlformats.org/drawingml/2006/main">
              <a:ext uri="{FF2B5EF4-FFF2-40B4-BE49-F238E27FC236}">
                <a16:creationId xmlns:a16="http://schemas.microsoft.com/office/drawing/2014/main" id="{74B6BA81-A99D-4AFE-BF03-A51C996E32B2}"/>
              </a:ext>
            </a:extLst>
          </p:cNvPr>
          <p:cNvSpPr>
            <a:spLocks xmlns:a="http://schemas.openxmlformats.org/drawingml/2006/main" noGrp="1"/>
          </p:cNvSpPr>
          <p:nvPr/>
        </p:nvSpPr>
        <p:spPr>
          <a:xfrm xmlns:a="http://schemas.openxmlformats.org/drawingml/2006/main">
            <a:off x="609600" y="22098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Uber HYD</a:t>
            </a:r>
          </a:p>
        </p:txBody>
      </p:sp>
      <p:sp>
        <p:nvSpPr>
          <p:cNvPr id="13" name="">
            <a:extLst xmlns:a="http://schemas.openxmlformats.org/drawingml/2006/main">
              <a:ext uri="{FF2B5EF4-FFF2-40B4-BE49-F238E27FC236}">
                <a16:creationId xmlns:a16="http://schemas.microsoft.com/office/drawing/2014/main" id="{E8C7E889-3857-4DDD-820A-68080B6D928E}"/>
              </a:ext>
            </a:extLst>
          </p:cNvPr>
          <p:cNvSpPr>
            <a:spLocks xmlns:a="http://schemas.openxmlformats.org/drawingml/2006/main" noGrp="1"/>
          </p:cNvSpPr>
          <p:nvPr/>
        </p:nvSpPr>
        <p:spPr>
          <a:xfrm xmlns:a="http://schemas.openxmlformats.org/drawingml/2006/main">
            <a:off x="2171700" y="21145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6FE1194F-7421-45B9-828D-5BF5DD488BB7}"/>
              </a:ext>
            </a:extLst>
          </p:cNvPr>
          <p:cNvSpPr>
            <a:spLocks xmlns:a="http://schemas.openxmlformats.org/drawingml/2006/main" noGrp="1"/>
          </p:cNvSpPr>
          <p:nvPr/>
        </p:nvSpPr>
        <p:spPr>
          <a:xfrm xmlns:a="http://schemas.openxmlformats.org/drawingml/2006/main">
            <a:off x="2266950" y="22098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In-app directions and D1 pickup zone</a:t>
            </a:r>
          </a:p>
        </p:txBody>
      </p:sp>
      <p:sp>
        <p:nvSpPr>
          <p:cNvPr id="15" name="">
            <a:extLst xmlns:a="http://schemas.openxmlformats.org/drawingml/2006/main">
              <a:ext uri="{FF2B5EF4-FFF2-40B4-BE49-F238E27FC236}">
                <a16:creationId xmlns:a16="http://schemas.microsoft.com/office/drawing/2014/main" id="{D8E21E4A-662F-4E7C-BCC6-EFE6CA2C8FFD}"/>
              </a:ext>
            </a:extLst>
          </p:cNvPr>
          <p:cNvSpPr>
            <a:spLocks xmlns:a="http://schemas.openxmlformats.org/drawingml/2006/main" noGrp="1"/>
          </p:cNvSpPr>
          <p:nvPr/>
        </p:nvSpPr>
        <p:spPr>
          <a:xfrm xmlns:a="http://schemas.openxmlformats.org/drawingml/2006/main">
            <a:off x="4953000" y="21145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F4E8EBEB-EE46-4381-AA0F-6F4E5C948525}"/>
              </a:ext>
            </a:extLst>
          </p:cNvPr>
          <p:cNvSpPr>
            <a:spLocks xmlns:a="http://schemas.openxmlformats.org/drawingml/2006/main" noGrp="1"/>
          </p:cNvSpPr>
          <p:nvPr/>
        </p:nvSpPr>
        <p:spPr>
          <a:xfrm xmlns:a="http://schemas.openxmlformats.org/drawingml/2006/main">
            <a:off x="5048250" y="22098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Baseline exists; test coverage and failed coordination</a:t>
            </a:r>
          </a:p>
        </p:txBody>
      </p:sp>
      <p:sp>
        <p:nvSpPr>
          <p:cNvPr id="17" name="">
            <a:extLst xmlns:a="http://schemas.openxmlformats.org/drawingml/2006/main">
              <a:ext uri="{FF2B5EF4-FFF2-40B4-BE49-F238E27FC236}">
                <a16:creationId xmlns:a16="http://schemas.microsoft.com/office/drawing/2014/main" id="{E6C7BBA4-B105-492F-840F-5DE553269D68}"/>
              </a:ext>
            </a:extLst>
          </p:cNvPr>
          <p:cNvSpPr>
            <a:spLocks xmlns:a="http://schemas.openxmlformats.org/drawingml/2006/main" noGrp="1"/>
          </p:cNvSpPr>
          <p:nvPr/>
        </p:nvSpPr>
        <p:spPr>
          <a:xfrm xmlns:a="http://schemas.openxmlformats.org/drawingml/2006/main">
            <a:off x="8210550" y="21145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E6832F7A-4771-4E9D-8051-0FB46F16E24B}"/>
              </a:ext>
            </a:extLst>
          </p:cNvPr>
          <p:cNvSpPr>
            <a:spLocks xmlns:a="http://schemas.openxmlformats.org/drawingml/2006/main" noGrp="1"/>
          </p:cNvSpPr>
          <p:nvPr/>
        </p:nvSpPr>
        <p:spPr>
          <a:xfrm xmlns:a="http://schemas.openxmlformats.org/drawingml/2006/main">
            <a:off x="8305800" y="22098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Airport-only evidence</a:t>
            </a:r>
          </a:p>
        </p:txBody>
      </p:sp>
      <p:sp>
        <p:nvSpPr>
          <p:cNvPr id="19" name="">
            <a:extLst xmlns:a="http://schemas.openxmlformats.org/drawingml/2006/main">
              <a:ext uri="{FF2B5EF4-FFF2-40B4-BE49-F238E27FC236}">
                <a16:creationId xmlns:a16="http://schemas.microsoft.com/office/drawing/2014/main" id="{390B32B8-C51F-4E31-98AE-7FAB89E5F79E}"/>
              </a:ext>
            </a:extLst>
          </p:cNvPr>
          <p:cNvSpPr>
            <a:spLocks xmlns:a="http://schemas.openxmlformats.org/drawingml/2006/main" noGrp="1"/>
          </p:cNvSpPr>
          <p:nvPr/>
        </p:nvSpPr>
        <p:spPr>
          <a:xfrm xmlns:a="http://schemas.openxmlformats.org/drawingml/2006/main">
            <a:off x="514350" y="28575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4452C35D-FD95-42EE-9DAB-BF9D4044C1C4}"/>
              </a:ext>
            </a:extLst>
          </p:cNvPr>
          <p:cNvSpPr>
            <a:spLocks xmlns:a="http://schemas.openxmlformats.org/drawingml/2006/main" noGrp="1"/>
          </p:cNvSpPr>
          <p:nvPr/>
        </p:nvSpPr>
        <p:spPr>
          <a:xfrm xmlns:a="http://schemas.openxmlformats.org/drawingml/2006/main">
            <a:off x="609600" y="29527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Grab</a:t>
            </a:r>
          </a:p>
        </p:txBody>
      </p:sp>
      <p:sp>
        <p:nvSpPr>
          <p:cNvPr id="21" name="">
            <a:extLst xmlns:a="http://schemas.openxmlformats.org/drawingml/2006/main">
              <a:ext uri="{FF2B5EF4-FFF2-40B4-BE49-F238E27FC236}">
                <a16:creationId xmlns:a16="http://schemas.microsoft.com/office/drawing/2014/main" id="{A149647F-938D-492C-A679-200F7B7B7034}"/>
              </a:ext>
            </a:extLst>
          </p:cNvPr>
          <p:cNvSpPr>
            <a:spLocks xmlns:a="http://schemas.openxmlformats.org/drawingml/2006/main" noGrp="1"/>
          </p:cNvSpPr>
          <p:nvPr/>
        </p:nvSpPr>
        <p:spPr>
          <a:xfrm xmlns:a="http://schemas.openxmlformats.org/drawingml/2006/main">
            <a:off x="2171700" y="28575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9426D0A6-9DE5-4884-B635-5B3D88FAF192}"/>
              </a:ext>
            </a:extLst>
          </p:cNvPr>
          <p:cNvSpPr>
            <a:spLocks xmlns:a="http://schemas.openxmlformats.org/drawingml/2006/main" noGrp="1"/>
          </p:cNvSpPr>
          <p:nvPr/>
        </p:nvSpPr>
        <p:spPr>
          <a:xfrm xmlns:a="http://schemas.openxmlformats.org/drawingml/2006/main">
            <a:off x="2266950" y="29527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Venue visuals and curated meeting points</a:t>
            </a:r>
          </a:p>
        </p:txBody>
      </p:sp>
      <p:sp>
        <p:nvSpPr>
          <p:cNvPr id="23" name="">
            <a:extLst xmlns:a="http://schemas.openxmlformats.org/drawingml/2006/main">
              <a:ext uri="{FF2B5EF4-FFF2-40B4-BE49-F238E27FC236}">
                <a16:creationId xmlns:a16="http://schemas.microsoft.com/office/drawing/2014/main" id="{58D08F01-2715-42A4-A1B0-AD6BD135031F}"/>
              </a:ext>
            </a:extLst>
          </p:cNvPr>
          <p:cNvSpPr>
            <a:spLocks xmlns:a="http://schemas.openxmlformats.org/drawingml/2006/main" noGrp="1"/>
          </p:cNvSpPr>
          <p:nvPr/>
        </p:nvSpPr>
        <p:spPr>
          <a:xfrm xmlns:a="http://schemas.openxmlformats.org/drawingml/2006/main">
            <a:off x="4953000" y="28575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D4B82C24-2B5E-4336-8E8C-8E3B468F5D1C}"/>
              </a:ext>
            </a:extLst>
          </p:cNvPr>
          <p:cNvSpPr>
            <a:spLocks xmlns:a="http://schemas.openxmlformats.org/drawingml/2006/main" noGrp="1"/>
          </p:cNvSpPr>
          <p:nvPr/>
        </p:nvSpPr>
        <p:spPr>
          <a:xfrm xmlns:a="http://schemas.openxmlformats.org/drawingml/2006/main">
            <a:off x="5048250" y="29527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Make landmarks and paths concrete</a:t>
            </a:r>
          </a:p>
        </p:txBody>
      </p:sp>
      <p:sp>
        <p:nvSpPr>
          <p:cNvPr id="25" name="">
            <a:extLst xmlns:a="http://schemas.openxmlformats.org/drawingml/2006/main">
              <a:ext uri="{FF2B5EF4-FFF2-40B4-BE49-F238E27FC236}">
                <a16:creationId xmlns:a16="http://schemas.microsoft.com/office/drawing/2014/main" id="{E66A5896-E846-484D-AD34-329C1F76E1D7}"/>
              </a:ext>
            </a:extLst>
          </p:cNvPr>
          <p:cNvSpPr>
            <a:spLocks xmlns:a="http://schemas.openxmlformats.org/drawingml/2006/main" noGrp="1"/>
          </p:cNvSpPr>
          <p:nvPr/>
        </p:nvSpPr>
        <p:spPr>
          <a:xfrm xmlns:a="http://schemas.openxmlformats.org/drawingml/2006/main">
            <a:off x="8210550" y="28575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6751B5E5-14C2-40A8-B2C8-8A3BFC35AE0D}"/>
              </a:ext>
            </a:extLst>
          </p:cNvPr>
          <p:cNvSpPr>
            <a:spLocks xmlns:a="http://schemas.openxmlformats.org/drawingml/2006/main" noGrp="1"/>
          </p:cNvSpPr>
          <p:nvPr/>
        </p:nvSpPr>
        <p:spPr>
          <a:xfrm xmlns:a="http://schemas.openxmlformats.org/drawingml/2006/main">
            <a:off x="8305800" y="29527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Global / experimental claims</a:t>
            </a:r>
          </a:p>
        </p:txBody>
      </p:sp>
      <p:sp>
        <p:nvSpPr>
          <p:cNvPr id="27" name="">
            <a:extLst xmlns:a="http://schemas.openxmlformats.org/drawingml/2006/main">
              <a:ext uri="{FF2B5EF4-FFF2-40B4-BE49-F238E27FC236}">
                <a16:creationId xmlns:a16="http://schemas.microsoft.com/office/drawing/2014/main" id="{8C7B4F96-47E2-4DBC-8581-BC55AE1EAB96}"/>
              </a:ext>
            </a:extLst>
          </p:cNvPr>
          <p:cNvSpPr>
            <a:spLocks xmlns:a="http://schemas.openxmlformats.org/drawingml/2006/main" noGrp="1"/>
          </p:cNvSpPr>
          <p:nvPr/>
        </p:nvSpPr>
        <p:spPr>
          <a:xfrm xmlns:a="http://schemas.openxmlformats.org/drawingml/2006/main">
            <a:off x="514350" y="36004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0F887CE2-C938-4244-A92D-5C30D3552A59}"/>
              </a:ext>
            </a:extLst>
          </p:cNvPr>
          <p:cNvSpPr>
            <a:spLocks xmlns:a="http://schemas.openxmlformats.org/drawingml/2006/main" noGrp="1"/>
          </p:cNvSpPr>
          <p:nvPr/>
        </p:nvSpPr>
        <p:spPr>
          <a:xfrm xmlns:a="http://schemas.openxmlformats.org/drawingml/2006/main">
            <a:off x="609600" y="36957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Lyft</a:t>
            </a:r>
          </a:p>
        </p:txBody>
      </p:sp>
      <p:sp>
        <p:nvSpPr>
          <p:cNvPr id="29" name="">
            <a:extLst xmlns:a="http://schemas.openxmlformats.org/drawingml/2006/main">
              <a:ext uri="{FF2B5EF4-FFF2-40B4-BE49-F238E27FC236}">
                <a16:creationId xmlns:a16="http://schemas.microsoft.com/office/drawing/2014/main" id="{D2AF5645-D1FD-440B-8444-9E6FDE0703E1}"/>
              </a:ext>
            </a:extLst>
          </p:cNvPr>
          <p:cNvSpPr>
            <a:spLocks xmlns:a="http://schemas.openxmlformats.org/drawingml/2006/main" noGrp="1"/>
          </p:cNvSpPr>
          <p:nvPr/>
        </p:nvSpPr>
        <p:spPr>
          <a:xfrm xmlns:a="http://schemas.openxmlformats.org/drawingml/2006/main">
            <a:off x="2171700" y="36004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D238D009-0354-4698-BB7A-A87654F67E5B}"/>
              </a:ext>
            </a:extLst>
          </p:cNvPr>
          <p:cNvSpPr>
            <a:spLocks xmlns:a="http://schemas.openxmlformats.org/drawingml/2006/main" noGrp="1"/>
          </p:cNvSpPr>
          <p:nvPr/>
        </p:nvSpPr>
        <p:spPr>
          <a:xfrm xmlns:a="http://schemas.openxmlformats.org/drawingml/2006/main">
            <a:off x="2266950" y="36957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Pickup Notes and selective assisted rides</a:t>
            </a:r>
          </a:p>
        </p:txBody>
      </p:sp>
      <p:sp>
        <p:nvSpPr>
          <p:cNvPr id="31" name="">
            <a:extLst xmlns:a="http://schemas.openxmlformats.org/drawingml/2006/main">
              <a:ext uri="{FF2B5EF4-FFF2-40B4-BE49-F238E27FC236}">
                <a16:creationId xmlns:a16="http://schemas.microsoft.com/office/drawing/2014/main" id="{6C90E703-C4EB-455B-B7A8-BE8EEF573587}"/>
              </a:ext>
            </a:extLst>
          </p:cNvPr>
          <p:cNvSpPr>
            <a:spLocks xmlns:a="http://schemas.openxmlformats.org/drawingml/2006/main" noGrp="1"/>
          </p:cNvSpPr>
          <p:nvPr/>
        </p:nvSpPr>
        <p:spPr>
          <a:xfrm xmlns:a="http://schemas.openxmlformats.org/drawingml/2006/main">
            <a:off x="4953000" y="36004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EBD74D2F-7CC7-4280-9A83-79C3BF0AA877}"/>
              </a:ext>
            </a:extLst>
          </p:cNvPr>
          <p:cNvSpPr>
            <a:spLocks xmlns:a="http://schemas.openxmlformats.org/drawingml/2006/main" noGrp="1"/>
          </p:cNvSpPr>
          <p:nvPr/>
        </p:nvSpPr>
        <p:spPr>
          <a:xfrm xmlns:a="http://schemas.openxmlformats.org/drawingml/2006/main">
            <a:off x="5048250" y="36957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Structured context and recovery precedent</a:t>
            </a:r>
          </a:p>
        </p:txBody>
      </p:sp>
      <p:sp>
        <p:nvSpPr>
          <p:cNvPr id="33" name="">
            <a:extLst xmlns:a="http://schemas.openxmlformats.org/drawingml/2006/main">
              <a:ext uri="{FF2B5EF4-FFF2-40B4-BE49-F238E27FC236}">
                <a16:creationId xmlns:a16="http://schemas.microsoft.com/office/drawing/2014/main" id="{F2FEF7BE-521C-4852-8827-861E63BC0E90}"/>
              </a:ext>
            </a:extLst>
          </p:cNvPr>
          <p:cNvSpPr>
            <a:spLocks xmlns:a="http://schemas.openxmlformats.org/drawingml/2006/main" noGrp="1"/>
          </p:cNvSpPr>
          <p:nvPr/>
        </p:nvSpPr>
        <p:spPr>
          <a:xfrm xmlns:a="http://schemas.openxmlformats.org/drawingml/2006/main">
            <a:off x="8210550" y="36004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9DB3B503-C739-44E3-821A-D9AE8585845C}"/>
              </a:ext>
            </a:extLst>
          </p:cNvPr>
          <p:cNvSpPr>
            <a:spLocks xmlns:a="http://schemas.openxmlformats.org/drawingml/2006/main" noGrp="1"/>
          </p:cNvSpPr>
          <p:nvPr/>
        </p:nvSpPr>
        <p:spPr>
          <a:xfrm xmlns:a="http://schemas.openxmlformats.org/drawingml/2006/main">
            <a:off x="8305800" y="36957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market</a:t>
            </a:r>
          </a:p>
        </p:txBody>
      </p:sp>
      <p:sp>
        <p:nvSpPr>
          <p:cNvPr id="35" name="">
            <a:extLst xmlns:a="http://schemas.openxmlformats.org/drawingml/2006/main">
              <a:ext uri="{FF2B5EF4-FFF2-40B4-BE49-F238E27FC236}">
                <a16:creationId xmlns:a16="http://schemas.microsoft.com/office/drawing/2014/main" id="{23582BF5-2EB9-4F77-8EEC-26648624847B}"/>
              </a:ext>
            </a:extLst>
          </p:cNvPr>
          <p:cNvSpPr>
            <a:spLocks xmlns:a="http://schemas.openxmlformats.org/drawingml/2006/main" noGrp="1"/>
          </p:cNvSpPr>
          <p:nvPr/>
        </p:nvSpPr>
        <p:spPr>
          <a:xfrm xmlns:a="http://schemas.openxmlformats.org/drawingml/2006/main">
            <a:off x="514350" y="4343400"/>
            <a:ext cx="16573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6B1BAC87-AC89-44B4-BBC7-9F487575FE48}"/>
              </a:ext>
            </a:extLst>
          </p:cNvPr>
          <p:cNvSpPr>
            <a:spLocks xmlns:a="http://schemas.openxmlformats.org/drawingml/2006/main" noGrp="1"/>
          </p:cNvSpPr>
          <p:nvPr/>
        </p:nvSpPr>
        <p:spPr>
          <a:xfrm xmlns:a="http://schemas.openxmlformats.org/drawingml/2006/main">
            <a:off x="609600" y="443865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Waymo</a:t>
            </a:r>
          </a:p>
        </p:txBody>
      </p:sp>
      <p:sp>
        <p:nvSpPr>
          <p:cNvPr id="37" name="">
            <a:extLst xmlns:a="http://schemas.openxmlformats.org/drawingml/2006/main">
              <a:ext uri="{FF2B5EF4-FFF2-40B4-BE49-F238E27FC236}">
                <a16:creationId xmlns:a16="http://schemas.microsoft.com/office/drawing/2014/main" id="{60D512C1-F9E0-456F-B652-DBE60FBFC0AC}"/>
              </a:ext>
            </a:extLst>
          </p:cNvPr>
          <p:cNvSpPr>
            <a:spLocks xmlns:a="http://schemas.openxmlformats.org/drawingml/2006/main" noGrp="1"/>
          </p:cNvSpPr>
          <p:nvPr/>
        </p:nvSpPr>
        <p:spPr>
          <a:xfrm xmlns:a="http://schemas.openxmlformats.org/drawingml/2006/main">
            <a:off x="2171700" y="4343400"/>
            <a:ext cx="27813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26D8D342-6C81-45CC-8182-A862FEC2870D}"/>
              </a:ext>
            </a:extLst>
          </p:cNvPr>
          <p:cNvSpPr>
            <a:spLocks xmlns:a="http://schemas.openxmlformats.org/drawingml/2006/main" noGrp="1"/>
          </p:cNvSpPr>
          <p:nvPr/>
        </p:nvSpPr>
        <p:spPr>
          <a:xfrm xmlns:a="http://schemas.openxmlformats.org/drawingml/2006/main">
            <a:off x="2266950" y="443865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Navigable stops; walking preference</a:t>
            </a:r>
          </a:p>
        </p:txBody>
      </p:sp>
      <p:sp>
        <p:nvSpPr>
          <p:cNvPr id="39" name="">
            <a:extLst xmlns:a="http://schemas.openxmlformats.org/drawingml/2006/main">
              <a:ext uri="{FF2B5EF4-FFF2-40B4-BE49-F238E27FC236}">
                <a16:creationId xmlns:a16="http://schemas.microsoft.com/office/drawing/2014/main" id="{8ECD3DF6-8668-43BA-8546-39F9BF6B7683}"/>
              </a:ext>
            </a:extLst>
          </p:cNvPr>
          <p:cNvSpPr>
            <a:spLocks xmlns:a="http://schemas.openxmlformats.org/drawingml/2006/main" noGrp="1"/>
          </p:cNvSpPr>
          <p:nvPr/>
        </p:nvSpPr>
        <p:spPr>
          <a:xfrm xmlns:a="http://schemas.openxmlformats.org/drawingml/2006/main">
            <a:off x="4953000" y="4343400"/>
            <a:ext cx="325755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281F6A41-217D-435A-B610-1E67143DE31E}"/>
              </a:ext>
            </a:extLst>
          </p:cNvPr>
          <p:cNvSpPr>
            <a:spLocks xmlns:a="http://schemas.openxmlformats.org/drawingml/2006/main" noGrp="1"/>
          </p:cNvSpPr>
          <p:nvPr/>
        </p:nvSpPr>
        <p:spPr>
          <a:xfrm xmlns:a="http://schemas.openxmlformats.org/drawingml/2006/main">
            <a:off x="5048250" y="443865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Explain vehicle-access vs walking trade-off</a:t>
            </a:r>
          </a:p>
        </p:txBody>
      </p:sp>
      <p:sp>
        <p:nvSpPr>
          <p:cNvPr id="41" name="">
            <a:extLst xmlns:a="http://schemas.openxmlformats.org/drawingml/2006/main">
              <a:ext uri="{FF2B5EF4-FFF2-40B4-BE49-F238E27FC236}">
                <a16:creationId xmlns:a16="http://schemas.microsoft.com/office/drawing/2014/main" id="{8E270E96-0DD2-4742-92DB-F856CF214283}"/>
              </a:ext>
            </a:extLst>
          </p:cNvPr>
          <p:cNvSpPr>
            <a:spLocks xmlns:a="http://schemas.openxmlformats.org/drawingml/2006/main" noGrp="1"/>
          </p:cNvSpPr>
          <p:nvPr/>
        </p:nvSpPr>
        <p:spPr>
          <a:xfrm xmlns:a="http://schemas.openxmlformats.org/drawingml/2006/main">
            <a:off x="8210550" y="4343400"/>
            <a:ext cx="2743200" cy="74295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B057FB02-6D85-40F1-BA6A-BA929872F132}"/>
              </a:ext>
            </a:extLst>
          </p:cNvPr>
          <p:cNvSpPr>
            <a:spLocks xmlns:a="http://schemas.openxmlformats.org/drawingml/2006/main" noGrp="1"/>
          </p:cNvSpPr>
          <p:nvPr/>
        </p:nvSpPr>
        <p:spPr>
          <a:xfrm xmlns:a="http://schemas.openxmlformats.org/drawingml/2006/main">
            <a:off x="8305800" y="443865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US autonomous rides</a:t>
            </a:r>
          </a:p>
        </p:txBody>
      </p:sp>
      <p:sp>
        <p:nvSpPr>
          <p:cNvPr id="43" name="">
            <a:extLst xmlns:a="http://schemas.openxmlformats.org/drawingml/2006/main">
              <a:ext uri="{FF2B5EF4-FFF2-40B4-BE49-F238E27FC236}">
                <a16:creationId xmlns:a16="http://schemas.microsoft.com/office/drawing/2014/main" id="{68FFC8B6-A44C-4E39-A3B8-007519E9811D}"/>
              </a:ext>
            </a:extLst>
          </p:cNvPr>
          <p:cNvSpPr>
            <a:spLocks xmlns:a="http://schemas.openxmlformats.org/drawingml/2006/main" noGrp="1"/>
          </p:cNvSpPr>
          <p:nvPr/>
        </p:nvSpPr>
        <p:spPr>
          <a:xfrm xmlns:a="http://schemas.openxmlformats.org/drawingml/2006/main">
            <a:off x="514350" y="5086350"/>
            <a:ext cx="16573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4" name="">
            <a:extLst xmlns:a="http://schemas.openxmlformats.org/drawingml/2006/main">
              <a:ext uri="{FF2B5EF4-FFF2-40B4-BE49-F238E27FC236}">
                <a16:creationId xmlns:a16="http://schemas.microsoft.com/office/drawing/2014/main" id="{8ED26971-8570-4E30-B6D1-908BAF4BCBC7}"/>
              </a:ext>
            </a:extLst>
          </p:cNvPr>
          <p:cNvSpPr>
            <a:spLocks xmlns:a="http://schemas.openxmlformats.org/drawingml/2006/main" noGrp="1"/>
          </p:cNvSpPr>
          <p:nvPr/>
        </p:nvSpPr>
        <p:spPr>
          <a:xfrm xmlns:a="http://schemas.openxmlformats.org/drawingml/2006/main">
            <a:off x="609600" y="5181600"/>
            <a:ext cx="1466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350" b="1" i="0">
                <a:solidFill>
                  <a:srgbClr val="1B2B45"/>
                </a:solidFill>
                <a:latin typeface="Calibri"/>
                <a:ea typeface="Calibri"/>
                <a:cs typeface="Calibri"/>
              </a:defRPr>
            </a:pPr>
            <a:r>
              <a:rPr sz="1350" b="1" i="0">
                <a:solidFill>
                  <a:srgbClr val="1B2B45"/>
                </a:solidFill>
                <a:latin typeface="Calibri"/>
                <a:ea typeface="Calibri"/>
                <a:cs typeface="Calibri"/>
              </a:rPr>
              <a:t>MyGate</a:t>
            </a:r>
          </a:p>
        </p:txBody>
      </p:sp>
      <p:sp>
        <p:nvSpPr>
          <p:cNvPr id="45" name="">
            <a:extLst xmlns:a="http://schemas.openxmlformats.org/drawingml/2006/main">
              <a:ext uri="{FF2B5EF4-FFF2-40B4-BE49-F238E27FC236}">
                <a16:creationId xmlns:a16="http://schemas.microsoft.com/office/drawing/2014/main" id="{612D17A4-EB70-4219-B6B8-65239FF0BF17}"/>
              </a:ext>
            </a:extLst>
          </p:cNvPr>
          <p:cNvSpPr>
            <a:spLocks xmlns:a="http://schemas.openxmlformats.org/drawingml/2006/main" noGrp="1"/>
          </p:cNvSpPr>
          <p:nvPr/>
        </p:nvSpPr>
        <p:spPr>
          <a:xfrm xmlns:a="http://schemas.openxmlformats.org/drawingml/2006/main">
            <a:off x="2171700" y="5086350"/>
            <a:ext cx="27813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6" name="">
            <a:extLst xmlns:a="http://schemas.openxmlformats.org/drawingml/2006/main">
              <a:ext uri="{FF2B5EF4-FFF2-40B4-BE49-F238E27FC236}">
                <a16:creationId xmlns:a16="http://schemas.microsoft.com/office/drawing/2014/main" id="{E08015A4-765F-4F1E-AB1B-82EF428D536B}"/>
              </a:ext>
            </a:extLst>
          </p:cNvPr>
          <p:cNvSpPr>
            <a:spLocks xmlns:a="http://schemas.openxmlformats.org/drawingml/2006/main" noGrp="1"/>
          </p:cNvSpPr>
          <p:nvPr/>
        </p:nvSpPr>
        <p:spPr>
          <a:xfrm xmlns:a="http://schemas.openxmlformats.org/drawingml/2006/main">
            <a:off x="2266950" y="5181600"/>
            <a:ext cx="2590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Privacy-aware gate handoff</a:t>
            </a:r>
          </a:p>
        </p:txBody>
      </p:sp>
      <p:sp>
        <p:nvSpPr>
          <p:cNvPr id="47" name="">
            <a:extLst xmlns:a="http://schemas.openxmlformats.org/drawingml/2006/main">
              <a:ext uri="{FF2B5EF4-FFF2-40B4-BE49-F238E27FC236}">
                <a16:creationId xmlns:a16="http://schemas.microsoft.com/office/drawing/2014/main" id="{D74B7D5C-15C5-4676-93E4-3FC220ADDF0A}"/>
              </a:ext>
            </a:extLst>
          </p:cNvPr>
          <p:cNvSpPr>
            <a:spLocks xmlns:a="http://schemas.openxmlformats.org/drawingml/2006/main" noGrp="1"/>
          </p:cNvSpPr>
          <p:nvPr/>
        </p:nvSpPr>
        <p:spPr>
          <a:xfrm xmlns:a="http://schemas.openxmlformats.org/drawingml/2006/main">
            <a:off x="4953000" y="5086350"/>
            <a:ext cx="32575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8" name="">
            <a:extLst xmlns:a="http://schemas.openxmlformats.org/drawingml/2006/main">
              <a:ext uri="{FF2B5EF4-FFF2-40B4-BE49-F238E27FC236}">
                <a16:creationId xmlns:a16="http://schemas.microsoft.com/office/drawing/2014/main" id="{EFD276F5-EC95-444E-9396-1231BFBFE068}"/>
              </a:ext>
            </a:extLst>
          </p:cNvPr>
          <p:cNvSpPr>
            <a:spLocks xmlns:a="http://schemas.openxmlformats.org/drawingml/2006/main" noGrp="1"/>
          </p:cNvSpPr>
          <p:nvPr/>
        </p:nvSpPr>
        <p:spPr>
          <a:xfrm xmlns:a="http://schemas.openxmlformats.org/drawingml/2006/main">
            <a:off x="5048250" y="5181600"/>
            <a:ext cx="3067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Access-aware residential coordination</a:t>
            </a:r>
          </a:p>
        </p:txBody>
      </p:sp>
      <p:sp>
        <p:nvSpPr>
          <p:cNvPr id="49" name="">
            <a:extLst xmlns:a="http://schemas.openxmlformats.org/drawingml/2006/main">
              <a:ext uri="{FF2B5EF4-FFF2-40B4-BE49-F238E27FC236}">
                <a16:creationId xmlns:a16="http://schemas.microsoft.com/office/drawing/2014/main" id="{EDB35305-71B9-41B8-B15B-8ADE3E9E9797}"/>
              </a:ext>
            </a:extLst>
          </p:cNvPr>
          <p:cNvSpPr>
            <a:spLocks xmlns:a="http://schemas.openxmlformats.org/drawingml/2006/main" noGrp="1"/>
          </p:cNvSpPr>
          <p:nvPr/>
        </p:nvSpPr>
        <p:spPr>
          <a:xfrm xmlns:a="http://schemas.openxmlformats.org/drawingml/2006/main">
            <a:off x="8210550" y="5086350"/>
            <a:ext cx="27432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50" name="">
            <a:extLst xmlns:a="http://schemas.openxmlformats.org/drawingml/2006/main">
              <a:ext uri="{FF2B5EF4-FFF2-40B4-BE49-F238E27FC236}">
                <a16:creationId xmlns:a16="http://schemas.microsoft.com/office/drawing/2014/main" id="{9D9D2368-CC6A-4A73-A26E-6BDE8DB10E90}"/>
              </a:ext>
            </a:extLst>
          </p:cNvPr>
          <p:cNvSpPr>
            <a:spLocks xmlns:a="http://schemas.openxmlformats.org/drawingml/2006/main" noGrp="1"/>
          </p:cNvSpPr>
          <p:nvPr/>
        </p:nvSpPr>
        <p:spPr>
          <a:xfrm xmlns:a="http://schemas.openxmlformats.org/drawingml/2006/main">
            <a:off x="8305800" y="5181600"/>
            <a:ext cx="2552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00" b="0" i="0">
                <a:solidFill>
                  <a:srgbClr val="233248"/>
                </a:solidFill>
                <a:latin typeface="Calibri"/>
                <a:ea typeface="Calibri"/>
                <a:cs typeface="Calibri"/>
              </a:defRPr>
            </a:pPr>
            <a:r>
              <a:rPr sz="1200" b="0" i="0">
                <a:solidFill>
                  <a:srgbClr val="233248"/>
                </a:solidFill>
                <a:latin typeface="Calibri"/>
                <a:ea typeface="Calibri"/>
                <a:cs typeface="Calibri"/>
              </a:rPr>
              <a:t>Adjacent Indian product</a:t>
            </a:r>
          </a:p>
        </p:txBody>
      </p:sp>
      <p:sp>
        <p:nvSpPr>
          <p:cNvPr id="51" name="">
            <a:extLst xmlns:a="http://schemas.openxmlformats.org/drawingml/2006/main">
              <a:ext uri="{FF2B5EF4-FFF2-40B4-BE49-F238E27FC236}">
                <a16:creationId xmlns:a16="http://schemas.microsoft.com/office/drawing/2014/main" id="{9AA89E62-FE55-4A9C-B980-6504E0274B70}"/>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2" name="">
            <a:extLst xmlns:a="http://schemas.openxmlformats.org/drawingml/2006/main">
              <a:ext uri="{FF2B5EF4-FFF2-40B4-BE49-F238E27FC236}">
                <a16:creationId xmlns:a16="http://schemas.microsoft.com/office/drawing/2014/main" id="{4B9B594A-0C32-4A0E-8AD4-0ED4146ECDD0}"/>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18</a:t>
            </a:r>
          </a:p>
        </p:txBody>
      </p:sp>
    </p:spTree>
    <p:extLst>
      <p:ext uri="{BB962C8B-B14F-4D97-AF65-F5344CB8AC3E}">
        <p14:creationId xmlns:p14="http://schemas.microsoft.com/office/powerpoint/2010/main" val="90656332"/>
      </p:ext>
    </p:extLst>
  </p:cSld>
</p:sld>
</file>

<file path=ppt/slides/slide19.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F65F18C-C156-4A74-B2C2-26A6AC72B803}"/>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STRATEGY RECONCILIATION</a:t>
            </a:r>
          </a:p>
        </p:txBody>
      </p:sp>
      <p:sp>
        <p:nvSpPr>
          <p:cNvPr id="2" name="">
            <a:extLst xmlns:a="http://schemas.openxmlformats.org/drawingml/2006/main">
              <a:ext uri="{FF2B5EF4-FFF2-40B4-BE49-F238E27FC236}">
                <a16:creationId xmlns:a16="http://schemas.microsoft.com/office/drawing/2014/main" id="{8A099F0B-EBE9-4FE3-95AE-4157FF5E56B1}"/>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the evidence changes — and what it does not support</a:t>
            </a:r>
          </a:p>
        </p:txBody>
      </p:sp>
      <p:sp>
        <p:nvSpPr>
          <p:cNvPr id="3" name="">
            <a:extLst xmlns:a="http://schemas.openxmlformats.org/drawingml/2006/main">
              <a:ext uri="{FF2B5EF4-FFF2-40B4-BE49-F238E27FC236}">
                <a16:creationId xmlns:a16="http://schemas.microsoft.com/office/drawing/2014/main" id="{2F8CEFC8-8A0A-4EE4-B11B-C03AD8233835}"/>
              </a:ext>
            </a:extLst>
          </p:cNvPr>
          <p:cNvSpPr>
            <a:spLocks xmlns:a="http://schemas.openxmlformats.org/drawingml/2006/main" noGrp="1"/>
          </p:cNvSpPr>
          <p:nvPr/>
        </p:nvSpPr>
        <p:spPr>
          <a:xfrm xmlns:a="http://schemas.openxmlformats.org/drawingml/2006/main">
            <a:off x="514350" y="1619250"/>
            <a:ext cx="49530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4" name="">
            <a:extLst xmlns:a="http://schemas.openxmlformats.org/drawingml/2006/main">
              <a:ext uri="{FF2B5EF4-FFF2-40B4-BE49-F238E27FC236}">
                <a16:creationId xmlns:a16="http://schemas.microsoft.com/office/drawing/2014/main" id="{A6C3143C-8344-4E7B-ADA4-C9FE7F806FE0}"/>
              </a:ext>
            </a:extLst>
          </p:cNvPr>
          <p:cNvSpPr>
            <a:spLocks xmlns:a="http://schemas.openxmlformats.org/drawingml/2006/main" noGrp="1"/>
          </p:cNvSpPr>
          <p:nvPr/>
        </p:nvSpPr>
        <p:spPr>
          <a:xfrm xmlns:a="http://schemas.openxmlformats.org/drawingml/2006/main">
            <a:off x="666750" y="17335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PARTIALLY SUPPORTED</a:t>
            </a:r>
          </a:p>
        </p:txBody>
      </p:sp>
      <p:sp>
        <p:nvSpPr>
          <p:cNvPr id="5" name="">
            <a:extLst xmlns:a="http://schemas.openxmlformats.org/drawingml/2006/main">
              <a:ext uri="{FF2B5EF4-FFF2-40B4-BE49-F238E27FC236}">
                <a16:creationId xmlns:a16="http://schemas.microsoft.com/office/drawing/2014/main" id="{F51FA28A-A3B4-4763-872C-2727643CD45A}"/>
              </a:ext>
            </a:extLst>
          </p:cNvPr>
          <p:cNvSpPr>
            <a:spLocks xmlns:a="http://schemas.openxmlformats.org/drawingml/2006/main" noGrp="1"/>
          </p:cNvSpPr>
          <p:nvPr/>
        </p:nvSpPr>
        <p:spPr>
          <a:xfrm xmlns:a="http://schemas.openxmlformats.org/drawingml/2006/main">
            <a:off x="666750" y="20669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Indoor-to-outdoor navigation matters, but gated residences, offices, and streets show a broader shared-reference-point problem.</a:t>
            </a:r>
          </a:p>
        </p:txBody>
      </p:sp>
      <p:sp>
        <p:nvSpPr>
          <p:cNvPr id="6" name="">
            <a:extLst xmlns:a="http://schemas.openxmlformats.org/drawingml/2006/main">
              <a:ext uri="{FF2B5EF4-FFF2-40B4-BE49-F238E27FC236}">
                <a16:creationId xmlns:a16="http://schemas.microsoft.com/office/drawing/2014/main" id="{6F89D46C-45AC-46B5-AABF-8966FF1762FA}"/>
              </a:ext>
            </a:extLst>
          </p:cNvPr>
          <p:cNvSpPr>
            <a:spLocks xmlns:a="http://schemas.openxmlformats.org/drawingml/2006/main" noGrp="1"/>
          </p:cNvSpPr>
          <p:nvPr/>
        </p:nvSpPr>
        <p:spPr>
          <a:xfrm xmlns:a="http://schemas.openxmlformats.org/drawingml/2006/main">
            <a:off x="5810250" y="1619250"/>
            <a:ext cx="5143500" cy="11811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9525">
            <a:solidFill>
              <a:srgbClr val="E8ECF1"/>
            </a:solidFill>
            <a:prstDash val="solid"/>
          </a:ln>
        </p:spPr>
      </p:sp>
      <p:sp>
        <p:nvSpPr>
          <p:cNvPr id="7" name="">
            <a:extLst xmlns:a="http://schemas.openxmlformats.org/drawingml/2006/main">
              <a:ext uri="{FF2B5EF4-FFF2-40B4-BE49-F238E27FC236}">
                <a16:creationId xmlns:a16="http://schemas.microsoft.com/office/drawing/2014/main" id="{89758DA2-F0C4-4AC6-8A06-8ABAA83345FB}"/>
              </a:ext>
            </a:extLst>
          </p:cNvPr>
          <p:cNvSpPr>
            <a:spLocks xmlns:a="http://schemas.openxmlformats.org/drawingml/2006/main" noGrp="1"/>
          </p:cNvSpPr>
          <p:nvPr/>
        </p:nvSpPr>
        <p:spPr>
          <a:xfrm xmlns:a="http://schemas.openxmlformats.org/drawingml/2006/main">
            <a:off x="5962650" y="17335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SUPPORTED, THIN</a:t>
            </a:r>
          </a:p>
        </p:txBody>
      </p:sp>
      <p:sp>
        <p:nvSpPr>
          <p:cNvPr id="8" name="">
            <a:extLst xmlns:a="http://schemas.openxmlformats.org/drawingml/2006/main">
              <a:ext uri="{FF2B5EF4-FFF2-40B4-BE49-F238E27FC236}">
                <a16:creationId xmlns:a16="http://schemas.microsoft.com/office/drawing/2014/main" id="{AC149C4B-9F66-476D-AF5D-4BE9B94E2429}"/>
              </a:ext>
            </a:extLst>
          </p:cNvPr>
          <p:cNvSpPr>
            <a:spLocks xmlns:a="http://schemas.openxmlformats.org/drawingml/2006/main" noGrp="1"/>
          </p:cNvSpPr>
          <p:nvPr/>
        </p:nvSpPr>
        <p:spPr>
          <a:xfrm xmlns:a="http://schemas.openxmlformats.org/drawingml/2006/main">
            <a:off x="5962650" y="20669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414"/>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Access and stopping constraints matter; driver evidence is only four responses, so desk research carries more weight here.</a:t>
            </a:r>
          </a:p>
        </p:txBody>
      </p:sp>
      <p:sp>
        <p:nvSpPr>
          <p:cNvPr id="9" name="">
            <a:extLst xmlns:a="http://schemas.openxmlformats.org/drawingml/2006/main">
              <a:ext uri="{FF2B5EF4-FFF2-40B4-BE49-F238E27FC236}">
                <a16:creationId xmlns:a16="http://schemas.microsoft.com/office/drawing/2014/main" id="{358E6C78-99C3-4D14-80BA-547C6184B624}"/>
              </a:ext>
            </a:extLst>
          </p:cNvPr>
          <p:cNvSpPr>
            <a:spLocks xmlns:a="http://schemas.openxmlformats.org/drawingml/2006/main" noGrp="1"/>
          </p:cNvSpPr>
          <p:nvPr/>
        </p:nvSpPr>
        <p:spPr>
          <a:xfrm xmlns:a="http://schemas.openxmlformats.org/drawingml/2006/main">
            <a:off x="514350" y="2990850"/>
            <a:ext cx="4953000" cy="1181100"/>
          </a:xfrm>
          <a:prstGeom xmlns:a="http://schemas.openxmlformats.org/drawingml/2006/main" prst="roundRect">
            <a:avLst>
              <a:gd name="adj" fmla="val 4839"/>
            </a:avLst>
          </a:prstGeom>
          <a:solidFill xmlns:a="http://schemas.openxmlformats.org/drawingml/2006/main">
            <a:srgbClr val="E2F4F6"/>
          </a:solidFill>
          <a:ln xmlns:a="http://schemas.openxmlformats.org/drawingml/2006/main" w="9525">
            <a:solidFill>
              <a:srgbClr val="E8ECF1"/>
            </a:solidFill>
            <a:prstDash val="solid"/>
          </a:ln>
        </p:spPr>
      </p:sp>
      <p:sp>
        <p:nvSpPr>
          <p:cNvPr id="10" name="">
            <a:extLst xmlns:a="http://schemas.openxmlformats.org/drawingml/2006/main">
              <a:ext uri="{FF2B5EF4-FFF2-40B4-BE49-F238E27FC236}">
                <a16:creationId xmlns:a16="http://schemas.microsoft.com/office/drawing/2014/main" id="{441B6457-F82E-4E1E-A3A7-2BDF93E69E15}"/>
              </a:ext>
            </a:extLst>
          </p:cNvPr>
          <p:cNvSpPr>
            <a:spLocks xmlns:a="http://schemas.openxmlformats.org/drawingml/2006/main" noGrp="1"/>
          </p:cNvSpPr>
          <p:nvPr/>
        </p:nvSpPr>
        <p:spPr>
          <a:xfrm xmlns:a="http://schemas.openxmlformats.org/drawingml/2006/main">
            <a:off x="666750" y="3105150"/>
            <a:ext cx="4648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SUPPORTED</a:t>
            </a:r>
          </a:p>
        </p:txBody>
      </p:sp>
      <p:sp>
        <p:nvSpPr>
          <p:cNvPr id="11" name="">
            <a:extLst xmlns:a="http://schemas.openxmlformats.org/drawingml/2006/main">
              <a:ext uri="{FF2B5EF4-FFF2-40B4-BE49-F238E27FC236}">
                <a16:creationId xmlns:a16="http://schemas.microsoft.com/office/drawing/2014/main" id="{30281DF0-2C4A-43AF-8D3F-6F67230CA550}"/>
              </a:ext>
            </a:extLst>
          </p:cNvPr>
          <p:cNvSpPr>
            <a:spLocks xmlns:a="http://schemas.openxmlformats.org/drawingml/2006/main" noGrp="1"/>
          </p:cNvSpPr>
          <p:nvPr/>
        </p:nvSpPr>
        <p:spPr>
          <a:xfrm xmlns:a="http://schemas.openxmlformats.org/drawingml/2006/main">
            <a:off x="666750" y="3438525"/>
            <a:ext cx="4648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97330"/>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“Pickup failure” combines location confusion, recovery effort, destination preference, fare, payment, and driver behavior.</a:t>
            </a:r>
          </a:p>
        </p:txBody>
      </p:sp>
      <p:sp>
        <p:nvSpPr>
          <p:cNvPr id="12" name="">
            <a:extLst xmlns:a="http://schemas.openxmlformats.org/drawingml/2006/main">
              <a:ext uri="{FF2B5EF4-FFF2-40B4-BE49-F238E27FC236}">
                <a16:creationId xmlns:a16="http://schemas.microsoft.com/office/drawing/2014/main" id="{BF6968AF-A269-4063-A04D-8D27A95A40D1}"/>
              </a:ext>
            </a:extLst>
          </p:cNvPr>
          <p:cNvSpPr>
            <a:spLocks xmlns:a="http://schemas.openxmlformats.org/drawingml/2006/main" noGrp="1"/>
          </p:cNvSpPr>
          <p:nvPr/>
        </p:nvSpPr>
        <p:spPr>
          <a:xfrm xmlns:a="http://schemas.openxmlformats.org/drawingml/2006/main">
            <a:off x="5810250" y="2990850"/>
            <a:ext cx="5143500" cy="1181100"/>
          </a:xfrm>
          <a:prstGeom xmlns:a="http://schemas.openxmlformats.org/drawingml/2006/main" prst="roundRect">
            <a:avLst>
              <a:gd name="adj" fmla="val 4839"/>
            </a:avLst>
          </a:prstGeom>
          <a:solidFill xmlns:a="http://schemas.openxmlformats.org/drawingml/2006/main">
            <a:srgbClr val="FBE7D8"/>
          </a:solidFill>
          <a:ln xmlns:a="http://schemas.openxmlformats.org/drawingml/2006/main" w="9525">
            <a:solidFill>
              <a:srgbClr val="E8ECF1"/>
            </a:solidFill>
            <a:prstDash val="solid"/>
          </a:ln>
        </p:spPr>
      </p:sp>
      <p:sp>
        <p:nvSpPr>
          <p:cNvPr id="13" name="">
            <a:extLst xmlns:a="http://schemas.openxmlformats.org/drawingml/2006/main">
              <a:ext uri="{FF2B5EF4-FFF2-40B4-BE49-F238E27FC236}">
                <a16:creationId xmlns:a16="http://schemas.microsoft.com/office/drawing/2014/main" id="{E8D42BEF-5FBC-4986-8C51-375074663965}"/>
              </a:ext>
            </a:extLst>
          </p:cNvPr>
          <p:cNvSpPr>
            <a:spLocks xmlns:a="http://schemas.openxmlformats.org/drawingml/2006/main" noGrp="1"/>
          </p:cNvSpPr>
          <p:nvPr/>
        </p:nvSpPr>
        <p:spPr>
          <a:xfrm xmlns:a="http://schemas.openxmlformats.org/drawingml/2006/main">
            <a:off x="5962650" y="3105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NOT SUPPORTED</a:t>
            </a:r>
          </a:p>
        </p:txBody>
      </p:sp>
      <p:sp>
        <p:nvSpPr>
          <p:cNvPr id="14" name="">
            <a:extLst xmlns:a="http://schemas.openxmlformats.org/drawingml/2006/main">
              <a:ext uri="{FF2B5EF4-FFF2-40B4-BE49-F238E27FC236}">
                <a16:creationId xmlns:a16="http://schemas.microsoft.com/office/drawing/2014/main" id="{F304F092-61B3-4D3B-8A4D-DBB2DFED45AE}"/>
              </a:ext>
            </a:extLst>
          </p:cNvPr>
          <p:cNvSpPr>
            <a:spLocks xmlns:a="http://schemas.openxmlformats.org/drawingml/2006/main" noGrp="1"/>
          </p:cNvSpPr>
          <p:nvPr/>
        </p:nvSpPr>
        <p:spPr>
          <a:xfrm xmlns:a="http://schemas.openxmlformats.org/drawingml/2006/main">
            <a:off x="5962650" y="3438525"/>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9506"/>
          </a:bodyPr>
          <a:lstStyle xmlns:a="http://schemas.openxmlformats.org/drawingml/2006/main"/>
          <a:p xmlns:a="http://schemas.openxmlformats.org/drawingml/2006/main">
            <a:pPr algn="l">
              <a:defRPr sz="1350" b="0" i="0">
                <a:solidFill>
                  <a:srgbClr val="233248"/>
                </a:solidFill>
                <a:latin typeface="Calibri"/>
                <a:ea typeface="Calibri"/>
                <a:cs typeface="Calibri"/>
              </a:defRPr>
            </a:pPr>
            <a:r>
              <a:rPr sz="1350" b="0" i="0">
                <a:solidFill>
                  <a:srgbClr val="233248"/>
                </a:solidFill>
                <a:latin typeface="Calibri"/>
                <a:ea typeface="Calibri"/>
                <a:cs typeface="Calibri"/>
              </a:rPr>
              <a:t>A universal prompt, airport-only strategy, precise Hyderabad prevalence, or a driver-specific solution cannot be justified from this evidence.</a:t>
            </a:r>
          </a:p>
        </p:txBody>
      </p:sp>
      <p:sp>
        <p:nvSpPr>
          <p:cNvPr id="15" name="">
            <a:extLst xmlns:a="http://schemas.openxmlformats.org/drawingml/2006/main">
              <a:ext uri="{FF2B5EF4-FFF2-40B4-BE49-F238E27FC236}">
                <a16:creationId xmlns:a16="http://schemas.microsoft.com/office/drawing/2014/main" id="{D10D3379-B7C2-44F8-88C8-0398B5B1CD8F}"/>
              </a:ext>
            </a:extLst>
          </p:cNvPr>
          <p:cNvSpPr>
            <a:spLocks xmlns:a="http://schemas.openxmlformats.org/drawingml/2006/main" noGrp="1"/>
          </p:cNvSpPr>
          <p:nvPr/>
        </p:nvSpPr>
        <p:spPr>
          <a:xfrm xmlns:a="http://schemas.openxmlformats.org/drawingml/2006/main">
            <a:off x="514350" y="4362450"/>
            <a:ext cx="10439400" cy="1257300"/>
          </a:xfrm>
          <a:prstGeom xmlns:a="http://schemas.openxmlformats.org/drawingml/2006/main" prst="roundRect">
            <a:avLst>
              <a:gd name="adj" fmla="val 4545"/>
            </a:avLst>
          </a:prstGeom>
          <a:solidFill xmlns:a="http://schemas.openxmlformats.org/drawingml/2006/main">
            <a:srgbClr val="1B2B45"/>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6DF27779-F5AB-4E67-A9FA-F503AEBC91DA}"/>
              </a:ext>
            </a:extLst>
          </p:cNvPr>
          <p:cNvSpPr>
            <a:spLocks xmlns:a="http://schemas.openxmlformats.org/drawingml/2006/main" noGrp="1"/>
          </p:cNvSpPr>
          <p:nvPr/>
        </p:nvSpPr>
        <p:spPr>
          <a:xfrm xmlns:a="http://schemas.openxmlformats.org/drawingml/2006/main">
            <a:off x="666750" y="4476750"/>
            <a:ext cx="10134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DECISION</a:t>
            </a:r>
          </a:p>
        </p:txBody>
      </p:sp>
      <p:sp>
        <p:nvSpPr>
          <p:cNvPr id="17" name="">
            <a:extLst xmlns:a="http://schemas.openxmlformats.org/drawingml/2006/main">
              <a:ext uri="{FF2B5EF4-FFF2-40B4-BE49-F238E27FC236}">
                <a16:creationId xmlns:a16="http://schemas.microsoft.com/office/drawing/2014/main" id="{F0FFA8C0-CECF-4E6F-9748-9FB14594F970}"/>
              </a:ext>
            </a:extLst>
          </p:cNvPr>
          <p:cNvSpPr>
            <a:spLocks xmlns:a="http://schemas.openxmlformats.org/drawingml/2006/main" noGrp="1"/>
          </p:cNvSpPr>
          <p:nvPr/>
        </p:nvSpPr>
        <p:spPr>
          <a:xfrm xmlns:a="http://schemas.openxmlformats.org/drawingml/2006/main">
            <a:off x="666750" y="4810125"/>
            <a:ext cx="10134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725" b="0" i="0">
                <a:solidFill>
                  <a:srgbClr val="FFFFFF"/>
                </a:solidFill>
                <a:latin typeface="Calibri"/>
                <a:ea typeface="Calibri"/>
                <a:cs typeface="Calibri"/>
              </a:defRPr>
            </a:pPr>
            <a:r>
              <a:rPr sz="1725" b="0" i="0">
                <a:solidFill>
                  <a:srgbClr val="FFFFFF"/>
                </a:solidFill>
                <a:latin typeface="Calibri"/>
                <a:ea typeface="Calibri"/>
                <a:cs typeface="Calibri"/>
              </a:rPr>
              <a:t>Use location type and stall signals to target coordination help. Validate rider benefit and driver impact before building a broader venue data operation.</a:t>
            </a:r>
          </a:p>
        </p:txBody>
      </p:sp>
      <p:sp>
        <p:nvSpPr>
          <p:cNvPr id="18" name="">
            <a:extLst xmlns:a="http://schemas.openxmlformats.org/drawingml/2006/main">
              <a:ext uri="{FF2B5EF4-FFF2-40B4-BE49-F238E27FC236}">
                <a16:creationId xmlns:a16="http://schemas.microsoft.com/office/drawing/2014/main" id="{592271AD-D288-4D42-9C99-36C90542D02D}"/>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9" name="">
            <a:extLst xmlns:a="http://schemas.openxmlformats.org/drawingml/2006/main">
              <a:ext uri="{FF2B5EF4-FFF2-40B4-BE49-F238E27FC236}">
                <a16:creationId xmlns:a16="http://schemas.microsoft.com/office/drawing/2014/main" id="{2D4B6294-D4DA-4081-9B18-E7BE4CB5AA3A}"/>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19</a:t>
            </a:r>
          </a:p>
        </p:txBody>
      </p:sp>
    </p:spTree>
    <p:extLst>
      <p:ext uri="{BB962C8B-B14F-4D97-AF65-F5344CB8AC3E}">
        <p14:creationId xmlns:p14="http://schemas.microsoft.com/office/powerpoint/2010/main" val="1377765537"/>
      </p:ext>
    </p:extLst>
  </p:cSld>
</p:sld>
</file>

<file path=ppt/slides/slide20.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1DC74091-8E81-41FA-BB86-5B217F08FE4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IDEA TEST PLAN</a:t>
            </a:r>
          </a:p>
        </p:txBody>
      </p:sp>
      <p:sp>
        <p:nvSpPr>
          <p:cNvPr id="2" name="">
            <a:extLst xmlns:a="http://schemas.openxmlformats.org/drawingml/2006/main">
              <a:ext uri="{FF2B5EF4-FFF2-40B4-BE49-F238E27FC236}">
                <a16:creationId xmlns:a16="http://schemas.microsoft.com/office/drawing/2014/main" id="{9F4E596F-C719-4C20-A30A-C820539A0C2F}"/>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Three ideas, sequenced by evidence strength and operating risk</a:t>
            </a:r>
          </a:p>
        </p:txBody>
      </p:sp>
      <p:sp>
        <p:nvSpPr>
          <p:cNvPr id="3" name="">
            <a:extLst xmlns:a="http://schemas.openxmlformats.org/drawingml/2006/main">
              <a:ext uri="{FF2B5EF4-FFF2-40B4-BE49-F238E27FC236}">
                <a16:creationId xmlns:a16="http://schemas.microsoft.com/office/drawing/2014/main" id="{2325D5F9-749A-4FF9-AED8-ABFE38449E20}"/>
              </a:ext>
            </a:extLst>
          </p:cNvPr>
          <p:cNvSpPr>
            <a:spLocks xmlns:a="http://schemas.openxmlformats.org/drawingml/2006/main" noGrp="1"/>
          </p:cNvSpPr>
          <p:nvPr/>
        </p:nvSpPr>
        <p:spPr>
          <a:xfrm xmlns:a="http://schemas.openxmlformats.org/drawingml/2006/main">
            <a:off x="514350" y="1657350"/>
            <a:ext cx="666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4" name="">
            <a:extLst xmlns:a="http://schemas.openxmlformats.org/drawingml/2006/main">
              <a:ext uri="{FF2B5EF4-FFF2-40B4-BE49-F238E27FC236}">
                <a16:creationId xmlns:a16="http://schemas.microsoft.com/office/drawing/2014/main" id="{A17D2238-ABD0-4047-A07C-001A869A01DA}"/>
              </a:ext>
            </a:extLst>
          </p:cNvPr>
          <p:cNvSpPr>
            <a:spLocks xmlns:a="http://schemas.openxmlformats.org/drawingml/2006/main" noGrp="1"/>
          </p:cNvSpPr>
          <p:nvPr/>
        </p:nvSpPr>
        <p:spPr>
          <a:xfrm xmlns:a="http://schemas.openxmlformats.org/drawingml/2006/main">
            <a:off x="590550" y="1771650"/>
            <a:ext cx="514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a:t>
            </a:r>
          </a:p>
        </p:txBody>
      </p:sp>
      <p:sp>
        <p:nvSpPr>
          <p:cNvPr id="5" name="">
            <a:extLst xmlns:a="http://schemas.openxmlformats.org/drawingml/2006/main">
              <a:ext uri="{FF2B5EF4-FFF2-40B4-BE49-F238E27FC236}">
                <a16:creationId xmlns:a16="http://schemas.microsoft.com/office/drawing/2014/main" id="{C669942C-63BA-47AA-8F5D-1BC3E2516518}"/>
              </a:ext>
            </a:extLst>
          </p:cNvPr>
          <p:cNvSpPr>
            <a:spLocks xmlns:a="http://schemas.openxmlformats.org/drawingml/2006/main" noGrp="1"/>
          </p:cNvSpPr>
          <p:nvPr/>
        </p:nvSpPr>
        <p:spPr>
          <a:xfrm xmlns:a="http://schemas.openxmlformats.org/drawingml/2006/main">
            <a:off x="1181100" y="1657350"/>
            <a:ext cx="27241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6" name="">
            <a:extLst xmlns:a="http://schemas.openxmlformats.org/drawingml/2006/main">
              <a:ext uri="{FF2B5EF4-FFF2-40B4-BE49-F238E27FC236}">
                <a16:creationId xmlns:a16="http://schemas.microsoft.com/office/drawing/2014/main" id="{EA4D8AB7-D2A4-4B9C-8C0D-97AE4A8B41D7}"/>
              </a:ext>
            </a:extLst>
          </p:cNvPr>
          <p:cNvSpPr>
            <a:spLocks xmlns:a="http://schemas.openxmlformats.org/drawingml/2006/main" noGrp="1"/>
          </p:cNvSpPr>
          <p:nvPr/>
        </p:nvSpPr>
        <p:spPr>
          <a:xfrm xmlns:a="http://schemas.openxmlformats.org/drawingml/2006/main">
            <a:off x="1257300" y="17716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Idea</a:t>
            </a:r>
          </a:p>
        </p:txBody>
      </p:sp>
      <p:sp>
        <p:nvSpPr>
          <p:cNvPr id="7" name="">
            <a:extLst xmlns:a="http://schemas.openxmlformats.org/drawingml/2006/main">
              <a:ext uri="{FF2B5EF4-FFF2-40B4-BE49-F238E27FC236}">
                <a16:creationId xmlns:a16="http://schemas.microsoft.com/office/drawing/2014/main" id="{D694CED3-59C5-4F93-A23C-0389CDFD33E9}"/>
              </a:ext>
            </a:extLst>
          </p:cNvPr>
          <p:cNvSpPr>
            <a:spLocks xmlns:a="http://schemas.openxmlformats.org/drawingml/2006/main" noGrp="1"/>
          </p:cNvSpPr>
          <p:nvPr/>
        </p:nvSpPr>
        <p:spPr>
          <a:xfrm xmlns:a="http://schemas.openxmlformats.org/drawingml/2006/main">
            <a:off x="3905250" y="1657350"/>
            <a:ext cx="29527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A66AFFC9-292D-44B1-88D9-D52965549406}"/>
              </a:ext>
            </a:extLst>
          </p:cNvPr>
          <p:cNvSpPr>
            <a:spLocks xmlns:a="http://schemas.openxmlformats.org/drawingml/2006/main" noGrp="1"/>
          </p:cNvSpPr>
          <p:nvPr/>
        </p:nvSpPr>
        <p:spPr>
          <a:xfrm xmlns:a="http://schemas.openxmlformats.org/drawingml/2006/main">
            <a:off x="3981450" y="1771650"/>
            <a:ext cx="2800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Trigger / scope</a:t>
            </a:r>
          </a:p>
        </p:txBody>
      </p:sp>
      <p:sp>
        <p:nvSpPr>
          <p:cNvPr id="9" name="">
            <a:extLst xmlns:a="http://schemas.openxmlformats.org/drawingml/2006/main">
              <a:ext uri="{FF2B5EF4-FFF2-40B4-BE49-F238E27FC236}">
                <a16:creationId xmlns:a16="http://schemas.microsoft.com/office/drawing/2014/main" id="{85EDD23F-D1E9-4E47-B16B-CFE41A0AF40A}"/>
              </a:ext>
            </a:extLst>
          </p:cNvPr>
          <p:cNvSpPr>
            <a:spLocks xmlns:a="http://schemas.openxmlformats.org/drawingml/2006/main" noGrp="1"/>
          </p:cNvSpPr>
          <p:nvPr/>
        </p:nvSpPr>
        <p:spPr>
          <a:xfrm xmlns:a="http://schemas.openxmlformats.org/drawingml/2006/main">
            <a:off x="6858000" y="1657350"/>
            <a:ext cx="253365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3DD0A344-4BE1-4320-99B8-D050283FB521}"/>
              </a:ext>
            </a:extLst>
          </p:cNvPr>
          <p:cNvSpPr>
            <a:spLocks xmlns:a="http://schemas.openxmlformats.org/drawingml/2006/main" noGrp="1"/>
          </p:cNvSpPr>
          <p:nvPr/>
        </p:nvSpPr>
        <p:spPr>
          <a:xfrm xmlns:a="http://schemas.openxmlformats.org/drawingml/2006/main">
            <a:off x="6934200" y="17716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Primary measures</a:t>
            </a:r>
          </a:p>
        </p:txBody>
      </p:sp>
      <p:sp>
        <p:nvSpPr>
          <p:cNvPr id="11" name="">
            <a:extLst xmlns:a="http://schemas.openxmlformats.org/drawingml/2006/main">
              <a:ext uri="{FF2B5EF4-FFF2-40B4-BE49-F238E27FC236}">
                <a16:creationId xmlns:a16="http://schemas.microsoft.com/office/drawing/2014/main" id="{91A9AC6F-F6E6-4A9B-8F5A-F38FF476BEF1}"/>
              </a:ext>
            </a:extLst>
          </p:cNvPr>
          <p:cNvSpPr>
            <a:spLocks xmlns:a="http://schemas.openxmlformats.org/drawingml/2006/main" noGrp="1"/>
          </p:cNvSpPr>
          <p:nvPr/>
        </p:nvSpPr>
        <p:spPr>
          <a:xfrm xmlns:a="http://schemas.openxmlformats.org/drawingml/2006/main">
            <a:off x="9391650" y="1657350"/>
            <a:ext cx="1562100" cy="514350"/>
          </a:xfrm>
          <a:prstGeom xmlns:a="http://schemas.openxmlformats.org/drawingml/2006/main" prst="rect">
            <a:avLst/>
          </a:prstGeom>
          <a:solidFill xmlns:a="http://schemas.openxmlformats.org/drawingml/2006/main">
            <a:srgbClr val="1B2B45"/>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EE29B4E7-62AA-4FDD-BB27-EEB8AE66ECD8}"/>
              </a:ext>
            </a:extLst>
          </p:cNvPr>
          <p:cNvSpPr>
            <a:spLocks xmlns:a="http://schemas.openxmlformats.org/drawingml/2006/main" noGrp="1"/>
          </p:cNvSpPr>
          <p:nvPr/>
        </p:nvSpPr>
        <p:spPr>
          <a:xfrm xmlns:a="http://schemas.openxmlformats.org/drawingml/2006/main">
            <a:off x="9467850" y="1771650"/>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ctr">
              <a:defRPr sz="1275" b="1" i="0">
                <a:solidFill>
                  <a:srgbClr val="FFFFFF"/>
                </a:solidFill>
                <a:latin typeface="Calibri"/>
                <a:ea typeface="Calibri"/>
                <a:cs typeface="Calibri"/>
              </a:defRPr>
            </a:pPr>
            <a:r>
              <a:rPr sz="1275" b="1" i="0">
                <a:solidFill>
                  <a:srgbClr val="FFFFFF"/>
                </a:solidFill>
                <a:latin typeface="Calibri"/>
                <a:ea typeface="Calibri"/>
                <a:cs typeface="Calibri"/>
              </a:rPr>
              <a:t>Main risk</a:t>
            </a:r>
          </a:p>
        </p:txBody>
      </p:sp>
      <p:sp>
        <p:nvSpPr>
          <p:cNvPr id="13" name="">
            <a:extLst xmlns:a="http://schemas.openxmlformats.org/drawingml/2006/main">
              <a:ext uri="{FF2B5EF4-FFF2-40B4-BE49-F238E27FC236}">
                <a16:creationId xmlns:a16="http://schemas.microsoft.com/office/drawing/2014/main" id="{1BB6D8D5-8FD0-4D2D-A699-546A44C0A50A}"/>
              </a:ext>
            </a:extLst>
          </p:cNvPr>
          <p:cNvSpPr>
            <a:spLocks xmlns:a="http://schemas.openxmlformats.org/drawingml/2006/main" noGrp="1"/>
          </p:cNvSpPr>
          <p:nvPr/>
        </p:nvSpPr>
        <p:spPr>
          <a:xfrm xmlns:a="http://schemas.openxmlformats.org/drawingml/2006/main">
            <a:off x="514350" y="21717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4" name="">
            <a:extLst xmlns:a="http://schemas.openxmlformats.org/drawingml/2006/main">
              <a:ext uri="{FF2B5EF4-FFF2-40B4-BE49-F238E27FC236}">
                <a16:creationId xmlns:a16="http://schemas.microsoft.com/office/drawing/2014/main" id="{00FF8791-97F4-448F-B57F-E0E0E3ED8330}"/>
              </a:ext>
            </a:extLst>
          </p:cNvPr>
          <p:cNvSpPr>
            <a:spLocks xmlns:a="http://schemas.openxmlformats.org/drawingml/2006/main" noGrp="1"/>
          </p:cNvSpPr>
          <p:nvPr/>
        </p:nvSpPr>
        <p:spPr>
          <a:xfrm xmlns:a="http://schemas.openxmlformats.org/drawingml/2006/main">
            <a:off x="609600" y="23050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P0</a:t>
            </a:r>
          </a:p>
        </p:txBody>
      </p:sp>
      <p:sp>
        <p:nvSpPr>
          <p:cNvPr id="15" name="">
            <a:extLst xmlns:a="http://schemas.openxmlformats.org/drawingml/2006/main">
              <a:ext uri="{FF2B5EF4-FFF2-40B4-BE49-F238E27FC236}">
                <a16:creationId xmlns:a16="http://schemas.microsoft.com/office/drawing/2014/main" id="{18B51346-E479-4DD4-A1BD-CADF63290579}"/>
              </a:ext>
            </a:extLst>
          </p:cNvPr>
          <p:cNvSpPr>
            <a:spLocks xmlns:a="http://schemas.openxmlformats.org/drawingml/2006/main" noGrp="1"/>
          </p:cNvSpPr>
          <p:nvPr/>
        </p:nvSpPr>
        <p:spPr>
          <a:xfrm xmlns:a="http://schemas.openxmlformats.org/drawingml/2006/main">
            <a:off x="1181100" y="21717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6" name="">
            <a:extLst xmlns:a="http://schemas.openxmlformats.org/drawingml/2006/main">
              <a:ext uri="{FF2B5EF4-FFF2-40B4-BE49-F238E27FC236}">
                <a16:creationId xmlns:a16="http://schemas.microsoft.com/office/drawing/2014/main" id="{DB7B5392-6258-4716-8B65-94B7C39B5C04}"/>
              </a:ext>
            </a:extLst>
          </p:cNvPr>
          <p:cNvSpPr>
            <a:spLocks xmlns:a="http://schemas.openxmlformats.org/drawingml/2006/main" noGrp="1"/>
          </p:cNvSpPr>
          <p:nvPr/>
        </p:nvSpPr>
        <p:spPr>
          <a:xfrm xmlns:a="http://schemas.openxmlformats.org/drawingml/2006/main">
            <a:off x="1276350" y="23050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Pre-arrival meeting note</a:t>
            </a:r>
          </a:p>
        </p:txBody>
      </p:sp>
      <p:sp>
        <p:nvSpPr>
          <p:cNvPr id="17" name="">
            <a:extLst xmlns:a="http://schemas.openxmlformats.org/drawingml/2006/main">
              <a:ext uri="{FF2B5EF4-FFF2-40B4-BE49-F238E27FC236}">
                <a16:creationId xmlns:a16="http://schemas.microsoft.com/office/drawing/2014/main" id="{1DCCB686-1EA8-4D04-AD91-C84326349266}"/>
              </a:ext>
            </a:extLst>
          </p:cNvPr>
          <p:cNvSpPr>
            <a:spLocks xmlns:a="http://schemas.openxmlformats.org/drawingml/2006/main" noGrp="1"/>
          </p:cNvSpPr>
          <p:nvPr/>
        </p:nvSpPr>
        <p:spPr>
          <a:xfrm xmlns:a="http://schemas.openxmlformats.org/drawingml/2006/main">
            <a:off x="3905250" y="21717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18" name="">
            <a:extLst xmlns:a="http://schemas.openxmlformats.org/drawingml/2006/main">
              <a:ext uri="{FF2B5EF4-FFF2-40B4-BE49-F238E27FC236}">
                <a16:creationId xmlns:a16="http://schemas.microsoft.com/office/drawing/2014/main" id="{4B4F28C1-A4F5-4ACD-8A7F-3137DB9C14FC}"/>
              </a:ext>
            </a:extLst>
          </p:cNvPr>
          <p:cNvSpPr>
            <a:spLocks xmlns:a="http://schemas.openxmlformats.org/drawingml/2006/main" noGrp="1"/>
          </p:cNvSpPr>
          <p:nvPr/>
        </p:nvSpPr>
        <p:spPr>
          <a:xfrm xmlns:a="http://schemas.openxmlformats.org/drawingml/2006/main">
            <a:off x="4000500" y="23050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Flagged complex location; before arrival</a:t>
            </a:r>
          </a:p>
        </p:txBody>
      </p:sp>
      <p:sp>
        <p:nvSpPr>
          <p:cNvPr id="19" name="">
            <a:extLst xmlns:a="http://schemas.openxmlformats.org/drawingml/2006/main">
              <a:ext uri="{FF2B5EF4-FFF2-40B4-BE49-F238E27FC236}">
                <a16:creationId xmlns:a16="http://schemas.microsoft.com/office/drawing/2014/main" id="{5C80F7C2-4682-4D36-84F2-17700756386E}"/>
              </a:ext>
            </a:extLst>
          </p:cNvPr>
          <p:cNvSpPr>
            <a:spLocks xmlns:a="http://schemas.openxmlformats.org/drawingml/2006/main" noGrp="1"/>
          </p:cNvSpPr>
          <p:nvPr/>
        </p:nvSpPr>
        <p:spPr>
          <a:xfrm xmlns:a="http://schemas.openxmlformats.org/drawingml/2006/main">
            <a:off x="6858000" y="21717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0" name="">
            <a:extLst xmlns:a="http://schemas.openxmlformats.org/drawingml/2006/main">
              <a:ext uri="{FF2B5EF4-FFF2-40B4-BE49-F238E27FC236}">
                <a16:creationId xmlns:a16="http://schemas.microsoft.com/office/drawing/2014/main" id="{A0B2509E-87B8-455D-869F-873B41950E5B}"/>
              </a:ext>
            </a:extLst>
          </p:cNvPr>
          <p:cNvSpPr>
            <a:spLocks xmlns:a="http://schemas.openxmlformats.org/drawingml/2006/main" noGrp="1"/>
          </p:cNvSpPr>
          <p:nvPr/>
        </p:nvSpPr>
        <p:spPr>
          <a:xfrm xmlns:a="http://schemas.openxmlformats.org/drawingml/2006/main">
            <a:off x="6953250" y="23050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dwell, location changes</a:t>
            </a:r>
          </a:p>
        </p:txBody>
      </p:sp>
      <p:sp>
        <p:nvSpPr>
          <p:cNvPr id="21" name="">
            <a:extLst xmlns:a="http://schemas.openxmlformats.org/drawingml/2006/main">
              <a:ext uri="{FF2B5EF4-FFF2-40B4-BE49-F238E27FC236}">
                <a16:creationId xmlns:a16="http://schemas.microsoft.com/office/drawing/2014/main" id="{2AFCA328-FC1B-41C5-8C78-2D9E8AF7DDFB}"/>
              </a:ext>
            </a:extLst>
          </p:cNvPr>
          <p:cNvSpPr>
            <a:spLocks xmlns:a="http://schemas.openxmlformats.org/drawingml/2006/main" noGrp="1"/>
          </p:cNvSpPr>
          <p:nvPr/>
        </p:nvSpPr>
        <p:spPr>
          <a:xfrm xmlns:a="http://schemas.openxmlformats.org/drawingml/2006/main">
            <a:off x="9391650" y="21717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22" name="">
            <a:extLst xmlns:a="http://schemas.openxmlformats.org/drawingml/2006/main">
              <a:ext uri="{FF2B5EF4-FFF2-40B4-BE49-F238E27FC236}">
                <a16:creationId xmlns:a16="http://schemas.microsoft.com/office/drawing/2014/main" id="{FB78B79E-E45F-45A6-8B1C-987C8CF986CB}"/>
              </a:ext>
            </a:extLst>
          </p:cNvPr>
          <p:cNvSpPr>
            <a:spLocks xmlns:a="http://schemas.openxmlformats.org/drawingml/2006/main" noGrp="1"/>
          </p:cNvSpPr>
          <p:nvPr/>
        </p:nvSpPr>
        <p:spPr>
          <a:xfrm xmlns:a="http://schemas.openxmlformats.org/drawingml/2006/main">
            <a:off x="9486900" y="23050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Added friction if over-triggered</a:t>
            </a:r>
          </a:p>
        </p:txBody>
      </p:sp>
      <p:sp>
        <p:nvSpPr>
          <p:cNvPr id="23" name="">
            <a:extLst xmlns:a="http://schemas.openxmlformats.org/drawingml/2006/main">
              <a:ext uri="{FF2B5EF4-FFF2-40B4-BE49-F238E27FC236}">
                <a16:creationId xmlns:a16="http://schemas.microsoft.com/office/drawing/2014/main" id="{2A94C696-BB2D-466D-94B8-1AB7DC93C3BD}"/>
              </a:ext>
            </a:extLst>
          </p:cNvPr>
          <p:cNvSpPr>
            <a:spLocks xmlns:a="http://schemas.openxmlformats.org/drawingml/2006/main" noGrp="1"/>
          </p:cNvSpPr>
          <p:nvPr/>
        </p:nvSpPr>
        <p:spPr>
          <a:xfrm xmlns:a="http://schemas.openxmlformats.org/drawingml/2006/main">
            <a:off x="514350" y="3352800"/>
            <a:ext cx="666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4" name="">
            <a:extLst xmlns:a="http://schemas.openxmlformats.org/drawingml/2006/main">
              <a:ext uri="{FF2B5EF4-FFF2-40B4-BE49-F238E27FC236}">
                <a16:creationId xmlns:a16="http://schemas.microsoft.com/office/drawing/2014/main" id="{2B6252DB-DD25-4EA0-B3A9-E2316235F442}"/>
              </a:ext>
            </a:extLst>
          </p:cNvPr>
          <p:cNvSpPr>
            <a:spLocks xmlns:a="http://schemas.openxmlformats.org/drawingml/2006/main" noGrp="1"/>
          </p:cNvSpPr>
          <p:nvPr/>
        </p:nvSpPr>
        <p:spPr>
          <a:xfrm xmlns:a="http://schemas.openxmlformats.org/drawingml/2006/main">
            <a:off x="609600" y="34861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P1</a:t>
            </a:r>
          </a:p>
        </p:txBody>
      </p:sp>
      <p:sp>
        <p:nvSpPr>
          <p:cNvPr id="25" name="">
            <a:extLst xmlns:a="http://schemas.openxmlformats.org/drawingml/2006/main">
              <a:ext uri="{FF2B5EF4-FFF2-40B4-BE49-F238E27FC236}">
                <a16:creationId xmlns:a16="http://schemas.microsoft.com/office/drawing/2014/main" id="{BCDF62DD-37A0-4C65-A2C0-E6537D27D47E}"/>
              </a:ext>
            </a:extLst>
          </p:cNvPr>
          <p:cNvSpPr>
            <a:spLocks xmlns:a="http://schemas.openxmlformats.org/drawingml/2006/main" noGrp="1"/>
          </p:cNvSpPr>
          <p:nvPr/>
        </p:nvSpPr>
        <p:spPr>
          <a:xfrm xmlns:a="http://schemas.openxmlformats.org/drawingml/2006/main">
            <a:off x="1181100" y="3352800"/>
            <a:ext cx="27241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6" name="">
            <a:extLst xmlns:a="http://schemas.openxmlformats.org/drawingml/2006/main">
              <a:ext uri="{FF2B5EF4-FFF2-40B4-BE49-F238E27FC236}">
                <a16:creationId xmlns:a16="http://schemas.microsoft.com/office/drawing/2014/main" id="{E99DD877-CD07-426A-87BA-17696344C9C5}"/>
              </a:ext>
            </a:extLst>
          </p:cNvPr>
          <p:cNvSpPr>
            <a:spLocks xmlns:a="http://schemas.openxmlformats.org/drawingml/2006/main" noGrp="1"/>
          </p:cNvSpPr>
          <p:nvPr/>
        </p:nvSpPr>
        <p:spPr>
          <a:xfrm xmlns:a="http://schemas.openxmlformats.org/drawingml/2006/main">
            <a:off x="1276350" y="34861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Guided stalled-pickup recovery</a:t>
            </a:r>
          </a:p>
        </p:txBody>
      </p:sp>
      <p:sp>
        <p:nvSpPr>
          <p:cNvPr id="27" name="">
            <a:extLst xmlns:a="http://schemas.openxmlformats.org/drawingml/2006/main">
              <a:ext uri="{FF2B5EF4-FFF2-40B4-BE49-F238E27FC236}">
                <a16:creationId xmlns:a16="http://schemas.microsoft.com/office/drawing/2014/main" id="{99B00078-68E8-496B-AC74-B46DE868F4E3}"/>
              </a:ext>
            </a:extLst>
          </p:cNvPr>
          <p:cNvSpPr>
            <a:spLocks xmlns:a="http://schemas.openxmlformats.org/drawingml/2006/main" noGrp="1"/>
          </p:cNvSpPr>
          <p:nvPr/>
        </p:nvSpPr>
        <p:spPr>
          <a:xfrm xmlns:a="http://schemas.openxmlformats.org/drawingml/2006/main">
            <a:off x="3905250" y="3352800"/>
            <a:ext cx="29527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28" name="">
            <a:extLst xmlns:a="http://schemas.openxmlformats.org/drawingml/2006/main">
              <a:ext uri="{FF2B5EF4-FFF2-40B4-BE49-F238E27FC236}">
                <a16:creationId xmlns:a16="http://schemas.microsoft.com/office/drawing/2014/main" id="{2A5C73BC-3901-4362-8262-34B0D89EBA89}"/>
              </a:ext>
            </a:extLst>
          </p:cNvPr>
          <p:cNvSpPr>
            <a:spLocks xmlns:a="http://schemas.openxmlformats.org/drawingml/2006/main" noGrp="1"/>
          </p:cNvSpPr>
          <p:nvPr/>
        </p:nvSpPr>
        <p:spPr>
          <a:xfrm xmlns:a="http://schemas.openxmlformats.org/drawingml/2006/main">
            <a:off x="4000500" y="34861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Arrived state unresolved past threshold</a:t>
            </a:r>
          </a:p>
        </p:txBody>
      </p:sp>
      <p:sp>
        <p:nvSpPr>
          <p:cNvPr id="29" name="">
            <a:extLst xmlns:a="http://schemas.openxmlformats.org/drawingml/2006/main">
              <a:ext uri="{FF2B5EF4-FFF2-40B4-BE49-F238E27FC236}">
                <a16:creationId xmlns:a16="http://schemas.microsoft.com/office/drawing/2014/main" id="{6CA8D88C-D145-4F46-B814-AF8518FF18BB}"/>
              </a:ext>
            </a:extLst>
          </p:cNvPr>
          <p:cNvSpPr>
            <a:spLocks xmlns:a="http://schemas.openxmlformats.org/drawingml/2006/main" noGrp="1"/>
          </p:cNvSpPr>
          <p:nvPr/>
        </p:nvSpPr>
        <p:spPr>
          <a:xfrm xmlns:a="http://schemas.openxmlformats.org/drawingml/2006/main">
            <a:off x="6858000" y="3352800"/>
            <a:ext cx="253365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0" name="">
            <a:extLst xmlns:a="http://schemas.openxmlformats.org/drawingml/2006/main">
              <a:ext uri="{FF2B5EF4-FFF2-40B4-BE49-F238E27FC236}">
                <a16:creationId xmlns:a16="http://schemas.microsoft.com/office/drawing/2014/main" id="{E8EEEFFE-44C5-4AA7-903B-2DAABECC68E4}"/>
              </a:ext>
            </a:extLst>
          </p:cNvPr>
          <p:cNvSpPr>
            <a:spLocks xmlns:a="http://schemas.openxmlformats.org/drawingml/2006/main" noGrp="1"/>
          </p:cNvSpPr>
          <p:nvPr/>
        </p:nvSpPr>
        <p:spPr>
          <a:xfrm xmlns:a="http://schemas.openxmlformats.org/drawingml/2006/main">
            <a:off x="6953250" y="34861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Resolution and unresolved-cancellation rate</a:t>
            </a:r>
          </a:p>
        </p:txBody>
      </p:sp>
      <p:sp>
        <p:nvSpPr>
          <p:cNvPr id="31" name="">
            <a:extLst xmlns:a="http://schemas.openxmlformats.org/drawingml/2006/main">
              <a:ext uri="{FF2B5EF4-FFF2-40B4-BE49-F238E27FC236}">
                <a16:creationId xmlns:a16="http://schemas.microsoft.com/office/drawing/2014/main" id="{0638D20F-3042-4FB7-89AE-75DE55CC21E2}"/>
              </a:ext>
            </a:extLst>
          </p:cNvPr>
          <p:cNvSpPr>
            <a:spLocks xmlns:a="http://schemas.openxmlformats.org/drawingml/2006/main" noGrp="1"/>
          </p:cNvSpPr>
          <p:nvPr/>
        </p:nvSpPr>
        <p:spPr>
          <a:xfrm xmlns:a="http://schemas.openxmlformats.org/drawingml/2006/main">
            <a:off x="9391650" y="3352800"/>
            <a:ext cx="1562100" cy="1181100"/>
          </a:xfrm>
          <a:prstGeom xmlns:a="http://schemas.openxmlformats.org/drawingml/2006/main" prst="rect">
            <a:avLst/>
          </a:prstGeom>
          <a:solidFill xmlns:a="http://schemas.openxmlformats.org/drawingml/2006/main">
            <a:srgbClr val="F8F9FB"/>
          </a:solidFill>
          <a:ln xmlns:a="http://schemas.openxmlformats.org/drawingml/2006/main" w="9525">
            <a:solidFill>
              <a:srgbClr val="E8ECF1"/>
            </a:solidFill>
            <a:prstDash val="solid"/>
          </a:ln>
        </p:spPr>
      </p:sp>
      <p:sp>
        <p:nvSpPr>
          <p:cNvPr id="32" name="">
            <a:extLst xmlns:a="http://schemas.openxmlformats.org/drawingml/2006/main">
              <a:ext uri="{FF2B5EF4-FFF2-40B4-BE49-F238E27FC236}">
                <a16:creationId xmlns:a16="http://schemas.microsoft.com/office/drawing/2014/main" id="{77FEA177-7E73-4FE9-9320-7ED95624D734}"/>
              </a:ext>
            </a:extLst>
          </p:cNvPr>
          <p:cNvSpPr>
            <a:spLocks xmlns:a="http://schemas.openxmlformats.org/drawingml/2006/main" noGrp="1"/>
          </p:cNvSpPr>
          <p:nvPr/>
        </p:nvSpPr>
        <p:spPr>
          <a:xfrm xmlns:a="http://schemas.openxmlformats.org/drawingml/2006/main">
            <a:off x="9486900" y="34861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False triggers; driver compensation</a:t>
            </a:r>
          </a:p>
        </p:txBody>
      </p:sp>
      <p:sp>
        <p:nvSpPr>
          <p:cNvPr id="33" name="">
            <a:extLst xmlns:a="http://schemas.openxmlformats.org/drawingml/2006/main">
              <a:ext uri="{FF2B5EF4-FFF2-40B4-BE49-F238E27FC236}">
                <a16:creationId xmlns:a16="http://schemas.microsoft.com/office/drawing/2014/main" id="{BEE7742C-B8B6-451E-A800-23F96F29E4CB}"/>
              </a:ext>
            </a:extLst>
          </p:cNvPr>
          <p:cNvSpPr>
            <a:spLocks xmlns:a="http://schemas.openxmlformats.org/drawingml/2006/main" noGrp="1"/>
          </p:cNvSpPr>
          <p:nvPr/>
        </p:nvSpPr>
        <p:spPr>
          <a:xfrm xmlns:a="http://schemas.openxmlformats.org/drawingml/2006/main">
            <a:off x="514350" y="4533900"/>
            <a:ext cx="666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4" name="">
            <a:extLst xmlns:a="http://schemas.openxmlformats.org/drawingml/2006/main">
              <a:ext uri="{FF2B5EF4-FFF2-40B4-BE49-F238E27FC236}">
                <a16:creationId xmlns:a16="http://schemas.microsoft.com/office/drawing/2014/main" id="{7B5EB191-C9AC-48EB-8B42-55751823D0B5}"/>
              </a:ext>
            </a:extLst>
          </p:cNvPr>
          <p:cNvSpPr>
            <a:spLocks xmlns:a="http://schemas.openxmlformats.org/drawingml/2006/main" noGrp="1"/>
          </p:cNvSpPr>
          <p:nvPr/>
        </p:nvSpPr>
        <p:spPr>
          <a:xfrm xmlns:a="http://schemas.openxmlformats.org/drawingml/2006/main">
            <a:off x="609600" y="4667250"/>
            <a:ext cx="476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ctr">
              <a:defRPr sz="2100" b="1" i="0">
                <a:solidFill>
                  <a:srgbClr val="F47A22"/>
                </a:solidFill>
                <a:latin typeface="Calibri"/>
                <a:ea typeface="Calibri"/>
                <a:cs typeface="Calibri"/>
              </a:defRPr>
            </a:pPr>
            <a:r>
              <a:rPr sz="2100" b="1" i="0">
                <a:solidFill>
                  <a:srgbClr val="F47A22"/>
                </a:solidFill>
                <a:latin typeface="Calibri"/>
                <a:ea typeface="Calibri"/>
                <a:cs typeface="Calibri"/>
              </a:rPr>
              <a:t>P2</a:t>
            </a:r>
          </a:p>
        </p:txBody>
      </p:sp>
      <p:sp>
        <p:nvSpPr>
          <p:cNvPr id="35" name="">
            <a:extLst xmlns:a="http://schemas.openxmlformats.org/drawingml/2006/main">
              <a:ext uri="{FF2B5EF4-FFF2-40B4-BE49-F238E27FC236}">
                <a16:creationId xmlns:a16="http://schemas.microsoft.com/office/drawing/2014/main" id="{E85F63DA-4885-49C7-8CDF-00C38F95E73E}"/>
              </a:ext>
            </a:extLst>
          </p:cNvPr>
          <p:cNvSpPr>
            <a:spLocks xmlns:a="http://schemas.openxmlformats.org/drawingml/2006/main" noGrp="1"/>
          </p:cNvSpPr>
          <p:nvPr/>
        </p:nvSpPr>
        <p:spPr>
          <a:xfrm xmlns:a="http://schemas.openxmlformats.org/drawingml/2006/main">
            <a:off x="1181100" y="4533900"/>
            <a:ext cx="27241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6" name="">
            <a:extLst xmlns:a="http://schemas.openxmlformats.org/drawingml/2006/main">
              <a:ext uri="{FF2B5EF4-FFF2-40B4-BE49-F238E27FC236}">
                <a16:creationId xmlns:a16="http://schemas.microsoft.com/office/drawing/2014/main" id="{EF25A351-D19B-4E4E-BE6D-B050E5C6AF62}"/>
              </a:ext>
            </a:extLst>
          </p:cNvPr>
          <p:cNvSpPr>
            <a:spLocks xmlns:a="http://schemas.openxmlformats.org/drawingml/2006/main" noGrp="1"/>
          </p:cNvSpPr>
          <p:nvPr/>
        </p:nvSpPr>
        <p:spPr>
          <a:xfrm xmlns:a="http://schemas.openxmlformats.org/drawingml/2006/main">
            <a:off x="1276350" y="4667250"/>
            <a:ext cx="25336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1" i="0">
                <a:solidFill>
                  <a:srgbClr val="233248"/>
                </a:solidFill>
                <a:latin typeface="Calibri"/>
                <a:ea typeface="Calibri"/>
                <a:cs typeface="Calibri"/>
              </a:defRPr>
            </a:pPr>
            <a:r>
              <a:rPr sz="1275" b="1" i="0">
                <a:solidFill>
                  <a:srgbClr val="233248"/>
                </a:solidFill>
                <a:latin typeface="Calibri"/>
                <a:ea typeface="Calibri"/>
                <a:cs typeface="Calibri"/>
              </a:rPr>
              <a:t>Venue-specific coordination info</a:t>
            </a:r>
          </a:p>
        </p:txBody>
      </p:sp>
      <p:sp>
        <p:nvSpPr>
          <p:cNvPr id="37" name="">
            <a:extLst xmlns:a="http://schemas.openxmlformats.org/drawingml/2006/main">
              <a:ext uri="{FF2B5EF4-FFF2-40B4-BE49-F238E27FC236}">
                <a16:creationId xmlns:a16="http://schemas.microsoft.com/office/drawing/2014/main" id="{E33C8C9F-9D35-4EC0-BC40-5660817047F3}"/>
              </a:ext>
            </a:extLst>
          </p:cNvPr>
          <p:cNvSpPr>
            <a:spLocks xmlns:a="http://schemas.openxmlformats.org/drawingml/2006/main" noGrp="1"/>
          </p:cNvSpPr>
          <p:nvPr/>
        </p:nvSpPr>
        <p:spPr>
          <a:xfrm xmlns:a="http://schemas.openxmlformats.org/drawingml/2006/main">
            <a:off x="3905250" y="4533900"/>
            <a:ext cx="29527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38" name="">
            <a:extLst xmlns:a="http://schemas.openxmlformats.org/drawingml/2006/main">
              <a:ext uri="{FF2B5EF4-FFF2-40B4-BE49-F238E27FC236}">
                <a16:creationId xmlns:a16="http://schemas.microsoft.com/office/drawing/2014/main" id="{62BF59FB-3D0B-48B8-BB19-45FF183EDB65}"/>
              </a:ext>
            </a:extLst>
          </p:cNvPr>
          <p:cNvSpPr>
            <a:spLocks xmlns:a="http://schemas.openxmlformats.org/drawingml/2006/main" noGrp="1"/>
          </p:cNvSpPr>
          <p:nvPr/>
        </p:nvSpPr>
        <p:spPr>
          <a:xfrm xmlns:a="http://schemas.openxmlformats.org/drawingml/2006/main">
            <a:off x="4000500" y="4667250"/>
            <a:ext cx="276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2–3 validated venues</a:t>
            </a:r>
          </a:p>
        </p:txBody>
      </p:sp>
      <p:sp>
        <p:nvSpPr>
          <p:cNvPr id="39" name="">
            <a:extLst xmlns:a="http://schemas.openxmlformats.org/drawingml/2006/main">
              <a:ext uri="{FF2B5EF4-FFF2-40B4-BE49-F238E27FC236}">
                <a16:creationId xmlns:a16="http://schemas.microsoft.com/office/drawing/2014/main" id="{145DF48A-8216-458B-B4F8-9DCC1452DE97}"/>
              </a:ext>
            </a:extLst>
          </p:cNvPr>
          <p:cNvSpPr>
            <a:spLocks xmlns:a="http://schemas.openxmlformats.org/drawingml/2006/main" noGrp="1"/>
          </p:cNvSpPr>
          <p:nvPr/>
        </p:nvSpPr>
        <p:spPr>
          <a:xfrm xmlns:a="http://schemas.openxmlformats.org/drawingml/2006/main">
            <a:off x="6858000" y="4533900"/>
            <a:ext cx="253365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0" name="">
            <a:extLst xmlns:a="http://schemas.openxmlformats.org/drawingml/2006/main">
              <a:ext uri="{FF2B5EF4-FFF2-40B4-BE49-F238E27FC236}">
                <a16:creationId xmlns:a16="http://schemas.microsoft.com/office/drawing/2014/main" id="{40425F47-60E3-464D-A548-7B2AE9D743EF}"/>
              </a:ext>
            </a:extLst>
          </p:cNvPr>
          <p:cNvSpPr>
            <a:spLocks xmlns:a="http://schemas.openxmlformats.org/drawingml/2006/main" noGrp="1"/>
          </p:cNvSpPr>
          <p:nvPr/>
        </p:nvSpPr>
        <p:spPr>
          <a:xfrm xmlns:a="http://schemas.openxmlformats.org/drawingml/2006/main">
            <a:off x="6953250" y="4667250"/>
            <a:ext cx="23431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Calls/messages and dwell vs matched venues</a:t>
            </a:r>
          </a:p>
        </p:txBody>
      </p:sp>
      <p:sp>
        <p:nvSpPr>
          <p:cNvPr id="41" name="">
            <a:extLst xmlns:a="http://schemas.openxmlformats.org/drawingml/2006/main">
              <a:ext uri="{FF2B5EF4-FFF2-40B4-BE49-F238E27FC236}">
                <a16:creationId xmlns:a16="http://schemas.microsoft.com/office/drawing/2014/main" id="{62D2C8A1-2696-40CE-B021-157558081C1F}"/>
              </a:ext>
            </a:extLst>
          </p:cNvPr>
          <p:cNvSpPr>
            <a:spLocks xmlns:a="http://schemas.openxmlformats.org/drawingml/2006/main" noGrp="1"/>
          </p:cNvSpPr>
          <p:nvPr/>
        </p:nvSpPr>
        <p:spPr>
          <a:xfrm xmlns:a="http://schemas.openxmlformats.org/drawingml/2006/main">
            <a:off x="9391650" y="4533900"/>
            <a:ext cx="1562100" cy="1181100"/>
          </a:xfrm>
          <a:prstGeom xmlns:a="http://schemas.openxmlformats.org/drawingml/2006/main" prst="rect">
            <a:avLst/>
          </a:prstGeom>
          <a:solidFill xmlns:a="http://schemas.openxmlformats.org/drawingml/2006/main">
            <a:srgbClr val="FFFFFF"/>
          </a:solidFill>
          <a:ln xmlns:a="http://schemas.openxmlformats.org/drawingml/2006/main" w="9525">
            <a:solidFill>
              <a:srgbClr val="E8ECF1"/>
            </a:solidFill>
            <a:prstDash val="solid"/>
          </a:ln>
        </p:spPr>
      </p:sp>
      <p:sp>
        <p:nvSpPr>
          <p:cNvPr id="42" name="">
            <a:extLst xmlns:a="http://schemas.openxmlformats.org/drawingml/2006/main">
              <a:ext uri="{FF2B5EF4-FFF2-40B4-BE49-F238E27FC236}">
                <a16:creationId xmlns:a16="http://schemas.microsoft.com/office/drawing/2014/main" id="{40087451-8108-452E-81A4-F4316B9ADC45}"/>
              </a:ext>
            </a:extLst>
          </p:cNvPr>
          <p:cNvSpPr>
            <a:spLocks xmlns:a="http://schemas.openxmlformats.org/drawingml/2006/main" noGrp="1"/>
          </p:cNvSpPr>
          <p:nvPr/>
        </p:nvSpPr>
        <p:spPr>
          <a:xfrm xmlns:a="http://schemas.openxmlformats.org/drawingml/2006/main">
            <a:off x="9486900" y="4667250"/>
            <a:ext cx="1371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ctr">
            <a:normAutofit fontScale="100000"/>
          </a:bodyPr>
          <a:lstStyle xmlns:a="http://schemas.openxmlformats.org/drawingml/2006/main"/>
          <a:p xmlns:a="http://schemas.openxmlformats.org/drawingml/2006/main">
            <a:pPr algn="l">
              <a:defRPr sz="1275" b="0" i="0">
                <a:solidFill>
                  <a:srgbClr val="233248"/>
                </a:solidFill>
                <a:latin typeface="Calibri"/>
                <a:ea typeface="Calibri"/>
                <a:cs typeface="Calibri"/>
              </a:defRPr>
            </a:pPr>
            <a:r>
              <a:rPr sz="1275" b="0" i="0">
                <a:solidFill>
                  <a:srgbClr val="233248"/>
                </a:solidFill>
                <a:latin typeface="Calibri"/>
                <a:ea typeface="Calibri"/>
                <a:cs typeface="Calibri"/>
              </a:rPr>
              <a:t>Stale rules; ownership cost</a:t>
            </a:r>
          </a:p>
        </p:txBody>
      </p:sp>
      <p:sp>
        <p:nvSpPr>
          <p:cNvPr id="43" name="">
            <a:extLst xmlns:a="http://schemas.openxmlformats.org/drawingml/2006/main">
              <a:ext uri="{FF2B5EF4-FFF2-40B4-BE49-F238E27FC236}">
                <a16:creationId xmlns:a16="http://schemas.microsoft.com/office/drawing/2014/main" id="{C946FAA8-CDD1-44C1-826A-1A5A9714DE32}"/>
              </a:ext>
            </a:extLst>
          </p:cNvPr>
          <p:cNvSpPr>
            <a:spLocks xmlns:a="http://schemas.openxmlformats.org/drawingml/2006/main" noGrp="1"/>
          </p:cNvSpPr>
          <p:nvPr/>
        </p:nvSpPr>
        <p:spPr>
          <a:xfrm xmlns:a="http://schemas.openxmlformats.org/drawingml/2006/main">
            <a:off x="514350" y="5886450"/>
            <a:ext cx="10439400" cy="381000"/>
          </a:xfrm>
          <a:prstGeom xmlns:a="http://schemas.openxmlformats.org/drawingml/2006/main" prst="roundRect">
            <a:avLst>
              <a:gd name="adj" fmla="val 10000"/>
            </a:avLst>
          </a:prstGeom>
          <a:solidFill xmlns:a="http://schemas.openxmlformats.org/drawingml/2006/main">
            <a:srgbClr val="FBE7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F68B320F-C23D-4ED6-8741-1B0D02DF6A07}"/>
              </a:ext>
            </a:extLst>
          </p:cNvPr>
          <p:cNvSpPr>
            <a:spLocks xmlns:a="http://schemas.openxmlformats.org/drawingml/2006/main" noGrp="1"/>
          </p:cNvSpPr>
          <p:nvPr/>
        </p:nvSpPr>
        <p:spPr>
          <a:xfrm xmlns:a="http://schemas.openxmlformats.org/drawingml/2006/main">
            <a:off x="704850" y="5962650"/>
            <a:ext cx="10058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78431"/>
          </a:bodyPr>
          <a:lstStyle xmlns:a="http://schemas.openxmlformats.org/drawingml/2006/main"/>
          <a:p xmlns:a="http://schemas.openxmlformats.org/drawingml/2006/main">
            <a:pPr algn="ctr">
              <a:defRPr sz="1275" b="1" i="0">
                <a:solidFill>
                  <a:srgbClr val="1B2B45"/>
                </a:solidFill>
                <a:latin typeface="Calibri"/>
                <a:ea typeface="Calibri"/>
                <a:cs typeface="Calibri"/>
              </a:defRPr>
            </a:pPr>
            <a:r>
              <a:rPr sz="1275" b="1" i="0">
                <a:solidFill>
                  <a:srgbClr val="1B2B45"/>
                </a:solidFill>
                <a:latin typeface="Calibri"/>
                <a:ea typeface="Calibri"/>
                <a:cs typeface="Calibri"/>
              </a:rPr>
              <a:t>Sequence is a test order, not a committed build roadmap.</a:t>
            </a:r>
          </a:p>
        </p:txBody>
      </p:sp>
      <p:sp>
        <p:nvSpPr>
          <p:cNvPr id="45" name="">
            <a:extLst xmlns:a="http://schemas.openxmlformats.org/drawingml/2006/main">
              <a:ext uri="{FF2B5EF4-FFF2-40B4-BE49-F238E27FC236}">
                <a16:creationId xmlns:a16="http://schemas.microsoft.com/office/drawing/2014/main" id="{E1615E2F-5ABA-4787-8B0E-AA1841F8E388}"/>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46" name="">
            <a:extLst xmlns:a="http://schemas.openxmlformats.org/drawingml/2006/main">
              <a:ext uri="{FF2B5EF4-FFF2-40B4-BE49-F238E27FC236}">
                <a16:creationId xmlns:a16="http://schemas.microsoft.com/office/drawing/2014/main" id="{340DE04F-3F06-40E3-8CAF-3B096F12DD6A}"/>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20</a:t>
            </a:r>
          </a:p>
        </p:txBody>
      </p:sp>
    </p:spTree>
    <p:extLst>
      <p:ext uri="{BB962C8B-B14F-4D97-AF65-F5344CB8AC3E}">
        <p14:creationId xmlns:p14="http://schemas.microsoft.com/office/powerpoint/2010/main" val="995965655"/>
      </p:ext>
    </p:extLst>
  </p:cSld>
</p:sld>
</file>

<file path=ppt/slides/slide21.xml><?xml version="1.0" encoding="utf-8"?>
<p:sld xmlns:p="http://schemas.openxmlformats.org/presentationml/2006/main">
  <p:cSld>
    <p:bg>
      <p:bgPr>
        <a:solidFill xmlns:a="http://schemas.openxmlformats.org/drawingml/2006/main">
          <a:srgbClr val="F3F5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6400461-5B3C-4AEE-918D-C187CE08EF7A}"/>
              </a:ext>
            </a:extLst>
          </p:cNvPr>
          <p:cNvSpPr>
            <a:spLocks xmlns:a="http://schemas.openxmlformats.org/drawingml/2006/main" noGrp="1"/>
          </p:cNvSpPr>
          <p:nvPr/>
        </p:nvSpPr>
        <p:spPr>
          <a:xfrm xmlns:a="http://schemas.openxmlformats.org/drawingml/2006/main">
            <a:off x="514350" y="247650"/>
            <a:ext cx="1114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EVIDENCE BOUNDARY</a:t>
            </a:r>
          </a:p>
        </p:txBody>
      </p:sp>
      <p:sp>
        <p:nvSpPr>
          <p:cNvPr id="2" name="">
            <a:extLst xmlns:a="http://schemas.openxmlformats.org/drawingml/2006/main">
              <a:ext uri="{FF2B5EF4-FFF2-40B4-BE49-F238E27FC236}">
                <a16:creationId xmlns:a16="http://schemas.microsoft.com/office/drawing/2014/main" id="{7785384B-A60C-4AF9-8719-641D4C201E79}"/>
              </a:ext>
            </a:extLst>
          </p:cNvPr>
          <p:cNvSpPr>
            <a:spLocks xmlns:a="http://schemas.openxmlformats.org/drawingml/2006/main" noGrp="1"/>
          </p:cNvSpPr>
          <p:nvPr/>
        </p:nvSpPr>
        <p:spPr>
          <a:xfrm xmlns:a="http://schemas.openxmlformats.org/drawingml/2006/main">
            <a:off x="514350" y="571500"/>
            <a:ext cx="11144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1B2B45"/>
                </a:solidFill>
                <a:latin typeface="Calibri"/>
                <a:ea typeface="Calibri"/>
                <a:cs typeface="Calibri"/>
              </a:defRPr>
            </a:pPr>
            <a:r>
              <a:rPr sz="2550" b="1" i="0">
                <a:solidFill>
                  <a:srgbClr val="1B2B45"/>
                </a:solidFill>
                <a:latin typeface="Calibri"/>
                <a:ea typeface="Calibri"/>
                <a:cs typeface="Calibri"/>
              </a:rPr>
              <a:t>What kind of evidence this is</a:t>
            </a:r>
          </a:p>
        </p:txBody>
      </p:sp>
      <p:sp>
        <p:nvSpPr>
          <p:cNvPr id="3" name="">
            <a:extLst xmlns:a="http://schemas.openxmlformats.org/drawingml/2006/main">
              <a:ext uri="{FF2B5EF4-FFF2-40B4-BE49-F238E27FC236}">
                <a16:creationId xmlns:a16="http://schemas.microsoft.com/office/drawing/2014/main" id="{24B71EF1-4BB0-40DB-99D5-3533BEFCE745}"/>
              </a:ext>
            </a:extLst>
          </p:cNvPr>
          <p:cNvSpPr>
            <a:spLocks xmlns:a="http://schemas.openxmlformats.org/drawingml/2006/main" noGrp="1"/>
          </p:cNvSpPr>
          <p:nvPr/>
        </p:nvSpPr>
        <p:spPr>
          <a:xfrm xmlns:a="http://schemas.openxmlformats.org/drawingml/2006/main">
            <a:off x="685800" y="1619250"/>
            <a:ext cx="10287000" cy="432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ormAutofit fontScale="100000"/>
          </a:bodyPr>
          <a:lstStyle xmlns:a="http://schemas.openxmlformats.org/drawingml/2006/main"/>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Convenience sample recruited through available networks; not representative of Hyderabad riders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Online survey with interview-style prompts; 30 open-ended responses but no live probing, so qualitative depth is shallower than a moderated interview</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Four driver responses; two-sided product and marketplace conclusions remain premature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Open prompts were optional and the schema changed during collection, so qualitative depth varies</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Twenty-nine of 62 responses came from other cities; they are comparison evidence, not a small side sample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Consent was required in the interface but not stored as a separate backend field</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Multi-select location and action counts are mentions, not mutually exclusive people</a:t>
            </a:r>
          </a:p>
          <a:p xmlns:a="http://schemas.openxmlformats.org/drawingml/2006/main">
            <a:pPr marL="228600" indent="-114300">
              <a:spcAft>
                <a:spcPts val="800"/>
              </a:spcAft>
              <a:buChar char="•"/>
              <a:defRPr sz="1575">
                <a:solidFill>
                  <a:srgbClr val="233248"/>
                </a:solidFill>
                <a:latin typeface="Calibri"/>
                <a:ea typeface="Calibri"/>
                <a:cs typeface="Calibri"/>
              </a:defRPr>
            </a:pPr>
            <a:r>
              <a:rPr sz="1575">
                <a:solidFill>
                  <a:srgbClr val="233248"/>
                </a:solidFill>
                <a:latin typeface="Calibri"/>
                <a:ea typeface="Calibri"/>
                <a:cs typeface="Calibri"/>
              </a:rPr>
              <a:t>No reliable Hyderabad trip-volume or issue-rate denominator was found; no market-size figure is claimed</a:t>
            </a:r>
          </a:p>
        </p:txBody>
      </p:sp>
      <p:sp>
        <p:nvSpPr>
          <p:cNvPr id="4" name="">
            <a:extLst xmlns:a="http://schemas.openxmlformats.org/drawingml/2006/main">
              <a:ext uri="{FF2B5EF4-FFF2-40B4-BE49-F238E27FC236}">
                <a16:creationId xmlns:a16="http://schemas.microsoft.com/office/drawing/2014/main" id="{EB28177A-64B0-4962-BAEC-FFF920F08EF9}"/>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5" name="">
            <a:extLst xmlns:a="http://schemas.openxmlformats.org/drawingml/2006/main">
              <a:ext uri="{FF2B5EF4-FFF2-40B4-BE49-F238E27FC236}">
                <a16:creationId xmlns:a16="http://schemas.microsoft.com/office/drawing/2014/main" id="{6FA68E6B-A9F2-4866-B1D2-CD9DD7A7EA7B}"/>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21</a:t>
            </a:r>
          </a:p>
        </p:txBody>
      </p:sp>
    </p:spTree>
    <p:extLst>
      <p:ext uri="{BB962C8B-B14F-4D97-AF65-F5344CB8AC3E}">
        <p14:creationId xmlns:p14="http://schemas.microsoft.com/office/powerpoint/2010/main" val="1246211909"/>
      </p:ext>
    </p:extLst>
  </p:cSld>
</p:sld>
</file>

<file path=ppt/slides/slide22.xml><?xml version="1.0" encoding="utf-8"?>
<p:sld xmlns:p="http://schemas.openxmlformats.org/presentationml/2006/main">
  <p:cSld>
    <p:bg>
      <p:bgPr>
        <a:solidFill xmlns:a="http://schemas.openxmlformats.org/drawingml/2006/main">
          <a:srgbClr val="1B2B4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3D70366-82BC-4EA4-B7BD-228156166B81}"/>
              </a:ext>
            </a:extLst>
          </p:cNvPr>
          <p:cNvSpPr>
            <a:spLocks xmlns:a="http://schemas.openxmlformats.org/drawingml/2006/main" noGrp="1"/>
          </p:cNvSpPr>
          <p:nvPr/>
        </p:nvSpPr>
        <p:spPr>
          <a:xfrm xmlns:a="http://schemas.openxmlformats.org/drawingml/2006/main">
            <a:off x="514350" y="26670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975" b="1" i="0">
                <a:solidFill>
                  <a:srgbClr val="F47A22"/>
                </a:solidFill>
                <a:latin typeface="Calibri"/>
                <a:ea typeface="Calibri"/>
                <a:cs typeface="Calibri"/>
              </a:defRPr>
            </a:pPr>
            <a:r>
              <a:rPr sz="975" b="1" i="0">
                <a:solidFill>
                  <a:srgbClr val="F47A22"/>
                </a:solidFill>
                <a:latin typeface="Calibri"/>
                <a:ea typeface="Calibri"/>
                <a:cs typeface="Calibri"/>
              </a:rPr>
              <a:t>APPENDIX · SOURCE TRACEABILITY</a:t>
            </a:r>
          </a:p>
        </p:txBody>
      </p:sp>
      <p:sp>
        <p:nvSpPr>
          <p:cNvPr id="2" name="">
            <a:extLst xmlns:a="http://schemas.openxmlformats.org/drawingml/2006/main">
              <a:ext uri="{FF2B5EF4-FFF2-40B4-BE49-F238E27FC236}">
                <a16:creationId xmlns:a16="http://schemas.microsoft.com/office/drawing/2014/main" id="{15AFB0E0-C06E-4945-AA73-168B93B15E1B}"/>
              </a:ext>
            </a:extLst>
          </p:cNvPr>
          <p:cNvSpPr>
            <a:spLocks xmlns:a="http://schemas.openxmlformats.org/drawingml/2006/main" noGrp="1"/>
          </p:cNvSpPr>
          <p:nvPr/>
        </p:nvSpPr>
        <p:spPr>
          <a:xfrm xmlns:a="http://schemas.openxmlformats.org/drawingml/2006/main">
            <a:off x="514350" y="62865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2550" b="1" i="0">
                <a:solidFill>
                  <a:srgbClr val="FFFFFF"/>
                </a:solidFill>
                <a:latin typeface="Calibri"/>
                <a:ea typeface="Calibri"/>
                <a:cs typeface="Calibri"/>
              </a:defRPr>
            </a:pPr>
            <a:r>
              <a:rPr sz="2550" b="1" i="0">
                <a:solidFill>
                  <a:srgbClr val="FFFFFF"/>
                </a:solidFill>
                <a:latin typeface="Calibri"/>
                <a:ea typeface="Calibri"/>
                <a:cs typeface="Calibri"/>
              </a:rPr>
              <a:t>Every claim traces to a source or an explicit limitation</a:t>
            </a:r>
          </a:p>
        </p:txBody>
      </p:sp>
      <p:sp>
        <p:nvSpPr>
          <p:cNvPr id="3" name="">
            <a:extLst xmlns:a="http://schemas.openxmlformats.org/drawingml/2006/main">
              <a:ext uri="{FF2B5EF4-FFF2-40B4-BE49-F238E27FC236}">
                <a16:creationId xmlns:a16="http://schemas.microsoft.com/office/drawing/2014/main" id="{C1E24AFE-2D86-4DB7-8D7B-CB6DD422FCCA}"/>
              </a:ext>
            </a:extLst>
          </p:cNvPr>
          <p:cNvSpPr>
            <a:spLocks xmlns:a="http://schemas.openxmlformats.org/drawingml/2006/main" noGrp="1"/>
          </p:cNvSpPr>
          <p:nvPr/>
        </p:nvSpPr>
        <p:spPr>
          <a:xfrm xmlns:a="http://schemas.openxmlformats.org/drawingml/2006/main">
            <a:off x="5143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4" name="">
            <a:extLst xmlns:a="http://schemas.openxmlformats.org/drawingml/2006/main">
              <a:ext uri="{FF2B5EF4-FFF2-40B4-BE49-F238E27FC236}">
                <a16:creationId xmlns:a16="http://schemas.microsoft.com/office/drawing/2014/main" id="{67A0C6A7-9CC2-42A8-A95C-2C4C907CBBBC}"/>
              </a:ext>
            </a:extLst>
          </p:cNvPr>
          <p:cNvSpPr>
            <a:spLocks xmlns:a="http://schemas.openxmlformats.org/drawingml/2006/main" noGrp="1"/>
          </p:cNvSpPr>
          <p:nvPr/>
        </p:nvSpPr>
        <p:spPr>
          <a:xfrm xmlns:a="http://schemas.openxmlformats.org/drawingml/2006/main">
            <a:off x="6667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PRIMARY EVIDENCE</a:t>
            </a:r>
          </a:p>
        </p:txBody>
      </p:sp>
      <p:sp>
        <p:nvSpPr>
          <p:cNvPr id="5" name="">
            <a:extLst xmlns:a="http://schemas.openxmlformats.org/drawingml/2006/main">
              <a:ext uri="{FF2B5EF4-FFF2-40B4-BE49-F238E27FC236}">
                <a16:creationId xmlns:a16="http://schemas.microsoft.com/office/drawing/2014/main" id="{82E090C0-31DF-4E0F-B2F0-B603A5FF565E}"/>
              </a:ext>
            </a:extLst>
          </p:cNvPr>
          <p:cNvSpPr>
            <a:spLocks xmlns:a="http://schemas.openxmlformats.org/drawingml/2006/main" noGrp="1"/>
          </p:cNvSpPr>
          <p:nvPr/>
        </p:nvSpPr>
        <p:spPr>
          <a:xfrm xmlns:a="http://schemas.openxmlformats.org/drawingml/2006/main">
            <a:off x="6667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Sanitized-Survey-Evidence.xlsx</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Survey-Dashboard.png</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Screenshots/</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Live-URL.txt</a:t>
            </a:r>
          </a:p>
        </p:txBody>
      </p:sp>
      <p:sp>
        <p:nvSpPr>
          <p:cNvPr id="6" name="">
            <a:extLst xmlns:a="http://schemas.openxmlformats.org/drawingml/2006/main">
              <a:ext uri="{FF2B5EF4-FFF2-40B4-BE49-F238E27FC236}">
                <a16:creationId xmlns:a16="http://schemas.microsoft.com/office/drawing/2014/main" id="{79EF7A14-C61A-459A-80AD-C24B7F608DE5}"/>
              </a:ext>
            </a:extLst>
          </p:cNvPr>
          <p:cNvSpPr>
            <a:spLocks xmlns:a="http://schemas.openxmlformats.org/drawingml/2006/main" noGrp="1"/>
          </p:cNvSpPr>
          <p:nvPr/>
        </p:nvSpPr>
        <p:spPr>
          <a:xfrm xmlns:a="http://schemas.openxmlformats.org/drawingml/2006/main">
            <a:off x="5810250" y="1466850"/>
            <a:ext cx="5143500" cy="1676400"/>
          </a:xfrm>
          <a:prstGeom xmlns:a="http://schemas.openxmlformats.org/drawingml/2006/main" prst="roundRect">
            <a:avLst>
              <a:gd name="adj" fmla="val 3409"/>
            </a:avLst>
          </a:prstGeom>
          <a:solidFill xmlns:a="http://schemas.openxmlformats.org/drawingml/2006/main">
            <a:srgbClr val="243A60"/>
          </a:solidFill>
          <a:ln xmlns:a="http://schemas.openxmlformats.org/drawingml/2006/main" w="9525">
            <a:solidFill>
              <a:srgbClr val="3B5686"/>
            </a:solidFill>
            <a:prstDash val="solid"/>
          </a:ln>
        </p:spPr>
      </p:sp>
      <p:sp>
        <p:nvSpPr>
          <p:cNvPr id="7" name="">
            <a:extLst xmlns:a="http://schemas.openxmlformats.org/drawingml/2006/main">
              <a:ext uri="{FF2B5EF4-FFF2-40B4-BE49-F238E27FC236}">
                <a16:creationId xmlns:a16="http://schemas.microsoft.com/office/drawing/2014/main" id="{77BB6F3E-2DE1-40C4-A7D7-418CBF5AE10E}"/>
              </a:ext>
            </a:extLst>
          </p:cNvPr>
          <p:cNvSpPr>
            <a:spLocks xmlns:a="http://schemas.openxmlformats.org/drawingml/2006/main" noGrp="1"/>
          </p:cNvSpPr>
          <p:nvPr/>
        </p:nvSpPr>
        <p:spPr>
          <a:xfrm xmlns:a="http://schemas.openxmlformats.org/drawingml/2006/main">
            <a:off x="5962650" y="1581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B5C8"/>
                </a:solidFill>
                <a:latin typeface="Calibri"/>
                <a:ea typeface="Calibri"/>
                <a:cs typeface="Calibri"/>
              </a:defRPr>
            </a:pPr>
            <a:r>
              <a:rPr sz="1275" b="1" i="0">
                <a:solidFill>
                  <a:srgbClr val="1BB5C8"/>
                </a:solidFill>
                <a:latin typeface="Calibri"/>
                <a:ea typeface="Calibri"/>
                <a:cs typeface="Calibri"/>
              </a:rPr>
              <a:t>DESK AND COMPETITOR EVIDENCE</a:t>
            </a:r>
          </a:p>
        </p:txBody>
      </p:sp>
      <p:sp>
        <p:nvSpPr>
          <p:cNvPr id="8" name="">
            <a:extLst xmlns:a="http://schemas.openxmlformats.org/drawingml/2006/main">
              <a:ext uri="{FF2B5EF4-FFF2-40B4-BE49-F238E27FC236}">
                <a16:creationId xmlns:a16="http://schemas.microsoft.com/office/drawing/2014/main" id="{8C3D4CB2-6EC1-4B8E-BE6A-08A61EE1F456}"/>
              </a:ext>
            </a:extLst>
          </p:cNvPr>
          <p:cNvSpPr>
            <a:spLocks xmlns:a="http://schemas.openxmlformats.org/drawingml/2006/main" noGrp="1"/>
          </p:cNvSpPr>
          <p:nvPr/>
        </p:nvSpPr>
        <p:spPr>
          <a:xfrm xmlns:a="http://schemas.openxmlformats.org/drawingml/2006/main">
            <a:off x="5962650" y="1914525"/>
            <a:ext cx="4838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Competitor-Analysis.md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Desk-Research-Report.md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Source-Register.md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Raw internet workbook retained privately</a:t>
            </a:r>
          </a:p>
        </p:txBody>
      </p:sp>
      <p:sp>
        <p:nvSpPr>
          <p:cNvPr id="9" name="">
            <a:extLst xmlns:a="http://schemas.openxmlformats.org/drawingml/2006/main">
              <a:ext uri="{FF2B5EF4-FFF2-40B4-BE49-F238E27FC236}">
                <a16:creationId xmlns:a16="http://schemas.microsoft.com/office/drawing/2014/main" id="{0BB7AA67-5769-41C5-A199-42337F73E563}"/>
              </a:ext>
            </a:extLst>
          </p:cNvPr>
          <p:cNvSpPr>
            <a:spLocks xmlns:a="http://schemas.openxmlformats.org/drawingml/2006/main" noGrp="1"/>
          </p:cNvSpPr>
          <p:nvPr/>
        </p:nvSpPr>
        <p:spPr>
          <a:xfrm xmlns:a="http://schemas.openxmlformats.org/drawingml/2006/main">
            <a:off x="514350" y="3371850"/>
            <a:ext cx="5143500" cy="1485900"/>
          </a:xfrm>
          <a:prstGeom xmlns:a="http://schemas.openxmlformats.org/drawingml/2006/main" prst="roundRect">
            <a:avLst>
              <a:gd name="adj" fmla="val 3846"/>
            </a:avLst>
          </a:prstGeom>
          <a:solidFill xmlns:a="http://schemas.openxmlformats.org/drawingml/2006/main">
            <a:srgbClr val="243A60"/>
          </a:solidFill>
          <a:ln xmlns:a="http://schemas.openxmlformats.org/drawingml/2006/main" w="9525">
            <a:solidFill>
              <a:srgbClr val="3B5686"/>
            </a:solidFill>
            <a:prstDash val="solid"/>
          </a:ln>
        </p:spPr>
      </p:sp>
      <p:sp>
        <p:nvSpPr>
          <p:cNvPr id="10" name="">
            <a:extLst xmlns:a="http://schemas.openxmlformats.org/drawingml/2006/main">
              <a:ext uri="{FF2B5EF4-FFF2-40B4-BE49-F238E27FC236}">
                <a16:creationId xmlns:a16="http://schemas.microsoft.com/office/drawing/2014/main" id="{E4047746-4CA4-4B11-AD1F-43DBBB911FEE}"/>
              </a:ext>
            </a:extLst>
          </p:cNvPr>
          <p:cNvSpPr>
            <a:spLocks xmlns:a="http://schemas.openxmlformats.org/drawingml/2006/main" noGrp="1"/>
          </p:cNvSpPr>
          <p:nvPr/>
        </p:nvSpPr>
        <p:spPr>
          <a:xfrm xmlns:a="http://schemas.openxmlformats.org/drawingml/2006/main">
            <a:off x="6667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F47A22"/>
                </a:solidFill>
                <a:latin typeface="Calibri"/>
                <a:ea typeface="Calibri"/>
                <a:cs typeface="Calibri"/>
              </a:defRPr>
            </a:pPr>
            <a:r>
              <a:rPr sz="1275" b="1" i="0">
                <a:solidFill>
                  <a:srgbClr val="F47A22"/>
                </a:solidFill>
                <a:latin typeface="Calibri"/>
                <a:ea typeface="Calibri"/>
                <a:cs typeface="Calibri"/>
              </a:rPr>
              <a:t>SYNTHESIS</a:t>
            </a:r>
          </a:p>
        </p:txBody>
      </p:sp>
      <p:sp>
        <p:nvSpPr>
          <p:cNvPr id="11" name="">
            <a:extLst xmlns:a="http://schemas.openxmlformats.org/drawingml/2006/main">
              <a:ext uri="{FF2B5EF4-FFF2-40B4-BE49-F238E27FC236}">
                <a16:creationId xmlns:a16="http://schemas.microsoft.com/office/drawing/2014/main" id="{C05CE1B4-3CDC-46FE-95C2-9C1FF14D622A}"/>
              </a:ext>
            </a:extLst>
          </p:cNvPr>
          <p:cNvSpPr>
            <a:spLocks xmlns:a="http://schemas.openxmlformats.org/drawingml/2006/main" noGrp="1"/>
          </p:cNvSpPr>
          <p:nvPr/>
        </p:nvSpPr>
        <p:spPr>
          <a:xfrm xmlns:a="http://schemas.openxmlformats.org/drawingml/2006/main">
            <a:off x="6667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01-survey-insights.md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02-strategy-implications.md</a:t>
            </a:r>
          </a:p>
          <a:p xmlns:a="http://schemas.openxmlformats.org/drawingml/2006/main">
            <a:pPr algn="l">
              <a:defRPr sz="1500" b="0" i="0">
                <a:solidFill>
                  <a:srgbClr val="FFFFFF"/>
                </a:solidFill>
                <a:latin typeface="Calibri"/>
                <a:ea typeface="Calibri"/>
                <a:cs typeface="Calibri"/>
              </a:defRPr>
            </a:pPr>
            <a:r>
              <a:rPr sz="1500" b="0" i="0">
                <a:solidFill>
                  <a:srgbClr val="FFFFFF"/>
                </a:solidFill>
                <a:latin typeface="Calibri"/>
                <a:ea typeface="Calibri"/>
                <a:cs typeface="Calibri"/>
              </a:rPr>
              <a:t>04-product-ideas.md</a:t>
            </a:r>
          </a:p>
        </p:txBody>
      </p:sp>
      <p:sp>
        <p:nvSpPr>
          <p:cNvPr id="12" name="">
            <a:extLst xmlns:a="http://schemas.openxmlformats.org/drawingml/2006/main">
              <a:ext uri="{FF2B5EF4-FFF2-40B4-BE49-F238E27FC236}">
                <a16:creationId xmlns:a16="http://schemas.microsoft.com/office/drawing/2014/main" id="{6F98D60D-A85E-4773-A9DF-39F48C75C784}"/>
              </a:ext>
            </a:extLst>
          </p:cNvPr>
          <p:cNvSpPr>
            <a:spLocks xmlns:a="http://schemas.openxmlformats.org/drawingml/2006/main" noGrp="1"/>
          </p:cNvSpPr>
          <p:nvPr/>
        </p:nvSpPr>
        <p:spPr>
          <a:xfrm xmlns:a="http://schemas.openxmlformats.org/drawingml/2006/main">
            <a:off x="5810250" y="3371850"/>
            <a:ext cx="5143500" cy="1485900"/>
          </a:xfrm>
          <a:prstGeom xmlns:a="http://schemas.openxmlformats.org/drawingml/2006/main" prst="roundRect">
            <a:avLst>
              <a:gd name="adj" fmla="val 3846"/>
            </a:avLst>
          </a:prstGeom>
          <a:solidFill xmlns:a="http://schemas.openxmlformats.org/drawingml/2006/main">
            <a:srgbClr val="FBE7D8"/>
          </a:solidFill>
          <a:ln xmlns:a="http://schemas.openxmlformats.org/drawingml/2006/main" w="9525">
            <a:solidFill>
              <a:srgbClr val="FBE7D8"/>
            </a:solidFill>
            <a:prstDash val="solid"/>
          </a:ln>
        </p:spPr>
      </p:sp>
      <p:sp>
        <p:nvSpPr>
          <p:cNvPr id="13" name="">
            <a:extLst xmlns:a="http://schemas.openxmlformats.org/drawingml/2006/main">
              <a:ext uri="{FF2B5EF4-FFF2-40B4-BE49-F238E27FC236}">
                <a16:creationId xmlns:a16="http://schemas.microsoft.com/office/drawing/2014/main" id="{5064C59A-72A8-4CA5-A755-2EEFE64D02EB}"/>
              </a:ext>
            </a:extLst>
          </p:cNvPr>
          <p:cNvSpPr>
            <a:spLocks xmlns:a="http://schemas.openxmlformats.org/drawingml/2006/main" noGrp="1"/>
          </p:cNvSpPr>
          <p:nvPr/>
        </p:nvSpPr>
        <p:spPr>
          <a:xfrm xmlns:a="http://schemas.openxmlformats.org/drawingml/2006/main">
            <a:off x="5962650" y="34861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275" b="1" i="0">
                <a:solidFill>
                  <a:srgbClr val="1B2B45"/>
                </a:solidFill>
                <a:latin typeface="Calibri"/>
                <a:ea typeface="Calibri"/>
                <a:cs typeface="Calibri"/>
              </a:defRPr>
            </a:pPr>
            <a:r>
              <a:rPr sz="1275" b="1" i="0">
                <a:solidFill>
                  <a:srgbClr val="1B2B45"/>
                </a:solidFill>
                <a:latin typeface="Calibri"/>
                <a:ea typeface="Calibri"/>
                <a:cs typeface="Calibri"/>
              </a:rPr>
              <a:t>HARD SUBMISSION GATE</a:t>
            </a:r>
          </a:p>
        </p:txBody>
      </p:sp>
      <p:sp>
        <p:nvSpPr>
          <p:cNvPr id="14" name="">
            <a:extLst xmlns:a="http://schemas.openxmlformats.org/drawingml/2006/main">
              <a:ext uri="{FF2B5EF4-FFF2-40B4-BE49-F238E27FC236}">
                <a16:creationId xmlns:a16="http://schemas.microsoft.com/office/drawing/2014/main" id="{BC39E347-3389-4BD2-8980-3EB66CCD3164}"/>
              </a:ext>
            </a:extLst>
          </p:cNvPr>
          <p:cNvSpPr>
            <a:spLocks xmlns:a="http://schemas.openxmlformats.org/drawingml/2006/main" noGrp="1"/>
          </p:cNvSpPr>
          <p:nvPr/>
        </p:nvSpPr>
        <p:spPr>
          <a:xfrm xmlns:a="http://schemas.openxmlformats.org/drawingml/2006/main">
            <a:off x="5962650" y="3819525"/>
            <a:ext cx="4838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1425" b="0" i="0">
                <a:solidFill>
                  <a:srgbClr val="1B2B45"/>
                </a:solidFill>
                <a:latin typeface="Calibri"/>
                <a:ea typeface="Calibri"/>
                <a:cs typeface="Calibri"/>
              </a:defRPr>
            </a:pPr>
            <a:r>
              <a:rPr sz="1425" b="0" i="0">
                <a:solidFill>
                  <a:srgbClr val="1B2B45"/>
                </a:solidFill>
                <a:latin typeface="Calibri"/>
                <a:ea typeface="Calibri"/>
                <a:cs typeface="Calibri"/>
              </a:rPr>
              <a:t>Video link is pending. Before submission: record presenter-visible video under 5 minutes, upload it, add the working link, and verify access.</a:t>
            </a:r>
          </a:p>
        </p:txBody>
      </p:sp>
      <p:sp>
        <p:nvSpPr>
          <p:cNvPr id="15" name="">
            <a:extLst xmlns:a="http://schemas.openxmlformats.org/drawingml/2006/main">
              <a:ext uri="{FF2B5EF4-FFF2-40B4-BE49-F238E27FC236}">
                <a16:creationId xmlns:a16="http://schemas.microsoft.com/office/drawing/2014/main" id="{8E36F063-7F05-4BA0-BF93-72D03EB7BBA7}"/>
              </a:ext>
            </a:extLst>
          </p:cNvPr>
          <p:cNvSpPr>
            <a:spLocks xmlns:a="http://schemas.openxmlformats.org/drawingml/2006/main" noGrp="1"/>
          </p:cNvSpPr>
          <p:nvPr/>
        </p:nvSpPr>
        <p:spPr>
          <a:xfrm xmlns:a="http://schemas.openxmlformats.org/drawingml/2006/main">
            <a:off x="514350" y="523875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85781"/>
          </a:bodyPr>
          <a:lstStyle xmlns:a="http://schemas.openxmlformats.org/drawingml/2006/main"/>
          <a:p xmlns:a="http://schemas.openxmlformats.org/drawingml/2006/main">
            <a:pPr algn="ctr">
              <a:defRPr sz="1350" b="0" i="0">
                <a:solidFill>
                  <a:srgbClr val="CFD8E7"/>
                </a:solidFill>
                <a:latin typeface="Calibri"/>
                <a:ea typeface="Calibri"/>
                <a:cs typeface="Calibri"/>
              </a:defRPr>
            </a:pPr>
            <a:r>
              <a:rPr sz="1350" b="0" i="0">
                <a:solidFill>
                  <a:srgbClr val="CFD8E7"/>
                </a:solidFill>
                <a:latin typeface="Calibri"/>
                <a:ea typeface="Calibri"/>
                <a:cs typeface="Calibri"/>
              </a:rPr>
              <a:t>Evidence ZIP excludes participant contacts, raw API payloads, test rows, internal artifacts, and the raw internet workbook containing public creator contacts.</a:t>
            </a:r>
          </a:p>
        </p:txBody>
      </p:sp>
      <p:sp>
        <p:nvSpPr>
          <p:cNvPr id="16" name="">
            <a:extLst xmlns:a="http://schemas.openxmlformats.org/drawingml/2006/main">
              <a:ext uri="{FF2B5EF4-FFF2-40B4-BE49-F238E27FC236}">
                <a16:creationId xmlns:a16="http://schemas.microsoft.com/office/drawing/2014/main" id="{FD38BC47-6DCA-4EB8-A663-C44382DB672C}"/>
              </a:ext>
            </a:extLst>
          </p:cNvPr>
          <p:cNvSpPr>
            <a:spLocks xmlns:a="http://schemas.openxmlformats.org/drawingml/2006/main" noGrp="1"/>
          </p:cNvSpPr>
          <p:nvPr/>
        </p:nvSpPr>
        <p:spPr>
          <a:xfrm xmlns:a="http://schemas.openxmlformats.org/drawingml/2006/main">
            <a:off x="514350" y="65151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l">
              <a:defRPr sz="750" b="0" i="0">
                <a:solidFill>
                  <a:srgbClr val="687489"/>
                </a:solidFill>
                <a:latin typeface="Calibri"/>
                <a:ea typeface="Calibri"/>
                <a:cs typeface="Calibri"/>
              </a:defRPr>
            </a:pPr>
            <a:r>
              <a:rPr sz="750" b="0" i="0">
                <a:solidFill>
                  <a:srgbClr val="687489"/>
                </a:solidFill>
                <a:latin typeface="Calibri"/>
                <a:ea typeface="Calibri"/>
                <a:cs typeface="Calibri"/>
              </a:rPr>
              <a:t>Find My Ride · Appendix</a:t>
            </a:r>
          </a:p>
        </p:txBody>
      </p:sp>
      <p:sp>
        <p:nvSpPr>
          <p:cNvPr id="17" name="">
            <a:extLst xmlns:a="http://schemas.openxmlformats.org/drawingml/2006/main">
              <a:ext uri="{FF2B5EF4-FFF2-40B4-BE49-F238E27FC236}">
                <a16:creationId xmlns:a16="http://schemas.microsoft.com/office/drawing/2014/main" id="{67C21F66-C3C6-4DF3-9492-2D6E99A43CA7}"/>
              </a:ext>
            </a:extLst>
          </p:cNvPr>
          <p:cNvSpPr>
            <a:spLocks xmlns:a="http://schemas.openxmlformats.org/drawingml/2006/main" noGrp="1"/>
          </p:cNvSpPr>
          <p:nvPr/>
        </p:nvSpPr>
        <p:spPr>
          <a:xfrm xmlns:a="http://schemas.openxmlformats.org/drawingml/2006/main">
            <a:off x="11372850" y="65151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38100" rIns="57150" bIns="38100" anchor="t">
            <a:normAutofit fontScale="100000"/>
          </a:bodyPr>
          <a:lstStyle xmlns:a="http://schemas.openxmlformats.org/drawingml/2006/main"/>
          <a:p xmlns:a="http://schemas.openxmlformats.org/drawingml/2006/main">
            <a:pPr algn="r">
              <a:defRPr sz="750" b="0" i="0">
                <a:solidFill>
                  <a:srgbClr val="687489"/>
                </a:solidFill>
                <a:latin typeface="Calibri"/>
                <a:ea typeface="Calibri"/>
                <a:cs typeface="Calibri"/>
              </a:defRPr>
            </a:pPr>
            <a:r>
              <a:rPr sz="750" b="0" i="0">
                <a:solidFill>
                  <a:srgbClr val="687489"/>
                </a:solidFill>
                <a:latin typeface="Calibri"/>
                <a:ea typeface="Calibri"/>
                <a:cs typeface="Calibri"/>
              </a:rPr>
              <a:t>22</a:t>
            </a:r>
          </a:p>
        </p:txBody>
      </p:sp>
    </p:spTree>
    <p:extLst>
      <p:ext uri="{BB962C8B-B14F-4D97-AF65-F5344CB8AC3E}">
        <p14:creationId xmlns:p14="http://schemas.microsoft.com/office/powerpoint/2010/main" val="8694759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2026-09-19T05:47:29.7240000Z</dcterms:created>
  <dcterms:modified xsi:type="dcterms:W3CDTF">2026-09-19T05:47:29.7240000Z</dcterms:modified>
</coreProperties>
</file>