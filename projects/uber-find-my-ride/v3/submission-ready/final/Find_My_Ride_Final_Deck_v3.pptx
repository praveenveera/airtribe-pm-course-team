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Override PartName="/ppt/slides/slide18.xml" ContentType="application/vnd.openxmlformats-officedocument.presentationml.slide+xml"/>
  <Override PartName="/ppt/notesSlides/notesSlide18.xml" ContentType="application/vnd.openxmlformats-officedocument.presentationml.notesSlide+xml"/>
  <Override PartName="/ppt/slides/slide19.xml" ContentType="application/vnd.openxmlformats-officedocument.presentationml.slide+xml"/>
  <Override PartName="/ppt/notesSlides/notesSlide19.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c497575280d14b4a" /><Relationship Type="http://schemas.openxmlformats.org/officeDocument/2006/relationships/extended-properties" Target="/docProps/app.xml" Id="R33d9a286d4b04c87" /><Relationship Type="http://schemas.openxmlformats.org/officeDocument/2006/relationships/officeDocument" Target="/ppt/presentation.xml" Id="R01b1d005bdb84a13" /></Relationships>
</file>

<file path=ppt/presentation.xml><?xml version="1.0" encoding="utf-8"?>
<p:presentation xmlns:p="http://schemas.openxmlformats.org/presentationml/2006/main">
  <p:sldMasterIdLst>
    <p:sldMasterId xmlns:r="http://schemas.openxmlformats.org/officeDocument/2006/relationships" id="2147483648" r:id="Rb775a0a0d7da49e3"/>
  </p:sldMasterIdLst>
  <p:notesMasterIdLst>
    <p:notesMasterId xmlns:r="http://schemas.openxmlformats.org/officeDocument/2006/relationships" r:id="R5701abd19b4a4e42"/>
  </p:notesMasterIdLst>
  <p:sldIdLst>
    <p:sldId xmlns:r="http://schemas.openxmlformats.org/officeDocument/2006/relationships" id="256" r:id="R8028e96664a54361"/>
    <p:sldId xmlns:r="http://schemas.openxmlformats.org/officeDocument/2006/relationships" id="257" r:id="R69901c4b572c493a"/>
    <p:sldId xmlns:r="http://schemas.openxmlformats.org/officeDocument/2006/relationships" id="258" r:id="Rf99ce0f03ac44789"/>
    <p:sldId xmlns:r="http://schemas.openxmlformats.org/officeDocument/2006/relationships" id="259" r:id="R0c4bdfe711794155"/>
    <p:sldId xmlns:r="http://schemas.openxmlformats.org/officeDocument/2006/relationships" id="260" r:id="R4a00b4150bf74256"/>
    <p:sldId xmlns:r="http://schemas.openxmlformats.org/officeDocument/2006/relationships" id="261" r:id="R99b96dd020614dd5"/>
    <p:sldId xmlns:r="http://schemas.openxmlformats.org/officeDocument/2006/relationships" id="262" r:id="Rd4fa7f36e5944ea6"/>
    <p:sldId xmlns:r="http://schemas.openxmlformats.org/officeDocument/2006/relationships" id="263" r:id="R66e6b9884ec94bc2"/>
    <p:sldId xmlns:r="http://schemas.openxmlformats.org/officeDocument/2006/relationships" id="264" r:id="R08d789396c864292"/>
    <p:sldId xmlns:r="http://schemas.openxmlformats.org/officeDocument/2006/relationships" id="265" r:id="Rc784f7e313cb4260"/>
    <p:sldId xmlns:r="http://schemas.openxmlformats.org/officeDocument/2006/relationships" id="266" r:id="R82b881d506b54bcf"/>
    <p:sldId xmlns:r="http://schemas.openxmlformats.org/officeDocument/2006/relationships" id="267" r:id="R98b32240caa44211"/>
    <p:sldId xmlns:r="http://schemas.openxmlformats.org/officeDocument/2006/relationships" id="268" r:id="R4f365f3a809c45d1"/>
    <p:sldId xmlns:r="http://schemas.openxmlformats.org/officeDocument/2006/relationships" id="269" r:id="R6021214a548d47fd"/>
    <p:sldId xmlns:r="http://schemas.openxmlformats.org/officeDocument/2006/relationships" id="270" r:id="R0ef7da2e384f480f"/>
    <p:sldId xmlns:r="http://schemas.openxmlformats.org/officeDocument/2006/relationships" id="271" r:id="Red23c494726b4784"/>
    <p:sldId xmlns:r="http://schemas.openxmlformats.org/officeDocument/2006/relationships" id="272" r:id="Raa5936ebb1484e96"/>
    <p:sldId xmlns:r="http://schemas.openxmlformats.org/officeDocument/2006/relationships" id="273" r:id="R2fc5704baf3c4c04"/>
    <p:sldId xmlns:r="http://schemas.openxmlformats.org/officeDocument/2006/relationships" id="274" r:id="R98c3111a7b564503"/>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899140e57f3a4dc7" /><Relationship Type="http://schemas.openxmlformats.org/officeDocument/2006/relationships/slideMaster" Target="/ppt/slideMasters/slideMaster1.xml" Id="Rb775a0a0d7da49e3" /><Relationship Type="http://schemas.openxmlformats.org/officeDocument/2006/relationships/notesMaster" Target="/ppt/notesMasters/notesMaster1.xml" Id="R5701abd19b4a4e42" /><Relationship Type="http://schemas.openxmlformats.org/officeDocument/2006/relationships/presProps" Target="/ppt/presProps.xml" Id="Ra1af7031295745a9" /><Relationship Type="http://schemas.openxmlformats.org/officeDocument/2006/relationships/tableStyles" Target="/ppt/tableStyles.xml" Id="R21737274fc8243c1" /><Relationship Type="http://schemas.openxmlformats.org/officeDocument/2006/relationships/slide" Target="/ppt/slides/slide1.xml" Id="R8028e96664a54361" /><Relationship Type="http://schemas.openxmlformats.org/officeDocument/2006/relationships/slide" Target="/ppt/slides/slide2.xml" Id="R69901c4b572c493a" /><Relationship Type="http://schemas.openxmlformats.org/officeDocument/2006/relationships/slide" Target="/ppt/slides/slide3.xml" Id="Rf99ce0f03ac44789" /><Relationship Type="http://schemas.openxmlformats.org/officeDocument/2006/relationships/slide" Target="/ppt/slides/slide4.xml" Id="R0c4bdfe711794155" /><Relationship Type="http://schemas.openxmlformats.org/officeDocument/2006/relationships/slide" Target="/ppt/slides/slide5.xml" Id="R4a00b4150bf74256" /><Relationship Type="http://schemas.openxmlformats.org/officeDocument/2006/relationships/slide" Target="/ppt/slides/slide6.xml" Id="R99b96dd020614dd5" /><Relationship Type="http://schemas.openxmlformats.org/officeDocument/2006/relationships/slide" Target="/ppt/slides/slide7.xml" Id="Rd4fa7f36e5944ea6" /><Relationship Type="http://schemas.openxmlformats.org/officeDocument/2006/relationships/slide" Target="/ppt/slides/slide8.xml" Id="R66e6b9884ec94bc2" /><Relationship Type="http://schemas.openxmlformats.org/officeDocument/2006/relationships/slide" Target="/ppt/slides/slide9.xml" Id="R08d789396c864292" /><Relationship Type="http://schemas.openxmlformats.org/officeDocument/2006/relationships/slide" Target="/ppt/slides/slide10.xml" Id="Rc784f7e313cb4260" /><Relationship Type="http://schemas.openxmlformats.org/officeDocument/2006/relationships/slide" Target="/ppt/slides/slide11.xml" Id="R82b881d506b54bcf" /><Relationship Type="http://schemas.openxmlformats.org/officeDocument/2006/relationships/slide" Target="/ppt/slides/slide12.xml" Id="R98b32240caa44211" /><Relationship Type="http://schemas.openxmlformats.org/officeDocument/2006/relationships/slide" Target="/ppt/slides/slide13.xml" Id="R4f365f3a809c45d1" /><Relationship Type="http://schemas.openxmlformats.org/officeDocument/2006/relationships/slide" Target="/ppt/slides/slide14.xml" Id="R6021214a548d47fd" /><Relationship Type="http://schemas.openxmlformats.org/officeDocument/2006/relationships/slide" Target="/ppt/slides/slide15.xml" Id="R0ef7da2e384f480f" /><Relationship Type="http://schemas.openxmlformats.org/officeDocument/2006/relationships/slide" Target="/ppt/slides/slide16.xml" Id="Red23c494726b4784" /><Relationship Type="http://schemas.openxmlformats.org/officeDocument/2006/relationships/slide" Target="/ppt/slides/slide17.xml" Id="Raa5936ebb1484e96" /><Relationship Type="http://schemas.openxmlformats.org/officeDocument/2006/relationships/slide" Target="/ppt/slides/slide18.xml" Id="R2fc5704baf3c4c04" /><Relationship Type="http://schemas.openxmlformats.org/officeDocument/2006/relationships/slide" Target="/ppt/slides/slide19.xml" Id="R98c3111a7b564503"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ef9e6aac943649de"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6d1efd11b3a44157" /><Relationship Type="http://schemas.openxmlformats.org/officeDocument/2006/relationships/notesMaster" Target="/ppt/notesMasters/notesMaster1.xml" Id="R257bf8cab83340f2" /></Relationships>
</file>

<file path=ppt/notesSlides/_rels/notesSlide2.xml.rels>&#65279;<?xml version="1.0" encoding="utf-8"?><Relationships xmlns="http://schemas.openxmlformats.org/package/2006/relationships"><Relationship Type="http://schemas.openxmlformats.org/officeDocument/2006/relationships/slide" Target="/ppt/slides/slide2.xml" Id="R21a3f032d87242ee" /><Relationship Type="http://schemas.openxmlformats.org/officeDocument/2006/relationships/notesMaster" Target="/ppt/notesMasters/notesMaster1.xml" Id="R29df90ca98414481" /></Relationships>
</file>

<file path=ppt/notesSlides/_rels/notesSlide3.xml.rels>&#65279;<?xml version="1.0" encoding="utf-8"?><Relationships xmlns="http://schemas.openxmlformats.org/package/2006/relationships"><Relationship Type="http://schemas.openxmlformats.org/officeDocument/2006/relationships/slide" Target="/ppt/slides/slide3.xml" Id="R38c08468461040c8" /><Relationship Type="http://schemas.openxmlformats.org/officeDocument/2006/relationships/notesMaster" Target="/ppt/notesMasters/notesMaster1.xml" Id="R443e0bc14b614f8d" /></Relationships>
</file>

<file path=ppt/notesSlides/_rels/notesSlide4.xml.rels>&#65279;<?xml version="1.0" encoding="utf-8"?><Relationships xmlns="http://schemas.openxmlformats.org/package/2006/relationships"><Relationship Type="http://schemas.openxmlformats.org/officeDocument/2006/relationships/slide" Target="/ppt/slides/slide4.xml" Id="Rdb750f31f4ff4a92" /><Relationship Type="http://schemas.openxmlformats.org/officeDocument/2006/relationships/notesMaster" Target="/ppt/notesMasters/notesMaster1.xml" Id="Rfa1461f282a84aba" /></Relationships>
</file>

<file path=ppt/notesSlides/_rels/notesSlide5.xml.rels>&#65279;<?xml version="1.0" encoding="utf-8"?><Relationships xmlns="http://schemas.openxmlformats.org/package/2006/relationships"><Relationship Type="http://schemas.openxmlformats.org/officeDocument/2006/relationships/slide" Target="/ppt/slides/slide5.xml" Id="Ra8c85d5427484923" /><Relationship Type="http://schemas.openxmlformats.org/officeDocument/2006/relationships/notesMaster" Target="/ppt/notesMasters/notesMaster1.xml" Id="Rafc06c32733b46cf" /></Relationships>
</file>

<file path=ppt/notesSlides/_rels/notesSlide6.xml.rels>&#65279;<?xml version="1.0" encoding="utf-8"?><Relationships xmlns="http://schemas.openxmlformats.org/package/2006/relationships"><Relationship Type="http://schemas.openxmlformats.org/officeDocument/2006/relationships/slide" Target="/ppt/slides/slide6.xml" Id="Rf4d033e7813b4e27" /><Relationship Type="http://schemas.openxmlformats.org/officeDocument/2006/relationships/notesMaster" Target="/ppt/notesMasters/notesMaster1.xml" Id="R106b3e1d00444753" /></Relationships>
</file>

<file path=ppt/notesSlides/_rels/notesSlide7.xml.rels>&#65279;<?xml version="1.0" encoding="utf-8"?><Relationships xmlns="http://schemas.openxmlformats.org/package/2006/relationships"><Relationship Type="http://schemas.openxmlformats.org/officeDocument/2006/relationships/slide" Target="/ppt/slides/slide7.xml" Id="R2130c46bb89f469c" /><Relationship Type="http://schemas.openxmlformats.org/officeDocument/2006/relationships/notesMaster" Target="/ppt/notesMasters/notesMaster1.xml" Id="R78d7b6898d394c60" /></Relationships>
</file>

<file path=ppt/notesSlides/_rels/notesSlide8.xml.rels>&#65279;<?xml version="1.0" encoding="utf-8"?><Relationships xmlns="http://schemas.openxmlformats.org/package/2006/relationships"><Relationship Type="http://schemas.openxmlformats.org/officeDocument/2006/relationships/slide" Target="/ppt/slides/slide8.xml" Id="Rdcd042bc7ff446f3" /><Relationship Type="http://schemas.openxmlformats.org/officeDocument/2006/relationships/notesMaster" Target="/ppt/notesMasters/notesMaster1.xml" Id="R6cc4eb13cce04301" /></Relationships>
</file>

<file path=ppt/notesSlides/_rels/notesSlide9.xml.rels>&#65279;<?xml version="1.0" encoding="utf-8"?><Relationships xmlns="http://schemas.openxmlformats.org/package/2006/relationships"><Relationship Type="http://schemas.openxmlformats.org/officeDocument/2006/relationships/slide" Target="/ppt/slides/slide9.xml" Id="R0f37c7fc55f24d83" /><Relationship Type="http://schemas.openxmlformats.org/officeDocument/2006/relationships/notesMaster" Target="/ppt/notesMasters/notesMaster1.xml" Id="R88d446ca3d024ba8"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73a1353ce5de4da7" /><Relationship Type="http://schemas.openxmlformats.org/officeDocument/2006/relationships/notesMaster" Target="/ppt/notesMasters/notesMaster1.xml" Id="Rce13bde8ca69466f"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d2fb2692c14347e2" /><Relationship Type="http://schemas.openxmlformats.org/officeDocument/2006/relationships/notesMaster" Target="/ppt/notesMasters/notesMaster1.xml" Id="R92ab54de4a974e1b"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c5d5850cdfc04795" /><Relationship Type="http://schemas.openxmlformats.org/officeDocument/2006/relationships/notesMaster" Target="/ppt/notesMasters/notesMaster1.xml" Id="R5f48488d87cd408d"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2dd48d216c3e436b" /><Relationship Type="http://schemas.openxmlformats.org/officeDocument/2006/relationships/notesMaster" Target="/ppt/notesMasters/notesMaster1.xml" Id="Rde3fd1357db24d0c"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32808790f8224985" /><Relationship Type="http://schemas.openxmlformats.org/officeDocument/2006/relationships/notesMaster" Target="/ppt/notesMasters/notesMaster1.xml" Id="Ree835c6bc139401a"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5dbadb3aed5645d8" /><Relationship Type="http://schemas.openxmlformats.org/officeDocument/2006/relationships/notesMaster" Target="/ppt/notesMasters/notesMaster1.xml" Id="R2ed54b38250e4687"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c72aeb0045374dea" /><Relationship Type="http://schemas.openxmlformats.org/officeDocument/2006/relationships/notesMaster" Target="/ppt/notesMasters/notesMaster1.xml" Id="R4a9a910eaebb4dce" /></Relationships>
</file>

<file path=ppt/notesSlides/_rels/notesSlide17.xml.rels>&#65279;<?xml version="1.0" encoding="utf-8"?><Relationships xmlns="http://schemas.openxmlformats.org/package/2006/relationships"><Relationship Type="http://schemas.openxmlformats.org/officeDocument/2006/relationships/slide" Target="/ppt/slides/slide17.xml" Id="Rf23c1eb85dd54cd2" /><Relationship Type="http://schemas.openxmlformats.org/officeDocument/2006/relationships/notesMaster" Target="/ppt/notesMasters/notesMaster1.xml" Id="R231e544b35604513" /></Relationships>
</file>

<file path=ppt/notesSlides/_rels/notesSlide18.xml.rels>&#65279;<?xml version="1.0" encoding="utf-8"?><Relationships xmlns="http://schemas.openxmlformats.org/package/2006/relationships"><Relationship Type="http://schemas.openxmlformats.org/officeDocument/2006/relationships/slide" Target="/ppt/slides/slide18.xml" Id="R8c22cf6b2dbf451a" /><Relationship Type="http://schemas.openxmlformats.org/officeDocument/2006/relationships/notesMaster" Target="/ppt/notesMasters/notesMaster1.xml" Id="Rba1c28246354453a" /></Relationships>
</file>

<file path=ppt/notesSlides/_rels/notesSlide19.xml.rels>&#65279;<?xml version="1.0" encoding="utf-8"?><Relationships xmlns="http://schemas.openxmlformats.org/package/2006/relationships"><Relationship Type="http://schemas.openxmlformats.org/officeDocument/2006/relationships/slide" Target="/ppt/slides/slide19.xml" Id="Rb4e021a5e4f14184" /><Relationship Type="http://schemas.openxmlformats.org/officeDocument/2006/relationships/notesMaster" Target="/ppt/notesMasters/notesMaster1.xml" Id="Rb141414d9f5a4e30"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Find My Ride examines a narrow but costly moment: after an Uber is booked, the app can show a pin or even an arrived state, but rider and driver still may not know the exact workable meeting point. The goal is not to redesign every pickup. It is to identify when coordination breaks and what Uber should test first.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I could not complete ten synchronous in-depth interviews, so I used a multilingual online survey. I am not treating that as equivalent. After removing one confirmed duplicate, the evidence base is sixty-two unique submissions: fifty-eight riders and four drivers, with thirty-three from Hyderabad and twenty-nine from other cities. The live app and screenshots are included as evidence.</a:t>
            </a:r>
          </a:p>
          <a:p xmlns:a="http://schemas.openxmlformats.org/drawingml/2006/main">
            <a:r>
              <a:t/>
            </a:r>
          </a:p>
          <a:p xmlns:a="http://schemas.openxmlformats.org/drawingml/2006/main">
            <a:r>
              <a:t>Sources:</a:t>
            </a:r>
          </a:p>
          <a:p xmlns:a="http://schemas.openxmlformats.org/drawingml/2006/main">
            <a:r>
              <a:t>Local evidence: data/survey/normalized-data.tsv; R032 removed as confirmed duplicate of R031.</a:t>
            </a:r>
          </a:p>
          <a:p xmlns:a="http://schemas.openxmlformats.org/drawingml/2006/main">
            <a:r>
              <a:t>https://praveenveera.github.io/uber-pickup-survey/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Desk research changes the framing. Uber already publishes Hyderabad airport pickup guidance, including D1 and in-app directions. Grab, Lyft, Waymo, and MyGate show useful patterns for venue guidance, structured handoffs, and accessible stops. These are precedents, not proof of local value. So the opportunity is better coverage, clarity, and recovery within real access and stopping constraints.</a:t>
            </a:r>
          </a:p>
          <a:p xmlns:a="http://schemas.openxmlformats.org/drawingml/2006/main">
            <a:r>
              <a:t/>
            </a:r>
          </a:p>
          <a:p xmlns:a="http://schemas.openxmlformats.org/drawingml/2006/main">
            <a:r>
              <a:t>Sources:</a:t>
            </a:r>
          </a:p>
          <a:p xmlns:a="http://schemas.openxmlformats.org/drawingml/2006/main">
            <a:r>
              <a:t>https://www.uber.com/global/en/r/airports/hyd/pickup/</a:t>
            </a:r>
          </a:p>
          <a:p xmlns:a="http://schemas.openxmlformats.org/drawingml/2006/main">
            <a:r>
              <a:t>https://www.grab.com/inside-grab/stories/were-making-pickups-easier-with-video-guides-in-the-grab-app/</a:t>
            </a:r>
          </a:p>
          <a:p xmlns:a="http://schemas.openxmlformats.org/drawingml/2006/main">
            <a:r>
              <a:t>https://help.lyft.com/hc/en-us/all/articles/360047353153</a:t>
            </a:r>
          </a:p>
          <a:p xmlns:a="http://schemas.openxmlformats.org/drawingml/2006/main">
            <a:r>
              <a:t>https://support.google.com/waymo/answer/9696059?hl=en</a:t>
            </a:r>
          </a:p>
          <a:p xmlns:a="http://schemas.openxmlformats.org/drawingml/2006/main">
            <a:r>
              <a:t>https://help.mygate.in/articles/138755-where-will-my-cab-pick-me-up-if-i-am-using-safe-pickup-mode</a:t>
            </a:r>
          </a:p>
          <a:p xmlns:a="http://schemas.openxmlformats.org/drawingml/2006/main">
            <a:r>
              <a:t>https://www.htp.gov.in/road_rules.html</a:t>
            </a:r>
          </a:p>
          <a:p xmlns:a="http://schemas.openxmlformats.org/drawingml/2006/main">
            <a:r>
              <a:t>https://www.indiacode.nic.in/indiacode/handle/123456789/22037?view_type=browse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research goal is to understand when the post-booking pickup becomes difficult, how people recover, and which failures most reduce reliability. The candidate outcome is a pickup completed without avoidable calls, location changes, extended waiting, or cancellation. Event logs could strengthen this, but only if those events are captured reliably.</a:t>
            </a:r>
          </a:p>
          <a:p xmlns:a="http://schemas.openxmlformats.org/drawingml/2006/main">
            <a:r>
              <a:t/>
            </a:r>
          </a:p>
          <a:p xmlns:a="http://schemas.openxmlformats.org/drawingml/2006/main">
            <a:r>
              <a:t>Sources:</a:t>
            </a:r>
          </a:p>
          <a:p xmlns:a="http://schemas.openxmlformats.org/drawingml/2006/main">
            <a:r>
              <a:t>Local evidence: synthesis/01-survey-insights.md and synthesis/02-strategy-implications.md.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sample says the problem is meaningful but not universal. Twenty-four of fifty-one recent four-wheel users reported difficulty. Among the twenty-eight issue cases, twenty-three said it had happened before, twenty said calls or messages helped, and six said nothing helped. Recurrence means the problem happened before; it does not mean the same venue repeatedly failed.</a:t>
            </a:r>
          </a:p>
          <a:p xmlns:a="http://schemas.openxmlformats.org/drawingml/2006/main">
            <a:r>
              <a:t/>
            </a:r>
          </a:p>
          <a:p xmlns:a="http://schemas.openxmlformats.org/drawingml/2006/main">
            <a:r>
              <a:t>Sources:</a:t>
            </a:r>
          </a:p>
          <a:p xmlns:a="http://schemas.openxmlformats.org/drawingml/2006/main">
            <a:r>
              <a:t>Local evidence: v3/submission-ready/evidence/03-Anonymized-Responses/Sanitized-Survey-Evidence.xlsx.</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cases concentrate in complex environments: airports, gated residences, malls, offices, and stations. Calling is the dominant recovery action, followed by waiting and moving. That tells us the app often hands the final physical coordination step back to the rider and driver. The opportunity is to reduce that manual effort, not to assume the pin itself is always wrong.</a:t>
            </a:r>
          </a:p>
          <a:p xmlns:a="http://schemas.openxmlformats.org/drawingml/2006/main">
            <a:r>
              <a:t/>
            </a:r>
          </a:p>
          <a:p xmlns:a="http://schemas.openxmlformats.org/drawingml/2006/main">
            <a:r>
              <a:t>Sources:</a:t>
            </a:r>
          </a:p>
          <a:p xmlns:a="http://schemas.openxmlformats.org/drawingml/2006/main">
            <a:r>
              <a:t>Local evidence: Sanitized-Survey-Evidence.xlsx, Summary and Anonymized Responses sheets. Multi-select counts are mentions, not unique people.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strategic direction is to make the fallback faster, not to redesign the map. Focus on complex locations where people already call, message, wait, or move. Avoid universal prompts, airport-only thinking, and assuming every cancellation is a location problem. The order shown is the order to test, not a committed build roadmap.</a:t>
            </a:r>
          </a:p>
          <a:p xmlns:a="http://schemas.openxmlformats.org/drawingml/2006/main">
            <a:r>
              <a:t/>
            </a:r>
          </a:p>
          <a:p xmlns:a="http://schemas.openxmlformats.org/drawingml/2006/main">
            <a:r>
              <a:t>Sources:</a:t>
            </a:r>
          </a:p>
          <a:p xmlns:a="http://schemas.openxmlformats.org/drawingml/2006/main">
            <a:r>
              <a:t>Local evidence: synthesis/02-strategy-implications.md.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first test is a structured pre-arrival meeting note. It appears only at flagged complex locations and captures the gate, side, landmark, or waiting spot. This is grounded in existing behavior: one respondent already sends those details manually. The test is whether it reduces reactive calls, dwell time, location changes, and cancellations without adding friction to normal pickups.</a:t>
            </a:r>
          </a:p>
          <a:p xmlns:a="http://schemas.openxmlformats.org/drawingml/2006/main">
            <a:r>
              <a:t/>
            </a:r>
          </a:p>
          <a:p xmlns:a="http://schemas.openxmlformats.org/drawingml/2006/main">
            <a:r>
              <a:t>Sources:</a:t>
            </a:r>
          </a:p>
          <a:p xmlns:a="http://schemas.openxmlformats.org/drawingml/2006/main">
            <a:r>
              <a:t>Local evidence: R061 in normalized-data.tsv; 20 of 28 issue cases reported calls/messages as helpful.</a:t>
            </a:r>
          </a:p>
          <a:p xmlns:a="http://schemas.openxmlformats.org/drawingml/2006/main">
            <a:r>
              <a:t>Competitor precedent: https://help.lyft.com/hc/en-us/all/articles/360047353153</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second idea is guided stalled-pickup recovery. Start with reconnect actions and only test reassignment for unresolved cases, because reassignment affects drivers and marketplace cost. The third idea is venue-specific coordination information at two or three validated places. It is a hypothesis based on repeated issues and location concentration, not proof that the same venue repeatedly fails.</a:t>
            </a:r>
          </a:p>
          <a:p xmlns:a="http://schemas.openxmlformats.org/drawingml/2006/main">
            <a:r>
              <a:t/>
            </a:r>
          </a:p>
          <a:p xmlns:a="http://schemas.openxmlformats.org/drawingml/2006/main">
            <a:r>
              <a:t>Sources:</a:t>
            </a:r>
          </a:p>
          <a:p xmlns:a="http://schemas.openxmlformats.org/drawingml/2006/main">
            <a:r>
              <a:t>Local evidence: synthesis/04-product-ideas.md and Sanitized-Survey-Evidence.xlsx.</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recommendation is to test the smallest coordination aid first, not to commit to a broad build. The research is directional: the interview requirement remains unmet, driver evidence is thin, and the sample is not representative. The highest-value next evidence is moderated rider and driver work plus trustworthy arrived-to-trip-start and coordination-event data at selected venues.</a:t>
            </a:r>
          </a:p>
          <a:p xmlns:a="http://schemas.openxmlformats.org/drawingml/2006/main">
            <a:r>
              <a:t/>
            </a:r>
          </a:p>
          <a:p xmlns:a="http://schemas.openxmlformats.org/drawingml/2006/main">
            <a:r>
              <a:t>Sources:</a:t>
            </a:r>
          </a:p>
          <a:p xmlns:a="http://schemas.openxmlformats.org/drawingml/2006/main">
            <a:r>
              <a:t>Local evidence: submission-requirements.md and synthesis/*.md.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Appendix divider.</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Methodology evidence.</a:t>
            </a:r>
          </a:p>
          <a:p xmlns:a="http://schemas.openxmlformats.org/drawingml/2006/main">
            <a:r>
              <a:t/>
            </a:r>
          </a:p>
          <a:p xmlns:a="http://schemas.openxmlformats.org/drawingml/2006/main">
            <a:r>
              <a:t>Sources:</a:t>
            </a:r>
          </a:p>
          <a:p xmlns:a="http://schemas.openxmlformats.org/drawingml/2006/main">
            <a:r>
              <a:t>https://praveenveera.github.io/uber-pickup-survey/</a:t>
            </a:r>
          </a:p>
          <a:p xmlns:a="http://schemas.openxmlformats.org/drawingml/2006/main">
            <a:r>
              <a:t>Local evidence: webapp/index.html and Sanitized-Survey-Evidence.xlsx.</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Top insights 1 through 5.</a:t>
            </a:r>
          </a:p>
          <a:p xmlns:a="http://schemas.openxmlformats.org/drawingml/2006/main">
            <a:r>
              <a:t/>
            </a:r>
          </a:p>
          <a:p xmlns:a="http://schemas.openxmlformats.org/drawingml/2006/main">
            <a:r>
              <a:t>Sources:</a:t>
            </a:r>
          </a:p>
          <a:p xmlns:a="http://schemas.openxmlformats.org/drawingml/2006/main">
            <a:r>
              <a:t>Local evidence: v3/submission-ready/evidence/03-Anonymized-Responses/Sanitized-Survey-Evidence.xlsx, Insight Traceability sheet.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Top insights 6 through 10.</a:t>
            </a:r>
          </a:p>
          <a:p xmlns:a="http://schemas.openxmlformats.org/drawingml/2006/main">
            <a:r>
              <a:t/>
            </a:r>
          </a:p>
          <a:p xmlns:a="http://schemas.openxmlformats.org/drawingml/2006/main">
            <a:r>
              <a:t>Sources:</a:t>
            </a:r>
          </a:p>
          <a:p xmlns:a="http://schemas.openxmlformats.org/drawingml/2006/main">
            <a:r>
              <a:t>Local evidence: Sanitized-Survey-Evidence.xlsx, Insight Traceability sheet.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Competitor pattern comparison.</a:t>
            </a:r>
          </a:p>
          <a:p xmlns:a="http://schemas.openxmlformats.org/drawingml/2006/main">
            <a:r>
              <a:t/>
            </a:r>
          </a:p>
          <a:p xmlns:a="http://schemas.openxmlformats.org/drawingml/2006/main">
            <a:r>
              <a:t>Sources:</a:t>
            </a:r>
          </a:p>
          <a:p xmlns:a="http://schemas.openxmlformats.org/drawingml/2006/main">
            <a:r>
              <a:t>https://www.uber.com/global/en/r/airports/hyd/pickup/</a:t>
            </a:r>
          </a:p>
          <a:p xmlns:a="http://schemas.openxmlformats.org/drawingml/2006/main">
            <a:r>
              <a:t>https://www.grab.com/inside-grab/stories/were-making-pickups-easier-with-video-guides-in-the-grab-app/</a:t>
            </a:r>
          </a:p>
          <a:p xmlns:a="http://schemas.openxmlformats.org/drawingml/2006/main">
            <a:r>
              <a:t>https://help.lyft.com/hc/en-us/all/articles/360047353153</a:t>
            </a:r>
          </a:p>
          <a:p xmlns:a="http://schemas.openxmlformats.org/drawingml/2006/main">
            <a:r>
              <a:t>https://support.google.com/waymo/answer/9696059?hl=en</a:t>
            </a:r>
          </a:p>
          <a:p xmlns:a="http://schemas.openxmlformats.org/drawingml/2006/main">
            <a:r>
              <a:t>https://help.mygate.in/articles/138755-where-will-my-cab-pick-me-up-if-i-am-using-safe-pickup-mode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Strategy reconciliation.</a:t>
            </a:r>
          </a:p>
          <a:p xmlns:a="http://schemas.openxmlformats.org/drawingml/2006/main">
            <a:r>
              <a:t/>
            </a:r>
          </a:p>
          <a:p xmlns:a="http://schemas.openxmlformats.org/drawingml/2006/main">
            <a:r>
              <a:t>Sources:</a:t>
            </a:r>
          </a:p>
          <a:p xmlns:a="http://schemas.openxmlformats.org/drawingml/2006/main">
            <a:r>
              <a:t>Local evidence: synthesis/02-strategy-implications.md.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Product test plan.</a:t>
            </a:r>
          </a:p>
          <a:p xmlns:a="http://schemas.openxmlformats.org/drawingml/2006/main">
            <a:r>
              <a:t/>
            </a:r>
          </a:p>
          <a:p xmlns:a="http://schemas.openxmlformats.org/drawingml/2006/main">
            <a:r>
              <a:t>Sources:</a:t>
            </a:r>
          </a:p>
          <a:p xmlns:a="http://schemas.openxmlformats.org/drawingml/2006/main">
            <a:r>
              <a:t>Local evidence: synthesis/04-product-ideas.md.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Evidence limitations.</a:t>
            </a:r>
          </a:p>
          <a:p xmlns:a="http://schemas.openxmlformats.org/drawingml/2006/main">
            <a:r>
              <a:t/>
            </a:r>
          </a:p>
          <a:p xmlns:a="http://schemas.openxmlformats.org/drawingml/2006/main">
            <a:r>
              <a:t>Sources:</a:t>
            </a:r>
          </a:p>
          <a:p xmlns:a="http://schemas.openxmlformats.org/drawingml/2006/main">
            <a:r>
              <a:t>Local evidence: submission-requirements.md and Sanitized-Survey-Evidence.xlsx, Method &amp; Limitations sheet.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traceability and final submission gate.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ca7ba69375c34648"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48c2749a56d349ec" /><Relationship Type="http://schemas.openxmlformats.org/officeDocument/2006/relationships/slideLayout" Target="/ppt/slideLayouts/slideLayout1.xml" Id="Rd6cc46152e754eb9"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d6cc46152e754eb9"/>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3f805284988744ef" /><Relationship Type="http://schemas.openxmlformats.org/officeDocument/2006/relationships/notesSlide" Target="/ppt/notesSlides/notesSlide1.xml" Id="Ra37a2d07254f403c"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55187bbdb4434fcc" /><Relationship Type="http://schemas.openxmlformats.org/officeDocument/2006/relationships/image" Target="/ppt/media/image.png" Id="Ref2a199030044140" /><Relationship Type="http://schemas.openxmlformats.org/officeDocument/2006/relationships/hyperlink" Target="https://praveenveera.github.io/uber-pickup-survey/" TargetMode="External" Id="R5b9852a570ed4c17" /><Relationship Type="http://schemas.openxmlformats.org/officeDocument/2006/relationships/notesSlide" Target="/ppt/notesSlides/notesSlide2.xml" Id="Rdf7bbde32d3e4a45"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1238d820c5174b03" /><Relationship Type="http://schemas.openxmlformats.org/officeDocument/2006/relationships/notesSlide" Target="/ppt/notesSlides/notesSlide3.xml" Id="R3f1a832685244188"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87d4c3f4f8f14173" /><Relationship Type="http://schemas.openxmlformats.org/officeDocument/2006/relationships/notesSlide" Target="/ppt/notesSlides/notesSlide4.xml" Id="Rcbca662031df4214"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daded8022bf9478e" /><Relationship Type="http://schemas.openxmlformats.org/officeDocument/2006/relationships/notesSlide" Target="/ppt/notesSlides/notesSlide5.xml" Id="R448e9d27cefb4b98"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56f8b96e03624916" /><Relationship Type="http://schemas.openxmlformats.org/officeDocument/2006/relationships/notesSlide" Target="/ppt/notesSlides/notesSlide6.xml" Id="R9d4d5bea2c114a85"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68a0b0ee9bd4426d" /><Relationship Type="http://schemas.openxmlformats.org/officeDocument/2006/relationships/notesSlide" Target="/ppt/notesSlides/notesSlide7.xml" Id="R851f48440e2148c2"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e69690b5b3e046a6" /><Relationship Type="http://schemas.openxmlformats.org/officeDocument/2006/relationships/notesSlide" Target="/ppt/notesSlides/notesSlide8.xml" Id="R8b1b70c4fb944f8d"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c15257746c5a4e37" /><Relationship Type="http://schemas.openxmlformats.org/officeDocument/2006/relationships/notesSlide" Target="/ppt/notesSlides/notesSlide9.xml" Id="Rfab8291a0f874c92"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xml" Id="Ra1701a368266419a" /><Relationship Type="http://schemas.openxmlformats.org/officeDocument/2006/relationships/notesSlide" Target="/ppt/notesSlides/notesSlide10.xml" Id="R14b5463000fc4fe8" /></Relationships>
</file>

<file path=ppt/slides/_rels/slide11.xml.rels>&#65279;<?xml version="1.0" encoding="utf-8"?><Relationships xmlns="http://schemas.openxmlformats.org/package/2006/relationships"><Relationship Type="http://schemas.openxmlformats.org/officeDocument/2006/relationships/slideLayout" Target="/ppt/slideLayouts/slideLayout1.xml" Id="R9128f03a198b4e5e" /><Relationship Type="http://schemas.openxmlformats.org/officeDocument/2006/relationships/notesSlide" Target="/ppt/notesSlides/notesSlide11.xml" Id="Rc7f4d43dbb15471e" /></Relationships>
</file>

<file path=ppt/slides/_rels/slide12.xml.rels>&#65279;<?xml version="1.0" encoding="utf-8"?><Relationships xmlns="http://schemas.openxmlformats.org/package/2006/relationships"><Relationship Type="http://schemas.openxmlformats.org/officeDocument/2006/relationships/slideLayout" Target="/ppt/slideLayouts/slideLayout1.xml" Id="R5fca121f62b0400f" /><Relationship Type="http://schemas.openxmlformats.org/officeDocument/2006/relationships/image" Target="/ppt/media/image2.png" Id="R4ff9f2831ce94b80" /><Relationship Type="http://schemas.openxmlformats.org/officeDocument/2006/relationships/image" Target="/ppt/media/image3.png" Id="R37de78254adf41aa" /><Relationship Type="http://schemas.openxmlformats.org/officeDocument/2006/relationships/notesSlide" Target="/ppt/notesSlides/notesSlide12.xml" Id="Rd079095f6f344751" /></Relationships>
</file>

<file path=ppt/slides/_rels/slide13.xml.rels>&#65279;<?xml version="1.0" encoding="utf-8"?><Relationships xmlns="http://schemas.openxmlformats.org/package/2006/relationships"><Relationship Type="http://schemas.openxmlformats.org/officeDocument/2006/relationships/slideLayout" Target="/ppt/slideLayouts/slideLayout1.xml" Id="Rc6bcf3ba98374b14" /><Relationship Type="http://schemas.openxmlformats.org/officeDocument/2006/relationships/notesSlide" Target="/ppt/notesSlides/notesSlide13.xml" Id="Rec7ae7eeb1e84426" /></Relationships>
</file>

<file path=ppt/slides/_rels/slide14.xml.rels>&#65279;<?xml version="1.0" encoding="utf-8"?><Relationships xmlns="http://schemas.openxmlformats.org/package/2006/relationships"><Relationship Type="http://schemas.openxmlformats.org/officeDocument/2006/relationships/slideLayout" Target="/ppt/slideLayouts/slideLayout1.xml" Id="R571e58d6b4f84dfe" /><Relationship Type="http://schemas.openxmlformats.org/officeDocument/2006/relationships/notesSlide" Target="/ppt/notesSlides/notesSlide14.xml" Id="R794a5daa33b74680" /></Relationships>
</file>

<file path=ppt/slides/_rels/slide15.xml.rels>&#65279;<?xml version="1.0" encoding="utf-8"?><Relationships xmlns="http://schemas.openxmlformats.org/package/2006/relationships"><Relationship Type="http://schemas.openxmlformats.org/officeDocument/2006/relationships/slideLayout" Target="/ppt/slideLayouts/slideLayout1.xml" Id="R625eff27a53f4388" /><Relationship Type="http://schemas.openxmlformats.org/officeDocument/2006/relationships/notesSlide" Target="/ppt/notesSlides/notesSlide15.xml" Id="R326617e443684c0b" /></Relationships>
</file>

<file path=ppt/slides/_rels/slide16.xml.rels>&#65279;<?xml version="1.0" encoding="utf-8"?><Relationships xmlns="http://schemas.openxmlformats.org/package/2006/relationships"><Relationship Type="http://schemas.openxmlformats.org/officeDocument/2006/relationships/slideLayout" Target="/ppt/slideLayouts/slideLayout1.xml" Id="Rb60ea4d3264f44b4" /><Relationship Type="http://schemas.openxmlformats.org/officeDocument/2006/relationships/notesSlide" Target="/ppt/notesSlides/notesSlide16.xml" Id="Rf6e29961c1954442" /></Relationships>
</file>

<file path=ppt/slides/_rels/slide17.xml.rels>&#65279;<?xml version="1.0" encoding="utf-8"?><Relationships xmlns="http://schemas.openxmlformats.org/package/2006/relationships"><Relationship Type="http://schemas.openxmlformats.org/officeDocument/2006/relationships/slideLayout" Target="/ppt/slideLayouts/slideLayout1.xml" Id="Re11165a9007d4fcb" /><Relationship Type="http://schemas.openxmlformats.org/officeDocument/2006/relationships/notesSlide" Target="/ppt/notesSlides/notesSlide17.xml" Id="R868ba2b95e7c4627" /></Relationships>
</file>

<file path=ppt/slides/_rels/slide18.xml.rels>&#65279;<?xml version="1.0" encoding="utf-8"?><Relationships xmlns="http://schemas.openxmlformats.org/package/2006/relationships"><Relationship Type="http://schemas.openxmlformats.org/officeDocument/2006/relationships/slideLayout" Target="/ppt/slideLayouts/slideLayout1.xml" Id="R22bc4cea90bb454e" /><Relationship Type="http://schemas.openxmlformats.org/officeDocument/2006/relationships/notesSlide" Target="/ppt/notesSlides/notesSlide18.xml" Id="Rbf31d580452246af" /></Relationships>
</file>

<file path=ppt/slides/_rels/slide19.xml.rels>&#65279;<?xml version="1.0" encoding="utf-8"?><Relationships xmlns="http://schemas.openxmlformats.org/package/2006/relationships"><Relationship Type="http://schemas.openxmlformats.org/officeDocument/2006/relationships/slideLayout" Target="/ppt/slideLayouts/slideLayout1.xml" Id="R8c963b6deccf4339" /><Relationship Type="http://schemas.openxmlformats.org/officeDocument/2006/relationships/notesSlide" Target="/ppt/notesSlides/notesSlide19.xml" Id="Re0c6cbc6162e409e" /></Relationships>
</file>

<file path=ppt/slides/slide1.xml><?xml version="1.0" encoding="utf-8"?>
<p:sld xmlns:p="http://schemas.openxmlformats.org/presentationml/2006/main">
  <p:cSld>
    <p:bg>
      <p:bgPr>
        <a:solidFill xmlns:a="http://schemas.openxmlformats.org/drawingml/2006/main">
          <a:srgbClr val="1B2B45"/>
        </a:solidFill>
      </p:bgPr>
    </p:bg>
    <p:spTree>
      <p:nvGrpSpPr>
        <p:cNvPr id="1" name=""/>
        <p:cNvGrpSpPr/>
        <p:nvPr/>
      </p:nvGrpSpPr>
      <p:grpSpPr>
        <a:xfrm xmlns:a="http://schemas.openxmlformats.org/drawingml/2006/main"/>
      </p:grpSpPr>
      <p:sp>
        <p:nvSpPr>
          <p:cNvPr id="17" name="">
            <a:extLst xmlns:a="http://schemas.openxmlformats.org/drawingml/2006/main">
              <a:ext uri="{FF2B5EF4-FFF2-40B4-BE49-F238E27FC236}">
                <a16:creationId xmlns:a16="http://schemas.microsoft.com/office/drawing/2014/main" id="{7431D444-3D88-4EC7-9F3D-DA61F1392EDE}"/>
              </a:ext>
            </a:extLst>
          </p:cNvPr>
          <p:cNvSpPr>
            <a:spLocks xmlns:a="http://schemas.openxmlformats.org/drawingml/2006/main" noGrp="1"/>
          </p:cNvSpPr>
          <p:nvPr/>
        </p:nvSpPr>
        <p:spPr>
          <a:xfrm xmlns:a="http://schemas.openxmlformats.org/drawingml/2006/main">
            <a:off x="514350" y="266700"/>
            <a:ext cx="11049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l">
              <a:defRPr sz="975" b="1" i="0">
                <a:solidFill>
                  <a:srgbClr val="F47A22"/>
                </a:solidFill>
                <a:latin typeface="Calibri"/>
                <a:ea typeface="Calibri"/>
                <a:cs typeface="Calibri"/>
              </a:defRPr>
            </a:pPr>
            <a:r>
              <a:rPr sz="975" b="1" i="0">
                <a:solidFill>
                  <a:srgbClr val="F47A22"/>
                </a:solidFill>
                <a:latin typeface="Calibri"/>
                <a:ea typeface="Calibri"/>
                <a:cs typeface="Calibri"/>
              </a:rPr>
              <a:t>AIRTRIBE · PRODUCT MANAGEMENT COURSEWORK · PROJECT 3</a:t>
            </a:r>
          </a:p>
        </p:txBody>
      </p:sp>
      <p:sp>
        <p:nvSpPr>
          <p:cNvPr id="2" name="">
            <a:extLst xmlns:a="http://schemas.openxmlformats.org/drawingml/2006/main">
              <a:ext uri="{FF2B5EF4-FFF2-40B4-BE49-F238E27FC236}">
                <a16:creationId xmlns:a16="http://schemas.microsoft.com/office/drawing/2014/main" id="{87AFBE59-A587-4509-838D-FF79D9411E53}"/>
              </a:ext>
            </a:extLst>
          </p:cNvPr>
          <p:cNvSpPr>
            <a:spLocks xmlns:a="http://schemas.openxmlformats.org/drawingml/2006/main" noGrp="1"/>
          </p:cNvSpPr>
          <p:nvPr/>
        </p:nvSpPr>
        <p:spPr>
          <a:xfrm xmlns:a="http://schemas.openxmlformats.org/drawingml/2006/main">
            <a:off x="514350" y="876300"/>
            <a:ext cx="857250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l">
              <a:defRPr sz="3600" b="1" i="0">
                <a:solidFill>
                  <a:srgbClr val="FFFFFF"/>
                </a:solidFill>
                <a:latin typeface="Calibri"/>
                <a:ea typeface="Calibri"/>
                <a:cs typeface="Calibri"/>
              </a:defRPr>
            </a:pPr>
            <a:r>
              <a:rPr sz="3600" b="1" i="0">
                <a:solidFill>
                  <a:srgbClr val="FFFFFF"/>
                </a:solidFill>
                <a:latin typeface="Calibri"/>
                <a:ea typeface="Calibri"/>
                <a:cs typeface="Calibri"/>
              </a:rPr>
              <a:t>Find My Ride</a:t>
            </a:r>
          </a:p>
        </p:txBody>
      </p:sp>
      <p:sp>
        <p:nvSpPr>
          <p:cNvPr id="3" name="">
            <a:extLst xmlns:a="http://schemas.openxmlformats.org/drawingml/2006/main">
              <a:ext uri="{FF2B5EF4-FFF2-40B4-BE49-F238E27FC236}">
                <a16:creationId xmlns:a16="http://schemas.microsoft.com/office/drawing/2014/main" id="{4E4392E1-F06E-4712-A685-74552FA2B30E}"/>
              </a:ext>
            </a:extLst>
          </p:cNvPr>
          <p:cNvSpPr>
            <a:spLocks xmlns:a="http://schemas.openxmlformats.org/drawingml/2006/main" noGrp="1"/>
          </p:cNvSpPr>
          <p:nvPr/>
        </p:nvSpPr>
        <p:spPr>
          <a:xfrm xmlns:a="http://schemas.openxmlformats.org/drawingml/2006/main">
            <a:off x="514350" y="1676400"/>
            <a:ext cx="990600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l">
              <a:defRPr sz="1725" b="0" i="0">
                <a:solidFill>
                  <a:srgbClr val="D8E0EC"/>
                </a:solidFill>
                <a:latin typeface="Calibri"/>
                <a:ea typeface="Calibri"/>
                <a:cs typeface="Calibri"/>
              </a:defRPr>
            </a:pPr>
            <a:r>
              <a:rPr sz="1725" b="0" i="0">
                <a:solidFill>
                  <a:srgbClr val="D8E0EC"/>
                </a:solidFill>
                <a:latin typeface="Calibri"/>
                <a:ea typeface="Calibri"/>
                <a:cs typeface="Calibri"/>
              </a:rPr>
              <a:t>Reducing uncertainty when riders and drivers cannot convert an app pin into a workable meeting point</a:t>
            </a:r>
          </a:p>
        </p:txBody>
      </p:sp>
      <p:sp>
        <p:nvSpPr>
          <p:cNvPr id="4" name="">
            <a:extLst xmlns:a="http://schemas.openxmlformats.org/drawingml/2006/main">
              <a:ext uri="{FF2B5EF4-FFF2-40B4-BE49-F238E27FC236}">
                <a16:creationId xmlns:a16="http://schemas.microsoft.com/office/drawing/2014/main" id="{C861E2AB-1A9B-4CE9-8C08-E449DCDFB6C5}"/>
              </a:ext>
            </a:extLst>
          </p:cNvPr>
          <p:cNvSpPr>
            <a:spLocks xmlns:a="http://schemas.openxmlformats.org/drawingml/2006/main" noGrp="1"/>
          </p:cNvSpPr>
          <p:nvPr/>
        </p:nvSpPr>
        <p:spPr>
          <a:xfrm xmlns:a="http://schemas.openxmlformats.org/drawingml/2006/main">
            <a:off x="514350" y="3429000"/>
            <a:ext cx="2476500" cy="1123950"/>
          </a:xfrm>
          <a:prstGeom xmlns:a="http://schemas.openxmlformats.org/drawingml/2006/main" prst="roundRect">
            <a:avLst>
              <a:gd name="adj" fmla="val 6780"/>
            </a:avLst>
          </a:prstGeom>
          <a:solidFill xmlns:a="http://schemas.openxmlformats.org/drawingml/2006/main">
            <a:srgbClr val="2D4672"/>
          </a:solidFill>
          <a:ln xmlns:a="http://schemas.openxmlformats.org/drawingml/2006/main" w="0">
            <a:noFill/>
            <a:prstDash val="solid"/>
          </a:ln>
        </p:spPr>
      </p:sp>
      <p:sp>
        <p:nvSpPr>
          <p:cNvPr id="5" name="">
            <a:extLst xmlns:a="http://schemas.openxmlformats.org/drawingml/2006/main">
              <a:ext uri="{FF2B5EF4-FFF2-40B4-BE49-F238E27FC236}">
                <a16:creationId xmlns:a16="http://schemas.microsoft.com/office/drawing/2014/main" id="{56C5DCEE-3B0B-4785-9B81-46276EDE7CB2}"/>
              </a:ext>
            </a:extLst>
          </p:cNvPr>
          <p:cNvSpPr>
            <a:spLocks xmlns:a="http://schemas.openxmlformats.org/drawingml/2006/main" noGrp="1"/>
          </p:cNvSpPr>
          <p:nvPr/>
        </p:nvSpPr>
        <p:spPr>
          <a:xfrm xmlns:a="http://schemas.openxmlformats.org/drawingml/2006/main">
            <a:off x="666750" y="3562350"/>
            <a:ext cx="21717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l">
              <a:defRPr sz="2475" b="1" i="0">
                <a:solidFill>
                  <a:srgbClr val="FFFFFF"/>
                </a:solidFill>
                <a:latin typeface="Calibri"/>
                <a:ea typeface="Calibri"/>
                <a:cs typeface="Calibri"/>
              </a:defRPr>
            </a:pPr>
            <a:r>
              <a:rPr sz="2475" b="1" i="0">
                <a:solidFill>
                  <a:srgbClr val="FFFFFF"/>
                </a:solidFill>
                <a:latin typeface="Calibri"/>
                <a:ea typeface="Calibri"/>
                <a:cs typeface="Calibri"/>
              </a:rPr>
              <a:t>62</a:t>
            </a:r>
          </a:p>
        </p:txBody>
      </p:sp>
      <p:sp>
        <p:nvSpPr>
          <p:cNvPr id="6" name="">
            <a:extLst xmlns:a="http://schemas.openxmlformats.org/drawingml/2006/main">
              <a:ext uri="{FF2B5EF4-FFF2-40B4-BE49-F238E27FC236}">
                <a16:creationId xmlns:a16="http://schemas.microsoft.com/office/drawing/2014/main" id="{32AF7B45-025C-485F-8A2E-9D9A0B9A8C7A}"/>
              </a:ext>
            </a:extLst>
          </p:cNvPr>
          <p:cNvSpPr>
            <a:spLocks xmlns:a="http://schemas.openxmlformats.org/drawingml/2006/main" noGrp="1"/>
          </p:cNvSpPr>
          <p:nvPr/>
        </p:nvSpPr>
        <p:spPr>
          <a:xfrm xmlns:a="http://schemas.openxmlformats.org/drawingml/2006/main">
            <a:off x="666750" y="4076700"/>
            <a:ext cx="21717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l">
              <a:defRPr sz="1200" b="0" i="0">
                <a:solidFill>
                  <a:srgbClr val="FFFFFF"/>
                </a:solidFill>
                <a:latin typeface="Calibri"/>
                <a:ea typeface="Calibri"/>
                <a:cs typeface="Calibri"/>
              </a:defRPr>
            </a:pPr>
            <a:r>
              <a:rPr sz="1200" b="0" i="0">
                <a:solidFill>
                  <a:srgbClr val="FFFFFF"/>
                </a:solidFill>
                <a:latin typeface="Calibri"/>
                <a:ea typeface="Calibri"/>
                <a:cs typeface="Calibri"/>
              </a:rPr>
              <a:t>unique survey submissions</a:t>
            </a:r>
          </a:p>
        </p:txBody>
      </p:sp>
      <p:sp>
        <p:nvSpPr>
          <p:cNvPr id="7" name="">
            <a:extLst xmlns:a="http://schemas.openxmlformats.org/drawingml/2006/main">
              <a:ext uri="{FF2B5EF4-FFF2-40B4-BE49-F238E27FC236}">
                <a16:creationId xmlns:a16="http://schemas.microsoft.com/office/drawing/2014/main" id="{78B0AEDD-B4EA-4E49-8784-82ADFFBC5534}"/>
              </a:ext>
            </a:extLst>
          </p:cNvPr>
          <p:cNvSpPr>
            <a:spLocks xmlns:a="http://schemas.openxmlformats.org/drawingml/2006/main" noGrp="1"/>
          </p:cNvSpPr>
          <p:nvPr/>
        </p:nvSpPr>
        <p:spPr>
          <a:xfrm xmlns:a="http://schemas.openxmlformats.org/drawingml/2006/main">
            <a:off x="3181350" y="3429000"/>
            <a:ext cx="2476500" cy="1123950"/>
          </a:xfrm>
          <a:prstGeom xmlns:a="http://schemas.openxmlformats.org/drawingml/2006/main" prst="roundRect">
            <a:avLst>
              <a:gd name="adj" fmla="val 6780"/>
            </a:avLst>
          </a:prstGeom>
          <a:solidFill xmlns:a="http://schemas.openxmlformats.org/drawingml/2006/main">
            <a:srgbClr val="2D4672"/>
          </a:solidFill>
          <a:ln xmlns:a="http://schemas.openxmlformats.org/drawingml/2006/main" w="0">
            <a:noFill/>
            <a:prstDash val="solid"/>
          </a:ln>
        </p:spPr>
      </p:sp>
      <p:sp>
        <p:nvSpPr>
          <p:cNvPr id="8" name="">
            <a:extLst xmlns:a="http://schemas.openxmlformats.org/drawingml/2006/main">
              <a:ext uri="{FF2B5EF4-FFF2-40B4-BE49-F238E27FC236}">
                <a16:creationId xmlns:a16="http://schemas.microsoft.com/office/drawing/2014/main" id="{CE31DC87-60BB-4908-A22E-461B51AC65ED}"/>
              </a:ext>
            </a:extLst>
          </p:cNvPr>
          <p:cNvSpPr>
            <a:spLocks xmlns:a="http://schemas.openxmlformats.org/drawingml/2006/main" noGrp="1"/>
          </p:cNvSpPr>
          <p:nvPr/>
        </p:nvSpPr>
        <p:spPr>
          <a:xfrm xmlns:a="http://schemas.openxmlformats.org/drawingml/2006/main">
            <a:off x="3333750" y="3562350"/>
            <a:ext cx="21717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l">
              <a:defRPr sz="2475" b="1" i="0">
                <a:solidFill>
                  <a:srgbClr val="FFFFFF"/>
                </a:solidFill>
                <a:latin typeface="Calibri"/>
                <a:ea typeface="Calibri"/>
                <a:cs typeface="Calibri"/>
              </a:defRPr>
            </a:pPr>
            <a:r>
              <a:rPr sz="2475" b="1" i="0">
                <a:solidFill>
                  <a:srgbClr val="FFFFFF"/>
                </a:solidFill>
                <a:latin typeface="Calibri"/>
                <a:ea typeface="Calibri"/>
                <a:cs typeface="Calibri"/>
              </a:rPr>
              <a:t>24 / 51</a:t>
            </a:r>
          </a:p>
        </p:txBody>
      </p:sp>
      <p:sp>
        <p:nvSpPr>
          <p:cNvPr id="9" name="">
            <a:extLst xmlns:a="http://schemas.openxmlformats.org/drawingml/2006/main">
              <a:ext uri="{FF2B5EF4-FFF2-40B4-BE49-F238E27FC236}">
                <a16:creationId xmlns:a16="http://schemas.microsoft.com/office/drawing/2014/main" id="{B68CC89B-78D1-4370-A392-E98CC7E3EB84}"/>
              </a:ext>
            </a:extLst>
          </p:cNvPr>
          <p:cNvSpPr>
            <a:spLocks xmlns:a="http://schemas.openxmlformats.org/drawingml/2006/main" noGrp="1"/>
          </p:cNvSpPr>
          <p:nvPr/>
        </p:nvSpPr>
        <p:spPr>
          <a:xfrm xmlns:a="http://schemas.openxmlformats.org/drawingml/2006/main">
            <a:off x="3333750" y="4076700"/>
            <a:ext cx="21717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97522"/>
          </a:bodyPr>
          <a:lstStyle xmlns:a="http://schemas.openxmlformats.org/drawingml/2006/main"/>
          <a:p xmlns:a="http://schemas.openxmlformats.org/drawingml/2006/main">
            <a:pPr algn="l">
              <a:defRPr sz="1200" b="0" i="0">
                <a:solidFill>
                  <a:srgbClr val="FFFFFF"/>
                </a:solidFill>
                <a:latin typeface="Calibri"/>
                <a:ea typeface="Calibri"/>
                <a:cs typeface="Calibri"/>
              </a:defRPr>
            </a:pPr>
            <a:r>
              <a:rPr sz="1200" b="0" i="0">
                <a:solidFill>
                  <a:srgbClr val="FFFFFF"/>
                </a:solidFill>
                <a:latin typeface="Calibri"/>
                <a:ea typeface="Calibri"/>
                <a:cs typeface="Calibri"/>
              </a:rPr>
              <a:t>recent users reporting difficulty</a:t>
            </a:r>
          </a:p>
        </p:txBody>
      </p:sp>
      <p:sp>
        <p:nvSpPr>
          <p:cNvPr id="10" name="">
            <a:extLst xmlns:a="http://schemas.openxmlformats.org/drawingml/2006/main">
              <a:ext uri="{FF2B5EF4-FFF2-40B4-BE49-F238E27FC236}">
                <a16:creationId xmlns:a16="http://schemas.microsoft.com/office/drawing/2014/main" id="{9EDBBC0E-6CCB-467D-8D0F-027A4974340F}"/>
              </a:ext>
            </a:extLst>
          </p:cNvPr>
          <p:cNvSpPr>
            <a:spLocks xmlns:a="http://schemas.openxmlformats.org/drawingml/2006/main" noGrp="1"/>
          </p:cNvSpPr>
          <p:nvPr/>
        </p:nvSpPr>
        <p:spPr>
          <a:xfrm xmlns:a="http://schemas.openxmlformats.org/drawingml/2006/main">
            <a:off x="5848350" y="3429000"/>
            <a:ext cx="2476500" cy="1123950"/>
          </a:xfrm>
          <a:prstGeom xmlns:a="http://schemas.openxmlformats.org/drawingml/2006/main" prst="roundRect">
            <a:avLst>
              <a:gd name="adj" fmla="val 6780"/>
            </a:avLst>
          </a:prstGeom>
          <a:solidFill xmlns:a="http://schemas.openxmlformats.org/drawingml/2006/main">
            <a:srgbClr val="2D4672"/>
          </a:solidFill>
          <a:ln xmlns:a="http://schemas.openxmlformats.org/drawingml/2006/main" w="0">
            <a:noFill/>
            <a:prstDash val="solid"/>
          </a:ln>
        </p:spPr>
      </p:sp>
      <p:sp>
        <p:nvSpPr>
          <p:cNvPr id="11" name="">
            <a:extLst xmlns:a="http://schemas.openxmlformats.org/drawingml/2006/main">
              <a:ext uri="{FF2B5EF4-FFF2-40B4-BE49-F238E27FC236}">
                <a16:creationId xmlns:a16="http://schemas.microsoft.com/office/drawing/2014/main" id="{D3B8A7F5-3A65-42FC-902A-4254CC5FC84F}"/>
              </a:ext>
            </a:extLst>
          </p:cNvPr>
          <p:cNvSpPr>
            <a:spLocks xmlns:a="http://schemas.openxmlformats.org/drawingml/2006/main" noGrp="1"/>
          </p:cNvSpPr>
          <p:nvPr/>
        </p:nvSpPr>
        <p:spPr>
          <a:xfrm xmlns:a="http://schemas.openxmlformats.org/drawingml/2006/main">
            <a:off x="6000750" y="3562350"/>
            <a:ext cx="21717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l">
              <a:defRPr sz="2475" b="1" i="0">
                <a:solidFill>
                  <a:srgbClr val="FFFFFF"/>
                </a:solidFill>
                <a:latin typeface="Calibri"/>
                <a:ea typeface="Calibri"/>
                <a:cs typeface="Calibri"/>
              </a:defRPr>
            </a:pPr>
            <a:r>
              <a:rPr sz="2475" b="1" i="0">
                <a:solidFill>
                  <a:srgbClr val="FFFFFF"/>
                </a:solidFill>
                <a:latin typeface="Calibri"/>
                <a:ea typeface="Calibri"/>
                <a:cs typeface="Calibri"/>
              </a:rPr>
              <a:t>4</a:t>
            </a:r>
          </a:p>
        </p:txBody>
      </p:sp>
      <p:sp>
        <p:nvSpPr>
          <p:cNvPr id="12" name="">
            <a:extLst xmlns:a="http://schemas.openxmlformats.org/drawingml/2006/main">
              <a:ext uri="{FF2B5EF4-FFF2-40B4-BE49-F238E27FC236}">
                <a16:creationId xmlns:a16="http://schemas.microsoft.com/office/drawing/2014/main" id="{2F61C1D9-3C57-4C75-AD9A-212D20CFE0F1}"/>
              </a:ext>
            </a:extLst>
          </p:cNvPr>
          <p:cNvSpPr>
            <a:spLocks xmlns:a="http://schemas.openxmlformats.org/drawingml/2006/main" noGrp="1"/>
          </p:cNvSpPr>
          <p:nvPr/>
        </p:nvSpPr>
        <p:spPr>
          <a:xfrm xmlns:a="http://schemas.openxmlformats.org/drawingml/2006/main">
            <a:off x="6000750" y="4076700"/>
            <a:ext cx="21717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90184"/>
          </a:bodyPr>
          <a:lstStyle xmlns:a="http://schemas.openxmlformats.org/drawingml/2006/main"/>
          <a:p xmlns:a="http://schemas.openxmlformats.org/drawingml/2006/main">
            <a:pPr algn="l">
              <a:defRPr sz="1200" b="0" i="0">
                <a:solidFill>
                  <a:srgbClr val="FFFFFF"/>
                </a:solidFill>
                <a:latin typeface="Calibri"/>
                <a:ea typeface="Calibri"/>
                <a:cs typeface="Calibri"/>
              </a:defRPr>
            </a:pPr>
            <a:r>
              <a:rPr sz="1200" b="0" i="0">
                <a:solidFill>
                  <a:srgbClr val="FFFFFF"/>
                </a:solidFill>
                <a:latin typeface="Calibri"/>
                <a:ea typeface="Calibri"/>
                <a:cs typeface="Calibri"/>
              </a:rPr>
              <a:t>driver responses — evidence gap</a:t>
            </a:r>
          </a:p>
        </p:txBody>
      </p:sp>
      <p:sp>
        <p:nvSpPr>
          <p:cNvPr id="13" name="">
            <a:extLst xmlns:a="http://schemas.openxmlformats.org/drawingml/2006/main">
              <a:ext uri="{FF2B5EF4-FFF2-40B4-BE49-F238E27FC236}">
                <a16:creationId xmlns:a16="http://schemas.microsoft.com/office/drawing/2014/main" id="{1E68956A-DFE2-4A32-8787-CB94D8974EEB}"/>
              </a:ext>
            </a:extLst>
          </p:cNvPr>
          <p:cNvSpPr>
            <a:spLocks xmlns:a="http://schemas.openxmlformats.org/drawingml/2006/main" noGrp="1"/>
          </p:cNvSpPr>
          <p:nvPr/>
        </p:nvSpPr>
        <p:spPr>
          <a:xfrm xmlns:a="http://schemas.openxmlformats.org/drawingml/2006/main">
            <a:off x="8515350" y="3429000"/>
            <a:ext cx="2476500" cy="1123950"/>
          </a:xfrm>
          <a:prstGeom xmlns:a="http://schemas.openxmlformats.org/drawingml/2006/main" prst="roundRect">
            <a:avLst>
              <a:gd name="adj" fmla="val 6780"/>
            </a:avLst>
          </a:prstGeom>
          <a:solidFill xmlns:a="http://schemas.openxmlformats.org/drawingml/2006/main">
            <a:srgbClr val="2D4672"/>
          </a:solidFill>
          <a:ln xmlns:a="http://schemas.openxmlformats.org/drawingml/2006/main" w="0">
            <a:noFill/>
            <a:prstDash val="solid"/>
          </a:ln>
        </p:spPr>
      </p:sp>
      <p:sp>
        <p:nvSpPr>
          <p:cNvPr id="14" name="">
            <a:extLst xmlns:a="http://schemas.openxmlformats.org/drawingml/2006/main">
              <a:ext uri="{FF2B5EF4-FFF2-40B4-BE49-F238E27FC236}">
                <a16:creationId xmlns:a16="http://schemas.microsoft.com/office/drawing/2014/main" id="{11ED2D2D-A449-4A87-B50E-84AC339F52E4}"/>
              </a:ext>
            </a:extLst>
          </p:cNvPr>
          <p:cNvSpPr>
            <a:spLocks xmlns:a="http://schemas.openxmlformats.org/drawingml/2006/main" noGrp="1"/>
          </p:cNvSpPr>
          <p:nvPr/>
        </p:nvSpPr>
        <p:spPr>
          <a:xfrm xmlns:a="http://schemas.openxmlformats.org/drawingml/2006/main">
            <a:off x="8667750" y="3562350"/>
            <a:ext cx="21717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l">
              <a:defRPr sz="2475" b="1" i="0">
                <a:solidFill>
                  <a:srgbClr val="FFFFFF"/>
                </a:solidFill>
                <a:latin typeface="Calibri"/>
                <a:ea typeface="Calibri"/>
                <a:cs typeface="Calibri"/>
              </a:defRPr>
            </a:pPr>
            <a:r>
              <a:rPr sz="2475" b="1" i="0">
                <a:solidFill>
                  <a:srgbClr val="FFFFFF"/>
                </a:solidFill>
                <a:latin typeface="Calibri"/>
                <a:ea typeface="Calibri"/>
                <a:cs typeface="Calibri"/>
              </a:rPr>
              <a:t>3</a:t>
            </a:r>
          </a:p>
        </p:txBody>
      </p:sp>
      <p:sp>
        <p:nvSpPr>
          <p:cNvPr id="15" name="">
            <a:extLst xmlns:a="http://schemas.openxmlformats.org/drawingml/2006/main">
              <a:ext uri="{FF2B5EF4-FFF2-40B4-BE49-F238E27FC236}">
                <a16:creationId xmlns:a16="http://schemas.microsoft.com/office/drawing/2014/main" id="{A024D3DE-77A0-42B5-B1AF-FF2BE5896761}"/>
              </a:ext>
            </a:extLst>
          </p:cNvPr>
          <p:cNvSpPr>
            <a:spLocks xmlns:a="http://schemas.openxmlformats.org/drawingml/2006/main" noGrp="1"/>
          </p:cNvSpPr>
          <p:nvPr/>
        </p:nvSpPr>
        <p:spPr>
          <a:xfrm xmlns:a="http://schemas.openxmlformats.org/drawingml/2006/main">
            <a:off x="8667750" y="4076700"/>
            <a:ext cx="21717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l">
              <a:defRPr sz="1200" b="0" i="0">
                <a:solidFill>
                  <a:srgbClr val="FFFFFF"/>
                </a:solidFill>
                <a:latin typeface="Calibri"/>
                <a:ea typeface="Calibri"/>
                <a:cs typeface="Calibri"/>
              </a:defRPr>
            </a:pPr>
            <a:r>
              <a:rPr sz="1200" b="0" i="0">
                <a:solidFill>
                  <a:srgbClr val="FFFFFF"/>
                </a:solidFill>
                <a:latin typeface="Calibri"/>
                <a:ea typeface="Calibri"/>
                <a:cs typeface="Calibri"/>
              </a:rPr>
              <a:t>research-led ideas to test</a:t>
            </a:r>
          </a:p>
        </p:txBody>
      </p:sp>
      <p:sp>
        <p:nvSpPr>
          <p:cNvPr id="16" name="">
            <a:extLst xmlns:a="http://schemas.openxmlformats.org/drawingml/2006/main">
              <a:ext uri="{FF2B5EF4-FFF2-40B4-BE49-F238E27FC236}">
                <a16:creationId xmlns:a16="http://schemas.microsoft.com/office/drawing/2014/main" id="{8C0AC529-464F-4961-A4FC-E0176FC8F8C6}"/>
              </a:ext>
            </a:extLst>
          </p:cNvPr>
          <p:cNvSpPr>
            <a:spLocks xmlns:a="http://schemas.openxmlformats.org/drawingml/2006/main" noGrp="1"/>
          </p:cNvSpPr>
          <p:nvPr/>
        </p:nvSpPr>
        <p:spPr>
          <a:xfrm xmlns:a="http://schemas.openxmlformats.org/drawingml/2006/main">
            <a:off x="514350" y="6143625"/>
            <a:ext cx="7620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l">
              <a:defRPr sz="975" b="0" i="0">
                <a:solidFill>
                  <a:srgbClr val="AEBBD0"/>
                </a:solidFill>
                <a:latin typeface="Calibri"/>
                <a:ea typeface="Calibri"/>
                <a:cs typeface="Calibri"/>
              </a:defRPr>
            </a:pPr>
            <a:r>
              <a:rPr sz="975" b="0" i="0">
                <a:solidFill>
                  <a:srgbClr val="AEBBD0"/>
                </a:solidFill>
                <a:latin typeface="Calibri"/>
                <a:ea typeface="Calibri"/>
                <a:cs typeface="Calibri"/>
              </a:rPr>
              <a:t>Hyderabad primary · India comparison responses · 18 September 2026</a:t>
            </a:r>
          </a:p>
        </p:txBody>
      </p:sp>
    </p:spTree>
    <p:extLst>
      <p:ext uri="{BB962C8B-B14F-4D97-AF65-F5344CB8AC3E}">
        <p14:creationId xmlns:p14="http://schemas.microsoft.com/office/powerpoint/2010/main" val="365687684"/>
      </p:ext>
    </p:extLst>
  </p:cSld>
</p:sld>
</file>

<file path=ppt/slides/slide2.xml><?xml version="1.0" encoding="utf-8"?>
<p:sld xmlns:p="http://schemas.openxmlformats.org/presentationml/2006/main">
  <p:cSld>
    <p:bg>
      <p:bgPr>
        <a:solidFill xmlns:a="http://schemas.openxmlformats.org/drawingml/2006/main">
          <a:srgbClr val="F3F5F8"/>
        </a:solidFill>
      </p:bgPr>
    </p:bg>
    <p:spTree>
      <p:nvGrpSpPr>
        <p:cNvPr id="1" name=""/>
        <p:cNvGrpSpPr/>
        <p:nvPr/>
      </p:nvGrpSpPr>
      <p:grpSpPr>
        <a:xfrm xmlns:a="http://schemas.openxmlformats.org/drawingml/2006/main"/>
      </p:grpSpPr>
      <p:sp>
        <p:nvSpPr>
          <p:cNvPr id="18" name="">
            <a:extLst xmlns:a="http://schemas.openxmlformats.org/drawingml/2006/main">
              <a:ext uri="{FF2B5EF4-FFF2-40B4-BE49-F238E27FC236}">
                <a16:creationId xmlns:a16="http://schemas.microsoft.com/office/drawing/2014/main" id="{06966C76-10B4-4BF3-B5BB-E39D654AB88C}"/>
              </a:ext>
            </a:extLst>
          </p:cNvPr>
          <p:cNvSpPr>
            <a:spLocks xmlns:a="http://schemas.openxmlformats.org/drawingml/2006/main" noGrp="1"/>
          </p:cNvSpPr>
          <p:nvPr/>
        </p:nvSpPr>
        <p:spPr>
          <a:xfrm xmlns:a="http://schemas.openxmlformats.org/drawingml/2006/main">
            <a:off x="514350" y="247650"/>
            <a:ext cx="11144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l">
              <a:defRPr sz="975" b="1" i="0">
                <a:solidFill>
                  <a:srgbClr val="F47A22"/>
                </a:solidFill>
                <a:latin typeface="Calibri"/>
                <a:ea typeface="Calibri"/>
                <a:cs typeface="Calibri"/>
              </a:defRPr>
            </a:pPr>
            <a:r>
              <a:rPr sz="975" b="1" i="0">
                <a:solidFill>
                  <a:srgbClr val="F47A22"/>
                </a:solidFill>
                <a:latin typeface="Calibri"/>
                <a:ea typeface="Calibri"/>
                <a:cs typeface="Calibri"/>
              </a:rPr>
              <a:t>RESEARCH METHOD</a:t>
            </a:r>
          </a:p>
        </p:txBody>
      </p:sp>
      <p:sp>
        <p:nvSpPr>
          <p:cNvPr id="2" name="">
            <a:extLst xmlns:a="http://schemas.openxmlformats.org/drawingml/2006/main">
              <a:ext uri="{FF2B5EF4-FFF2-40B4-BE49-F238E27FC236}">
                <a16:creationId xmlns:a16="http://schemas.microsoft.com/office/drawing/2014/main" id="{EF31D7CB-CD81-40EC-B9A3-5CA875A4B490}"/>
              </a:ext>
            </a:extLst>
          </p:cNvPr>
          <p:cNvSpPr>
            <a:spLocks xmlns:a="http://schemas.openxmlformats.org/drawingml/2006/main" noGrp="1"/>
          </p:cNvSpPr>
          <p:nvPr/>
        </p:nvSpPr>
        <p:spPr>
          <a:xfrm xmlns:a="http://schemas.openxmlformats.org/drawingml/2006/main">
            <a:off x="514350" y="571500"/>
            <a:ext cx="1114425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l">
              <a:defRPr sz="2550" b="1" i="0">
                <a:solidFill>
                  <a:srgbClr val="1B2B45"/>
                </a:solidFill>
                <a:latin typeface="Calibri"/>
                <a:ea typeface="Calibri"/>
                <a:cs typeface="Calibri"/>
              </a:defRPr>
            </a:pPr>
            <a:r>
              <a:rPr sz="2550" b="1" i="0">
                <a:solidFill>
                  <a:srgbClr val="1B2B45"/>
                </a:solidFill>
                <a:latin typeface="Calibri"/>
                <a:ea typeface="Calibri"/>
                <a:cs typeface="Calibri"/>
              </a:rPr>
              <a:t>What we actually researched</a:t>
            </a:r>
          </a:p>
        </p:txBody>
      </p:sp>
      <p:sp>
        <p:nvSpPr>
          <p:cNvPr id="3" name="">
            <a:extLst xmlns:a="http://schemas.openxmlformats.org/drawingml/2006/main">
              <a:ext uri="{FF2B5EF4-FFF2-40B4-BE49-F238E27FC236}">
                <a16:creationId xmlns:a16="http://schemas.microsoft.com/office/drawing/2014/main" id="{F495BE07-1172-4EBC-A430-CFE02DCC0B90}"/>
              </a:ext>
            </a:extLst>
          </p:cNvPr>
          <p:cNvSpPr>
            <a:spLocks xmlns:a="http://schemas.openxmlformats.org/drawingml/2006/main" noGrp="1"/>
          </p:cNvSpPr>
          <p:nvPr/>
        </p:nvSpPr>
        <p:spPr>
          <a:xfrm xmlns:a="http://schemas.openxmlformats.org/drawingml/2006/main">
            <a:off x="514350" y="1057275"/>
            <a:ext cx="108585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l">
              <a:defRPr sz="1350" b="0" i="0">
                <a:solidFill>
                  <a:srgbClr val="687489"/>
                </a:solidFill>
                <a:latin typeface="Calibri"/>
                <a:ea typeface="Calibri"/>
                <a:cs typeface="Calibri"/>
              </a:defRPr>
            </a:pPr>
            <a:r>
              <a:rPr sz="1350" b="0" i="0">
                <a:solidFill>
                  <a:srgbClr val="687489"/>
                </a:solidFill>
                <a:latin typeface="Calibri"/>
                <a:ea typeface="Calibri"/>
                <a:cs typeface="Calibri"/>
              </a:rPr>
              <a:t>A transparent method correction is part of the submission, not a footnote.</a:t>
            </a:r>
          </a:p>
        </p:txBody>
      </p:sp>
      <p:sp>
        <p:nvSpPr>
          <p:cNvPr id="4" name="">
            <a:extLst xmlns:a="http://schemas.openxmlformats.org/drawingml/2006/main">
              <a:ext uri="{FF2B5EF4-FFF2-40B4-BE49-F238E27FC236}">
                <a16:creationId xmlns:a16="http://schemas.microsoft.com/office/drawing/2014/main" id="{076774B5-144A-41B9-92E1-F01DDCD62AB8}"/>
              </a:ext>
            </a:extLst>
          </p:cNvPr>
          <p:cNvSpPr>
            <a:spLocks xmlns:a="http://schemas.openxmlformats.org/drawingml/2006/main" noGrp="1"/>
          </p:cNvSpPr>
          <p:nvPr/>
        </p:nvSpPr>
        <p:spPr>
          <a:xfrm xmlns:a="http://schemas.openxmlformats.org/drawingml/2006/main">
            <a:off x="514350" y="1657350"/>
            <a:ext cx="5810250" cy="1809750"/>
          </a:xfrm>
          <a:prstGeom xmlns:a="http://schemas.openxmlformats.org/drawingml/2006/main" prst="roundRect">
            <a:avLst>
              <a:gd name="adj" fmla="val 3158"/>
            </a:avLst>
          </a:prstGeom>
          <a:solidFill xmlns:a="http://schemas.openxmlformats.org/drawingml/2006/main">
            <a:srgbClr val="FFFFFF"/>
          </a:solidFill>
          <a:ln xmlns:a="http://schemas.openxmlformats.org/drawingml/2006/main" w="9525">
            <a:solidFill>
              <a:srgbClr val="E8ECF1"/>
            </a:solidFill>
            <a:prstDash val="solid"/>
          </a:ln>
        </p:spPr>
      </p:sp>
      <p:sp>
        <p:nvSpPr>
          <p:cNvPr id="5" name="">
            <a:extLst xmlns:a="http://schemas.openxmlformats.org/drawingml/2006/main">
              <a:ext uri="{FF2B5EF4-FFF2-40B4-BE49-F238E27FC236}">
                <a16:creationId xmlns:a16="http://schemas.microsoft.com/office/drawing/2014/main" id="{B2ADD9B4-01CF-4DA7-8903-C96A6A46E8CE}"/>
              </a:ext>
            </a:extLst>
          </p:cNvPr>
          <p:cNvSpPr>
            <a:spLocks xmlns:a="http://schemas.openxmlformats.org/drawingml/2006/main" noGrp="1"/>
          </p:cNvSpPr>
          <p:nvPr/>
        </p:nvSpPr>
        <p:spPr>
          <a:xfrm xmlns:a="http://schemas.openxmlformats.org/drawingml/2006/main">
            <a:off x="666750" y="1771650"/>
            <a:ext cx="55054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l">
              <a:defRPr sz="1275" b="1" i="0">
                <a:solidFill>
                  <a:srgbClr val="F47A22"/>
                </a:solidFill>
                <a:latin typeface="Calibri"/>
                <a:ea typeface="Calibri"/>
                <a:cs typeface="Calibri"/>
              </a:defRPr>
            </a:pPr>
            <a:r>
              <a:rPr sz="1275" b="1" i="0">
                <a:solidFill>
                  <a:srgbClr val="F47A22"/>
                </a:solidFill>
                <a:latin typeface="Calibri"/>
                <a:ea typeface="Calibri"/>
                <a:cs typeface="Calibri"/>
              </a:rPr>
              <a:t>METHOD</a:t>
            </a:r>
          </a:p>
        </p:txBody>
      </p:sp>
      <p:sp>
        <p:nvSpPr>
          <p:cNvPr id="6" name="">
            <a:extLst xmlns:a="http://schemas.openxmlformats.org/drawingml/2006/main">
              <a:ext uri="{FF2B5EF4-FFF2-40B4-BE49-F238E27FC236}">
                <a16:creationId xmlns:a16="http://schemas.microsoft.com/office/drawing/2014/main" id="{B24A1B5F-FF10-421B-B38E-D4AC780964A8}"/>
              </a:ext>
            </a:extLst>
          </p:cNvPr>
          <p:cNvSpPr>
            <a:spLocks xmlns:a="http://schemas.openxmlformats.org/drawingml/2006/main" noGrp="1"/>
          </p:cNvSpPr>
          <p:nvPr/>
        </p:nvSpPr>
        <p:spPr>
          <a:xfrm xmlns:a="http://schemas.openxmlformats.org/drawingml/2006/main">
            <a:off x="666750" y="2105025"/>
            <a:ext cx="5505450" cy="1257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l">
              <a:defRPr sz="1650" b="0" i="0">
                <a:solidFill>
                  <a:srgbClr val="233248"/>
                </a:solidFill>
                <a:latin typeface="Calibri"/>
                <a:ea typeface="Calibri"/>
                <a:cs typeface="Calibri"/>
              </a:defRPr>
            </a:pPr>
            <a:r>
              <a:rPr sz="1650" b="0" i="0">
                <a:solidFill>
                  <a:srgbClr val="233248"/>
                </a:solidFill>
                <a:latin typeface="Calibri"/>
                <a:ea typeface="Calibri"/>
                <a:cs typeface="Calibri"/>
              </a:rPr>
              <a:t>A self-serve online survey with rider and driver branches, structured tags, and four optional open-text or voice prompts on the difficulty path.</a:t>
            </a:r>
          </a:p>
        </p:txBody>
      </p:sp>
      <p:sp>
        <p:nvSpPr>
          <p:cNvPr id="7" name="">
            <a:extLst xmlns:a="http://schemas.openxmlformats.org/drawingml/2006/main">
              <a:ext uri="{FF2B5EF4-FFF2-40B4-BE49-F238E27FC236}">
                <a16:creationId xmlns:a16="http://schemas.microsoft.com/office/drawing/2014/main" id="{E3E7E7F7-A563-4C7E-B7F1-C65679EB155E}"/>
              </a:ext>
            </a:extLst>
          </p:cNvPr>
          <p:cNvSpPr>
            <a:spLocks xmlns:a="http://schemas.openxmlformats.org/drawingml/2006/main" noGrp="1"/>
          </p:cNvSpPr>
          <p:nvPr/>
        </p:nvSpPr>
        <p:spPr>
          <a:xfrm xmlns:a="http://schemas.openxmlformats.org/drawingml/2006/main">
            <a:off x="514350" y="3619500"/>
            <a:ext cx="5810250" cy="1638300"/>
          </a:xfrm>
          <a:prstGeom xmlns:a="http://schemas.openxmlformats.org/drawingml/2006/main" prst="roundRect">
            <a:avLst>
              <a:gd name="adj" fmla="val 3488"/>
            </a:avLst>
          </a:prstGeom>
          <a:solidFill xmlns:a="http://schemas.openxmlformats.org/drawingml/2006/main">
            <a:srgbClr val="FBE7D8"/>
          </a:solidFill>
          <a:ln xmlns:a="http://schemas.openxmlformats.org/drawingml/2006/main" w="9525">
            <a:solidFill>
              <a:srgbClr val="E8ECF1"/>
            </a:solidFill>
            <a:prstDash val="solid"/>
          </a:ln>
        </p:spPr>
      </p:sp>
      <p:sp>
        <p:nvSpPr>
          <p:cNvPr id="8" name="">
            <a:extLst xmlns:a="http://schemas.openxmlformats.org/drawingml/2006/main">
              <a:ext uri="{FF2B5EF4-FFF2-40B4-BE49-F238E27FC236}">
                <a16:creationId xmlns:a16="http://schemas.microsoft.com/office/drawing/2014/main" id="{99DC958E-F723-4CE2-82FC-2359FBBEC1EE}"/>
              </a:ext>
            </a:extLst>
          </p:cNvPr>
          <p:cNvSpPr>
            <a:spLocks xmlns:a="http://schemas.openxmlformats.org/drawingml/2006/main" noGrp="1"/>
          </p:cNvSpPr>
          <p:nvPr/>
        </p:nvSpPr>
        <p:spPr>
          <a:xfrm xmlns:a="http://schemas.openxmlformats.org/drawingml/2006/main">
            <a:off x="666750" y="3733800"/>
            <a:ext cx="55054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l">
              <a:defRPr sz="1275" b="1" i="0">
                <a:solidFill>
                  <a:srgbClr val="1B2B45"/>
                </a:solidFill>
                <a:latin typeface="Calibri"/>
                <a:ea typeface="Calibri"/>
                <a:cs typeface="Calibri"/>
              </a:defRPr>
            </a:pPr>
            <a:r>
              <a:rPr sz="1275" b="1" i="0">
                <a:solidFill>
                  <a:srgbClr val="1B2B45"/>
                </a:solidFill>
                <a:latin typeface="Calibri"/>
                <a:ea typeface="Calibri"/>
                <a:cs typeface="Calibri"/>
              </a:rPr>
              <a:t>REQUIREMENT GAP</a:t>
            </a:r>
          </a:p>
        </p:txBody>
      </p:sp>
      <p:sp>
        <p:nvSpPr>
          <p:cNvPr id="9" name="">
            <a:extLst xmlns:a="http://schemas.openxmlformats.org/drawingml/2006/main">
              <a:ext uri="{FF2B5EF4-FFF2-40B4-BE49-F238E27FC236}">
                <a16:creationId xmlns:a16="http://schemas.microsoft.com/office/drawing/2014/main" id="{36D11351-80A1-4733-A170-2108A53D3FEA}"/>
              </a:ext>
            </a:extLst>
          </p:cNvPr>
          <p:cNvSpPr>
            <a:spLocks xmlns:a="http://schemas.openxmlformats.org/drawingml/2006/main" noGrp="1"/>
          </p:cNvSpPr>
          <p:nvPr/>
        </p:nvSpPr>
        <p:spPr>
          <a:xfrm xmlns:a="http://schemas.openxmlformats.org/drawingml/2006/main">
            <a:off x="666750" y="4067175"/>
            <a:ext cx="5505450" cy="1085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l">
              <a:defRPr sz="1575" b="0" i="0">
                <a:solidFill>
                  <a:srgbClr val="233248"/>
                </a:solidFill>
                <a:latin typeface="Calibri"/>
                <a:ea typeface="Calibri"/>
                <a:cs typeface="Calibri"/>
              </a:defRPr>
            </a:pPr>
            <a:r>
              <a:rPr sz="1575" b="0" i="0">
                <a:solidFill>
                  <a:srgbClr val="233248"/>
                </a:solidFill>
                <a:latin typeface="Calibri"/>
                <a:ea typeface="Calibri"/>
                <a:cs typeface="Calibri"/>
              </a:rPr>
              <a:t>The assignment asks for at least 10 in-depth interviews. That requirement was not met. Survey responses are directional primary research, not synchronous interviews.</a:t>
            </a:r>
          </a:p>
        </p:txBody>
      </p:sp>
      <p:sp>
        <p:nvSpPr>
          <p:cNvPr id="10" name="">
            <a:extLst xmlns:a="http://schemas.openxmlformats.org/drawingml/2006/main">
              <a:ext uri="{FF2B5EF4-FFF2-40B4-BE49-F238E27FC236}">
                <a16:creationId xmlns:a16="http://schemas.microsoft.com/office/drawing/2014/main" id="{20DC8FC9-0C20-49F2-9D7E-5B0930362822}"/>
              </a:ext>
            </a:extLst>
          </p:cNvPr>
          <p:cNvSpPr>
            <a:spLocks xmlns:a="http://schemas.openxmlformats.org/drawingml/2006/main" noGrp="1"/>
          </p:cNvSpPr>
          <p:nvPr/>
        </p:nvSpPr>
        <p:spPr>
          <a:xfrm xmlns:a="http://schemas.openxmlformats.org/drawingml/2006/main">
            <a:off x="514350" y="5410200"/>
            <a:ext cx="60960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97403"/>
          </a:bodyPr>
          <a:lstStyle xmlns:a="http://schemas.openxmlformats.org/drawingml/2006/main"/>
          <a:p xmlns:a="http://schemas.openxmlformats.org/drawingml/2006/main">
            <a:pPr algn="l">
              <a:defRPr sz="1350" b="1" i="0">
                <a:solidFill>
                  <a:srgbClr val="1B2B45"/>
                </a:solidFill>
                <a:latin typeface="Calibri"/>
                <a:ea typeface="Calibri"/>
                <a:cs typeface="Calibri"/>
              </a:defRPr>
            </a:pPr>
            <a:r>
              <a:rPr sz="1350" b="1" i="0">
                <a:solidFill>
                  <a:srgbClr val="1B2B45"/>
                </a:solidFill>
                <a:latin typeface="Calibri"/>
                <a:ea typeface="Calibri"/>
                <a:cs typeface="Calibri"/>
              </a:rPr>
              <a:t>62 unique submissions · 58 riders · 4 drivers · 33 Hyderabad / 29 other cities</a:t>
            </a:r>
          </a:p>
        </p:txBody>
      </p:sp>
      <p:sp>
        <p:nvSpPr>
          <p:cNvPr id="11" name="">
            <a:extLst xmlns:a="http://schemas.openxmlformats.org/drawingml/2006/main">
              <a:ext uri="{FF2B5EF4-FFF2-40B4-BE49-F238E27FC236}">
                <a16:creationId xmlns:a16="http://schemas.microsoft.com/office/drawing/2014/main" id="{5D2FD6D3-77F4-47D2-A14A-495B728175A4}"/>
              </a:ext>
            </a:extLst>
          </p:cNvPr>
          <p:cNvSpPr>
            <a:spLocks xmlns:a="http://schemas.openxmlformats.org/drawingml/2006/main" noGrp="1"/>
          </p:cNvSpPr>
          <p:nvPr/>
        </p:nvSpPr>
        <p:spPr>
          <a:xfrm xmlns:a="http://schemas.openxmlformats.org/drawingml/2006/main">
            <a:off x="7067550" y="1562100"/>
            <a:ext cx="2609850" cy="4343400"/>
          </a:xfrm>
          <a:prstGeom xmlns:a="http://schemas.openxmlformats.org/drawingml/2006/main" prst="roundRect">
            <a:avLst>
              <a:gd name="adj" fmla="val 2920"/>
            </a:avLst>
          </a:prstGeom>
          <a:solidFill xmlns:a="http://schemas.openxmlformats.org/drawingml/2006/main">
            <a:srgbClr val="FFFFFF"/>
          </a:solidFill>
          <a:ln xmlns:a="http://schemas.openxmlformats.org/drawingml/2006/main" w="19050">
            <a:solidFill>
              <a:srgbClr val="1B2B45"/>
            </a:solidFill>
            <a:prstDash val="solid"/>
          </a:ln>
        </p:spPr>
      </p:sp>
      <p:pic>
        <p:nvPicPr>
          <p:cNvPr id="29" name=""/>
          <p:cNvPicPr>
            <a:picLocks xmlns:a="http://schemas.openxmlformats.org/drawingml/2006/main" noChangeAspect="1"/>
          </p:cNvPicPr>
          <p:nvPr/>
        </p:nvPicPr>
        <p:blipFill>
          <a:blip xmlns:r="http://schemas.openxmlformats.org/officeDocument/2006/relationships" xmlns:a="http://schemas.openxmlformats.org/drawingml/2006/main" r:embed="Ref2a199030044140"/>
          <a:stretch xmlns:a="http://schemas.openxmlformats.org/drawingml/2006/main"/>
        </p:blipFill>
        <p:spPr>
          <a:xfrm xmlns:a="http://schemas.openxmlformats.org/drawingml/2006/main">
            <a:off x="7414456" y="1657350"/>
            <a:ext cx="1916038" cy="4152900"/>
          </a:xfrm>
          <a:prstGeom xmlns:a="http://schemas.openxmlformats.org/drawingml/2006/main" prst="rect">
            <a:avLst/>
          </a:prstGeom>
        </p:spPr>
      </p:pic>
      <p:sp>
        <p:nvSpPr>
          <p:cNvPr id="13" name="">
            <a:extLst xmlns:a="http://schemas.openxmlformats.org/drawingml/2006/main">
              <a:ext uri="{FF2B5EF4-FFF2-40B4-BE49-F238E27FC236}">
                <a16:creationId xmlns:a16="http://schemas.microsoft.com/office/drawing/2014/main" id="{050AABB7-2CA9-469C-9998-9FCB4DBF222F}"/>
              </a:ext>
            </a:extLst>
          </p:cNvPr>
          <p:cNvSpPr>
            <a:spLocks xmlns:a="http://schemas.openxmlformats.org/drawingml/2006/main" noGrp="1"/>
          </p:cNvSpPr>
          <p:nvPr/>
        </p:nvSpPr>
        <p:spPr>
          <a:xfrm xmlns:a="http://schemas.openxmlformats.org/drawingml/2006/main">
            <a:off x="9810750" y="2286000"/>
            <a:ext cx="18097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l">
              <a:defRPr sz="1200" b="0" i="0">
                <a:solidFill>
                  <a:srgbClr val="2D4672"/>
                </a:solidFill>
                <a:latin typeface="Calibri"/>
                <a:ea typeface="Calibri"/>
                <a:cs typeface="Calibri"/>
              </a:defRPr>
            </a:pPr>
            <a:r>
              <a:rPr sz="1200" b="0" i="0" u="sng">
                <a:solidFill>
                  <a:srgbClr val="2D4672"/>
                </a:solidFill>
                <a:latin typeface="Calibri"/>
                <a:ea typeface="Calibri"/>
                <a:cs typeface="Calibri"/>
                <a:hlinkClick xmlns:r="http://schemas.openxmlformats.org/officeDocument/2006/relationships" r:id="R5b9852a570ed4c17"/>
              </a:rPr>
              <a:t>https://praveenveera.github.io/uber-pickup-survey/</a:t>
            </a:r>
          </a:p>
        </p:txBody>
      </p:sp>
      <p:sp>
        <p:nvSpPr>
          <p:cNvPr id="14" name="">
            <a:extLst xmlns:a="http://schemas.openxmlformats.org/drawingml/2006/main">
              <a:ext uri="{FF2B5EF4-FFF2-40B4-BE49-F238E27FC236}">
                <a16:creationId xmlns:a16="http://schemas.microsoft.com/office/drawing/2014/main" id="{886E1934-D910-4571-8993-D1B0B2A14111}"/>
              </a:ext>
            </a:extLst>
          </p:cNvPr>
          <p:cNvSpPr>
            <a:spLocks xmlns:a="http://schemas.openxmlformats.org/drawingml/2006/main" noGrp="1"/>
          </p:cNvSpPr>
          <p:nvPr/>
        </p:nvSpPr>
        <p:spPr>
          <a:xfrm xmlns:a="http://schemas.openxmlformats.org/drawingml/2006/main">
            <a:off x="9810750" y="1657350"/>
            <a:ext cx="18097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86803"/>
          </a:bodyPr>
          <a:lstStyle xmlns:a="http://schemas.openxmlformats.org/drawingml/2006/main"/>
          <a:p xmlns:a="http://schemas.openxmlformats.org/drawingml/2006/main">
            <a:pPr algn="l">
              <a:defRPr sz="1425" b="1" i="0">
                <a:solidFill>
                  <a:srgbClr val="1B2B45"/>
                </a:solidFill>
                <a:latin typeface="Calibri"/>
                <a:ea typeface="Calibri"/>
                <a:cs typeface="Calibri"/>
              </a:defRPr>
            </a:pPr>
            <a:r>
              <a:rPr sz="1425" b="1" i="0">
                <a:solidFill>
                  <a:srgbClr val="1B2B45"/>
                </a:solidFill>
                <a:latin typeface="Calibri"/>
                <a:ea typeface="Calibri"/>
                <a:cs typeface="Calibri"/>
              </a:rPr>
              <a:t>Live app</a:t>
            </a:r>
          </a:p>
          <a:p xmlns:a="http://schemas.openxmlformats.org/drawingml/2006/main">
            <a:pPr algn="l">
              <a:defRPr sz="1425" b="1" i="0">
                <a:solidFill>
                  <a:srgbClr val="1B2B45"/>
                </a:solidFill>
                <a:latin typeface="Calibri"/>
                <a:ea typeface="Calibri"/>
                <a:cs typeface="Calibri"/>
              </a:defRPr>
            </a:pPr>
            <a:r>
              <a:rPr sz="1425" b="1" i="0">
                <a:solidFill>
                  <a:srgbClr val="1B2B45"/>
                </a:solidFill>
                <a:latin typeface="Calibri"/>
                <a:ea typeface="Calibri"/>
                <a:cs typeface="Calibri"/>
              </a:rPr>
              <a:t>English · Telugu · Hindi</a:t>
            </a:r>
          </a:p>
        </p:txBody>
      </p:sp>
      <p:sp>
        <p:nvSpPr>
          <p:cNvPr id="15" name="">
            <a:extLst xmlns:a="http://schemas.openxmlformats.org/drawingml/2006/main">
              <a:ext uri="{FF2B5EF4-FFF2-40B4-BE49-F238E27FC236}">
                <a16:creationId xmlns:a16="http://schemas.microsoft.com/office/drawing/2014/main" id="{33370C6F-E8C4-4236-9748-BA6D45F24F2D}"/>
              </a:ext>
            </a:extLst>
          </p:cNvPr>
          <p:cNvSpPr>
            <a:spLocks xmlns:a="http://schemas.openxmlformats.org/drawingml/2006/main" noGrp="1"/>
          </p:cNvSpPr>
          <p:nvPr/>
        </p:nvSpPr>
        <p:spPr>
          <a:xfrm xmlns:a="http://schemas.openxmlformats.org/drawingml/2006/main">
            <a:off x="9810750" y="3543300"/>
            <a:ext cx="1809750" cy="1104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l">
              <a:defRPr sz="1275" b="0" i="0">
                <a:solidFill>
                  <a:srgbClr val="687489"/>
                </a:solidFill>
                <a:latin typeface="Calibri"/>
                <a:ea typeface="Calibri"/>
                <a:cs typeface="Calibri"/>
              </a:defRPr>
            </a:pPr>
            <a:r>
              <a:rPr sz="1275" b="0" i="0">
                <a:solidFill>
                  <a:srgbClr val="687489"/>
                </a:solidFill>
                <a:latin typeface="Calibri"/>
                <a:ea typeface="Calibri"/>
                <a:cs typeface="Calibri"/>
              </a:rPr>
              <a:t>Full consent, question-flow, and anonymized-response evidence is included in the evidence ZIP.</a:t>
            </a:r>
          </a:p>
        </p:txBody>
      </p:sp>
      <p:sp>
        <p:nvSpPr>
          <p:cNvPr id="16" name="">
            <a:extLst xmlns:a="http://schemas.openxmlformats.org/drawingml/2006/main">
              <a:ext uri="{FF2B5EF4-FFF2-40B4-BE49-F238E27FC236}">
                <a16:creationId xmlns:a16="http://schemas.microsoft.com/office/drawing/2014/main" id="{0B375684-D65F-42A5-8A4C-67A0D78DF7DF}"/>
              </a:ext>
            </a:extLst>
          </p:cNvPr>
          <p:cNvSpPr>
            <a:spLocks xmlns:a="http://schemas.openxmlformats.org/drawingml/2006/main" noGrp="1"/>
          </p:cNvSpPr>
          <p:nvPr/>
        </p:nvSpPr>
        <p:spPr>
          <a:xfrm xmlns:a="http://schemas.openxmlformats.org/drawingml/2006/main">
            <a:off x="514350" y="6515100"/>
            <a:ext cx="2857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l">
              <a:defRPr sz="750" b="0" i="0">
                <a:solidFill>
                  <a:srgbClr val="687489"/>
                </a:solidFill>
                <a:latin typeface="Calibri"/>
                <a:ea typeface="Calibri"/>
                <a:cs typeface="Calibri"/>
              </a:defRPr>
            </a:pPr>
            <a:r>
              <a:rPr sz="750" b="0" i="0">
                <a:solidFill>
                  <a:srgbClr val="687489"/>
                </a:solidFill>
                <a:latin typeface="Calibri"/>
                <a:ea typeface="Calibri"/>
                <a:cs typeface="Calibri"/>
              </a:rPr>
              <a:t>Find My Ride</a:t>
            </a:r>
          </a:p>
        </p:txBody>
      </p:sp>
      <p:sp>
        <p:nvSpPr>
          <p:cNvPr id="17" name="">
            <a:extLst xmlns:a="http://schemas.openxmlformats.org/drawingml/2006/main">
              <a:ext uri="{FF2B5EF4-FFF2-40B4-BE49-F238E27FC236}">
                <a16:creationId xmlns:a16="http://schemas.microsoft.com/office/drawing/2014/main" id="{2354BBC5-E0C1-4AE5-93A2-34BA68407A70}"/>
              </a:ext>
            </a:extLst>
          </p:cNvPr>
          <p:cNvSpPr>
            <a:spLocks xmlns:a="http://schemas.openxmlformats.org/drawingml/2006/main" noGrp="1"/>
          </p:cNvSpPr>
          <p:nvPr/>
        </p:nvSpPr>
        <p:spPr>
          <a:xfrm xmlns:a="http://schemas.openxmlformats.org/drawingml/2006/main">
            <a:off x="11372850" y="6515100"/>
            <a:ext cx="3048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r">
              <a:defRPr sz="750" b="0" i="0">
                <a:solidFill>
                  <a:srgbClr val="687489"/>
                </a:solidFill>
                <a:latin typeface="Calibri"/>
                <a:ea typeface="Calibri"/>
                <a:cs typeface="Calibri"/>
              </a:defRPr>
            </a:pPr>
            <a:r>
              <a:rPr sz="750" b="0" i="0">
                <a:solidFill>
                  <a:srgbClr val="687489"/>
                </a:solidFill>
                <a:latin typeface="Calibri"/>
                <a:ea typeface="Calibri"/>
                <a:cs typeface="Calibri"/>
              </a:rPr>
              <a:t>2</a:t>
            </a:r>
          </a:p>
        </p:txBody>
      </p:sp>
    </p:spTree>
    <p:extLst>
      <p:ext uri="{BB962C8B-B14F-4D97-AF65-F5344CB8AC3E}">
        <p14:creationId xmlns:p14="http://schemas.microsoft.com/office/powerpoint/2010/main" val="902840097"/>
      </p:ext>
    </p:extLst>
  </p:cSld>
</p:sld>
</file>

<file path=ppt/slides/slide3.xml><?xml version="1.0" encoding="utf-8"?>
<p:sld xmlns:p="http://schemas.openxmlformats.org/presentationml/2006/main">
  <p:cSld>
    <p:bg>
      <p:bgPr>
        <a:solidFill xmlns:a="http://schemas.openxmlformats.org/drawingml/2006/main">
          <a:srgbClr val="F3F5F8"/>
        </a:solidFill>
      </p:bgPr>
    </p:bg>
    <p:spTree>
      <p:nvGrpSpPr>
        <p:cNvPr id="1" name=""/>
        <p:cNvGrpSpPr/>
        <p:nvPr/>
      </p:nvGrpSpPr>
      <p:grpSpPr>
        <a:xfrm xmlns:a="http://schemas.openxmlformats.org/drawingml/2006/main"/>
      </p:grpSpPr>
      <p:sp>
        <p:nvSpPr>
          <p:cNvPr id="20" name="">
            <a:extLst xmlns:a="http://schemas.openxmlformats.org/drawingml/2006/main">
              <a:ext uri="{FF2B5EF4-FFF2-40B4-BE49-F238E27FC236}">
                <a16:creationId xmlns:a16="http://schemas.microsoft.com/office/drawing/2014/main" id="{1F55832A-9BA5-465E-A368-32985240D154}"/>
              </a:ext>
            </a:extLst>
          </p:cNvPr>
          <p:cNvSpPr>
            <a:spLocks xmlns:a="http://schemas.openxmlformats.org/drawingml/2006/main" noGrp="1"/>
          </p:cNvSpPr>
          <p:nvPr/>
        </p:nvSpPr>
        <p:spPr>
          <a:xfrm xmlns:a="http://schemas.openxmlformats.org/drawingml/2006/main">
            <a:off x="514350" y="247650"/>
            <a:ext cx="11144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l">
              <a:defRPr sz="975" b="1" i="0">
                <a:solidFill>
                  <a:srgbClr val="F47A22"/>
                </a:solidFill>
                <a:latin typeface="Calibri"/>
                <a:ea typeface="Calibri"/>
                <a:cs typeface="Calibri"/>
              </a:defRPr>
            </a:pPr>
            <a:r>
              <a:rPr sz="975" b="1" i="0">
                <a:solidFill>
                  <a:srgbClr val="F47A22"/>
                </a:solidFill>
                <a:latin typeface="Calibri"/>
                <a:ea typeface="Calibri"/>
                <a:cs typeface="Calibri"/>
              </a:rPr>
              <a:t>MARKET AND ALTERNATIVES</a:t>
            </a:r>
          </a:p>
        </p:txBody>
      </p:sp>
      <p:sp>
        <p:nvSpPr>
          <p:cNvPr id="2" name="">
            <a:extLst xmlns:a="http://schemas.openxmlformats.org/drawingml/2006/main">
              <a:ext uri="{FF2B5EF4-FFF2-40B4-BE49-F238E27FC236}">
                <a16:creationId xmlns:a16="http://schemas.microsoft.com/office/drawing/2014/main" id="{47F467B0-EBE6-4921-99BA-FB3295B45254}"/>
              </a:ext>
            </a:extLst>
          </p:cNvPr>
          <p:cNvSpPr>
            <a:spLocks xmlns:a="http://schemas.openxmlformats.org/drawingml/2006/main" noGrp="1"/>
          </p:cNvSpPr>
          <p:nvPr/>
        </p:nvSpPr>
        <p:spPr>
          <a:xfrm xmlns:a="http://schemas.openxmlformats.org/drawingml/2006/main">
            <a:off x="514350" y="571500"/>
            <a:ext cx="1114425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l">
              <a:defRPr sz="2550" b="1" i="0">
                <a:solidFill>
                  <a:srgbClr val="1B2B45"/>
                </a:solidFill>
                <a:latin typeface="Calibri"/>
                <a:ea typeface="Calibri"/>
                <a:cs typeface="Calibri"/>
              </a:defRPr>
            </a:pPr>
            <a:r>
              <a:rPr sz="2550" b="1" i="0">
                <a:solidFill>
                  <a:srgbClr val="1B2B45"/>
                </a:solidFill>
                <a:latin typeface="Calibri"/>
                <a:ea typeface="Calibri"/>
                <a:cs typeface="Calibri"/>
              </a:rPr>
              <a:t>Guidance exists — focus on coverage, clarity, and recovery</a:t>
            </a:r>
          </a:p>
        </p:txBody>
      </p:sp>
      <p:sp>
        <p:nvSpPr>
          <p:cNvPr id="3" name="">
            <a:extLst xmlns:a="http://schemas.openxmlformats.org/drawingml/2006/main">
              <a:ext uri="{FF2B5EF4-FFF2-40B4-BE49-F238E27FC236}">
                <a16:creationId xmlns:a16="http://schemas.microsoft.com/office/drawing/2014/main" id="{1DAF702D-F506-4231-8F27-6D2E2FE359F9}"/>
              </a:ext>
            </a:extLst>
          </p:cNvPr>
          <p:cNvSpPr>
            <a:spLocks xmlns:a="http://schemas.openxmlformats.org/drawingml/2006/main" noGrp="1"/>
          </p:cNvSpPr>
          <p:nvPr/>
        </p:nvSpPr>
        <p:spPr>
          <a:xfrm xmlns:a="http://schemas.openxmlformats.org/drawingml/2006/main">
            <a:off x="514350" y="1057275"/>
            <a:ext cx="108585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l">
              <a:defRPr sz="1350" b="0" i="0">
                <a:solidFill>
                  <a:srgbClr val="687489"/>
                </a:solidFill>
                <a:latin typeface="Calibri"/>
                <a:ea typeface="Calibri"/>
                <a:cs typeface="Calibri"/>
              </a:defRPr>
            </a:pPr>
            <a:r>
              <a:rPr sz="1350" b="0" i="0">
                <a:solidFill>
                  <a:srgbClr val="687489"/>
                </a:solidFill>
                <a:latin typeface="Calibri"/>
                <a:ea typeface="Calibri"/>
                <a:cs typeface="Calibri"/>
              </a:rPr>
              <a:t>Competitor evidence establishes design precedents, not validated Hyderabad outcomes.</a:t>
            </a:r>
          </a:p>
        </p:txBody>
      </p:sp>
      <p:sp>
        <p:nvSpPr>
          <p:cNvPr id="4" name="">
            <a:extLst xmlns:a="http://schemas.openxmlformats.org/drawingml/2006/main">
              <a:ext uri="{FF2B5EF4-FFF2-40B4-BE49-F238E27FC236}">
                <a16:creationId xmlns:a16="http://schemas.microsoft.com/office/drawing/2014/main" id="{6FF4B951-2417-44DB-8136-F6DF710E724A}"/>
              </a:ext>
            </a:extLst>
          </p:cNvPr>
          <p:cNvSpPr>
            <a:spLocks xmlns:a="http://schemas.openxmlformats.org/drawingml/2006/main" noGrp="1"/>
          </p:cNvSpPr>
          <p:nvPr/>
        </p:nvSpPr>
        <p:spPr>
          <a:xfrm xmlns:a="http://schemas.openxmlformats.org/drawingml/2006/main">
            <a:off x="514350" y="1657350"/>
            <a:ext cx="3333750" cy="1981200"/>
          </a:xfrm>
          <a:prstGeom xmlns:a="http://schemas.openxmlformats.org/drawingml/2006/main" prst="roundRect">
            <a:avLst>
              <a:gd name="adj" fmla="val 2885"/>
            </a:avLst>
          </a:prstGeom>
          <a:solidFill xmlns:a="http://schemas.openxmlformats.org/drawingml/2006/main">
            <a:srgbClr val="FFFFFF"/>
          </a:solidFill>
          <a:ln xmlns:a="http://schemas.openxmlformats.org/drawingml/2006/main" w="9525">
            <a:solidFill>
              <a:srgbClr val="E8ECF1"/>
            </a:solidFill>
            <a:prstDash val="solid"/>
          </a:ln>
        </p:spPr>
      </p:sp>
      <p:sp>
        <p:nvSpPr>
          <p:cNvPr id="5" name="">
            <a:extLst xmlns:a="http://schemas.openxmlformats.org/drawingml/2006/main">
              <a:ext uri="{FF2B5EF4-FFF2-40B4-BE49-F238E27FC236}">
                <a16:creationId xmlns:a16="http://schemas.microsoft.com/office/drawing/2014/main" id="{35EEE357-4B7A-46C2-B886-6095B4329103}"/>
              </a:ext>
            </a:extLst>
          </p:cNvPr>
          <p:cNvSpPr>
            <a:spLocks xmlns:a="http://schemas.openxmlformats.org/drawingml/2006/main" noGrp="1"/>
          </p:cNvSpPr>
          <p:nvPr/>
        </p:nvSpPr>
        <p:spPr>
          <a:xfrm xmlns:a="http://schemas.openxmlformats.org/drawingml/2006/main">
            <a:off x="666750" y="1771650"/>
            <a:ext cx="30289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l">
              <a:defRPr sz="1275" b="1" i="0">
                <a:solidFill>
                  <a:srgbClr val="F47A22"/>
                </a:solidFill>
                <a:latin typeface="Calibri"/>
                <a:ea typeface="Calibri"/>
                <a:cs typeface="Calibri"/>
              </a:defRPr>
            </a:pPr>
            <a:r>
              <a:rPr sz="1275" b="1" i="0">
                <a:solidFill>
                  <a:srgbClr val="F47A22"/>
                </a:solidFill>
                <a:latin typeface="Calibri"/>
                <a:ea typeface="Calibri"/>
                <a:cs typeface="Calibri"/>
              </a:rPr>
              <a:t>UBER HYDERABAD BASELINE</a:t>
            </a:r>
          </a:p>
        </p:txBody>
      </p:sp>
      <p:sp>
        <p:nvSpPr>
          <p:cNvPr id="6" name="">
            <a:extLst xmlns:a="http://schemas.openxmlformats.org/drawingml/2006/main">
              <a:ext uri="{FF2B5EF4-FFF2-40B4-BE49-F238E27FC236}">
                <a16:creationId xmlns:a16="http://schemas.microsoft.com/office/drawing/2014/main" id="{1FD1801A-3206-411E-BA98-A6C606AA9194}"/>
              </a:ext>
            </a:extLst>
          </p:cNvPr>
          <p:cNvSpPr>
            <a:spLocks xmlns:a="http://schemas.openxmlformats.org/drawingml/2006/main" noGrp="1"/>
          </p:cNvSpPr>
          <p:nvPr/>
        </p:nvSpPr>
        <p:spPr>
          <a:xfrm xmlns:a="http://schemas.openxmlformats.org/drawingml/2006/main">
            <a:off x="666750" y="2105025"/>
            <a:ext cx="3028950" cy="1428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l">
              <a:defRPr sz="1500" b="0" i="0">
                <a:solidFill>
                  <a:srgbClr val="233248"/>
                </a:solidFill>
                <a:latin typeface="Calibri"/>
                <a:ea typeface="Calibri"/>
                <a:cs typeface="Calibri"/>
              </a:defRPr>
            </a:pPr>
            <a:r>
              <a:rPr sz="1500" b="0" i="0">
                <a:solidFill>
                  <a:srgbClr val="233248"/>
                </a:solidFill>
                <a:latin typeface="Calibri"/>
                <a:ea typeface="Calibri"/>
                <a:cs typeface="Calibri"/>
              </a:rPr>
              <a:t>Uber's HYD guidance points riders to in-app directions and a D1 pickup zone. The case is not “Uber has no pickup guidance.”</a:t>
            </a:r>
          </a:p>
        </p:txBody>
      </p:sp>
      <p:sp>
        <p:nvSpPr>
          <p:cNvPr id="7" name="">
            <a:extLst xmlns:a="http://schemas.openxmlformats.org/drawingml/2006/main">
              <a:ext uri="{FF2B5EF4-FFF2-40B4-BE49-F238E27FC236}">
                <a16:creationId xmlns:a16="http://schemas.microsoft.com/office/drawing/2014/main" id="{488CA970-EF58-4D65-86DE-6EA69819C4E1}"/>
              </a:ext>
            </a:extLst>
          </p:cNvPr>
          <p:cNvSpPr>
            <a:spLocks xmlns:a="http://schemas.openxmlformats.org/drawingml/2006/main" noGrp="1"/>
          </p:cNvSpPr>
          <p:nvPr/>
        </p:nvSpPr>
        <p:spPr>
          <a:xfrm xmlns:a="http://schemas.openxmlformats.org/drawingml/2006/main">
            <a:off x="4067175" y="1657350"/>
            <a:ext cx="3333750" cy="1981200"/>
          </a:xfrm>
          <a:prstGeom xmlns:a="http://schemas.openxmlformats.org/drawingml/2006/main" prst="roundRect">
            <a:avLst>
              <a:gd name="adj" fmla="val 2885"/>
            </a:avLst>
          </a:prstGeom>
          <a:solidFill xmlns:a="http://schemas.openxmlformats.org/drawingml/2006/main">
            <a:srgbClr val="FFFFFF"/>
          </a:solidFill>
          <a:ln xmlns:a="http://schemas.openxmlformats.org/drawingml/2006/main" w="9525">
            <a:solidFill>
              <a:srgbClr val="E8ECF1"/>
            </a:solidFill>
            <a:prstDash val="solid"/>
          </a:ln>
        </p:spPr>
      </p:sp>
      <p:sp>
        <p:nvSpPr>
          <p:cNvPr id="8" name="">
            <a:extLst xmlns:a="http://schemas.openxmlformats.org/drawingml/2006/main">
              <a:ext uri="{FF2B5EF4-FFF2-40B4-BE49-F238E27FC236}">
                <a16:creationId xmlns:a16="http://schemas.microsoft.com/office/drawing/2014/main" id="{0040E32B-252A-4409-B015-E1051225E552}"/>
              </a:ext>
            </a:extLst>
          </p:cNvPr>
          <p:cNvSpPr>
            <a:spLocks xmlns:a="http://schemas.openxmlformats.org/drawingml/2006/main" noGrp="1"/>
          </p:cNvSpPr>
          <p:nvPr/>
        </p:nvSpPr>
        <p:spPr>
          <a:xfrm xmlns:a="http://schemas.openxmlformats.org/drawingml/2006/main">
            <a:off x="4219575" y="1771650"/>
            <a:ext cx="30289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l">
              <a:defRPr sz="1275" b="1" i="0">
                <a:solidFill>
                  <a:srgbClr val="1BB5C8"/>
                </a:solidFill>
                <a:latin typeface="Calibri"/>
                <a:ea typeface="Calibri"/>
                <a:cs typeface="Calibri"/>
              </a:defRPr>
            </a:pPr>
            <a:r>
              <a:rPr sz="1275" b="1" i="0">
                <a:solidFill>
                  <a:srgbClr val="1BB5C8"/>
                </a:solidFill>
                <a:latin typeface="Calibri"/>
                <a:ea typeface="Calibri"/>
                <a:cs typeface="Calibri"/>
              </a:rPr>
              <a:t>GLOBAL PATTERNS</a:t>
            </a:r>
          </a:p>
        </p:txBody>
      </p:sp>
      <p:sp>
        <p:nvSpPr>
          <p:cNvPr id="9" name="">
            <a:extLst xmlns:a="http://schemas.openxmlformats.org/drawingml/2006/main">
              <a:ext uri="{FF2B5EF4-FFF2-40B4-BE49-F238E27FC236}">
                <a16:creationId xmlns:a16="http://schemas.microsoft.com/office/drawing/2014/main" id="{EEC63297-9A68-4643-9291-F5BFFC7BCA7A}"/>
              </a:ext>
            </a:extLst>
          </p:cNvPr>
          <p:cNvSpPr>
            <a:spLocks xmlns:a="http://schemas.openxmlformats.org/drawingml/2006/main" noGrp="1"/>
          </p:cNvSpPr>
          <p:nvPr/>
        </p:nvSpPr>
        <p:spPr>
          <a:xfrm xmlns:a="http://schemas.openxmlformats.org/drawingml/2006/main">
            <a:off x="4219575" y="2105025"/>
            <a:ext cx="3028950" cy="1428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l">
              <a:defRPr sz="1500" b="0" i="0">
                <a:solidFill>
                  <a:srgbClr val="233248"/>
                </a:solidFill>
                <a:latin typeface="Calibri"/>
                <a:ea typeface="Calibri"/>
                <a:cs typeface="Calibri"/>
              </a:defRPr>
            </a:pPr>
            <a:r>
              <a:rPr sz="1500" b="0" i="0">
                <a:solidFill>
                  <a:srgbClr val="233248"/>
                </a:solidFill>
                <a:latin typeface="Calibri"/>
                <a:ea typeface="Calibri"/>
                <a:cs typeface="Calibri"/>
              </a:rPr>
              <a:t>Grab uses venue visuals and meeting points. Lyft uses pickup notes. Waymo makes accessible stops and walking trade-offs explicit.</a:t>
            </a:r>
          </a:p>
        </p:txBody>
      </p:sp>
      <p:sp>
        <p:nvSpPr>
          <p:cNvPr id="10" name="">
            <a:extLst xmlns:a="http://schemas.openxmlformats.org/drawingml/2006/main">
              <a:ext uri="{FF2B5EF4-FFF2-40B4-BE49-F238E27FC236}">
                <a16:creationId xmlns:a16="http://schemas.microsoft.com/office/drawing/2014/main" id="{AC01268B-BCB1-4D9F-9A83-F6D0819130CD}"/>
              </a:ext>
            </a:extLst>
          </p:cNvPr>
          <p:cNvSpPr>
            <a:spLocks xmlns:a="http://schemas.openxmlformats.org/drawingml/2006/main" noGrp="1"/>
          </p:cNvSpPr>
          <p:nvPr/>
        </p:nvSpPr>
        <p:spPr>
          <a:xfrm xmlns:a="http://schemas.openxmlformats.org/drawingml/2006/main">
            <a:off x="7620000" y="1657350"/>
            <a:ext cx="3333750" cy="1981200"/>
          </a:xfrm>
          <a:prstGeom xmlns:a="http://schemas.openxmlformats.org/drawingml/2006/main" prst="roundRect">
            <a:avLst>
              <a:gd name="adj" fmla="val 2885"/>
            </a:avLst>
          </a:prstGeom>
          <a:solidFill xmlns:a="http://schemas.openxmlformats.org/drawingml/2006/main">
            <a:srgbClr val="FFFFFF"/>
          </a:solidFill>
          <a:ln xmlns:a="http://schemas.openxmlformats.org/drawingml/2006/main" w="9525">
            <a:solidFill>
              <a:srgbClr val="E8ECF1"/>
            </a:solidFill>
            <a:prstDash val="solid"/>
          </a:ln>
        </p:spPr>
      </p:sp>
      <p:sp>
        <p:nvSpPr>
          <p:cNvPr id="11" name="">
            <a:extLst xmlns:a="http://schemas.openxmlformats.org/drawingml/2006/main">
              <a:ext uri="{FF2B5EF4-FFF2-40B4-BE49-F238E27FC236}">
                <a16:creationId xmlns:a16="http://schemas.microsoft.com/office/drawing/2014/main" id="{773B4905-7157-45B4-A393-CA6F5569D51E}"/>
              </a:ext>
            </a:extLst>
          </p:cNvPr>
          <p:cNvSpPr>
            <a:spLocks xmlns:a="http://schemas.openxmlformats.org/drawingml/2006/main" noGrp="1"/>
          </p:cNvSpPr>
          <p:nvPr/>
        </p:nvSpPr>
        <p:spPr>
          <a:xfrm xmlns:a="http://schemas.openxmlformats.org/drawingml/2006/main">
            <a:off x="7772400" y="1771650"/>
            <a:ext cx="30289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l">
              <a:defRPr sz="1275" b="1" i="0">
                <a:solidFill>
                  <a:srgbClr val="2D4672"/>
                </a:solidFill>
                <a:latin typeface="Calibri"/>
                <a:ea typeface="Calibri"/>
                <a:cs typeface="Calibri"/>
              </a:defRPr>
            </a:pPr>
            <a:r>
              <a:rPr sz="1275" b="1" i="0">
                <a:solidFill>
                  <a:srgbClr val="2D4672"/>
                </a:solidFill>
                <a:latin typeface="Calibri"/>
                <a:ea typeface="Calibri"/>
                <a:cs typeface="Calibri"/>
              </a:rPr>
              <a:t>INDIAN ACCESS PATTERN</a:t>
            </a:r>
          </a:p>
        </p:txBody>
      </p:sp>
      <p:sp>
        <p:nvSpPr>
          <p:cNvPr id="12" name="">
            <a:extLst xmlns:a="http://schemas.openxmlformats.org/drawingml/2006/main">
              <a:ext uri="{FF2B5EF4-FFF2-40B4-BE49-F238E27FC236}">
                <a16:creationId xmlns:a16="http://schemas.microsoft.com/office/drawing/2014/main" id="{354DFF98-2A8D-4953-B85F-104BEF6C6EFE}"/>
              </a:ext>
            </a:extLst>
          </p:cNvPr>
          <p:cNvSpPr>
            <a:spLocks xmlns:a="http://schemas.openxmlformats.org/drawingml/2006/main" noGrp="1"/>
          </p:cNvSpPr>
          <p:nvPr/>
        </p:nvSpPr>
        <p:spPr>
          <a:xfrm xmlns:a="http://schemas.openxmlformats.org/drawingml/2006/main">
            <a:off x="7772400" y="2105025"/>
            <a:ext cx="3028950" cy="1428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l">
              <a:defRPr sz="1500" b="0" i="0">
                <a:solidFill>
                  <a:srgbClr val="233248"/>
                </a:solidFill>
                <a:latin typeface="Calibri"/>
                <a:ea typeface="Calibri"/>
                <a:cs typeface="Calibri"/>
              </a:defRPr>
            </a:pPr>
            <a:r>
              <a:rPr sz="1500" b="0" i="0">
                <a:solidFill>
                  <a:srgbClr val="233248"/>
                </a:solidFill>
                <a:latin typeface="Calibri"/>
                <a:ea typeface="Calibri"/>
                <a:cs typeface="Calibri"/>
              </a:rPr>
              <a:t>MyGate shows how a privacy-aware gate handoff can work. Historical Ola evidence shows physical zones or human help, but not a current capability.</a:t>
            </a:r>
          </a:p>
        </p:txBody>
      </p:sp>
      <p:sp>
        <p:nvSpPr>
          <p:cNvPr id="13" name="">
            <a:extLst xmlns:a="http://schemas.openxmlformats.org/drawingml/2006/main">
              <a:ext uri="{FF2B5EF4-FFF2-40B4-BE49-F238E27FC236}">
                <a16:creationId xmlns:a16="http://schemas.microsoft.com/office/drawing/2014/main" id="{12AF229F-6156-4936-8297-41DB7846EC85}"/>
              </a:ext>
            </a:extLst>
          </p:cNvPr>
          <p:cNvSpPr>
            <a:spLocks xmlns:a="http://schemas.openxmlformats.org/drawingml/2006/main" noGrp="1"/>
          </p:cNvSpPr>
          <p:nvPr/>
        </p:nvSpPr>
        <p:spPr>
          <a:xfrm xmlns:a="http://schemas.openxmlformats.org/drawingml/2006/main">
            <a:off x="514350" y="3905250"/>
            <a:ext cx="10439400" cy="1200150"/>
          </a:xfrm>
          <a:prstGeom xmlns:a="http://schemas.openxmlformats.org/drawingml/2006/main" prst="roundRect">
            <a:avLst>
              <a:gd name="adj" fmla="val 4762"/>
            </a:avLst>
          </a:prstGeom>
          <a:solidFill xmlns:a="http://schemas.openxmlformats.org/drawingml/2006/main">
            <a:srgbClr val="E2F4F6"/>
          </a:solidFill>
          <a:ln xmlns:a="http://schemas.openxmlformats.org/drawingml/2006/main" w="0">
            <a:noFill/>
            <a:prstDash val="solid"/>
          </a:ln>
        </p:spPr>
      </p:sp>
      <p:sp>
        <p:nvSpPr>
          <p:cNvPr id="14" name="">
            <a:extLst xmlns:a="http://schemas.openxmlformats.org/drawingml/2006/main">
              <a:ext uri="{FF2B5EF4-FFF2-40B4-BE49-F238E27FC236}">
                <a16:creationId xmlns:a16="http://schemas.microsoft.com/office/drawing/2014/main" id="{CCDF76F2-683F-4517-9AB0-DD86876ACF7A}"/>
              </a:ext>
            </a:extLst>
          </p:cNvPr>
          <p:cNvSpPr>
            <a:spLocks xmlns:a="http://schemas.openxmlformats.org/drawingml/2006/main" noGrp="1"/>
          </p:cNvSpPr>
          <p:nvPr/>
        </p:nvSpPr>
        <p:spPr>
          <a:xfrm xmlns:a="http://schemas.openxmlformats.org/drawingml/2006/main">
            <a:off x="704850" y="4057650"/>
            <a:ext cx="2095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98039"/>
          </a:bodyPr>
          <a:lstStyle xmlns:a="http://schemas.openxmlformats.org/drawingml/2006/main"/>
          <a:p xmlns:a="http://schemas.openxmlformats.org/drawingml/2006/main">
            <a:pPr algn="l">
              <a:defRPr sz="1275" b="1" i="0">
                <a:solidFill>
                  <a:srgbClr val="1B2B45"/>
                </a:solidFill>
                <a:latin typeface="Calibri"/>
                <a:ea typeface="Calibri"/>
                <a:cs typeface="Calibri"/>
              </a:defRPr>
            </a:pPr>
            <a:r>
              <a:rPr sz="1275" b="1" i="0">
                <a:solidFill>
                  <a:srgbClr val="1B2B45"/>
                </a:solidFill>
                <a:latin typeface="Calibri"/>
                <a:ea typeface="Calibri"/>
                <a:cs typeface="Calibri"/>
              </a:rPr>
              <a:t>Product implication</a:t>
            </a:r>
          </a:p>
        </p:txBody>
      </p:sp>
      <p:sp>
        <p:nvSpPr>
          <p:cNvPr id="15" name="">
            <a:extLst xmlns:a="http://schemas.openxmlformats.org/drawingml/2006/main">
              <a:ext uri="{FF2B5EF4-FFF2-40B4-BE49-F238E27FC236}">
                <a16:creationId xmlns:a16="http://schemas.microsoft.com/office/drawing/2014/main" id="{CC58895F-2B21-42BF-958F-FC6DF8AC9F2B}"/>
              </a:ext>
            </a:extLst>
          </p:cNvPr>
          <p:cNvSpPr>
            <a:spLocks xmlns:a="http://schemas.openxmlformats.org/drawingml/2006/main" noGrp="1"/>
          </p:cNvSpPr>
          <p:nvPr/>
        </p:nvSpPr>
        <p:spPr>
          <a:xfrm xmlns:a="http://schemas.openxmlformats.org/drawingml/2006/main">
            <a:off x="704850" y="4400550"/>
            <a:ext cx="99822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90580"/>
          </a:bodyPr>
          <a:lstStyle xmlns:a="http://schemas.openxmlformats.org/drawingml/2006/main"/>
          <a:p xmlns:a="http://schemas.openxmlformats.org/drawingml/2006/main">
            <a:pPr algn="l">
              <a:defRPr sz="1725" b="1" i="0">
                <a:solidFill>
                  <a:srgbClr val="1B2B45"/>
                </a:solidFill>
                <a:latin typeface="Calibri"/>
                <a:ea typeface="Calibri"/>
                <a:cs typeface="Calibri"/>
              </a:defRPr>
            </a:pPr>
            <a:r>
              <a:rPr sz="1725" b="1" i="0">
                <a:solidFill>
                  <a:srgbClr val="1B2B45"/>
                </a:solidFill>
                <a:latin typeface="Calibri"/>
                <a:ea typeface="Calibri"/>
                <a:cs typeface="Calibri"/>
              </a:rPr>
              <a:t>Test a reusable coordination layer for complex places: valid stopping context, concise handoff information, and one visible recovery step when coordination stalls.</a:t>
            </a:r>
          </a:p>
        </p:txBody>
      </p:sp>
      <p:sp>
        <p:nvSpPr>
          <p:cNvPr id="16" name="">
            <a:extLst xmlns:a="http://schemas.openxmlformats.org/drawingml/2006/main">
              <a:ext uri="{FF2B5EF4-FFF2-40B4-BE49-F238E27FC236}">
                <a16:creationId xmlns:a16="http://schemas.microsoft.com/office/drawing/2014/main" id="{70BD9BA6-C775-410D-8175-D961945AD5EC}"/>
              </a:ext>
            </a:extLst>
          </p:cNvPr>
          <p:cNvSpPr>
            <a:spLocks xmlns:a="http://schemas.openxmlformats.org/drawingml/2006/main" noGrp="1"/>
          </p:cNvSpPr>
          <p:nvPr/>
        </p:nvSpPr>
        <p:spPr>
          <a:xfrm xmlns:a="http://schemas.openxmlformats.org/drawingml/2006/main">
            <a:off x="514350" y="5314950"/>
            <a:ext cx="10439400" cy="685800"/>
          </a:xfrm>
          <a:prstGeom xmlns:a="http://schemas.openxmlformats.org/drawingml/2006/main" prst="roundRect">
            <a:avLst>
              <a:gd name="adj" fmla="val 8333"/>
            </a:avLst>
          </a:prstGeom>
          <a:solidFill xmlns:a="http://schemas.openxmlformats.org/drawingml/2006/main">
            <a:srgbClr val="FBE7D8"/>
          </a:solidFill>
          <a:ln xmlns:a="http://schemas.openxmlformats.org/drawingml/2006/main" w="0">
            <a:noFill/>
            <a:prstDash val="solid"/>
          </a:ln>
        </p:spPr>
      </p:sp>
      <p:sp>
        <p:nvSpPr>
          <p:cNvPr id="17" name="">
            <a:extLst xmlns:a="http://schemas.openxmlformats.org/drawingml/2006/main">
              <a:ext uri="{FF2B5EF4-FFF2-40B4-BE49-F238E27FC236}">
                <a16:creationId xmlns:a16="http://schemas.microsoft.com/office/drawing/2014/main" id="{D1472708-FC6E-48BA-AAB6-318CB00794B8}"/>
              </a:ext>
            </a:extLst>
          </p:cNvPr>
          <p:cNvSpPr>
            <a:spLocks xmlns:a="http://schemas.openxmlformats.org/drawingml/2006/main" noGrp="1"/>
          </p:cNvSpPr>
          <p:nvPr/>
        </p:nvSpPr>
        <p:spPr>
          <a:xfrm xmlns:a="http://schemas.openxmlformats.org/drawingml/2006/main">
            <a:off x="704850" y="5467350"/>
            <a:ext cx="10048875"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83333"/>
          </a:bodyPr>
          <a:lstStyle xmlns:a="http://schemas.openxmlformats.org/drawingml/2006/main"/>
          <a:p xmlns:a="http://schemas.openxmlformats.org/drawingml/2006/main">
            <a:pPr algn="l">
              <a:defRPr sz="1275" b="0" i="0">
                <a:solidFill>
                  <a:srgbClr val="233248"/>
                </a:solidFill>
                <a:latin typeface="Calibri"/>
                <a:ea typeface="Calibri"/>
                <a:cs typeface="Calibri"/>
              </a:defRPr>
            </a:pPr>
            <a:r>
              <a:rPr sz="1275" b="0" i="0">
                <a:solidFill>
                  <a:srgbClr val="233248"/>
                </a:solidFill>
                <a:latin typeface="Calibri"/>
                <a:ea typeface="Calibri"/>
                <a:cs typeface="Calibri"/>
              </a:rPr>
              <a:t>Restrictions to design around: no-stopping and access rules, venue operations, accessibility, privacy, and data minimization. Exact local rules require venue-level validation.</a:t>
            </a:r>
          </a:p>
        </p:txBody>
      </p:sp>
      <p:sp>
        <p:nvSpPr>
          <p:cNvPr id="18" name="">
            <a:extLst xmlns:a="http://schemas.openxmlformats.org/drawingml/2006/main">
              <a:ext uri="{FF2B5EF4-FFF2-40B4-BE49-F238E27FC236}">
                <a16:creationId xmlns:a16="http://schemas.microsoft.com/office/drawing/2014/main" id="{FB52317D-63DB-4410-A2EF-FD2AB0F40322}"/>
              </a:ext>
            </a:extLst>
          </p:cNvPr>
          <p:cNvSpPr>
            <a:spLocks xmlns:a="http://schemas.openxmlformats.org/drawingml/2006/main" noGrp="1"/>
          </p:cNvSpPr>
          <p:nvPr/>
        </p:nvSpPr>
        <p:spPr>
          <a:xfrm xmlns:a="http://schemas.openxmlformats.org/drawingml/2006/main">
            <a:off x="514350" y="6515100"/>
            <a:ext cx="2857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l">
              <a:defRPr sz="750" b="0" i="0">
                <a:solidFill>
                  <a:srgbClr val="687489"/>
                </a:solidFill>
                <a:latin typeface="Calibri"/>
                <a:ea typeface="Calibri"/>
                <a:cs typeface="Calibri"/>
              </a:defRPr>
            </a:pPr>
            <a:r>
              <a:rPr sz="750" b="0" i="0">
                <a:solidFill>
                  <a:srgbClr val="687489"/>
                </a:solidFill>
                <a:latin typeface="Calibri"/>
                <a:ea typeface="Calibri"/>
                <a:cs typeface="Calibri"/>
              </a:rPr>
              <a:t>Find My Ride</a:t>
            </a:r>
          </a:p>
        </p:txBody>
      </p:sp>
      <p:sp>
        <p:nvSpPr>
          <p:cNvPr id="19" name="">
            <a:extLst xmlns:a="http://schemas.openxmlformats.org/drawingml/2006/main">
              <a:ext uri="{FF2B5EF4-FFF2-40B4-BE49-F238E27FC236}">
                <a16:creationId xmlns:a16="http://schemas.microsoft.com/office/drawing/2014/main" id="{72B179E5-0D0D-4E20-AFBD-2B337BC645F5}"/>
              </a:ext>
            </a:extLst>
          </p:cNvPr>
          <p:cNvSpPr>
            <a:spLocks xmlns:a="http://schemas.openxmlformats.org/drawingml/2006/main" noGrp="1"/>
          </p:cNvSpPr>
          <p:nvPr/>
        </p:nvSpPr>
        <p:spPr>
          <a:xfrm xmlns:a="http://schemas.openxmlformats.org/drawingml/2006/main">
            <a:off x="11372850" y="6515100"/>
            <a:ext cx="3048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r">
              <a:defRPr sz="750" b="0" i="0">
                <a:solidFill>
                  <a:srgbClr val="687489"/>
                </a:solidFill>
                <a:latin typeface="Calibri"/>
                <a:ea typeface="Calibri"/>
                <a:cs typeface="Calibri"/>
              </a:defRPr>
            </a:pPr>
            <a:r>
              <a:rPr sz="750" b="0" i="0">
                <a:solidFill>
                  <a:srgbClr val="687489"/>
                </a:solidFill>
                <a:latin typeface="Calibri"/>
                <a:ea typeface="Calibri"/>
                <a:cs typeface="Calibri"/>
              </a:rPr>
              <a:t>3</a:t>
            </a:r>
          </a:p>
        </p:txBody>
      </p:sp>
    </p:spTree>
    <p:extLst>
      <p:ext uri="{BB962C8B-B14F-4D97-AF65-F5344CB8AC3E}">
        <p14:creationId xmlns:p14="http://schemas.microsoft.com/office/powerpoint/2010/main" val="909826347"/>
      </p:ext>
    </p:extLst>
  </p:cSld>
</p:sld>
</file>

<file path=ppt/slides/slide4.xml><?xml version="1.0" encoding="utf-8"?>
<p:sld xmlns:p="http://schemas.openxmlformats.org/presentationml/2006/main">
  <p:cSld>
    <p:bg>
      <p:bgPr>
        <a:solidFill xmlns:a="http://schemas.openxmlformats.org/drawingml/2006/main">
          <a:srgbClr val="F3F5F8"/>
        </a:solidFill>
      </p:bgPr>
    </p:bg>
    <p:spTree>
      <p:nvGrpSpPr>
        <p:cNvPr id="1" name=""/>
        <p:cNvGrpSpPr/>
        <p:nvPr/>
      </p:nvGrpSpPr>
      <p:grpSpPr>
        <a:xfrm xmlns:a="http://schemas.openxmlformats.org/drawingml/2006/main"/>
      </p:grpSpPr>
      <p:sp>
        <p:nvSpPr>
          <p:cNvPr id="14" name="">
            <a:extLst xmlns:a="http://schemas.openxmlformats.org/drawingml/2006/main">
              <a:ext uri="{FF2B5EF4-FFF2-40B4-BE49-F238E27FC236}">
                <a16:creationId xmlns:a16="http://schemas.microsoft.com/office/drawing/2014/main" id="{B698BEA6-C2EF-4AF4-8B91-17B46E656551}"/>
              </a:ext>
            </a:extLst>
          </p:cNvPr>
          <p:cNvSpPr>
            <a:spLocks xmlns:a="http://schemas.openxmlformats.org/drawingml/2006/main" noGrp="1"/>
          </p:cNvSpPr>
          <p:nvPr/>
        </p:nvSpPr>
        <p:spPr>
          <a:xfrm xmlns:a="http://schemas.openxmlformats.org/drawingml/2006/main">
            <a:off x="514350" y="247650"/>
            <a:ext cx="11144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l">
              <a:defRPr sz="975" b="1" i="0">
                <a:solidFill>
                  <a:srgbClr val="F47A22"/>
                </a:solidFill>
                <a:latin typeface="Calibri"/>
                <a:ea typeface="Calibri"/>
                <a:cs typeface="Calibri"/>
              </a:defRPr>
            </a:pPr>
            <a:r>
              <a:rPr sz="975" b="1" i="0">
                <a:solidFill>
                  <a:srgbClr val="F47A22"/>
                </a:solidFill>
                <a:latin typeface="Calibri"/>
                <a:ea typeface="Calibri"/>
                <a:cs typeface="Calibri"/>
              </a:rPr>
              <a:t>RESEARCH GOAL</a:t>
            </a:r>
          </a:p>
        </p:txBody>
      </p:sp>
      <p:sp>
        <p:nvSpPr>
          <p:cNvPr id="2" name="">
            <a:extLst xmlns:a="http://schemas.openxmlformats.org/drawingml/2006/main">
              <a:ext uri="{FF2B5EF4-FFF2-40B4-BE49-F238E27FC236}">
                <a16:creationId xmlns:a16="http://schemas.microsoft.com/office/drawing/2014/main" id="{349B22D6-271F-49D4-A747-1CA1088F8887}"/>
              </a:ext>
            </a:extLst>
          </p:cNvPr>
          <p:cNvSpPr>
            <a:spLocks xmlns:a="http://schemas.openxmlformats.org/drawingml/2006/main" noGrp="1"/>
          </p:cNvSpPr>
          <p:nvPr/>
        </p:nvSpPr>
        <p:spPr>
          <a:xfrm xmlns:a="http://schemas.openxmlformats.org/drawingml/2006/main">
            <a:off x="514350" y="571500"/>
            <a:ext cx="1114425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l">
              <a:defRPr sz="2550" b="1" i="0">
                <a:solidFill>
                  <a:srgbClr val="1B2B45"/>
                </a:solidFill>
                <a:latin typeface="Calibri"/>
                <a:ea typeface="Calibri"/>
                <a:cs typeface="Calibri"/>
              </a:defRPr>
            </a:pPr>
            <a:r>
              <a:rPr sz="2550" b="1" i="0">
                <a:solidFill>
                  <a:srgbClr val="1B2B45"/>
                </a:solidFill>
                <a:latin typeface="Calibri"/>
                <a:ea typeface="Calibri"/>
                <a:cs typeface="Calibri"/>
              </a:rPr>
              <a:t>One question and one honest measurement gap</a:t>
            </a:r>
          </a:p>
        </p:txBody>
      </p:sp>
      <p:sp>
        <p:nvSpPr>
          <p:cNvPr id="3" name="">
            <a:extLst xmlns:a="http://schemas.openxmlformats.org/drawingml/2006/main">
              <a:ext uri="{FF2B5EF4-FFF2-40B4-BE49-F238E27FC236}">
                <a16:creationId xmlns:a16="http://schemas.microsoft.com/office/drawing/2014/main" id="{110943A7-D128-4FD7-8D85-1E0A7546A57D}"/>
              </a:ext>
            </a:extLst>
          </p:cNvPr>
          <p:cNvSpPr>
            <a:spLocks xmlns:a="http://schemas.openxmlformats.org/drawingml/2006/main" noGrp="1"/>
          </p:cNvSpPr>
          <p:nvPr/>
        </p:nvSpPr>
        <p:spPr>
          <a:xfrm xmlns:a="http://schemas.openxmlformats.org/drawingml/2006/main">
            <a:off x="514350" y="1657350"/>
            <a:ext cx="10439400" cy="1066800"/>
          </a:xfrm>
          <a:prstGeom xmlns:a="http://schemas.openxmlformats.org/drawingml/2006/main" prst="roundRect">
            <a:avLst>
              <a:gd name="adj" fmla="val 5357"/>
            </a:avLst>
          </a:prstGeom>
          <a:solidFill xmlns:a="http://schemas.openxmlformats.org/drawingml/2006/main">
            <a:srgbClr val="1B2B45"/>
          </a:solidFill>
          <a:ln xmlns:a="http://schemas.openxmlformats.org/drawingml/2006/main" w="0">
            <a:noFill/>
            <a:prstDash val="solid"/>
          </a:ln>
        </p:spPr>
      </p:sp>
      <p:sp>
        <p:nvSpPr>
          <p:cNvPr id="4" name="">
            <a:extLst xmlns:a="http://schemas.openxmlformats.org/drawingml/2006/main">
              <a:ext uri="{FF2B5EF4-FFF2-40B4-BE49-F238E27FC236}">
                <a16:creationId xmlns:a16="http://schemas.microsoft.com/office/drawing/2014/main" id="{DA19DC26-C3AC-40C1-AAD8-7D5E78EA634D}"/>
              </a:ext>
            </a:extLst>
          </p:cNvPr>
          <p:cNvSpPr>
            <a:spLocks xmlns:a="http://schemas.openxmlformats.org/drawingml/2006/main" noGrp="1"/>
          </p:cNvSpPr>
          <p:nvPr/>
        </p:nvSpPr>
        <p:spPr>
          <a:xfrm xmlns:a="http://schemas.openxmlformats.org/drawingml/2006/main">
            <a:off x="781050" y="1885950"/>
            <a:ext cx="99060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ctr">
            <a:normAutofit fontScale="83333"/>
          </a:bodyPr>
          <a:lstStyle xmlns:a="http://schemas.openxmlformats.org/drawingml/2006/main"/>
          <a:p xmlns:a="http://schemas.openxmlformats.org/drawingml/2006/main">
            <a:pPr algn="ctr">
              <a:defRPr sz="2100" b="1" i="0">
                <a:solidFill>
                  <a:srgbClr val="FFFFFF"/>
                </a:solidFill>
                <a:latin typeface="Calibri"/>
                <a:ea typeface="Calibri"/>
                <a:cs typeface="Calibri"/>
              </a:defRPr>
            </a:pPr>
            <a:r>
              <a:rPr sz="2100" b="1" i="0">
                <a:solidFill>
                  <a:srgbClr val="FFFFFF"/>
                </a:solidFill>
                <a:latin typeface="Calibri"/>
                <a:ea typeface="Calibri"/>
                <a:cs typeface="Calibri"/>
              </a:rPr>
              <a:t>When a pickup becomes difficult, what breaks — and what do riders and drivers actually do to recover?</a:t>
            </a:r>
          </a:p>
        </p:txBody>
      </p:sp>
      <p:sp>
        <p:nvSpPr>
          <p:cNvPr id="5" name="">
            <a:extLst xmlns:a="http://schemas.openxmlformats.org/drawingml/2006/main">
              <a:ext uri="{FF2B5EF4-FFF2-40B4-BE49-F238E27FC236}">
                <a16:creationId xmlns:a16="http://schemas.microsoft.com/office/drawing/2014/main" id="{55297B5A-F394-44D1-83C1-9BABDE210AB0}"/>
              </a:ext>
            </a:extLst>
          </p:cNvPr>
          <p:cNvSpPr>
            <a:spLocks xmlns:a="http://schemas.openxmlformats.org/drawingml/2006/main" noGrp="1"/>
          </p:cNvSpPr>
          <p:nvPr/>
        </p:nvSpPr>
        <p:spPr>
          <a:xfrm xmlns:a="http://schemas.openxmlformats.org/drawingml/2006/main">
            <a:off x="514350" y="3028950"/>
            <a:ext cx="5048250" cy="1809750"/>
          </a:xfrm>
          <a:prstGeom xmlns:a="http://schemas.openxmlformats.org/drawingml/2006/main" prst="roundRect">
            <a:avLst>
              <a:gd name="adj" fmla="val 3158"/>
            </a:avLst>
          </a:prstGeom>
          <a:solidFill xmlns:a="http://schemas.openxmlformats.org/drawingml/2006/main">
            <a:srgbClr val="FFFFFF"/>
          </a:solidFill>
          <a:ln xmlns:a="http://schemas.openxmlformats.org/drawingml/2006/main" w="9525">
            <a:solidFill>
              <a:srgbClr val="E8ECF1"/>
            </a:solidFill>
            <a:prstDash val="solid"/>
          </a:ln>
        </p:spPr>
      </p:sp>
      <p:sp>
        <p:nvSpPr>
          <p:cNvPr id="6" name="">
            <a:extLst xmlns:a="http://schemas.openxmlformats.org/drawingml/2006/main">
              <a:ext uri="{FF2B5EF4-FFF2-40B4-BE49-F238E27FC236}">
                <a16:creationId xmlns:a16="http://schemas.microsoft.com/office/drawing/2014/main" id="{635B0D9F-3A8C-418C-B09C-E0E2BFA124AD}"/>
              </a:ext>
            </a:extLst>
          </p:cNvPr>
          <p:cNvSpPr>
            <a:spLocks xmlns:a="http://schemas.openxmlformats.org/drawingml/2006/main" noGrp="1"/>
          </p:cNvSpPr>
          <p:nvPr/>
        </p:nvSpPr>
        <p:spPr>
          <a:xfrm xmlns:a="http://schemas.openxmlformats.org/drawingml/2006/main">
            <a:off x="666750" y="3143250"/>
            <a:ext cx="47434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l">
              <a:defRPr sz="1275" b="1" i="0">
                <a:solidFill>
                  <a:srgbClr val="1BB5C8"/>
                </a:solidFill>
                <a:latin typeface="Calibri"/>
                <a:ea typeface="Calibri"/>
                <a:cs typeface="Calibri"/>
              </a:defRPr>
            </a:pPr>
            <a:r>
              <a:rPr sz="1275" b="1" i="0">
                <a:solidFill>
                  <a:srgbClr val="1BB5C8"/>
                </a:solidFill>
                <a:latin typeface="Calibri"/>
                <a:ea typeface="Calibri"/>
                <a:cs typeface="Calibri"/>
              </a:rPr>
              <a:t>CANDIDATE OUTCOME</a:t>
            </a:r>
          </a:p>
        </p:txBody>
      </p:sp>
      <p:sp>
        <p:nvSpPr>
          <p:cNvPr id="7" name="">
            <a:extLst xmlns:a="http://schemas.openxmlformats.org/drawingml/2006/main">
              <a:ext uri="{FF2B5EF4-FFF2-40B4-BE49-F238E27FC236}">
                <a16:creationId xmlns:a16="http://schemas.microsoft.com/office/drawing/2014/main" id="{F06C6B44-7121-4E1C-8068-6FBAC1F9D28A}"/>
              </a:ext>
            </a:extLst>
          </p:cNvPr>
          <p:cNvSpPr>
            <a:spLocks xmlns:a="http://schemas.openxmlformats.org/drawingml/2006/main" noGrp="1"/>
          </p:cNvSpPr>
          <p:nvPr/>
        </p:nvSpPr>
        <p:spPr>
          <a:xfrm xmlns:a="http://schemas.openxmlformats.org/drawingml/2006/main">
            <a:off x="666750" y="3476625"/>
            <a:ext cx="4743450" cy="1257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l">
              <a:defRPr sz="1800" b="0" i="0">
                <a:solidFill>
                  <a:srgbClr val="233248"/>
                </a:solidFill>
                <a:latin typeface="Calibri"/>
                <a:ea typeface="Calibri"/>
                <a:cs typeface="Calibri"/>
              </a:defRPr>
            </a:pPr>
            <a:r>
              <a:rPr sz="1800" b="0" i="0">
                <a:solidFill>
                  <a:srgbClr val="233248"/>
                </a:solidFill>
                <a:latin typeface="Calibri"/>
                <a:ea typeface="Calibri"/>
                <a:cs typeface="Calibri"/>
              </a:rPr>
              <a:t>Pickups completed without avoidable calls, location changes, extended waiting, or cancellation.</a:t>
            </a:r>
          </a:p>
        </p:txBody>
      </p:sp>
      <p:sp>
        <p:nvSpPr>
          <p:cNvPr id="8" name="">
            <a:extLst xmlns:a="http://schemas.openxmlformats.org/drawingml/2006/main">
              <a:ext uri="{FF2B5EF4-FFF2-40B4-BE49-F238E27FC236}">
                <a16:creationId xmlns:a16="http://schemas.microsoft.com/office/drawing/2014/main" id="{0A740EC6-BF58-497A-AA5A-C2577AF851E1}"/>
              </a:ext>
            </a:extLst>
          </p:cNvPr>
          <p:cNvSpPr>
            <a:spLocks xmlns:a="http://schemas.openxmlformats.org/drawingml/2006/main" noGrp="1"/>
          </p:cNvSpPr>
          <p:nvPr/>
        </p:nvSpPr>
        <p:spPr>
          <a:xfrm xmlns:a="http://schemas.openxmlformats.org/drawingml/2006/main">
            <a:off x="5905500" y="3028950"/>
            <a:ext cx="5048250" cy="1809750"/>
          </a:xfrm>
          <a:prstGeom xmlns:a="http://schemas.openxmlformats.org/drawingml/2006/main" prst="roundRect">
            <a:avLst>
              <a:gd name="adj" fmla="val 3158"/>
            </a:avLst>
          </a:prstGeom>
          <a:solidFill xmlns:a="http://schemas.openxmlformats.org/drawingml/2006/main">
            <a:srgbClr val="FBE7D8"/>
          </a:solidFill>
          <a:ln xmlns:a="http://schemas.openxmlformats.org/drawingml/2006/main" w="9525">
            <a:solidFill>
              <a:srgbClr val="E8ECF1"/>
            </a:solidFill>
            <a:prstDash val="solid"/>
          </a:ln>
        </p:spPr>
      </p:sp>
      <p:sp>
        <p:nvSpPr>
          <p:cNvPr id="9" name="">
            <a:extLst xmlns:a="http://schemas.openxmlformats.org/drawingml/2006/main">
              <a:ext uri="{FF2B5EF4-FFF2-40B4-BE49-F238E27FC236}">
                <a16:creationId xmlns:a16="http://schemas.microsoft.com/office/drawing/2014/main" id="{5C9A4E2D-6A9E-460B-AF6B-B14D7DDC2589}"/>
              </a:ext>
            </a:extLst>
          </p:cNvPr>
          <p:cNvSpPr>
            <a:spLocks xmlns:a="http://schemas.openxmlformats.org/drawingml/2006/main" noGrp="1"/>
          </p:cNvSpPr>
          <p:nvPr/>
        </p:nvSpPr>
        <p:spPr>
          <a:xfrm xmlns:a="http://schemas.openxmlformats.org/drawingml/2006/main">
            <a:off x="6057900" y="3143250"/>
            <a:ext cx="47434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l">
              <a:defRPr sz="1275" b="1" i="0">
                <a:solidFill>
                  <a:srgbClr val="1B2B45"/>
                </a:solidFill>
                <a:latin typeface="Calibri"/>
                <a:ea typeface="Calibri"/>
                <a:cs typeface="Calibri"/>
              </a:defRPr>
            </a:pPr>
            <a:r>
              <a:rPr sz="1275" b="1" i="0">
                <a:solidFill>
                  <a:srgbClr val="1B2B45"/>
                </a:solidFill>
                <a:latin typeface="Calibri"/>
                <a:ea typeface="Calibri"/>
                <a:cs typeface="Calibri"/>
              </a:rPr>
              <a:t>MEASUREMENT GAP</a:t>
            </a:r>
          </a:p>
        </p:txBody>
      </p:sp>
      <p:sp>
        <p:nvSpPr>
          <p:cNvPr id="10" name="">
            <a:extLst xmlns:a="http://schemas.openxmlformats.org/drawingml/2006/main">
              <a:ext uri="{FF2B5EF4-FFF2-40B4-BE49-F238E27FC236}">
                <a16:creationId xmlns:a16="http://schemas.microsoft.com/office/drawing/2014/main" id="{76E760BF-8507-4495-8DF5-34272D096B4E}"/>
              </a:ext>
            </a:extLst>
          </p:cNvPr>
          <p:cNvSpPr>
            <a:spLocks xmlns:a="http://schemas.openxmlformats.org/drawingml/2006/main" noGrp="1"/>
          </p:cNvSpPr>
          <p:nvPr/>
        </p:nvSpPr>
        <p:spPr>
          <a:xfrm xmlns:a="http://schemas.openxmlformats.org/drawingml/2006/main">
            <a:off x="6057900" y="3476625"/>
            <a:ext cx="4743450" cy="1257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l">
              <a:defRPr sz="1650" b="0" i="0">
                <a:solidFill>
                  <a:srgbClr val="233248"/>
                </a:solidFill>
                <a:latin typeface="Calibri"/>
                <a:ea typeface="Calibri"/>
                <a:cs typeface="Calibri"/>
              </a:defRPr>
            </a:pPr>
            <a:r>
              <a:rPr sz="1650" b="0" i="0">
                <a:solidFill>
                  <a:srgbClr val="233248"/>
                </a:solidFill>
                <a:latin typeface="Calibri"/>
                <a:ea typeface="Calibri"/>
                <a:cs typeface="Calibri"/>
              </a:rPr>
              <a:t>If reliable event logs exist, compare driver-arrived to trip-start dwell, calls/messages, location changes, and cancellations at complex locations.</a:t>
            </a:r>
          </a:p>
        </p:txBody>
      </p:sp>
      <p:sp>
        <p:nvSpPr>
          <p:cNvPr id="11" name="">
            <a:extLst xmlns:a="http://schemas.openxmlformats.org/drawingml/2006/main">
              <a:ext uri="{FF2B5EF4-FFF2-40B4-BE49-F238E27FC236}">
                <a16:creationId xmlns:a16="http://schemas.microsoft.com/office/drawing/2014/main" id="{E03B3828-DD6C-4DD9-AF76-0A4AC7F562EE}"/>
              </a:ext>
            </a:extLst>
          </p:cNvPr>
          <p:cNvSpPr>
            <a:spLocks xmlns:a="http://schemas.openxmlformats.org/drawingml/2006/main" noGrp="1"/>
          </p:cNvSpPr>
          <p:nvPr/>
        </p:nvSpPr>
        <p:spPr>
          <a:xfrm xmlns:a="http://schemas.openxmlformats.org/drawingml/2006/main">
            <a:off x="514350" y="5181600"/>
            <a:ext cx="104394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ctr">
              <a:defRPr sz="1500" b="0" i="1">
                <a:solidFill>
                  <a:srgbClr val="687489"/>
                </a:solidFill>
                <a:latin typeface="Calibri"/>
                <a:ea typeface="Calibri"/>
                <a:cs typeface="Calibri"/>
              </a:defRPr>
            </a:pPr>
            <a:r>
              <a:rPr sz="1500" b="0" i="1">
                <a:solidFill>
                  <a:srgbClr val="687489"/>
                </a:solidFill>
                <a:latin typeface="Calibri"/>
                <a:ea typeface="Calibri"/>
                <a:cs typeface="Calibri"/>
              </a:rPr>
              <a:t>This is a proposed measurement direction — not a confirmed Uber metric or a one-day data pull.</a:t>
            </a:r>
          </a:p>
        </p:txBody>
      </p:sp>
      <p:sp>
        <p:nvSpPr>
          <p:cNvPr id="12" name="">
            <a:extLst xmlns:a="http://schemas.openxmlformats.org/drawingml/2006/main">
              <a:ext uri="{FF2B5EF4-FFF2-40B4-BE49-F238E27FC236}">
                <a16:creationId xmlns:a16="http://schemas.microsoft.com/office/drawing/2014/main" id="{E2F3E5DB-6D3D-4435-AD67-BF69251E68E5}"/>
              </a:ext>
            </a:extLst>
          </p:cNvPr>
          <p:cNvSpPr>
            <a:spLocks xmlns:a="http://schemas.openxmlformats.org/drawingml/2006/main" noGrp="1"/>
          </p:cNvSpPr>
          <p:nvPr/>
        </p:nvSpPr>
        <p:spPr>
          <a:xfrm xmlns:a="http://schemas.openxmlformats.org/drawingml/2006/main">
            <a:off x="514350" y="6515100"/>
            <a:ext cx="2857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l">
              <a:defRPr sz="750" b="0" i="0">
                <a:solidFill>
                  <a:srgbClr val="687489"/>
                </a:solidFill>
                <a:latin typeface="Calibri"/>
                <a:ea typeface="Calibri"/>
                <a:cs typeface="Calibri"/>
              </a:defRPr>
            </a:pPr>
            <a:r>
              <a:rPr sz="750" b="0" i="0">
                <a:solidFill>
                  <a:srgbClr val="687489"/>
                </a:solidFill>
                <a:latin typeface="Calibri"/>
                <a:ea typeface="Calibri"/>
                <a:cs typeface="Calibri"/>
              </a:rPr>
              <a:t>Find My Ride</a:t>
            </a:r>
          </a:p>
        </p:txBody>
      </p:sp>
      <p:sp>
        <p:nvSpPr>
          <p:cNvPr id="13" name="">
            <a:extLst xmlns:a="http://schemas.openxmlformats.org/drawingml/2006/main">
              <a:ext uri="{FF2B5EF4-FFF2-40B4-BE49-F238E27FC236}">
                <a16:creationId xmlns:a16="http://schemas.microsoft.com/office/drawing/2014/main" id="{4C232650-F977-4BAD-BE28-6BCC99B2D928}"/>
              </a:ext>
            </a:extLst>
          </p:cNvPr>
          <p:cNvSpPr>
            <a:spLocks xmlns:a="http://schemas.openxmlformats.org/drawingml/2006/main" noGrp="1"/>
          </p:cNvSpPr>
          <p:nvPr/>
        </p:nvSpPr>
        <p:spPr>
          <a:xfrm xmlns:a="http://schemas.openxmlformats.org/drawingml/2006/main">
            <a:off x="11372850" y="6515100"/>
            <a:ext cx="3048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r">
              <a:defRPr sz="750" b="0" i="0">
                <a:solidFill>
                  <a:srgbClr val="687489"/>
                </a:solidFill>
                <a:latin typeface="Calibri"/>
                <a:ea typeface="Calibri"/>
                <a:cs typeface="Calibri"/>
              </a:defRPr>
            </a:pPr>
            <a:r>
              <a:rPr sz="750" b="0" i="0">
                <a:solidFill>
                  <a:srgbClr val="687489"/>
                </a:solidFill>
                <a:latin typeface="Calibri"/>
                <a:ea typeface="Calibri"/>
                <a:cs typeface="Calibri"/>
              </a:rPr>
              <a:t>4</a:t>
            </a:r>
          </a:p>
        </p:txBody>
      </p:sp>
    </p:spTree>
    <p:extLst>
      <p:ext uri="{BB962C8B-B14F-4D97-AF65-F5344CB8AC3E}">
        <p14:creationId xmlns:p14="http://schemas.microsoft.com/office/powerpoint/2010/main" val="1308049051"/>
      </p:ext>
    </p:extLst>
  </p:cSld>
</p:sld>
</file>

<file path=ppt/slides/slide5.xml><?xml version="1.0" encoding="utf-8"?>
<p:sld xmlns:p="http://schemas.openxmlformats.org/presentationml/2006/main">
  <p:cSld>
    <p:bg>
      <p:bgPr>
        <a:solidFill xmlns:a="http://schemas.openxmlformats.org/drawingml/2006/main">
          <a:srgbClr val="F3F5F8"/>
        </a:solidFill>
      </p:bgPr>
    </p:bg>
    <p:spTree>
      <p:nvGrpSpPr>
        <p:cNvPr id="1" name=""/>
        <p:cNvGrpSpPr/>
        <p:nvPr/>
      </p:nvGrpSpPr>
      <p:grpSpPr>
        <a:xfrm xmlns:a="http://schemas.openxmlformats.org/drawingml/2006/main"/>
      </p:grpSpPr>
      <p:sp>
        <p:nvSpPr>
          <p:cNvPr id="22" name="">
            <a:extLst xmlns:a="http://schemas.openxmlformats.org/drawingml/2006/main">
              <a:ext uri="{FF2B5EF4-FFF2-40B4-BE49-F238E27FC236}">
                <a16:creationId xmlns:a16="http://schemas.microsoft.com/office/drawing/2014/main" id="{D9C9AC79-FB05-4A1C-BEE4-3C2D8557828A}"/>
              </a:ext>
            </a:extLst>
          </p:cNvPr>
          <p:cNvSpPr>
            <a:spLocks xmlns:a="http://schemas.openxmlformats.org/drawingml/2006/main" noGrp="1"/>
          </p:cNvSpPr>
          <p:nvPr/>
        </p:nvSpPr>
        <p:spPr>
          <a:xfrm xmlns:a="http://schemas.openxmlformats.org/drawingml/2006/main">
            <a:off x="514350" y="247650"/>
            <a:ext cx="11144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l">
              <a:defRPr sz="975" b="1" i="0">
                <a:solidFill>
                  <a:srgbClr val="F47A22"/>
                </a:solidFill>
                <a:latin typeface="Calibri"/>
                <a:ea typeface="Calibri"/>
                <a:cs typeface="Calibri"/>
              </a:defRPr>
            </a:pPr>
            <a:r>
              <a:rPr sz="975" b="1" i="0">
                <a:solidFill>
                  <a:srgbClr val="F47A22"/>
                </a:solidFill>
                <a:latin typeface="Calibri"/>
                <a:ea typeface="Calibri"/>
                <a:cs typeface="Calibri"/>
              </a:rPr>
              <a:t>WHAT THE EVIDENCE SHOWED</a:t>
            </a:r>
          </a:p>
        </p:txBody>
      </p:sp>
      <p:sp>
        <p:nvSpPr>
          <p:cNvPr id="2" name="">
            <a:extLst xmlns:a="http://schemas.openxmlformats.org/drawingml/2006/main">
              <a:ext uri="{FF2B5EF4-FFF2-40B4-BE49-F238E27FC236}">
                <a16:creationId xmlns:a16="http://schemas.microsoft.com/office/drawing/2014/main" id="{09CB0787-13CB-493E-900A-27E2D9C22A91}"/>
              </a:ext>
            </a:extLst>
          </p:cNvPr>
          <p:cNvSpPr>
            <a:spLocks xmlns:a="http://schemas.openxmlformats.org/drawingml/2006/main" noGrp="1"/>
          </p:cNvSpPr>
          <p:nvPr/>
        </p:nvSpPr>
        <p:spPr>
          <a:xfrm xmlns:a="http://schemas.openxmlformats.org/drawingml/2006/main">
            <a:off x="514350" y="571500"/>
            <a:ext cx="1114425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93551"/>
          </a:bodyPr>
          <a:lstStyle xmlns:a="http://schemas.openxmlformats.org/drawingml/2006/main"/>
          <a:p xmlns:a="http://schemas.openxmlformats.org/drawingml/2006/main">
            <a:pPr algn="l">
              <a:defRPr sz="2550" b="1" i="0">
                <a:solidFill>
                  <a:srgbClr val="1B2B45"/>
                </a:solidFill>
                <a:latin typeface="Calibri"/>
                <a:ea typeface="Calibri"/>
                <a:cs typeface="Calibri"/>
              </a:defRPr>
            </a:pPr>
            <a:r>
              <a:rPr sz="2550" b="1" i="0">
                <a:solidFill>
                  <a:srgbClr val="1B2B45"/>
                </a:solidFill>
                <a:latin typeface="Calibri"/>
                <a:ea typeface="Calibri"/>
                <a:cs typeface="Calibri"/>
              </a:rPr>
              <a:t>Not everyone's problem — but a real, recurring one for affected respondents</a:t>
            </a:r>
          </a:p>
        </p:txBody>
      </p:sp>
      <p:sp>
        <p:nvSpPr>
          <p:cNvPr id="3" name="">
            <a:extLst xmlns:a="http://schemas.openxmlformats.org/drawingml/2006/main">
              <a:ext uri="{FF2B5EF4-FFF2-40B4-BE49-F238E27FC236}">
                <a16:creationId xmlns:a16="http://schemas.microsoft.com/office/drawing/2014/main" id="{0D59EF76-AF62-417E-A4DE-9A420C8FCF20}"/>
              </a:ext>
            </a:extLst>
          </p:cNvPr>
          <p:cNvSpPr>
            <a:spLocks xmlns:a="http://schemas.openxmlformats.org/drawingml/2006/main" noGrp="1"/>
          </p:cNvSpPr>
          <p:nvPr/>
        </p:nvSpPr>
        <p:spPr>
          <a:xfrm xmlns:a="http://schemas.openxmlformats.org/drawingml/2006/main">
            <a:off x="514350" y="1657350"/>
            <a:ext cx="2362200" cy="1123950"/>
          </a:xfrm>
          <a:prstGeom xmlns:a="http://schemas.openxmlformats.org/drawingml/2006/main" prst="roundRect">
            <a:avLst>
              <a:gd name="adj" fmla="val 6780"/>
            </a:avLst>
          </a:prstGeom>
          <a:solidFill xmlns:a="http://schemas.openxmlformats.org/drawingml/2006/main">
            <a:srgbClr val="2D4672"/>
          </a:solidFill>
          <a:ln xmlns:a="http://schemas.openxmlformats.org/drawingml/2006/main" w="0">
            <a:noFill/>
            <a:prstDash val="solid"/>
          </a:ln>
        </p:spPr>
      </p:sp>
      <p:sp>
        <p:nvSpPr>
          <p:cNvPr id="4" name="">
            <a:extLst xmlns:a="http://schemas.openxmlformats.org/drawingml/2006/main">
              <a:ext uri="{FF2B5EF4-FFF2-40B4-BE49-F238E27FC236}">
                <a16:creationId xmlns:a16="http://schemas.microsoft.com/office/drawing/2014/main" id="{6568430D-BB9E-4EF0-8CB0-5DA3A5C4A726}"/>
              </a:ext>
            </a:extLst>
          </p:cNvPr>
          <p:cNvSpPr>
            <a:spLocks xmlns:a="http://schemas.openxmlformats.org/drawingml/2006/main" noGrp="1"/>
          </p:cNvSpPr>
          <p:nvPr/>
        </p:nvSpPr>
        <p:spPr>
          <a:xfrm xmlns:a="http://schemas.openxmlformats.org/drawingml/2006/main">
            <a:off x="666750" y="1790700"/>
            <a:ext cx="20574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l">
              <a:defRPr sz="2475" b="1" i="0">
                <a:solidFill>
                  <a:srgbClr val="FFFFFF"/>
                </a:solidFill>
                <a:latin typeface="Calibri"/>
                <a:ea typeface="Calibri"/>
                <a:cs typeface="Calibri"/>
              </a:defRPr>
            </a:pPr>
            <a:r>
              <a:rPr sz="2475" b="1" i="0">
                <a:solidFill>
                  <a:srgbClr val="FFFFFF"/>
                </a:solidFill>
                <a:latin typeface="Calibri"/>
                <a:ea typeface="Calibri"/>
                <a:cs typeface="Calibri"/>
              </a:rPr>
              <a:t>47.1%</a:t>
            </a:r>
          </a:p>
        </p:txBody>
      </p:sp>
      <p:sp>
        <p:nvSpPr>
          <p:cNvPr id="5" name="">
            <a:extLst xmlns:a="http://schemas.openxmlformats.org/drawingml/2006/main">
              <a:ext uri="{FF2B5EF4-FFF2-40B4-BE49-F238E27FC236}">
                <a16:creationId xmlns:a16="http://schemas.microsoft.com/office/drawing/2014/main" id="{F0C91B09-F96B-4989-BB52-374A49B8963E}"/>
              </a:ext>
            </a:extLst>
          </p:cNvPr>
          <p:cNvSpPr>
            <a:spLocks xmlns:a="http://schemas.openxmlformats.org/drawingml/2006/main" noGrp="1"/>
          </p:cNvSpPr>
          <p:nvPr/>
        </p:nvSpPr>
        <p:spPr>
          <a:xfrm xmlns:a="http://schemas.openxmlformats.org/drawingml/2006/main">
            <a:off x="666750" y="2305050"/>
            <a:ext cx="20574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72917"/>
          </a:bodyPr>
          <a:lstStyle xmlns:a="http://schemas.openxmlformats.org/drawingml/2006/main"/>
          <a:p xmlns:a="http://schemas.openxmlformats.org/drawingml/2006/main">
            <a:pPr algn="l">
              <a:defRPr sz="1200" b="0" i="0">
                <a:solidFill>
                  <a:srgbClr val="FFFFFF"/>
                </a:solidFill>
                <a:latin typeface="Calibri"/>
                <a:ea typeface="Calibri"/>
                <a:cs typeface="Calibri"/>
              </a:defRPr>
            </a:pPr>
            <a:r>
              <a:rPr sz="1200" b="0" i="0">
                <a:solidFill>
                  <a:srgbClr val="FFFFFF"/>
                </a:solidFill>
                <a:latin typeface="Calibri"/>
                <a:ea typeface="Calibri"/>
                <a:cs typeface="Calibri"/>
              </a:rPr>
              <a:t>24 of 51 recent users reported difficulty</a:t>
            </a:r>
          </a:p>
        </p:txBody>
      </p:sp>
      <p:sp>
        <p:nvSpPr>
          <p:cNvPr id="6" name="">
            <a:extLst xmlns:a="http://schemas.openxmlformats.org/drawingml/2006/main">
              <a:ext uri="{FF2B5EF4-FFF2-40B4-BE49-F238E27FC236}">
                <a16:creationId xmlns:a16="http://schemas.microsoft.com/office/drawing/2014/main" id="{31600C76-C0EE-43CD-98C9-B9D989AE57F3}"/>
              </a:ext>
            </a:extLst>
          </p:cNvPr>
          <p:cNvSpPr>
            <a:spLocks xmlns:a="http://schemas.openxmlformats.org/drawingml/2006/main" noGrp="1"/>
          </p:cNvSpPr>
          <p:nvPr/>
        </p:nvSpPr>
        <p:spPr>
          <a:xfrm xmlns:a="http://schemas.openxmlformats.org/drawingml/2006/main">
            <a:off x="3067050" y="1657350"/>
            <a:ext cx="2362200" cy="1123950"/>
          </a:xfrm>
          <a:prstGeom xmlns:a="http://schemas.openxmlformats.org/drawingml/2006/main" prst="roundRect">
            <a:avLst>
              <a:gd name="adj" fmla="val 6780"/>
            </a:avLst>
          </a:prstGeom>
          <a:solidFill xmlns:a="http://schemas.openxmlformats.org/drawingml/2006/main">
            <a:srgbClr val="1BB5C8"/>
          </a:solidFill>
          <a:ln xmlns:a="http://schemas.openxmlformats.org/drawingml/2006/main" w="0">
            <a:noFill/>
            <a:prstDash val="solid"/>
          </a:ln>
        </p:spPr>
      </p:sp>
      <p:sp>
        <p:nvSpPr>
          <p:cNvPr id="7" name="">
            <a:extLst xmlns:a="http://schemas.openxmlformats.org/drawingml/2006/main">
              <a:ext uri="{FF2B5EF4-FFF2-40B4-BE49-F238E27FC236}">
                <a16:creationId xmlns:a16="http://schemas.microsoft.com/office/drawing/2014/main" id="{497D9637-CC8B-4D4A-B00F-FD9427C5C060}"/>
              </a:ext>
            </a:extLst>
          </p:cNvPr>
          <p:cNvSpPr>
            <a:spLocks xmlns:a="http://schemas.openxmlformats.org/drawingml/2006/main" noGrp="1"/>
          </p:cNvSpPr>
          <p:nvPr/>
        </p:nvSpPr>
        <p:spPr>
          <a:xfrm xmlns:a="http://schemas.openxmlformats.org/drawingml/2006/main">
            <a:off x="3219450" y="1790700"/>
            <a:ext cx="20574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l">
              <a:defRPr sz="2475" b="1" i="0">
                <a:solidFill>
                  <a:srgbClr val="FFFFFF"/>
                </a:solidFill>
                <a:latin typeface="Calibri"/>
                <a:ea typeface="Calibri"/>
                <a:cs typeface="Calibri"/>
              </a:defRPr>
            </a:pPr>
            <a:r>
              <a:rPr sz="2475" b="1" i="0">
                <a:solidFill>
                  <a:srgbClr val="FFFFFF"/>
                </a:solidFill>
                <a:latin typeface="Calibri"/>
                <a:ea typeface="Calibri"/>
                <a:cs typeface="Calibri"/>
              </a:rPr>
              <a:t>82.1%</a:t>
            </a:r>
          </a:p>
        </p:txBody>
      </p:sp>
      <p:sp>
        <p:nvSpPr>
          <p:cNvPr id="8" name="">
            <a:extLst xmlns:a="http://schemas.openxmlformats.org/drawingml/2006/main">
              <a:ext uri="{FF2B5EF4-FFF2-40B4-BE49-F238E27FC236}">
                <a16:creationId xmlns:a16="http://schemas.microsoft.com/office/drawing/2014/main" id="{01864A41-2C06-4748-8C64-A9F855CDC79E}"/>
              </a:ext>
            </a:extLst>
          </p:cNvPr>
          <p:cNvSpPr>
            <a:spLocks xmlns:a="http://schemas.openxmlformats.org/drawingml/2006/main" noGrp="1"/>
          </p:cNvSpPr>
          <p:nvPr/>
        </p:nvSpPr>
        <p:spPr>
          <a:xfrm xmlns:a="http://schemas.openxmlformats.org/drawingml/2006/main">
            <a:off x="3219450" y="2305050"/>
            <a:ext cx="20574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72917"/>
          </a:bodyPr>
          <a:lstStyle xmlns:a="http://schemas.openxmlformats.org/drawingml/2006/main"/>
          <a:p xmlns:a="http://schemas.openxmlformats.org/drawingml/2006/main">
            <a:pPr algn="l">
              <a:defRPr sz="1200" b="0" i="0">
                <a:solidFill>
                  <a:srgbClr val="FFFFFF"/>
                </a:solidFill>
                <a:latin typeface="Calibri"/>
                <a:ea typeface="Calibri"/>
                <a:cs typeface="Calibri"/>
              </a:defRPr>
            </a:pPr>
            <a:r>
              <a:rPr sz="1200" b="0" i="0">
                <a:solidFill>
                  <a:srgbClr val="FFFFFF"/>
                </a:solidFill>
                <a:latin typeface="Calibri"/>
                <a:ea typeface="Calibri"/>
                <a:cs typeface="Calibri"/>
              </a:rPr>
              <a:t>23 of 28 issue cases said it happened before</a:t>
            </a:r>
          </a:p>
        </p:txBody>
      </p:sp>
      <p:sp>
        <p:nvSpPr>
          <p:cNvPr id="9" name="">
            <a:extLst xmlns:a="http://schemas.openxmlformats.org/drawingml/2006/main">
              <a:ext uri="{FF2B5EF4-FFF2-40B4-BE49-F238E27FC236}">
                <a16:creationId xmlns:a16="http://schemas.microsoft.com/office/drawing/2014/main" id="{3A5D6AE1-0B41-4CC1-8AAA-81F0FAAF76EA}"/>
              </a:ext>
            </a:extLst>
          </p:cNvPr>
          <p:cNvSpPr>
            <a:spLocks xmlns:a="http://schemas.openxmlformats.org/drawingml/2006/main" noGrp="1"/>
          </p:cNvSpPr>
          <p:nvPr/>
        </p:nvSpPr>
        <p:spPr>
          <a:xfrm xmlns:a="http://schemas.openxmlformats.org/drawingml/2006/main">
            <a:off x="5619750" y="1657350"/>
            <a:ext cx="2362200" cy="1123950"/>
          </a:xfrm>
          <a:prstGeom xmlns:a="http://schemas.openxmlformats.org/drawingml/2006/main" prst="roundRect">
            <a:avLst>
              <a:gd name="adj" fmla="val 6780"/>
            </a:avLst>
          </a:prstGeom>
          <a:solidFill xmlns:a="http://schemas.openxmlformats.org/drawingml/2006/main">
            <a:srgbClr val="2D4672"/>
          </a:solidFill>
          <a:ln xmlns:a="http://schemas.openxmlformats.org/drawingml/2006/main" w="0">
            <a:noFill/>
            <a:prstDash val="solid"/>
          </a:ln>
        </p:spPr>
      </p:sp>
      <p:sp>
        <p:nvSpPr>
          <p:cNvPr id="10" name="">
            <a:extLst xmlns:a="http://schemas.openxmlformats.org/drawingml/2006/main">
              <a:ext uri="{FF2B5EF4-FFF2-40B4-BE49-F238E27FC236}">
                <a16:creationId xmlns:a16="http://schemas.microsoft.com/office/drawing/2014/main" id="{769491D2-1EF6-441B-A0C3-9426AC00F174}"/>
              </a:ext>
            </a:extLst>
          </p:cNvPr>
          <p:cNvSpPr>
            <a:spLocks xmlns:a="http://schemas.openxmlformats.org/drawingml/2006/main" noGrp="1"/>
          </p:cNvSpPr>
          <p:nvPr/>
        </p:nvSpPr>
        <p:spPr>
          <a:xfrm xmlns:a="http://schemas.openxmlformats.org/drawingml/2006/main">
            <a:off x="5772150" y="1790700"/>
            <a:ext cx="20574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l">
              <a:defRPr sz="2475" b="1" i="0">
                <a:solidFill>
                  <a:srgbClr val="FFFFFF"/>
                </a:solidFill>
                <a:latin typeface="Calibri"/>
                <a:ea typeface="Calibri"/>
                <a:cs typeface="Calibri"/>
              </a:defRPr>
            </a:pPr>
            <a:r>
              <a:rPr sz="2475" b="1" i="0">
                <a:solidFill>
                  <a:srgbClr val="FFFFFF"/>
                </a:solidFill>
                <a:latin typeface="Calibri"/>
                <a:ea typeface="Calibri"/>
                <a:cs typeface="Calibri"/>
              </a:rPr>
              <a:t>20 / 28</a:t>
            </a:r>
          </a:p>
        </p:txBody>
      </p:sp>
      <p:sp>
        <p:nvSpPr>
          <p:cNvPr id="11" name="">
            <a:extLst xmlns:a="http://schemas.openxmlformats.org/drawingml/2006/main">
              <a:ext uri="{FF2B5EF4-FFF2-40B4-BE49-F238E27FC236}">
                <a16:creationId xmlns:a16="http://schemas.microsoft.com/office/drawing/2014/main" id="{39FD1557-8C5C-4F4D-9F2E-2349FB52F83E}"/>
              </a:ext>
            </a:extLst>
          </p:cNvPr>
          <p:cNvSpPr>
            <a:spLocks xmlns:a="http://schemas.openxmlformats.org/drawingml/2006/main" noGrp="1"/>
          </p:cNvSpPr>
          <p:nvPr/>
        </p:nvSpPr>
        <p:spPr>
          <a:xfrm xmlns:a="http://schemas.openxmlformats.org/drawingml/2006/main">
            <a:off x="5772150" y="2305050"/>
            <a:ext cx="20574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86903"/>
          </a:bodyPr>
          <a:lstStyle xmlns:a="http://schemas.openxmlformats.org/drawingml/2006/main"/>
          <a:p xmlns:a="http://schemas.openxmlformats.org/drawingml/2006/main">
            <a:pPr algn="l">
              <a:defRPr sz="1200" b="0" i="0">
                <a:solidFill>
                  <a:srgbClr val="FFFFFF"/>
                </a:solidFill>
                <a:latin typeface="Calibri"/>
                <a:ea typeface="Calibri"/>
                <a:cs typeface="Calibri"/>
              </a:defRPr>
            </a:pPr>
            <a:r>
              <a:rPr sz="1200" b="0" i="0">
                <a:solidFill>
                  <a:srgbClr val="FFFFFF"/>
                </a:solidFill>
                <a:latin typeface="Calibri"/>
                <a:ea typeface="Calibri"/>
                <a:cs typeface="Calibri"/>
              </a:rPr>
              <a:t>said calling or messaging helped</a:t>
            </a:r>
          </a:p>
        </p:txBody>
      </p:sp>
      <p:sp>
        <p:nvSpPr>
          <p:cNvPr id="12" name="">
            <a:extLst xmlns:a="http://schemas.openxmlformats.org/drawingml/2006/main">
              <a:ext uri="{FF2B5EF4-FFF2-40B4-BE49-F238E27FC236}">
                <a16:creationId xmlns:a16="http://schemas.microsoft.com/office/drawing/2014/main" id="{945410C3-7E47-498D-920C-98CDD1BA964F}"/>
              </a:ext>
            </a:extLst>
          </p:cNvPr>
          <p:cNvSpPr>
            <a:spLocks xmlns:a="http://schemas.openxmlformats.org/drawingml/2006/main" noGrp="1"/>
          </p:cNvSpPr>
          <p:nvPr/>
        </p:nvSpPr>
        <p:spPr>
          <a:xfrm xmlns:a="http://schemas.openxmlformats.org/drawingml/2006/main">
            <a:off x="8172450" y="1657350"/>
            <a:ext cx="2362200" cy="1123950"/>
          </a:xfrm>
          <a:prstGeom xmlns:a="http://schemas.openxmlformats.org/drawingml/2006/main" prst="roundRect">
            <a:avLst>
              <a:gd name="adj" fmla="val 6780"/>
            </a:avLst>
          </a:prstGeom>
          <a:solidFill xmlns:a="http://schemas.openxmlformats.org/drawingml/2006/main">
            <a:srgbClr val="F47A22"/>
          </a:solidFill>
          <a:ln xmlns:a="http://schemas.openxmlformats.org/drawingml/2006/main" w="0">
            <a:noFill/>
            <a:prstDash val="solid"/>
          </a:ln>
        </p:spPr>
      </p:sp>
      <p:sp>
        <p:nvSpPr>
          <p:cNvPr id="13" name="">
            <a:extLst xmlns:a="http://schemas.openxmlformats.org/drawingml/2006/main">
              <a:ext uri="{FF2B5EF4-FFF2-40B4-BE49-F238E27FC236}">
                <a16:creationId xmlns:a16="http://schemas.microsoft.com/office/drawing/2014/main" id="{7AD07745-14A1-4475-A320-66D2D94C5F98}"/>
              </a:ext>
            </a:extLst>
          </p:cNvPr>
          <p:cNvSpPr>
            <a:spLocks xmlns:a="http://schemas.openxmlformats.org/drawingml/2006/main" noGrp="1"/>
          </p:cNvSpPr>
          <p:nvPr/>
        </p:nvSpPr>
        <p:spPr>
          <a:xfrm xmlns:a="http://schemas.openxmlformats.org/drawingml/2006/main">
            <a:off x="8324850" y="1790700"/>
            <a:ext cx="20574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l">
              <a:defRPr sz="2475" b="1" i="0">
                <a:solidFill>
                  <a:srgbClr val="FFFFFF"/>
                </a:solidFill>
                <a:latin typeface="Calibri"/>
                <a:ea typeface="Calibri"/>
                <a:cs typeface="Calibri"/>
              </a:defRPr>
            </a:pPr>
            <a:r>
              <a:rPr sz="2475" b="1" i="0">
                <a:solidFill>
                  <a:srgbClr val="FFFFFF"/>
                </a:solidFill>
                <a:latin typeface="Calibri"/>
                <a:ea typeface="Calibri"/>
                <a:cs typeface="Calibri"/>
              </a:rPr>
              <a:t>6 / 28</a:t>
            </a:r>
          </a:p>
        </p:txBody>
      </p:sp>
      <p:sp>
        <p:nvSpPr>
          <p:cNvPr id="14" name="">
            <a:extLst xmlns:a="http://schemas.openxmlformats.org/drawingml/2006/main">
              <a:ext uri="{FF2B5EF4-FFF2-40B4-BE49-F238E27FC236}">
                <a16:creationId xmlns:a16="http://schemas.microsoft.com/office/drawing/2014/main" id="{4806B68A-8D84-4A86-8A5C-33C8D0911AB6}"/>
              </a:ext>
            </a:extLst>
          </p:cNvPr>
          <p:cNvSpPr>
            <a:spLocks xmlns:a="http://schemas.openxmlformats.org/drawingml/2006/main" noGrp="1"/>
          </p:cNvSpPr>
          <p:nvPr/>
        </p:nvSpPr>
        <p:spPr>
          <a:xfrm xmlns:a="http://schemas.openxmlformats.org/drawingml/2006/main">
            <a:off x="8324850" y="2305050"/>
            <a:ext cx="20574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l">
              <a:defRPr sz="1200" b="0" i="0">
                <a:solidFill>
                  <a:srgbClr val="FFFFFF"/>
                </a:solidFill>
                <a:latin typeface="Calibri"/>
                <a:ea typeface="Calibri"/>
                <a:cs typeface="Calibri"/>
              </a:defRPr>
            </a:pPr>
            <a:r>
              <a:rPr sz="1200" b="0" i="0">
                <a:solidFill>
                  <a:srgbClr val="FFFFFF"/>
                </a:solidFill>
                <a:latin typeface="Calibri"/>
                <a:ea typeface="Calibri"/>
                <a:cs typeface="Calibri"/>
              </a:rPr>
              <a:t>said nothing helped</a:t>
            </a:r>
          </a:p>
        </p:txBody>
      </p:sp>
      <p:sp>
        <p:nvSpPr>
          <p:cNvPr id="15" name="">
            <a:extLst xmlns:a="http://schemas.openxmlformats.org/drawingml/2006/main">
              <a:ext uri="{FF2B5EF4-FFF2-40B4-BE49-F238E27FC236}">
                <a16:creationId xmlns:a16="http://schemas.microsoft.com/office/drawing/2014/main" id="{C19CC08F-CF6A-493D-87C1-B3D6B41CF8A5}"/>
              </a:ext>
            </a:extLst>
          </p:cNvPr>
          <p:cNvSpPr>
            <a:spLocks xmlns:a="http://schemas.openxmlformats.org/drawingml/2006/main" noGrp="1"/>
          </p:cNvSpPr>
          <p:nvPr/>
        </p:nvSpPr>
        <p:spPr>
          <a:xfrm xmlns:a="http://schemas.openxmlformats.org/drawingml/2006/main">
            <a:off x="514350" y="3105150"/>
            <a:ext cx="10439400" cy="1562100"/>
          </a:xfrm>
          <a:prstGeom xmlns:a="http://schemas.openxmlformats.org/drawingml/2006/main" prst="roundRect">
            <a:avLst>
              <a:gd name="adj" fmla="val 3659"/>
            </a:avLst>
          </a:prstGeom>
          <a:solidFill xmlns:a="http://schemas.openxmlformats.org/drawingml/2006/main">
            <a:srgbClr val="1B2B45"/>
          </a:solidFill>
          <a:ln xmlns:a="http://schemas.openxmlformats.org/drawingml/2006/main" w="0">
            <a:noFill/>
            <a:prstDash val="solid"/>
          </a:ln>
        </p:spPr>
      </p:sp>
      <p:sp>
        <p:nvSpPr>
          <p:cNvPr id="16" name="">
            <a:extLst xmlns:a="http://schemas.openxmlformats.org/drawingml/2006/main">
              <a:ext uri="{FF2B5EF4-FFF2-40B4-BE49-F238E27FC236}">
                <a16:creationId xmlns:a16="http://schemas.microsoft.com/office/drawing/2014/main" id="{E2E581D4-DA3D-4FD7-BFFE-139760AF9A3C}"/>
              </a:ext>
            </a:extLst>
          </p:cNvPr>
          <p:cNvSpPr>
            <a:spLocks xmlns:a="http://schemas.openxmlformats.org/drawingml/2006/main" noGrp="1"/>
          </p:cNvSpPr>
          <p:nvPr/>
        </p:nvSpPr>
        <p:spPr>
          <a:xfrm xmlns:a="http://schemas.openxmlformats.org/drawingml/2006/main">
            <a:off x="800100" y="3352800"/>
            <a:ext cx="986790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ctr">
            <a:normAutofit fontScale="100000"/>
          </a:bodyPr>
          <a:lstStyle xmlns:a="http://schemas.openxmlformats.org/drawingml/2006/main"/>
          <a:p xmlns:a="http://schemas.openxmlformats.org/drawingml/2006/main">
            <a:pPr algn="ctr">
              <a:defRPr sz="2175" b="0" i="1">
                <a:solidFill>
                  <a:srgbClr val="FFFFFF"/>
                </a:solidFill>
                <a:latin typeface="Calibri"/>
                <a:ea typeface="Calibri"/>
                <a:cs typeface="Calibri"/>
              </a:defRPr>
            </a:pPr>
            <a:r>
              <a:rPr sz="2175" b="0" i="1">
                <a:solidFill>
                  <a:srgbClr val="FFFFFF"/>
                </a:solidFill>
                <a:latin typeface="Calibri"/>
                <a:ea typeface="Calibri"/>
                <a:cs typeface="Calibri"/>
              </a:rPr>
              <a:t>“The app says he has arrived, but almost 10 minutes to locate each other.”</a:t>
            </a:r>
          </a:p>
        </p:txBody>
      </p:sp>
      <p:sp>
        <p:nvSpPr>
          <p:cNvPr id="17" name="">
            <a:extLst xmlns:a="http://schemas.openxmlformats.org/drawingml/2006/main">
              <a:ext uri="{FF2B5EF4-FFF2-40B4-BE49-F238E27FC236}">
                <a16:creationId xmlns:a16="http://schemas.microsoft.com/office/drawing/2014/main" id="{938923F0-8935-4360-9880-DDB95EA942C7}"/>
              </a:ext>
            </a:extLst>
          </p:cNvPr>
          <p:cNvSpPr>
            <a:spLocks xmlns:a="http://schemas.openxmlformats.org/drawingml/2006/main" noGrp="1"/>
          </p:cNvSpPr>
          <p:nvPr/>
        </p:nvSpPr>
        <p:spPr>
          <a:xfrm xmlns:a="http://schemas.openxmlformats.org/drawingml/2006/main">
            <a:off x="800100" y="4210050"/>
            <a:ext cx="98679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ctr">
              <a:defRPr sz="1125" b="0" i="0">
                <a:solidFill>
                  <a:srgbClr val="C9D3E2"/>
                </a:solidFill>
                <a:latin typeface="Calibri"/>
                <a:ea typeface="Calibri"/>
                <a:cs typeface="Calibri"/>
              </a:defRPr>
            </a:pPr>
            <a:r>
              <a:rPr sz="1125" b="0" i="0">
                <a:solidFill>
                  <a:srgbClr val="C9D3E2"/>
                </a:solidFill>
                <a:latin typeface="Calibri"/>
                <a:ea typeface="Calibri"/>
                <a:cs typeface="Calibri"/>
              </a:rPr>
              <a:t>R067 · rider · anonymized response</a:t>
            </a:r>
          </a:p>
        </p:txBody>
      </p:sp>
      <p:sp>
        <p:nvSpPr>
          <p:cNvPr id="18" name="">
            <a:extLst xmlns:a="http://schemas.openxmlformats.org/drawingml/2006/main">
              <a:ext uri="{FF2B5EF4-FFF2-40B4-BE49-F238E27FC236}">
                <a16:creationId xmlns:a16="http://schemas.microsoft.com/office/drawing/2014/main" id="{9826D412-F41B-45B3-AE74-DB7CFD98AE14}"/>
              </a:ext>
            </a:extLst>
          </p:cNvPr>
          <p:cNvSpPr>
            <a:spLocks xmlns:a="http://schemas.openxmlformats.org/drawingml/2006/main" noGrp="1"/>
          </p:cNvSpPr>
          <p:nvPr/>
        </p:nvSpPr>
        <p:spPr>
          <a:xfrm xmlns:a="http://schemas.openxmlformats.org/drawingml/2006/main">
            <a:off x="514350" y="4953000"/>
            <a:ext cx="10439400" cy="876300"/>
          </a:xfrm>
          <a:prstGeom xmlns:a="http://schemas.openxmlformats.org/drawingml/2006/main" prst="roundRect">
            <a:avLst>
              <a:gd name="adj" fmla="val 6522"/>
            </a:avLst>
          </a:prstGeom>
          <a:solidFill xmlns:a="http://schemas.openxmlformats.org/drawingml/2006/main">
            <a:srgbClr val="FBE7D8"/>
          </a:solidFill>
          <a:ln xmlns:a="http://schemas.openxmlformats.org/drawingml/2006/main" w="0">
            <a:noFill/>
            <a:prstDash val="solid"/>
          </a:ln>
        </p:spPr>
      </p:sp>
      <p:sp>
        <p:nvSpPr>
          <p:cNvPr id="19" name="">
            <a:extLst xmlns:a="http://schemas.openxmlformats.org/drawingml/2006/main">
              <a:ext uri="{FF2B5EF4-FFF2-40B4-BE49-F238E27FC236}">
                <a16:creationId xmlns:a16="http://schemas.microsoft.com/office/drawing/2014/main" id="{CCA290EA-DD47-491B-BBF6-209196278668}"/>
              </a:ext>
            </a:extLst>
          </p:cNvPr>
          <p:cNvSpPr>
            <a:spLocks xmlns:a="http://schemas.openxmlformats.org/drawingml/2006/main" noGrp="1"/>
          </p:cNvSpPr>
          <p:nvPr/>
        </p:nvSpPr>
        <p:spPr>
          <a:xfrm xmlns:a="http://schemas.openxmlformats.org/drawingml/2006/main">
            <a:off x="704850" y="5133975"/>
            <a:ext cx="100584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l">
              <a:defRPr sz="1350" b="0" i="0">
                <a:solidFill>
                  <a:srgbClr val="233248"/>
                </a:solidFill>
                <a:latin typeface="Calibri"/>
                <a:ea typeface="Calibri"/>
                <a:cs typeface="Calibri"/>
              </a:defRPr>
            </a:pPr>
            <a:r>
              <a:rPr sz="1350" b="0" i="0">
                <a:solidFill>
                  <a:srgbClr val="233248"/>
                </a:solidFill>
                <a:latin typeface="Calibri"/>
                <a:ea typeface="Calibri"/>
                <a:cs typeface="Calibri"/>
              </a:rPr>
              <a:t>Interpretation boundary: 23 of 28 means the issue occurred before; it does not prove recurrence at the same venue. These sample percentages are not Hyderabad prevalence.</a:t>
            </a:r>
          </a:p>
        </p:txBody>
      </p:sp>
      <p:sp>
        <p:nvSpPr>
          <p:cNvPr id="20" name="">
            <a:extLst xmlns:a="http://schemas.openxmlformats.org/drawingml/2006/main">
              <a:ext uri="{FF2B5EF4-FFF2-40B4-BE49-F238E27FC236}">
                <a16:creationId xmlns:a16="http://schemas.microsoft.com/office/drawing/2014/main" id="{EB79CC22-B378-48F3-8A49-9E2AFCB75E96}"/>
              </a:ext>
            </a:extLst>
          </p:cNvPr>
          <p:cNvSpPr>
            <a:spLocks xmlns:a="http://schemas.openxmlformats.org/drawingml/2006/main" noGrp="1"/>
          </p:cNvSpPr>
          <p:nvPr/>
        </p:nvSpPr>
        <p:spPr>
          <a:xfrm xmlns:a="http://schemas.openxmlformats.org/drawingml/2006/main">
            <a:off x="514350" y="6515100"/>
            <a:ext cx="2857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l">
              <a:defRPr sz="750" b="0" i="0">
                <a:solidFill>
                  <a:srgbClr val="687489"/>
                </a:solidFill>
                <a:latin typeface="Calibri"/>
                <a:ea typeface="Calibri"/>
                <a:cs typeface="Calibri"/>
              </a:defRPr>
            </a:pPr>
            <a:r>
              <a:rPr sz="750" b="0" i="0">
                <a:solidFill>
                  <a:srgbClr val="687489"/>
                </a:solidFill>
                <a:latin typeface="Calibri"/>
                <a:ea typeface="Calibri"/>
                <a:cs typeface="Calibri"/>
              </a:rPr>
              <a:t>Find My Ride</a:t>
            </a:r>
          </a:p>
        </p:txBody>
      </p:sp>
      <p:sp>
        <p:nvSpPr>
          <p:cNvPr id="21" name="">
            <a:extLst xmlns:a="http://schemas.openxmlformats.org/drawingml/2006/main">
              <a:ext uri="{FF2B5EF4-FFF2-40B4-BE49-F238E27FC236}">
                <a16:creationId xmlns:a16="http://schemas.microsoft.com/office/drawing/2014/main" id="{9CCD2260-6F3D-4777-9BA6-6862480FDCEF}"/>
              </a:ext>
            </a:extLst>
          </p:cNvPr>
          <p:cNvSpPr>
            <a:spLocks xmlns:a="http://schemas.openxmlformats.org/drawingml/2006/main" noGrp="1"/>
          </p:cNvSpPr>
          <p:nvPr/>
        </p:nvSpPr>
        <p:spPr>
          <a:xfrm xmlns:a="http://schemas.openxmlformats.org/drawingml/2006/main">
            <a:off x="11372850" y="6515100"/>
            <a:ext cx="3048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r">
              <a:defRPr sz="750" b="0" i="0">
                <a:solidFill>
                  <a:srgbClr val="687489"/>
                </a:solidFill>
                <a:latin typeface="Calibri"/>
                <a:ea typeface="Calibri"/>
                <a:cs typeface="Calibri"/>
              </a:defRPr>
            </a:pPr>
            <a:r>
              <a:rPr sz="750" b="0" i="0">
                <a:solidFill>
                  <a:srgbClr val="687489"/>
                </a:solidFill>
                <a:latin typeface="Calibri"/>
                <a:ea typeface="Calibri"/>
                <a:cs typeface="Calibri"/>
              </a:rPr>
              <a:t>5</a:t>
            </a:r>
          </a:p>
        </p:txBody>
      </p:sp>
    </p:spTree>
    <p:extLst>
      <p:ext uri="{BB962C8B-B14F-4D97-AF65-F5344CB8AC3E}">
        <p14:creationId xmlns:p14="http://schemas.microsoft.com/office/powerpoint/2010/main" val="2109591563"/>
      </p:ext>
    </p:extLst>
  </p:cSld>
</p:sld>
</file>

<file path=ppt/slides/slide6.xml><?xml version="1.0" encoding="utf-8"?>
<p:sld xmlns:p="http://schemas.openxmlformats.org/presentationml/2006/main">
  <p:cSld>
    <p:bg>
      <p:bgPr>
        <a:solidFill xmlns:a="http://schemas.openxmlformats.org/drawingml/2006/main">
          <a:srgbClr val="F3F5F8"/>
        </a:solidFill>
      </p:bgPr>
    </p:bg>
    <p:spTree>
      <p:nvGrpSpPr>
        <p:cNvPr id="1" name=""/>
        <p:cNvGrpSpPr/>
        <p:nvPr/>
      </p:nvGrpSpPr>
      <p:grpSpPr>
        <a:xfrm xmlns:a="http://schemas.openxmlformats.org/drawingml/2006/main"/>
      </p:grpSpPr>
      <p:sp>
        <p:nvSpPr>
          <p:cNvPr id="57" name="">
            <a:extLst xmlns:a="http://schemas.openxmlformats.org/drawingml/2006/main">
              <a:ext uri="{FF2B5EF4-FFF2-40B4-BE49-F238E27FC236}">
                <a16:creationId xmlns:a16="http://schemas.microsoft.com/office/drawing/2014/main" id="{D206160B-24CB-424F-A91D-9493CA28FF65}"/>
              </a:ext>
            </a:extLst>
          </p:cNvPr>
          <p:cNvSpPr>
            <a:spLocks xmlns:a="http://schemas.openxmlformats.org/drawingml/2006/main" noGrp="1"/>
          </p:cNvSpPr>
          <p:nvPr/>
        </p:nvSpPr>
        <p:spPr>
          <a:xfrm xmlns:a="http://schemas.openxmlformats.org/drawingml/2006/main">
            <a:off x="514350" y="247650"/>
            <a:ext cx="11144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l">
              <a:defRPr sz="975" b="1" i="0">
                <a:solidFill>
                  <a:srgbClr val="F47A22"/>
                </a:solidFill>
                <a:latin typeface="Calibri"/>
                <a:ea typeface="Calibri"/>
                <a:cs typeface="Calibri"/>
              </a:defRPr>
            </a:pPr>
            <a:r>
              <a:rPr sz="975" b="1" i="0">
                <a:solidFill>
                  <a:srgbClr val="F47A22"/>
                </a:solidFill>
                <a:latin typeface="Calibri"/>
                <a:ea typeface="Calibri"/>
                <a:cs typeface="Calibri"/>
              </a:rPr>
              <a:t>EVIDENCE PATTERNS</a:t>
            </a:r>
          </a:p>
        </p:txBody>
      </p:sp>
      <p:sp>
        <p:nvSpPr>
          <p:cNvPr id="2" name="">
            <a:extLst xmlns:a="http://schemas.openxmlformats.org/drawingml/2006/main">
              <a:ext uri="{FF2B5EF4-FFF2-40B4-BE49-F238E27FC236}">
                <a16:creationId xmlns:a16="http://schemas.microsoft.com/office/drawing/2014/main" id="{B762456F-F6C3-46BA-9040-269F5DF2F001}"/>
              </a:ext>
            </a:extLst>
          </p:cNvPr>
          <p:cNvSpPr>
            <a:spLocks xmlns:a="http://schemas.openxmlformats.org/drawingml/2006/main" noGrp="1"/>
          </p:cNvSpPr>
          <p:nvPr/>
        </p:nvSpPr>
        <p:spPr>
          <a:xfrm xmlns:a="http://schemas.openxmlformats.org/drawingml/2006/main">
            <a:off x="514350" y="571500"/>
            <a:ext cx="1114425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l">
              <a:defRPr sz="2550" b="1" i="0">
                <a:solidFill>
                  <a:srgbClr val="1B2B45"/>
                </a:solidFill>
                <a:latin typeface="Calibri"/>
                <a:ea typeface="Calibri"/>
                <a:cs typeface="Calibri"/>
              </a:defRPr>
            </a:pPr>
            <a:r>
              <a:rPr sz="2550" b="1" i="0">
                <a:solidFill>
                  <a:srgbClr val="1B2B45"/>
                </a:solidFill>
                <a:latin typeface="Calibri"/>
                <a:ea typeface="Calibri"/>
                <a:cs typeface="Calibri"/>
              </a:rPr>
              <a:t>Where coordination breaks — and how people recover</a:t>
            </a:r>
          </a:p>
        </p:txBody>
      </p:sp>
      <p:sp>
        <p:nvSpPr>
          <p:cNvPr id="3" name="">
            <a:extLst xmlns:a="http://schemas.openxmlformats.org/drawingml/2006/main">
              <a:ext uri="{FF2B5EF4-FFF2-40B4-BE49-F238E27FC236}">
                <a16:creationId xmlns:a16="http://schemas.microsoft.com/office/drawing/2014/main" id="{FAFDF506-6036-4B16-9DE0-7B68D9271A94}"/>
              </a:ext>
            </a:extLst>
          </p:cNvPr>
          <p:cNvSpPr>
            <a:spLocks xmlns:a="http://schemas.openxmlformats.org/drawingml/2006/main" noGrp="1"/>
          </p:cNvSpPr>
          <p:nvPr/>
        </p:nvSpPr>
        <p:spPr>
          <a:xfrm xmlns:a="http://schemas.openxmlformats.org/drawingml/2006/main">
            <a:off x="514350" y="1581150"/>
            <a:ext cx="49530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95238"/>
          </a:bodyPr>
          <a:lstStyle xmlns:a="http://schemas.openxmlformats.org/drawingml/2006/main"/>
          <a:p xmlns:a="http://schemas.openxmlformats.org/drawingml/2006/main">
            <a:pPr algn="l">
              <a:defRPr sz="1575" b="1" i="0">
                <a:solidFill>
                  <a:srgbClr val="1B2B45"/>
                </a:solidFill>
                <a:latin typeface="Calibri"/>
                <a:ea typeface="Calibri"/>
                <a:cs typeface="Calibri"/>
              </a:defRPr>
            </a:pPr>
            <a:r>
              <a:rPr sz="1575" b="1" i="0">
                <a:solidFill>
                  <a:srgbClr val="1B2B45"/>
                </a:solidFill>
                <a:latin typeface="Calibri"/>
                <a:ea typeface="Calibri"/>
                <a:cs typeface="Calibri"/>
              </a:rPr>
              <a:t>Problem locations among 28 issue cases</a:t>
            </a:r>
          </a:p>
        </p:txBody>
      </p:sp>
      <p:sp>
        <p:nvSpPr>
          <p:cNvPr id="4" name="">
            <a:extLst xmlns:a="http://schemas.openxmlformats.org/drawingml/2006/main">
              <a:ext uri="{FF2B5EF4-FFF2-40B4-BE49-F238E27FC236}">
                <a16:creationId xmlns:a16="http://schemas.microsoft.com/office/drawing/2014/main" id="{77CE9A42-7AD9-49EB-B966-51FCAF24DEA1}"/>
              </a:ext>
            </a:extLst>
          </p:cNvPr>
          <p:cNvSpPr>
            <a:spLocks xmlns:a="http://schemas.openxmlformats.org/drawingml/2006/main" noGrp="1"/>
          </p:cNvSpPr>
          <p:nvPr/>
        </p:nvSpPr>
        <p:spPr>
          <a:xfrm xmlns:a="http://schemas.openxmlformats.org/drawingml/2006/main">
            <a:off x="514350" y="2000250"/>
            <a:ext cx="2000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93750"/>
          </a:bodyPr>
          <a:lstStyle xmlns:a="http://schemas.openxmlformats.org/drawingml/2006/main"/>
          <a:p xmlns:a="http://schemas.openxmlformats.org/drawingml/2006/main">
            <a:pPr algn="l">
              <a:defRPr sz="1200" b="0" i="0">
                <a:solidFill>
                  <a:srgbClr val="233248"/>
                </a:solidFill>
                <a:latin typeface="Calibri"/>
                <a:ea typeface="Calibri"/>
                <a:cs typeface="Calibri"/>
              </a:defRPr>
            </a:pPr>
            <a:r>
              <a:rPr sz="1200" b="0" i="0">
                <a:solidFill>
                  <a:srgbClr val="233248"/>
                </a:solidFill>
                <a:latin typeface="Calibri"/>
                <a:ea typeface="Calibri"/>
                <a:cs typeface="Calibri"/>
              </a:rPr>
              <a:t>Airport</a:t>
            </a:r>
          </a:p>
        </p:txBody>
      </p:sp>
      <p:sp>
        <p:nvSpPr>
          <p:cNvPr id="5" name="">
            <a:extLst xmlns:a="http://schemas.openxmlformats.org/drawingml/2006/main">
              <a:ext uri="{FF2B5EF4-FFF2-40B4-BE49-F238E27FC236}">
                <a16:creationId xmlns:a16="http://schemas.microsoft.com/office/drawing/2014/main" id="{309094B2-74C9-43BB-835B-E8198D4A7B5F}"/>
              </a:ext>
            </a:extLst>
          </p:cNvPr>
          <p:cNvSpPr>
            <a:spLocks xmlns:a="http://schemas.openxmlformats.org/drawingml/2006/main" noGrp="1"/>
          </p:cNvSpPr>
          <p:nvPr/>
        </p:nvSpPr>
        <p:spPr>
          <a:xfrm xmlns:a="http://schemas.openxmlformats.org/drawingml/2006/main">
            <a:off x="2590800" y="2038350"/>
            <a:ext cx="2495550" cy="161925"/>
          </a:xfrm>
          <a:prstGeom xmlns:a="http://schemas.openxmlformats.org/drawingml/2006/main" prst="roundRect">
            <a:avLst>
              <a:gd name="adj" fmla="val 23529"/>
            </a:avLst>
          </a:prstGeom>
          <a:solidFill xmlns:a="http://schemas.openxmlformats.org/drawingml/2006/main">
            <a:srgbClr val="E8ECF1"/>
          </a:solidFill>
          <a:ln xmlns:a="http://schemas.openxmlformats.org/drawingml/2006/main" w="0">
            <a:noFill/>
            <a:prstDash val="solid"/>
          </a:ln>
        </p:spPr>
      </p:sp>
      <p:sp>
        <p:nvSpPr>
          <p:cNvPr id="6" name="">
            <a:extLst xmlns:a="http://schemas.openxmlformats.org/drawingml/2006/main">
              <a:ext uri="{FF2B5EF4-FFF2-40B4-BE49-F238E27FC236}">
                <a16:creationId xmlns:a16="http://schemas.microsoft.com/office/drawing/2014/main" id="{DA29F31E-2CE2-43A2-9113-8EF0958A256C}"/>
              </a:ext>
            </a:extLst>
          </p:cNvPr>
          <p:cNvSpPr>
            <a:spLocks xmlns:a="http://schemas.openxmlformats.org/drawingml/2006/main" noGrp="1"/>
          </p:cNvSpPr>
          <p:nvPr/>
        </p:nvSpPr>
        <p:spPr>
          <a:xfrm xmlns:a="http://schemas.openxmlformats.org/drawingml/2006/main">
            <a:off x="2590800" y="2038350"/>
            <a:ext cx="2495550" cy="161925"/>
          </a:xfrm>
          <a:prstGeom xmlns:a="http://schemas.openxmlformats.org/drawingml/2006/main" prst="roundRect">
            <a:avLst>
              <a:gd name="adj" fmla="val 23529"/>
            </a:avLst>
          </a:prstGeom>
          <a:solidFill xmlns:a="http://schemas.openxmlformats.org/drawingml/2006/main">
            <a:srgbClr val="1BB5C8"/>
          </a:solidFill>
          <a:ln xmlns:a="http://schemas.openxmlformats.org/drawingml/2006/main" w="0">
            <a:noFill/>
            <a:prstDash val="solid"/>
          </a:ln>
        </p:spPr>
      </p:sp>
      <p:sp>
        <p:nvSpPr>
          <p:cNvPr id="7" name="">
            <a:extLst xmlns:a="http://schemas.openxmlformats.org/drawingml/2006/main">
              <a:ext uri="{FF2B5EF4-FFF2-40B4-BE49-F238E27FC236}">
                <a16:creationId xmlns:a16="http://schemas.microsoft.com/office/drawing/2014/main" id="{15149CDE-37AB-4617-9637-3EA455373DE8}"/>
              </a:ext>
            </a:extLst>
          </p:cNvPr>
          <p:cNvSpPr>
            <a:spLocks xmlns:a="http://schemas.openxmlformats.org/drawingml/2006/main" noGrp="1"/>
          </p:cNvSpPr>
          <p:nvPr/>
        </p:nvSpPr>
        <p:spPr>
          <a:xfrm xmlns:a="http://schemas.openxmlformats.org/drawingml/2006/main">
            <a:off x="5143500" y="1981200"/>
            <a:ext cx="3238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93750"/>
          </a:bodyPr>
          <a:lstStyle xmlns:a="http://schemas.openxmlformats.org/drawingml/2006/main"/>
          <a:p xmlns:a="http://schemas.openxmlformats.org/drawingml/2006/main">
            <a:pPr algn="r">
              <a:defRPr sz="1200" b="1" i="0">
                <a:solidFill>
                  <a:srgbClr val="233248"/>
                </a:solidFill>
                <a:latin typeface="Calibri"/>
                <a:ea typeface="Calibri"/>
                <a:cs typeface="Calibri"/>
              </a:defRPr>
            </a:pPr>
            <a:r>
              <a:rPr sz="1200" b="1" i="0">
                <a:solidFill>
                  <a:srgbClr val="233248"/>
                </a:solidFill>
                <a:latin typeface="Calibri"/>
                <a:ea typeface="Calibri"/>
                <a:cs typeface="Calibri"/>
              </a:rPr>
              <a:t>10</a:t>
            </a:r>
          </a:p>
        </p:txBody>
      </p:sp>
      <p:sp>
        <p:nvSpPr>
          <p:cNvPr id="8" name="">
            <a:extLst xmlns:a="http://schemas.openxmlformats.org/drawingml/2006/main">
              <a:ext uri="{FF2B5EF4-FFF2-40B4-BE49-F238E27FC236}">
                <a16:creationId xmlns:a16="http://schemas.microsoft.com/office/drawing/2014/main" id="{13323B81-60D7-4A47-A708-CCD8C4A55A4B}"/>
              </a:ext>
            </a:extLst>
          </p:cNvPr>
          <p:cNvSpPr>
            <a:spLocks xmlns:a="http://schemas.openxmlformats.org/drawingml/2006/main" noGrp="1"/>
          </p:cNvSpPr>
          <p:nvPr/>
        </p:nvSpPr>
        <p:spPr>
          <a:xfrm xmlns:a="http://schemas.openxmlformats.org/drawingml/2006/main">
            <a:off x="514350" y="2447925"/>
            <a:ext cx="2000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93750"/>
          </a:bodyPr>
          <a:lstStyle xmlns:a="http://schemas.openxmlformats.org/drawingml/2006/main"/>
          <a:p xmlns:a="http://schemas.openxmlformats.org/drawingml/2006/main">
            <a:pPr algn="l">
              <a:defRPr sz="1200" b="0" i="0">
                <a:solidFill>
                  <a:srgbClr val="233248"/>
                </a:solidFill>
                <a:latin typeface="Calibri"/>
                <a:ea typeface="Calibri"/>
                <a:cs typeface="Calibri"/>
              </a:defRPr>
            </a:pPr>
            <a:r>
              <a:rPr sz="1200" b="0" i="0">
                <a:solidFill>
                  <a:srgbClr val="233248"/>
                </a:solidFill>
                <a:latin typeface="Calibri"/>
                <a:ea typeface="Calibri"/>
                <a:cs typeface="Calibri"/>
              </a:rPr>
              <a:t>Residential / gated</a:t>
            </a:r>
          </a:p>
        </p:txBody>
      </p:sp>
      <p:sp>
        <p:nvSpPr>
          <p:cNvPr id="9" name="">
            <a:extLst xmlns:a="http://schemas.openxmlformats.org/drawingml/2006/main">
              <a:ext uri="{FF2B5EF4-FFF2-40B4-BE49-F238E27FC236}">
                <a16:creationId xmlns:a16="http://schemas.microsoft.com/office/drawing/2014/main" id="{458A8BF5-0053-4A49-B44C-5E2F50259688}"/>
              </a:ext>
            </a:extLst>
          </p:cNvPr>
          <p:cNvSpPr>
            <a:spLocks xmlns:a="http://schemas.openxmlformats.org/drawingml/2006/main" noGrp="1"/>
          </p:cNvSpPr>
          <p:nvPr/>
        </p:nvSpPr>
        <p:spPr>
          <a:xfrm xmlns:a="http://schemas.openxmlformats.org/drawingml/2006/main">
            <a:off x="2590800" y="2486025"/>
            <a:ext cx="2495550" cy="161925"/>
          </a:xfrm>
          <a:prstGeom xmlns:a="http://schemas.openxmlformats.org/drawingml/2006/main" prst="roundRect">
            <a:avLst>
              <a:gd name="adj" fmla="val 23529"/>
            </a:avLst>
          </a:prstGeom>
          <a:solidFill xmlns:a="http://schemas.openxmlformats.org/drawingml/2006/main">
            <a:srgbClr val="E8ECF1"/>
          </a:solidFill>
          <a:ln xmlns:a="http://schemas.openxmlformats.org/drawingml/2006/main" w="0">
            <a:noFill/>
            <a:prstDash val="solid"/>
          </a:ln>
        </p:spPr>
      </p:sp>
      <p:sp>
        <p:nvSpPr>
          <p:cNvPr id="10" name="">
            <a:extLst xmlns:a="http://schemas.openxmlformats.org/drawingml/2006/main">
              <a:ext uri="{FF2B5EF4-FFF2-40B4-BE49-F238E27FC236}">
                <a16:creationId xmlns:a16="http://schemas.microsoft.com/office/drawing/2014/main" id="{BEE8F219-0633-491A-A24E-8EB0D21DA765}"/>
              </a:ext>
            </a:extLst>
          </p:cNvPr>
          <p:cNvSpPr>
            <a:spLocks xmlns:a="http://schemas.openxmlformats.org/drawingml/2006/main" noGrp="1"/>
          </p:cNvSpPr>
          <p:nvPr/>
        </p:nvSpPr>
        <p:spPr>
          <a:xfrm xmlns:a="http://schemas.openxmlformats.org/drawingml/2006/main">
            <a:off x="2590800" y="2486025"/>
            <a:ext cx="1746885" cy="161925"/>
          </a:xfrm>
          <a:prstGeom xmlns:a="http://schemas.openxmlformats.org/drawingml/2006/main" prst="roundRect">
            <a:avLst>
              <a:gd name="adj" fmla="val 23529"/>
            </a:avLst>
          </a:prstGeom>
          <a:solidFill xmlns:a="http://schemas.openxmlformats.org/drawingml/2006/main">
            <a:srgbClr val="1BB5C8"/>
          </a:solidFill>
          <a:ln xmlns:a="http://schemas.openxmlformats.org/drawingml/2006/main" w="0">
            <a:noFill/>
            <a:prstDash val="solid"/>
          </a:ln>
        </p:spPr>
      </p:sp>
      <p:sp>
        <p:nvSpPr>
          <p:cNvPr id="11" name="">
            <a:extLst xmlns:a="http://schemas.openxmlformats.org/drawingml/2006/main">
              <a:ext uri="{FF2B5EF4-FFF2-40B4-BE49-F238E27FC236}">
                <a16:creationId xmlns:a16="http://schemas.microsoft.com/office/drawing/2014/main" id="{0600B4C0-C537-4F14-A2EC-FB112CEC1CB9}"/>
              </a:ext>
            </a:extLst>
          </p:cNvPr>
          <p:cNvSpPr>
            <a:spLocks xmlns:a="http://schemas.openxmlformats.org/drawingml/2006/main" noGrp="1"/>
          </p:cNvSpPr>
          <p:nvPr/>
        </p:nvSpPr>
        <p:spPr>
          <a:xfrm xmlns:a="http://schemas.openxmlformats.org/drawingml/2006/main">
            <a:off x="5143500" y="2428875"/>
            <a:ext cx="3238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93750"/>
          </a:bodyPr>
          <a:lstStyle xmlns:a="http://schemas.openxmlformats.org/drawingml/2006/main"/>
          <a:p xmlns:a="http://schemas.openxmlformats.org/drawingml/2006/main">
            <a:pPr algn="r">
              <a:defRPr sz="1200" b="1" i="0">
                <a:solidFill>
                  <a:srgbClr val="233248"/>
                </a:solidFill>
                <a:latin typeface="Calibri"/>
                <a:ea typeface="Calibri"/>
                <a:cs typeface="Calibri"/>
              </a:defRPr>
            </a:pPr>
            <a:r>
              <a:rPr sz="1200" b="1" i="0">
                <a:solidFill>
                  <a:srgbClr val="233248"/>
                </a:solidFill>
                <a:latin typeface="Calibri"/>
                <a:ea typeface="Calibri"/>
                <a:cs typeface="Calibri"/>
              </a:rPr>
              <a:t>7</a:t>
            </a:r>
          </a:p>
        </p:txBody>
      </p:sp>
      <p:sp>
        <p:nvSpPr>
          <p:cNvPr id="12" name="">
            <a:extLst xmlns:a="http://schemas.openxmlformats.org/drawingml/2006/main">
              <a:ext uri="{FF2B5EF4-FFF2-40B4-BE49-F238E27FC236}">
                <a16:creationId xmlns:a16="http://schemas.microsoft.com/office/drawing/2014/main" id="{5A031109-94D1-47F3-AF0D-6CD3F7EB9150}"/>
              </a:ext>
            </a:extLst>
          </p:cNvPr>
          <p:cNvSpPr>
            <a:spLocks xmlns:a="http://schemas.openxmlformats.org/drawingml/2006/main" noGrp="1"/>
          </p:cNvSpPr>
          <p:nvPr/>
        </p:nvSpPr>
        <p:spPr>
          <a:xfrm xmlns:a="http://schemas.openxmlformats.org/drawingml/2006/main">
            <a:off x="514350" y="2895600"/>
            <a:ext cx="2000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93750"/>
          </a:bodyPr>
          <a:lstStyle xmlns:a="http://schemas.openxmlformats.org/drawingml/2006/main"/>
          <a:p xmlns:a="http://schemas.openxmlformats.org/drawingml/2006/main">
            <a:pPr algn="l">
              <a:defRPr sz="1200" b="0" i="0">
                <a:solidFill>
                  <a:srgbClr val="233248"/>
                </a:solidFill>
                <a:latin typeface="Calibri"/>
                <a:ea typeface="Calibri"/>
                <a:cs typeface="Calibri"/>
              </a:defRPr>
            </a:pPr>
            <a:r>
              <a:rPr sz="1200" b="0" i="0">
                <a:solidFill>
                  <a:srgbClr val="233248"/>
                </a:solidFill>
                <a:latin typeface="Calibri"/>
                <a:ea typeface="Calibri"/>
                <a:cs typeface="Calibri"/>
              </a:rPr>
              <a:t>Shopping mall</a:t>
            </a:r>
          </a:p>
        </p:txBody>
      </p:sp>
      <p:sp>
        <p:nvSpPr>
          <p:cNvPr id="13" name="">
            <a:extLst xmlns:a="http://schemas.openxmlformats.org/drawingml/2006/main">
              <a:ext uri="{FF2B5EF4-FFF2-40B4-BE49-F238E27FC236}">
                <a16:creationId xmlns:a16="http://schemas.microsoft.com/office/drawing/2014/main" id="{8A0F48B8-4E75-4EE5-8B05-91AC7876DF2D}"/>
              </a:ext>
            </a:extLst>
          </p:cNvPr>
          <p:cNvSpPr>
            <a:spLocks xmlns:a="http://schemas.openxmlformats.org/drawingml/2006/main" noGrp="1"/>
          </p:cNvSpPr>
          <p:nvPr/>
        </p:nvSpPr>
        <p:spPr>
          <a:xfrm xmlns:a="http://schemas.openxmlformats.org/drawingml/2006/main">
            <a:off x="2590800" y="2933700"/>
            <a:ext cx="2495550" cy="161925"/>
          </a:xfrm>
          <a:prstGeom xmlns:a="http://schemas.openxmlformats.org/drawingml/2006/main" prst="roundRect">
            <a:avLst>
              <a:gd name="adj" fmla="val 23529"/>
            </a:avLst>
          </a:prstGeom>
          <a:solidFill xmlns:a="http://schemas.openxmlformats.org/drawingml/2006/main">
            <a:srgbClr val="E8ECF1"/>
          </a:solidFill>
          <a:ln xmlns:a="http://schemas.openxmlformats.org/drawingml/2006/main" w="0">
            <a:noFill/>
            <a:prstDash val="solid"/>
          </a:ln>
        </p:spPr>
      </p:sp>
      <p:sp>
        <p:nvSpPr>
          <p:cNvPr id="14" name="">
            <a:extLst xmlns:a="http://schemas.openxmlformats.org/drawingml/2006/main">
              <a:ext uri="{FF2B5EF4-FFF2-40B4-BE49-F238E27FC236}">
                <a16:creationId xmlns:a16="http://schemas.microsoft.com/office/drawing/2014/main" id="{9F4C5AFC-AB46-415C-8849-7EDDE8985EDA}"/>
              </a:ext>
            </a:extLst>
          </p:cNvPr>
          <p:cNvSpPr>
            <a:spLocks xmlns:a="http://schemas.openxmlformats.org/drawingml/2006/main" noGrp="1"/>
          </p:cNvSpPr>
          <p:nvPr/>
        </p:nvSpPr>
        <p:spPr>
          <a:xfrm xmlns:a="http://schemas.openxmlformats.org/drawingml/2006/main">
            <a:off x="2590800" y="2933700"/>
            <a:ext cx="1497330" cy="161925"/>
          </a:xfrm>
          <a:prstGeom xmlns:a="http://schemas.openxmlformats.org/drawingml/2006/main" prst="roundRect">
            <a:avLst>
              <a:gd name="adj" fmla="val 23529"/>
            </a:avLst>
          </a:prstGeom>
          <a:solidFill xmlns:a="http://schemas.openxmlformats.org/drawingml/2006/main">
            <a:srgbClr val="1BB5C8"/>
          </a:solidFill>
          <a:ln xmlns:a="http://schemas.openxmlformats.org/drawingml/2006/main" w="0">
            <a:noFill/>
            <a:prstDash val="solid"/>
          </a:ln>
        </p:spPr>
      </p:sp>
      <p:sp>
        <p:nvSpPr>
          <p:cNvPr id="15" name="">
            <a:extLst xmlns:a="http://schemas.openxmlformats.org/drawingml/2006/main">
              <a:ext uri="{FF2B5EF4-FFF2-40B4-BE49-F238E27FC236}">
                <a16:creationId xmlns:a16="http://schemas.microsoft.com/office/drawing/2014/main" id="{9C132EB7-0E2F-4C47-9186-F6650D89B785}"/>
              </a:ext>
            </a:extLst>
          </p:cNvPr>
          <p:cNvSpPr>
            <a:spLocks xmlns:a="http://schemas.openxmlformats.org/drawingml/2006/main" noGrp="1"/>
          </p:cNvSpPr>
          <p:nvPr/>
        </p:nvSpPr>
        <p:spPr>
          <a:xfrm xmlns:a="http://schemas.openxmlformats.org/drawingml/2006/main">
            <a:off x="5143500" y="2876550"/>
            <a:ext cx="3238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93750"/>
          </a:bodyPr>
          <a:lstStyle xmlns:a="http://schemas.openxmlformats.org/drawingml/2006/main"/>
          <a:p xmlns:a="http://schemas.openxmlformats.org/drawingml/2006/main">
            <a:pPr algn="r">
              <a:defRPr sz="1200" b="1" i="0">
                <a:solidFill>
                  <a:srgbClr val="233248"/>
                </a:solidFill>
                <a:latin typeface="Calibri"/>
                <a:ea typeface="Calibri"/>
                <a:cs typeface="Calibri"/>
              </a:defRPr>
            </a:pPr>
            <a:r>
              <a:rPr sz="1200" b="1" i="0">
                <a:solidFill>
                  <a:srgbClr val="233248"/>
                </a:solidFill>
                <a:latin typeface="Calibri"/>
                <a:ea typeface="Calibri"/>
                <a:cs typeface="Calibri"/>
              </a:rPr>
              <a:t>6</a:t>
            </a:r>
          </a:p>
        </p:txBody>
      </p:sp>
      <p:sp>
        <p:nvSpPr>
          <p:cNvPr id="16" name="">
            <a:extLst xmlns:a="http://schemas.openxmlformats.org/drawingml/2006/main">
              <a:ext uri="{FF2B5EF4-FFF2-40B4-BE49-F238E27FC236}">
                <a16:creationId xmlns:a16="http://schemas.microsoft.com/office/drawing/2014/main" id="{BE135975-3A8D-447E-A996-6A3B4B377485}"/>
              </a:ext>
            </a:extLst>
          </p:cNvPr>
          <p:cNvSpPr>
            <a:spLocks xmlns:a="http://schemas.openxmlformats.org/drawingml/2006/main" noGrp="1"/>
          </p:cNvSpPr>
          <p:nvPr/>
        </p:nvSpPr>
        <p:spPr>
          <a:xfrm xmlns:a="http://schemas.openxmlformats.org/drawingml/2006/main">
            <a:off x="514350" y="3343275"/>
            <a:ext cx="2000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93750"/>
          </a:bodyPr>
          <a:lstStyle xmlns:a="http://schemas.openxmlformats.org/drawingml/2006/main"/>
          <a:p xmlns:a="http://schemas.openxmlformats.org/drawingml/2006/main">
            <a:pPr algn="l">
              <a:defRPr sz="1200" b="0" i="0">
                <a:solidFill>
                  <a:srgbClr val="233248"/>
                </a:solidFill>
                <a:latin typeface="Calibri"/>
                <a:ea typeface="Calibri"/>
                <a:cs typeface="Calibri"/>
              </a:defRPr>
            </a:pPr>
            <a:r>
              <a:rPr sz="1200" b="0" i="0">
                <a:solidFill>
                  <a:srgbClr val="233248"/>
                </a:solidFill>
                <a:latin typeface="Calibri"/>
                <a:ea typeface="Calibri"/>
                <a:cs typeface="Calibri"/>
              </a:rPr>
              <a:t>Office / tech campus</a:t>
            </a:r>
          </a:p>
        </p:txBody>
      </p:sp>
      <p:sp>
        <p:nvSpPr>
          <p:cNvPr id="17" name="">
            <a:extLst xmlns:a="http://schemas.openxmlformats.org/drawingml/2006/main">
              <a:ext uri="{FF2B5EF4-FFF2-40B4-BE49-F238E27FC236}">
                <a16:creationId xmlns:a16="http://schemas.microsoft.com/office/drawing/2014/main" id="{4A7B61BF-79E6-478B-B8B3-B09D0B580D83}"/>
              </a:ext>
            </a:extLst>
          </p:cNvPr>
          <p:cNvSpPr>
            <a:spLocks xmlns:a="http://schemas.openxmlformats.org/drawingml/2006/main" noGrp="1"/>
          </p:cNvSpPr>
          <p:nvPr/>
        </p:nvSpPr>
        <p:spPr>
          <a:xfrm xmlns:a="http://schemas.openxmlformats.org/drawingml/2006/main">
            <a:off x="2590800" y="3381375"/>
            <a:ext cx="2495550" cy="161925"/>
          </a:xfrm>
          <a:prstGeom xmlns:a="http://schemas.openxmlformats.org/drawingml/2006/main" prst="roundRect">
            <a:avLst>
              <a:gd name="adj" fmla="val 23529"/>
            </a:avLst>
          </a:prstGeom>
          <a:solidFill xmlns:a="http://schemas.openxmlformats.org/drawingml/2006/main">
            <a:srgbClr val="E8ECF1"/>
          </a:solidFill>
          <a:ln xmlns:a="http://schemas.openxmlformats.org/drawingml/2006/main" w="0">
            <a:noFill/>
            <a:prstDash val="solid"/>
          </a:ln>
        </p:spPr>
      </p:sp>
      <p:sp>
        <p:nvSpPr>
          <p:cNvPr id="18" name="">
            <a:extLst xmlns:a="http://schemas.openxmlformats.org/drawingml/2006/main">
              <a:ext uri="{FF2B5EF4-FFF2-40B4-BE49-F238E27FC236}">
                <a16:creationId xmlns:a16="http://schemas.microsoft.com/office/drawing/2014/main" id="{21FDF881-3609-4408-8D97-7AA15581DE85}"/>
              </a:ext>
            </a:extLst>
          </p:cNvPr>
          <p:cNvSpPr>
            <a:spLocks xmlns:a="http://schemas.openxmlformats.org/drawingml/2006/main" noGrp="1"/>
          </p:cNvSpPr>
          <p:nvPr/>
        </p:nvSpPr>
        <p:spPr>
          <a:xfrm xmlns:a="http://schemas.openxmlformats.org/drawingml/2006/main">
            <a:off x="2590800" y="3381375"/>
            <a:ext cx="1497330" cy="161925"/>
          </a:xfrm>
          <a:prstGeom xmlns:a="http://schemas.openxmlformats.org/drawingml/2006/main" prst="roundRect">
            <a:avLst>
              <a:gd name="adj" fmla="val 23529"/>
            </a:avLst>
          </a:prstGeom>
          <a:solidFill xmlns:a="http://schemas.openxmlformats.org/drawingml/2006/main">
            <a:srgbClr val="1BB5C8"/>
          </a:solidFill>
          <a:ln xmlns:a="http://schemas.openxmlformats.org/drawingml/2006/main" w="0">
            <a:noFill/>
            <a:prstDash val="solid"/>
          </a:ln>
        </p:spPr>
      </p:sp>
      <p:sp>
        <p:nvSpPr>
          <p:cNvPr id="19" name="">
            <a:extLst xmlns:a="http://schemas.openxmlformats.org/drawingml/2006/main">
              <a:ext uri="{FF2B5EF4-FFF2-40B4-BE49-F238E27FC236}">
                <a16:creationId xmlns:a16="http://schemas.microsoft.com/office/drawing/2014/main" id="{E5F17D34-D5BE-473A-B431-78CB25EE13D7}"/>
              </a:ext>
            </a:extLst>
          </p:cNvPr>
          <p:cNvSpPr>
            <a:spLocks xmlns:a="http://schemas.openxmlformats.org/drawingml/2006/main" noGrp="1"/>
          </p:cNvSpPr>
          <p:nvPr/>
        </p:nvSpPr>
        <p:spPr>
          <a:xfrm xmlns:a="http://schemas.openxmlformats.org/drawingml/2006/main">
            <a:off x="5143500" y="3324225"/>
            <a:ext cx="3238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93750"/>
          </a:bodyPr>
          <a:lstStyle xmlns:a="http://schemas.openxmlformats.org/drawingml/2006/main"/>
          <a:p xmlns:a="http://schemas.openxmlformats.org/drawingml/2006/main">
            <a:pPr algn="r">
              <a:defRPr sz="1200" b="1" i="0">
                <a:solidFill>
                  <a:srgbClr val="233248"/>
                </a:solidFill>
                <a:latin typeface="Calibri"/>
                <a:ea typeface="Calibri"/>
                <a:cs typeface="Calibri"/>
              </a:defRPr>
            </a:pPr>
            <a:r>
              <a:rPr sz="1200" b="1" i="0">
                <a:solidFill>
                  <a:srgbClr val="233248"/>
                </a:solidFill>
                <a:latin typeface="Calibri"/>
                <a:ea typeface="Calibri"/>
                <a:cs typeface="Calibri"/>
              </a:rPr>
              <a:t>6</a:t>
            </a:r>
          </a:p>
        </p:txBody>
      </p:sp>
      <p:sp>
        <p:nvSpPr>
          <p:cNvPr id="20" name="">
            <a:extLst xmlns:a="http://schemas.openxmlformats.org/drawingml/2006/main">
              <a:ext uri="{FF2B5EF4-FFF2-40B4-BE49-F238E27FC236}">
                <a16:creationId xmlns:a16="http://schemas.microsoft.com/office/drawing/2014/main" id="{BA2926D7-F1AC-41C0-A4C1-60057A7F1745}"/>
              </a:ext>
            </a:extLst>
          </p:cNvPr>
          <p:cNvSpPr>
            <a:spLocks xmlns:a="http://schemas.openxmlformats.org/drawingml/2006/main" noGrp="1"/>
          </p:cNvSpPr>
          <p:nvPr/>
        </p:nvSpPr>
        <p:spPr>
          <a:xfrm xmlns:a="http://schemas.openxmlformats.org/drawingml/2006/main">
            <a:off x="514350" y="3790950"/>
            <a:ext cx="2000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93750"/>
          </a:bodyPr>
          <a:lstStyle xmlns:a="http://schemas.openxmlformats.org/drawingml/2006/main"/>
          <a:p xmlns:a="http://schemas.openxmlformats.org/drawingml/2006/main">
            <a:pPr algn="l">
              <a:defRPr sz="1200" b="0" i="0">
                <a:solidFill>
                  <a:srgbClr val="233248"/>
                </a:solidFill>
                <a:latin typeface="Calibri"/>
                <a:ea typeface="Calibri"/>
                <a:cs typeface="Calibri"/>
              </a:defRPr>
            </a:pPr>
            <a:r>
              <a:rPr sz="1200" b="0" i="0">
                <a:solidFill>
                  <a:srgbClr val="233248"/>
                </a:solidFill>
                <a:latin typeface="Calibri"/>
                <a:ea typeface="Calibri"/>
                <a:cs typeface="Calibri"/>
              </a:rPr>
              <a:t>Metro / railway</a:t>
            </a:r>
          </a:p>
        </p:txBody>
      </p:sp>
      <p:sp>
        <p:nvSpPr>
          <p:cNvPr id="21" name="">
            <a:extLst xmlns:a="http://schemas.openxmlformats.org/drawingml/2006/main">
              <a:ext uri="{FF2B5EF4-FFF2-40B4-BE49-F238E27FC236}">
                <a16:creationId xmlns:a16="http://schemas.microsoft.com/office/drawing/2014/main" id="{933BB85E-B7D5-4089-BAE9-E5BCBD4CAA31}"/>
              </a:ext>
            </a:extLst>
          </p:cNvPr>
          <p:cNvSpPr>
            <a:spLocks xmlns:a="http://schemas.openxmlformats.org/drawingml/2006/main" noGrp="1"/>
          </p:cNvSpPr>
          <p:nvPr/>
        </p:nvSpPr>
        <p:spPr>
          <a:xfrm xmlns:a="http://schemas.openxmlformats.org/drawingml/2006/main">
            <a:off x="2590800" y="3829050"/>
            <a:ext cx="2495550" cy="161925"/>
          </a:xfrm>
          <a:prstGeom xmlns:a="http://schemas.openxmlformats.org/drawingml/2006/main" prst="roundRect">
            <a:avLst>
              <a:gd name="adj" fmla="val 23529"/>
            </a:avLst>
          </a:prstGeom>
          <a:solidFill xmlns:a="http://schemas.openxmlformats.org/drawingml/2006/main">
            <a:srgbClr val="E8ECF1"/>
          </a:solidFill>
          <a:ln xmlns:a="http://schemas.openxmlformats.org/drawingml/2006/main" w="0">
            <a:noFill/>
            <a:prstDash val="solid"/>
          </a:ln>
        </p:spPr>
      </p:sp>
      <p:sp>
        <p:nvSpPr>
          <p:cNvPr id="22" name="">
            <a:extLst xmlns:a="http://schemas.openxmlformats.org/drawingml/2006/main">
              <a:ext uri="{FF2B5EF4-FFF2-40B4-BE49-F238E27FC236}">
                <a16:creationId xmlns:a16="http://schemas.microsoft.com/office/drawing/2014/main" id="{7D6AD5C0-3FBC-4223-85A6-8825CCFD1FF9}"/>
              </a:ext>
            </a:extLst>
          </p:cNvPr>
          <p:cNvSpPr>
            <a:spLocks xmlns:a="http://schemas.openxmlformats.org/drawingml/2006/main" noGrp="1"/>
          </p:cNvSpPr>
          <p:nvPr/>
        </p:nvSpPr>
        <p:spPr>
          <a:xfrm xmlns:a="http://schemas.openxmlformats.org/drawingml/2006/main">
            <a:off x="2590800" y="3829050"/>
            <a:ext cx="1247775" cy="161925"/>
          </a:xfrm>
          <a:prstGeom xmlns:a="http://schemas.openxmlformats.org/drawingml/2006/main" prst="roundRect">
            <a:avLst>
              <a:gd name="adj" fmla="val 23529"/>
            </a:avLst>
          </a:prstGeom>
          <a:solidFill xmlns:a="http://schemas.openxmlformats.org/drawingml/2006/main">
            <a:srgbClr val="1BB5C8"/>
          </a:solidFill>
          <a:ln xmlns:a="http://schemas.openxmlformats.org/drawingml/2006/main" w="0">
            <a:noFill/>
            <a:prstDash val="solid"/>
          </a:ln>
        </p:spPr>
      </p:sp>
      <p:sp>
        <p:nvSpPr>
          <p:cNvPr id="23" name="">
            <a:extLst xmlns:a="http://schemas.openxmlformats.org/drawingml/2006/main">
              <a:ext uri="{FF2B5EF4-FFF2-40B4-BE49-F238E27FC236}">
                <a16:creationId xmlns:a16="http://schemas.microsoft.com/office/drawing/2014/main" id="{B2671818-2AAD-4E89-8642-02E48C62752C}"/>
              </a:ext>
            </a:extLst>
          </p:cNvPr>
          <p:cNvSpPr>
            <a:spLocks xmlns:a="http://schemas.openxmlformats.org/drawingml/2006/main" noGrp="1"/>
          </p:cNvSpPr>
          <p:nvPr/>
        </p:nvSpPr>
        <p:spPr>
          <a:xfrm xmlns:a="http://schemas.openxmlformats.org/drawingml/2006/main">
            <a:off x="5143500" y="3771900"/>
            <a:ext cx="3238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93750"/>
          </a:bodyPr>
          <a:lstStyle xmlns:a="http://schemas.openxmlformats.org/drawingml/2006/main"/>
          <a:p xmlns:a="http://schemas.openxmlformats.org/drawingml/2006/main">
            <a:pPr algn="r">
              <a:defRPr sz="1200" b="1" i="0">
                <a:solidFill>
                  <a:srgbClr val="233248"/>
                </a:solidFill>
                <a:latin typeface="Calibri"/>
                <a:ea typeface="Calibri"/>
                <a:cs typeface="Calibri"/>
              </a:defRPr>
            </a:pPr>
            <a:r>
              <a:rPr sz="1200" b="1" i="0">
                <a:solidFill>
                  <a:srgbClr val="233248"/>
                </a:solidFill>
                <a:latin typeface="Calibri"/>
                <a:ea typeface="Calibri"/>
                <a:cs typeface="Calibri"/>
              </a:rPr>
              <a:t>5</a:t>
            </a:r>
          </a:p>
        </p:txBody>
      </p:sp>
      <p:sp>
        <p:nvSpPr>
          <p:cNvPr id="24" name="">
            <a:extLst xmlns:a="http://schemas.openxmlformats.org/drawingml/2006/main">
              <a:ext uri="{FF2B5EF4-FFF2-40B4-BE49-F238E27FC236}">
                <a16:creationId xmlns:a16="http://schemas.microsoft.com/office/drawing/2014/main" id="{A23B7BA6-88C5-4159-B70C-B957D4D341DE}"/>
              </a:ext>
            </a:extLst>
          </p:cNvPr>
          <p:cNvSpPr>
            <a:spLocks xmlns:a="http://schemas.openxmlformats.org/drawingml/2006/main" noGrp="1"/>
          </p:cNvSpPr>
          <p:nvPr/>
        </p:nvSpPr>
        <p:spPr>
          <a:xfrm xmlns:a="http://schemas.openxmlformats.org/drawingml/2006/main">
            <a:off x="514350" y="4238625"/>
            <a:ext cx="2000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93750"/>
          </a:bodyPr>
          <a:lstStyle xmlns:a="http://schemas.openxmlformats.org/drawingml/2006/main"/>
          <a:p xmlns:a="http://schemas.openxmlformats.org/drawingml/2006/main">
            <a:pPr algn="l">
              <a:defRPr sz="1200" b="0" i="0">
                <a:solidFill>
                  <a:srgbClr val="233248"/>
                </a:solidFill>
                <a:latin typeface="Calibri"/>
                <a:ea typeface="Calibri"/>
                <a:cs typeface="Calibri"/>
              </a:defRPr>
            </a:pPr>
            <a:r>
              <a:rPr sz="1200" b="0" i="0">
                <a:solidFill>
                  <a:srgbClr val="233248"/>
                </a:solidFill>
                <a:latin typeface="Calibri"/>
                <a:ea typeface="Calibri"/>
                <a:cs typeface="Calibri"/>
              </a:rPr>
              <a:t>Busy street</a:t>
            </a:r>
          </a:p>
        </p:txBody>
      </p:sp>
      <p:sp>
        <p:nvSpPr>
          <p:cNvPr id="25" name="">
            <a:extLst xmlns:a="http://schemas.openxmlformats.org/drawingml/2006/main">
              <a:ext uri="{FF2B5EF4-FFF2-40B4-BE49-F238E27FC236}">
                <a16:creationId xmlns:a16="http://schemas.microsoft.com/office/drawing/2014/main" id="{5CBD3A35-7DF4-4A18-91A5-526251F9D09E}"/>
              </a:ext>
            </a:extLst>
          </p:cNvPr>
          <p:cNvSpPr>
            <a:spLocks xmlns:a="http://schemas.openxmlformats.org/drawingml/2006/main" noGrp="1"/>
          </p:cNvSpPr>
          <p:nvPr/>
        </p:nvSpPr>
        <p:spPr>
          <a:xfrm xmlns:a="http://schemas.openxmlformats.org/drawingml/2006/main">
            <a:off x="2590800" y="4276725"/>
            <a:ext cx="2495550" cy="161925"/>
          </a:xfrm>
          <a:prstGeom xmlns:a="http://schemas.openxmlformats.org/drawingml/2006/main" prst="roundRect">
            <a:avLst>
              <a:gd name="adj" fmla="val 23529"/>
            </a:avLst>
          </a:prstGeom>
          <a:solidFill xmlns:a="http://schemas.openxmlformats.org/drawingml/2006/main">
            <a:srgbClr val="E8ECF1"/>
          </a:solidFill>
          <a:ln xmlns:a="http://schemas.openxmlformats.org/drawingml/2006/main" w="0">
            <a:noFill/>
            <a:prstDash val="solid"/>
          </a:ln>
        </p:spPr>
      </p:sp>
      <p:sp>
        <p:nvSpPr>
          <p:cNvPr id="26" name="">
            <a:extLst xmlns:a="http://schemas.openxmlformats.org/drawingml/2006/main">
              <a:ext uri="{FF2B5EF4-FFF2-40B4-BE49-F238E27FC236}">
                <a16:creationId xmlns:a16="http://schemas.microsoft.com/office/drawing/2014/main" id="{E31BC722-8423-4AB0-B448-A7797B3F41E3}"/>
              </a:ext>
            </a:extLst>
          </p:cNvPr>
          <p:cNvSpPr>
            <a:spLocks xmlns:a="http://schemas.openxmlformats.org/drawingml/2006/main" noGrp="1"/>
          </p:cNvSpPr>
          <p:nvPr/>
        </p:nvSpPr>
        <p:spPr>
          <a:xfrm xmlns:a="http://schemas.openxmlformats.org/drawingml/2006/main">
            <a:off x="2590800" y="4276725"/>
            <a:ext cx="748665" cy="161925"/>
          </a:xfrm>
          <a:prstGeom xmlns:a="http://schemas.openxmlformats.org/drawingml/2006/main" prst="roundRect">
            <a:avLst>
              <a:gd name="adj" fmla="val 23529"/>
            </a:avLst>
          </a:prstGeom>
          <a:solidFill xmlns:a="http://schemas.openxmlformats.org/drawingml/2006/main">
            <a:srgbClr val="1BB5C8"/>
          </a:solidFill>
          <a:ln xmlns:a="http://schemas.openxmlformats.org/drawingml/2006/main" w="0">
            <a:noFill/>
            <a:prstDash val="solid"/>
          </a:ln>
        </p:spPr>
      </p:sp>
      <p:sp>
        <p:nvSpPr>
          <p:cNvPr id="27" name="">
            <a:extLst xmlns:a="http://schemas.openxmlformats.org/drawingml/2006/main">
              <a:ext uri="{FF2B5EF4-FFF2-40B4-BE49-F238E27FC236}">
                <a16:creationId xmlns:a16="http://schemas.microsoft.com/office/drawing/2014/main" id="{800DAF81-FCB5-4F0D-A74D-995A514AB5BE}"/>
              </a:ext>
            </a:extLst>
          </p:cNvPr>
          <p:cNvSpPr>
            <a:spLocks xmlns:a="http://schemas.openxmlformats.org/drawingml/2006/main" noGrp="1"/>
          </p:cNvSpPr>
          <p:nvPr/>
        </p:nvSpPr>
        <p:spPr>
          <a:xfrm xmlns:a="http://schemas.openxmlformats.org/drawingml/2006/main">
            <a:off x="5143500" y="4219575"/>
            <a:ext cx="3238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93750"/>
          </a:bodyPr>
          <a:lstStyle xmlns:a="http://schemas.openxmlformats.org/drawingml/2006/main"/>
          <a:p xmlns:a="http://schemas.openxmlformats.org/drawingml/2006/main">
            <a:pPr algn="r">
              <a:defRPr sz="1200" b="1" i="0">
                <a:solidFill>
                  <a:srgbClr val="233248"/>
                </a:solidFill>
                <a:latin typeface="Calibri"/>
                <a:ea typeface="Calibri"/>
                <a:cs typeface="Calibri"/>
              </a:defRPr>
            </a:pPr>
            <a:r>
              <a:rPr sz="1200" b="1" i="0">
                <a:solidFill>
                  <a:srgbClr val="233248"/>
                </a:solidFill>
                <a:latin typeface="Calibri"/>
                <a:ea typeface="Calibri"/>
                <a:cs typeface="Calibri"/>
              </a:rPr>
              <a:t>3</a:t>
            </a:r>
          </a:p>
        </p:txBody>
      </p:sp>
      <p:sp>
        <p:nvSpPr>
          <p:cNvPr id="28" name="">
            <a:extLst xmlns:a="http://schemas.openxmlformats.org/drawingml/2006/main">
              <a:ext uri="{FF2B5EF4-FFF2-40B4-BE49-F238E27FC236}">
                <a16:creationId xmlns:a16="http://schemas.microsoft.com/office/drawing/2014/main" id="{2799A016-8217-421B-8ED1-AC550EAB1B64}"/>
              </a:ext>
            </a:extLst>
          </p:cNvPr>
          <p:cNvSpPr>
            <a:spLocks xmlns:a="http://schemas.openxmlformats.org/drawingml/2006/main" noGrp="1"/>
          </p:cNvSpPr>
          <p:nvPr/>
        </p:nvSpPr>
        <p:spPr>
          <a:xfrm xmlns:a="http://schemas.openxmlformats.org/drawingml/2006/main">
            <a:off x="6191250" y="1581150"/>
            <a:ext cx="47625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95238"/>
          </a:bodyPr>
          <a:lstStyle xmlns:a="http://schemas.openxmlformats.org/drawingml/2006/main"/>
          <a:p xmlns:a="http://schemas.openxmlformats.org/drawingml/2006/main">
            <a:pPr algn="l">
              <a:defRPr sz="1575" b="1" i="0">
                <a:solidFill>
                  <a:srgbClr val="1B2B45"/>
                </a:solidFill>
                <a:latin typeface="Calibri"/>
                <a:ea typeface="Calibri"/>
                <a:cs typeface="Calibri"/>
              </a:defRPr>
            </a:pPr>
            <a:r>
              <a:rPr sz="1575" b="1" i="0">
                <a:solidFill>
                  <a:srgbClr val="1B2B45"/>
                </a:solidFill>
                <a:latin typeface="Calibri"/>
                <a:ea typeface="Calibri"/>
                <a:cs typeface="Calibri"/>
              </a:rPr>
              <a:t>Recovery actions</a:t>
            </a:r>
          </a:p>
        </p:txBody>
      </p:sp>
      <p:sp>
        <p:nvSpPr>
          <p:cNvPr id="29" name="">
            <a:extLst xmlns:a="http://schemas.openxmlformats.org/drawingml/2006/main">
              <a:ext uri="{FF2B5EF4-FFF2-40B4-BE49-F238E27FC236}">
                <a16:creationId xmlns:a16="http://schemas.microsoft.com/office/drawing/2014/main" id="{03A6F383-46DF-4B49-9DE8-D0BFC9616663}"/>
              </a:ext>
            </a:extLst>
          </p:cNvPr>
          <p:cNvSpPr>
            <a:spLocks xmlns:a="http://schemas.openxmlformats.org/drawingml/2006/main" noGrp="1"/>
          </p:cNvSpPr>
          <p:nvPr/>
        </p:nvSpPr>
        <p:spPr>
          <a:xfrm xmlns:a="http://schemas.openxmlformats.org/drawingml/2006/main">
            <a:off x="6191250" y="2000250"/>
            <a:ext cx="2000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93750"/>
          </a:bodyPr>
          <a:lstStyle xmlns:a="http://schemas.openxmlformats.org/drawingml/2006/main"/>
          <a:p xmlns:a="http://schemas.openxmlformats.org/drawingml/2006/main">
            <a:pPr algn="l">
              <a:defRPr sz="1200" b="0" i="0">
                <a:solidFill>
                  <a:srgbClr val="233248"/>
                </a:solidFill>
                <a:latin typeface="Calibri"/>
                <a:ea typeface="Calibri"/>
                <a:cs typeface="Calibri"/>
              </a:defRPr>
            </a:pPr>
            <a:r>
              <a:rPr sz="1200" b="0" i="0">
                <a:solidFill>
                  <a:srgbClr val="233248"/>
                </a:solidFill>
                <a:latin typeface="Calibri"/>
                <a:ea typeface="Calibri"/>
                <a:cs typeface="Calibri"/>
              </a:rPr>
              <a:t>Called</a:t>
            </a:r>
          </a:p>
        </p:txBody>
      </p:sp>
      <p:sp>
        <p:nvSpPr>
          <p:cNvPr id="30" name="">
            <a:extLst xmlns:a="http://schemas.openxmlformats.org/drawingml/2006/main">
              <a:ext uri="{FF2B5EF4-FFF2-40B4-BE49-F238E27FC236}">
                <a16:creationId xmlns:a16="http://schemas.microsoft.com/office/drawing/2014/main" id="{0646BECD-9CC5-408F-B5E3-2BD76A7D15B7}"/>
              </a:ext>
            </a:extLst>
          </p:cNvPr>
          <p:cNvSpPr>
            <a:spLocks xmlns:a="http://schemas.openxmlformats.org/drawingml/2006/main" noGrp="1"/>
          </p:cNvSpPr>
          <p:nvPr/>
        </p:nvSpPr>
        <p:spPr>
          <a:xfrm xmlns:a="http://schemas.openxmlformats.org/drawingml/2006/main">
            <a:off x="8267700" y="2038350"/>
            <a:ext cx="2305050" cy="161925"/>
          </a:xfrm>
          <a:prstGeom xmlns:a="http://schemas.openxmlformats.org/drawingml/2006/main" prst="roundRect">
            <a:avLst>
              <a:gd name="adj" fmla="val 23529"/>
            </a:avLst>
          </a:prstGeom>
          <a:solidFill xmlns:a="http://schemas.openxmlformats.org/drawingml/2006/main">
            <a:srgbClr val="E8ECF1"/>
          </a:solidFill>
          <a:ln xmlns:a="http://schemas.openxmlformats.org/drawingml/2006/main" w="0">
            <a:noFill/>
            <a:prstDash val="solid"/>
          </a:ln>
        </p:spPr>
      </p:sp>
      <p:sp>
        <p:nvSpPr>
          <p:cNvPr id="31" name="">
            <a:extLst xmlns:a="http://schemas.openxmlformats.org/drawingml/2006/main">
              <a:ext uri="{FF2B5EF4-FFF2-40B4-BE49-F238E27FC236}">
                <a16:creationId xmlns:a16="http://schemas.microsoft.com/office/drawing/2014/main" id="{6AA5C7F5-BE6F-4D8F-B87C-86D0B8386ED5}"/>
              </a:ext>
            </a:extLst>
          </p:cNvPr>
          <p:cNvSpPr>
            <a:spLocks xmlns:a="http://schemas.openxmlformats.org/drawingml/2006/main" noGrp="1"/>
          </p:cNvSpPr>
          <p:nvPr/>
        </p:nvSpPr>
        <p:spPr>
          <a:xfrm xmlns:a="http://schemas.openxmlformats.org/drawingml/2006/main">
            <a:off x="8267700" y="2038350"/>
            <a:ext cx="2305050" cy="161925"/>
          </a:xfrm>
          <a:prstGeom xmlns:a="http://schemas.openxmlformats.org/drawingml/2006/main" prst="roundRect">
            <a:avLst>
              <a:gd name="adj" fmla="val 23529"/>
            </a:avLst>
          </a:prstGeom>
          <a:solidFill xmlns:a="http://schemas.openxmlformats.org/drawingml/2006/main">
            <a:srgbClr val="F47A22"/>
          </a:solidFill>
          <a:ln xmlns:a="http://schemas.openxmlformats.org/drawingml/2006/main" w="0">
            <a:noFill/>
            <a:prstDash val="solid"/>
          </a:ln>
        </p:spPr>
      </p:sp>
      <p:sp>
        <p:nvSpPr>
          <p:cNvPr id="32" name="">
            <a:extLst xmlns:a="http://schemas.openxmlformats.org/drawingml/2006/main">
              <a:ext uri="{FF2B5EF4-FFF2-40B4-BE49-F238E27FC236}">
                <a16:creationId xmlns:a16="http://schemas.microsoft.com/office/drawing/2014/main" id="{9B59444D-DE4C-42BE-9F05-39CB6318BAC1}"/>
              </a:ext>
            </a:extLst>
          </p:cNvPr>
          <p:cNvSpPr>
            <a:spLocks xmlns:a="http://schemas.openxmlformats.org/drawingml/2006/main" noGrp="1"/>
          </p:cNvSpPr>
          <p:nvPr/>
        </p:nvSpPr>
        <p:spPr>
          <a:xfrm xmlns:a="http://schemas.openxmlformats.org/drawingml/2006/main">
            <a:off x="10629900" y="1981200"/>
            <a:ext cx="3238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93750"/>
          </a:bodyPr>
          <a:lstStyle xmlns:a="http://schemas.openxmlformats.org/drawingml/2006/main"/>
          <a:p xmlns:a="http://schemas.openxmlformats.org/drawingml/2006/main">
            <a:pPr algn="r">
              <a:defRPr sz="1200" b="1" i="0">
                <a:solidFill>
                  <a:srgbClr val="233248"/>
                </a:solidFill>
                <a:latin typeface="Calibri"/>
                <a:ea typeface="Calibri"/>
                <a:cs typeface="Calibri"/>
              </a:defRPr>
            </a:pPr>
            <a:r>
              <a:rPr sz="1200" b="1" i="0">
                <a:solidFill>
                  <a:srgbClr val="233248"/>
                </a:solidFill>
                <a:latin typeface="Calibri"/>
                <a:ea typeface="Calibri"/>
                <a:cs typeface="Calibri"/>
              </a:rPr>
              <a:t>17</a:t>
            </a:r>
          </a:p>
        </p:txBody>
      </p:sp>
      <p:sp>
        <p:nvSpPr>
          <p:cNvPr id="33" name="">
            <a:extLst xmlns:a="http://schemas.openxmlformats.org/drawingml/2006/main">
              <a:ext uri="{FF2B5EF4-FFF2-40B4-BE49-F238E27FC236}">
                <a16:creationId xmlns:a16="http://schemas.microsoft.com/office/drawing/2014/main" id="{D4B6DEB1-2CEE-476A-8560-7D596D3197D7}"/>
              </a:ext>
            </a:extLst>
          </p:cNvPr>
          <p:cNvSpPr>
            <a:spLocks xmlns:a="http://schemas.openxmlformats.org/drawingml/2006/main" noGrp="1"/>
          </p:cNvSpPr>
          <p:nvPr/>
        </p:nvSpPr>
        <p:spPr>
          <a:xfrm xmlns:a="http://schemas.openxmlformats.org/drawingml/2006/main">
            <a:off x="6191250" y="2447925"/>
            <a:ext cx="2000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93750"/>
          </a:bodyPr>
          <a:lstStyle xmlns:a="http://schemas.openxmlformats.org/drawingml/2006/main"/>
          <a:p xmlns:a="http://schemas.openxmlformats.org/drawingml/2006/main">
            <a:pPr algn="l">
              <a:defRPr sz="1200" b="0" i="0">
                <a:solidFill>
                  <a:srgbClr val="233248"/>
                </a:solidFill>
                <a:latin typeface="Calibri"/>
                <a:ea typeface="Calibri"/>
                <a:cs typeface="Calibri"/>
              </a:defRPr>
            </a:pPr>
            <a:r>
              <a:rPr sz="1200" b="0" i="0">
                <a:solidFill>
                  <a:srgbClr val="233248"/>
                </a:solidFill>
                <a:latin typeface="Calibri"/>
                <a:ea typeface="Calibri"/>
                <a:cs typeface="Calibri"/>
              </a:rPr>
              <a:t>Waited</a:t>
            </a:r>
          </a:p>
        </p:txBody>
      </p:sp>
      <p:sp>
        <p:nvSpPr>
          <p:cNvPr id="34" name="">
            <a:extLst xmlns:a="http://schemas.openxmlformats.org/drawingml/2006/main">
              <a:ext uri="{FF2B5EF4-FFF2-40B4-BE49-F238E27FC236}">
                <a16:creationId xmlns:a16="http://schemas.microsoft.com/office/drawing/2014/main" id="{B5FEE2AF-64B9-4BD6-9948-2AF31661C052}"/>
              </a:ext>
            </a:extLst>
          </p:cNvPr>
          <p:cNvSpPr>
            <a:spLocks xmlns:a="http://schemas.openxmlformats.org/drawingml/2006/main" noGrp="1"/>
          </p:cNvSpPr>
          <p:nvPr/>
        </p:nvSpPr>
        <p:spPr>
          <a:xfrm xmlns:a="http://schemas.openxmlformats.org/drawingml/2006/main">
            <a:off x="8267700" y="2486025"/>
            <a:ext cx="2305050" cy="161925"/>
          </a:xfrm>
          <a:prstGeom xmlns:a="http://schemas.openxmlformats.org/drawingml/2006/main" prst="roundRect">
            <a:avLst>
              <a:gd name="adj" fmla="val 23529"/>
            </a:avLst>
          </a:prstGeom>
          <a:solidFill xmlns:a="http://schemas.openxmlformats.org/drawingml/2006/main">
            <a:srgbClr val="E8ECF1"/>
          </a:solidFill>
          <a:ln xmlns:a="http://schemas.openxmlformats.org/drawingml/2006/main" w="0">
            <a:noFill/>
            <a:prstDash val="solid"/>
          </a:ln>
        </p:spPr>
      </p:sp>
      <p:sp>
        <p:nvSpPr>
          <p:cNvPr id="35" name="">
            <a:extLst xmlns:a="http://schemas.openxmlformats.org/drawingml/2006/main">
              <a:ext uri="{FF2B5EF4-FFF2-40B4-BE49-F238E27FC236}">
                <a16:creationId xmlns:a16="http://schemas.microsoft.com/office/drawing/2014/main" id="{D7678D74-BFE7-4774-A935-B39D79C51C84}"/>
              </a:ext>
            </a:extLst>
          </p:cNvPr>
          <p:cNvSpPr>
            <a:spLocks xmlns:a="http://schemas.openxmlformats.org/drawingml/2006/main" noGrp="1"/>
          </p:cNvSpPr>
          <p:nvPr/>
        </p:nvSpPr>
        <p:spPr>
          <a:xfrm xmlns:a="http://schemas.openxmlformats.org/drawingml/2006/main">
            <a:off x="8267700" y="2486025"/>
            <a:ext cx="1220321" cy="161925"/>
          </a:xfrm>
          <a:prstGeom xmlns:a="http://schemas.openxmlformats.org/drawingml/2006/main" prst="roundRect">
            <a:avLst>
              <a:gd name="adj" fmla="val 23529"/>
            </a:avLst>
          </a:prstGeom>
          <a:solidFill xmlns:a="http://schemas.openxmlformats.org/drawingml/2006/main">
            <a:srgbClr val="F47A22"/>
          </a:solidFill>
          <a:ln xmlns:a="http://schemas.openxmlformats.org/drawingml/2006/main" w="0">
            <a:noFill/>
            <a:prstDash val="solid"/>
          </a:ln>
        </p:spPr>
      </p:sp>
      <p:sp>
        <p:nvSpPr>
          <p:cNvPr id="36" name="">
            <a:extLst xmlns:a="http://schemas.openxmlformats.org/drawingml/2006/main">
              <a:ext uri="{FF2B5EF4-FFF2-40B4-BE49-F238E27FC236}">
                <a16:creationId xmlns:a16="http://schemas.microsoft.com/office/drawing/2014/main" id="{C95B8285-D4BD-4167-9A0B-71916096D040}"/>
              </a:ext>
            </a:extLst>
          </p:cNvPr>
          <p:cNvSpPr>
            <a:spLocks xmlns:a="http://schemas.openxmlformats.org/drawingml/2006/main" noGrp="1"/>
          </p:cNvSpPr>
          <p:nvPr/>
        </p:nvSpPr>
        <p:spPr>
          <a:xfrm xmlns:a="http://schemas.openxmlformats.org/drawingml/2006/main">
            <a:off x="10629900" y="2428875"/>
            <a:ext cx="3238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93750"/>
          </a:bodyPr>
          <a:lstStyle xmlns:a="http://schemas.openxmlformats.org/drawingml/2006/main"/>
          <a:p xmlns:a="http://schemas.openxmlformats.org/drawingml/2006/main">
            <a:pPr algn="r">
              <a:defRPr sz="1200" b="1" i="0">
                <a:solidFill>
                  <a:srgbClr val="233248"/>
                </a:solidFill>
                <a:latin typeface="Calibri"/>
                <a:ea typeface="Calibri"/>
                <a:cs typeface="Calibri"/>
              </a:defRPr>
            </a:pPr>
            <a:r>
              <a:rPr sz="1200" b="1" i="0">
                <a:solidFill>
                  <a:srgbClr val="233248"/>
                </a:solidFill>
                <a:latin typeface="Calibri"/>
                <a:ea typeface="Calibri"/>
                <a:cs typeface="Calibri"/>
              </a:rPr>
              <a:t>9</a:t>
            </a:r>
          </a:p>
        </p:txBody>
      </p:sp>
      <p:sp>
        <p:nvSpPr>
          <p:cNvPr id="37" name="">
            <a:extLst xmlns:a="http://schemas.openxmlformats.org/drawingml/2006/main">
              <a:ext uri="{FF2B5EF4-FFF2-40B4-BE49-F238E27FC236}">
                <a16:creationId xmlns:a16="http://schemas.microsoft.com/office/drawing/2014/main" id="{FF9F2FF8-0807-4867-820A-0008EE81F2F9}"/>
              </a:ext>
            </a:extLst>
          </p:cNvPr>
          <p:cNvSpPr>
            <a:spLocks xmlns:a="http://schemas.openxmlformats.org/drawingml/2006/main" noGrp="1"/>
          </p:cNvSpPr>
          <p:nvPr/>
        </p:nvSpPr>
        <p:spPr>
          <a:xfrm xmlns:a="http://schemas.openxmlformats.org/drawingml/2006/main">
            <a:off x="6191250" y="2895600"/>
            <a:ext cx="2000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93750"/>
          </a:bodyPr>
          <a:lstStyle xmlns:a="http://schemas.openxmlformats.org/drawingml/2006/main"/>
          <a:p xmlns:a="http://schemas.openxmlformats.org/drawingml/2006/main">
            <a:pPr algn="l">
              <a:defRPr sz="1200" b="0" i="0">
                <a:solidFill>
                  <a:srgbClr val="233248"/>
                </a:solidFill>
                <a:latin typeface="Calibri"/>
                <a:ea typeface="Calibri"/>
                <a:cs typeface="Calibri"/>
              </a:defRPr>
            </a:pPr>
            <a:r>
              <a:rPr sz="1200" b="0" i="0">
                <a:solidFill>
                  <a:srgbClr val="233248"/>
                </a:solidFill>
                <a:latin typeface="Calibri"/>
                <a:ea typeface="Calibri"/>
                <a:cs typeface="Calibri"/>
              </a:rPr>
              <a:t>Moved</a:t>
            </a:r>
          </a:p>
        </p:txBody>
      </p:sp>
      <p:sp>
        <p:nvSpPr>
          <p:cNvPr id="38" name="">
            <a:extLst xmlns:a="http://schemas.openxmlformats.org/drawingml/2006/main">
              <a:ext uri="{FF2B5EF4-FFF2-40B4-BE49-F238E27FC236}">
                <a16:creationId xmlns:a16="http://schemas.microsoft.com/office/drawing/2014/main" id="{3459256D-554F-4247-805B-90A72AD30FA1}"/>
              </a:ext>
            </a:extLst>
          </p:cNvPr>
          <p:cNvSpPr>
            <a:spLocks xmlns:a="http://schemas.openxmlformats.org/drawingml/2006/main" noGrp="1"/>
          </p:cNvSpPr>
          <p:nvPr/>
        </p:nvSpPr>
        <p:spPr>
          <a:xfrm xmlns:a="http://schemas.openxmlformats.org/drawingml/2006/main">
            <a:off x="8267700" y="2933700"/>
            <a:ext cx="2305050" cy="161925"/>
          </a:xfrm>
          <a:prstGeom xmlns:a="http://schemas.openxmlformats.org/drawingml/2006/main" prst="roundRect">
            <a:avLst>
              <a:gd name="adj" fmla="val 23529"/>
            </a:avLst>
          </a:prstGeom>
          <a:solidFill xmlns:a="http://schemas.openxmlformats.org/drawingml/2006/main">
            <a:srgbClr val="E8ECF1"/>
          </a:solidFill>
          <a:ln xmlns:a="http://schemas.openxmlformats.org/drawingml/2006/main" w="0">
            <a:noFill/>
            <a:prstDash val="solid"/>
          </a:ln>
        </p:spPr>
      </p:sp>
      <p:sp>
        <p:nvSpPr>
          <p:cNvPr id="39" name="">
            <a:extLst xmlns:a="http://schemas.openxmlformats.org/drawingml/2006/main">
              <a:ext uri="{FF2B5EF4-FFF2-40B4-BE49-F238E27FC236}">
                <a16:creationId xmlns:a16="http://schemas.microsoft.com/office/drawing/2014/main" id="{D1AC29E7-6CFF-45BB-BAE6-C0D813FD3EDF}"/>
              </a:ext>
            </a:extLst>
          </p:cNvPr>
          <p:cNvSpPr>
            <a:spLocks xmlns:a="http://schemas.openxmlformats.org/drawingml/2006/main" noGrp="1"/>
          </p:cNvSpPr>
          <p:nvPr/>
        </p:nvSpPr>
        <p:spPr>
          <a:xfrm xmlns:a="http://schemas.openxmlformats.org/drawingml/2006/main">
            <a:off x="8267700" y="2933700"/>
            <a:ext cx="1084729" cy="161925"/>
          </a:xfrm>
          <a:prstGeom xmlns:a="http://schemas.openxmlformats.org/drawingml/2006/main" prst="roundRect">
            <a:avLst>
              <a:gd name="adj" fmla="val 23529"/>
            </a:avLst>
          </a:prstGeom>
          <a:solidFill xmlns:a="http://schemas.openxmlformats.org/drawingml/2006/main">
            <a:srgbClr val="F47A22"/>
          </a:solidFill>
          <a:ln xmlns:a="http://schemas.openxmlformats.org/drawingml/2006/main" w="0">
            <a:noFill/>
            <a:prstDash val="solid"/>
          </a:ln>
        </p:spPr>
      </p:sp>
      <p:sp>
        <p:nvSpPr>
          <p:cNvPr id="40" name="">
            <a:extLst xmlns:a="http://schemas.openxmlformats.org/drawingml/2006/main">
              <a:ext uri="{FF2B5EF4-FFF2-40B4-BE49-F238E27FC236}">
                <a16:creationId xmlns:a16="http://schemas.microsoft.com/office/drawing/2014/main" id="{267F7C67-D5B5-4286-87D4-252396A31C64}"/>
              </a:ext>
            </a:extLst>
          </p:cNvPr>
          <p:cNvSpPr>
            <a:spLocks xmlns:a="http://schemas.openxmlformats.org/drawingml/2006/main" noGrp="1"/>
          </p:cNvSpPr>
          <p:nvPr/>
        </p:nvSpPr>
        <p:spPr>
          <a:xfrm xmlns:a="http://schemas.openxmlformats.org/drawingml/2006/main">
            <a:off x="10629900" y="2876550"/>
            <a:ext cx="3238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93750"/>
          </a:bodyPr>
          <a:lstStyle xmlns:a="http://schemas.openxmlformats.org/drawingml/2006/main"/>
          <a:p xmlns:a="http://schemas.openxmlformats.org/drawingml/2006/main">
            <a:pPr algn="r">
              <a:defRPr sz="1200" b="1" i="0">
                <a:solidFill>
                  <a:srgbClr val="233248"/>
                </a:solidFill>
                <a:latin typeface="Calibri"/>
                <a:ea typeface="Calibri"/>
                <a:cs typeface="Calibri"/>
              </a:defRPr>
            </a:pPr>
            <a:r>
              <a:rPr sz="1200" b="1" i="0">
                <a:solidFill>
                  <a:srgbClr val="233248"/>
                </a:solidFill>
                <a:latin typeface="Calibri"/>
                <a:ea typeface="Calibri"/>
                <a:cs typeface="Calibri"/>
              </a:rPr>
              <a:t>8</a:t>
            </a:r>
          </a:p>
        </p:txBody>
      </p:sp>
      <p:sp>
        <p:nvSpPr>
          <p:cNvPr id="41" name="">
            <a:extLst xmlns:a="http://schemas.openxmlformats.org/drawingml/2006/main">
              <a:ext uri="{FF2B5EF4-FFF2-40B4-BE49-F238E27FC236}">
                <a16:creationId xmlns:a16="http://schemas.microsoft.com/office/drawing/2014/main" id="{C54B7085-DF46-4D51-83E3-F91BFFFF97DC}"/>
              </a:ext>
            </a:extLst>
          </p:cNvPr>
          <p:cNvSpPr>
            <a:spLocks xmlns:a="http://schemas.openxmlformats.org/drawingml/2006/main" noGrp="1"/>
          </p:cNvSpPr>
          <p:nvPr/>
        </p:nvSpPr>
        <p:spPr>
          <a:xfrm xmlns:a="http://schemas.openxmlformats.org/drawingml/2006/main">
            <a:off x="6191250" y="3343275"/>
            <a:ext cx="2000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93750"/>
          </a:bodyPr>
          <a:lstStyle xmlns:a="http://schemas.openxmlformats.org/drawingml/2006/main"/>
          <a:p xmlns:a="http://schemas.openxmlformats.org/drawingml/2006/main">
            <a:pPr algn="l">
              <a:defRPr sz="1200" b="0" i="0">
                <a:solidFill>
                  <a:srgbClr val="233248"/>
                </a:solidFill>
                <a:latin typeface="Calibri"/>
                <a:ea typeface="Calibri"/>
                <a:cs typeface="Calibri"/>
              </a:defRPr>
            </a:pPr>
            <a:r>
              <a:rPr sz="1200" b="0" i="0">
                <a:solidFill>
                  <a:srgbClr val="233248"/>
                </a:solidFill>
                <a:latin typeface="Calibri"/>
                <a:ea typeface="Calibri"/>
                <a:cs typeface="Calibri"/>
              </a:rPr>
              <a:t>Messaged</a:t>
            </a:r>
          </a:p>
        </p:txBody>
      </p:sp>
      <p:sp>
        <p:nvSpPr>
          <p:cNvPr id="42" name="">
            <a:extLst xmlns:a="http://schemas.openxmlformats.org/drawingml/2006/main">
              <a:ext uri="{FF2B5EF4-FFF2-40B4-BE49-F238E27FC236}">
                <a16:creationId xmlns:a16="http://schemas.microsoft.com/office/drawing/2014/main" id="{6A7433F9-0070-4F91-9E9E-338A1E8C1451}"/>
              </a:ext>
            </a:extLst>
          </p:cNvPr>
          <p:cNvSpPr>
            <a:spLocks xmlns:a="http://schemas.openxmlformats.org/drawingml/2006/main" noGrp="1"/>
          </p:cNvSpPr>
          <p:nvPr/>
        </p:nvSpPr>
        <p:spPr>
          <a:xfrm xmlns:a="http://schemas.openxmlformats.org/drawingml/2006/main">
            <a:off x="8267700" y="3381375"/>
            <a:ext cx="2305050" cy="161925"/>
          </a:xfrm>
          <a:prstGeom xmlns:a="http://schemas.openxmlformats.org/drawingml/2006/main" prst="roundRect">
            <a:avLst>
              <a:gd name="adj" fmla="val 23529"/>
            </a:avLst>
          </a:prstGeom>
          <a:solidFill xmlns:a="http://schemas.openxmlformats.org/drawingml/2006/main">
            <a:srgbClr val="E8ECF1"/>
          </a:solidFill>
          <a:ln xmlns:a="http://schemas.openxmlformats.org/drawingml/2006/main" w="0">
            <a:noFill/>
            <a:prstDash val="solid"/>
          </a:ln>
        </p:spPr>
      </p:sp>
      <p:sp>
        <p:nvSpPr>
          <p:cNvPr id="43" name="">
            <a:extLst xmlns:a="http://schemas.openxmlformats.org/drawingml/2006/main">
              <a:ext uri="{FF2B5EF4-FFF2-40B4-BE49-F238E27FC236}">
                <a16:creationId xmlns:a16="http://schemas.microsoft.com/office/drawing/2014/main" id="{D4BD49D1-4AE5-474D-89D0-1A70281DC6ED}"/>
              </a:ext>
            </a:extLst>
          </p:cNvPr>
          <p:cNvSpPr>
            <a:spLocks xmlns:a="http://schemas.openxmlformats.org/drawingml/2006/main" noGrp="1"/>
          </p:cNvSpPr>
          <p:nvPr/>
        </p:nvSpPr>
        <p:spPr>
          <a:xfrm xmlns:a="http://schemas.openxmlformats.org/drawingml/2006/main">
            <a:off x="8267700" y="3381375"/>
            <a:ext cx="677956" cy="161925"/>
          </a:xfrm>
          <a:prstGeom xmlns:a="http://schemas.openxmlformats.org/drawingml/2006/main" prst="roundRect">
            <a:avLst>
              <a:gd name="adj" fmla="val 23529"/>
            </a:avLst>
          </a:prstGeom>
          <a:solidFill xmlns:a="http://schemas.openxmlformats.org/drawingml/2006/main">
            <a:srgbClr val="F47A22"/>
          </a:solidFill>
          <a:ln xmlns:a="http://schemas.openxmlformats.org/drawingml/2006/main" w="0">
            <a:noFill/>
            <a:prstDash val="solid"/>
          </a:ln>
        </p:spPr>
      </p:sp>
      <p:sp>
        <p:nvSpPr>
          <p:cNvPr id="44" name="">
            <a:extLst xmlns:a="http://schemas.openxmlformats.org/drawingml/2006/main">
              <a:ext uri="{FF2B5EF4-FFF2-40B4-BE49-F238E27FC236}">
                <a16:creationId xmlns:a16="http://schemas.microsoft.com/office/drawing/2014/main" id="{3A07B952-0055-4692-8026-151405F8DCBD}"/>
              </a:ext>
            </a:extLst>
          </p:cNvPr>
          <p:cNvSpPr>
            <a:spLocks xmlns:a="http://schemas.openxmlformats.org/drawingml/2006/main" noGrp="1"/>
          </p:cNvSpPr>
          <p:nvPr/>
        </p:nvSpPr>
        <p:spPr>
          <a:xfrm xmlns:a="http://schemas.openxmlformats.org/drawingml/2006/main">
            <a:off x="10629900" y="3324225"/>
            <a:ext cx="3238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93750"/>
          </a:bodyPr>
          <a:lstStyle xmlns:a="http://schemas.openxmlformats.org/drawingml/2006/main"/>
          <a:p xmlns:a="http://schemas.openxmlformats.org/drawingml/2006/main">
            <a:pPr algn="r">
              <a:defRPr sz="1200" b="1" i="0">
                <a:solidFill>
                  <a:srgbClr val="233248"/>
                </a:solidFill>
                <a:latin typeface="Calibri"/>
                <a:ea typeface="Calibri"/>
                <a:cs typeface="Calibri"/>
              </a:defRPr>
            </a:pPr>
            <a:r>
              <a:rPr sz="1200" b="1" i="0">
                <a:solidFill>
                  <a:srgbClr val="233248"/>
                </a:solidFill>
                <a:latin typeface="Calibri"/>
                <a:ea typeface="Calibri"/>
                <a:cs typeface="Calibri"/>
              </a:rPr>
              <a:t>5</a:t>
            </a:r>
          </a:p>
        </p:txBody>
      </p:sp>
      <p:sp>
        <p:nvSpPr>
          <p:cNvPr id="45" name="">
            <a:extLst xmlns:a="http://schemas.openxmlformats.org/drawingml/2006/main">
              <a:ext uri="{FF2B5EF4-FFF2-40B4-BE49-F238E27FC236}">
                <a16:creationId xmlns:a16="http://schemas.microsoft.com/office/drawing/2014/main" id="{9EAC1007-ADAE-445B-9151-5529B8023E80}"/>
              </a:ext>
            </a:extLst>
          </p:cNvPr>
          <p:cNvSpPr>
            <a:spLocks xmlns:a="http://schemas.openxmlformats.org/drawingml/2006/main" noGrp="1"/>
          </p:cNvSpPr>
          <p:nvPr/>
        </p:nvSpPr>
        <p:spPr>
          <a:xfrm xmlns:a="http://schemas.openxmlformats.org/drawingml/2006/main">
            <a:off x="6191250" y="3790950"/>
            <a:ext cx="2000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93750"/>
          </a:bodyPr>
          <a:lstStyle xmlns:a="http://schemas.openxmlformats.org/drawingml/2006/main"/>
          <a:p xmlns:a="http://schemas.openxmlformats.org/drawingml/2006/main">
            <a:pPr algn="l">
              <a:defRPr sz="1200" b="0" i="0">
                <a:solidFill>
                  <a:srgbClr val="233248"/>
                </a:solidFill>
                <a:latin typeface="Calibri"/>
                <a:ea typeface="Calibri"/>
                <a:cs typeface="Calibri"/>
              </a:defRPr>
            </a:pPr>
            <a:r>
              <a:rPr sz="1200" b="0" i="0">
                <a:solidFill>
                  <a:srgbClr val="233248"/>
                </a:solidFill>
                <a:latin typeface="Calibri"/>
                <a:ea typeface="Calibri"/>
                <a:cs typeface="Calibri"/>
              </a:rPr>
              <a:t>Cancelled</a:t>
            </a:r>
          </a:p>
        </p:txBody>
      </p:sp>
      <p:sp>
        <p:nvSpPr>
          <p:cNvPr id="46" name="">
            <a:extLst xmlns:a="http://schemas.openxmlformats.org/drawingml/2006/main">
              <a:ext uri="{FF2B5EF4-FFF2-40B4-BE49-F238E27FC236}">
                <a16:creationId xmlns:a16="http://schemas.microsoft.com/office/drawing/2014/main" id="{874E83B0-594E-49B2-BA67-2E660E043631}"/>
              </a:ext>
            </a:extLst>
          </p:cNvPr>
          <p:cNvSpPr>
            <a:spLocks xmlns:a="http://schemas.openxmlformats.org/drawingml/2006/main" noGrp="1"/>
          </p:cNvSpPr>
          <p:nvPr/>
        </p:nvSpPr>
        <p:spPr>
          <a:xfrm xmlns:a="http://schemas.openxmlformats.org/drawingml/2006/main">
            <a:off x="8267700" y="3829050"/>
            <a:ext cx="2305050" cy="161925"/>
          </a:xfrm>
          <a:prstGeom xmlns:a="http://schemas.openxmlformats.org/drawingml/2006/main" prst="roundRect">
            <a:avLst>
              <a:gd name="adj" fmla="val 23529"/>
            </a:avLst>
          </a:prstGeom>
          <a:solidFill xmlns:a="http://schemas.openxmlformats.org/drawingml/2006/main">
            <a:srgbClr val="E8ECF1"/>
          </a:solidFill>
          <a:ln xmlns:a="http://schemas.openxmlformats.org/drawingml/2006/main" w="0">
            <a:noFill/>
            <a:prstDash val="solid"/>
          </a:ln>
        </p:spPr>
      </p:sp>
      <p:sp>
        <p:nvSpPr>
          <p:cNvPr id="47" name="">
            <a:extLst xmlns:a="http://schemas.openxmlformats.org/drawingml/2006/main">
              <a:ext uri="{FF2B5EF4-FFF2-40B4-BE49-F238E27FC236}">
                <a16:creationId xmlns:a16="http://schemas.microsoft.com/office/drawing/2014/main" id="{4FF3A8E8-B1D7-4756-BEA7-7D2D238A7CFD}"/>
              </a:ext>
            </a:extLst>
          </p:cNvPr>
          <p:cNvSpPr>
            <a:spLocks xmlns:a="http://schemas.openxmlformats.org/drawingml/2006/main" noGrp="1"/>
          </p:cNvSpPr>
          <p:nvPr/>
        </p:nvSpPr>
        <p:spPr>
          <a:xfrm xmlns:a="http://schemas.openxmlformats.org/drawingml/2006/main">
            <a:off x="8267700" y="3829050"/>
            <a:ext cx="542365" cy="161925"/>
          </a:xfrm>
          <a:prstGeom xmlns:a="http://schemas.openxmlformats.org/drawingml/2006/main" prst="roundRect">
            <a:avLst>
              <a:gd name="adj" fmla="val 23529"/>
            </a:avLst>
          </a:prstGeom>
          <a:solidFill xmlns:a="http://schemas.openxmlformats.org/drawingml/2006/main">
            <a:srgbClr val="F47A22"/>
          </a:solidFill>
          <a:ln xmlns:a="http://schemas.openxmlformats.org/drawingml/2006/main" w="0">
            <a:noFill/>
            <a:prstDash val="solid"/>
          </a:ln>
        </p:spPr>
      </p:sp>
      <p:sp>
        <p:nvSpPr>
          <p:cNvPr id="48" name="">
            <a:extLst xmlns:a="http://schemas.openxmlformats.org/drawingml/2006/main">
              <a:ext uri="{FF2B5EF4-FFF2-40B4-BE49-F238E27FC236}">
                <a16:creationId xmlns:a16="http://schemas.microsoft.com/office/drawing/2014/main" id="{214D3068-83F7-4C96-BB24-19A2F7F79393}"/>
              </a:ext>
            </a:extLst>
          </p:cNvPr>
          <p:cNvSpPr>
            <a:spLocks xmlns:a="http://schemas.openxmlformats.org/drawingml/2006/main" noGrp="1"/>
          </p:cNvSpPr>
          <p:nvPr/>
        </p:nvSpPr>
        <p:spPr>
          <a:xfrm xmlns:a="http://schemas.openxmlformats.org/drawingml/2006/main">
            <a:off x="10629900" y="3771900"/>
            <a:ext cx="3238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93750"/>
          </a:bodyPr>
          <a:lstStyle xmlns:a="http://schemas.openxmlformats.org/drawingml/2006/main"/>
          <a:p xmlns:a="http://schemas.openxmlformats.org/drawingml/2006/main">
            <a:pPr algn="r">
              <a:defRPr sz="1200" b="1" i="0">
                <a:solidFill>
                  <a:srgbClr val="233248"/>
                </a:solidFill>
                <a:latin typeface="Calibri"/>
                <a:ea typeface="Calibri"/>
                <a:cs typeface="Calibri"/>
              </a:defRPr>
            </a:pPr>
            <a:r>
              <a:rPr sz="1200" b="1" i="0">
                <a:solidFill>
                  <a:srgbClr val="233248"/>
                </a:solidFill>
                <a:latin typeface="Calibri"/>
                <a:ea typeface="Calibri"/>
                <a:cs typeface="Calibri"/>
              </a:rPr>
              <a:t>4</a:t>
            </a:r>
          </a:p>
        </p:txBody>
      </p:sp>
      <p:sp>
        <p:nvSpPr>
          <p:cNvPr id="49" name="">
            <a:extLst xmlns:a="http://schemas.openxmlformats.org/drawingml/2006/main">
              <a:ext uri="{FF2B5EF4-FFF2-40B4-BE49-F238E27FC236}">
                <a16:creationId xmlns:a16="http://schemas.microsoft.com/office/drawing/2014/main" id="{7E2D0819-A66C-41C7-A155-189234377F36}"/>
              </a:ext>
            </a:extLst>
          </p:cNvPr>
          <p:cNvSpPr>
            <a:spLocks xmlns:a="http://schemas.openxmlformats.org/drawingml/2006/main" noGrp="1"/>
          </p:cNvSpPr>
          <p:nvPr/>
        </p:nvSpPr>
        <p:spPr>
          <a:xfrm xmlns:a="http://schemas.openxmlformats.org/drawingml/2006/main">
            <a:off x="6191250" y="4238625"/>
            <a:ext cx="2000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93750"/>
          </a:bodyPr>
          <a:lstStyle xmlns:a="http://schemas.openxmlformats.org/drawingml/2006/main"/>
          <a:p xmlns:a="http://schemas.openxmlformats.org/drawingml/2006/main">
            <a:pPr algn="l">
              <a:defRPr sz="1200" b="0" i="0">
                <a:solidFill>
                  <a:srgbClr val="233248"/>
                </a:solidFill>
                <a:latin typeface="Calibri"/>
                <a:ea typeface="Calibri"/>
                <a:cs typeface="Calibri"/>
              </a:defRPr>
            </a:pPr>
            <a:r>
              <a:rPr sz="1200" b="0" i="0">
                <a:solidFill>
                  <a:srgbClr val="233248"/>
                </a:solidFill>
                <a:latin typeface="Calibri"/>
                <a:ea typeface="Calibri"/>
                <a:cs typeface="Calibri"/>
              </a:rPr>
              <a:t>Other</a:t>
            </a:r>
          </a:p>
        </p:txBody>
      </p:sp>
      <p:sp>
        <p:nvSpPr>
          <p:cNvPr id="50" name="">
            <a:extLst xmlns:a="http://schemas.openxmlformats.org/drawingml/2006/main">
              <a:ext uri="{FF2B5EF4-FFF2-40B4-BE49-F238E27FC236}">
                <a16:creationId xmlns:a16="http://schemas.microsoft.com/office/drawing/2014/main" id="{15853E88-FB73-4C40-BEE8-6B8F26DE4B62}"/>
              </a:ext>
            </a:extLst>
          </p:cNvPr>
          <p:cNvSpPr>
            <a:spLocks xmlns:a="http://schemas.openxmlformats.org/drawingml/2006/main" noGrp="1"/>
          </p:cNvSpPr>
          <p:nvPr/>
        </p:nvSpPr>
        <p:spPr>
          <a:xfrm xmlns:a="http://schemas.openxmlformats.org/drawingml/2006/main">
            <a:off x="8267700" y="4276725"/>
            <a:ext cx="2305050" cy="161925"/>
          </a:xfrm>
          <a:prstGeom xmlns:a="http://schemas.openxmlformats.org/drawingml/2006/main" prst="roundRect">
            <a:avLst>
              <a:gd name="adj" fmla="val 23529"/>
            </a:avLst>
          </a:prstGeom>
          <a:solidFill xmlns:a="http://schemas.openxmlformats.org/drawingml/2006/main">
            <a:srgbClr val="E8ECF1"/>
          </a:solidFill>
          <a:ln xmlns:a="http://schemas.openxmlformats.org/drawingml/2006/main" w="0">
            <a:noFill/>
            <a:prstDash val="solid"/>
          </a:ln>
        </p:spPr>
      </p:sp>
      <p:sp>
        <p:nvSpPr>
          <p:cNvPr id="51" name="">
            <a:extLst xmlns:a="http://schemas.openxmlformats.org/drawingml/2006/main">
              <a:ext uri="{FF2B5EF4-FFF2-40B4-BE49-F238E27FC236}">
                <a16:creationId xmlns:a16="http://schemas.microsoft.com/office/drawing/2014/main" id="{1727B10C-9CB7-4C0C-BEB7-34E021DDC5F9}"/>
              </a:ext>
            </a:extLst>
          </p:cNvPr>
          <p:cNvSpPr>
            <a:spLocks xmlns:a="http://schemas.openxmlformats.org/drawingml/2006/main" noGrp="1"/>
          </p:cNvSpPr>
          <p:nvPr/>
        </p:nvSpPr>
        <p:spPr>
          <a:xfrm xmlns:a="http://schemas.openxmlformats.org/drawingml/2006/main">
            <a:off x="8267700" y="4276725"/>
            <a:ext cx="135591" cy="161925"/>
          </a:xfrm>
          <a:prstGeom xmlns:a="http://schemas.openxmlformats.org/drawingml/2006/main" prst="roundRect">
            <a:avLst>
              <a:gd name="adj" fmla="val 28099"/>
            </a:avLst>
          </a:prstGeom>
          <a:solidFill xmlns:a="http://schemas.openxmlformats.org/drawingml/2006/main">
            <a:srgbClr val="F47A22"/>
          </a:solidFill>
          <a:ln xmlns:a="http://schemas.openxmlformats.org/drawingml/2006/main" w="0">
            <a:noFill/>
            <a:prstDash val="solid"/>
          </a:ln>
        </p:spPr>
      </p:sp>
      <p:sp>
        <p:nvSpPr>
          <p:cNvPr id="52" name="">
            <a:extLst xmlns:a="http://schemas.openxmlformats.org/drawingml/2006/main">
              <a:ext uri="{FF2B5EF4-FFF2-40B4-BE49-F238E27FC236}">
                <a16:creationId xmlns:a16="http://schemas.microsoft.com/office/drawing/2014/main" id="{D4668712-44E4-48A4-A63F-836827CD7A77}"/>
              </a:ext>
            </a:extLst>
          </p:cNvPr>
          <p:cNvSpPr>
            <a:spLocks xmlns:a="http://schemas.openxmlformats.org/drawingml/2006/main" noGrp="1"/>
          </p:cNvSpPr>
          <p:nvPr/>
        </p:nvSpPr>
        <p:spPr>
          <a:xfrm xmlns:a="http://schemas.openxmlformats.org/drawingml/2006/main">
            <a:off x="10629900" y="4219575"/>
            <a:ext cx="3238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93750"/>
          </a:bodyPr>
          <a:lstStyle xmlns:a="http://schemas.openxmlformats.org/drawingml/2006/main"/>
          <a:p xmlns:a="http://schemas.openxmlformats.org/drawingml/2006/main">
            <a:pPr algn="r">
              <a:defRPr sz="1200" b="1" i="0">
                <a:solidFill>
                  <a:srgbClr val="233248"/>
                </a:solidFill>
                <a:latin typeface="Calibri"/>
                <a:ea typeface="Calibri"/>
                <a:cs typeface="Calibri"/>
              </a:defRPr>
            </a:pPr>
            <a:r>
              <a:rPr sz="1200" b="1" i="0">
                <a:solidFill>
                  <a:srgbClr val="233248"/>
                </a:solidFill>
                <a:latin typeface="Calibri"/>
                <a:ea typeface="Calibri"/>
                <a:cs typeface="Calibri"/>
              </a:rPr>
              <a:t>1</a:t>
            </a:r>
          </a:p>
        </p:txBody>
      </p:sp>
      <p:sp>
        <p:nvSpPr>
          <p:cNvPr id="53" name="">
            <a:extLst xmlns:a="http://schemas.openxmlformats.org/drawingml/2006/main">
              <a:ext uri="{FF2B5EF4-FFF2-40B4-BE49-F238E27FC236}">
                <a16:creationId xmlns:a16="http://schemas.microsoft.com/office/drawing/2014/main" id="{6AE37FCB-205B-4E67-8B1A-3AECD8828FF7}"/>
              </a:ext>
            </a:extLst>
          </p:cNvPr>
          <p:cNvSpPr>
            <a:spLocks xmlns:a="http://schemas.openxmlformats.org/drawingml/2006/main" noGrp="1"/>
          </p:cNvSpPr>
          <p:nvPr/>
        </p:nvSpPr>
        <p:spPr>
          <a:xfrm xmlns:a="http://schemas.openxmlformats.org/drawingml/2006/main">
            <a:off x="514350" y="4914900"/>
            <a:ext cx="10439400" cy="1009650"/>
          </a:xfrm>
          <a:prstGeom xmlns:a="http://schemas.openxmlformats.org/drawingml/2006/main" prst="roundRect">
            <a:avLst>
              <a:gd name="adj" fmla="val 5660"/>
            </a:avLst>
          </a:prstGeom>
          <a:solidFill xmlns:a="http://schemas.openxmlformats.org/drawingml/2006/main">
            <a:srgbClr val="1B2B45"/>
          </a:solidFill>
          <a:ln xmlns:a="http://schemas.openxmlformats.org/drawingml/2006/main" w="0">
            <a:noFill/>
            <a:prstDash val="solid"/>
          </a:ln>
        </p:spPr>
      </p:sp>
      <p:sp>
        <p:nvSpPr>
          <p:cNvPr id="54" name="">
            <a:extLst xmlns:a="http://schemas.openxmlformats.org/drawingml/2006/main">
              <a:ext uri="{FF2B5EF4-FFF2-40B4-BE49-F238E27FC236}">
                <a16:creationId xmlns:a16="http://schemas.microsoft.com/office/drawing/2014/main" id="{9D7318E1-542E-433C-90F5-E1BD18BDC55D}"/>
              </a:ext>
            </a:extLst>
          </p:cNvPr>
          <p:cNvSpPr>
            <a:spLocks xmlns:a="http://schemas.openxmlformats.org/drawingml/2006/main" noGrp="1"/>
          </p:cNvSpPr>
          <p:nvPr/>
        </p:nvSpPr>
        <p:spPr>
          <a:xfrm xmlns:a="http://schemas.openxmlformats.org/drawingml/2006/main">
            <a:off x="742950" y="5133975"/>
            <a:ext cx="99822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ctr">
            <a:normAutofit fontScale="100000"/>
          </a:bodyPr>
          <a:lstStyle xmlns:a="http://schemas.openxmlformats.org/drawingml/2006/main"/>
          <a:p xmlns:a="http://schemas.openxmlformats.org/drawingml/2006/main">
            <a:pPr algn="ctr">
              <a:defRPr sz="1650" b="0" i="0">
                <a:solidFill>
                  <a:srgbClr val="FFFFFF"/>
                </a:solidFill>
                <a:latin typeface="Calibri"/>
                <a:ea typeface="Calibri"/>
                <a:cs typeface="Calibri"/>
              </a:defRPr>
            </a:pPr>
            <a:r>
              <a:rPr sz="1650" b="0" i="0">
                <a:solidFill>
                  <a:srgbClr val="FFFFFF"/>
                </a:solidFill>
                <a:latin typeface="Calibri"/>
                <a:ea typeface="Calibri"/>
                <a:cs typeface="Calibri"/>
              </a:rPr>
              <a:t>The app often hands the last physical coordination step back to the rider and driver. Calls work often — but they add effort and do not provide a reliable fallback when coordination still fails.</a:t>
            </a:r>
          </a:p>
        </p:txBody>
      </p:sp>
      <p:sp>
        <p:nvSpPr>
          <p:cNvPr id="55" name="">
            <a:extLst xmlns:a="http://schemas.openxmlformats.org/drawingml/2006/main">
              <a:ext uri="{FF2B5EF4-FFF2-40B4-BE49-F238E27FC236}">
                <a16:creationId xmlns:a16="http://schemas.microsoft.com/office/drawing/2014/main" id="{9F8E753C-A4B2-4074-8D88-6CB445F4DFA9}"/>
              </a:ext>
            </a:extLst>
          </p:cNvPr>
          <p:cNvSpPr>
            <a:spLocks xmlns:a="http://schemas.openxmlformats.org/drawingml/2006/main" noGrp="1"/>
          </p:cNvSpPr>
          <p:nvPr/>
        </p:nvSpPr>
        <p:spPr>
          <a:xfrm xmlns:a="http://schemas.openxmlformats.org/drawingml/2006/main">
            <a:off x="514350" y="6515100"/>
            <a:ext cx="2857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l">
              <a:defRPr sz="750" b="0" i="0">
                <a:solidFill>
                  <a:srgbClr val="687489"/>
                </a:solidFill>
                <a:latin typeface="Calibri"/>
                <a:ea typeface="Calibri"/>
                <a:cs typeface="Calibri"/>
              </a:defRPr>
            </a:pPr>
            <a:r>
              <a:rPr sz="750" b="0" i="0">
                <a:solidFill>
                  <a:srgbClr val="687489"/>
                </a:solidFill>
                <a:latin typeface="Calibri"/>
                <a:ea typeface="Calibri"/>
                <a:cs typeface="Calibri"/>
              </a:rPr>
              <a:t>Find My Ride</a:t>
            </a:r>
          </a:p>
        </p:txBody>
      </p:sp>
      <p:sp>
        <p:nvSpPr>
          <p:cNvPr id="56" name="">
            <a:extLst xmlns:a="http://schemas.openxmlformats.org/drawingml/2006/main">
              <a:ext uri="{FF2B5EF4-FFF2-40B4-BE49-F238E27FC236}">
                <a16:creationId xmlns:a16="http://schemas.microsoft.com/office/drawing/2014/main" id="{B99C94C9-9B01-4A76-A2B6-C5E1E689DA6D}"/>
              </a:ext>
            </a:extLst>
          </p:cNvPr>
          <p:cNvSpPr>
            <a:spLocks xmlns:a="http://schemas.openxmlformats.org/drawingml/2006/main" noGrp="1"/>
          </p:cNvSpPr>
          <p:nvPr/>
        </p:nvSpPr>
        <p:spPr>
          <a:xfrm xmlns:a="http://schemas.openxmlformats.org/drawingml/2006/main">
            <a:off x="11372850" y="6515100"/>
            <a:ext cx="3048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r">
              <a:defRPr sz="750" b="0" i="0">
                <a:solidFill>
                  <a:srgbClr val="687489"/>
                </a:solidFill>
                <a:latin typeface="Calibri"/>
                <a:ea typeface="Calibri"/>
                <a:cs typeface="Calibri"/>
              </a:defRPr>
            </a:pPr>
            <a:r>
              <a:rPr sz="750" b="0" i="0">
                <a:solidFill>
                  <a:srgbClr val="687489"/>
                </a:solidFill>
                <a:latin typeface="Calibri"/>
                <a:ea typeface="Calibri"/>
                <a:cs typeface="Calibri"/>
              </a:rPr>
              <a:t>6</a:t>
            </a:r>
          </a:p>
        </p:txBody>
      </p:sp>
    </p:spTree>
    <p:extLst>
      <p:ext uri="{BB962C8B-B14F-4D97-AF65-F5344CB8AC3E}">
        <p14:creationId xmlns:p14="http://schemas.microsoft.com/office/powerpoint/2010/main" val="740095288"/>
      </p:ext>
    </p:extLst>
  </p:cSld>
</p:sld>
</file>

<file path=ppt/slides/slide7.xml><?xml version="1.0" encoding="utf-8"?>
<p:sld xmlns:p="http://schemas.openxmlformats.org/presentationml/2006/main">
  <p:cSld>
    <p:bg>
      <p:bgPr>
        <a:solidFill xmlns:a="http://schemas.openxmlformats.org/drawingml/2006/main">
          <a:srgbClr val="F3F5F8"/>
        </a:solidFill>
      </p:bgPr>
    </p:bg>
    <p:spTree>
      <p:nvGrpSpPr>
        <p:cNvPr id="1" name=""/>
        <p:cNvGrpSpPr/>
        <p:nvPr/>
      </p:nvGrpSpPr>
      <p:grpSpPr>
        <a:xfrm xmlns:a="http://schemas.openxmlformats.org/drawingml/2006/main"/>
      </p:grpSpPr>
      <p:sp>
        <p:nvSpPr>
          <p:cNvPr id="15" name="">
            <a:extLst xmlns:a="http://schemas.openxmlformats.org/drawingml/2006/main">
              <a:ext uri="{FF2B5EF4-FFF2-40B4-BE49-F238E27FC236}">
                <a16:creationId xmlns:a16="http://schemas.microsoft.com/office/drawing/2014/main" id="{5D7476B8-E06F-4301-9A88-6FBF183A2892}"/>
              </a:ext>
            </a:extLst>
          </p:cNvPr>
          <p:cNvSpPr>
            <a:spLocks xmlns:a="http://schemas.openxmlformats.org/drawingml/2006/main" noGrp="1"/>
          </p:cNvSpPr>
          <p:nvPr/>
        </p:nvSpPr>
        <p:spPr>
          <a:xfrm xmlns:a="http://schemas.openxmlformats.org/drawingml/2006/main">
            <a:off x="514350" y="247650"/>
            <a:ext cx="11144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l">
              <a:defRPr sz="975" b="1" i="0">
                <a:solidFill>
                  <a:srgbClr val="F47A22"/>
                </a:solidFill>
                <a:latin typeface="Calibri"/>
                <a:ea typeface="Calibri"/>
                <a:cs typeface="Calibri"/>
              </a:defRPr>
            </a:pPr>
            <a:r>
              <a:rPr sz="975" b="1" i="0">
                <a:solidFill>
                  <a:srgbClr val="F47A22"/>
                </a:solidFill>
                <a:latin typeface="Calibri"/>
                <a:ea typeface="Calibri"/>
                <a:cs typeface="Calibri"/>
              </a:rPr>
              <a:t>STRATEGY IMPLICATION</a:t>
            </a:r>
          </a:p>
        </p:txBody>
      </p:sp>
      <p:sp>
        <p:nvSpPr>
          <p:cNvPr id="2" name="">
            <a:extLst xmlns:a="http://schemas.openxmlformats.org/drawingml/2006/main">
              <a:ext uri="{FF2B5EF4-FFF2-40B4-BE49-F238E27FC236}">
                <a16:creationId xmlns:a16="http://schemas.microsoft.com/office/drawing/2014/main" id="{7367DACD-FB8F-4AD6-B50E-7C58271F1EA7}"/>
              </a:ext>
            </a:extLst>
          </p:cNvPr>
          <p:cNvSpPr>
            <a:spLocks xmlns:a="http://schemas.openxmlformats.org/drawingml/2006/main" noGrp="1"/>
          </p:cNvSpPr>
          <p:nvPr/>
        </p:nvSpPr>
        <p:spPr>
          <a:xfrm xmlns:a="http://schemas.openxmlformats.org/drawingml/2006/main">
            <a:off x="514350" y="571500"/>
            <a:ext cx="1114425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l">
              <a:defRPr sz="2550" b="1" i="0">
                <a:solidFill>
                  <a:srgbClr val="1B2B45"/>
                </a:solidFill>
                <a:latin typeface="Calibri"/>
                <a:ea typeface="Calibri"/>
                <a:cs typeface="Calibri"/>
              </a:defRPr>
            </a:pPr>
            <a:r>
              <a:rPr sz="2550" b="1" i="0">
                <a:solidFill>
                  <a:srgbClr val="1B2B45"/>
                </a:solidFill>
                <a:latin typeface="Calibri"/>
                <a:ea typeface="Calibri"/>
                <a:cs typeface="Calibri"/>
              </a:rPr>
              <a:t>Make the fallback faster — not the map more complicated</a:t>
            </a:r>
          </a:p>
        </p:txBody>
      </p:sp>
      <p:sp>
        <p:nvSpPr>
          <p:cNvPr id="3" name="">
            <a:extLst xmlns:a="http://schemas.openxmlformats.org/drawingml/2006/main">
              <a:ext uri="{FF2B5EF4-FFF2-40B4-BE49-F238E27FC236}">
                <a16:creationId xmlns:a16="http://schemas.microsoft.com/office/drawing/2014/main" id="{9DCF9657-3DEB-44EE-96C4-0D75927CA2A5}"/>
              </a:ext>
            </a:extLst>
          </p:cNvPr>
          <p:cNvSpPr>
            <a:spLocks xmlns:a="http://schemas.openxmlformats.org/drawingml/2006/main" noGrp="1"/>
          </p:cNvSpPr>
          <p:nvPr/>
        </p:nvSpPr>
        <p:spPr>
          <a:xfrm xmlns:a="http://schemas.openxmlformats.org/drawingml/2006/main">
            <a:off x="514350" y="1619250"/>
            <a:ext cx="10439400" cy="1104900"/>
          </a:xfrm>
          <a:prstGeom xmlns:a="http://schemas.openxmlformats.org/drawingml/2006/main" prst="roundRect">
            <a:avLst>
              <a:gd name="adj" fmla="val 5172"/>
            </a:avLst>
          </a:prstGeom>
          <a:solidFill xmlns:a="http://schemas.openxmlformats.org/drawingml/2006/main">
            <a:srgbClr val="E2F4F6"/>
          </a:solidFill>
          <a:ln xmlns:a="http://schemas.openxmlformats.org/drawingml/2006/main" w="0">
            <a:noFill/>
            <a:prstDash val="solid"/>
          </a:ln>
        </p:spPr>
      </p:sp>
      <p:sp>
        <p:nvSpPr>
          <p:cNvPr id="4" name="">
            <a:extLst xmlns:a="http://schemas.openxmlformats.org/drawingml/2006/main">
              <a:ext uri="{FF2B5EF4-FFF2-40B4-BE49-F238E27FC236}">
                <a16:creationId xmlns:a16="http://schemas.microsoft.com/office/drawing/2014/main" id="{06C8DF37-97B5-4CFB-9636-B424C6706914}"/>
              </a:ext>
            </a:extLst>
          </p:cNvPr>
          <p:cNvSpPr>
            <a:spLocks xmlns:a="http://schemas.openxmlformats.org/drawingml/2006/main" noGrp="1"/>
          </p:cNvSpPr>
          <p:nvPr/>
        </p:nvSpPr>
        <p:spPr>
          <a:xfrm xmlns:a="http://schemas.openxmlformats.org/drawingml/2006/main">
            <a:off x="704850" y="1771650"/>
            <a:ext cx="24765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88235"/>
          </a:bodyPr>
          <a:lstStyle xmlns:a="http://schemas.openxmlformats.org/drawingml/2006/main"/>
          <a:p xmlns:a="http://schemas.openxmlformats.org/drawingml/2006/main">
            <a:pPr algn="l">
              <a:defRPr sz="1275" b="1" i="0">
                <a:solidFill>
                  <a:srgbClr val="1BB5C8"/>
                </a:solidFill>
                <a:latin typeface="Calibri"/>
                <a:ea typeface="Calibri"/>
                <a:cs typeface="Calibri"/>
              </a:defRPr>
            </a:pPr>
            <a:r>
              <a:rPr sz="1275" b="1" i="0">
                <a:solidFill>
                  <a:srgbClr val="1BB5C8"/>
                </a:solidFill>
                <a:latin typeface="Calibri"/>
                <a:ea typeface="Calibri"/>
                <a:cs typeface="Calibri"/>
              </a:rPr>
              <a:t>Recommended direction</a:t>
            </a:r>
          </a:p>
        </p:txBody>
      </p:sp>
      <p:sp>
        <p:nvSpPr>
          <p:cNvPr id="5" name="">
            <a:extLst xmlns:a="http://schemas.openxmlformats.org/drawingml/2006/main">
              <a:ext uri="{FF2B5EF4-FFF2-40B4-BE49-F238E27FC236}">
                <a16:creationId xmlns:a16="http://schemas.microsoft.com/office/drawing/2014/main" id="{A8B83853-2A8F-4ADA-A80E-97E5214939A4}"/>
              </a:ext>
            </a:extLst>
          </p:cNvPr>
          <p:cNvSpPr>
            <a:spLocks xmlns:a="http://schemas.openxmlformats.org/drawingml/2006/main" noGrp="1"/>
          </p:cNvSpPr>
          <p:nvPr/>
        </p:nvSpPr>
        <p:spPr>
          <a:xfrm xmlns:a="http://schemas.openxmlformats.org/drawingml/2006/main">
            <a:off x="704850" y="2114550"/>
            <a:ext cx="99822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77805"/>
          </a:bodyPr>
          <a:lstStyle xmlns:a="http://schemas.openxmlformats.org/drawingml/2006/main"/>
          <a:p xmlns:a="http://schemas.openxmlformats.org/drawingml/2006/main">
            <a:pPr algn="l">
              <a:defRPr sz="2025" b="1" i="0">
                <a:solidFill>
                  <a:srgbClr val="1B2B45"/>
                </a:solidFill>
                <a:latin typeface="Calibri"/>
                <a:ea typeface="Calibri"/>
                <a:cs typeface="Calibri"/>
              </a:defRPr>
            </a:pPr>
            <a:r>
              <a:rPr sz="2025" b="1" i="0">
                <a:solidFill>
                  <a:srgbClr val="1B2B45"/>
                </a:solidFill>
                <a:latin typeface="Calibri"/>
                <a:ea typeface="Calibri"/>
                <a:cs typeface="Calibri"/>
              </a:rPr>
              <a:t>Reduce the effort and uncertainty of manual pickup recovery at a defined set of complex location types.</a:t>
            </a:r>
          </a:p>
        </p:txBody>
      </p:sp>
      <p:sp>
        <p:nvSpPr>
          <p:cNvPr id="6" name="">
            <a:extLst xmlns:a="http://schemas.openxmlformats.org/drawingml/2006/main">
              <a:ext uri="{FF2B5EF4-FFF2-40B4-BE49-F238E27FC236}">
                <a16:creationId xmlns:a16="http://schemas.microsoft.com/office/drawing/2014/main" id="{6C939C38-80DE-4843-81C4-7AF938992072}"/>
              </a:ext>
            </a:extLst>
          </p:cNvPr>
          <p:cNvSpPr>
            <a:spLocks xmlns:a="http://schemas.openxmlformats.org/drawingml/2006/main" noGrp="1"/>
          </p:cNvSpPr>
          <p:nvPr/>
        </p:nvSpPr>
        <p:spPr>
          <a:xfrm xmlns:a="http://schemas.openxmlformats.org/drawingml/2006/main">
            <a:off x="514350" y="3009900"/>
            <a:ext cx="4953000" cy="2019300"/>
          </a:xfrm>
          <a:prstGeom xmlns:a="http://schemas.openxmlformats.org/drawingml/2006/main" prst="roundRect">
            <a:avLst>
              <a:gd name="adj" fmla="val 2830"/>
            </a:avLst>
          </a:prstGeom>
          <a:solidFill xmlns:a="http://schemas.openxmlformats.org/drawingml/2006/main">
            <a:srgbClr val="FFFFFF"/>
          </a:solidFill>
          <a:ln xmlns:a="http://schemas.openxmlformats.org/drawingml/2006/main" w="9525">
            <a:solidFill>
              <a:srgbClr val="E8ECF1"/>
            </a:solidFill>
            <a:prstDash val="solid"/>
          </a:ln>
        </p:spPr>
      </p:sp>
      <p:sp>
        <p:nvSpPr>
          <p:cNvPr id="7" name="">
            <a:extLst xmlns:a="http://schemas.openxmlformats.org/drawingml/2006/main">
              <a:ext uri="{FF2B5EF4-FFF2-40B4-BE49-F238E27FC236}">
                <a16:creationId xmlns:a16="http://schemas.microsoft.com/office/drawing/2014/main" id="{76836161-8C29-4A37-9FD6-B306687FC346}"/>
              </a:ext>
            </a:extLst>
          </p:cNvPr>
          <p:cNvSpPr>
            <a:spLocks xmlns:a="http://schemas.openxmlformats.org/drawingml/2006/main" noGrp="1"/>
          </p:cNvSpPr>
          <p:nvPr/>
        </p:nvSpPr>
        <p:spPr>
          <a:xfrm xmlns:a="http://schemas.openxmlformats.org/drawingml/2006/main">
            <a:off x="666750" y="3124200"/>
            <a:ext cx="46482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l">
              <a:defRPr sz="1275" b="1" i="0">
                <a:solidFill>
                  <a:srgbClr val="1BB5C8"/>
                </a:solidFill>
                <a:latin typeface="Calibri"/>
                <a:ea typeface="Calibri"/>
                <a:cs typeface="Calibri"/>
              </a:defRPr>
            </a:pPr>
            <a:r>
              <a:rPr sz="1275" b="1" i="0">
                <a:solidFill>
                  <a:srgbClr val="1BB5C8"/>
                </a:solidFill>
                <a:latin typeface="Calibri"/>
                <a:ea typeface="Calibri"/>
                <a:cs typeface="Calibri"/>
              </a:rPr>
              <a:t>DO</a:t>
            </a:r>
          </a:p>
        </p:txBody>
      </p:sp>
      <p:sp>
        <p:nvSpPr>
          <p:cNvPr id="8" name="">
            <a:extLst xmlns:a="http://schemas.openxmlformats.org/drawingml/2006/main">
              <a:ext uri="{FF2B5EF4-FFF2-40B4-BE49-F238E27FC236}">
                <a16:creationId xmlns:a16="http://schemas.microsoft.com/office/drawing/2014/main" id="{DD5E961C-9703-48F7-99C2-3664AD5BCDFE}"/>
              </a:ext>
            </a:extLst>
          </p:cNvPr>
          <p:cNvSpPr>
            <a:spLocks xmlns:a="http://schemas.openxmlformats.org/drawingml/2006/main" noGrp="1"/>
          </p:cNvSpPr>
          <p:nvPr/>
        </p:nvSpPr>
        <p:spPr>
          <a:xfrm xmlns:a="http://schemas.openxmlformats.org/drawingml/2006/main">
            <a:off x="666750" y="3457575"/>
            <a:ext cx="4648200" cy="1466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l">
              <a:defRPr sz="1725" b="0" i="0">
                <a:solidFill>
                  <a:srgbClr val="233248"/>
                </a:solidFill>
                <a:latin typeface="Calibri"/>
                <a:ea typeface="Calibri"/>
                <a:cs typeface="Calibri"/>
              </a:defRPr>
            </a:pPr>
            <a:r>
              <a:rPr sz="1725" b="0" i="0">
                <a:solidFill>
                  <a:srgbClr val="233248"/>
                </a:solidFill>
                <a:latin typeface="Calibri"/>
                <a:ea typeface="Calibri"/>
                <a:cs typeface="Calibri"/>
              </a:rPr>
              <a:t>Test an early handoff note, a guided stalled-pickup recovery flow, and venue-specific coordination information — in that order.</a:t>
            </a:r>
          </a:p>
        </p:txBody>
      </p:sp>
      <p:sp>
        <p:nvSpPr>
          <p:cNvPr id="9" name="">
            <a:extLst xmlns:a="http://schemas.openxmlformats.org/drawingml/2006/main">
              <a:ext uri="{FF2B5EF4-FFF2-40B4-BE49-F238E27FC236}">
                <a16:creationId xmlns:a16="http://schemas.microsoft.com/office/drawing/2014/main" id="{E48D43C9-EFF8-4B9B-A9FC-30CBCF1B6080}"/>
              </a:ext>
            </a:extLst>
          </p:cNvPr>
          <p:cNvSpPr>
            <a:spLocks xmlns:a="http://schemas.openxmlformats.org/drawingml/2006/main" noGrp="1"/>
          </p:cNvSpPr>
          <p:nvPr/>
        </p:nvSpPr>
        <p:spPr>
          <a:xfrm xmlns:a="http://schemas.openxmlformats.org/drawingml/2006/main">
            <a:off x="5810250" y="3009900"/>
            <a:ext cx="5143500" cy="2019300"/>
          </a:xfrm>
          <a:prstGeom xmlns:a="http://schemas.openxmlformats.org/drawingml/2006/main" prst="roundRect">
            <a:avLst>
              <a:gd name="adj" fmla="val 2830"/>
            </a:avLst>
          </a:prstGeom>
          <a:solidFill xmlns:a="http://schemas.openxmlformats.org/drawingml/2006/main">
            <a:srgbClr val="FBE7D8"/>
          </a:solidFill>
          <a:ln xmlns:a="http://schemas.openxmlformats.org/drawingml/2006/main" w="9525">
            <a:solidFill>
              <a:srgbClr val="E8ECF1"/>
            </a:solidFill>
            <a:prstDash val="solid"/>
          </a:ln>
        </p:spPr>
      </p:sp>
      <p:sp>
        <p:nvSpPr>
          <p:cNvPr id="10" name="">
            <a:extLst xmlns:a="http://schemas.openxmlformats.org/drawingml/2006/main">
              <a:ext uri="{FF2B5EF4-FFF2-40B4-BE49-F238E27FC236}">
                <a16:creationId xmlns:a16="http://schemas.microsoft.com/office/drawing/2014/main" id="{E380DA00-351B-4C88-BF42-1B4642F140F1}"/>
              </a:ext>
            </a:extLst>
          </p:cNvPr>
          <p:cNvSpPr>
            <a:spLocks xmlns:a="http://schemas.openxmlformats.org/drawingml/2006/main" noGrp="1"/>
          </p:cNvSpPr>
          <p:nvPr/>
        </p:nvSpPr>
        <p:spPr>
          <a:xfrm xmlns:a="http://schemas.openxmlformats.org/drawingml/2006/main">
            <a:off x="5962650" y="3124200"/>
            <a:ext cx="48387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l">
              <a:defRPr sz="1275" b="1" i="0">
                <a:solidFill>
                  <a:srgbClr val="F47A22"/>
                </a:solidFill>
                <a:latin typeface="Calibri"/>
                <a:ea typeface="Calibri"/>
                <a:cs typeface="Calibri"/>
              </a:defRPr>
            </a:pPr>
            <a:r>
              <a:rPr sz="1275" b="1" i="0">
                <a:solidFill>
                  <a:srgbClr val="F47A22"/>
                </a:solidFill>
                <a:latin typeface="Calibri"/>
                <a:ea typeface="Calibri"/>
                <a:cs typeface="Calibri"/>
              </a:rPr>
              <a:t>DO NOT</a:t>
            </a:r>
          </a:p>
        </p:txBody>
      </p:sp>
      <p:sp>
        <p:nvSpPr>
          <p:cNvPr id="11" name="">
            <a:extLst xmlns:a="http://schemas.openxmlformats.org/drawingml/2006/main">
              <a:ext uri="{FF2B5EF4-FFF2-40B4-BE49-F238E27FC236}">
                <a16:creationId xmlns:a16="http://schemas.microsoft.com/office/drawing/2014/main" id="{3F7D6C9F-FD9D-4667-A8C3-6F4A86CBF79D}"/>
              </a:ext>
            </a:extLst>
          </p:cNvPr>
          <p:cNvSpPr>
            <a:spLocks xmlns:a="http://schemas.openxmlformats.org/drawingml/2006/main" noGrp="1"/>
          </p:cNvSpPr>
          <p:nvPr/>
        </p:nvSpPr>
        <p:spPr>
          <a:xfrm xmlns:a="http://schemas.openxmlformats.org/drawingml/2006/main">
            <a:off x="5962650" y="3457575"/>
            <a:ext cx="4838700" cy="1466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l">
              <a:defRPr sz="1725" b="0" i="0">
                <a:solidFill>
                  <a:srgbClr val="233248"/>
                </a:solidFill>
                <a:latin typeface="Calibri"/>
                <a:ea typeface="Calibri"/>
                <a:cs typeface="Calibri"/>
              </a:defRPr>
            </a:pPr>
            <a:r>
              <a:rPr sz="1725" b="0" i="0">
                <a:solidFill>
                  <a:srgbClr val="233248"/>
                </a:solidFill>
                <a:latin typeface="Calibri"/>
                <a:ea typeface="Calibri"/>
                <a:cs typeface="Calibri"/>
              </a:rPr>
              <a:t>Do not add friction to every ride, position this as an airport-only problem, or treat all cancellations as map failures.</a:t>
            </a:r>
          </a:p>
        </p:txBody>
      </p:sp>
      <p:sp>
        <p:nvSpPr>
          <p:cNvPr id="12" name="">
            <a:extLst xmlns:a="http://schemas.openxmlformats.org/drawingml/2006/main">
              <a:ext uri="{FF2B5EF4-FFF2-40B4-BE49-F238E27FC236}">
                <a16:creationId xmlns:a16="http://schemas.microsoft.com/office/drawing/2014/main" id="{8BC61069-838B-4AD2-A8CF-8765E98CDFAA}"/>
              </a:ext>
            </a:extLst>
          </p:cNvPr>
          <p:cNvSpPr>
            <a:spLocks xmlns:a="http://schemas.openxmlformats.org/drawingml/2006/main" noGrp="1"/>
          </p:cNvSpPr>
          <p:nvPr/>
        </p:nvSpPr>
        <p:spPr>
          <a:xfrm xmlns:a="http://schemas.openxmlformats.org/drawingml/2006/main">
            <a:off x="514350" y="5314950"/>
            <a:ext cx="104394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98882"/>
          </a:bodyPr>
          <a:lstStyle xmlns:a="http://schemas.openxmlformats.org/drawingml/2006/main"/>
          <a:p xmlns:a="http://schemas.openxmlformats.org/drawingml/2006/main">
            <a:pPr algn="ctr">
              <a:defRPr sz="1500" b="1" i="0">
                <a:solidFill>
                  <a:srgbClr val="1B2B45"/>
                </a:solidFill>
                <a:latin typeface="Calibri"/>
                <a:ea typeface="Calibri"/>
                <a:cs typeface="Calibri"/>
              </a:defRPr>
            </a:pPr>
            <a:r>
              <a:rPr sz="1500" b="1" i="0">
                <a:solidFill>
                  <a:srgbClr val="1B2B45"/>
                </a:solidFill>
                <a:latin typeface="Calibri"/>
                <a:ea typeface="Calibri"/>
                <a:cs typeface="Calibri"/>
              </a:rPr>
              <a:t>Biggest open risk: driver evidence and marketplace economics are too thin to support a two-sided rollout decision.</a:t>
            </a:r>
          </a:p>
        </p:txBody>
      </p:sp>
      <p:sp>
        <p:nvSpPr>
          <p:cNvPr id="13" name="">
            <a:extLst xmlns:a="http://schemas.openxmlformats.org/drawingml/2006/main">
              <a:ext uri="{FF2B5EF4-FFF2-40B4-BE49-F238E27FC236}">
                <a16:creationId xmlns:a16="http://schemas.microsoft.com/office/drawing/2014/main" id="{07093601-8CA5-4C89-9882-42C7C698E1A7}"/>
              </a:ext>
            </a:extLst>
          </p:cNvPr>
          <p:cNvSpPr>
            <a:spLocks xmlns:a="http://schemas.openxmlformats.org/drawingml/2006/main" noGrp="1"/>
          </p:cNvSpPr>
          <p:nvPr/>
        </p:nvSpPr>
        <p:spPr>
          <a:xfrm xmlns:a="http://schemas.openxmlformats.org/drawingml/2006/main">
            <a:off x="514350" y="6515100"/>
            <a:ext cx="2857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l">
              <a:defRPr sz="750" b="0" i="0">
                <a:solidFill>
                  <a:srgbClr val="687489"/>
                </a:solidFill>
                <a:latin typeface="Calibri"/>
                <a:ea typeface="Calibri"/>
                <a:cs typeface="Calibri"/>
              </a:defRPr>
            </a:pPr>
            <a:r>
              <a:rPr sz="750" b="0" i="0">
                <a:solidFill>
                  <a:srgbClr val="687489"/>
                </a:solidFill>
                <a:latin typeface="Calibri"/>
                <a:ea typeface="Calibri"/>
                <a:cs typeface="Calibri"/>
              </a:rPr>
              <a:t>Find My Ride</a:t>
            </a:r>
          </a:p>
        </p:txBody>
      </p:sp>
      <p:sp>
        <p:nvSpPr>
          <p:cNvPr id="14" name="">
            <a:extLst xmlns:a="http://schemas.openxmlformats.org/drawingml/2006/main">
              <a:ext uri="{FF2B5EF4-FFF2-40B4-BE49-F238E27FC236}">
                <a16:creationId xmlns:a16="http://schemas.microsoft.com/office/drawing/2014/main" id="{CB921257-EEBE-4F31-9B19-1AC2DA991FAA}"/>
              </a:ext>
            </a:extLst>
          </p:cNvPr>
          <p:cNvSpPr>
            <a:spLocks xmlns:a="http://schemas.openxmlformats.org/drawingml/2006/main" noGrp="1"/>
          </p:cNvSpPr>
          <p:nvPr/>
        </p:nvSpPr>
        <p:spPr>
          <a:xfrm xmlns:a="http://schemas.openxmlformats.org/drawingml/2006/main">
            <a:off x="11372850" y="6515100"/>
            <a:ext cx="3048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r">
              <a:defRPr sz="750" b="0" i="0">
                <a:solidFill>
                  <a:srgbClr val="687489"/>
                </a:solidFill>
                <a:latin typeface="Calibri"/>
                <a:ea typeface="Calibri"/>
                <a:cs typeface="Calibri"/>
              </a:defRPr>
            </a:pPr>
            <a:r>
              <a:rPr sz="750" b="0" i="0">
                <a:solidFill>
                  <a:srgbClr val="687489"/>
                </a:solidFill>
                <a:latin typeface="Calibri"/>
                <a:ea typeface="Calibri"/>
                <a:cs typeface="Calibri"/>
              </a:rPr>
              <a:t>7</a:t>
            </a:r>
          </a:p>
        </p:txBody>
      </p:sp>
    </p:spTree>
    <p:extLst>
      <p:ext uri="{BB962C8B-B14F-4D97-AF65-F5344CB8AC3E}">
        <p14:creationId xmlns:p14="http://schemas.microsoft.com/office/powerpoint/2010/main" val="1640194400"/>
      </p:ext>
    </p:extLst>
  </p:cSld>
</p:sld>
</file>

<file path=ppt/slides/slide8.xml><?xml version="1.0" encoding="utf-8"?>
<p:sld xmlns:p="http://schemas.openxmlformats.org/presentationml/2006/main">
  <p:cSld>
    <p:bg>
      <p:bgPr>
        <a:solidFill xmlns:a="http://schemas.openxmlformats.org/drawingml/2006/main">
          <a:srgbClr val="F3F5F8"/>
        </a:solidFill>
      </p:bgPr>
    </p:bg>
    <p:spTree>
      <p:nvGrpSpPr>
        <p:cNvPr id="1" name=""/>
        <p:cNvGrpSpPr/>
        <p:nvPr/>
      </p:nvGrpSpPr>
      <p:grpSpPr>
        <a:xfrm xmlns:a="http://schemas.openxmlformats.org/drawingml/2006/main"/>
      </p:grpSpPr>
      <p:sp>
        <p:nvSpPr>
          <p:cNvPr id="20" name="">
            <a:extLst xmlns:a="http://schemas.openxmlformats.org/drawingml/2006/main">
              <a:ext uri="{FF2B5EF4-FFF2-40B4-BE49-F238E27FC236}">
                <a16:creationId xmlns:a16="http://schemas.microsoft.com/office/drawing/2014/main" id="{4760115E-3989-4731-8BE3-C60634C7FDD0}"/>
              </a:ext>
            </a:extLst>
          </p:cNvPr>
          <p:cNvSpPr>
            <a:spLocks xmlns:a="http://schemas.openxmlformats.org/drawingml/2006/main" noGrp="1"/>
          </p:cNvSpPr>
          <p:nvPr/>
        </p:nvSpPr>
        <p:spPr>
          <a:xfrm xmlns:a="http://schemas.openxmlformats.org/drawingml/2006/main">
            <a:off x="514350" y="247650"/>
            <a:ext cx="11144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l">
              <a:defRPr sz="975" b="1" i="0">
                <a:solidFill>
                  <a:srgbClr val="F47A22"/>
                </a:solidFill>
                <a:latin typeface="Calibri"/>
                <a:ea typeface="Calibri"/>
                <a:cs typeface="Calibri"/>
              </a:defRPr>
            </a:pPr>
            <a:r>
              <a:rPr sz="975" b="1" i="0">
                <a:solidFill>
                  <a:srgbClr val="F47A22"/>
                </a:solidFill>
                <a:latin typeface="Calibri"/>
                <a:ea typeface="Calibri"/>
                <a:cs typeface="Calibri"/>
              </a:rPr>
              <a:t>RESEARCH-LED IDEA 1</a:t>
            </a:r>
          </a:p>
        </p:txBody>
      </p:sp>
      <p:sp>
        <p:nvSpPr>
          <p:cNvPr id="2" name="">
            <a:extLst xmlns:a="http://schemas.openxmlformats.org/drawingml/2006/main">
              <a:ext uri="{FF2B5EF4-FFF2-40B4-BE49-F238E27FC236}">
                <a16:creationId xmlns:a16="http://schemas.microsoft.com/office/drawing/2014/main" id="{14EB9118-1D18-4D38-BEBD-81DCEDB18FFD}"/>
              </a:ext>
            </a:extLst>
          </p:cNvPr>
          <p:cNvSpPr>
            <a:spLocks xmlns:a="http://schemas.openxmlformats.org/drawingml/2006/main" noGrp="1"/>
          </p:cNvSpPr>
          <p:nvPr/>
        </p:nvSpPr>
        <p:spPr>
          <a:xfrm xmlns:a="http://schemas.openxmlformats.org/drawingml/2006/main">
            <a:off x="514350" y="571500"/>
            <a:ext cx="1114425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l">
              <a:defRPr sz="2550" b="1" i="0">
                <a:solidFill>
                  <a:srgbClr val="1B2B45"/>
                </a:solidFill>
                <a:latin typeface="Calibri"/>
                <a:ea typeface="Calibri"/>
                <a:cs typeface="Calibri"/>
              </a:defRPr>
            </a:pPr>
            <a:r>
              <a:rPr sz="2550" b="1" i="0">
                <a:solidFill>
                  <a:srgbClr val="1B2B45"/>
                </a:solidFill>
                <a:latin typeface="Calibri"/>
                <a:ea typeface="Calibri"/>
                <a:cs typeface="Calibri"/>
              </a:rPr>
              <a:t>Structured pre-arrival meeting note</a:t>
            </a:r>
          </a:p>
        </p:txBody>
      </p:sp>
      <p:sp>
        <p:nvSpPr>
          <p:cNvPr id="3" name="">
            <a:extLst xmlns:a="http://schemas.openxmlformats.org/drawingml/2006/main">
              <a:ext uri="{FF2B5EF4-FFF2-40B4-BE49-F238E27FC236}">
                <a16:creationId xmlns:a16="http://schemas.microsoft.com/office/drawing/2014/main" id="{35D872C6-063B-44C4-9F21-D641F781BC27}"/>
              </a:ext>
            </a:extLst>
          </p:cNvPr>
          <p:cNvSpPr>
            <a:spLocks xmlns:a="http://schemas.openxmlformats.org/drawingml/2006/main" noGrp="1"/>
          </p:cNvSpPr>
          <p:nvPr/>
        </p:nvSpPr>
        <p:spPr>
          <a:xfrm xmlns:a="http://schemas.openxmlformats.org/drawingml/2006/main">
            <a:off x="514350" y="1057275"/>
            <a:ext cx="108585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l">
              <a:defRPr sz="1350" b="0" i="0">
                <a:solidFill>
                  <a:srgbClr val="687489"/>
                </a:solidFill>
                <a:latin typeface="Calibri"/>
                <a:ea typeface="Calibri"/>
                <a:cs typeface="Calibri"/>
              </a:defRPr>
            </a:pPr>
            <a:r>
              <a:rPr sz="1350" b="0" i="0">
                <a:solidFill>
                  <a:srgbClr val="687489"/>
                </a:solidFill>
                <a:latin typeface="Calibri"/>
                <a:ea typeface="Calibri"/>
                <a:cs typeface="Calibri"/>
              </a:rPr>
              <a:t>Strongest first test because it formalizes an existing user-created workaround.</a:t>
            </a:r>
          </a:p>
        </p:txBody>
      </p:sp>
      <p:sp>
        <p:nvSpPr>
          <p:cNvPr id="4" name="">
            <a:extLst xmlns:a="http://schemas.openxmlformats.org/drawingml/2006/main">
              <a:ext uri="{FF2B5EF4-FFF2-40B4-BE49-F238E27FC236}">
                <a16:creationId xmlns:a16="http://schemas.microsoft.com/office/drawing/2014/main" id="{83F104E8-AE5B-4A7C-B871-3D30FA33D25E}"/>
              </a:ext>
            </a:extLst>
          </p:cNvPr>
          <p:cNvSpPr>
            <a:spLocks xmlns:a="http://schemas.openxmlformats.org/drawingml/2006/main" noGrp="1"/>
          </p:cNvSpPr>
          <p:nvPr/>
        </p:nvSpPr>
        <p:spPr>
          <a:xfrm xmlns:a="http://schemas.openxmlformats.org/drawingml/2006/main">
            <a:off x="514350" y="1657350"/>
            <a:ext cx="4972050" cy="1428750"/>
          </a:xfrm>
          <a:prstGeom xmlns:a="http://schemas.openxmlformats.org/drawingml/2006/main" prst="roundRect">
            <a:avLst>
              <a:gd name="adj" fmla="val 4000"/>
            </a:avLst>
          </a:prstGeom>
          <a:solidFill xmlns:a="http://schemas.openxmlformats.org/drawingml/2006/main">
            <a:srgbClr val="FFFFFF"/>
          </a:solidFill>
          <a:ln xmlns:a="http://schemas.openxmlformats.org/drawingml/2006/main" w="9525">
            <a:solidFill>
              <a:srgbClr val="E8ECF1"/>
            </a:solidFill>
            <a:prstDash val="solid"/>
          </a:ln>
        </p:spPr>
      </p:sp>
      <p:sp>
        <p:nvSpPr>
          <p:cNvPr id="5" name="">
            <a:extLst xmlns:a="http://schemas.openxmlformats.org/drawingml/2006/main">
              <a:ext uri="{FF2B5EF4-FFF2-40B4-BE49-F238E27FC236}">
                <a16:creationId xmlns:a16="http://schemas.microsoft.com/office/drawing/2014/main" id="{278742F8-4F62-44CE-9F09-827ACCE0AA7B}"/>
              </a:ext>
            </a:extLst>
          </p:cNvPr>
          <p:cNvSpPr>
            <a:spLocks xmlns:a="http://schemas.openxmlformats.org/drawingml/2006/main" noGrp="1"/>
          </p:cNvSpPr>
          <p:nvPr/>
        </p:nvSpPr>
        <p:spPr>
          <a:xfrm xmlns:a="http://schemas.openxmlformats.org/drawingml/2006/main">
            <a:off x="666750" y="1771650"/>
            <a:ext cx="4667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l">
              <a:defRPr sz="1275" b="1" i="0">
                <a:solidFill>
                  <a:srgbClr val="F47A22"/>
                </a:solidFill>
                <a:latin typeface="Calibri"/>
                <a:ea typeface="Calibri"/>
                <a:cs typeface="Calibri"/>
              </a:defRPr>
            </a:pPr>
            <a:r>
              <a:rPr sz="1275" b="1" i="0">
                <a:solidFill>
                  <a:srgbClr val="F47A22"/>
                </a:solidFill>
                <a:latin typeface="Calibri"/>
                <a:ea typeface="Calibri"/>
                <a:cs typeface="Calibri"/>
              </a:rPr>
              <a:t>TRIGGER</a:t>
            </a:r>
          </a:p>
        </p:txBody>
      </p:sp>
      <p:sp>
        <p:nvSpPr>
          <p:cNvPr id="6" name="">
            <a:extLst xmlns:a="http://schemas.openxmlformats.org/drawingml/2006/main">
              <a:ext uri="{FF2B5EF4-FFF2-40B4-BE49-F238E27FC236}">
                <a16:creationId xmlns:a16="http://schemas.microsoft.com/office/drawing/2014/main" id="{305AEB74-2067-497B-A4B3-CE3F4AC5234F}"/>
              </a:ext>
            </a:extLst>
          </p:cNvPr>
          <p:cNvSpPr>
            <a:spLocks xmlns:a="http://schemas.openxmlformats.org/drawingml/2006/main" noGrp="1"/>
          </p:cNvSpPr>
          <p:nvPr/>
        </p:nvSpPr>
        <p:spPr>
          <a:xfrm xmlns:a="http://schemas.openxmlformats.org/drawingml/2006/main">
            <a:off x="666750" y="2105025"/>
            <a:ext cx="466725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l">
              <a:defRPr sz="1650" b="0" i="0">
                <a:solidFill>
                  <a:srgbClr val="233248"/>
                </a:solidFill>
                <a:latin typeface="Calibri"/>
                <a:ea typeface="Calibri"/>
                <a:cs typeface="Calibri"/>
              </a:defRPr>
            </a:pPr>
            <a:r>
              <a:rPr sz="1650" b="0" i="0">
                <a:solidFill>
                  <a:srgbClr val="233248"/>
                </a:solidFill>
                <a:latin typeface="Calibri"/>
                <a:ea typeface="Calibri"/>
                <a:cs typeface="Calibri"/>
              </a:rPr>
              <a:t>Only at flagged complex pickup locations, a few minutes before driver arrival.</a:t>
            </a:r>
          </a:p>
        </p:txBody>
      </p:sp>
      <p:sp>
        <p:nvSpPr>
          <p:cNvPr id="7" name="">
            <a:extLst xmlns:a="http://schemas.openxmlformats.org/drawingml/2006/main">
              <a:ext uri="{FF2B5EF4-FFF2-40B4-BE49-F238E27FC236}">
                <a16:creationId xmlns:a16="http://schemas.microsoft.com/office/drawing/2014/main" id="{98159009-D405-4F0B-8141-EDAE4ABED1A8}"/>
              </a:ext>
            </a:extLst>
          </p:cNvPr>
          <p:cNvSpPr>
            <a:spLocks xmlns:a="http://schemas.openxmlformats.org/drawingml/2006/main" noGrp="1"/>
          </p:cNvSpPr>
          <p:nvPr/>
        </p:nvSpPr>
        <p:spPr>
          <a:xfrm xmlns:a="http://schemas.openxmlformats.org/drawingml/2006/main">
            <a:off x="514350" y="3238500"/>
            <a:ext cx="4972050" cy="1428750"/>
          </a:xfrm>
          <a:prstGeom xmlns:a="http://schemas.openxmlformats.org/drawingml/2006/main" prst="roundRect">
            <a:avLst>
              <a:gd name="adj" fmla="val 4000"/>
            </a:avLst>
          </a:prstGeom>
          <a:solidFill xmlns:a="http://schemas.openxmlformats.org/drawingml/2006/main">
            <a:srgbClr val="FFFFFF"/>
          </a:solidFill>
          <a:ln xmlns:a="http://schemas.openxmlformats.org/drawingml/2006/main" w="9525">
            <a:solidFill>
              <a:srgbClr val="E8ECF1"/>
            </a:solidFill>
            <a:prstDash val="solid"/>
          </a:ln>
        </p:spPr>
      </p:sp>
      <p:sp>
        <p:nvSpPr>
          <p:cNvPr id="8" name="">
            <a:extLst xmlns:a="http://schemas.openxmlformats.org/drawingml/2006/main">
              <a:ext uri="{FF2B5EF4-FFF2-40B4-BE49-F238E27FC236}">
                <a16:creationId xmlns:a16="http://schemas.microsoft.com/office/drawing/2014/main" id="{83AFD955-E918-4EAD-8E62-087362DC6095}"/>
              </a:ext>
            </a:extLst>
          </p:cNvPr>
          <p:cNvSpPr>
            <a:spLocks xmlns:a="http://schemas.openxmlformats.org/drawingml/2006/main" noGrp="1"/>
          </p:cNvSpPr>
          <p:nvPr/>
        </p:nvSpPr>
        <p:spPr>
          <a:xfrm xmlns:a="http://schemas.openxmlformats.org/drawingml/2006/main">
            <a:off x="666750" y="3352800"/>
            <a:ext cx="4667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l">
              <a:defRPr sz="1275" b="1" i="0">
                <a:solidFill>
                  <a:srgbClr val="F47A22"/>
                </a:solidFill>
                <a:latin typeface="Calibri"/>
                <a:ea typeface="Calibri"/>
                <a:cs typeface="Calibri"/>
              </a:defRPr>
            </a:pPr>
            <a:r>
              <a:rPr sz="1275" b="1" i="0">
                <a:solidFill>
                  <a:srgbClr val="F47A22"/>
                </a:solidFill>
                <a:latin typeface="Calibri"/>
                <a:ea typeface="Calibri"/>
                <a:cs typeface="Calibri"/>
              </a:rPr>
              <a:t>ACTION</a:t>
            </a:r>
          </a:p>
        </p:txBody>
      </p:sp>
      <p:sp>
        <p:nvSpPr>
          <p:cNvPr id="9" name="">
            <a:extLst xmlns:a="http://schemas.openxmlformats.org/drawingml/2006/main">
              <a:ext uri="{FF2B5EF4-FFF2-40B4-BE49-F238E27FC236}">
                <a16:creationId xmlns:a16="http://schemas.microsoft.com/office/drawing/2014/main" id="{64D61042-2FC9-4A67-8A86-35B7679B422E}"/>
              </a:ext>
            </a:extLst>
          </p:cNvPr>
          <p:cNvSpPr>
            <a:spLocks xmlns:a="http://schemas.openxmlformats.org/drawingml/2006/main" noGrp="1"/>
          </p:cNvSpPr>
          <p:nvPr/>
        </p:nvSpPr>
        <p:spPr>
          <a:xfrm xmlns:a="http://schemas.openxmlformats.org/drawingml/2006/main">
            <a:off x="666750" y="3686175"/>
            <a:ext cx="466725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l">
              <a:defRPr sz="1650" b="0" i="0">
                <a:solidFill>
                  <a:srgbClr val="233248"/>
                </a:solidFill>
                <a:latin typeface="Calibri"/>
                <a:ea typeface="Calibri"/>
                <a:cs typeface="Calibri"/>
              </a:defRPr>
            </a:pPr>
            <a:r>
              <a:rPr sz="1650" b="0" i="0">
                <a:solidFill>
                  <a:srgbClr val="233248"/>
                </a:solidFill>
                <a:latin typeface="Calibri"/>
                <a:ea typeface="Calibri"/>
                <a:cs typeface="Calibri"/>
              </a:rPr>
              <a:t>Prompt one concise handoff: gate or side, landmark, and waiting spot — reusable where appropriate.</a:t>
            </a:r>
          </a:p>
        </p:txBody>
      </p:sp>
      <p:sp>
        <p:nvSpPr>
          <p:cNvPr id="10" name="">
            <a:extLst xmlns:a="http://schemas.openxmlformats.org/drawingml/2006/main">
              <a:ext uri="{FF2B5EF4-FFF2-40B4-BE49-F238E27FC236}">
                <a16:creationId xmlns:a16="http://schemas.microsoft.com/office/drawing/2014/main" id="{CB0572C7-233F-4FDA-939B-09C528BFB0F7}"/>
              </a:ext>
            </a:extLst>
          </p:cNvPr>
          <p:cNvSpPr>
            <a:spLocks xmlns:a="http://schemas.openxmlformats.org/drawingml/2006/main" noGrp="1"/>
          </p:cNvSpPr>
          <p:nvPr/>
        </p:nvSpPr>
        <p:spPr>
          <a:xfrm xmlns:a="http://schemas.openxmlformats.org/drawingml/2006/main">
            <a:off x="5829300" y="1657350"/>
            <a:ext cx="5124450" cy="1428750"/>
          </a:xfrm>
          <a:prstGeom xmlns:a="http://schemas.openxmlformats.org/drawingml/2006/main" prst="roundRect">
            <a:avLst>
              <a:gd name="adj" fmla="val 4000"/>
            </a:avLst>
          </a:prstGeom>
          <a:solidFill xmlns:a="http://schemas.openxmlformats.org/drawingml/2006/main">
            <a:srgbClr val="E2F4F6"/>
          </a:solidFill>
          <a:ln xmlns:a="http://schemas.openxmlformats.org/drawingml/2006/main" w="9525">
            <a:solidFill>
              <a:srgbClr val="E8ECF1"/>
            </a:solidFill>
            <a:prstDash val="solid"/>
          </a:ln>
        </p:spPr>
      </p:sp>
      <p:sp>
        <p:nvSpPr>
          <p:cNvPr id="11" name="">
            <a:extLst xmlns:a="http://schemas.openxmlformats.org/drawingml/2006/main">
              <a:ext uri="{FF2B5EF4-FFF2-40B4-BE49-F238E27FC236}">
                <a16:creationId xmlns:a16="http://schemas.microsoft.com/office/drawing/2014/main" id="{C88AE563-6004-4C83-A51C-ACACA04E7E97}"/>
              </a:ext>
            </a:extLst>
          </p:cNvPr>
          <p:cNvSpPr>
            <a:spLocks xmlns:a="http://schemas.openxmlformats.org/drawingml/2006/main" noGrp="1"/>
          </p:cNvSpPr>
          <p:nvPr/>
        </p:nvSpPr>
        <p:spPr>
          <a:xfrm xmlns:a="http://schemas.openxmlformats.org/drawingml/2006/main">
            <a:off x="5981700" y="1771650"/>
            <a:ext cx="48196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l">
              <a:defRPr sz="1275" b="1" i="0">
                <a:solidFill>
                  <a:srgbClr val="1BB5C8"/>
                </a:solidFill>
                <a:latin typeface="Calibri"/>
                <a:ea typeface="Calibri"/>
                <a:cs typeface="Calibri"/>
              </a:defRPr>
            </a:pPr>
            <a:r>
              <a:rPr sz="1275" b="1" i="0">
                <a:solidFill>
                  <a:srgbClr val="1BB5C8"/>
                </a:solidFill>
                <a:latin typeface="Calibri"/>
                <a:ea typeface="Calibri"/>
                <a:cs typeface="Calibri"/>
              </a:rPr>
              <a:t>WHY THIS FIRST</a:t>
            </a:r>
          </a:p>
        </p:txBody>
      </p:sp>
      <p:sp>
        <p:nvSpPr>
          <p:cNvPr id="12" name="">
            <a:extLst xmlns:a="http://schemas.openxmlformats.org/drawingml/2006/main">
              <a:ext uri="{FF2B5EF4-FFF2-40B4-BE49-F238E27FC236}">
                <a16:creationId xmlns:a16="http://schemas.microsoft.com/office/drawing/2014/main" id="{F22EEA3B-7218-4A71-A489-97A5FBC7E983}"/>
              </a:ext>
            </a:extLst>
          </p:cNvPr>
          <p:cNvSpPr>
            <a:spLocks xmlns:a="http://schemas.openxmlformats.org/drawingml/2006/main" noGrp="1"/>
          </p:cNvSpPr>
          <p:nvPr/>
        </p:nvSpPr>
        <p:spPr>
          <a:xfrm xmlns:a="http://schemas.openxmlformats.org/drawingml/2006/main">
            <a:off x="5981700" y="2105025"/>
            <a:ext cx="481965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l">
              <a:defRPr sz="1650" b="0" i="0">
                <a:solidFill>
                  <a:srgbClr val="233248"/>
                </a:solidFill>
                <a:latin typeface="Calibri"/>
                <a:ea typeface="Calibri"/>
                <a:cs typeface="Calibri"/>
              </a:defRPr>
            </a:pPr>
            <a:r>
              <a:rPr sz="1650" b="0" i="0">
                <a:solidFill>
                  <a:srgbClr val="233248"/>
                </a:solidFill>
                <a:latin typeface="Calibri"/>
                <a:ea typeface="Calibri"/>
                <a:cs typeface="Calibri"/>
              </a:rPr>
              <a:t>Calls/messages helped in 20 of 28 issue cases, and R061 already sends pickup details manually.</a:t>
            </a:r>
          </a:p>
        </p:txBody>
      </p:sp>
      <p:sp>
        <p:nvSpPr>
          <p:cNvPr id="13" name="">
            <a:extLst xmlns:a="http://schemas.openxmlformats.org/drawingml/2006/main">
              <a:ext uri="{FF2B5EF4-FFF2-40B4-BE49-F238E27FC236}">
                <a16:creationId xmlns:a16="http://schemas.microsoft.com/office/drawing/2014/main" id="{03411B15-E7D2-4F81-9D20-AF8B4DC3CD67}"/>
              </a:ext>
            </a:extLst>
          </p:cNvPr>
          <p:cNvSpPr>
            <a:spLocks xmlns:a="http://schemas.openxmlformats.org/drawingml/2006/main" noGrp="1"/>
          </p:cNvSpPr>
          <p:nvPr/>
        </p:nvSpPr>
        <p:spPr>
          <a:xfrm xmlns:a="http://schemas.openxmlformats.org/drawingml/2006/main">
            <a:off x="5829300" y="3238500"/>
            <a:ext cx="5124450" cy="1428750"/>
          </a:xfrm>
          <a:prstGeom xmlns:a="http://schemas.openxmlformats.org/drawingml/2006/main" prst="roundRect">
            <a:avLst>
              <a:gd name="adj" fmla="val 4000"/>
            </a:avLst>
          </a:prstGeom>
          <a:solidFill xmlns:a="http://schemas.openxmlformats.org/drawingml/2006/main">
            <a:srgbClr val="FBE7D8"/>
          </a:solidFill>
          <a:ln xmlns:a="http://schemas.openxmlformats.org/drawingml/2006/main" w="9525">
            <a:solidFill>
              <a:srgbClr val="E8ECF1"/>
            </a:solidFill>
            <a:prstDash val="solid"/>
          </a:ln>
        </p:spPr>
      </p:sp>
      <p:sp>
        <p:nvSpPr>
          <p:cNvPr id="14" name="">
            <a:extLst xmlns:a="http://schemas.openxmlformats.org/drawingml/2006/main">
              <a:ext uri="{FF2B5EF4-FFF2-40B4-BE49-F238E27FC236}">
                <a16:creationId xmlns:a16="http://schemas.microsoft.com/office/drawing/2014/main" id="{80B671F5-0B36-41F4-A41F-5F502B62319D}"/>
              </a:ext>
            </a:extLst>
          </p:cNvPr>
          <p:cNvSpPr>
            <a:spLocks xmlns:a="http://schemas.openxmlformats.org/drawingml/2006/main" noGrp="1"/>
          </p:cNvSpPr>
          <p:nvPr/>
        </p:nvSpPr>
        <p:spPr>
          <a:xfrm xmlns:a="http://schemas.openxmlformats.org/drawingml/2006/main">
            <a:off x="5981700" y="3352800"/>
            <a:ext cx="48196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l">
              <a:defRPr sz="1275" b="1" i="0">
                <a:solidFill>
                  <a:srgbClr val="1B2B45"/>
                </a:solidFill>
                <a:latin typeface="Calibri"/>
                <a:ea typeface="Calibri"/>
                <a:cs typeface="Calibri"/>
              </a:defRPr>
            </a:pPr>
            <a:r>
              <a:rPr sz="1275" b="1" i="0">
                <a:solidFill>
                  <a:srgbClr val="1B2B45"/>
                </a:solidFill>
                <a:latin typeface="Calibri"/>
                <a:ea typeface="Calibri"/>
                <a:cs typeface="Calibri"/>
              </a:rPr>
              <a:t>TEST</a:t>
            </a:r>
          </a:p>
        </p:txBody>
      </p:sp>
      <p:sp>
        <p:nvSpPr>
          <p:cNvPr id="15" name="">
            <a:extLst xmlns:a="http://schemas.openxmlformats.org/drawingml/2006/main">
              <a:ext uri="{FF2B5EF4-FFF2-40B4-BE49-F238E27FC236}">
                <a16:creationId xmlns:a16="http://schemas.microsoft.com/office/drawing/2014/main" id="{B13838E4-0288-42A4-86AD-9D293DDCAF2B}"/>
              </a:ext>
            </a:extLst>
          </p:cNvPr>
          <p:cNvSpPr>
            <a:spLocks xmlns:a="http://schemas.openxmlformats.org/drawingml/2006/main" noGrp="1"/>
          </p:cNvSpPr>
          <p:nvPr/>
        </p:nvSpPr>
        <p:spPr>
          <a:xfrm xmlns:a="http://schemas.openxmlformats.org/drawingml/2006/main">
            <a:off x="5981700" y="3686175"/>
            <a:ext cx="481965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l">
              <a:defRPr sz="1575" b="0" i="0">
                <a:solidFill>
                  <a:srgbClr val="233248"/>
                </a:solidFill>
                <a:latin typeface="Calibri"/>
                <a:ea typeface="Calibri"/>
                <a:cs typeface="Calibri"/>
              </a:defRPr>
            </a:pPr>
            <a:r>
              <a:rPr sz="1575" b="0" i="0">
                <a:solidFill>
                  <a:srgbClr val="233248"/>
                </a:solidFill>
                <a:latin typeface="Calibri"/>
                <a:ea typeface="Calibri"/>
                <a:cs typeface="Calibri"/>
              </a:rPr>
              <a:t>At comparable flagged locations, compare reactive call/message rate, arrived-to-trip-start dwell, location changes, and cancellations.</a:t>
            </a:r>
          </a:p>
        </p:txBody>
      </p:sp>
      <p:sp>
        <p:nvSpPr>
          <p:cNvPr id="16" name="">
            <a:extLst xmlns:a="http://schemas.openxmlformats.org/drawingml/2006/main">
              <a:ext uri="{FF2B5EF4-FFF2-40B4-BE49-F238E27FC236}">
                <a16:creationId xmlns:a16="http://schemas.microsoft.com/office/drawing/2014/main" id="{2851AD3B-E26F-4D80-9A78-08D0BA94E326}"/>
              </a:ext>
            </a:extLst>
          </p:cNvPr>
          <p:cNvSpPr>
            <a:spLocks xmlns:a="http://schemas.openxmlformats.org/drawingml/2006/main" noGrp="1"/>
          </p:cNvSpPr>
          <p:nvPr/>
        </p:nvSpPr>
        <p:spPr>
          <a:xfrm xmlns:a="http://schemas.openxmlformats.org/drawingml/2006/main">
            <a:off x="514350" y="4972050"/>
            <a:ext cx="10439400" cy="876300"/>
          </a:xfrm>
          <a:prstGeom xmlns:a="http://schemas.openxmlformats.org/drawingml/2006/main" prst="roundRect">
            <a:avLst>
              <a:gd name="adj" fmla="val 6522"/>
            </a:avLst>
          </a:prstGeom>
          <a:solidFill xmlns:a="http://schemas.openxmlformats.org/drawingml/2006/main">
            <a:srgbClr val="1B2B45"/>
          </a:solidFill>
          <a:ln xmlns:a="http://schemas.openxmlformats.org/drawingml/2006/main" w="0">
            <a:noFill/>
            <a:prstDash val="solid"/>
          </a:ln>
        </p:spPr>
      </p:sp>
      <p:sp>
        <p:nvSpPr>
          <p:cNvPr id="17" name="">
            <a:extLst xmlns:a="http://schemas.openxmlformats.org/drawingml/2006/main">
              <a:ext uri="{FF2B5EF4-FFF2-40B4-BE49-F238E27FC236}">
                <a16:creationId xmlns:a16="http://schemas.microsoft.com/office/drawing/2014/main" id="{D0438DCB-01A1-41F5-97F8-6BBFA0E6EC3F}"/>
              </a:ext>
            </a:extLst>
          </p:cNvPr>
          <p:cNvSpPr>
            <a:spLocks xmlns:a="http://schemas.openxmlformats.org/drawingml/2006/main" noGrp="1"/>
          </p:cNvSpPr>
          <p:nvPr/>
        </p:nvSpPr>
        <p:spPr>
          <a:xfrm xmlns:a="http://schemas.openxmlformats.org/drawingml/2006/main">
            <a:off x="704850" y="5172075"/>
            <a:ext cx="100584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ctr">
              <a:defRPr sz="1800" b="0" i="1">
                <a:solidFill>
                  <a:srgbClr val="FFFFFF"/>
                </a:solidFill>
                <a:latin typeface="Calibri"/>
                <a:ea typeface="Calibri"/>
                <a:cs typeface="Calibri"/>
              </a:defRPr>
            </a:pPr>
            <a:r>
              <a:rPr sz="1800" b="0" i="1">
                <a:solidFill>
                  <a:srgbClr val="FFFFFF"/>
                </a:solidFill>
                <a:latin typeface="Calibri"/>
                <a:ea typeface="Calibri"/>
                <a:cs typeface="Calibri"/>
              </a:rPr>
              <a:t>“I always place a message on where I would stand with details.” — R061</a:t>
            </a:r>
          </a:p>
        </p:txBody>
      </p:sp>
      <p:sp>
        <p:nvSpPr>
          <p:cNvPr id="18" name="">
            <a:extLst xmlns:a="http://schemas.openxmlformats.org/drawingml/2006/main">
              <a:ext uri="{FF2B5EF4-FFF2-40B4-BE49-F238E27FC236}">
                <a16:creationId xmlns:a16="http://schemas.microsoft.com/office/drawing/2014/main" id="{77A104E0-FFAF-4DB3-930F-02E9D9A0ACAF}"/>
              </a:ext>
            </a:extLst>
          </p:cNvPr>
          <p:cNvSpPr>
            <a:spLocks xmlns:a="http://schemas.openxmlformats.org/drawingml/2006/main" noGrp="1"/>
          </p:cNvSpPr>
          <p:nvPr/>
        </p:nvSpPr>
        <p:spPr>
          <a:xfrm xmlns:a="http://schemas.openxmlformats.org/drawingml/2006/main">
            <a:off x="514350" y="6515100"/>
            <a:ext cx="2857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l">
              <a:defRPr sz="750" b="0" i="0">
                <a:solidFill>
                  <a:srgbClr val="687489"/>
                </a:solidFill>
                <a:latin typeface="Calibri"/>
                <a:ea typeface="Calibri"/>
                <a:cs typeface="Calibri"/>
              </a:defRPr>
            </a:pPr>
            <a:r>
              <a:rPr sz="750" b="0" i="0">
                <a:solidFill>
                  <a:srgbClr val="687489"/>
                </a:solidFill>
                <a:latin typeface="Calibri"/>
                <a:ea typeface="Calibri"/>
                <a:cs typeface="Calibri"/>
              </a:rPr>
              <a:t>Find My Ride</a:t>
            </a:r>
          </a:p>
        </p:txBody>
      </p:sp>
      <p:sp>
        <p:nvSpPr>
          <p:cNvPr id="19" name="">
            <a:extLst xmlns:a="http://schemas.openxmlformats.org/drawingml/2006/main">
              <a:ext uri="{FF2B5EF4-FFF2-40B4-BE49-F238E27FC236}">
                <a16:creationId xmlns:a16="http://schemas.microsoft.com/office/drawing/2014/main" id="{2D5D17D0-F806-4EBD-8F46-FBE878C842FB}"/>
              </a:ext>
            </a:extLst>
          </p:cNvPr>
          <p:cNvSpPr>
            <a:spLocks xmlns:a="http://schemas.openxmlformats.org/drawingml/2006/main" noGrp="1"/>
          </p:cNvSpPr>
          <p:nvPr/>
        </p:nvSpPr>
        <p:spPr>
          <a:xfrm xmlns:a="http://schemas.openxmlformats.org/drawingml/2006/main">
            <a:off x="11372850" y="6515100"/>
            <a:ext cx="3048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r">
              <a:defRPr sz="750" b="0" i="0">
                <a:solidFill>
                  <a:srgbClr val="687489"/>
                </a:solidFill>
                <a:latin typeface="Calibri"/>
                <a:ea typeface="Calibri"/>
                <a:cs typeface="Calibri"/>
              </a:defRPr>
            </a:pPr>
            <a:r>
              <a:rPr sz="750" b="0" i="0">
                <a:solidFill>
                  <a:srgbClr val="687489"/>
                </a:solidFill>
                <a:latin typeface="Calibri"/>
                <a:ea typeface="Calibri"/>
                <a:cs typeface="Calibri"/>
              </a:rPr>
              <a:t>8</a:t>
            </a:r>
          </a:p>
        </p:txBody>
      </p:sp>
    </p:spTree>
    <p:extLst>
      <p:ext uri="{BB962C8B-B14F-4D97-AF65-F5344CB8AC3E}">
        <p14:creationId xmlns:p14="http://schemas.microsoft.com/office/powerpoint/2010/main" val="2058107501"/>
      </p:ext>
    </p:extLst>
  </p:cSld>
</p:sld>
</file>

<file path=ppt/slides/slide9.xml><?xml version="1.0" encoding="utf-8"?>
<p:sld xmlns:p="http://schemas.openxmlformats.org/presentationml/2006/main">
  <p:cSld>
    <p:bg>
      <p:bgPr>
        <a:solidFill xmlns:a="http://schemas.openxmlformats.org/drawingml/2006/main">
          <a:srgbClr val="F3F5F8"/>
        </a:solidFill>
      </p:bgPr>
    </p:bg>
    <p:spTree>
      <p:nvGrpSpPr>
        <p:cNvPr id="1" name=""/>
        <p:cNvGrpSpPr/>
        <p:nvPr/>
      </p:nvGrpSpPr>
      <p:grpSpPr>
        <a:xfrm xmlns:a="http://schemas.openxmlformats.org/drawingml/2006/main"/>
      </p:grpSpPr>
      <p:sp>
        <p:nvSpPr>
          <p:cNvPr id="13" name="">
            <a:extLst xmlns:a="http://schemas.openxmlformats.org/drawingml/2006/main">
              <a:ext uri="{FF2B5EF4-FFF2-40B4-BE49-F238E27FC236}">
                <a16:creationId xmlns:a16="http://schemas.microsoft.com/office/drawing/2014/main" id="{3F7849B6-35F1-46A1-9467-340715E27A4C}"/>
              </a:ext>
            </a:extLst>
          </p:cNvPr>
          <p:cNvSpPr>
            <a:spLocks xmlns:a="http://schemas.openxmlformats.org/drawingml/2006/main" noGrp="1"/>
          </p:cNvSpPr>
          <p:nvPr/>
        </p:nvSpPr>
        <p:spPr>
          <a:xfrm xmlns:a="http://schemas.openxmlformats.org/drawingml/2006/main">
            <a:off x="514350" y="247650"/>
            <a:ext cx="11144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l">
              <a:defRPr sz="975" b="1" i="0">
                <a:solidFill>
                  <a:srgbClr val="F47A22"/>
                </a:solidFill>
                <a:latin typeface="Calibri"/>
                <a:ea typeface="Calibri"/>
                <a:cs typeface="Calibri"/>
              </a:defRPr>
            </a:pPr>
            <a:r>
              <a:rPr sz="975" b="1" i="0">
                <a:solidFill>
                  <a:srgbClr val="F47A22"/>
                </a:solidFill>
                <a:latin typeface="Calibri"/>
                <a:ea typeface="Calibri"/>
                <a:cs typeface="Calibri"/>
              </a:rPr>
              <a:t>RESEARCH-LED IDEAS 2 AND 3</a:t>
            </a:r>
          </a:p>
        </p:txBody>
      </p:sp>
      <p:sp>
        <p:nvSpPr>
          <p:cNvPr id="2" name="">
            <a:extLst xmlns:a="http://schemas.openxmlformats.org/drawingml/2006/main">
              <a:ext uri="{FF2B5EF4-FFF2-40B4-BE49-F238E27FC236}">
                <a16:creationId xmlns:a16="http://schemas.microsoft.com/office/drawing/2014/main" id="{B658A3D2-7A0E-488E-84B5-F58A9C1294D8}"/>
              </a:ext>
            </a:extLst>
          </p:cNvPr>
          <p:cNvSpPr>
            <a:spLocks xmlns:a="http://schemas.openxmlformats.org/drawingml/2006/main" noGrp="1"/>
          </p:cNvSpPr>
          <p:nvPr/>
        </p:nvSpPr>
        <p:spPr>
          <a:xfrm xmlns:a="http://schemas.openxmlformats.org/drawingml/2006/main">
            <a:off x="514350" y="571500"/>
            <a:ext cx="1114425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l">
              <a:defRPr sz="2550" b="1" i="0">
                <a:solidFill>
                  <a:srgbClr val="1B2B45"/>
                </a:solidFill>
                <a:latin typeface="Calibri"/>
                <a:ea typeface="Calibri"/>
                <a:cs typeface="Calibri"/>
              </a:defRPr>
            </a:pPr>
            <a:r>
              <a:rPr sz="2550" b="1" i="0">
                <a:solidFill>
                  <a:srgbClr val="1B2B45"/>
                </a:solidFill>
                <a:latin typeface="Calibri"/>
                <a:ea typeface="Calibri"/>
                <a:cs typeface="Calibri"/>
              </a:rPr>
              <a:t>Recovery when coordination stalls — then reusable venue context</a:t>
            </a:r>
          </a:p>
        </p:txBody>
      </p:sp>
      <p:sp>
        <p:nvSpPr>
          <p:cNvPr id="3" name="">
            <a:extLst xmlns:a="http://schemas.openxmlformats.org/drawingml/2006/main">
              <a:ext uri="{FF2B5EF4-FFF2-40B4-BE49-F238E27FC236}">
                <a16:creationId xmlns:a16="http://schemas.microsoft.com/office/drawing/2014/main" id="{959CF830-F09F-4F27-9524-147F1320A360}"/>
              </a:ext>
            </a:extLst>
          </p:cNvPr>
          <p:cNvSpPr>
            <a:spLocks xmlns:a="http://schemas.openxmlformats.org/drawingml/2006/main" noGrp="1"/>
          </p:cNvSpPr>
          <p:nvPr/>
        </p:nvSpPr>
        <p:spPr>
          <a:xfrm xmlns:a="http://schemas.openxmlformats.org/drawingml/2006/main">
            <a:off x="514350" y="1619250"/>
            <a:ext cx="5048250" cy="3276600"/>
          </a:xfrm>
          <a:prstGeom xmlns:a="http://schemas.openxmlformats.org/drawingml/2006/main" prst="roundRect">
            <a:avLst>
              <a:gd name="adj" fmla="val 1744"/>
            </a:avLst>
          </a:prstGeom>
          <a:solidFill xmlns:a="http://schemas.openxmlformats.org/drawingml/2006/main">
            <a:srgbClr val="FFFFFF"/>
          </a:solidFill>
          <a:ln xmlns:a="http://schemas.openxmlformats.org/drawingml/2006/main" w="9525">
            <a:solidFill>
              <a:srgbClr val="E8ECF1"/>
            </a:solidFill>
            <a:prstDash val="solid"/>
          </a:ln>
        </p:spPr>
      </p:sp>
      <p:sp>
        <p:nvSpPr>
          <p:cNvPr id="4" name="">
            <a:extLst xmlns:a="http://schemas.openxmlformats.org/drawingml/2006/main">
              <a:ext uri="{FF2B5EF4-FFF2-40B4-BE49-F238E27FC236}">
                <a16:creationId xmlns:a16="http://schemas.microsoft.com/office/drawing/2014/main" id="{271D410A-F2A1-48E3-99E0-222AB17C017D}"/>
              </a:ext>
            </a:extLst>
          </p:cNvPr>
          <p:cNvSpPr>
            <a:spLocks xmlns:a="http://schemas.openxmlformats.org/drawingml/2006/main" noGrp="1"/>
          </p:cNvSpPr>
          <p:nvPr/>
        </p:nvSpPr>
        <p:spPr>
          <a:xfrm xmlns:a="http://schemas.openxmlformats.org/drawingml/2006/main">
            <a:off x="666750" y="1733550"/>
            <a:ext cx="47434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l">
              <a:defRPr sz="1275" b="1" i="0">
                <a:solidFill>
                  <a:srgbClr val="F47A22"/>
                </a:solidFill>
                <a:latin typeface="Calibri"/>
                <a:ea typeface="Calibri"/>
                <a:cs typeface="Calibri"/>
              </a:defRPr>
            </a:pPr>
            <a:r>
              <a:rPr sz="1275" b="1" i="0">
                <a:solidFill>
                  <a:srgbClr val="F47A22"/>
                </a:solidFill>
                <a:latin typeface="Calibri"/>
                <a:ea typeface="Calibri"/>
                <a:cs typeface="Calibri"/>
              </a:rPr>
              <a:t>2 · GUIDED STALLED-PICKUP RECOVERY</a:t>
            </a:r>
          </a:p>
        </p:txBody>
      </p:sp>
      <p:sp>
        <p:nvSpPr>
          <p:cNvPr id="5" name="">
            <a:extLst xmlns:a="http://schemas.openxmlformats.org/drawingml/2006/main">
              <a:ext uri="{FF2B5EF4-FFF2-40B4-BE49-F238E27FC236}">
                <a16:creationId xmlns:a16="http://schemas.microsoft.com/office/drawing/2014/main" id="{F80D1E61-8B98-4D88-87A2-5E6F54581B50}"/>
              </a:ext>
            </a:extLst>
          </p:cNvPr>
          <p:cNvSpPr>
            <a:spLocks xmlns:a="http://schemas.openxmlformats.org/drawingml/2006/main" noGrp="1"/>
          </p:cNvSpPr>
          <p:nvPr/>
        </p:nvSpPr>
        <p:spPr>
          <a:xfrm xmlns:a="http://schemas.openxmlformats.org/drawingml/2006/main">
            <a:off x="666750" y="2066925"/>
            <a:ext cx="4743450" cy="2724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l">
              <a:defRPr sz="1650" b="0" i="0">
                <a:solidFill>
                  <a:srgbClr val="233248"/>
                </a:solidFill>
                <a:latin typeface="Calibri"/>
                <a:ea typeface="Calibri"/>
                <a:cs typeface="Calibri"/>
              </a:defRPr>
            </a:pPr>
            <a:r>
              <a:rPr sz="1650" b="0" i="0">
                <a:solidFill>
                  <a:srgbClr val="233248"/>
                </a:solidFill>
                <a:latin typeface="Calibri"/>
                <a:ea typeface="Calibri"/>
                <a:cs typeface="Calibri"/>
              </a:rPr>
              <a:t>Trigger after an arrived state remains unresolved past a defined threshold. First guide reconnect actions: share live location, confirm a meeting cue, and retry contact. Test reassignment only for unresolved cases, because it carries marketplace and compensation risk.</a:t>
            </a:r>
          </a:p>
        </p:txBody>
      </p:sp>
      <p:sp>
        <p:nvSpPr>
          <p:cNvPr id="6" name="">
            <a:extLst xmlns:a="http://schemas.openxmlformats.org/drawingml/2006/main">
              <a:ext uri="{FF2B5EF4-FFF2-40B4-BE49-F238E27FC236}">
                <a16:creationId xmlns:a16="http://schemas.microsoft.com/office/drawing/2014/main" id="{5B2D7231-4228-4257-B709-AAB8E0E2788F}"/>
              </a:ext>
            </a:extLst>
          </p:cNvPr>
          <p:cNvSpPr>
            <a:spLocks xmlns:a="http://schemas.openxmlformats.org/drawingml/2006/main" noGrp="1"/>
          </p:cNvSpPr>
          <p:nvPr/>
        </p:nvSpPr>
        <p:spPr>
          <a:xfrm xmlns:a="http://schemas.openxmlformats.org/drawingml/2006/main">
            <a:off x="5905500" y="1619250"/>
            <a:ext cx="5048250" cy="3276600"/>
          </a:xfrm>
          <a:prstGeom xmlns:a="http://schemas.openxmlformats.org/drawingml/2006/main" prst="roundRect">
            <a:avLst>
              <a:gd name="adj" fmla="val 1744"/>
            </a:avLst>
          </a:prstGeom>
          <a:solidFill xmlns:a="http://schemas.openxmlformats.org/drawingml/2006/main">
            <a:srgbClr val="E2F4F6"/>
          </a:solidFill>
          <a:ln xmlns:a="http://schemas.openxmlformats.org/drawingml/2006/main" w="9525">
            <a:solidFill>
              <a:srgbClr val="E8ECF1"/>
            </a:solidFill>
            <a:prstDash val="solid"/>
          </a:ln>
        </p:spPr>
      </p:sp>
      <p:sp>
        <p:nvSpPr>
          <p:cNvPr id="7" name="">
            <a:extLst xmlns:a="http://schemas.openxmlformats.org/drawingml/2006/main">
              <a:ext uri="{FF2B5EF4-FFF2-40B4-BE49-F238E27FC236}">
                <a16:creationId xmlns:a16="http://schemas.microsoft.com/office/drawing/2014/main" id="{19C4320C-27F0-4C7F-A233-C16466015456}"/>
              </a:ext>
            </a:extLst>
          </p:cNvPr>
          <p:cNvSpPr>
            <a:spLocks xmlns:a="http://schemas.openxmlformats.org/drawingml/2006/main" noGrp="1"/>
          </p:cNvSpPr>
          <p:nvPr/>
        </p:nvSpPr>
        <p:spPr>
          <a:xfrm xmlns:a="http://schemas.openxmlformats.org/drawingml/2006/main">
            <a:off x="6057900" y="1733550"/>
            <a:ext cx="47434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l">
              <a:defRPr sz="1275" b="1" i="0">
                <a:solidFill>
                  <a:srgbClr val="1BB5C8"/>
                </a:solidFill>
                <a:latin typeface="Calibri"/>
                <a:ea typeface="Calibri"/>
                <a:cs typeface="Calibri"/>
              </a:defRPr>
            </a:pPr>
            <a:r>
              <a:rPr sz="1275" b="1" i="0">
                <a:solidFill>
                  <a:srgbClr val="1BB5C8"/>
                </a:solidFill>
                <a:latin typeface="Calibri"/>
                <a:ea typeface="Calibri"/>
                <a:cs typeface="Calibri"/>
              </a:rPr>
              <a:t>3 · VENUE-SPECIFIC COORDINATION INFORMATION</a:t>
            </a:r>
          </a:p>
        </p:txBody>
      </p:sp>
      <p:sp>
        <p:nvSpPr>
          <p:cNvPr id="8" name="">
            <a:extLst xmlns:a="http://schemas.openxmlformats.org/drawingml/2006/main">
              <a:ext uri="{FF2B5EF4-FFF2-40B4-BE49-F238E27FC236}">
                <a16:creationId xmlns:a16="http://schemas.microsoft.com/office/drawing/2014/main" id="{2E051BA3-0062-41EA-B6CF-9357453E467D}"/>
              </a:ext>
            </a:extLst>
          </p:cNvPr>
          <p:cNvSpPr>
            <a:spLocks xmlns:a="http://schemas.openxmlformats.org/drawingml/2006/main" noGrp="1"/>
          </p:cNvSpPr>
          <p:nvPr/>
        </p:nvSpPr>
        <p:spPr>
          <a:xfrm xmlns:a="http://schemas.openxmlformats.org/drawingml/2006/main">
            <a:off x="6057900" y="2066925"/>
            <a:ext cx="4743450" cy="2724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l">
              <a:defRPr sz="1650" b="0" i="0">
                <a:solidFill>
                  <a:srgbClr val="233248"/>
                </a:solidFill>
                <a:latin typeface="Calibri"/>
                <a:ea typeface="Calibri"/>
                <a:cs typeface="Calibri"/>
              </a:defRPr>
            </a:pPr>
            <a:r>
              <a:rPr sz="1650" b="0" i="0">
                <a:solidFill>
                  <a:srgbClr val="233248"/>
                </a:solidFill>
                <a:latin typeface="Calibri"/>
                <a:ea typeface="Calibri"/>
                <a:cs typeface="Calibri"/>
              </a:rPr>
              <a:t>Pilot at 2–3 validated venues. Show accessible gate or side, legal stopping point, expected walk, and access constraints. Treat repeat-issue evidence as a problem signal — not proof that the same venue failed repeatedly.</a:t>
            </a:r>
          </a:p>
        </p:txBody>
      </p:sp>
      <p:sp>
        <p:nvSpPr>
          <p:cNvPr id="9" name="">
            <a:extLst xmlns:a="http://schemas.openxmlformats.org/drawingml/2006/main">
              <a:ext uri="{FF2B5EF4-FFF2-40B4-BE49-F238E27FC236}">
                <a16:creationId xmlns:a16="http://schemas.microsoft.com/office/drawing/2014/main" id="{771EF237-BC01-4C6C-A8BC-E6FBEEA75B55}"/>
              </a:ext>
            </a:extLst>
          </p:cNvPr>
          <p:cNvSpPr>
            <a:spLocks xmlns:a="http://schemas.openxmlformats.org/drawingml/2006/main" noGrp="1"/>
          </p:cNvSpPr>
          <p:nvPr/>
        </p:nvSpPr>
        <p:spPr>
          <a:xfrm xmlns:a="http://schemas.openxmlformats.org/drawingml/2006/main">
            <a:off x="514350" y="5143500"/>
            <a:ext cx="10439400" cy="800100"/>
          </a:xfrm>
          <a:prstGeom xmlns:a="http://schemas.openxmlformats.org/drawingml/2006/main" prst="roundRect">
            <a:avLst>
              <a:gd name="adj" fmla="val 7143"/>
            </a:avLst>
          </a:prstGeom>
          <a:solidFill xmlns:a="http://schemas.openxmlformats.org/drawingml/2006/main">
            <a:srgbClr val="FBE7D8"/>
          </a:solidFill>
          <a:ln xmlns:a="http://schemas.openxmlformats.org/drawingml/2006/main" w="0">
            <a:noFill/>
            <a:prstDash val="solid"/>
          </a:ln>
        </p:spPr>
      </p:sp>
      <p:sp>
        <p:nvSpPr>
          <p:cNvPr id="10" name="">
            <a:extLst xmlns:a="http://schemas.openxmlformats.org/drawingml/2006/main">
              <a:ext uri="{FF2B5EF4-FFF2-40B4-BE49-F238E27FC236}">
                <a16:creationId xmlns:a16="http://schemas.microsoft.com/office/drawing/2014/main" id="{2E1BE499-1693-465D-95A1-F577675CDFF3}"/>
              </a:ext>
            </a:extLst>
          </p:cNvPr>
          <p:cNvSpPr>
            <a:spLocks xmlns:a="http://schemas.openxmlformats.org/drawingml/2006/main" noGrp="1"/>
          </p:cNvSpPr>
          <p:nvPr/>
        </p:nvSpPr>
        <p:spPr>
          <a:xfrm xmlns:a="http://schemas.openxmlformats.org/drawingml/2006/main">
            <a:off x="704850" y="5334000"/>
            <a:ext cx="100584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82222"/>
          </a:bodyPr>
          <a:lstStyle xmlns:a="http://schemas.openxmlformats.org/drawingml/2006/main"/>
          <a:p xmlns:a="http://schemas.openxmlformats.org/drawingml/2006/main">
            <a:pPr algn="ctr">
              <a:defRPr sz="1500" b="1" i="0">
                <a:solidFill>
                  <a:srgbClr val="1B2B45"/>
                </a:solidFill>
                <a:latin typeface="Calibri"/>
                <a:ea typeface="Calibri"/>
                <a:cs typeface="Calibri"/>
              </a:defRPr>
            </a:pPr>
            <a:r>
              <a:rPr sz="1500" b="1" i="0">
                <a:solidFill>
                  <a:srgbClr val="1B2B45"/>
                </a:solidFill>
                <a:latin typeface="Calibri"/>
                <a:ea typeface="Calibri"/>
                <a:cs typeface="Calibri"/>
              </a:rPr>
              <a:t>Guardrails: trigger only on genuine coordination stalls; assign venue-data ownership and expiry; validate driver impact before scaling.</a:t>
            </a:r>
          </a:p>
        </p:txBody>
      </p:sp>
      <p:sp>
        <p:nvSpPr>
          <p:cNvPr id="11" name="">
            <a:extLst xmlns:a="http://schemas.openxmlformats.org/drawingml/2006/main">
              <a:ext uri="{FF2B5EF4-FFF2-40B4-BE49-F238E27FC236}">
                <a16:creationId xmlns:a16="http://schemas.microsoft.com/office/drawing/2014/main" id="{9A6B527D-FB90-4BBB-8FFA-668EDB59BBE7}"/>
              </a:ext>
            </a:extLst>
          </p:cNvPr>
          <p:cNvSpPr>
            <a:spLocks xmlns:a="http://schemas.openxmlformats.org/drawingml/2006/main" noGrp="1"/>
          </p:cNvSpPr>
          <p:nvPr/>
        </p:nvSpPr>
        <p:spPr>
          <a:xfrm xmlns:a="http://schemas.openxmlformats.org/drawingml/2006/main">
            <a:off x="514350" y="6515100"/>
            <a:ext cx="2857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l">
              <a:defRPr sz="750" b="0" i="0">
                <a:solidFill>
                  <a:srgbClr val="687489"/>
                </a:solidFill>
                <a:latin typeface="Calibri"/>
                <a:ea typeface="Calibri"/>
                <a:cs typeface="Calibri"/>
              </a:defRPr>
            </a:pPr>
            <a:r>
              <a:rPr sz="750" b="0" i="0">
                <a:solidFill>
                  <a:srgbClr val="687489"/>
                </a:solidFill>
                <a:latin typeface="Calibri"/>
                <a:ea typeface="Calibri"/>
                <a:cs typeface="Calibri"/>
              </a:rPr>
              <a:t>Find My Ride</a:t>
            </a:r>
          </a:p>
        </p:txBody>
      </p:sp>
      <p:sp>
        <p:nvSpPr>
          <p:cNvPr id="12" name="">
            <a:extLst xmlns:a="http://schemas.openxmlformats.org/drawingml/2006/main">
              <a:ext uri="{FF2B5EF4-FFF2-40B4-BE49-F238E27FC236}">
                <a16:creationId xmlns:a16="http://schemas.microsoft.com/office/drawing/2014/main" id="{5ED35160-849E-4534-94FF-882A71E83FE4}"/>
              </a:ext>
            </a:extLst>
          </p:cNvPr>
          <p:cNvSpPr>
            <a:spLocks xmlns:a="http://schemas.openxmlformats.org/drawingml/2006/main" noGrp="1"/>
          </p:cNvSpPr>
          <p:nvPr/>
        </p:nvSpPr>
        <p:spPr>
          <a:xfrm xmlns:a="http://schemas.openxmlformats.org/drawingml/2006/main">
            <a:off x="11372850" y="6515100"/>
            <a:ext cx="3048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r">
              <a:defRPr sz="750" b="0" i="0">
                <a:solidFill>
                  <a:srgbClr val="687489"/>
                </a:solidFill>
                <a:latin typeface="Calibri"/>
                <a:ea typeface="Calibri"/>
                <a:cs typeface="Calibri"/>
              </a:defRPr>
            </a:pPr>
            <a:r>
              <a:rPr sz="750" b="0" i="0">
                <a:solidFill>
                  <a:srgbClr val="687489"/>
                </a:solidFill>
                <a:latin typeface="Calibri"/>
                <a:ea typeface="Calibri"/>
                <a:cs typeface="Calibri"/>
              </a:rPr>
              <a:t>9</a:t>
            </a:r>
          </a:p>
        </p:txBody>
      </p:sp>
    </p:spTree>
    <p:extLst>
      <p:ext uri="{BB962C8B-B14F-4D97-AF65-F5344CB8AC3E}">
        <p14:creationId xmlns:p14="http://schemas.microsoft.com/office/powerpoint/2010/main" val="762707051"/>
      </p:ext>
    </p:extLst>
  </p:cSld>
</p:sld>
</file>

<file path=ppt/slides/slide10.xml><?xml version="1.0" encoding="utf-8"?>
<p:sld xmlns:p="http://schemas.openxmlformats.org/presentationml/2006/main">
  <p:cSld>
    <p:bg>
      <p:bgPr>
        <a:solidFill xmlns:a="http://schemas.openxmlformats.org/drawingml/2006/main">
          <a:srgbClr val="F3F5F8"/>
        </a:solidFill>
      </p:bgPr>
    </p:bg>
    <p:spTree>
      <p:nvGrpSpPr>
        <p:cNvPr id="1" name=""/>
        <p:cNvGrpSpPr/>
        <p:nvPr/>
      </p:nvGrpSpPr>
      <p:grpSpPr>
        <a:xfrm xmlns:a="http://schemas.openxmlformats.org/drawingml/2006/main"/>
      </p:grpSpPr>
      <p:sp>
        <p:nvSpPr>
          <p:cNvPr id="17" name="">
            <a:extLst xmlns:a="http://schemas.openxmlformats.org/drawingml/2006/main">
              <a:ext uri="{FF2B5EF4-FFF2-40B4-BE49-F238E27FC236}">
                <a16:creationId xmlns:a16="http://schemas.microsoft.com/office/drawing/2014/main" id="{E62CC5DC-BDA8-4236-9662-61E84A15E83A}"/>
              </a:ext>
            </a:extLst>
          </p:cNvPr>
          <p:cNvSpPr>
            <a:spLocks xmlns:a="http://schemas.openxmlformats.org/drawingml/2006/main" noGrp="1"/>
          </p:cNvSpPr>
          <p:nvPr/>
        </p:nvSpPr>
        <p:spPr>
          <a:xfrm xmlns:a="http://schemas.openxmlformats.org/drawingml/2006/main">
            <a:off x="514350" y="247650"/>
            <a:ext cx="11144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l">
              <a:defRPr sz="975" b="1" i="0">
                <a:solidFill>
                  <a:srgbClr val="F47A22"/>
                </a:solidFill>
                <a:latin typeface="Calibri"/>
                <a:ea typeface="Calibri"/>
                <a:cs typeface="Calibri"/>
              </a:defRPr>
            </a:pPr>
            <a:r>
              <a:rPr sz="975" b="1" i="0">
                <a:solidFill>
                  <a:srgbClr val="F47A22"/>
                </a:solidFill>
                <a:latin typeface="Calibri"/>
                <a:ea typeface="Calibri"/>
                <a:cs typeface="Calibri"/>
              </a:rPr>
              <a:t>DECISION AND NEXT EVIDENCE</a:t>
            </a:r>
          </a:p>
        </p:txBody>
      </p:sp>
      <p:sp>
        <p:nvSpPr>
          <p:cNvPr id="2" name="">
            <a:extLst xmlns:a="http://schemas.openxmlformats.org/drawingml/2006/main">
              <a:ext uri="{FF2B5EF4-FFF2-40B4-BE49-F238E27FC236}">
                <a16:creationId xmlns:a16="http://schemas.microsoft.com/office/drawing/2014/main" id="{3A358B95-046E-46FE-AFD1-3D97BB7D7736}"/>
              </a:ext>
            </a:extLst>
          </p:cNvPr>
          <p:cNvSpPr>
            <a:spLocks xmlns:a="http://schemas.openxmlformats.org/drawingml/2006/main" noGrp="1"/>
          </p:cNvSpPr>
          <p:nvPr/>
        </p:nvSpPr>
        <p:spPr>
          <a:xfrm xmlns:a="http://schemas.openxmlformats.org/drawingml/2006/main">
            <a:off x="514350" y="571500"/>
            <a:ext cx="1114425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l">
              <a:defRPr sz="2550" b="1" i="0">
                <a:solidFill>
                  <a:srgbClr val="1B2B45"/>
                </a:solidFill>
                <a:latin typeface="Calibri"/>
                <a:ea typeface="Calibri"/>
                <a:cs typeface="Calibri"/>
              </a:defRPr>
            </a:pPr>
            <a:r>
              <a:rPr sz="2550" b="1" i="0">
                <a:solidFill>
                  <a:srgbClr val="1B2B45"/>
                </a:solidFill>
                <a:latin typeface="Calibri"/>
                <a:ea typeface="Calibri"/>
                <a:cs typeface="Calibri"/>
              </a:rPr>
              <a:t>A defensible direction — not a “build it” recommendation</a:t>
            </a:r>
          </a:p>
        </p:txBody>
      </p:sp>
      <p:sp>
        <p:nvSpPr>
          <p:cNvPr id="3" name="">
            <a:extLst xmlns:a="http://schemas.openxmlformats.org/drawingml/2006/main">
              <a:ext uri="{FF2B5EF4-FFF2-40B4-BE49-F238E27FC236}">
                <a16:creationId xmlns:a16="http://schemas.microsoft.com/office/drawing/2014/main" id="{B3C6D2DA-108D-444F-B09C-481528634F7A}"/>
              </a:ext>
            </a:extLst>
          </p:cNvPr>
          <p:cNvSpPr>
            <a:spLocks xmlns:a="http://schemas.openxmlformats.org/drawingml/2006/main" noGrp="1"/>
          </p:cNvSpPr>
          <p:nvPr/>
        </p:nvSpPr>
        <p:spPr>
          <a:xfrm xmlns:a="http://schemas.openxmlformats.org/drawingml/2006/main">
            <a:off x="514350" y="1619250"/>
            <a:ext cx="10439400" cy="1085850"/>
          </a:xfrm>
          <a:prstGeom xmlns:a="http://schemas.openxmlformats.org/drawingml/2006/main" prst="roundRect">
            <a:avLst>
              <a:gd name="adj" fmla="val 5263"/>
            </a:avLst>
          </a:prstGeom>
          <a:solidFill xmlns:a="http://schemas.openxmlformats.org/drawingml/2006/main">
            <a:srgbClr val="1B2B45"/>
          </a:solidFill>
          <a:ln xmlns:a="http://schemas.openxmlformats.org/drawingml/2006/main" w="0">
            <a:noFill/>
            <a:prstDash val="solid"/>
          </a:ln>
        </p:spPr>
      </p:sp>
      <p:sp>
        <p:nvSpPr>
          <p:cNvPr id="4" name="">
            <a:extLst xmlns:a="http://schemas.openxmlformats.org/drawingml/2006/main">
              <a:ext uri="{FF2B5EF4-FFF2-40B4-BE49-F238E27FC236}">
                <a16:creationId xmlns:a16="http://schemas.microsoft.com/office/drawing/2014/main" id="{29D4697A-C52D-4826-9429-50717394E242}"/>
              </a:ext>
            </a:extLst>
          </p:cNvPr>
          <p:cNvSpPr>
            <a:spLocks xmlns:a="http://schemas.openxmlformats.org/drawingml/2006/main" noGrp="1"/>
          </p:cNvSpPr>
          <p:nvPr/>
        </p:nvSpPr>
        <p:spPr>
          <a:xfrm xmlns:a="http://schemas.openxmlformats.org/drawingml/2006/main">
            <a:off x="742950" y="1828800"/>
            <a:ext cx="99822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ctr">
            <a:normAutofit fontScale="95679"/>
          </a:bodyPr>
          <a:lstStyle xmlns:a="http://schemas.openxmlformats.org/drawingml/2006/main"/>
          <a:p xmlns:a="http://schemas.openxmlformats.org/drawingml/2006/main">
            <a:pPr algn="ctr">
              <a:defRPr sz="2025" b="1" i="0">
                <a:solidFill>
                  <a:srgbClr val="FFFFFF"/>
                </a:solidFill>
                <a:latin typeface="Calibri"/>
                <a:ea typeface="Calibri"/>
                <a:cs typeface="Calibri"/>
              </a:defRPr>
            </a:pPr>
            <a:r>
              <a:rPr sz="2025" b="1" i="0">
                <a:solidFill>
                  <a:srgbClr val="FFFFFF"/>
                </a:solidFill>
                <a:latin typeface="Calibri"/>
                <a:ea typeface="Calibri"/>
                <a:cs typeface="Calibri"/>
              </a:rPr>
              <a:t>Test the smallest coordination aid first: a structured note at flagged complex pickups. Move to recovery and venue data only if the evidence supports it.</a:t>
            </a:r>
          </a:p>
        </p:txBody>
      </p:sp>
      <p:sp>
        <p:nvSpPr>
          <p:cNvPr id="5" name="">
            <a:extLst xmlns:a="http://schemas.openxmlformats.org/drawingml/2006/main">
              <a:ext uri="{FF2B5EF4-FFF2-40B4-BE49-F238E27FC236}">
                <a16:creationId xmlns:a16="http://schemas.microsoft.com/office/drawing/2014/main" id="{3FA981B6-0F9B-4CC0-B320-222FED7CC3DF}"/>
              </a:ext>
            </a:extLst>
          </p:cNvPr>
          <p:cNvSpPr>
            <a:spLocks xmlns:a="http://schemas.openxmlformats.org/drawingml/2006/main" noGrp="1"/>
          </p:cNvSpPr>
          <p:nvPr/>
        </p:nvSpPr>
        <p:spPr>
          <a:xfrm xmlns:a="http://schemas.openxmlformats.org/drawingml/2006/main">
            <a:off x="514350" y="2990850"/>
            <a:ext cx="3286125" cy="2152650"/>
          </a:xfrm>
          <a:prstGeom xmlns:a="http://schemas.openxmlformats.org/drawingml/2006/main" prst="roundRect">
            <a:avLst>
              <a:gd name="adj" fmla="val 2655"/>
            </a:avLst>
          </a:prstGeom>
          <a:solidFill xmlns:a="http://schemas.openxmlformats.org/drawingml/2006/main">
            <a:srgbClr val="FBE7D8"/>
          </a:solidFill>
          <a:ln xmlns:a="http://schemas.openxmlformats.org/drawingml/2006/main" w="9525">
            <a:solidFill>
              <a:srgbClr val="E8ECF1"/>
            </a:solidFill>
            <a:prstDash val="solid"/>
          </a:ln>
        </p:spPr>
      </p:sp>
      <p:sp>
        <p:nvSpPr>
          <p:cNvPr id="6" name="">
            <a:extLst xmlns:a="http://schemas.openxmlformats.org/drawingml/2006/main">
              <a:ext uri="{FF2B5EF4-FFF2-40B4-BE49-F238E27FC236}">
                <a16:creationId xmlns:a16="http://schemas.microsoft.com/office/drawing/2014/main" id="{DD1742AE-8836-48F2-9512-589C6653A015}"/>
              </a:ext>
            </a:extLst>
          </p:cNvPr>
          <p:cNvSpPr>
            <a:spLocks xmlns:a="http://schemas.openxmlformats.org/drawingml/2006/main" noGrp="1"/>
          </p:cNvSpPr>
          <p:nvPr/>
        </p:nvSpPr>
        <p:spPr>
          <a:xfrm xmlns:a="http://schemas.openxmlformats.org/drawingml/2006/main">
            <a:off x="666750" y="3105150"/>
            <a:ext cx="298132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l">
              <a:defRPr sz="1275" b="1" i="0">
                <a:solidFill>
                  <a:srgbClr val="1B2B45"/>
                </a:solidFill>
                <a:latin typeface="Calibri"/>
                <a:ea typeface="Calibri"/>
                <a:cs typeface="Calibri"/>
              </a:defRPr>
            </a:pPr>
            <a:r>
              <a:rPr sz="1275" b="1" i="0">
                <a:solidFill>
                  <a:srgbClr val="1B2B45"/>
                </a:solidFill>
                <a:latin typeface="Calibri"/>
                <a:ea typeface="Calibri"/>
                <a:cs typeface="Calibri"/>
              </a:rPr>
              <a:t>LIMITS</a:t>
            </a:r>
          </a:p>
        </p:txBody>
      </p:sp>
      <p:sp>
        <p:nvSpPr>
          <p:cNvPr id="7" name="">
            <a:extLst xmlns:a="http://schemas.openxmlformats.org/drawingml/2006/main">
              <a:ext uri="{FF2B5EF4-FFF2-40B4-BE49-F238E27FC236}">
                <a16:creationId xmlns:a16="http://schemas.microsoft.com/office/drawing/2014/main" id="{71B86B0C-DB88-4C5E-A7AA-0E6333AEDEC6}"/>
              </a:ext>
            </a:extLst>
          </p:cNvPr>
          <p:cNvSpPr>
            <a:spLocks xmlns:a="http://schemas.openxmlformats.org/drawingml/2006/main" noGrp="1"/>
          </p:cNvSpPr>
          <p:nvPr/>
        </p:nvSpPr>
        <p:spPr>
          <a:xfrm xmlns:a="http://schemas.openxmlformats.org/drawingml/2006/main">
            <a:off x="666750" y="3438525"/>
            <a:ext cx="2981325" cy="1600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l">
              <a:defRPr sz="1425" b="0" i="0">
                <a:solidFill>
                  <a:srgbClr val="233248"/>
                </a:solidFill>
                <a:latin typeface="Calibri"/>
                <a:ea typeface="Calibri"/>
                <a:cs typeface="Calibri"/>
              </a:defRPr>
            </a:pPr>
            <a:r>
              <a:rPr sz="1425" b="0" i="0">
                <a:solidFill>
                  <a:srgbClr val="233248"/>
                </a:solidFill>
                <a:latin typeface="Calibri"/>
                <a:ea typeface="Calibri"/>
                <a:cs typeface="Calibri"/>
              </a:rPr>
              <a:t>Convenience sample; interview requirement unmet; 4 drivers; optional open-text depth; 29 other-city responses; no reliable local market denominator.</a:t>
            </a:r>
          </a:p>
        </p:txBody>
      </p:sp>
      <p:sp>
        <p:nvSpPr>
          <p:cNvPr id="8" name="">
            <a:extLst xmlns:a="http://schemas.openxmlformats.org/drawingml/2006/main">
              <a:ext uri="{FF2B5EF4-FFF2-40B4-BE49-F238E27FC236}">
                <a16:creationId xmlns:a16="http://schemas.microsoft.com/office/drawing/2014/main" id="{003AF407-2B88-489C-90B3-1897A682CA4C}"/>
              </a:ext>
            </a:extLst>
          </p:cNvPr>
          <p:cNvSpPr>
            <a:spLocks xmlns:a="http://schemas.openxmlformats.org/drawingml/2006/main" noGrp="1"/>
          </p:cNvSpPr>
          <p:nvPr/>
        </p:nvSpPr>
        <p:spPr>
          <a:xfrm xmlns:a="http://schemas.openxmlformats.org/drawingml/2006/main">
            <a:off x="3990975" y="2990850"/>
            <a:ext cx="3286125" cy="2152650"/>
          </a:xfrm>
          <a:prstGeom xmlns:a="http://schemas.openxmlformats.org/drawingml/2006/main" prst="roundRect">
            <a:avLst>
              <a:gd name="adj" fmla="val 2655"/>
            </a:avLst>
          </a:prstGeom>
          <a:solidFill xmlns:a="http://schemas.openxmlformats.org/drawingml/2006/main">
            <a:srgbClr val="FFFFFF"/>
          </a:solidFill>
          <a:ln xmlns:a="http://schemas.openxmlformats.org/drawingml/2006/main" w="9525">
            <a:solidFill>
              <a:srgbClr val="E8ECF1"/>
            </a:solidFill>
            <a:prstDash val="solid"/>
          </a:ln>
        </p:spPr>
      </p:sp>
      <p:sp>
        <p:nvSpPr>
          <p:cNvPr id="9" name="">
            <a:extLst xmlns:a="http://schemas.openxmlformats.org/drawingml/2006/main">
              <a:ext uri="{FF2B5EF4-FFF2-40B4-BE49-F238E27FC236}">
                <a16:creationId xmlns:a16="http://schemas.microsoft.com/office/drawing/2014/main" id="{9F45CCE5-C723-4A30-9901-FFAC7175BCA2}"/>
              </a:ext>
            </a:extLst>
          </p:cNvPr>
          <p:cNvSpPr>
            <a:spLocks xmlns:a="http://schemas.openxmlformats.org/drawingml/2006/main" noGrp="1"/>
          </p:cNvSpPr>
          <p:nvPr/>
        </p:nvSpPr>
        <p:spPr>
          <a:xfrm xmlns:a="http://schemas.openxmlformats.org/drawingml/2006/main">
            <a:off x="4143375" y="3105150"/>
            <a:ext cx="298132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l">
              <a:defRPr sz="1275" b="1" i="0">
                <a:solidFill>
                  <a:srgbClr val="1BB5C8"/>
                </a:solidFill>
                <a:latin typeface="Calibri"/>
                <a:ea typeface="Calibri"/>
                <a:cs typeface="Calibri"/>
              </a:defRPr>
            </a:pPr>
            <a:r>
              <a:rPr sz="1275" b="1" i="0">
                <a:solidFill>
                  <a:srgbClr val="1BB5C8"/>
                </a:solidFill>
                <a:latin typeface="Calibri"/>
                <a:ea typeface="Calibri"/>
                <a:cs typeface="Calibri"/>
              </a:rPr>
              <a:t>NEXT RESEARCH</a:t>
            </a:r>
          </a:p>
        </p:txBody>
      </p:sp>
      <p:sp>
        <p:nvSpPr>
          <p:cNvPr id="10" name="">
            <a:extLst xmlns:a="http://schemas.openxmlformats.org/drawingml/2006/main">
              <a:ext uri="{FF2B5EF4-FFF2-40B4-BE49-F238E27FC236}">
                <a16:creationId xmlns:a16="http://schemas.microsoft.com/office/drawing/2014/main" id="{FCE3EA09-C7AB-4D68-8A05-1B89007CDC84}"/>
              </a:ext>
            </a:extLst>
          </p:cNvPr>
          <p:cNvSpPr>
            <a:spLocks xmlns:a="http://schemas.openxmlformats.org/drawingml/2006/main" noGrp="1"/>
          </p:cNvSpPr>
          <p:nvPr/>
        </p:nvSpPr>
        <p:spPr>
          <a:xfrm xmlns:a="http://schemas.openxmlformats.org/drawingml/2006/main">
            <a:off x="4143375" y="3438525"/>
            <a:ext cx="2981325" cy="1600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l">
              <a:defRPr sz="1500" b="0" i="0">
                <a:solidFill>
                  <a:srgbClr val="233248"/>
                </a:solidFill>
                <a:latin typeface="Calibri"/>
                <a:ea typeface="Calibri"/>
                <a:cs typeface="Calibri"/>
              </a:defRPr>
            </a:pPr>
            <a:r>
              <a:rPr sz="1500" b="0" i="0">
                <a:solidFill>
                  <a:srgbClr val="233248"/>
                </a:solidFill>
                <a:latin typeface="Calibri"/>
                <a:ea typeface="Calibri"/>
                <a:cs typeface="Calibri"/>
              </a:rPr>
              <a:t>Run 6 moderated rider and 4 driver interviews if feasible; include accessibility and venue-operations perspectives.</a:t>
            </a:r>
          </a:p>
        </p:txBody>
      </p:sp>
      <p:sp>
        <p:nvSpPr>
          <p:cNvPr id="11" name="">
            <a:extLst xmlns:a="http://schemas.openxmlformats.org/drawingml/2006/main">
              <a:ext uri="{FF2B5EF4-FFF2-40B4-BE49-F238E27FC236}">
                <a16:creationId xmlns:a16="http://schemas.microsoft.com/office/drawing/2014/main" id="{934C5489-CDC6-48BA-8D6A-9D846BBA1B1D}"/>
              </a:ext>
            </a:extLst>
          </p:cNvPr>
          <p:cNvSpPr>
            <a:spLocks xmlns:a="http://schemas.openxmlformats.org/drawingml/2006/main" noGrp="1"/>
          </p:cNvSpPr>
          <p:nvPr/>
        </p:nvSpPr>
        <p:spPr>
          <a:xfrm xmlns:a="http://schemas.openxmlformats.org/drawingml/2006/main">
            <a:off x="7467600" y="2990850"/>
            <a:ext cx="3486150" cy="2152650"/>
          </a:xfrm>
          <a:prstGeom xmlns:a="http://schemas.openxmlformats.org/drawingml/2006/main" prst="roundRect">
            <a:avLst>
              <a:gd name="adj" fmla="val 2655"/>
            </a:avLst>
          </a:prstGeom>
          <a:solidFill xmlns:a="http://schemas.openxmlformats.org/drawingml/2006/main">
            <a:srgbClr val="FFFFFF"/>
          </a:solidFill>
          <a:ln xmlns:a="http://schemas.openxmlformats.org/drawingml/2006/main" w="9525">
            <a:solidFill>
              <a:srgbClr val="E8ECF1"/>
            </a:solidFill>
            <a:prstDash val="solid"/>
          </a:ln>
        </p:spPr>
      </p:sp>
      <p:sp>
        <p:nvSpPr>
          <p:cNvPr id="12" name="">
            <a:extLst xmlns:a="http://schemas.openxmlformats.org/drawingml/2006/main">
              <a:ext uri="{FF2B5EF4-FFF2-40B4-BE49-F238E27FC236}">
                <a16:creationId xmlns:a16="http://schemas.microsoft.com/office/drawing/2014/main" id="{EDDFFBB8-45A3-4915-88AA-49EFD4ADB94E}"/>
              </a:ext>
            </a:extLst>
          </p:cNvPr>
          <p:cNvSpPr>
            <a:spLocks xmlns:a="http://schemas.openxmlformats.org/drawingml/2006/main" noGrp="1"/>
          </p:cNvSpPr>
          <p:nvPr/>
        </p:nvSpPr>
        <p:spPr>
          <a:xfrm xmlns:a="http://schemas.openxmlformats.org/drawingml/2006/main">
            <a:off x="7620000" y="3105150"/>
            <a:ext cx="31813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l">
              <a:defRPr sz="1275" b="1" i="0">
                <a:solidFill>
                  <a:srgbClr val="F47A22"/>
                </a:solidFill>
                <a:latin typeface="Calibri"/>
                <a:ea typeface="Calibri"/>
                <a:cs typeface="Calibri"/>
              </a:defRPr>
            </a:pPr>
            <a:r>
              <a:rPr sz="1275" b="1" i="0">
                <a:solidFill>
                  <a:srgbClr val="F47A22"/>
                </a:solidFill>
                <a:latin typeface="Calibri"/>
                <a:ea typeface="Calibri"/>
                <a:cs typeface="Calibri"/>
              </a:rPr>
              <a:t>NEXT DATA</a:t>
            </a:r>
          </a:p>
        </p:txBody>
      </p:sp>
      <p:sp>
        <p:nvSpPr>
          <p:cNvPr id="13" name="">
            <a:extLst xmlns:a="http://schemas.openxmlformats.org/drawingml/2006/main">
              <a:ext uri="{FF2B5EF4-FFF2-40B4-BE49-F238E27FC236}">
                <a16:creationId xmlns:a16="http://schemas.microsoft.com/office/drawing/2014/main" id="{9852A794-954D-4F93-B3CD-9FD8A29D9A63}"/>
              </a:ext>
            </a:extLst>
          </p:cNvPr>
          <p:cNvSpPr>
            <a:spLocks xmlns:a="http://schemas.openxmlformats.org/drawingml/2006/main" noGrp="1"/>
          </p:cNvSpPr>
          <p:nvPr/>
        </p:nvSpPr>
        <p:spPr>
          <a:xfrm xmlns:a="http://schemas.openxmlformats.org/drawingml/2006/main">
            <a:off x="7620000" y="3438525"/>
            <a:ext cx="3181350" cy="1600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l">
              <a:defRPr sz="1500" b="0" i="0">
                <a:solidFill>
                  <a:srgbClr val="233248"/>
                </a:solidFill>
                <a:latin typeface="Calibri"/>
                <a:ea typeface="Calibri"/>
                <a:cs typeface="Calibri"/>
              </a:defRPr>
            </a:pPr>
            <a:r>
              <a:rPr sz="1500" b="0" i="0">
                <a:solidFill>
                  <a:srgbClr val="233248"/>
                </a:solidFill>
                <a:latin typeface="Calibri"/>
                <a:ea typeface="Calibri"/>
                <a:cs typeface="Calibri"/>
              </a:rPr>
              <a:t>If event logs are trustworthy, baseline arrived-to-trip-start dwell, contacts, location changes, and cancellations at selected venues.</a:t>
            </a:r>
          </a:p>
        </p:txBody>
      </p:sp>
      <p:sp>
        <p:nvSpPr>
          <p:cNvPr id="14" name="">
            <a:extLst xmlns:a="http://schemas.openxmlformats.org/drawingml/2006/main">
              <a:ext uri="{FF2B5EF4-FFF2-40B4-BE49-F238E27FC236}">
                <a16:creationId xmlns:a16="http://schemas.microsoft.com/office/drawing/2014/main" id="{C774CB28-5C35-4111-96E4-6BEE05AE8F86}"/>
              </a:ext>
            </a:extLst>
          </p:cNvPr>
          <p:cNvSpPr>
            <a:spLocks xmlns:a="http://schemas.openxmlformats.org/drawingml/2006/main" noGrp="1"/>
          </p:cNvSpPr>
          <p:nvPr/>
        </p:nvSpPr>
        <p:spPr>
          <a:xfrm xmlns:a="http://schemas.openxmlformats.org/drawingml/2006/main">
            <a:off x="514350" y="5429250"/>
            <a:ext cx="104394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ctr">
              <a:defRPr sz="1350" b="0" i="1">
                <a:solidFill>
                  <a:srgbClr val="687489"/>
                </a:solidFill>
                <a:latin typeface="Calibri"/>
                <a:ea typeface="Calibri"/>
                <a:cs typeface="Calibri"/>
              </a:defRPr>
            </a:pPr>
            <a:r>
              <a:rPr sz="1350" b="0" i="1">
                <a:solidFill>
                  <a:srgbClr val="687489"/>
                </a:solidFill>
                <a:latin typeface="Calibri"/>
                <a:ea typeface="Calibri"/>
                <a:cs typeface="Calibri"/>
              </a:rPr>
              <a:t>Appendix: full method, top 10 insights, competitor patterns, idea tests, limitations, and source traceability.</a:t>
            </a:r>
          </a:p>
        </p:txBody>
      </p:sp>
      <p:sp>
        <p:nvSpPr>
          <p:cNvPr id="15" name="">
            <a:extLst xmlns:a="http://schemas.openxmlformats.org/drawingml/2006/main">
              <a:ext uri="{FF2B5EF4-FFF2-40B4-BE49-F238E27FC236}">
                <a16:creationId xmlns:a16="http://schemas.microsoft.com/office/drawing/2014/main" id="{74DBA5FE-B6A5-41E1-B0F4-BEF72FE0054A}"/>
              </a:ext>
            </a:extLst>
          </p:cNvPr>
          <p:cNvSpPr>
            <a:spLocks xmlns:a="http://schemas.openxmlformats.org/drawingml/2006/main" noGrp="1"/>
          </p:cNvSpPr>
          <p:nvPr/>
        </p:nvSpPr>
        <p:spPr>
          <a:xfrm xmlns:a="http://schemas.openxmlformats.org/drawingml/2006/main">
            <a:off x="514350" y="6515100"/>
            <a:ext cx="2857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l">
              <a:defRPr sz="750" b="0" i="0">
                <a:solidFill>
                  <a:srgbClr val="687489"/>
                </a:solidFill>
                <a:latin typeface="Calibri"/>
                <a:ea typeface="Calibri"/>
                <a:cs typeface="Calibri"/>
              </a:defRPr>
            </a:pPr>
            <a:r>
              <a:rPr sz="750" b="0" i="0">
                <a:solidFill>
                  <a:srgbClr val="687489"/>
                </a:solidFill>
                <a:latin typeface="Calibri"/>
                <a:ea typeface="Calibri"/>
                <a:cs typeface="Calibri"/>
              </a:rPr>
              <a:t>Find My Ride</a:t>
            </a:r>
          </a:p>
        </p:txBody>
      </p:sp>
      <p:sp>
        <p:nvSpPr>
          <p:cNvPr id="16" name="">
            <a:extLst xmlns:a="http://schemas.openxmlformats.org/drawingml/2006/main">
              <a:ext uri="{FF2B5EF4-FFF2-40B4-BE49-F238E27FC236}">
                <a16:creationId xmlns:a16="http://schemas.microsoft.com/office/drawing/2014/main" id="{B5030A71-D969-486E-BE7F-474A99EB50F5}"/>
              </a:ext>
            </a:extLst>
          </p:cNvPr>
          <p:cNvSpPr>
            <a:spLocks xmlns:a="http://schemas.openxmlformats.org/drawingml/2006/main" noGrp="1"/>
          </p:cNvSpPr>
          <p:nvPr/>
        </p:nvSpPr>
        <p:spPr>
          <a:xfrm xmlns:a="http://schemas.openxmlformats.org/drawingml/2006/main">
            <a:off x="11372850" y="6515100"/>
            <a:ext cx="3048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r">
              <a:defRPr sz="750" b="0" i="0">
                <a:solidFill>
                  <a:srgbClr val="687489"/>
                </a:solidFill>
                <a:latin typeface="Calibri"/>
                <a:ea typeface="Calibri"/>
                <a:cs typeface="Calibri"/>
              </a:defRPr>
            </a:pPr>
            <a:r>
              <a:rPr sz="750" b="0" i="0">
                <a:solidFill>
                  <a:srgbClr val="687489"/>
                </a:solidFill>
                <a:latin typeface="Calibri"/>
                <a:ea typeface="Calibri"/>
                <a:cs typeface="Calibri"/>
              </a:rPr>
              <a:t>10</a:t>
            </a:r>
          </a:p>
        </p:txBody>
      </p:sp>
    </p:spTree>
    <p:extLst>
      <p:ext uri="{BB962C8B-B14F-4D97-AF65-F5344CB8AC3E}">
        <p14:creationId xmlns:p14="http://schemas.microsoft.com/office/powerpoint/2010/main" val="1233594684"/>
      </p:ext>
    </p:extLst>
  </p:cSld>
</p:sld>
</file>

<file path=ppt/slides/slide11.xml><?xml version="1.0" encoding="utf-8"?>
<p:sld xmlns:p="http://schemas.openxmlformats.org/presentationml/2006/main">
  <p:cSld>
    <p:bg>
      <p:bgPr>
        <a:solidFill xmlns:a="http://schemas.openxmlformats.org/drawingml/2006/main">
          <a:srgbClr val="1B2B45"/>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8824CCF2-339A-4D07-945D-F127D32FEA5F}"/>
              </a:ext>
            </a:extLst>
          </p:cNvPr>
          <p:cNvSpPr>
            <a:spLocks xmlns:a="http://schemas.openxmlformats.org/drawingml/2006/main" noGrp="1"/>
          </p:cNvSpPr>
          <p:nvPr/>
        </p:nvSpPr>
        <p:spPr>
          <a:xfrm xmlns:a="http://schemas.openxmlformats.org/drawingml/2006/main">
            <a:off x="514350" y="1619250"/>
            <a:ext cx="47625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l">
              <a:defRPr sz="1350" b="1" i="0">
                <a:solidFill>
                  <a:srgbClr val="F47A22"/>
                </a:solidFill>
                <a:latin typeface="Calibri"/>
                <a:ea typeface="Calibri"/>
                <a:cs typeface="Calibri"/>
              </a:defRPr>
            </a:pPr>
            <a:r>
              <a:rPr sz="1350" b="1" i="0">
                <a:solidFill>
                  <a:srgbClr val="F47A22"/>
                </a:solidFill>
                <a:latin typeface="Calibri"/>
                <a:ea typeface="Calibri"/>
                <a:cs typeface="Calibri"/>
              </a:rPr>
              <a:t>APPENDIX</a:t>
            </a:r>
          </a:p>
        </p:txBody>
      </p:sp>
      <p:sp>
        <p:nvSpPr>
          <p:cNvPr id="2" name="">
            <a:extLst xmlns:a="http://schemas.openxmlformats.org/drawingml/2006/main">
              <a:ext uri="{FF2B5EF4-FFF2-40B4-BE49-F238E27FC236}">
                <a16:creationId xmlns:a16="http://schemas.microsoft.com/office/drawing/2014/main" id="{7400DF3B-89D7-4839-94C4-4410EFD907C1}"/>
              </a:ext>
            </a:extLst>
          </p:cNvPr>
          <p:cNvSpPr>
            <a:spLocks xmlns:a="http://schemas.openxmlformats.org/drawingml/2006/main" noGrp="1"/>
          </p:cNvSpPr>
          <p:nvPr/>
        </p:nvSpPr>
        <p:spPr>
          <a:xfrm xmlns:a="http://schemas.openxmlformats.org/drawingml/2006/main">
            <a:off x="514350" y="2152650"/>
            <a:ext cx="93345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l">
              <a:defRPr sz="3300" b="1" i="0">
                <a:solidFill>
                  <a:srgbClr val="FFFFFF"/>
                </a:solidFill>
                <a:latin typeface="Calibri"/>
                <a:ea typeface="Calibri"/>
                <a:cs typeface="Calibri"/>
              </a:defRPr>
            </a:pPr>
            <a:r>
              <a:rPr sz="3300" b="1" i="0">
                <a:solidFill>
                  <a:srgbClr val="FFFFFF"/>
                </a:solidFill>
                <a:latin typeface="Calibri"/>
                <a:ea typeface="Calibri"/>
                <a:cs typeface="Calibri"/>
              </a:rPr>
              <a:t>The evidence behind every claim</a:t>
            </a:r>
          </a:p>
        </p:txBody>
      </p:sp>
      <p:sp>
        <p:nvSpPr>
          <p:cNvPr id="3" name="">
            <a:extLst xmlns:a="http://schemas.openxmlformats.org/drawingml/2006/main">
              <a:ext uri="{FF2B5EF4-FFF2-40B4-BE49-F238E27FC236}">
                <a16:creationId xmlns:a16="http://schemas.microsoft.com/office/drawing/2014/main" id="{DD65A09B-DF7C-4FA2-83D5-08E5A17EE16A}"/>
              </a:ext>
            </a:extLst>
          </p:cNvPr>
          <p:cNvSpPr>
            <a:spLocks xmlns:a="http://schemas.openxmlformats.org/drawingml/2006/main" noGrp="1"/>
          </p:cNvSpPr>
          <p:nvPr/>
        </p:nvSpPr>
        <p:spPr>
          <a:xfrm xmlns:a="http://schemas.openxmlformats.org/drawingml/2006/main">
            <a:off x="514350" y="3067050"/>
            <a:ext cx="102870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l">
              <a:defRPr sz="1725" b="0" i="0">
                <a:solidFill>
                  <a:srgbClr val="CDD6E3"/>
                </a:solidFill>
                <a:latin typeface="Calibri"/>
                <a:ea typeface="Calibri"/>
                <a:cs typeface="Calibri"/>
              </a:defRPr>
            </a:pPr>
            <a:r>
              <a:rPr sz="1725" b="0" i="0">
                <a:solidFill>
                  <a:srgbClr val="CDD6E3"/>
                </a:solidFill>
                <a:latin typeface="Calibri"/>
                <a:ea typeface="Calibri"/>
                <a:cs typeface="Calibri"/>
              </a:rPr>
              <a:t>Methodology · Top 10 insights · Market and competitor patterns · Strategy reconciliation · Product tests · Limitations · Sources</a:t>
            </a:r>
          </a:p>
        </p:txBody>
      </p:sp>
      <p:sp>
        <p:nvSpPr>
          <p:cNvPr id="4" name="">
            <a:extLst xmlns:a="http://schemas.openxmlformats.org/drawingml/2006/main">
              <a:ext uri="{FF2B5EF4-FFF2-40B4-BE49-F238E27FC236}">
                <a16:creationId xmlns:a16="http://schemas.microsoft.com/office/drawing/2014/main" id="{6F34D607-0746-41FC-94A6-10FA55C25605}"/>
              </a:ext>
            </a:extLst>
          </p:cNvPr>
          <p:cNvSpPr>
            <a:spLocks xmlns:a="http://schemas.openxmlformats.org/drawingml/2006/main" noGrp="1"/>
          </p:cNvSpPr>
          <p:nvPr/>
        </p:nvSpPr>
        <p:spPr>
          <a:xfrm xmlns:a="http://schemas.openxmlformats.org/drawingml/2006/main">
            <a:off x="514350" y="6515100"/>
            <a:ext cx="2857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l">
              <a:defRPr sz="750" b="0" i="0">
                <a:solidFill>
                  <a:srgbClr val="687489"/>
                </a:solidFill>
                <a:latin typeface="Calibri"/>
                <a:ea typeface="Calibri"/>
                <a:cs typeface="Calibri"/>
              </a:defRPr>
            </a:pPr>
            <a:r>
              <a:rPr sz="750" b="0" i="0">
                <a:solidFill>
                  <a:srgbClr val="687489"/>
                </a:solidFill>
                <a:latin typeface="Calibri"/>
                <a:ea typeface="Calibri"/>
                <a:cs typeface="Calibri"/>
              </a:rPr>
              <a:t>Find My Ride · Appendix</a:t>
            </a:r>
          </a:p>
        </p:txBody>
      </p:sp>
      <p:sp>
        <p:nvSpPr>
          <p:cNvPr id="5" name="">
            <a:extLst xmlns:a="http://schemas.openxmlformats.org/drawingml/2006/main">
              <a:ext uri="{FF2B5EF4-FFF2-40B4-BE49-F238E27FC236}">
                <a16:creationId xmlns:a16="http://schemas.microsoft.com/office/drawing/2014/main" id="{C7AD5559-A980-4184-B4FF-52F40F8DC242}"/>
              </a:ext>
            </a:extLst>
          </p:cNvPr>
          <p:cNvSpPr>
            <a:spLocks xmlns:a="http://schemas.openxmlformats.org/drawingml/2006/main" noGrp="1"/>
          </p:cNvSpPr>
          <p:nvPr/>
        </p:nvSpPr>
        <p:spPr>
          <a:xfrm xmlns:a="http://schemas.openxmlformats.org/drawingml/2006/main">
            <a:off x="11372850" y="6515100"/>
            <a:ext cx="3048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r">
              <a:defRPr sz="750" b="0" i="0">
                <a:solidFill>
                  <a:srgbClr val="687489"/>
                </a:solidFill>
                <a:latin typeface="Calibri"/>
                <a:ea typeface="Calibri"/>
                <a:cs typeface="Calibri"/>
              </a:defRPr>
            </a:pPr>
            <a:r>
              <a:rPr sz="750" b="0" i="0">
                <a:solidFill>
                  <a:srgbClr val="687489"/>
                </a:solidFill>
                <a:latin typeface="Calibri"/>
                <a:ea typeface="Calibri"/>
                <a:cs typeface="Calibri"/>
              </a:rPr>
              <a:t>11</a:t>
            </a:r>
          </a:p>
        </p:txBody>
      </p:sp>
    </p:spTree>
    <p:extLst>
      <p:ext uri="{BB962C8B-B14F-4D97-AF65-F5344CB8AC3E}">
        <p14:creationId xmlns:p14="http://schemas.microsoft.com/office/powerpoint/2010/main" val="281821928"/>
      </p:ext>
    </p:extLst>
  </p:cSld>
</p:sld>
</file>

<file path=ppt/slides/slide12.xml><?xml version="1.0" encoding="utf-8"?>
<p:sld xmlns:p="http://schemas.openxmlformats.org/presentationml/2006/main">
  <p:cSld>
    <p:bg>
      <p:bgPr>
        <a:solidFill xmlns:a="http://schemas.openxmlformats.org/drawingml/2006/main">
          <a:srgbClr val="F3F5F8"/>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6A6955E1-0883-4C31-925B-EEB3762D3300}"/>
              </a:ext>
            </a:extLst>
          </p:cNvPr>
          <p:cNvSpPr>
            <a:spLocks xmlns:a="http://schemas.openxmlformats.org/drawingml/2006/main" noGrp="1"/>
          </p:cNvSpPr>
          <p:nvPr/>
        </p:nvSpPr>
        <p:spPr>
          <a:xfrm xmlns:a="http://schemas.openxmlformats.org/drawingml/2006/main">
            <a:off x="514350" y="247650"/>
            <a:ext cx="11144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l">
              <a:defRPr sz="975" b="1" i="0">
                <a:solidFill>
                  <a:srgbClr val="F47A22"/>
                </a:solidFill>
                <a:latin typeface="Calibri"/>
                <a:ea typeface="Calibri"/>
                <a:cs typeface="Calibri"/>
              </a:defRPr>
            </a:pPr>
            <a:r>
              <a:rPr sz="975" b="1" i="0">
                <a:solidFill>
                  <a:srgbClr val="F47A22"/>
                </a:solidFill>
                <a:latin typeface="Calibri"/>
                <a:ea typeface="Calibri"/>
                <a:cs typeface="Calibri"/>
              </a:rPr>
              <a:t>APPENDIX · METHODOLOGY</a:t>
            </a:r>
          </a:p>
        </p:txBody>
      </p:sp>
      <p:sp>
        <p:nvSpPr>
          <p:cNvPr id="2" name="">
            <a:extLst xmlns:a="http://schemas.openxmlformats.org/drawingml/2006/main">
              <a:ext uri="{FF2B5EF4-FFF2-40B4-BE49-F238E27FC236}">
                <a16:creationId xmlns:a16="http://schemas.microsoft.com/office/drawing/2014/main" id="{BC91562E-B253-408B-9127-20CE45FC1D22}"/>
              </a:ext>
            </a:extLst>
          </p:cNvPr>
          <p:cNvSpPr>
            <a:spLocks xmlns:a="http://schemas.openxmlformats.org/drawingml/2006/main" noGrp="1"/>
          </p:cNvSpPr>
          <p:nvPr/>
        </p:nvSpPr>
        <p:spPr>
          <a:xfrm xmlns:a="http://schemas.openxmlformats.org/drawingml/2006/main">
            <a:off x="514350" y="571500"/>
            <a:ext cx="1114425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l">
              <a:defRPr sz="2550" b="1" i="0">
                <a:solidFill>
                  <a:srgbClr val="1B2B45"/>
                </a:solidFill>
                <a:latin typeface="Calibri"/>
                <a:ea typeface="Calibri"/>
                <a:cs typeface="Calibri"/>
              </a:defRPr>
            </a:pPr>
            <a:r>
              <a:rPr sz="2550" b="1" i="0">
                <a:solidFill>
                  <a:srgbClr val="1B2B45"/>
                </a:solidFill>
                <a:latin typeface="Calibri"/>
                <a:ea typeface="Calibri"/>
                <a:cs typeface="Calibri"/>
              </a:rPr>
              <a:t>Online survey evidence and the exact requirement gap</a:t>
            </a:r>
          </a:p>
        </p:txBody>
      </p:sp>
      <p:sp>
        <p:nvSpPr>
          <p:cNvPr id="3" name="">
            <a:extLst xmlns:a="http://schemas.openxmlformats.org/drawingml/2006/main">
              <a:ext uri="{FF2B5EF4-FFF2-40B4-BE49-F238E27FC236}">
                <a16:creationId xmlns:a16="http://schemas.microsoft.com/office/drawing/2014/main" id="{91987952-53E4-4BD6-AC2A-9578EC89C706}"/>
              </a:ext>
            </a:extLst>
          </p:cNvPr>
          <p:cNvSpPr>
            <a:spLocks xmlns:a="http://schemas.openxmlformats.org/drawingml/2006/main" noGrp="1"/>
          </p:cNvSpPr>
          <p:nvPr/>
        </p:nvSpPr>
        <p:spPr>
          <a:xfrm xmlns:a="http://schemas.openxmlformats.org/drawingml/2006/main">
            <a:off x="514350" y="1676400"/>
            <a:ext cx="6286500" cy="400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38100" tIns="38100" rIns="38100" bIns="38100">
            <a:normAutofit fontScale="100000"/>
          </a:bodyPr>
          <a:lstStyle xmlns:a="http://schemas.openxmlformats.org/drawingml/2006/main"/>
          <a:p xmlns:a="http://schemas.openxmlformats.org/drawingml/2006/main">
            <a:pPr marL="228600" indent="-114300">
              <a:spcAft>
                <a:spcPts val="1000"/>
              </a:spcAft>
              <a:buChar char="•"/>
              <a:defRPr sz="1575">
                <a:solidFill>
                  <a:srgbClr val="233248"/>
                </a:solidFill>
                <a:latin typeface="Calibri"/>
                <a:ea typeface="Calibri"/>
                <a:cs typeface="Calibri"/>
              </a:defRPr>
            </a:pPr>
            <a:r>
              <a:rPr sz="1575">
                <a:solidFill>
                  <a:srgbClr val="233248"/>
                </a:solidFill>
                <a:latin typeface="Calibri"/>
                <a:ea typeface="Calibri"/>
                <a:cs typeface="Calibri"/>
              </a:rPr>
              <a:t>62 unique submissions after removing confirmed duplicate R032</a:t>
            </a:r>
          </a:p>
          <a:p xmlns:a="http://schemas.openxmlformats.org/drawingml/2006/main">
            <a:pPr marL="228600" indent="-114300">
              <a:spcAft>
                <a:spcPts val="1000"/>
              </a:spcAft>
              <a:buChar char="•"/>
              <a:defRPr sz="1575">
                <a:solidFill>
                  <a:srgbClr val="233248"/>
                </a:solidFill>
                <a:latin typeface="Calibri"/>
                <a:ea typeface="Calibri"/>
                <a:cs typeface="Calibri"/>
              </a:defRPr>
            </a:pPr>
            <a:r>
              <a:rPr sz="1575">
                <a:solidFill>
                  <a:srgbClr val="233248"/>
                </a:solidFill>
                <a:latin typeface="Calibri"/>
                <a:ea typeface="Calibri"/>
                <a:cs typeface="Calibri"/>
              </a:rPr>
              <a:t>58 riders and 4 drivers; driver conclusions remain open</a:t>
            </a:r>
          </a:p>
          <a:p xmlns:a="http://schemas.openxmlformats.org/drawingml/2006/main">
            <a:pPr marL="228600" indent="-114300">
              <a:spcAft>
                <a:spcPts val="1000"/>
              </a:spcAft>
              <a:buChar char="•"/>
              <a:defRPr sz="1575">
                <a:solidFill>
                  <a:srgbClr val="233248"/>
                </a:solidFill>
                <a:latin typeface="Calibri"/>
                <a:ea typeface="Calibri"/>
                <a:cs typeface="Calibri"/>
              </a:defRPr>
            </a:pPr>
            <a:r>
              <a:rPr sz="1575">
                <a:solidFill>
                  <a:srgbClr val="233248"/>
                </a:solidFill>
                <a:latin typeface="Calibri"/>
                <a:ea typeface="Calibri"/>
                <a:cs typeface="Calibri"/>
              </a:rPr>
              <a:t>33 Hyderabad and 29 other-city responses</a:t>
            </a:r>
          </a:p>
          <a:p xmlns:a="http://schemas.openxmlformats.org/drawingml/2006/main">
            <a:pPr marL="228600" indent="-114300">
              <a:spcAft>
                <a:spcPts val="1000"/>
              </a:spcAft>
              <a:buChar char="•"/>
              <a:defRPr sz="1575">
                <a:solidFill>
                  <a:srgbClr val="233248"/>
                </a:solidFill>
                <a:latin typeface="Calibri"/>
                <a:ea typeface="Calibri"/>
                <a:cs typeface="Calibri"/>
              </a:defRPr>
            </a:pPr>
            <a:r>
              <a:rPr sz="1575">
                <a:solidFill>
                  <a:srgbClr val="233248"/>
                </a:solidFill>
                <a:latin typeface="Calibri"/>
                <a:ea typeface="Calibri"/>
                <a:cs typeface="Calibri"/>
              </a:rPr>
              <a:t>Self-serve, asynchronous, consent-gated interface in English, Telugu, and Hindi</a:t>
            </a:r>
          </a:p>
          <a:p xmlns:a="http://schemas.openxmlformats.org/drawingml/2006/main">
            <a:pPr marL="228600" indent="-114300">
              <a:spcAft>
                <a:spcPts val="1000"/>
              </a:spcAft>
              <a:buChar char="•"/>
              <a:defRPr sz="1575">
                <a:solidFill>
                  <a:srgbClr val="233248"/>
                </a:solidFill>
                <a:latin typeface="Calibri"/>
                <a:ea typeface="Calibri"/>
                <a:cs typeface="Calibri"/>
              </a:defRPr>
            </a:pPr>
            <a:r>
              <a:rPr sz="1575">
                <a:solidFill>
                  <a:srgbClr val="233248"/>
                </a:solidFill>
                <a:latin typeface="Calibri"/>
                <a:ea typeface="Calibri"/>
                <a:cs typeface="Calibri"/>
              </a:rPr>
              <a:t>Four optional open-text or voice prompts plus structured tags</a:t>
            </a:r>
          </a:p>
          <a:p xmlns:a="http://schemas.openxmlformats.org/drawingml/2006/main">
            <a:pPr marL="228600" indent="-114300">
              <a:spcAft>
                <a:spcPts val="1000"/>
              </a:spcAft>
              <a:buChar char="•"/>
              <a:defRPr sz="1575">
                <a:solidFill>
                  <a:srgbClr val="233248"/>
                </a:solidFill>
                <a:latin typeface="Calibri"/>
                <a:ea typeface="Calibri"/>
                <a:cs typeface="Calibri"/>
              </a:defRPr>
            </a:pPr>
            <a:r>
              <a:rPr sz="1575">
                <a:solidFill>
                  <a:srgbClr val="233248"/>
                </a:solidFill>
                <a:latin typeface="Calibri"/>
                <a:ea typeface="Calibri"/>
                <a:cs typeface="Calibri"/>
              </a:rPr>
              <a:t>Contact details and raw payload excluded from the sanitized workbook</a:t>
            </a:r>
          </a:p>
          <a:p xmlns:a="http://schemas.openxmlformats.org/drawingml/2006/main">
            <a:pPr marL="228600" indent="-114300">
              <a:spcAft>
                <a:spcPts val="1000"/>
              </a:spcAft>
              <a:buChar char="•"/>
              <a:defRPr sz="1575">
                <a:solidFill>
                  <a:srgbClr val="233248"/>
                </a:solidFill>
                <a:latin typeface="Calibri"/>
                <a:ea typeface="Calibri"/>
                <a:cs typeface="Calibri"/>
              </a:defRPr>
            </a:pPr>
            <a:r>
              <a:rPr sz="1575">
                <a:solidFill>
                  <a:srgbClr val="233248"/>
                </a:solidFill>
                <a:latin typeface="Calibri"/>
                <a:ea typeface="Calibri"/>
                <a:cs typeface="Calibri"/>
              </a:rPr>
              <a:t>Does not satisfy the assignment's 10 in-depth interview requirement</a:t>
            </a:r>
          </a:p>
        </p:txBody>
      </p:sp>
      <p:sp>
        <p:nvSpPr>
          <p:cNvPr id="4" name="">
            <a:extLst xmlns:a="http://schemas.openxmlformats.org/drawingml/2006/main">
              <a:ext uri="{FF2B5EF4-FFF2-40B4-BE49-F238E27FC236}">
                <a16:creationId xmlns:a16="http://schemas.microsoft.com/office/drawing/2014/main" id="{E297902B-E648-4C36-8689-3316E238B49E}"/>
              </a:ext>
            </a:extLst>
          </p:cNvPr>
          <p:cNvSpPr>
            <a:spLocks xmlns:a="http://schemas.openxmlformats.org/drawingml/2006/main" noGrp="1"/>
          </p:cNvSpPr>
          <p:nvPr/>
        </p:nvSpPr>
        <p:spPr>
          <a:xfrm xmlns:a="http://schemas.openxmlformats.org/drawingml/2006/main">
            <a:off x="7239000" y="1600200"/>
            <a:ext cx="1790700" cy="3638550"/>
          </a:xfrm>
          <a:prstGeom xmlns:a="http://schemas.openxmlformats.org/drawingml/2006/main" prst="roundRect">
            <a:avLst>
              <a:gd name="adj" fmla="val 3191"/>
            </a:avLst>
          </a:prstGeom>
          <a:solidFill xmlns:a="http://schemas.openxmlformats.org/drawingml/2006/main">
            <a:srgbClr val="FFFFFF"/>
          </a:solidFill>
          <a:ln xmlns:a="http://schemas.openxmlformats.org/drawingml/2006/main" w="19050">
            <a:solidFill>
              <a:srgbClr val="1B2B45"/>
            </a:solidFill>
            <a:prstDash val="solid"/>
          </a:ln>
        </p:spPr>
      </p:sp>
      <p:pic>
        <p:nvPicPr>
          <p:cNvPr id="15" name=""/>
          <p:cNvPicPr>
            <a:picLocks xmlns:a="http://schemas.openxmlformats.org/drawingml/2006/main" noChangeAspect="1"/>
          </p:cNvPicPr>
          <p:nvPr/>
        </p:nvPicPr>
        <p:blipFill>
          <a:blip xmlns:r="http://schemas.openxmlformats.org/officeDocument/2006/relationships" xmlns:a="http://schemas.openxmlformats.org/drawingml/2006/main" r:embed="R4ff9f2831ce94b80"/>
          <a:stretch xmlns:a="http://schemas.openxmlformats.org/drawingml/2006/main"/>
        </p:blipFill>
        <p:spPr>
          <a:xfrm xmlns:a="http://schemas.openxmlformats.org/drawingml/2006/main">
            <a:off x="7464069" y="1695450"/>
            <a:ext cx="1340562" cy="3448050"/>
          </a:xfrm>
          <a:prstGeom xmlns:a="http://schemas.openxmlformats.org/drawingml/2006/main" prst="rect">
            <a:avLst/>
          </a:prstGeom>
        </p:spPr>
      </p:pic>
      <p:sp>
        <p:nvSpPr>
          <p:cNvPr id="6" name="">
            <a:extLst xmlns:a="http://schemas.openxmlformats.org/drawingml/2006/main">
              <a:ext uri="{FF2B5EF4-FFF2-40B4-BE49-F238E27FC236}">
                <a16:creationId xmlns:a16="http://schemas.microsoft.com/office/drawing/2014/main" id="{08B2773D-A1D2-457F-BE1C-03A100713DB0}"/>
              </a:ext>
            </a:extLst>
          </p:cNvPr>
          <p:cNvSpPr>
            <a:spLocks xmlns:a="http://schemas.openxmlformats.org/drawingml/2006/main" noGrp="1"/>
          </p:cNvSpPr>
          <p:nvPr/>
        </p:nvSpPr>
        <p:spPr>
          <a:xfrm xmlns:a="http://schemas.openxmlformats.org/drawingml/2006/main">
            <a:off x="9277350" y="1600200"/>
            <a:ext cx="1790700" cy="3638550"/>
          </a:xfrm>
          <a:prstGeom xmlns:a="http://schemas.openxmlformats.org/drawingml/2006/main" prst="roundRect">
            <a:avLst>
              <a:gd name="adj" fmla="val 3191"/>
            </a:avLst>
          </a:prstGeom>
          <a:solidFill xmlns:a="http://schemas.openxmlformats.org/drawingml/2006/main">
            <a:srgbClr val="FFFFFF"/>
          </a:solidFill>
          <a:ln xmlns:a="http://schemas.openxmlformats.org/drawingml/2006/main" w="19050">
            <a:solidFill>
              <a:srgbClr val="1B2B45"/>
            </a:solidFill>
            <a:prstDash val="solid"/>
          </a:ln>
        </p:spPr>
      </p:sp>
      <p:pic>
        <p:nvPicPr>
          <p:cNvPr id="17" name=""/>
          <p:cNvPicPr>
            <a:picLocks xmlns:a="http://schemas.openxmlformats.org/drawingml/2006/main" noChangeAspect="1"/>
          </p:cNvPicPr>
          <p:nvPr/>
        </p:nvPicPr>
        <p:blipFill>
          <a:blip xmlns:r="http://schemas.openxmlformats.org/officeDocument/2006/relationships" xmlns:a="http://schemas.openxmlformats.org/drawingml/2006/main" r:embed="R37de78254adf41aa"/>
          <a:stretch xmlns:a="http://schemas.openxmlformats.org/drawingml/2006/main"/>
        </p:blipFill>
        <p:spPr>
          <a:xfrm xmlns:a="http://schemas.openxmlformats.org/drawingml/2006/main">
            <a:off x="9377281" y="1695450"/>
            <a:ext cx="1590839" cy="3448050"/>
          </a:xfrm>
          <a:prstGeom xmlns:a="http://schemas.openxmlformats.org/drawingml/2006/main" prst="rect">
            <a:avLst/>
          </a:prstGeom>
        </p:spPr>
      </p:pic>
      <p:sp>
        <p:nvSpPr>
          <p:cNvPr id="8" name="">
            <a:extLst xmlns:a="http://schemas.openxmlformats.org/drawingml/2006/main">
              <a:ext uri="{FF2B5EF4-FFF2-40B4-BE49-F238E27FC236}">
                <a16:creationId xmlns:a16="http://schemas.microsoft.com/office/drawing/2014/main" id="{0EC600F4-F006-46E4-8356-AAB6C13B3982}"/>
              </a:ext>
            </a:extLst>
          </p:cNvPr>
          <p:cNvSpPr>
            <a:spLocks xmlns:a="http://schemas.openxmlformats.org/drawingml/2006/main" noGrp="1"/>
          </p:cNvSpPr>
          <p:nvPr/>
        </p:nvSpPr>
        <p:spPr>
          <a:xfrm xmlns:a="http://schemas.openxmlformats.org/drawingml/2006/main">
            <a:off x="7239000" y="5391150"/>
            <a:ext cx="38290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88235"/>
          </a:bodyPr>
          <a:lstStyle xmlns:a="http://schemas.openxmlformats.org/drawingml/2006/main"/>
          <a:p xmlns:a="http://schemas.openxmlformats.org/drawingml/2006/main">
            <a:pPr algn="ctr">
              <a:defRPr sz="1275" b="0" i="0">
                <a:solidFill>
                  <a:srgbClr val="687489"/>
                </a:solidFill>
                <a:latin typeface="Calibri"/>
                <a:ea typeface="Calibri"/>
                <a:cs typeface="Calibri"/>
              </a:defRPr>
            </a:pPr>
            <a:r>
              <a:rPr sz="1275" b="0" i="0">
                <a:solidFill>
                  <a:srgbClr val="687489"/>
                </a:solidFill>
                <a:latin typeface="Calibri"/>
                <a:ea typeface="Calibri"/>
                <a:cs typeface="Calibri"/>
              </a:rPr>
              <a:t>Live app and full-size screenshots are included in the evidence ZIP.</a:t>
            </a:r>
          </a:p>
        </p:txBody>
      </p:sp>
      <p:sp>
        <p:nvSpPr>
          <p:cNvPr id="9" name="">
            <a:extLst xmlns:a="http://schemas.openxmlformats.org/drawingml/2006/main">
              <a:ext uri="{FF2B5EF4-FFF2-40B4-BE49-F238E27FC236}">
                <a16:creationId xmlns:a16="http://schemas.microsoft.com/office/drawing/2014/main" id="{6E51D3C5-C250-4D5E-A614-3AD617451216}"/>
              </a:ext>
            </a:extLst>
          </p:cNvPr>
          <p:cNvSpPr>
            <a:spLocks xmlns:a="http://schemas.openxmlformats.org/drawingml/2006/main" noGrp="1"/>
          </p:cNvSpPr>
          <p:nvPr/>
        </p:nvSpPr>
        <p:spPr>
          <a:xfrm xmlns:a="http://schemas.openxmlformats.org/drawingml/2006/main">
            <a:off x="514350" y="6515100"/>
            <a:ext cx="2857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l">
              <a:defRPr sz="750" b="0" i="0">
                <a:solidFill>
                  <a:srgbClr val="687489"/>
                </a:solidFill>
                <a:latin typeface="Calibri"/>
                <a:ea typeface="Calibri"/>
                <a:cs typeface="Calibri"/>
              </a:defRPr>
            </a:pPr>
            <a:r>
              <a:rPr sz="750" b="0" i="0">
                <a:solidFill>
                  <a:srgbClr val="687489"/>
                </a:solidFill>
                <a:latin typeface="Calibri"/>
                <a:ea typeface="Calibri"/>
                <a:cs typeface="Calibri"/>
              </a:rPr>
              <a:t>Find My Ride · Appendix</a:t>
            </a:r>
          </a:p>
        </p:txBody>
      </p:sp>
      <p:sp>
        <p:nvSpPr>
          <p:cNvPr id="10" name="">
            <a:extLst xmlns:a="http://schemas.openxmlformats.org/drawingml/2006/main">
              <a:ext uri="{FF2B5EF4-FFF2-40B4-BE49-F238E27FC236}">
                <a16:creationId xmlns:a16="http://schemas.microsoft.com/office/drawing/2014/main" id="{A5026159-2A38-4C83-A4A7-7EBECA87C500}"/>
              </a:ext>
            </a:extLst>
          </p:cNvPr>
          <p:cNvSpPr>
            <a:spLocks xmlns:a="http://schemas.openxmlformats.org/drawingml/2006/main" noGrp="1"/>
          </p:cNvSpPr>
          <p:nvPr/>
        </p:nvSpPr>
        <p:spPr>
          <a:xfrm xmlns:a="http://schemas.openxmlformats.org/drawingml/2006/main">
            <a:off x="11372850" y="6515100"/>
            <a:ext cx="3048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r">
              <a:defRPr sz="750" b="0" i="0">
                <a:solidFill>
                  <a:srgbClr val="687489"/>
                </a:solidFill>
                <a:latin typeface="Calibri"/>
                <a:ea typeface="Calibri"/>
                <a:cs typeface="Calibri"/>
              </a:defRPr>
            </a:pPr>
            <a:r>
              <a:rPr sz="750" b="0" i="0">
                <a:solidFill>
                  <a:srgbClr val="687489"/>
                </a:solidFill>
                <a:latin typeface="Calibri"/>
                <a:ea typeface="Calibri"/>
                <a:cs typeface="Calibri"/>
              </a:rPr>
              <a:t>12</a:t>
            </a:r>
          </a:p>
        </p:txBody>
      </p:sp>
    </p:spTree>
    <p:extLst>
      <p:ext uri="{BB962C8B-B14F-4D97-AF65-F5344CB8AC3E}">
        <p14:creationId xmlns:p14="http://schemas.microsoft.com/office/powerpoint/2010/main" val="1652061045"/>
      </p:ext>
    </p:extLst>
  </p:cSld>
</p:sld>
</file>

<file path=ppt/slides/slide13.xml><?xml version="1.0" encoding="utf-8"?>
<p:sld xmlns:p="http://schemas.openxmlformats.org/presentationml/2006/main">
  <p:cSld>
    <p:bg>
      <p:bgPr>
        <a:solidFill xmlns:a="http://schemas.openxmlformats.org/drawingml/2006/main">
          <a:srgbClr val="F3F5F8"/>
        </a:solidFill>
      </p:bgPr>
    </p:bg>
    <p:spTree>
      <p:nvGrpSpPr>
        <p:cNvPr id="1" name=""/>
        <p:cNvGrpSpPr/>
        <p:nvPr/>
      </p:nvGrpSpPr>
      <p:grpSpPr>
        <a:xfrm xmlns:a="http://schemas.openxmlformats.org/drawingml/2006/main"/>
      </p:grpSpPr>
      <p:sp>
        <p:nvSpPr>
          <p:cNvPr id="35" name="">
            <a:extLst xmlns:a="http://schemas.openxmlformats.org/drawingml/2006/main">
              <a:ext uri="{FF2B5EF4-FFF2-40B4-BE49-F238E27FC236}">
                <a16:creationId xmlns:a16="http://schemas.microsoft.com/office/drawing/2014/main" id="{AC0C715A-C1DA-4EF4-A269-3981FA94E1F0}"/>
              </a:ext>
            </a:extLst>
          </p:cNvPr>
          <p:cNvSpPr>
            <a:spLocks xmlns:a="http://schemas.openxmlformats.org/drawingml/2006/main" noGrp="1"/>
          </p:cNvSpPr>
          <p:nvPr/>
        </p:nvSpPr>
        <p:spPr>
          <a:xfrm xmlns:a="http://schemas.openxmlformats.org/drawingml/2006/main">
            <a:off x="514350" y="247650"/>
            <a:ext cx="11144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l">
              <a:defRPr sz="975" b="1" i="0">
                <a:solidFill>
                  <a:srgbClr val="F47A22"/>
                </a:solidFill>
                <a:latin typeface="Calibri"/>
                <a:ea typeface="Calibri"/>
                <a:cs typeface="Calibri"/>
              </a:defRPr>
            </a:pPr>
            <a:r>
              <a:rPr sz="975" b="1" i="0">
                <a:solidFill>
                  <a:srgbClr val="F47A22"/>
                </a:solidFill>
                <a:latin typeface="Calibri"/>
                <a:ea typeface="Calibri"/>
                <a:cs typeface="Calibri"/>
              </a:rPr>
              <a:t>APPENDIX · TOP 10 INSIGHTS</a:t>
            </a:r>
          </a:p>
        </p:txBody>
      </p:sp>
      <p:sp>
        <p:nvSpPr>
          <p:cNvPr id="2" name="">
            <a:extLst xmlns:a="http://schemas.openxmlformats.org/drawingml/2006/main">
              <a:ext uri="{FF2B5EF4-FFF2-40B4-BE49-F238E27FC236}">
                <a16:creationId xmlns:a16="http://schemas.microsoft.com/office/drawing/2014/main" id="{DA724A76-FCB2-4D22-ACA7-FF55FAA10BF9}"/>
              </a:ext>
            </a:extLst>
          </p:cNvPr>
          <p:cNvSpPr>
            <a:spLocks xmlns:a="http://schemas.openxmlformats.org/drawingml/2006/main" noGrp="1"/>
          </p:cNvSpPr>
          <p:nvPr/>
        </p:nvSpPr>
        <p:spPr>
          <a:xfrm xmlns:a="http://schemas.openxmlformats.org/drawingml/2006/main">
            <a:off x="514350" y="571500"/>
            <a:ext cx="1114425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97778"/>
          </a:bodyPr>
          <a:lstStyle xmlns:a="http://schemas.openxmlformats.org/drawingml/2006/main"/>
          <a:p xmlns:a="http://schemas.openxmlformats.org/drawingml/2006/main">
            <a:pPr algn="l">
              <a:defRPr sz="2550" b="1" i="0">
                <a:solidFill>
                  <a:srgbClr val="1B2B45"/>
                </a:solidFill>
                <a:latin typeface="Calibri"/>
                <a:ea typeface="Calibri"/>
                <a:cs typeface="Calibri"/>
              </a:defRPr>
            </a:pPr>
            <a:r>
              <a:rPr sz="2550" b="1" i="0">
                <a:solidFill>
                  <a:srgbClr val="1B2B45"/>
                </a:solidFill>
                <a:latin typeface="Calibri"/>
                <a:ea typeface="Calibri"/>
                <a:cs typeface="Calibri"/>
              </a:rPr>
              <a:t>Insights 1–5: prevalence, recurrence, location, arrived state, and recovery</a:t>
            </a:r>
          </a:p>
        </p:txBody>
      </p:sp>
      <p:sp>
        <p:nvSpPr>
          <p:cNvPr id="3" name="">
            <a:extLst xmlns:a="http://schemas.openxmlformats.org/drawingml/2006/main">
              <a:ext uri="{FF2B5EF4-FFF2-40B4-BE49-F238E27FC236}">
                <a16:creationId xmlns:a16="http://schemas.microsoft.com/office/drawing/2014/main" id="{29563EC0-0897-4E5B-A1BC-C3406FF100C9}"/>
              </a:ext>
            </a:extLst>
          </p:cNvPr>
          <p:cNvSpPr>
            <a:spLocks xmlns:a="http://schemas.openxmlformats.org/drawingml/2006/main" noGrp="1"/>
          </p:cNvSpPr>
          <p:nvPr/>
        </p:nvSpPr>
        <p:spPr>
          <a:xfrm xmlns:a="http://schemas.openxmlformats.org/drawingml/2006/main">
            <a:off x="514350" y="1619250"/>
            <a:ext cx="10439400" cy="723900"/>
          </a:xfrm>
          <a:prstGeom xmlns:a="http://schemas.openxmlformats.org/drawingml/2006/main" prst="roundRect">
            <a:avLst>
              <a:gd name="adj" fmla="val 5263"/>
            </a:avLst>
          </a:prstGeom>
          <a:solidFill xmlns:a="http://schemas.openxmlformats.org/drawingml/2006/main">
            <a:srgbClr val="FFFFFF"/>
          </a:solidFill>
          <a:ln xmlns:a="http://schemas.openxmlformats.org/drawingml/2006/main" w="9525">
            <a:solidFill>
              <a:srgbClr val="E8ECF1"/>
            </a:solidFill>
            <a:prstDash val="solid"/>
          </a:ln>
        </p:spPr>
      </p:sp>
      <p:sp>
        <p:nvSpPr>
          <p:cNvPr id="4" name="">
            <a:extLst xmlns:a="http://schemas.openxmlformats.org/drawingml/2006/main">
              <a:ext uri="{FF2B5EF4-FFF2-40B4-BE49-F238E27FC236}">
                <a16:creationId xmlns:a16="http://schemas.microsoft.com/office/drawing/2014/main" id="{C534327C-DBF3-48C2-AB27-744396BE20B1}"/>
              </a:ext>
            </a:extLst>
          </p:cNvPr>
          <p:cNvSpPr>
            <a:spLocks xmlns:a="http://schemas.openxmlformats.org/drawingml/2006/main" noGrp="1"/>
          </p:cNvSpPr>
          <p:nvPr/>
        </p:nvSpPr>
        <p:spPr>
          <a:xfrm xmlns:a="http://schemas.openxmlformats.org/drawingml/2006/main">
            <a:off x="647700" y="1743075"/>
            <a:ext cx="4000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ctr">
            <a:normAutofit fontScale="100000"/>
          </a:bodyPr>
          <a:lstStyle xmlns:a="http://schemas.openxmlformats.org/drawingml/2006/main"/>
          <a:p xmlns:a="http://schemas.openxmlformats.org/drawingml/2006/main">
            <a:pPr algn="ctr">
              <a:defRPr sz="1950" b="1" i="0">
                <a:solidFill>
                  <a:srgbClr val="F47A22"/>
                </a:solidFill>
                <a:latin typeface="Calibri"/>
                <a:ea typeface="Calibri"/>
                <a:cs typeface="Calibri"/>
              </a:defRPr>
            </a:pPr>
            <a:r>
              <a:rPr sz="1950" b="1" i="0">
                <a:solidFill>
                  <a:srgbClr val="F47A22"/>
                </a:solidFill>
                <a:latin typeface="Calibri"/>
                <a:ea typeface="Calibri"/>
                <a:cs typeface="Calibri"/>
              </a:rPr>
              <a:t>1</a:t>
            </a:r>
          </a:p>
        </p:txBody>
      </p:sp>
      <p:sp>
        <p:nvSpPr>
          <p:cNvPr id="5" name="">
            <a:extLst xmlns:a="http://schemas.openxmlformats.org/drawingml/2006/main">
              <a:ext uri="{FF2B5EF4-FFF2-40B4-BE49-F238E27FC236}">
                <a16:creationId xmlns:a16="http://schemas.microsoft.com/office/drawing/2014/main" id="{17608274-6D2E-4BC6-8B14-89D2AE0E8B60}"/>
              </a:ext>
            </a:extLst>
          </p:cNvPr>
          <p:cNvSpPr>
            <a:spLocks xmlns:a="http://schemas.openxmlformats.org/drawingml/2006/main" noGrp="1"/>
          </p:cNvSpPr>
          <p:nvPr/>
        </p:nvSpPr>
        <p:spPr>
          <a:xfrm xmlns:a="http://schemas.openxmlformats.org/drawingml/2006/main">
            <a:off x="1200150" y="1714500"/>
            <a:ext cx="5238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83333"/>
          </a:bodyPr>
          <a:lstStyle xmlns:a="http://schemas.openxmlformats.org/drawingml/2006/main"/>
          <a:p xmlns:a="http://schemas.openxmlformats.org/drawingml/2006/main">
            <a:pPr algn="l">
              <a:defRPr sz="1500" b="1" i="0">
                <a:solidFill>
                  <a:srgbClr val="1B2B45"/>
                </a:solidFill>
                <a:latin typeface="Calibri"/>
                <a:ea typeface="Calibri"/>
                <a:cs typeface="Calibri"/>
              </a:defRPr>
            </a:pPr>
            <a:r>
              <a:rPr sz="1500" b="1" i="0">
                <a:solidFill>
                  <a:srgbClr val="1B2B45"/>
                </a:solidFill>
                <a:latin typeface="Calibri"/>
                <a:ea typeface="Calibri"/>
                <a:cs typeface="Calibri"/>
              </a:rPr>
              <a:t>Difficulty is meaningful, not universal</a:t>
            </a:r>
          </a:p>
        </p:txBody>
      </p:sp>
      <p:sp>
        <p:nvSpPr>
          <p:cNvPr id="6" name="">
            <a:extLst xmlns:a="http://schemas.openxmlformats.org/drawingml/2006/main">
              <a:ext uri="{FF2B5EF4-FFF2-40B4-BE49-F238E27FC236}">
                <a16:creationId xmlns:a16="http://schemas.microsoft.com/office/drawing/2014/main" id="{DCA6B9F2-5332-4283-BBCD-C38D294CE387}"/>
              </a:ext>
            </a:extLst>
          </p:cNvPr>
          <p:cNvSpPr>
            <a:spLocks xmlns:a="http://schemas.openxmlformats.org/drawingml/2006/main" noGrp="1"/>
          </p:cNvSpPr>
          <p:nvPr/>
        </p:nvSpPr>
        <p:spPr>
          <a:xfrm xmlns:a="http://schemas.openxmlformats.org/drawingml/2006/main">
            <a:off x="1200150" y="2000250"/>
            <a:ext cx="6858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83333"/>
          </a:bodyPr>
          <a:lstStyle xmlns:a="http://schemas.openxmlformats.org/drawingml/2006/main"/>
          <a:p xmlns:a="http://schemas.openxmlformats.org/drawingml/2006/main">
            <a:pPr algn="l">
              <a:defRPr sz="1200" b="0" i="0">
                <a:solidFill>
                  <a:srgbClr val="687489"/>
                </a:solidFill>
                <a:latin typeface="Calibri"/>
                <a:ea typeface="Calibri"/>
                <a:cs typeface="Calibri"/>
              </a:defRPr>
            </a:pPr>
            <a:r>
              <a:rPr sz="1200" b="0" i="0">
                <a:solidFill>
                  <a:srgbClr val="687489"/>
                </a:solidFill>
                <a:latin typeface="Calibri"/>
                <a:ea typeface="Calibri"/>
                <a:cs typeface="Calibri"/>
              </a:rPr>
              <a:t>24/51 recent users; 34/62 reported no issue</a:t>
            </a:r>
          </a:p>
        </p:txBody>
      </p:sp>
      <p:sp>
        <p:nvSpPr>
          <p:cNvPr id="7" name="">
            <a:extLst xmlns:a="http://schemas.openxmlformats.org/drawingml/2006/main">
              <a:ext uri="{FF2B5EF4-FFF2-40B4-BE49-F238E27FC236}">
                <a16:creationId xmlns:a16="http://schemas.microsoft.com/office/drawing/2014/main" id="{24F607DF-CE5A-4C05-9BBE-BEC532506C20}"/>
              </a:ext>
            </a:extLst>
          </p:cNvPr>
          <p:cNvSpPr>
            <a:spLocks xmlns:a="http://schemas.openxmlformats.org/drawingml/2006/main" noGrp="1"/>
          </p:cNvSpPr>
          <p:nvPr/>
        </p:nvSpPr>
        <p:spPr>
          <a:xfrm xmlns:a="http://schemas.openxmlformats.org/drawingml/2006/main">
            <a:off x="9220200" y="1809750"/>
            <a:ext cx="1428750" cy="323850"/>
          </a:xfrm>
          <a:prstGeom xmlns:a="http://schemas.openxmlformats.org/drawingml/2006/main" prst="roundRect">
            <a:avLst>
              <a:gd name="adj" fmla="val 47059"/>
            </a:avLst>
          </a:prstGeom>
          <a:solidFill xmlns:a="http://schemas.openxmlformats.org/drawingml/2006/main">
            <a:srgbClr val="E2F4F6"/>
          </a:solidFill>
          <a:ln xmlns:a="http://schemas.openxmlformats.org/drawingml/2006/main" w="0">
            <a:noFill/>
            <a:prstDash val="solid"/>
          </a:ln>
        </p:spPr>
      </p:sp>
      <p:sp>
        <p:nvSpPr>
          <p:cNvPr id="8" name="">
            <a:extLst xmlns:a="http://schemas.openxmlformats.org/drawingml/2006/main">
              <a:ext uri="{FF2B5EF4-FFF2-40B4-BE49-F238E27FC236}">
                <a16:creationId xmlns:a16="http://schemas.microsoft.com/office/drawing/2014/main" id="{01720D20-DD77-4636-84D7-77CB87405203}"/>
              </a:ext>
            </a:extLst>
          </p:cNvPr>
          <p:cNvSpPr>
            <a:spLocks xmlns:a="http://schemas.openxmlformats.org/drawingml/2006/main" noGrp="1"/>
          </p:cNvSpPr>
          <p:nvPr/>
        </p:nvSpPr>
        <p:spPr>
          <a:xfrm xmlns:a="http://schemas.openxmlformats.org/drawingml/2006/main">
            <a:off x="9315450" y="1847850"/>
            <a:ext cx="1238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88889"/>
          </a:bodyPr>
          <a:lstStyle xmlns:a="http://schemas.openxmlformats.org/drawingml/2006/main"/>
          <a:p xmlns:a="http://schemas.openxmlformats.org/drawingml/2006/main">
            <a:pPr algn="ctr">
              <a:defRPr sz="1125" b="1" i="0">
                <a:solidFill>
                  <a:srgbClr val="1B2B45"/>
                </a:solidFill>
                <a:latin typeface="Calibri"/>
                <a:ea typeface="Calibri"/>
                <a:cs typeface="Calibri"/>
              </a:defRPr>
            </a:pPr>
            <a:r>
              <a:rPr sz="1125" b="1" i="0">
                <a:solidFill>
                  <a:srgbClr val="1B2B45"/>
                </a:solidFill>
                <a:latin typeface="Calibri"/>
                <a:ea typeface="Calibri"/>
                <a:cs typeface="Calibri"/>
              </a:rPr>
              <a:t>Strong</a:t>
            </a:r>
          </a:p>
        </p:txBody>
      </p:sp>
      <p:sp>
        <p:nvSpPr>
          <p:cNvPr id="9" name="">
            <a:extLst xmlns:a="http://schemas.openxmlformats.org/drawingml/2006/main">
              <a:ext uri="{FF2B5EF4-FFF2-40B4-BE49-F238E27FC236}">
                <a16:creationId xmlns:a16="http://schemas.microsoft.com/office/drawing/2014/main" id="{646CBBB1-4895-4CCD-AFF2-509DDE3375B1}"/>
              </a:ext>
            </a:extLst>
          </p:cNvPr>
          <p:cNvSpPr>
            <a:spLocks xmlns:a="http://schemas.openxmlformats.org/drawingml/2006/main" noGrp="1"/>
          </p:cNvSpPr>
          <p:nvPr/>
        </p:nvSpPr>
        <p:spPr>
          <a:xfrm xmlns:a="http://schemas.openxmlformats.org/drawingml/2006/main">
            <a:off x="514350" y="2486025"/>
            <a:ext cx="10439400" cy="723900"/>
          </a:xfrm>
          <a:prstGeom xmlns:a="http://schemas.openxmlformats.org/drawingml/2006/main" prst="roundRect">
            <a:avLst>
              <a:gd name="adj" fmla="val 5263"/>
            </a:avLst>
          </a:prstGeom>
          <a:solidFill xmlns:a="http://schemas.openxmlformats.org/drawingml/2006/main">
            <a:srgbClr val="FFFFFF"/>
          </a:solidFill>
          <a:ln xmlns:a="http://schemas.openxmlformats.org/drawingml/2006/main" w="9525">
            <a:solidFill>
              <a:srgbClr val="E8ECF1"/>
            </a:solidFill>
            <a:prstDash val="solid"/>
          </a:ln>
        </p:spPr>
      </p:sp>
      <p:sp>
        <p:nvSpPr>
          <p:cNvPr id="10" name="">
            <a:extLst xmlns:a="http://schemas.openxmlformats.org/drawingml/2006/main">
              <a:ext uri="{FF2B5EF4-FFF2-40B4-BE49-F238E27FC236}">
                <a16:creationId xmlns:a16="http://schemas.microsoft.com/office/drawing/2014/main" id="{487A993D-A98E-415D-BA1F-F8A761A03F49}"/>
              </a:ext>
            </a:extLst>
          </p:cNvPr>
          <p:cNvSpPr>
            <a:spLocks xmlns:a="http://schemas.openxmlformats.org/drawingml/2006/main" noGrp="1"/>
          </p:cNvSpPr>
          <p:nvPr/>
        </p:nvSpPr>
        <p:spPr>
          <a:xfrm xmlns:a="http://schemas.openxmlformats.org/drawingml/2006/main">
            <a:off x="647700" y="2609850"/>
            <a:ext cx="4000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ctr">
            <a:normAutofit fontScale="100000"/>
          </a:bodyPr>
          <a:lstStyle xmlns:a="http://schemas.openxmlformats.org/drawingml/2006/main"/>
          <a:p xmlns:a="http://schemas.openxmlformats.org/drawingml/2006/main">
            <a:pPr algn="ctr">
              <a:defRPr sz="1950" b="1" i="0">
                <a:solidFill>
                  <a:srgbClr val="F47A22"/>
                </a:solidFill>
                <a:latin typeface="Calibri"/>
                <a:ea typeface="Calibri"/>
                <a:cs typeface="Calibri"/>
              </a:defRPr>
            </a:pPr>
            <a:r>
              <a:rPr sz="1950" b="1" i="0">
                <a:solidFill>
                  <a:srgbClr val="F47A22"/>
                </a:solidFill>
                <a:latin typeface="Calibri"/>
                <a:ea typeface="Calibri"/>
                <a:cs typeface="Calibri"/>
              </a:rPr>
              <a:t>2</a:t>
            </a:r>
          </a:p>
        </p:txBody>
      </p:sp>
      <p:sp>
        <p:nvSpPr>
          <p:cNvPr id="11" name="">
            <a:extLst xmlns:a="http://schemas.openxmlformats.org/drawingml/2006/main">
              <a:ext uri="{FF2B5EF4-FFF2-40B4-BE49-F238E27FC236}">
                <a16:creationId xmlns:a16="http://schemas.microsoft.com/office/drawing/2014/main" id="{2766A23E-FCB8-48B2-875C-0BC5FF04251F}"/>
              </a:ext>
            </a:extLst>
          </p:cNvPr>
          <p:cNvSpPr>
            <a:spLocks xmlns:a="http://schemas.openxmlformats.org/drawingml/2006/main" noGrp="1"/>
          </p:cNvSpPr>
          <p:nvPr/>
        </p:nvSpPr>
        <p:spPr>
          <a:xfrm xmlns:a="http://schemas.openxmlformats.org/drawingml/2006/main">
            <a:off x="1200150" y="2581275"/>
            <a:ext cx="5238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83333"/>
          </a:bodyPr>
          <a:lstStyle xmlns:a="http://schemas.openxmlformats.org/drawingml/2006/main"/>
          <a:p xmlns:a="http://schemas.openxmlformats.org/drawingml/2006/main">
            <a:pPr algn="l">
              <a:defRPr sz="1500" b="1" i="0">
                <a:solidFill>
                  <a:srgbClr val="1B2B45"/>
                </a:solidFill>
                <a:latin typeface="Calibri"/>
                <a:ea typeface="Calibri"/>
                <a:cs typeface="Calibri"/>
              </a:defRPr>
            </a:pPr>
            <a:r>
              <a:rPr sz="1500" b="1" i="0">
                <a:solidFill>
                  <a:srgbClr val="1B2B45"/>
                </a:solidFill>
                <a:latin typeface="Calibri"/>
                <a:ea typeface="Calibri"/>
                <a:cs typeface="Calibri"/>
              </a:rPr>
              <a:t>For affected respondents, the issue often recurs</a:t>
            </a:r>
          </a:p>
        </p:txBody>
      </p:sp>
      <p:sp>
        <p:nvSpPr>
          <p:cNvPr id="12" name="">
            <a:extLst xmlns:a="http://schemas.openxmlformats.org/drawingml/2006/main">
              <a:ext uri="{FF2B5EF4-FFF2-40B4-BE49-F238E27FC236}">
                <a16:creationId xmlns:a16="http://schemas.microsoft.com/office/drawing/2014/main" id="{FB932440-F43D-4991-89CF-D4FE9F8F6B59}"/>
              </a:ext>
            </a:extLst>
          </p:cNvPr>
          <p:cNvSpPr>
            <a:spLocks xmlns:a="http://schemas.openxmlformats.org/drawingml/2006/main" noGrp="1"/>
          </p:cNvSpPr>
          <p:nvPr/>
        </p:nvSpPr>
        <p:spPr>
          <a:xfrm xmlns:a="http://schemas.openxmlformats.org/drawingml/2006/main">
            <a:off x="1200150" y="2867025"/>
            <a:ext cx="6858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83333"/>
          </a:bodyPr>
          <a:lstStyle xmlns:a="http://schemas.openxmlformats.org/drawingml/2006/main"/>
          <a:p xmlns:a="http://schemas.openxmlformats.org/drawingml/2006/main">
            <a:pPr algn="l">
              <a:defRPr sz="1200" b="0" i="0">
                <a:solidFill>
                  <a:srgbClr val="687489"/>
                </a:solidFill>
                <a:latin typeface="Calibri"/>
                <a:ea typeface="Calibri"/>
                <a:cs typeface="Calibri"/>
              </a:defRPr>
            </a:pPr>
            <a:r>
              <a:rPr sz="1200" b="0" i="0">
                <a:solidFill>
                  <a:srgbClr val="687489"/>
                </a:solidFill>
                <a:latin typeface="Calibri"/>
                <a:ea typeface="Calibri"/>
                <a:cs typeface="Calibri"/>
              </a:rPr>
              <a:t>23/28 said it happened before — not necessarily same venue</a:t>
            </a:r>
          </a:p>
        </p:txBody>
      </p:sp>
      <p:sp>
        <p:nvSpPr>
          <p:cNvPr id="13" name="">
            <a:extLst xmlns:a="http://schemas.openxmlformats.org/drawingml/2006/main">
              <a:ext uri="{FF2B5EF4-FFF2-40B4-BE49-F238E27FC236}">
                <a16:creationId xmlns:a16="http://schemas.microsoft.com/office/drawing/2014/main" id="{DA6B4490-9716-4397-B3C9-D89E0F9ED7D0}"/>
              </a:ext>
            </a:extLst>
          </p:cNvPr>
          <p:cNvSpPr>
            <a:spLocks xmlns:a="http://schemas.openxmlformats.org/drawingml/2006/main" noGrp="1"/>
          </p:cNvSpPr>
          <p:nvPr/>
        </p:nvSpPr>
        <p:spPr>
          <a:xfrm xmlns:a="http://schemas.openxmlformats.org/drawingml/2006/main">
            <a:off x="9220200" y="2676525"/>
            <a:ext cx="1428750" cy="323850"/>
          </a:xfrm>
          <a:prstGeom xmlns:a="http://schemas.openxmlformats.org/drawingml/2006/main" prst="roundRect">
            <a:avLst>
              <a:gd name="adj" fmla="val 47059"/>
            </a:avLst>
          </a:prstGeom>
          <a:solidFill xmlns:a="http://schemas.openxmlformats.org/drawingml/2006/main">
            <a:srgbClr val="E2F4F6"/>
          </a:solidFill>
          <a:ln xmlns:a="http://schemas.openxmlformats.org/drawingml/2006/main" w="0">
            <a:noFill/>
            <a:prstDash val="solid"/>
          </a:ln>
        </p:spPr>
      </p:sp>
      <p:sp>
        <p:nvSpPr>
          <p:cNvPr id="14" name="">
            <a:extLst xmlns:a="http://schemas.openxmlformats.org/drawingml/2006/main">
              <a:ext uri="{FF2B5EF4-FFF2-40B4-BE49-F238E27FC236}">
                <a16:creationId xmlns:a16="http://schemas.microsoft.com/office/drawing/2014/main" id="{635139E2-A5C3-4803-A365-FAD91884F70D}"/>
              </a:ext>
            </a:extLst>
          </p:cNvPr>
          <p:cNvSpPr>
            <a:spLocks xmlns:a="http://schemas.openxmlformats.org/drawingml/2006/main" noGrp="1"/>
          </p:cNvSpPr>
          <p:nvPr/>
        </p:nvSpPr>
        <p:spPr>
          <a:xfrm xmlns:a="http://schemas.openxmlformats.org/drawingml/2006/main">
            <a:off x="9315450" y="2714625"/>
            <a:ext cx="1238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88889"/>
          </a:bodyPr>
          <a:lstStyle xmlns:a="http://schemas.openxmlformats.org/drawingml/2006/main"/>
          <a:p xmlns:a="http://schemas.openxmlformats.org/drawingml/2006/main">
            <a:pPr algn="ctr">
              <a:defRPr sz="1125" b="1" i="0">
                <a:solidFill>
                  <a:srgbClr val="1B2B45"/>
                </a:solidFill>
                <a:latin typeface="Calibri"/>
                <a:ea typeface="Calibri"/>
                <a:cs typeface="Calibri"/>
              </a:defRPr>
            </a:pPr>
            <a:r>
              <a:rPr sz="1125" b="1" i="0">
                <a:solidFill>
                  <a:srgbClr val="1B2B45"/>
                </a:solidFill>
                <a:latin typeface="Calibri"/>
                <a:ea typeface="Calibri"/>
                <a:cs typeface="Calibri"/>
              </a:rPr>
              <a:t>Strong</a:t>
            </a:r>
          </a:p>
        </p:txBody>
      </p:sp>
      <p:sp>
        <p:nvSpPr>
          <p:cNvPr id="15" name="">
            <a:extLst xmlns:a="http://schemas.openxmlformats.org/drawingml/2006/main">
              <a:ext uri="{FF2B5EF4-FFF2-40B4-BE49-F238E27FC236}">
                <a16:creationId xmlns:a16="http://schemas.microsoft.com/office/drawing/2014/main" id="{32A5348E-F58D-442B-ABC3-CBD7FBCCC323}"/>
              </a:ext>
            </a:extLst>
          </p:cNvPr>
          <p:cNvSpPr>
            <a:spLocks xmlns:a="http://schemas.openxmlformats.org/drawingml/2006/main" noGrp="1"/>
          </p:cNvSpPr>
          <p:nvPr/>
        </p:nvSpPr>
        <p:spPr>
          <a:xfrm xmlns:a="http://schemas.openxmlformats.org/drawingml/2006/main">
            <a:off x="514350" y="3352800"/>
            <a:ext cx="10439400" cy="723900"/>
          </a:xfrm>
          <a:prstGeom xmlns:a="http://schemas.openxmlformats.org/drawingml/2006/main" prst="roundRect">
            <a:avLst>
              <a:gd name="adj" fmla="val 5263"/>
            </a:avLst>
          </a:prstGeom>
          <a:solidFill xmlns:a="http://schemas.openxmlformats.org/drawingml/2006/main">
            <a:srgbClr val="FFFFFF"/>
          </a:solidFill>
          <a:ln xmlns:a="http://schemas.openxmlformats.org/drawingml/2006/main" w="9525">
            <a:solidFill>
              <a:srgbClr val="E8ECF1"/>
            </a:solidFill>
            <a:prstDash val="solid"/>
          </a:ln>
        </p:spPr>
      </p:sp>
      <p:sp>
        <p:nvSpPr>
          <p:cNvPr id="16" name="">
            <a:extLst xmlns:a="http://schemas.openxmlformats.org/drawingml/2006/main">
              <a:ext uri="{FF2B5EF4-FFF2-40B4-BE49-F238E27FC236}">
                <a16:creationId xmlns:a16="http://schemas.microsoft.com/office/drawing/2014/main" id="{EB170421-CE02-4F15-B6E2-FDC134984750}"/>
              </a:ext>
            </a:extLst>
          </p:cNvPr>
          <p:cNvSpPr>
            <a:spLocks xmlns:a="http://schemas.openxmlformats.org/drawingml/2006/main" noGrp="1"/>
          </p:cNvSpPr>
          <p:nvPr/>
        </p:nvSpPr>
        <p:spPr>
          <a:xfrm xmlns:a="http://schemas.openxmlformats.org/drawingml/2006/main">
            <a:off x="647700" y="3476625"/>
            <a:ext cx="4000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ctr">
            <a:normAutofit fontScale="100000"/>
          </a:bodyPr>
          <a:lstStyle xmlns:a="http://schemas.openxmlformats.org/drawingml/2006/main"/>
          <a:p xmlns:a="http://schemas.openxmlformats.org/drawingml/2006/main">
            <a:pPr algn="ctr">
              <a:defRPr sz="1950" b="1" i="0">
                <a:solidFill>
                  <a:srgbClr val="F47A22"/>
                </a:solidFill>
                <a:latin typeface="Calibri"/>
                <a:ea typeface="Calibri"/>
                <a:cs typeface="Calibri"/>
              </a:defRPr>
            </a:pPr>
            <a:r>
              <a:rPr sz="1950" b="1" i="0">
                <a:solidFill>
                  <a:srgbClr val="F47A22"/>
                </a:solidFill>
                <a:latin typeface="Calibri"/>
                <a:ea typeface="Calibri"/>
                <a:cs typeface="Calibri"/>
              </a:rPr>
              <a:t>3</a:t>
            </a:r>
          </a:p>
        </p:txBody>
      </p:sp>
      <p:sp>
        <p:nvSpPr>
          <p:cNvPr id="17" name="">
            <a:extLst xmlns:a="http://schemas.openxmlformats.org/drawingml/2006/main">
              <a:ext uri="{FF2B5EF4-FFF2-40B4-BE49-F238E27FC236}">
                <a16:creationId xmlns:a16="http://schemas.microsoft.com/office/drawing/2014/main" id="{97278BB8-F11F-4FA0-8460-4310217CA432}"/>
              </a:ext>
            </a:extLst>
          </p:cNvPr>
          <p:cNvSpPr>
            <a:spLocks xmlns:a="http://schemas.openxmlformats.org/drawingml/2006/main" noGrp="1"/>
          </p:cNvSpPr>
          <p:nvPr/>
        </p:nvSpPr>
        <p:spPr>
          <a:xfrm xmlns:a="http://schemas.openxmlformats.org/drawingml/2006/main">
            <a:off x="1200150" y="3448050"/>
            <a:ext cx="5238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83333"/>
          </a:bodyPr>
          <a:lstStyle xmlns:a="http://schemas.openxmlformats.org/drawingml/2006/main"/>
          <a:p xmlns:a="http://schemas.openxmlformats.org/drawingml/2006/main">
            <a:pPr algn="l">
              <a:defRPr sz="1500" b="1" i="0">
                <a:solidFill>
                  <a:srgbClr val="1B2B45"/>
                </a:solidFill>
                <a:latin typeface="Calibri"/>
                <a:ea typeface="Calibri"/>
                <a:cs typeface="Calibri"/>
              </a:defRPr>
            </a:pPr>
            <a:r>
              <a:rPr sz="1500" b="1" i="0">
                <a:solidFill>
                  <a:srgbClr val="1B2B45"/>
                </a:solidFill>
                <a:latin typeface="Calibri"/>
                <a:ea typeface="Calibri"/>
                <a:cs typeface="Calibri"/>
              </a:rPr>
              <a:t>Complex environments concentrate coordination failures</a:t>
            </a:r>
          </a:p>
        </p:txBody>
      </p:sp>
      <p:sp>
        <p:nvSpPr>
          <p:cNvPr id="18" name="">
            <a:extLst xmlns:a="http://schemas.openxmlformats.org/drawingml/2006/main">
              <a:ext uri="{FF2B5EF4-FFF2-40B4-BE49-F238E27FC236}">
                <a16:creationId xmlns:a16="http://schemas.microsoft.com/office/drawing/2014/main" id="{C70BE81D-91EF-4DD6-A6D3-1696B76D7DD0}"/>
              </a:ext>
            </a:extLst>
          </p:cNvPr>
          <p:cNvSpPr>
            <a:spLocks xmlns:a="http://schemas.openxmlformats.org/drawingml/2006/main" noGrp="1"/>
          </p:cNvSpPr>
          <p:nvPr/>
        </p:nvSpPr>
        <p:spPr>
          <a:xfrm xmlns:a="http://schemas.openxmlformats.org/drawingml/2006/main">
            <a:off x="1200150" y="3733800"/>
            <a:ext cx="6858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83333"/>
          </a:bodyPr>
          <a:lstStyle xmlns:a="http://schemas.openxmlformats.org/drawingml/2006/main"/>
          <a:p xmlns:a="http://schemas.openxmlformats.org/drawingml/2006/main">
            <a:pPr algn="l">
              <a:defRPr sz="1200" b="0" i="0">
                <a:solidFill>
                  <a:srgbClr val="687489"/>
                </a:solidFill>
                <a:latin typeface="Calibri"/>
                <a:ea typeface="Calibri"/>
                <a:cs typeface="Calibri"/>
              </a:defRPr>
            </a:pPr>
            <a:r>
              <a:rPr sz="1200" b="0" i="0">
                <a:solidFill>
                  <a:srgbClr val="687489"/>
                </a:solidFill>
                <a:latin typeface="Calibri"/>
                <a:ea typeface="Calibri"/>
                <a:cs typeface="Calibri"/>
              </a:rPr>
              <a:t>Airport 10; residential 7; mall 6; office 6</a:t>
            </a:r>
          </a:p>
        </p:txBody>
      </p:sp>
      <p:sp>
        <p:nvSpPr>
          <p:cNvPr id="19" name="">
            <a:extLst xmlns:a="http://schemas.openxmlformats.org/drawingml/2006/main">
              <a:ext uri="{FF2B5EF4-FFF2-40B4-BE49-F238E27FC236}">
                <a16:creationId xmlns:a16="http://schemas.microsoft.com/office/drawing/2014/main" id="{D8389A37-C109-4A18-9A26-A4DD6679B16F}"/>
              </a:ext>
            </a:extLst>
          </p:cNvPr>
          <p:cNvSpPr>
            <a:spLocks xmlns:a="http://schemas.openxmlformats.org/drawingml/2006/main" noGrp="1"/>
          </p:cNvSpPr>
          <p:nvPr/>
        </p:nvSpPr>
        <p:spPr>
          <a:xfrm xmlns:a="http://schemas.openxmlformats.org/drawingml/2006/main">
            <a:off x="9220200" y="3543300"/>
            <a:ext cx="1428750" cy="323850"/>
          </a:xfrm>
          <a:prstGeom xmlns:a="http://schemas.openxmlformats.org/drawingml/2006/main" prst="roundRect">
            <a:avLst>
              <a:gd name="adj" fmla="val 47059"/>
            </a:avLst>
          </a:prstGeom>
          <a:solidFill xmlns:a="http://schemas.openxmlformats.org/drawingml/2006/main">
            <a:srgbClr val="E2F4F6"/>
          </a:solidFill>
          <a:ln xmlns:a="http://schemas.openxmlformats.org/drawingml/2006/main" w="0">
            <a:noFill/>
            <a:prstDash val="solid"/>
          </a:ln>
        </p:spPr>
      </p:sp>
      <p:sp>
        <p:nvSpPr>
          <p:cNvPr id="20" name="">
            <a:extLst xmlns:a="http://schemas.openxmlformats.org/drawingml/2006/main">
              <a:ext uri="{FF2B5EF4-FFF2-40B4-BE49-F238E27FC236}">
                <a16:creationId xmlns:a16="http://schemas.microsoft.com/office/drawing/2014/main" id="{1FA63ABC-A2BC-4937-9CE9-4F437A99D36D}"/>
              </a:ext>
            </a:extLst>
          </p:cNvPr>
          <p:cNvSpPr>
            <a:spLocks xmlns:a="http://schemas.openxmlformats.org/drawingml/2006/main" noGrp="1"/>
          </p:cNvSpPr>
          <p:nvPr/>
        </p:nvSpPr>
        <p:spPr>
          <a:xfrm xmlns:a="http://schemas.openxmlformats.org/drawingml/2006/main">
            <a:off x="9315450" y="3581400"/>
            <a:ext cx="1238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88889"/>
          </a:bodyPr>
          <a:lstStyle xmlns:a="http://schemas.openxmlformats.org/drawingml/2006/main"/>
          <a:p xmlns:a="http://schemas.openxmlformats.org/drawingml/2006/main">
            <a:pPr algn="ctr">
              <a:defRPr sz="1125" b="1" i="0">
                <a:solidFill>
                  <a:srgbClr val="1B2B45"/>
                </a:solidFill>
                <a:latin typeface="Calibri"/>
                <a:ea typeface="Calibri"/>
                <a:cs typeface="Calibri"/>
              </a:defRPr>
            </a:pPr>
            <a:r>
              <a:rPr sz="1125" b="1" i="0">
                <a:solidFill>
                  <a:srgbClr val="1B2B45"/>
                </a:solidFill>
                <a:latin typeface="Calibri"/>
                <a:ea typeface="Calibri"/>
                <a:cs typeface="Calibri"/>
              </a:rPr>
              <a:t>Strong</a:t>
            </a:r>
          </a:p>
        </p:txBody>
      </p:sp>
      <p:sp>
        <p:nvSpPr>
          <p:cNvPr id="21" name="">
            <a:extLst xmlns:a="http://schemas.openxmlformats.org/drawingml/2006/main">
              <a:ext uri="{FF2B5EF4-FFF2-40B4-BE49-F238E27FC236}">
                <a16:creationId xmlns:a16="http://schemas.microsoft.com/office/drawing/2014/main" id="{C87D212C-A3F5-4C5F-855D-1F91682C0070}"/>
              </a:ext>
            </a:extLst>
          </p:cNvPr>
          <p:cNvSpPr>
            <a:spLocks xmlns:a="http://schemas.openxmlformats.org/drawingml/2006/main" noGrp="1"/>
          </p:cNvSpPr>
          <p:nvPr/>
        </p:nvSpPr>
        <p:spPr>
          <a:xfrm xmlns:a="http://schemas.openxmlformats.org/drawingml/2006/main">
            <a:off x="514350" y="4219575"/>
            <a:ext cx="10439400" cy="723900"/>
          </a:xfrm>
          <a:prstGeom xmlns:a="http://schemas.openxmlformats.org/drawingml/2006/main" prst="roundRect">
            <a:avLst>
              <a:gd name="adj" fmla="val 5263"/>
            </a:avLst>
          </a:prstGeom>
          <a:solidFill xmlns:a="http://schemas.openxmlformats.org/drawingml/2006/main">
            <a:srgbClr val="FFFFFF"/>
          </a:solidFill>
          <a:ln xmlns:a="http://schemas.openxmlformats.org/drawingml/2006/main" w="9525">
            <a:solidFill>
              <a:srgbClr val="E8ECF1"/>
            </a:solidFill>
            <a:prstDash val="solid"/>
          </a:ln>
        </p:spPr>
      </p:sp>
      <p:sp>
        <p:nvSpPr>
          <p:cNvPr id="22" name="">
            <a:extLst xmlns:a="http://schemas.openxmlformats.org/drawingml/2006/main">
              <a:ext uri="{FF2B5EF4-FFF2-40B4-BE49-F238E27FC236}">
                <a16:creationId xmlns:a16="http://schemas.microsoft.com/office/drawing/2014/main" id="{B6B58893-45F4-48AD-909F-6ED298E43D21}"/>
              </a:ext>
            </a:extLst>
          </p:cNvPr>
          <p:cNvSpPr>
            <a:spLocks xmlns:a="http://schemas.openxmlformats.org/drawingml/2006/main" noGrp="1"/>
          </p:cNvSpPr>
          <p:nvPr/>
        </p:nvSpPr>
        <p:spPr>
          <a:xfrm xmlns:a="http://schemas.openxmlformats.org/drawingml/2006/main">
            <a:off x="647700" y="4343400"/>
            <a:ext cx="4000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ctr">
            <a:normAutofit fontScale="100000"/>
          </a:bodyPr>
          <a:lstStyle xmlns:a="http://schemas.openxmlformats.org/drawingml/2006/main"/>
          <a:p xmlns:a="http://schemas.openxmlformats.org/drawingml/2006/main">
            <a:pPr algn="ctr">
              <a:defRPr sz="1950" b="1" i="0">
                <a:solidFill>
                  <a:srgbClr val="F47A22"/>
                </a:solidFill>
                <a:latin typeface="Calibri"/>
                <a:ea typeface="Calibri"/>
                <a:cs typeface="Calibri"/>
              </a:defRPr>
            </a:pPr>
            <a:r>
              <a:rPr sz="1950" b="1" i="0">
                <a:solidFill>
                  <a:srgbClr val="F47A22"/>
                </a:solidFill>
                <a:latin typeface="Calibri"/>
                <a:ea typeface="Calibri"/>
                <a:cs typeface="Calibri"/>
              </a:rPr>
              <a:t>4</a:t>
            </a:r>
          </a:p>
        </p:txBody>
      </p:sp>
      <p:sp>
        <p:nvSpPr>
          <p:cNvPr id="23" name="">
            <a:extLst xmlns:a="http://schemas.openxmlformats.org/drawingml/2006/main">
              <a:ext uri="{FF2B5EF4-FFF2-40B4-BE49-F238E27FC236}">
                <a16:creationId xmlns:a16="http://schemas.microsoft.com/office/drawing/2014/main" id="{EA57E75A-A351-4C31-A67F-8F273A34C089}"/>
              </a:ext>
            </a:extLst>
          </p:cNvPr>
          <p:cNvSpPr>
            <a:spLocks xmlns:a="http://schemas.openxmlformats.org/drawingml/2006/main" noGrp="1"/>
          </p:cNvSpPr>
          <p:nvPr/>
        </p:nvSpPr>
        <p:spPr>
          <a:xfrm xmlns:a="http://schemas.openxmlformats.org/drawingml/2006/main">
            <a:off x="1200150" y="4314825"/>
            <a:ext cx="5238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83333"/>
          </a:bodyPr>
          <a:lstStyle xmlns:a="http://schemas.openxmlformats.org/drawingml/2006/main"/>
          <a:p xmlns:a="http://schemas.openxmlformats.org/drawingml/2006/main">
            <a:pPr algn="l">
              <a:defRPr sz="1500" b="1" i="0">
                <a:solidFill>
                  <a:srgbClr val="1B2B45"/>
                </a:solidFill>
                <a:latin typeface="Calibri"/>
                <a:ea typeface="Calibri"/>
                <a:cs typeface="Calibri"/>
              </a:defRPr>
            </a:pPr>
            <a:r>
              <a:rPr sz="1500" b="1" i="0">
                <a:solidFill>
                  <a:srgbClr val="1B2B45"/>
                </a:solidFill>
                <a:latin typeface="Calibri"/>
                <a:ea typeface="Calibri"/>
                <a:cs typeface="Calibri"/>
              </a:rPr>
              <a:t>Arrived does not mean the rider and driver can meet</a:t>
            </a:r>
          </a:p>
        </p:txBody>
      </p:sp>
      <p:sp>
        <p:nvSpPr>
          <p:cNvPr id="24" name="">
            <a:extLst xmlns:a="http://schemas.openxmlformats.org/drawingml/2006/main">
              <a:ext uri="{FF2B5EF4-FFF2-40B4-BE49-F238E27FC236}">
                <a16:creationId xmlns:a16="http://schemas.microsoft.com/office/drawing/2014/main" id="{DB974EB9-1FCC-4F81-B2F5-6656C77E888C}"/>
              </a:ext>
            </a:extLst>
          </p:cNvPr>
          <p:cNvSpPr>
            <a:spLocks xmlns:a="http://schemas.openxmlformats.org/drawingml/2006/main" noGrp="1"/>
          </p:cNvSpPr>
          <p:nvPr/>
        </p:nvSpPr>
        <p:spPr>
          <a:xfrm xmlns:a="http://schemas.openxmlformats.org/drawingml/2006/main">
            <a:off x="1200150" y="4600575"/>
            <a:ext cx="6858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83333"/>
          </a:bodyPr>
          <a:lstStyle xmlns:a="http://schemas.openxmlformats.org/drawingml/2006/main"/>
          <a:p xmlns:a="http://schemas.openxmlformats.org/drawingml/2006/main">
            <a:pPr algn="l">
              <a:defRPr sz="1200" b="0" i="0">
                <a:solidFill>
                  <a:srgbClr val="687489"/>
                </a:solidFill>
                <a:latin typeface="Calibri"/>
                <a:ea typeface="Calibri"/>
                <a:cs typeface="Calibri"/>
              </a:defRPr>
            </a:pPr>
            <a:r>
              <a:rPr sz="1200" b="0" i="0">
                <a:solidFill>
                  <a:srgbClr val="687489"/>
                </a:solidFill>
                <a:latin typeface="Calibri"/>
                <a:ea typeface="Calibri"/>
                <a:cs typeface="Calibri"/>
              </a:rPr>
              <a:t>Wrong pin, similar gates, cross-road case</a:t>
            </a:r>
          </a:p>
        </p:txBody>
      </p:sp>
      <p:sp>
        <p:nvSpPr>
          <p:cNvPr id="25" name="">
            <a:extLst xmlns:a="http://schemas.openxmlformats.org/drawingml/2006/main">
              <a:ext uri="{FF2B5EF4-FFF2-40B4-BE49-F238E27FC236}">
                <a16:creationId xmlns:a16="http://schemas.microsoft.com/office/drawing/2014/main" id="{604FC424-F242-483A-93AF-5E0139F5D886}"/>
              </a:ext>
            </a:extLst>
          </p:cNvPr>
          <p:cNvSpPr>
            <a:spLocks xmlns:a="http://schemas.openxmlformats.org/drawingml/2006/main" noGrp="1"/>
          </p:cNvSpPr>
          <p:nvPr/>
        </p:nvSpPr>
        <p:spPr>
          <a:xfrm xmlns:a="http://schemas.openxmlformats.org/drawingml/2006/main">
            <a:off x="9220200" y="4410075"/>
            <a:ext cx="1428750" cy="323850"/>
          </a:xfrm>
          <a:prstGeom xmlns:a="http://schemas.openxmlformats.org/drawingml/2006/main" prst="roundRect">
            <a:avLst>
              <a:gd name="adj" fmla="val 47059"/>
            </a:avLst>
          </a:prstGeom>
          <a:solidFill xmlns:a="http://schemas.openxmlformats.org/drawingml/2006/main">
            <a:srgbClr val="FBE7D8"/>
          </a:solidFill>
          <a:ln xmlns:a="http://schemas.openxmlformats.org/drawingml/2006/main" w="0">
            <a:noFill/>
            <a:prstDash val="solid"/>
          </a:ln>
        </p:spPr>
      </p:sp>
      <p:sp>
        <p:nvSpPr>
          <p:cNvPr id="26" name="">
            <a:extLst xmlns:a="http://schemas.openxmlformats.org/drawingml/2006/main">
              <a:ext uri="{FF2B5EF4-FFF2-40B4-BE49-F238E27FC236}">
                <a16:creationId xmlns:a16="http://schemas.microsoft.com/office/drawing/2014/main" id="{0BD5C450-3E72-412D-98EB-57E789BD45E8}"/>
              </a:ext>
            </a:extLst>
          </p:cNvPr>
          <p:cNvSpPr>
            <a:spLocks xmlns:a="http://schemas.openxmlformats.org/drawingml/2006/main" noGrp="1"/>
          </p:cNvSpPr>
          <p:nvPr/>
        </p:nvSpPr>
        <p:spPr>
          <a:xfrm xmlns:a="http://schemas.openxmlformats.org/drawingml/2006/main">
            <a:off x="9315450" y="4448175"/>
            <a:ext cx="1238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88889"/>
          </a:bodyPr>
          <a:lstStyle xmlns:a="http://schemas.openxmlformats.org/drawingml/2006/main"/>
          <a:p xmlns:a="http://schemas.openxmlformats.org/drawingml/2006/main">
            <a:pPr algn="ctr">
              <a:defRPr sz="1125" b="1" i="0">
                <a:solidFill>
                  <a:srgbClr val="1B2B45"/>
                </a:solidFill>
                <a:latin typeface="Calibri"/>
                <a:ea typeface="Calibri"/>
                <a:cs typeface="Calibri"/>
              </a:defRPr>
            </a:pPr>
            <a:r>
              <a:rPr sz="1125" b="1" i="0">
                <a:solidFill>
                  <a:srgbClr val="1B2B45"/>
                </a:solidFill>
                <a:latin typeface="Calibri"/>
                <a:ea typeface="Calibri"/>
                <a:cs typeface="Calibri"/>
              </a:rPr>
              <a:t>Moderate</a:t>
            </a:r>
          </a:p>
        </p:txBody>
      </p:sp>
      <p:sp>
        <p:nvSpPr>
          <p:cNvPr id="27" name="">
            <a:extLst xmlns:a="http://schemas.openxmlformats.org/drawingml/2006/main">
              <a:ext uri="{FF2B5EF4-FFF2-40B4-BE49-F238E27FC236}">
                <a16:creationId xmlns:a16="http://schemas.microsoft.com/office/drawing/2014/main" id="{ED82E053-1E38-43A1-902E-C6904AF6A6C7}"/>
              </a:ext>
            </a:extLst>
          </p:cNvPr>
          <p:cNvSpPr>
            <a:spLocks xmlns:a="http://schemas.openxmlformats.org/drawingml/2006/main" noGrp="1"/>
          </p:cNvSpPr>
          <p:nvPr/>
        </p:nvSpPr>
        <p:spPr>
          <a:xfrm xmlns:a="http://schemas.openxmlformats.org/drawingml/2006/main">
            <a:off x="514350" y="5086350"/>
            <a:ext cx="10439400" cy="723900"/>
          </a:xfrm>
          <a:prstGeom xmlns:a="http://schemas.openxmlformats.org/drawingml/2006/main" prst="roundRect">
            <a:avLst>
              <a:gd name="adj" fmla="val 5263"/>
            </a:avLst>
          </a:prstGeom>
          <a:solidFill xmlns:a="http://schemas.openxmlformats.org/drawingml/2006/main">
            <a:srgbClr val="FFFFFF"/>
          </a:solidFill>
          <a:ln xmlns:a="http://schemas.openxmlformats.org/drawingml/2006/main" w="9525">
            <a:solidFill>
              <a:srgbClr val="E8ECF1"/>
            </a:solidFill>
            <a:prstDash val="solid"/>
          </a:ln>
        </p:spPr>
      </p:sp>
      <p:sp>
        <p:nvSpPr>
          <p:cNvPr id="28" name="">
            <a:extLst xmlns:a="http://schemas.openxmlformats.org/drawingml/2006/main">
              <a:ext uri="{FF2B5EF4-FFF2-40B4-BE49-F238E27FC236}">
                <a16:creationId xmlns:a16="http://schemas.microsoft.com/office/drawing/2014/main" id="{F1102B70-B7FB-4A2E-871D-283DA62C2E8C}"/>
              </a:ext>
            </a:extLst>
          </p:cNvPr>
          <p:cNvSpPr>
            <a:spLocks xmlns:a="http://schemas.openxmlformats.org/drawingml/2006/main" noGrp="1"/>
          </p:cNvSpPr>
          <p:nvPr/>
        </p:nvSpPr>
        <p:spPr>
          <a:xfrm xmlns:a="http://schemas.openxmlformats.org/drawingml/2006/main">
            <a:off x="647700" y="5210175"/>
            <a:ext cx="4000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ctr">
            <a:normAutofit fontScale="100000"/>
          </a:bodyPr>
          <a:lstStyle xmlns:a="http://schemas.openxmlformats.org/drawingml/2006/main"/>
          <a:p xmlns:a="http://schemas.openxmlformats.org/drawingml/2006/main">
            <a:pPr algn="ctr">
              <a:defRPr sz="1950" b="1" i="0">
                <a:solidFill>
                  <a:srgbClr val="F47A22"/>
                </a:solidFill>
                <a:latin typeface="Calibri"/>
                <a:ea typeface="Calibri"/>
                <a:cs typeface="Calibri"/>
              </a:defRPr>
            </a:pPr>
            <a:r>
              <a:rPr sz="1950" b="1" i="0">
                <a:solidFill>
                  <a:srgbClr val="F47A22"/>
                </a:solidFill>
                <a:latin typeface="Calibri"/>
                <a:ea typeface="Calibri"/>
                <a:cs typeface="Calibri"/>
              </a:rPr>
              <a:t>5</a:t>
            </a:r>
          </a:p>
        </p:txBody>
      </p:sp>
      <p:sp>
        <p:nvSpPr>
          <p:cNvPr id="29" name="">
            <a:extLst xmlns:a="http://schemas.openxmlformats.org/drawingml/2006/main">
              <a:ext uri="{FF2B5EF4-FFF2-40B4-BE49-F238E27FC236}">
                <a16:creationId xmlns:a16="http://schemas.microsoft.com/office/drawing/2014/main" id="{54A08348-0629-44CC-9097-EB24D84D107A}"/>
              </a:ext>
            </a:extLst>
          </p:cNvPr>
          <p:cNvSpPr>
            <a:spLocks xmlns:a="http://schemas.openxmlformats.org/drawingml/2006/main" noGrp="1"/>
          </p:cNvSpPr>
          <p:nvPr/>
        </p:nvSpPr>
        <p:spPr>
          <a:xfrm xmlns:a="http://schemas.openxmlformats.org/drawingml/2006/main">
            <a:off x="1200150" y="5181600"/>
            <a:ext cx="5238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83333"/>
          </a:bodyPr>
          <a:lstStyle xmlns:a="http://schemas.openxmlformats.org/drawingml/2006/main"/>
          <a:p xmlns:a="http://schemas.openxmlformats.org/drawingml/2006/main">
            <a:pPr algn="l">
              <a:defRPr sz="1500" b="1" i="0">
                <a:solidFill>
                  <a:srgbClr val="1B2B45"/>
                </a:solidFill>
                <a:latin typeface="Calibri"/>
                <a:ea typeface="Calibri"/>
                <a:cs typeface="Calibri"/>
              </a:defRPr>
            </a:pPr>
            <a:r>
              <a:rPr sz="1500" b="1" i="0">
                <a:solidFill>
                  <a:srgbClr val="1B2B45"/>
                </a:solidFill>
                <a:latin typeface="Calibri"/>
                <a:ea typeface="Calibri"/>
                <a:cs typeface="Calibri"/>
              </a:rPr>
              <a:t>Calling and messaging are the main recovery layer</a:t>
            </a:r>
          </a:p>
        </p:txBody>
      </p:sp>
      <p:sp>
        <p:nvSpPr>
          <p:cNvPr id="30" name="">
            <a:extLst xmlns:a="http://schemas.openxmlformats.org/drawingml/2006/main">
              <a:ext uri="{FF2B5EF4-FFF2-40B4-BE49-F238E27FC236}">
                <a16:creationId xmlns:a16="http://schemas.microsoft.com/office/drawing/2014/main" id="{5793D95C-3317-4380-A30B-CADA410E6AC1}"/>
              </a:ext>
            </a:extLst>
          </p:cNvPr>
          <p:cNvSpPr>
            <a:spLocks xmlns:a="http://schemas.openxmlformats.org/drawingml/2006/main" noGrp="1"/>
          </p:cNvSpPr>
          <p:nvPr/>
        </p:nvSpPr>
        <p:spPr>
          <a:xfrm xmlns:a="http://schemas.openxmlformats.org/drawingml/2006/main">
            <a:off x="1200150" y="5467350"/>
            <a:ext cx="6858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83333"/>
          </a:bodyPr>
          <a:lstStyle xmlns:a="http://schemas.openxmlformats.org/drawingml/2006/main"/>
          <a:p xmlns:a="http://schemas.openxmlformats.org/drawingml/2006/main">
            <a:pPr algn="l">
              <a:defRPr sz="1200" b="0" i="0">
                <a:solidFill>
                  <a:srgbClr val="687489"/>
                </a:solidFill>
                <a:latin typeface="Calibri"/>
                <a:ea typeface="Calibri"/>
                <a:cs typeface="Calibri"/>
              </a:defRPr>
            </a:pPr>
            <a:r>
              <a:rPr sz="1200" b="0" i="0">
                <a:solidFill>
                  <a:srgbClr val="687489"/>
                </a:solidFill>
                <a:latin typeface="Calibri"/>
                <a:ea typeface="Calibri"/>
                <a:cs typeface="Calibri"/>
              </a:rPr>
              <a:t>20/28 said calling or messaging helped</a:t>
            </a:r>
          </a:p>
        </p:txBody>
      </p:sp>
      <p:sp>
        <p:nvSpPr>
          <p:cNvPr id="31" name="">
            <a:extLst xmlns:a="http://schemas.openxmlformats.org/drawingml/2006/main">
              <a:ext uri="{FF2B5EF4-FFF2-40B4-BE49-F238E27FC236}">
                <a16:creationId xmlns:a16="http://schemas.microsoft.com/office/drawing/2014/main" id="{4CFD8D03-2305-4C65-934E-2694DF5CB46A}"/>
              </a:ext>
            </a:extLst>
          </p:cNvPr>
          <p:cNvSpPr>
            <a:spLocks xmlns:a="http://schemas.openxmlformats.org/drawingml/2006/main" noGrp="1"/>
          </p:cNvSpPr>
          <p:nvPr/>
        </p:nvSpPr>
        <p:spPr>
          <a:xfrm xmlns:a="http://schemas.openxmlformats.org/drawingml/2006/main">
            <a:off x="9220200" y="5276850"/>
            <a:ext cx="1428750" cy="323850"/>
          </a:xfrm>
          <a:prstGeom xmlns:a="http://schemas.openxmlformats.org/drawingml/2006/main" prst="roundRect">
            <a:avLst>
              <a:gd name="adj" fmla="val 47059"/>
            </a:avLst>
          </a:prstGeom>
          <a:solidFill xmlns:a="http://schemas.openxmlformats.org/drawingml/2006/main">
            <a:srgbClr val="E2F4F6"/>
          </a:solidFill>
          <a:ln xmlns:a="http://schemas.openxmlformats.org/drawingml/2006/main" w="0">
            <a:noFill/>
            <a:prstDash val="solid"/>
          </a:ln>
        </p:spPr>
      </p:sp>
      <p:sp>
        <p:nvSpPr>
          <p:cNvPr id="32" name="">
            <a:extLst xmlns:a="http://schemas.openxmlformats.org/drawingml/2006/main">
              <a:ext uri="{FF2B5EF4-FFF2-40B4-BE49-F238E27FC236}">
                <a16:creationId xmlns:a16="http://schemas.microsoft.com/office/drawing/2014/main" id="{33C9E3A5-8A90-4E2E-AD28-AC10095FBC84}"/>
              </a:ext>
            </a:extLst>
          </p:cNvPr>
          <p:cNvSpPr>
            <a:spLocks xmlns:a="http://schemas.openxmlformats.org/drawingml/2006/main" noGrp="1"/>
          </p:cNvSpPr>
          <p:nvPr/>
        </p:nvSpPr>
        <p:spPr>
          <a:xfrm xmlns:a="http://schemas.openxmlformats.org/drawingml/2006/main">
            <a:off x="9315450" y="5314950"/>
            <a:ext cx="1238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88889"/>
          </a:bodyPr>
          <a:lstStyle xmlns:a="http://schemas.openxmlformats.org/drawingml/2006/main"/>
          <a:p xmlns:a="http://schemas.openxmlformats.org/drawingml/2006/main">
            <a:pPr algn="ctr">
              <a:defRPr sz="1125" b="1" i="0">
                <a:solidFill>
                  <a:srgbClr val="1B2B45"/>
                </a:solidFill>
                <a:latin typeface="Calibri"/>
                <a:ea typeface="Calibri"/>
                <a:cs typeface="Calibri"/>
              </a:defRPr>
            </a:pPr>
            <a:r>
              <a:rPr sz="1125" b="1" i="0">
                <a:solidFill>
                  <a:srgbClr val="1B2B45"/>
                </a:solidFill>
                <a:latin typeface="Calibri"/>
                <a:ea typeface="Calibri"/>
                <a:cs typeface="Calibri"/>
              </a:rPr>
              <a:t>Strong</a:t>
            </a:r>
          </a:p>
        </p:txBody>
      </p:sp>
      <p:sp>
        <p:nvSpPr>
          <p:cNvPr id="33" name="">
            <a:extLst xmlns:a="http://schemas.openxmlformats.org/drawingml/2006/main">
              <a:ext uri="{FF2B5EF4-FFF2-40B4-BE49-F238E27FC236}">
                <a16:creationId xmlns:a16="http://schemas.microsoft.com/office/drawing/2014/main" id="{4DDEC553-F3D6-4F41-A770-F87C83207E5E}"/>
              </a:ext>
            </a:extLst>
          </p:cNvPr>
          <p:cNvSpPr>
            <a:spLocks xmlns:a="http://schemas.openxmlformats.org/drawingml/2006/main" noGrp="1"/>
          </p:cNvSpPr>
          <p:nvPr/>
        </p:nvSpPr>
        <p:spPr>
          <a:xfrm xmlns:a="http://schemas.openxmlformats.org/drawingml/2006/main">
            <a:off x="514350" y="6515100"/>
            <a:ext cx="2857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l">
              <a:defRPr sz="750" b="0" i="0">
                <a:solidFill>
                  <a:srgbClr val="687489"/>
                </a:solidFill>
                <a:latin typeface="Calibri"/>
                <a:ea typeface="Calibri"/>
                <a:cs typeface="Calibri"/>
              </a:defRPr>
            </a:pPr>
            <a:r>
              <a:rPr sz="750" b="0" i="0">
                <a:solidFill>
                  <a:srgbClr val="687489"/>
                </a:solidFill>
                <a:latin typeface="Calibri"/>
                <a:ea typeface="Calibri"/>
                <a:cs typeface="Calibri"/>
              </a:rPr>
              <a:t>Find My Ride · Appendix</a:t>
            </a:r>
          </a:p>
        </p:txBody>
      </p:sp>
      <p:sp>
        <p:nvSpPr>
          <p:cNvPr id="34" name="">
            <a:extLst xmlns:a="http://schemas.openxmlformats.org/drawingml/2006/main">
              <a:ext uri="{FF2B5EF4-FFF2-40B4-BE49-F238E27FC236}">
                <a16:creationId xmlns:a16="http://schemas.microsoft.com/office/drawing/2014/main" id="{0CD0E0BE-A68F-4C59-A86D-F97D0D5EC941}"/>
              </a:ext>
            </a:extLst>
          </p:cNvPr>
          <p:cNvSpPr>
            <a:spLocks xmlns:a="http://schemas.openxmlformats.org/drawingml/2006/main" noGrp="1"/>
          </p:cNvSpPr>
          <p:nvPr/>
        </p:nvSpPr>
        <p:spPr>
          <a:xfrm xmlns:a="http://schemas.openxmlformats.org/drawingml/2006/main">
            <a:off x="11372850" y="6515100"/>
            <a:ext cx="3048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r">
              <a:defRPr sz="750" b="0" i="0">
                <a:solidFill>
                  <a:srgbClr val="687489"/>
                </a:solidFill>
                <a:latin typeface="Calibri"/>
                <a:ea typeface="Calibri"/>
                <a:cs typeface="Calibri"/>
              </a:defRPr>
            </a:pPr>
            <a:r>
              <a:rPr sz="750" b="0" i="0">
                <a:solidFill>
                  <a:srgbClr val="687489"/>
                </a:solidFill>
                <a:latin typeface="Calibri"/>
                <a:ea typeface="Calibri"/>
                <a:cs typeface="Calibri"/>
              </a:rPr>
              <a:t>13</a:t>
            </a:r>
          </a:p>
        </p:txBody>
      </p:sp>
    </p:spTree>
    <p:extLst>
      <p:ext uri="{BB962C8B-B14F-4D97-AF65-F5344CB8AC3E}">
        <p14:creationId xmlns:p14="http://schemas.microsoft.com/office/powerpoint/2010/main" val="1406140482"/>
      </p:ext>
    </p:extLst>
  </p:cSld>
</p:sld>
</file>

<file path=ppt/slides/slide14.xml><?xml version="1.0" encoding="utf-8"?>
<p:sld xmlns:p="http://schemas.openxmlformats.org/presentationml/2006/main">
  <p:cSld>
    <p:bg>
      <p:bgPr>
        <a:solidFill xmlns:a="http://schemas.openxmlformats.org/drawingml/2006/main">
          <a:srgbClr val="F3F5F8"/>
        </a:solidFill>
      </p:bgPr>
    </p:bg>
    <p:spTree>
      <p:nvGrpSpPr>
        <p:cNvPr id="1" name=""/>
        <p:cNvGrpSpPr/>
        <p:nvPr/>
      </p:nvGrpSpPr>
      <p:grpSpPr>
        <a:xfrm xmlns:a="http://schemas.openxmlformats.org/drawingml/2006/main"/>
      </p:grpSpPr>
      <p:sp>
        <p:nvSpPr>
          <p:cNvPr id="35" name="">
            <a:extLst xmlns:a="http://schemas.openxmlformats.org/drawingml/2006/main">
              <a:ext uri="{FF2B5EF4-FFF2-40B4-BE49-F238E27FC236}">
                <a16:creationId xmlns:a16="http://schemas.microsoft.com/office/drawing/2014/main" id="{9F352AF6-B2EF-4151-AF8E-571988BEE01A}"/>
              </a:ext>
            </a:extLst>
          </p:cNvPr>
          <p:cNvSpPr>
            <a:spLocks xmlns:a="http://schemas.openxmlformats.org/drawingml/2006/main" noGrp="1"/>
          </p:cNvSpPr>
          <p:nvPr/>
        </p:nvSpPr>
        <p:spPr>
          <a:xfrm xmlns:a="http://schemas.openxmlformats.org/drawingml/2006/main">
            <a:off x="514350" y="247650"/>
            <a:ext cx="11144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l">
              <a:defRPr sz="975" b="1" i="0">
                <a:solidFill>
                  <a:srgbClr val="F47A22"/>
                </a:solidFill>
                <a:latin typeface="Calibri"/>
                <a:ea typeface="Calibri"/>
                <a:cs typeface="Calibri"/>
              </a:defRPr>
            </a:pPr>
            <a:r>
              <a:rPr sz="975" b="1" i="0">
                <a:solidFill>
                  <a:srgbClr val="F47A22"/>
                </a:solidFill>
                <a:latin typeface="Calibri"/>
                <a:ea typeface="Calibri"/>
                <a:cs typeface="Calibri"/>
              </a:rPr>
              <a:t>APPENDIX · TOP 10 INSIGHTS</a:t>
            </a:r>
          </a:p>
        </p:txBody>
      </p:sp>
      <p:sp>
        <p:nvSpPr>
          <p:cNvPr id="2" name="">
            <a:extLst xmlns:a="http://schemas.openxmlformats.org/drawingml/2006/main">
              <a:ext uri="{FF2B5EF4-FFF2-40B4-BE49-F238E27FC236}">
                <a16:creationId xmlns:a16="http://schemas.microsoft.com/office/drawing/2014/main" id="{954A2588-60D9-4A96-8EDD-E3E4A9D338CE}"/>
              </a:ext>
            </a:extLst>
          </p:cNvPr>
          <p:cNvSpPr>
            <a:spLocks xmlns:a="http://schemas.openxmlformats.org/drawingml/2006/main" noGrp="1"/>
          </p:cNvSpPr>
          <p:nvPr/>
        </p:nvSpPr>
        <p:spPr>
          <a:xfrm xmlns:a="http://schemas.openxmlformats.org/drawingml/2006/main">
            <a:off x="514350" y="571500"/>
            <a:ext cx="1114425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92140"/>
          </a:bodyPr>
          <a:lstStyle xmlns:a="http://schemas.openxmlformats.org/drawingml/2006/main"/>
          <a:p xmlns:a="http://schemas.openxmlformats.org/drawingml/2006/main">
            <a:pPr algn="l">
              <a:defRPr sz="2550" b="1" i="0">
                <a:solidFill>
                  <a:srgbClr val="1B2B45"/>
                </a:solidFill>
                <a:latin typeface="Calibri"/>
                <a:ea typeface="Calibri"/>
                <a:cs typeface="Calibri"/>
              </a:defRPr>
            </a:pPr>
            <a:r>
              <a:rPr sz="2550" b="1" i="0">
                <a:solidFill>
                  <a:srgbClr val="1B2B45"/>
                </a:solidFill>
                <a:latin typeface="Calibri"/>
                <a:ea typeface="Calibri"/>
                <a:cs typeface="Calibri"/>
              </a:rPr>
              <a:t>Insights 6–10: recovery burden, delay, cancellation, support, and identification</a:t>
            </a:r>
          </a:p>
        </p:txBody>
      </p:sp>
      <p:sp>
        <p:nvSpPr>
          <p:cNvPr id="3" name="">
            <a:extLst xmlns:a="http://schemas.openxmlformats.org/drawingml/2006/main">
              <a:ext uri="{FF2B5EF4-FFF2-40B4-BE49-F238E27FC236}">
                <a16:creationId xmlns:a16="http://schemas.microsoft.com/office/drawing/2014/main" id="{455045C9-42DB-4B43-8A90-53EE2DCA97C9}"/>
              </a:ext>
            </a:extLst>
          </p:cNvPr>
          <p:cNvSpPr>
            <a:spLocks xmlns:a="http://schemas.openxmlformats.org/drawingml/2006/main" noGrp="1"/>
          </p:cNvSpPr>
          <p:nvPr/>
        </p:nvSpPr>
        <p:spPr>
          <a:xfrm xmlns:a="http://schemas.openxmlformats.org/drawingml/2006/main">
            <a:off x="514350" y="1619250"/>
            <a:ext cx="10439400" cy="723900"/>
          </a:xfrm>
          <a:prstGeom xmlns:a="http://schemas.openxmlformats.org/drawingml/2006/main" prst="roundRect">
            <a:avLst>
              <a:gd name="adj" fmla="val 5263"/>
            </a:avLst>
          </a:prstGeom>
          <a:solidFill xmlns:a="http://schemas.openxmlformats.org/drawingml/2006/main">
            <a:srgbClr val="FFFFFF"/>
          </a:solidFill>
          <a:ln xmlns:a="http://schemas.openxmlformats.org/drawingml/2006/main" w="9525">
            <a:solidFill>
              <a:srgbClr val="E8ECF1"/>
            </a:solidFill>
            <a:prstDash val="solid"/>
          </a:ln>
        </p:spPr>
      </p:sp>
      <p:sp>
        <p:nvSpPr>
          <p:cNvPr id="4" name="">
            <a:extLst xmlns:a="http://schemas.openxmlformats.org/drawingml/2006/main">
              <a:ext uri="{FF2B5EF4-FFF2-40B4-BE49-F238E27FC236}">
                <a16:creationId xmlns:a16="http://schemas.microsoft.com/office/drawing/2014/main" id="{18343467-630D-43E8-9072-4AA428A57062}"/>
              </a:ext>
            </a:extLst>
          </p:cNvPr>
          <p:cNvSpPr>
            <a:spLocks xmlns:a="http://schemas.openxmlformats.org/drawingml/2006/main" noGrp="1"/>
          </p:cNvSpPr>
          <p:nvPr/>
        </p:nvSpPr>
        <p:spPr>
          <a:xfrm xmlns:a="http://schemas.openxmlformats.org/drawingml/2006/main">
            <a:off x="647700" y="1743075"/>
            <a:ext cx="4000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ctr">
            <a:normAutofit fontScale="100000"/>
          </a:bodyPr>
          <a:lstStyle xmlns:a="http://schemas.openxmlformats.org/drawingml/2006/main"/>
          <a:p xmlns:a="http://schemas.openxmlformats.org/drawingml/2006/main">
            <a:pPr algn="ctr">
              <a:defRPr sz="1950" b="1" i="0">
                <a:solidFill>
                  <a:srgbClr val="F47A22"/>
                </a:solidFill>
                <a:latin typeface="Calibri"/>
                <a:ea typeface="Calibri"/>
                <a:cs typeface="Calibri"/>
              </a:defRPr>
            </a:pPr>
            <a:r>
              <a:rPr sz="1950" b="1" i="0">
                <a:solidFill>
                  <a:srgbClr val="F47A22"/>
                </a:solidFill>
                <a:latin typeface="Calibri"/>
                <a:ea typeface="Calibri"/>
                <a:cs typeface="Calibri"/>
              </a:rPr>
              <a:t>6</a:t>
            </a:r>
          </a:p>
        </p:txBody>
      </p:sp>
      <p:sp>
        <p:nvSpPr>
          <p:cNvPr id="5" name="">
            <a:extLst xmlns:a="http://schemas.openxmlformats.org/drawingml/2006/main">
              <a:ext uri="{FF2B5EF4-FFF2-40B4-BE49-F238E27FC236}">
                <a16:creationId xmlns:a16="http://schemas.microsoft.com/office/drawing/2014/main" id="{1560CE39-73BF-4B3C-BF4A-2DCBD5C4DFDD}"/>
              </a:ext>
            </a:extLst>
          </p:cNvPr>
          <p:cNvSpPr>
            <a:spLocks xmlns:a="http://schemas.openxmlformats.org/drawingml/2006/main" noGrp="1"/>
          </p:cNvSpPr>
          <p:nvPr/>
        </p:nvSpPr>
        <p:spPr>
          <a:xfrm xmlns:a="http://schemas.openxmlformats.org/drawingml/2006/main">
            <a:off x="1200150" y="1714500"/>
            <a:ext cx="5238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83333"/>
          </a:bodyPr>
          <a:lstStyle xmlns:a="http://schemas.openxmlformats.org/drawingml/2006/main"/>
          <a:p xmlns:a="http://schemas.openxmlformats.org/drawingml/2006/main">
            <a:pPr algn="l">
              <a:defRPr sz="1500" b="1" i="0">
                <a:solidFill>
                  <a:srgbClr val="1B2B45"/>
                </a:solidFill>
                <a:latin typeface="Calibri"/>
                <a:ea typeface="Calibri"/>
                <a:cs typeface="Calibri"/>
              </a:defRPr>
            </a:pPr>
            <a:r>
              <a:rPr sz="1500" b="1" i="0">
                <a:solidFill>
                  <a:srgbClr val="1B2B45"/>
                </a:solidFill>
                <a:latin typeface="Calibri"/>
                <a:ea typeface="Calibri"/>
                <a:cs typeface="Calibri"/>
              </a:rPr>
              <a:t>The rider often absorbs the recovery effort</a:t>
            </a:r>
          </a:p>
        </p:txBody>
      </p:sp>
      <p:sp>
        <p:nvSpPr>
          <p:cNvPr id="6" name="">
            <a:extLst xmlns:a="http://schemas.openxmlformats.org/drawingml/2006/main">
              <a:ext uri="{FF2B5EF4-FFF2-40B4-BE49-F238E27FC236}">
                <a16:creationId xmlns:a16="http://schemas.microsoft.com/office/drawing/2014/main" id="{FDE25265-38DE-4C36-BC5D-BC24AA7EBA74}"/>
              </a:ext>
            </a:extLst>
          </p:cNvPr>
          <p:cNvSpPr>
            <a:spLocks xmlns:a="http://schemas.openxmlformats.org/drawingml/2006/main" noGrp="1"/>
          </p:cNvSpPr>
          <p:nvPr/>
        </p:nvSpPr>
        <p:spPr>
          <a:xfrm xmlns:a="http://schemas.openxmlformats.org/drawingml/2006/main">
            <a:off x="1200150" y="2000250"/>
            <a:ext cx="6858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83333"/>
          </a:bodyPr>
          <a:lstStyle xmlns:a="http://schemas.openxmlformats.org/drawingml/2006/main"/>
          <a:p xmlns:a="http://schemas.openxmlformats.org/drawingml/2006/main">
            <a:pPr algn="l">
              <a:defRPr sz="1200" b="0" i="0">
                <a:solidFill>
                  <a:srgbClr val="687489"/>
                </a:solidFill>
                <a:latin typeface="Calibri"/>
                <a:ea typeface="Calibri"/>
                <a:cs typeface="Calibri"/>
              </a:defRPr>
            </a:pPr>
            <a:r>
              <a:rPr sz="1200" b="0" i="0">
                <a:solidFill>
                  <a:srgbClr val="687489"/>
                </a:solidFill>
                <a:latin typeface="Calibri"/>
                <a:ea typeface="Calibri"/>
                <a:cs typeface="Calibri"/>
              </a:rPr>
              <a:t>Waited 9; moved 8; driver moved helped 3</a:t>
            </a:r>
          </a:p>
        </p:txBody>
      </p:sp>
      <p:sp>
        <p:nvSpPr>
          <p:cNvPr id="7" name="">
            <a:extLst xmlns:a="http://schemas.openxmlformats.org/drawingml/2006/main">
              <a:ext uri="{FF2B5EF4-FFF2-40B4-BE49-F238E27FC236}">
                <a16:creationId xmlns:a16="http://schemas.microsoft.com/office/drawing/2014/main" id="{2735C9A6-9BDC-4656-85AE-44A43976B862}"/>
              </a:ext>
            </a:extLst>
          </p:cNvPr>
          <p:cNvSpPr>
            <a:spLocks xmlns:a="http://schemas.openxmlformats.org/drawingml/2006/main" noGrp="1"/>
          </p:cNvSpPr>
          <p:nvPr/>
        </p:nvSpPr>
        <p:spPr>
          <a:xfrm xmlns:a="http://schemas.openxmlformats.org/drawingml/2006/main">
            <a:off x="9220200" y="1809750"/>
            <a:ext cx="1428750" cy="323850"/>
          </a:xfrm>
          <a:prstGeom xmlns:a="http://schemas.openxmlformats.org/drawingml/2006/main" prst="roundRect">
            <a:avLst>
              <a:gd name="adj" fmla="val 47059"/>
            </a:avLst>
          </a:prstGeom>
          <a:solidFill xmlns:a="http://schemas.openxmlformats.org/drawingml/2006/main">
            <a:srgbClr val="FBE7D8"/>
          </a:solidFill>
          <a:ln xmlns:a="http://schemas.openxmlformats.org/drawingml/2006/main" w="0">
            <a:noFill/>
            <a:prstDash val="solid"/>
          </a:ln>
        </p:spPr>
      </p:sp>
      <p:sp>
        <p:nvSpPr>
          <p:cNvPr id="8" name="">
            <a:extLst xmlns:a="http://schemas.openxmlformats.org/drawingml/2006/main">
              <a:ext uri="{FF2B5EF4-FFF2-40B4-BE49-F238E27FC236}">
                <a16:creationId xmlns:a16="http://schemas.microsoft.com/office/drawing/2014/main" id="{41469F1F-1678-4178-B894-7AA69AED9203}"/>
              </a:ext>
            </a:extLst>
          </p:cNvPr>
          <p:cNvSpPr>
            <a:spLocks xmlns:a="http://schemas.openxmlformats.org/drawingml/2006/main" noGrp="1"/>
          </p:cNvSpPr>
          <p:nvPr/>
        </p:nvSpPr>
        <p:spPr>
          <a:xfrm xmlns:a="http://schemas.openxmlformats.org/drawingml/2006/main">
            <a:off x="9315450" y="1847850"/>
            <a:ext cx="1238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88889"/>
          </a:bodyPr>
          <a:lstStyle xmlns:a="http://schemas.openxmlformats.org/drawingml/2006/main"/>
          <a:p xmlns:a="http://schemas.openxmlformats.org/drawingml/2006/main">
            <a:pPr algn="ctr">
              <a:defRPr sz="1125" b="1" i="0">
                <a:solidFill>
                  <a:srgbClr val="1B2B45"/>
                </a:solidFill>
                <a:latin typeface="Calibri"/>
                <a:ea typeface="Calibri"/>
                <a:cs typeface="Calibri"/>
              </a:defRPr>
            </a:pPr>
            <a:r>
              <a:rPr sz="1125" b="1" i="0">
                <a:solidFill>
                  <a:srgbClr val="1B2B45"/>
                </a:solidFill>
                <a:latin typeface="Calibri"/>
                <a:ea typeface="Calibri"/>
                <a:cs typeface="Calibri"/>
              </a:rPr>
              <a:t>Moderate</a:t>
            </a:r>
          </a:p>
        </p:txBody>
      </p:sp>
      <p:sp>
        <p:nvSpPr>
          <p:cNvPr id="9" name="">
            <a:extLst xmlns:a="http://schemas.openxmlformats.org/drawingml/2006/main">
              <a:ext uri="{FF2B5EF4-FFF2-40B4-BE49-F238E27FC236}">
                <a16:creationId xmlns:a16="http://schemas.microsoft.com/office/drawing/2014/main" id="{D2A4DF58-D72A-45CC-95AD-3DAFFA84D893}"/>
              </a:ext>
            </a:extLst>
          </p:cNvPr>
          <p:cNvSpPr>
            <a:spLocks xmlns:a="http://schemas.openxmlformats.org/drawingml/2006/main" noGrp="1"/>
          </p:cNvSpPr>
          <p:nvPr/>
        </p:nvSpPr>
        <p:spPr>
          <a:xfrm xmlns:a="http://schemas.openxmlformats.org/drawingml/2006/main">
            <a:off x="514350" y="2486025"/>
            <a:ext cx="10439400" cy="723900"/>
          </a:xfrm>
          <a:prstGeom xmlns:a="http://schemas.openxmlformats.org/drawingml/2006/main" prst="roundRect">
            <a:avLst>
              <a:gd name="adj" fmla="val 5263"/>
            </a:avLst>
          </a:prstGeom>
          <a:solidFill xmlns:a="http://schemas.openxmlformats.org/drawingml/2006/main">
            <a:srgbClr val="FFFFFF"/>
          </a:solidFill>
          <a:ln xmlns:a="http://schemas.openxmlformats.org/drawingml/2006/main" w="9525">
            <a:solidFill>
              <a:srgbClr val="E8ECF1"/>
            </a:solidFill>
            <a:prstDash val="solid"/>
          </a:ln>
        </p:spPr>
      </p:sp>
      <p:sp>
        <p:nvSpPr>
          <p:cNvPr id="10" name="">
            <a:extLst xmlns:a="http://schemas.openxmlformats.org/drawingml/2006/main">
              <a:ext uri="{FF2B5EF4-FFF2-40B4-BE49-F238E27FC236}">
                <a16:creationId xmlns:a16="http://schemas.microsoft.com/office/drawing/2014/main" id="{7CDF266B-9E8A-48C6-9716-95348F219B90}"/>
              </a:ext>
            </a:extLst>
          </p:cNvPr>
          <p:cNvSpPr>
            <a:spLocks xmlns:a="http://schemas.openxmlformats.org/drawingml/2006/main" noGrp="1"/>
          </p:cNvSpPr>
          <p:nvPr/>
        </p:nvSpPr>
        <p:spPr>
          <a:xfrm xmlns:a="http://schemas.openxmlformats.org/drawingml/2006/main">
            <a:off x="647700" y="2609850"/>
            <a:ext cx="4000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ctr">
            <a:normAutofit fontScale="100000"/>
          </a:bodyPr>
          <a:lstStyle xmlns:a="http://schemas.openxmlformats.org/drawingml/2006/main"/>
          <a:p xmlns:a="http://schemas.openxmlformats.org/drawingml/2006/main">
            <a:pPr algn="ctr">
              <a:defRPr sz="1950" b="1" i="0">
                <a:solidFill>
                  <a:srgbClr val="F47A22"/>
                </a:solidFill>
                <a:latin typeface="Calibri"/>
                <a:ea typeface="Calibri"/>
                <a:cs typeface="Calibri"/>
              </a:defRPr>
            </a:pPr>
            <a:r>
              <a:rPr sz="1950" b="1" i="0">
                <a:solidFill>
                  <a:srgbClr val="F47A22"/>
                </a:solidFill>
                <a:latin typeface="Calibri"/>
                <a:ea typeface="Calibri"/>
                <a:cs typeface="Calibri"/>
              </a:rPr>
              <a:t>7</a:t>
            </a:r>
          </a:p>
        </p:txBody>
      </p:sp>
      <p:sp>
        <p:nvSpPr>
          <p:cNvPr id="11" name="">
            <a:extLst xmlns:a="http://schemas.openxmlformats.org/drawingml/2006/main">
              <a:ext uri="{FF2B5EF4-FFF2-40B4-BE49-F238E27FC236}">
                <a16:creationId xmlns:a16="http://schemas.microsoft.com/office/drawing/2014/main" id="{7D955E87-0335-4736-BF6F-7A3CFD96C19A}"/>
              </a:ext>
            </a:extLst>
          </p:cNvPr>
          <p:cNvSpPr>
            <a:spLocks xmlns:a="http://schemas.openxmlformats.org/drawingml/2006/main" noGrp="1"/>
          </p:cNvSpPr>
          <p:nvPr/>
        </p:nvSpPr>
        <p:spPr>
          <a:xfrm xmlns:a="http://schemas.openxmlformats.org/drawingml/2006/main">
            <a:off x="1200150" y="2581275"/>
            <a:ext cx="5238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83333"/>
          </a:bodyPr>
          <a:lstStyle xmlns:a="http://schemas.openxmlformats.org/drawingml/2006/main"/>
          <a:p xmlns:a="http://schemas.openxmlformats.org/drawingml/2006/main">
            <a:pPr algn="l">
              <a:defRPr sz="1500" b="1" i="0">
                <a:solidFill>
                  <a:srgbClr val="1B2B45"/>
                </a:solidFill>
                <a:latin typeface="Calibri"/>
                <a:ea typeface="Calibri"/>
                <a:cs typeface="Calibri"/>
              </a:defRPr>
            </a:pPr>
            <a:r>
              <a:rPr sz="1500" b="1" i="0">
                <a:solidFill>
                  <a:srgbClr val="1B2B45"/>
                </a:solidFill>
                <a:latin typeface="Calibri"/>
                <a:ea typeface="Calibri"/>
                <a:cs typeface="Calibri"/>
              </a:rPr>
              <a:t>Pickup failures can create material delay</a:t>
            </a:r>
          </a:p>
        </p:txBody>
      </p:sp>
      <p:sp>
        <p:nvSpPr>
          <p:cNvPr id="12" name="">
            <a:extLst xmlns:a="http://schemas.openxmlformats.org/drawingml/2006/main">
              <a:ext uri="{FF2B5EF4-FFF2-40B4-BE49-F238E27FC236}">
                <a16:creationId xmlns:a16="http://schemas.microsoft.com/office/drawing/2014/main" id="{7852F3F0-17B9-4D61-B317-726FBE3BC1FA}"/>
              </a:ext>
            </a:extLst>
          </p:cNvPr>
          <p:cNvSpPr>
            <a:spLocks xmlns:a="http://schemas.openxmlformats.org/drawingml/2006/main" noGrp="1"/>
          </p:cNvSpPr>
          <p:nvPr/>
        </p:nvSpPr>
        <p:spPr>
          <a:xfrm xmlns:a="http://schemas.openxmlformats.org/drawingml/2006/main">
            <a:off x="1200150" y="2867025"/>
            <a:ext cx="6858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83333"/>
          </a:bodyPr>
          <a:lstStyle xmlns:a="http://schemas.openxmlformats.org/drawingml/2006/main"/>
          <a:p xmlns:a="http://schemas.openxmlformats.org/drawingml/2006/main">
            <a:pPr algn="l">
              <a:defRPr sz="1200" b="0" i="0">
                <a:solidFill>
                  <a:srgbClr val="687489"/>
                </a:solidFill>
                <a:latin typeface="Calibri"/>
                <a:ea typeface="Calibri"/>
                <a:cs typeface="Calibri"/>
              </a:defRPr>
            </a:pPr>
            <a:r>
              <a:rPr sz="1200" b="0" i="0">
                <a:solidFill>
                  <a:srgbClr val="687489"/>
                </a:solidFill>
                <a:latin typeface="Calibri"/>
                <a:ea typeface="Calibri"/>
                <a:cs typeface="Calibri"/>
              </a:rPr>
              <a:t>7/10 time-tagged cases exceeded five minutes</a:t>
            </a:r>
          </a:p>
        </p:txBody>
      </p:sp>
      <p:sp>
        <p:nvSpPr>
          <p:cNvPr id="13" name="">
            <a:extLst xmlns:a="http://schemas.openxmlformats.org/drawingml/2006/main">
              <a:ext uri="{FF2B5EF4-FFF2-40B4-BE49-F238E27FC236}">
                <a16:creationId xmlns:a16="http://schemas.microsoft.com/office/drawing/2014/main" id="{3F94FAA7-F15F-46FC-88AC-CC228C56CEF3}"/>
              </a:ext>
            </a:extLst>
          </p:cNvPr>
          <p:cNvSpPr>
            <a:spLocks xmlns:a="http://schemas.openxmlformats.org/drawingml/2006/main" noGrp="1"/>
          </p:cNvSpPr>
          <p:nvPr/>
        </p:nvSpPr>
        <p:spPr>
          <a:xfrm xmlns:a="http://schemas.openxmlformats.org/drawingml/2006/main">
            <a:off x="9220200" y="2676525"/>
            <a:ext cx="1428750" cy="323850"/>
          </a:xfrm>
          <a:prstGeom xmlns:a="http://schemas.openxmlformats.org/drawingml/2006/main" prst="roundRect">
            <a:avLst>
              <a:gd name="adj" fmla="val 47059"/>
            </a:avLst>
          </a:prstGeom>
          <a:solidFill xmlns:a="http://schemas.openxmlformats.org/drawingml/2006/main">
            <a:srgbClr val="FBE7D8"/>
          </a:solidFill>
          <a:ln xmlns:a="http://schemas.openxmlformats.org/drawingml/2006/main" w="0">
            <a:noFill/>
            <a:prstDash val="solid"/>
          </a:ln>
        </p:spPr>
      </p:sp>
      <p:sp>
        <p:nvSpPr>
          <p:cNvPr id="14" name="">
            <a:extLst xmlns:a="http://schemas.openxmlformats.org/drawingml/2006/main">
              <a:ext uri="{FF2B5EF4-FFF2-40B4-BE49-F238E27FC236}">
                <a16:creationId xmlns:a16="http://schemas.microsoft.com/office/drawing/2014/main" id="{BB23E99F-7C51-4D12-BEE3-C8118998662A}"/>
              </a:ext>
            </a:extLst>
          </p:cNvPr>
          <p:cNvSpPr>
            <a:spLocks xmlns:a="http://schemas.openxmlformats.org/drawingml/2006/main" noGrp="1"/>
          </p:cNvSpPr>
          <p:nvPr/>
        </p:nvSpPr>
        <p:spPr>
          <a:xfrm xmlns:a="http://schemas.openxmlformats.org/drawingml/2006/main">
            <a:off x="9315450" y="2714625"/>
            <a:ext cx="1238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88889"/>
          </a:bodyPr>
          <a:lstStyle xmlns:a="http://schemas.openxmlformats.org/drawingml/2006/main"/>
          <a:p xmlns:a="http://schemas.openxmlformats.org/drawingml/2006/main">
            <a:pPr algn="ctr">
              <a:defRPr sz="1125" b="1" i="0">
                <a:solidFill>
                  <a:srgbClr val="1B2B45"/>
                </a:solidFill>
                <a:latin typeface="Calibri"/>
                <a:ea typeface="Calibri"/>
                <a:cs typeface="Calibri"/>
              </a:defRPr>
            </a:pPr>
            <a:r>
              <a:rPr sz="1125" b="1" i="0">
                <a:solidFill>
                  <a:srgbClr val="1B2B45"/>
                </a:solidFill>
                <a:latin typeface="Calibri"/>
                <a:ea typeface="Calibri"/>
                <a:cs typeface="Calibri"/>
              </a:rPr>
              <a:t>Moderate</a:t>
            </a:r>
          </a:p>
        </p:txBody>
      </p:sp>
      <p:sp>
        <p:nvSpPr>
          <p:cNvPr id="15" name="">
            <a:extLst xmlns:a="http://schemas.openxmlformats.org/drawingml/2006/main">
              <a:ext uri="{FF2B5EF4-FFF2-40B4-BE49-F238E27FC236}">
                <a16:creationId xmlns:a16="http://schemas.microsoft.com/office/drawing/2014/main" id="{D4598B1D-6942-4E0F-90B8-26AB3C3E49C5}"/>
              </a:ext>
            </a:extLst>
          </p:cNvPr>
          <p:cNvSpPr>
            <a:spLocks xmlns:a="http://schemas.openxmlformats.org/drawingml/2006/main" noGrp="1"/>
          </p:cNvSpPr>
          <p:nvPr/>
        </p:nvSpPr>
        <p:spPr>
          <a:xfrm xmlns:a="http://schemas.openxmlformats.org/drawingml/2006/main">
            <a:off x="514350" y="3352800"/>
            <a:ext cx="10439400" cy="723900"/>
          </a:xfrm>
          <a:prstGeom xmlns:a="http://schemas.openxmlformats.org/drawingml/2006/main" prst="roundRect">
            <a:avLst>
              <a:gd name="adj" fmla="val 5263"/>
            </a:avLst>
          </a:prstGeom>
          <a:solidFill xmlns:a="http://schemas.openxmlformats.org/drawingml/2006/main">
            <a:srgbClr val="FFFFFF"/>
          </a:solidFill>
          <a:ln xmlns:a="http://schemas.openxmlformats.org/drawingml/2006/main" w="9525">
            <a:solidFill>
              <a:srgbClr val="E8ECF1"/>
            </a:solidFill>
            <a:prstDash val="solid"/>
          </a:ln>
        </p:spPr>
      </p:sp>
      <p:sp>
        <p:nvSpPr>
          <p:cNvPr id="16" name="">
            <a:extLst xmlns:a="http://schemas.openxmlformats.org/drawingml/2006/main">
              <a:ext uri="{FF2B5EF4-FFF2-40B4-BE49-F238E27FC236}">
                <a16:creationId xmlns:a16="http://schemas.microsoft.com/office/drawing/2014/main" id="{C31D31DC-9069-47CE-AA05-2010F271D993}"/>
              </a:ext>
            </a:extLst>
          </p:cNvPr>
          <p:cNvSpPr>
            <a:spLocks xmlns:a="http://schemas.openxmlformats.org/drawingml/2006/main" noGrp="1"/>
          </p:cNvSpPr>
          <p:nvPr/>
        </p:nvSpPr>
        <p:spPr>
          <a:xfrm xmlns:a="http://schemas.openxmlformats.org/drawingml/2006/main">
            <a:off x="647700" y="3476625"/>
            <a:ext cx="4000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ctr">
            <a:normAutofit fontScale="100000"/>
          </a:bodyPr>
          <a:lstStyle xmlns:a="http://schemas.openxmlformats.org/drawingml/2006/main"/>
          <a:p xmlns:a="http://schemas.openxmlformats.org/drawingml/2006/main">
            <a:pPr algn="ctr">
              <a:defRPr sz="1950" b="1" i="0">
                <a:solidFill>
                  <a:srgbClr val="F47A22"/>
                </a:solidFill>
                <a:latin typeface="Calibri"/>
                <a:ea typeface="Calibri"/>
                <a:cs typeface="Calibri"/>
              </a:defRPr>
            </a:pPr>
            <a:r>
              <a:rPr sz="1950" b="1" i="0">
                <a:solidFill>
                  <a:srgbClr val="F47A22"/>
                </a:solidFill>
                <a:latin typeface="Calibri"/>
                <a:ea typeface="Calibri"/>
                <a:cs typeface="Calibri"/>
              </a:rPr>
              <a:t>8</a:t>
            </a:r>
          </a:p>
        </p:txBody>
      </p:sp>
      <p:sp>
        <p:nvSpPr>
          <p:cNvPr id="17" name="">
            <a:extLst xmlns:a="http://schemas.openxmlformats.org/drawingml/2006/main">
              <a:ext uri="{FF2B5EF4-FFF2-40B4-BE49-F238E27FC236}">
                <a16:creationId xmlns:a16="http://schemas.microsoft.com/office/drawing/2014/main" id="{71558B01-79B2-404C-9C14-A2F53907B941}"/>
              </a:ext>
            </a:extLst>
          </p:cNvPr>
          <p:cNvSpPr>
            <a:spLocks xmlns:a="http://schemas.openxmlformats.org/drawingml/2006/main" noGrp="1"/>
          </p:cNvSpPr>
          <p:nvPr/>
        </p:nvSpPr>
        <p:spPr>
          <a:xfrm xmlns:a="http://schemas.openxmlformats.org/drawingml/2006/main">
            <a:off x="1200150" y="3448050"/>
            <a:ext cx="5238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83333"/>
          </a:bodyPr>
          <a:lstStyle xmlns:a="http://schemas.openxmlformats.org/drawingml/2006/main"/>
          <a:p xmlns:a="http://schemas.openxmlformats.org/drawingml/2006/main">
            <a:pPr algn="l">
              <a:defRPr sz="1500" b="1" i="0">
                <a:solidFill>
                  <a:srgbClr val="1B2B45"/>
                </a:solidFill>
                <a:latin typeface="Calibri"/>
                <a:ea typeface="Calibri"/>
                <a:cs typeface="Calibri"/>
              </a:defRPr>
            </a:pPr>
            <a:r>
              <a:rPr sz="1500" b="1" i="0">
                <a:solidFill>
                  <a:srgbClr val="1B2B45"/>
                </a:solidFill>
                <a:latin typeface="Calibri"/>
                <a:ea typeface="Calibri"/>
                <a:cs typeface="Calibri"/>
              </a:rPr>
              <a:t>Cancellation is related but multi-causal</a:t>
            </a:r>
          </a:p>
        </p:txBody>
      </p:sp>
      <p:sp>
        <p:nvSpPr>
          <p:cNvPr id="18" name="">
            <a:extLst xmlns:a="http://schemas.openxmlformats.org/drawingml/2006/main">
              <a:ext uri="{FF2B5EF4-FFF2-40B4-BE49-F238E27FC236}">
                <a16:creationId xmlns:a16="http://schemas.microsoft.com/office/drawing/2014/main" id="{57BE9E98-1E7F-446B-899B-62A5275D0723}"/>
              </a:ext>
            </a:extLst>
          </p:cNvPr>
          <p:cNvSpPr>
            <a:spLocks xmlns:a="http://schemas.openxmlformats.org/drawingml/2006/main" noGrp="1"/>
          </p:cNvSpPr>
          <p:nvPr/>
        </p:nvSpPr>
        <p:spPr>
          <a:xfrm xmlns:a="http://schemas.openxmlformats.org/drawingml/2006/main">
            <a:off x="1200150" y="3733800"/>
            <a:ext cx="6858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83333"/>
          </a:bodyPr>
          <a:lstStyle xmlns:a="http://schemas.openxmlformats.org/drawingml/2006/main"/>
          <a:p xmlns:a="http://schemas.openxmlformats.org/drawingml/2006/main">
            <a:pPr algn="l">
              <a:defRPr sz="1200" b="0" i="0">
                <a:solidFill>
                  <a:srgbClr val="687489"/>
                </a:solidFill>
                <a:latin typeface="Calibri"/>
                <a:ea typeface="Calibri"/>
                <a:cs typeface="Calibri"/>
              </a:defRPr>
            </a:pPr>
            <a:r>
              <a:rPr sz="1200" b="0" i="0">
                <a:solidFill>
                  <a:srgbClr val="687489"/>
                </a:solidFill>
                <a:latin typeface="Calibri"/>
                <a:ea typeface="Calibri"/>
                <a:cs typeface="Calibri"/>
              </a:rPr>
              <a:t>Location overlaps with destination, fare, payment, and rain</a:t>
            </a:r>
          </a:p>
        </p:txBody>
      </p:sp>
      <p:sp>
        <p:nvSpPr>
          <p:cNvPr id="19" name="">
            <a:extLst xmlns:a="http://schemas.openxmlformats.org/drawingml/2006/main">
              <a:ext uri="{FF2B5EF4-FFF2-40B4-BE49-F238E27FC236}">
                <a16:creationId xmlns:a16="http://schemas.microsoft.com/office/drawing/2014/main" id="{B8FC5431-C74D-4539-B08C-FB7E4B6873D3}"/>
              </a:ext>
            </a:extLst>
          </p:cNvPr>
          <p:cNvSpPr>
            <a:spLocks xmlns:a="http://schemas.openxmlformats.org/drawingml/2006/main" noGrp="1"/>
          </p:cNvSpPr>
          <p:nvPr/>
        </p:nvSpPr>
        <p:spPr>
          <a:xfrm xmlns:a="http://schemas.openxmlformats.org/drawingml/2006/main">
            <a:off x="9220200" y="3543300"/>
            <a:ext cx="1428750" cy="323850"/>
          </a:xfrm>
          <a:prstGeom xmlns:a="http://schemas.openxmlformats.org/drawingml/2006/main" prst="roundRect">
            <a:avLst>
              <a:gd name="adj" fmla="val 47059"/>
            </a:avLst>
          </a:prstGeom>
          <a:solidFill xmlns:a="http://schemas.openxmlformats.org/drawingml/2006/main">
            <a:srgbClr val="FBE7D8"/>
          </a:solidFill>
          <a:ln xmlns:a="http://schemas.openxmlformats.org/drawingml/2006/main" w="0">
            <a:noFill/>
            <a:prstDash val="solid"/>
          </a:ln>
        </p:spPr>
      </p:sp>
      <p:sp>
        <p:nvSpPr>
          <p:cNvPr id="20" name="">
            <a:extLst xmlns:a="http://schemas.openxmlformats.org/drawingml/2006/main">
              <a:ext uri="{FF2B5EF4-FFF2-40B4-BE49-F238E27FC236}">
                <a16:creationId xmlns:a16="http://schemas.microsoft.com/office/drawing/2014/main" id="{3BB7E307-6B02-48BC-960F-4E48519C58B8}"/>
              </a:ext>
            </a:extLst>
          </p:cNvPr>
          <p:cNvSpPr>
            <a:spLocks xmlns:a="http://schemas.openxmlformats.org/drawingml/2006/main" noGrp="1"/>
          </p:cNvSpPr>
          <p:nvPr/>
        </p:nvSpPr>
        <p:spPr>
          <a:xfrm xmlns:a="http://schemas.openxmlformats.org/drawingml/2006/main">
            <a:off x="9315450" y="3581400"/>
            <a:ext cx="1238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88889"/>
          </a:bodyPr>
          <a:lstStyle xmlns:a="http://schemas.openxmlformats.org/drawingml/2006/main"/>
          <a:p xmlns:a="http://schemas.openxmlformats.org/drawingml/2006/main">
            <a:pPr algn="ctr">
              <a:defRPr sz="1125" b="1" i="0">
                <a:solidFill>
                  <a:srgbClr val="1B2B45"/>
                </a:solidFill>
                <a:latin typeface="Calibri"/>
                <a:ea typeface="Calibri"/>
                <a:cs typeface="Calibri"/>
              </a:defRPr>
            </a:pPr>
            <a:r>
              <a:rPr sz="1125" b="1" i="0">
                <a:solidFill>
                  <a:srgbClr val="1B2B45"/>
                </a:solidFill>
                <a:latin typeface="Calibri"/>
                <a:ea typeface="Calibri"/>
                <a:cs typeface="Calibri"/>
              </a:rPr>
              <a:t>Moderate</a:t>
            </a:r>
          </a:p>
        </p:txBody>
      </p:sp>
      <p:sp>
        <p:nvSpPr>
          <p:cNvPr id="21" name="">
            <a:extLst xmlns:a="http://schemas.openxmlformats.org/drawingml/2006/main">
              <a:ext uri="{FF2B5EF4-FFF2-40B4-BE49-F238E27FC236}">
                <a16:creationId xmlns:a16="http://schemas.microsoft.com/office/drawing/2014/main" id="{52855ECD-3AAE-4741-925B-8A1B3ACA540A}"/>
              </a:ext>
            </a:extLst>
          </p:cNvPr>
          <p:cNvSpPr>
            <a:spLocks xmlns:a="http://schemas.openxmlformats.org/drawingml/2006/main" noGrp="1"/>
          </p:cNvSpPr>
          <p:nvPr/>
        </p:nvSpPr>
        <p:spPr>
          <a:xfrm xmlns:a="http://schemas.openxmlformats.org/drawingml/2006/main">
            <a:off x="514350" y="4219575"/>
            <a:ext cx="10439400" cy="723900"/>
          </a:xfrm>
          <a:prstGeom xmlns:a="http://schemas.openxmlformats.org/drawingml/2006/main" prst="roundRect">
            <a:avLst>
              <a:gd name="adj" fmla="val 5263"/>
            </a:avLst>
          </a:prstGeom>
          <a:solidFill xmlns:a="http://schemas.openxmlformats.org/drawingml/2006/main">
            <a:srgbClr val="FFFFFF"/>
          </a:solidFill>
          <a:ln xmlns:a="http://schemas.openxmlformats.org/drawingml/2006/main" w="9525">
            <a:solidFill>
              <a:srgbClr val="E8ECF1"/>
            </a:solidFill>
            <a:prstDash val="solid"/>
          </a:ln>
        </p:spPr>
      </p:sp>
      <p:sp>
        <p:nvSpPr>
          <p:cNvPr id="22" name="">
            <a:extLst xmlns:a="http://schemas.openxmlformats.org/drawingml/2006/main">
              <a:ext uri="{FF2B5EF4-FFF2-40B4-BE49-F238E27FC236}">
                <a16:creationId xmlns:a16="http://schemas.microsoft.com/office/drawing/2014/main" id="{D3210897-305F-48C1-923D-9C38BEFBCBF4}"/>
              </a:ext>
            </a:extLst>
          </p:cNvPr>
          <p:cNvSpPr>
            <a:spLocks xmlns:a="http://schemas.openxmlformats.org/drawingml/2006/main" noGrp="1"/>
          </p:cNvSpPr>
          <p:nvPr/>
        </p:nvSpPr>
        <p:spPr>
          <a:xfrm xmlns:a="http://schemas.openxmlformats.org/drawingml/2006/main">
            <a:off x="647700" y="4343400"/>
            <a:ext cx="4000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ctr">
            <a:normAutofit fontScale="100000"/>
          </a:bodyPr>
          <a:lstStyle xmlns:a="http://schemas.openxmlformats.org/drawingml/2006/main"/>
          <a:p xmlns:a="http://schemas.openxmlformats.org/drawingml/2006/main">
            <a:pPr algn="ctr">
              <a:defRPr sz="1950" b="1" i="0">
                <a:solidFill>
                  <a:srgbClr val="F47A22"/>
                </a:solidFill>
                <a:latin typeface="Calibri"/>
                <a:ea typeface="Calibri"/>
                <a:cs typeface="Calibri"/>
              </a:defRPr>
            </a:pPr>
            <a:r>
              <a:rPr sz="1950" b="1" i="0">
                <a:solidFill>
                  <a:srgbClr val="F47A22"/>
                </a:solidFill>
                <a:latin typeface="Calibri"/>
                <a:ea typeface="Calibri"/>
                <a:cs typeface="Calibri"/>
              </a:rPr>
              <a:t>9</a:t>
            </a:r>
          </a:p>
        </p:txBody>
      </p:sp>
      <p:sp>
        <p:nvSpPr>
          <p:cNvPr id="23" name="">
            <a:extLst xmlns:a="http://schemas.openxmlformats.org/drawingml/2006/main">
              <a:ext uri="{FF2B5EF4-FFF2-40B4-BE49-F238E27FC236}">
                <a16:creationId xmlns:a16="http://schemas.microsoft.com/office/drawing/2014/main" id="{CBDBBCF0-72AF-4948-B3DB-B33AAD3DF9AF}"/>
              </a:ext>
            </a:extLst>
          </p:cNvPr>
          <p:cNvSpPr>
            <a:spLocks xmlns:a="http://schemas.openxmlformats.org/drawingml/2006/main" noGrp="1"/>
          </p:cNvSpPr>
          <p:nvPr/>
        </p:nvSpPr>
        <p:spPr>
          <a:xfrm xmlns:a="http://schemas.openxmlformats.org/drawingml/2006/main">
            <a:off x="1200150" y="4314825"/>
            <a:ext cx="5238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83333"/>
          </a:bodyPr>
          <a:lstStyle xmlns:a="http://schemas.openxmlformats.org/drawingml/2006/main"/>
          <a:p xmlns:a="http://schemas.openxmlformats.org/drawingml/2006/main">
            <a:pPr algn="l">
              <a:defRPr sz="1500" b="1" i="0">
                <a:solidFill>
                  <a:srgbClr val="1B2B45"/>
                </a:solidFill>
                <a:latin typeface="Calibri"/>
                <a:ea typeface="Calibri"/>
                <a:cs typeface="Calibri"/>
              </a:defRPr>
            </a:pPr>
            <a:r>
              <a:rPr sz="1500" b="1" i="0">
                <a:solidFill>
                  <a:srgbClr val="1B2B45"/>
                </a:solidFill>
                <a:latin typeface="Calibri"/>
                <a:ea typeface="Calibri"/>
                <a:cs typeface="Calibri"/>
              </a:rPr>
              <a:t>Some respondents found no effective recovery</a:t>
            </a:r>
          </a:p>
        </p:txBody>
      </p:sp>
      <p:sp>
        <p:nvSpPr>
          <p:cNvPr id="24" name="">
            <a:extLst xmlns:a="http://schemas.openxmlformats.org/drawingml/2006/main">
              <a:ext uri="{FF2B5EF4-FFF2-40B4-BE49-F238E27FC236}">
                <a16:creationId xmlns:a16="http://schemas.microsoft.com/office/drawing/2014/main" id="{0F69C1D2-C130-4740-82A2-E55C1DB4AD75}"/>
              </a:ext>
            </a:extLst>
          </p:cNvPr>
          <p:cNvSpPr>
            <a:spLocks xmlns:a="http://schemas.openxmlformats.org/drawingml/2006/main" noGrp="1"/>
          </p:cNvSpPr>
          <p:nvPr/>
        </p:nvSpPr>
        <p:spPr>
          <a:xfrm xmlns:a="http://schemas.openxmlformats.org/drawingml/2006/main">
            <a:off x="1200150" y="4600575"/>
            <a:ext cx="6858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83333"/>
          </a:bodyPr>
          <a:lstStyle xmlns:a="http://schemas.openxmlformats.org/drawingml/2006/main"/>
          <a:p xmlns:a="http://schemas.openxmlformats.org/drawingml/2006/main">
            <a:pPr algn="l">
              <a:defRPr sz="1200" b="0" i="0">
                <a:solidFill>
                  <a:srgbClr val="687489"/>
                </a:solidFill>
                <a:latin typeface="Calibri"/>
                <a:ea typeface="Calibri"/>
                <a:cs typeface="Calibri"/>
              </a:defRPr>
            </a:pPr>
            <a:r>
              <a:rPr sz="1200" b="0" i="0">
                <a:solidFill>
                  <a:srgbClr val="687489"/>
                </a:solidFill>
                <a:latin typeface="Calibri"/>
                <a:ea typeface="Calibri"/>
                <a:cs typeface="Calibri"/>
              </a:rPr>
              <a:t>6/28 selected nothing helped</a:t>
            </a:r>
          </a:p>
        </p:txBody>
      </p:sp>
      <p:sp>
        <p:nvSpPr>
          <p:cNvPr id="25" name="">
            <a:extLst xmlns:a="http://schemas.openxmlformats.org/drawingml/2006/main">
              <a:ext uri="{FF2B5EF4-FFF2-40B4-BE49-F238E27FC236}">
                <a16:creationId xmlns:a16="http://schemas.microsoft.com/office/drawing/2014/main" id="{01A5AC41-B39F-4065-9E00-5FE9AC70A066}"/>
              </a:ext>
            </a:extLst>
          </p:cNvPr>
          <p:cNvSpPr>
            <a:spLocks xmlns:a="http://schemas.openxmlformats.org/drawingml/2006/main" noGrp="1"/>
          </p:cNvSpPr>
          <p:nvPr/>
        </p:nvSpPr>
        <p:spPr>
          <a:xfrm xmlns:a="http://schemas.openxmlformats.org/drawingml/2006/main">
            <a:off x="9220200" y="4410075"/>
            <a:ext cx="1428750" cy="323850"/>
          </a:xfrm>
          <a:prstGeom xmlns:a="http://schemas.openxmlformats.org/drawingml/2006/main" prst="roundRect">
            <a:avLst>
              <a:gd name="adj" fmla="val 47059"/>
            </a:avLst>
          </a:prstGeom>
          <a:solidFill xmlns:a="http://schemas.openxmlformats.org/drawingml/2006/main">
            <a:srgbClr val="FBE7D8"/>
          </a:solidFill>
          <a:ln xmlns:a="http://schemas.openxmlformats.org/drawingml/2006/main" w="0">
            <a:noFill/>
            <a:prstDash val="solid"/>
          </a:ln>
        </p:spPr>
      </p:sp>
      <p:sp>
        <p:nvSpPr>
          <p:cNvPr id="26" name="">
            <a:extLst xmlns:a="http://schemas.openxmlformats.org/drawingml/2006/main">
              <a:ext uri="{FF2B5EF4-FFF2-40B4-BE49-F238E27FC236}">
                <a16:creationId xmlns:a16="http://schemas.microsoft.com/office/drawing/2014/main" id="{7769CA7F-38DD-45E4-8D0A-2444F0CC6E26}"/>
              </a:ext>
            </a:extLst>
          </p:cNvPr>
          <p:cNvSpPr>
            <a:spLocks xmlns:a="http://schemas.openxmlformats.org/drawingml/2006/main" noGrp="1"/>
          </p:cNvSpPr>
          <p:nvPr/>
        </p:nvSpPr>
        <p:spPr>
          <a:xfrm xmlns:a="http://schemas.openxmlformats.org/drawingml/2006/main">
            <a:off x="9315450" y="4448175"/>
            <a:ext cx="1238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88889"/>
          </a:bodyPr>
          <a:lstStyle xmlns:a="http://schemas.openxmlformats.org/drawingml/2006/main"/>
          <a:p xmlns:a="http://schemas.openxmlformats.org/drawingml/2006/main">
            <a:pPr algn="ctr">
              <a:defRPr sz="1125" b="1" i="0">
                <a:solidFill>
                  <a:srgbClr val="1B2B45"/>
                </a:solidFill>
                <a:latin typeface="Calibri"/>
                <a:ea typeface="Calibri"/>
                <a:cs typeface="Calibri"/>
              </a:defRPr>
            </a:pPr>
            <a:r>
              <a:rPr sz="1125" b="1" i="0">
                <a:solidFill>
                  <a:srgbClr val="1B2B45"/>
                </a:solidFill>
                <a:latin typeface="Calibri"/>
                <a:ea typeface="Calibri"/>
                <a:cs typeface="Calibri"/>
              </a:rPr>
              <a:t>Moderate</a:t>
            </a:r>
          </a:p>
        </p:txBody>
      </p:sp>
      <p:sp>
        <p:nvSpPr>
          <p:cNvPr id="27" name="">
            <a:extLst xmlns:a="http://schemas.openxmlformats.org/drawingml/2006/main">
              <a:ext uri="{FF2B5EF4-FFF2-40B4-BE49-F238E27FC236}">
                <a16:creationId xmlns:a16="http://schemas.microsoft.com/office/drawing/2014/main" id="{C90C6F67-E408-4191-9447-407AE0F38603}"/>
              </a:ext>
            </a:extLst>
          </p:cNvPr>
          <p:cNvSpPr>
            <a:spLocks xmlns:a="http://schemas.openxmlformats.org/drawingml/2006/main" noGrp="1"/>
          </p:cNvSpPr>
          <p:nvPr/>
        </p:nvSpPr>
        <p:spPr>
          <a:xfrm xmlns:a="http://schemas.openxmlformats.org/drawingml/2006/main">
            <a:off x="514350" y="5086350"/>
            <a:ext cx="10439400" cy="723900"/>
          </a:xfrm>
          <a:prstGeom xmlns:a="http://schemas.openxmlformats.org/drawingml/2006/main" prst="roundRect">
            <a:avLst>
              <a:gd name="adj" fmla="val 5263"/>
            </a:avLst>
          </a:prstGeom>
          <a:solidFill xmlns:a="http://schemas.openxmlformats.org/drawingml/2006/main">
            <a:srgbClr val="FFFFFF"/>
          </a:solidFill>
          <a:ln xmlns:a="http://schemas.openxmlformats.org/drawingml/2006/main" w="9525">
            <a:solidFill>
              <a:srgbClr val="E8ECF1"/>
            </a:solidFill>
            <a:prstDash val="solid"/>
          </a:ln>
        </p:spPr>
      </p:sp>
      <p:sp>
        <p:nvSpPr>
          <p:cNvPr id="28" name="">
            <a:extLst xmlns:a="http://schemas.openxmlformats.org/drawingml/2006/main">
              <a:ext uri="{FF2B5EF4-FFF2-40B4-BE49-F238E27FC236}">
                <a16:creationId xmlns:a16="http://schemas.microsoft.com/office/drawing/2014/main" id="{85B17F13-BCC2-4AB8-AD39-3B4360B6A3CD}"/>
              </a:ext>
            </a:extLst>
          </p:cNvPr>
          <p:cNvSpPr>
            <a:spLocks xmlns:a="http://schemas.openxmlformats.org/drawingml/2006/main" noGrp="1"/>
          </p:cNvSpPr>
          <p:nvPr/>
        </p:nvSpPr>
        <p:spPr>
          <a:xfrm xmlns:a="http://schemas.openxmlformats.org/drawingml/2006/main">
            <a:off x="647700" y="5210175"/>
            <a:ext cx="4000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ctr">
            <a:normAutofit fontScale="100000"/>
          </a:bodyPr>
          <a:lstStyle xmlns:a="http://schemas.openxmlformats.org/drawingml/2006/main"/>
          <a:p xmlns:a="http://schemas.openxmlformats.org/drawingml/2006/main">
            <a:pPr algn="ctr">
              <a:defRPr sz="1950" b="1" i="0">
                <a:solidFill>
                  <a:srgbClr val="F47A22"/>
                </a:solidFill>
                <a:latin typeface="Calibri"/>
                <a:ea typeface="Calibri"/>
                <a:cs typeface="Calibri"/>
              </a:defRPr>
            </a:pPr>
            <a:r>
              <a:rPr sz="1950" b="1" i="0">
                <a:solidFill>
                  <a:srgbClr val="F47A22"/>
                </a:solidFill>
                <a:latin typeface="Calibri"/>
                <a:ea typeface="Calibri"/>
                <a:cs typeface="Calibri"/>
              </a:rPr>
              <a:t>10</a:t>
            </a:r>
          </a:p>
        </p:txBody>
      </p:sp>
      <p:sp>
        <p:nvSpPr>
          <p:cNvPr id="29" name="">
            <a:extLst xmlns:a="http://schemas.openxmlformats.org/drawingml/2006/main">
              <a:ext uri="{FF2B5EF4-FFF2-40B4-BE49-F238E27FC236}">
                <a16:creationId xmlns:a16="http://schemas.microsoft.com/office/drawing/2014/main" id="{686670A7-5D7B-47C8-B685-0CF5B55A8AAB}"/>
              </a:ext>
            </a:extLst>
          </p:cNvPr>
          <p:cNvSpPr>
            <a:spLocks xmlns:a="http://schemas.openxmlformats.org/drawingml/2006/main" noGrp="1"/>
          </p:cNvSpPr>
          <p:nvPr/>
        </p:nvSpPr>
        <p:spPr>
          <a:xfrm xmlns:a="http://schemas.openxmlformats.org/drawingml/2006/main">
            <a:off x="1200150" y="5181600"/>
            <a:ext cx="5238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83333"/>
          </a:bodyPr>
          <a:lstStyle xmlns:a="http://schemas.openxmlformats.org/drawingml/2006/main"/>
          <a:p xmlns:a="http://schemas.openxmlformats.org/drawingml/2006/main">
            <a:pPr algn="l">
              <a:defRPr sz="1500" b="1" i="0">
                <a:solidFill>
                  <a:srgbClr val="1B2B45"/>
                </a:solidFill>
                <a:latin typeface="Calibri"/>
                <a:ea typeface="Calibri"/>
                <a:cs typeface="Calibri"/>
              </a:defRPr>
            </a:pPr>
            <a:r>
              <a:rPr sz="1500" b="1" i="0">
                <a:solidFill>
                  <a:srgbClr val="1B2B45"/>
                </a:solidFill>
                <a:latin typeface="Calibri"/>
                <a:ea typeface="Calibri"/>
                <a:cs typeface="Calibri"/>
              </a:rPr>
              <a:t>Finding the ride includes vehicle identification</a:t>
            </a:r>
          </a:p>
        </p:txBody>
      </p:sp>
      <p:sp>
        <p:nvSpPr>
          <p:cNvPr id="30" name="">
            <a:extLst xmlns:a="http://schemas.openxmlformats.org/drawingml/2006/main">
              <a:ext uri="{FF2B5EF4-FFF2-40B4-BE49-F238E27FC236}">
                <a16:creationId xmlns:a16="http://schemas.microsoft.com/office/drawing/2014/main" id="{3E61BE30-3402-4735-B7B0-4DFF0E1DBCD5}"/>
              </a:ext>
            </a:extLst>
          </p:cNvPr>
          <p:cNvSpPr>
            <a:spLocks xmlns:a="http://schemas.openxmlformats.org/drawingml/2006/main" noGrp="1"/>
          </p:cNvSpPr>
          <p:nvPr/>
        </p:nvSpPr>
        <p:spPr>
          <a:xfrm xmlns:a="http://schemas.openxmlformats.org/drawingml/2006/main">
            <a:off x="1200150" y="5467350"/>
            <a:ext cx="6858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83333"/>
          </a:bodyPr>
          <a:lstStyle xmlns:a="http://schemas.openxmlformats.org/drawingml/2006/main"/>
          <a:p xmlns:a="http://schemas.openxmlformats.org/drawingml/2006/main">
            <a:pPr algn="l">
              <a:defRPr sz="1200" b="0" i="0">
                <a:solidFill>
                  <a:srgbClr val="687489"/>
                </a:solidFill>
                <a:latin typeface="Calibri"/>
                <a:ea typeface="Calibri"/>
                <a:cs typeface="Calibri"/>
              </a:defRPr>
            </a:pPr>
            <a:r>
              <a:rPr sz="1200" b="0" i="0">
                <a:solidFill>
                  <a:srgbClr val="687489"/>
                </a:solidFill>
                <a:latin typeface="Calibri"/>
                <a:ea typeface="Calibri"/>
                <a:cs typeface="Calibri"/>
              </a:rPr>
              <a:t>One vehicle-number mismatch report</a:t>
            </a:r>
          </a:p>
        </p:txBody>
      </p:sp>
      <p:sp>
        <p:nvSpPr>
          <p:cNvPr id="31" name="">
            <a:extLst xmlns:a="http://schemas.openxmlformats.org/drawingml/2006/main">
              <a:ext uri="{FF2B5EF4-FFF2-40B4-BE49-F238E27FC236}">
                <a16:creationId xmlns:a16="http://schemas.microsoft.com/office/drawing/2014/main" id="{EFF61D71-B416-49C7-BF85-756D594538FA}"/>
              </a:ext>
            </a:extLst>
          </p:cNvPr>
          <p:cNvSpPr>
            <a:spLocks xmlns:a="http://schemas.openxmlformats.org/drawingml/2006/main" noGrp="1"/>
          </p:cNvSpPr>
          <p:nvPr/>
        </p:nvSpPr>
        <p:spPr>
          <a:xfrm xmlns:a="http://schemas.openxmlformats.org/drawingml/2006/main">
            <a:off x="9220200" y="5276850"/>
            <a:ext cx="1428750" cy="323850"/>
          </a:xfrm>
          <a:prstGeom xmlns:a="http://schemas.openxmlformats.org/drawingml/2006/main" prst="roundRect">
            <a:avLst>
              <a:gd name="adj" fmla="val 47059"/>
            </a:avLst>
          </a:prstGeom>
          <a:solidFill xmlns:a="http://schemas.openxmlformats.org/drawingml/2006/main">
            <a:srgbClr val="FBE7D8"/>
          </a:solidFill>
          <a:ln xmlns:a="http://schemas.openxmlformats.org/drawingml/2006/main" w="0">
            <a:noFill/>
            <a:prstDash val="solid"/>
          </a:ln>
        </p:spPr>
      </p:sp>
      <p:sp>
        <p:nvSpPr>
          <p:cNvPr id="32" name="">
            <a:extLst xmlns:a="http://schemas.openxmlformats.org/drawingml/2006/main">
              <a:ext uri="{FF2B5EF4-FFF2-40B4-BE49-F238E27FC236}">
                <a16:creationId xmlns:a16="http://schemas.microsoft.com/office/drawing/2014/main" id="{9699D9DA-C45C-4D60-A4F6-8C43DF86E274}"/>
              </a:ext>
            </a:extLst>
          </p:cNvPr>
          <p:cNvSpPr>
            <a:spLocks xmlns:a="http://schemas.openxmlformats.org/drawingml/2006/main" noGrp="1"/>
          </p:cNvSpPr>
          <p:nvPr/>
        </p:nvSpPr>
        <p:spPr>
          <a:xfrm xmlns:a="http://schemas.openxmlformats.org/drawingml/2006/main">
            <a:off x="9315450" y="5314950"/>
            <a:ext cx="1238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88889"/>
          </a:bodyPr>
          <a:lstStyle xmlns:a="http://schemas.openxmlformats.org/drawingml/2006/main"/>
          <a:p xmlns:a="http://schemas.openxmlformats.org/drawingml/2006/main">
            <a:pPr algn="ctr">
              <a:defRPr sz="1125" b="1" i="0">
                <a:solidFill>
                  <a:srgbClr val="1B2B45"/>
                </a:solidFill>
                <a:latin typeface="Calibri"/>
                <a:ea typeface="Calibri"/>
                <a:cs typeface="Calibri"/>
              </a:defRPr>
            </a:pPr>
            <a:r>
              <a:rPr sz="1125" b="1" i="0">
                <a:solidFill>
                  <a:srgbClr val="1B2B45"/>
                </a:solidFill>
                <a:latin typeface="Calibri"/>
                <a:ea typeface="Calibri"/>
                <a:cs typeface="Calibri"/>
              </a:rPr>
              <a:t>Weak</a:t>
            </a:r>
          </a:p>
        </p:txBody>
      </p:sp>
      <p:sp>
        <p:nvSpPr>
          <p:cNvPr id="33" name="">
            <a:extLst xmlns:a="http://schemas.openxmlformats.org/drawingml/2006/main">
              <a:ext uri="{FF2B5EF4-FFF2-40B4-BE49-F238E27FC236}">
                <a16:creationId xmlns:a16="http://schemas.microsoft.com/office/drawing/2014/main" id="{0BFFA4BC-444B-4A98-B248-073AC49F6A15}"/>
              </a:ext>
            </a:extLst>
          </p:cNvPr>
          <p:cNvSpPr>
            <a:spLocks xmlns:a="http://schemas.openxmlformats.org/drawingml/2006/main" noGrp="1"/>
          </p:cNvSpPr>
          <p:nvPr/>
        </p:nvSpPr>
        <p:spPr>
          <a:xfrm xmlns:a="http://schemas.openxmlformats.org/drawingml/2006/main">
            <a:off x="514350" y="6515100"/>
            <a:ext cx="2857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l">
              <a:defRPr sz="750" b="0" i="0">
                <a:solidFill>
                  <a:srgbClr val="687489"/>
                </a:solidFill>
                <a:latin typeface="Calibri"/>
                <a:ea typeface="Calibri"/>
                <a:cs typeface="Calibri"/>
              </a:defRPr>
            </a:pPr>
            <a:r>
              <a:rPr sz="750" b="0" i="0">
                <a:solidFill>
                  <a:srgbClr val="687489"/>
                </a:solidFill>
                <a:latin typeface="Calibri"/>
                <a:ea typeface="Calibri"/>
                <a:cs typeface="Calibri"/>
              </a:rPr>
              <a:t>Find My Ride · Appendix</a:t>
            </a:r>
          </a:p>
        </p:txBody>
      </p:sp>
      <p:sp>
        <p:nvSpPr>
          <p:cNvPr id="34" name="">
            <a:extLst xmlns:a="http://schemas.openxmlformats.org/drawingml/2006/main">
              <a:ext uri="{FF2B5EF4-FFF2-40B4-BE49-F238E27FC236}">
                <a16:creationId xmlns:a16="http://schemas.microsoft.com/office/drawing/2014/main" id="{62CC0280-1692-47DE-8FB9-7542912673C9}"/>
              </a:ext>
            </a:extLst>
          </p:cNvPr>
          <p:cNvSpPr>
            <a:spLocks xmlns:a="http://schemas.openxmlformats.org/drawingml/2006/main" noGrp="1"/>
          </p:cNvSpPr>
          <p:nvPr/>
        </p:nvSpPr>
        <p:spPr>
          <a:xfrm xmlns:a="http://schemas.openxmlformats.org/drawingml/2006/main">
            <a:off x="11372850" y="6515100"/>
            <a:ext cx="3048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r">
              <a:defRPr sz="750" b="0" i="0">
                <a:solidFill>
                  <a:srgbClr val="687489"/>
                </a:solidFill>
                <a:latin typeface="Calibri"/>
                <a:ea typeface="Calibri"/>
                <a:cs typeface="Calibri"/>
              </a:defRPr>
            </a:pPr>
            <a:r>
              <a:rPr sz="750" b="0" i="0">
                <a:solidFill>
                  <a:srgbClr val="687489"/>
                </a:solidFill>
                <a:latin typeface="Calibri"/>
                <a:ea typeface="Calibri"/>
                <a:cs typeface="Calibri"/>
              </a:rPr>
              <a:t>14</a:t>
            </a:r>
          </a:p>
        </p:txBody>
      </p:sp>
    </p:spTree>
    <p:extLst>
      <p:ext uri="{BB962C8B-B14F-4D97-AF65-F5344CB8AC3E}">
        <p14:creationId xmlns:p14="http://schemas.microsoft.com/office/powerpoint/2010/main" val="217901690"/>
      </p:ext>
    </p:extLst>
  </p:cSld>
</p:sld>
</file>

<file path=ppt/slides/slide15.xml><?xml version="1.0" encoding="utf-8"?>
<p:sld xmlns:p="http://schemas.openxmlformats.org/presentationml/2006/main">
  <p:cSld>
    <p:bg>
      <p:bgPr>
        <a:solidFill xmlns:a="http://schemas.openxmlformats.org/drawingml/2006/main">
          <a:srgbClr val="F3F5F8"/>
        </a:solidFill>
      </p:bgPr>
    </p:bg>
    <p:spTree>
      <p:nvGrpSpPr>
        <p:cNvPr id="1" name=""/>
        <p:cNvGrpSpPr/>
        <p:nvPr/>
      </p:nvGrpSpPr>
      <p:grpSpPr>
        <a:xfrm xmlns:a="http://schemas.openxmlformats.org/drawingml/2006/main"/>
      </p:grpSpPr>
      <p:sp>
        <p:nvSpPr>
          <p:cNvPr id="53" name="">
            <a:extLst xmlns:a="http://schemas.openxmlformats.org/drawingml/2006/main">
              <a:ext uri="{FF2B5EF4-FFF2-40B4-BE49-F238E27FC236}">
                <a16:creationId xmlns:a16="http://schemas.microsoft.com/office/drawing/2014/main" id="{BEAEAB19-CEEC-4F2B-8099-4B1911224486}"/>
              </a:ext>
            </a:extLst>
          </p:cNvPr>
          <p:cNvSpPr>
            <a:spLocks xmlns:a="http://schemas.openxmlformats.org/drawingml/2006/main" noGrp="1"/>
          </p:cNvSpPr>
          <p:nvPr/>
        </p:nvSpPr>
        <p:spPr>
          <a:xfrm xmlns:a="http://schemas.openxmlformats.org/drawingml/2006/main">
            <a:off x="514350" y="247650"/>
            <a:ext cx="11144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l">
              <a:defRPr sz="975" b="1" i="0">
                <a:solidFill>
                  <a:srgbClr val="F47A22"/>
                </a:solidFill>
                <a:latin typeface="Calibri"/>
                <a:ea typeface="Calibri"/>
                <a:cs typeface="Calibri"/>
              </a:defRPr>
            </a:pPr>
            <a:r>
              <a:rPr sz="975" b="1" i="0">
                <a:solidFill>
                  <a:srgbClr val="F47A22"/>
                </a:solidFill>
                <a:latin typeface="Calibri"/>
                <a:ea typeface="Calibri"/>
                <a:cs typeface="Calibri"/>
              </a:rPr>
              <a:t>APPENDIX · MARKET AND COMPETITOR EVIDENCE</a:t>
            </a:r>
          </a:p>
        </p:txBody>
      </p:sp>
      <p:sp>
        <p:nvSpPr>
          <p:cNvPr id="2" name="">
            <a:extLst xmlns:a="http://schemas.openxmlformats.org/drawingml/2006/main">
              <a:ext uri="{FF2B5EF4-FFF2-40B4-BE49-F238E27FC236}">
                <a16:creationId xmlns:a16="http://schemas.microsoft.com/office/drawing/2014/main" id="{C654022B-95D7-43D4-AC67-224EC41112A0}"/>
              </a:ext>
            </a:extLst>
          </p:cNvPr>
          <p:cNvSpPr>
            <a:spLocks xmlns:a="http://schemas.openxmlformats.org/drawingml/2006/main" noGrp="1"/>
          </p:cNvSpPr>
          <p:nvPr/>
        </p:nvSpPr>
        <p:spPr>
          <a:xfrm xmlns:a="http://schemas.openxmlformats.org/drawingml/2006/main">
            <a:off x="514350" y="571500"/>
            <a:ext cx="1114425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l">
              <a:defRPr sz="2550" b="1" i="0">
                <a:solidFill>
                  <a:srgbClr val="1B2B45"/>
                </a:solidFill>
                <a:latin typeface="Calibri"/>
                <a:ea typeface="Calibri"/>
                <a:cs typeface="Calibri"/>
              </a:defRPr>
            </a:pPr>
            <a:r>
              <a:rPr sz="2550" b="1" i="0">
                <a:solidFill>
                  <a:srgbClr val="1B2B45"/>
                </a:solidFill>
                <a:latin typeface="Calibri"/>
                <a:ea typeface="Calibri"/>
                <a:cs typeface="Calibri"/>
              </a:rPr>
              <a:t>Design patterns — with transferability limits</a:t>
            </a:r>
          </a:p>
        </p:txBody>
      </p:sp>
      <p:sp>
        <p:nvSpPr>
          <p:cNvPr id="3" name="">
            <a:extLst xmlns:a="http://schemas.openxmlformats.org/drawingml/2006/main">
              <a:ext uri="{FF2B5EF4-FFF2-40B4-BE49-F238E27FC236}">
                <a16:creationId xmlns:a16="http://schemas.microsoft.com/office/drawing/2014/main" id="{9C744E9F-E644-469A-981E-1A4D66AE4181}"/>
              </a:ext>
            </a:extLst>
          </p:cNvPr>
          <p:cNvSpPr>
            <a:spLocks xmlns:a="http://schemas.openxmlformats.org/drawingml/2006/main" noGrp="1"/>
          </p:cNvSpPr>
          <p:nvPr/>
        </p:nvSpPr>
        <p:spPr>
          <a:xfrm xmlns:a="http://schemas.openxmlformats.org/drawingml/2006/main">
            <a:off x="514350" y="1619250"/>
            <a:ext cx="1657350" cy="495300"/>
          </a:xfrm>
          <a:prstGeom xmlns:a="http://schemas.openxmlformats.org/drawingml/2006/main" prst="rect">
            <a:avLst/>
          </a:prstGeom>
          <a:solidFill xmlns:a="http://schemas.openxmlformats.org/drawingml/2006/main">
            <a:srgbClr val="1B2B45"/>
          </a:solidFill>
          <a:ln xmlns:a="http://schemas.openxmlformats.org/drawingml/2006/main" w="9525">
            <a:solidFill>
              <a:srgbClr val="FFFFFF"/>
            </a:solidFill>
            <a:prstDash val="solid"/>
          </a:ln>
        </p:spPr>
      </p:sp>
      <p:sp>
        <p:nvSpPr>
          <p:cNvPr id="4" name="">
            <a:extLst xmlns:a="http://schemas.openxmlformats.org/drawingml/2006/main">
              <a:ext uri="{FF2B5EF4-FFF2-40B4-BE49-F238E27FC236}">
                <a16:creationId xmlns:a16="http://schemas.microsoft.com/office/drawing/2014/main" id="{161F28D3-DA43-443F-9D78-1A26BA291CF8}"/>
              </a:ext>
            </a:extLst>
          </p:cNvPr>
          <p:cNvSpPr>
            <a:spLocks xmlns:a="http://schemas.openxmlformats.org/drawingml/2006/main" noGrp="1"/>
          </p:cNvSpPr>
          <p:nvPr/>
        </p:nvSpPr>
        <p:spPr>
          <a:xfrm xmlns:a="http://schemas.openxmlformats.org/drawingml/2006/main">
            <a:off x="590550" y="1733550"/>
            <a:ext cx="15049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98039"/>
          </a:bodyPr>
          <a:lstStyle xmlns:a="http://schemas.openxmlformats.org/drawingml/2006/main"/>
          <a:p xmlns:a="http://schemas.openxmlformats.org/drawingml/2006/main">
            <a:pPr algn="ctr">
              <a:defRPr sz="1275" b="1" i="0">
                <a:solidFill>
                  <a:srgbClr val="FFFFFF"/>
                </a:solidFill>
                <a:latin typeface="Calibri"/>
                <a:ea typeface="Calibri"/>
                <a:cs typeface="Calibri"/>
              </a:defRPr>
            </a:pPr>
            <a:r>
              <a:rPr sz="1275" b="1" i="0">
                <a:solidFill>
                  <a:srgbClr val="FFFFFF"/>
                </a:solidFill>
                <a:latin typeface="Calibri"/>
                <a:ea typeface="Calibri"/>
                <a:cs typeface="Calibri"/>
              </a:rPr>
              <a:t>Reference</a:t>
            </a:r>
          </a:p>
        </p:txBody>
      </p:sp>
      <p:sp>
        <p:nvSpPr>
          <p:cNvPr id="5" name="">
            <a:extLst xmlns:a="http://schemas.openxmlformats.org/drawingml/2006/main">
              <a:ext uri="{FF2B5EF4-FFF2-40B4-BE49-F238E27FC236}">
                <a16:creationId xmlns:a16="http://schemas.microsoft.com/office/drawing/2014/main" id="{C9F3D6B4-FC72-43E6-BA54-D8940665E632}"/>
              </a:ext>
            </a:extLst>
          </p:cNvPr>
          <p:cNvSpPr>
            <a:spLocks xmlns:a="http://schemas.openxmlformats.org/drawingml/2006/main" noGrp="1"/>
          </p:cNvSpPr>
          <p:nvPr/>
        </p:nvSpPr>
        <p:spPr>
          <a:xfrm xmlns:a="http://schemas.openxmlformats.org/drawingml/2006/main">
            <a:off x="2171700" y="1619250"/>
            <a:ext cx="2781300" cy="495300"/>
          </a:xfrm>
          <a:prstGeom xmlns:a="http://schemas.openxmlformats.org/drawingml/2006/main" prst="rect">
            <a:avLst/>
          </a:prstGeom>
          <a:solidFill xmlns:a="http://schemas.openxmlformats.org/drawingml/2006/main">
            <a:srgbClr val="1B2B45"/>
          </a:solidFill>
          <a:ln xmlns:a="http://schemas.openxmlformats.org/drawingml/2006/main" w="9525">
            <a:solidFill>
              <a:srgbClr val="FFFFFF"/>
            </a:solidFill>
            <a:prstDash val="solid"/>
          </a:ln>
        </p:spPr>
      </p:sp>
      <p:sp>
        <p:nvSpPr>
          <p:cNvPr id="6" name="">
            <a:extLst xmlns:a="http://schemas.openxmlformats.org/drawingml/2006/main">
              <a:ext uri="{FF2B5EF4-FFF2-40B4-BE49-F238E27FC236}">
                <a16:creationId xmlns:a16="http://schemas.microsoft.com/office/drawing/2014/main" id="{F7ACD4EF-1578-4C22-AF56-B5B80C2EBFC2}"/>
              </a:ext>
            </a:extLst>
          </p:cNvPr>
          <p:cNvSpPr>
            <a:spLocks xmlns:a="http://schemas.openxmlformats.org/drawingml/2006/main" noGrp="1"/>
          </p:cNvSpPr>
          <p:nvPr/>
        </p:nvSpPr>
        <p:spPr>
          <a:xfrm xmlns:a="http://schemas.openxmlformats.org/drawingml/2006/main">
            <a:off x="2247900" y="1733550"/>
            <a:ext cx="26289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98039"/>
          </a:bodyPr>
          <a:lstStyle xmlns:a="http://schemas.openxmlformats.org/drawingml/2006/main"/>
          <a:p xmlns:a="http://schemas.openxmlformats.org/drawingml/2006/main">
            <a:pPr algn="ctr">
              <a:defRPr sz="1275" b="1" i="0">
                <a:solidFill>
                  <a:srgbClr val="FFFFFF"/>
                </a:solidFill>
                <a:latin typeface="Calibri"/>
                <a:ea typeface="Calibri"/>
                <a:cs typeface="Calibri"/>
              </a:defRPr>
            </a:pPr>
            <a:r>
              <a:rPr sz="1275" b="1" i="0">
                <a:solidFill>
                  <a:srgbClr val="FFFFFF"/>
                </a:solidFill>
                <a:latin typeface="Calibri"/>
                <a:ea typeface="Calibri"/>
                <a:cs typeface="Calibri"/>
              </a:rPr>
              <a:t>Observed mechanism</a:t>
            </a:r>
          </a:p>
        </p:txBody>
      </p:sp>
      <p:sp>
        <p:nvSpPr>
          <p:cNvPr id="7" name="">
            <a:extLst xmlns:a="http://schemas.openxmlformats.org/drawingml/2006/main">
              <a:ext uri="{FF2B5EF4-FFF2-40B4-BE49-F238E27FC236}">
                <a16:creationId xmlns:a16="http://schemas.microsoft.com/office/drawing/2014/main" id="{B7E8F6AB-D0CB-418F-94FA-BED3051B0AE0}"/>
              </a:ext>
            </a:extLst>
          </p:cNvPr>
          <p:cNvSpPr>
            <a:spLocks xmlns:a="http://schemas.openxmlformats.org/drawingml/2006/main" noGrp="1"/>
          </p:cNvSpPr>
          <p:nvPr/>
        </p:nvSpPr>
        <p:spPr>
          <a:xfrm xmlns:a="http://schemas.openxmlformats.org/drawingml/2006/main">
            <a:off x="4953000" y="1619250"/>
            <a:ext cx="3257550" cy="495300"/>
          </a:xfrm>
          <a:prstGeom xmlns:a="http://schemas.openxmlformats.org/drawingml/2006/main" prst="rect">
            <a:avLst/>
          </a:prstGeom>
          <a:solidFill xmlns:a="http://schemas.openxmlformats.org/drawingml/2006/main">
            <a:srgbClr val="1B2B45"/>
          </a:solidFill>
          <a:ln xmlns:a="http://schemas.openxmlformats.org/drawingml/2006/main" w="9525">
            <a:solidFill>
              <a:srgbClr val="FFFFFF"/>
            </a:solidFill>
            <a:prstDash val="solid"/>
          </a:ln>
        </p:spPr>
      </p:sp>
      <p:sp>
        <p:nvSpPr>
          <p:cNvPr id="8" name="">
            <a:extLst xmlns:a="http://schemas.openxmlformats.org/drawingml/2006/main">
              <a:ext uri="{FF2B5EF4-FFF2-40B4-BE49-F238E27FC236}">
                <a16:creationId xmlns:a16="http://schemas.microsoft.com/office/drawing/2014/main" id="{4458CE75-3DD4-482A-BE0B-6644077F6BFE}"/>
              </a:ext>
            </a:extLst>
          </p:cNvPr>
          <p:cNvSpPr>
            <a:spLocks xmlns:a="http://schemas.openxmlformats.org/drawingml/2006/main" noGrp="1"/>
          </p:cNvSpPr>
          <p:nvPr/>
        </p:nvSpPr>
        <p:spPr>
          <a:xfrm xmlns:a="http://schemas.openxmlformats.org/drawingml/2006/main">
            <a:off x="5029200" y="1733550"/>
            <a:ext cx="31051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98039"/>
          </a:bodyPr>
          <a:lstStyle xmlns:a="http://schemas.openxmlformats.org/drawingml/2006/main"/>
          <a:p xmlns:a="http://schemas.openxmlformats.org/drawingml/2006/main">
            <a:pPr algn="ctr">
              <a:defRPr sz="1275" b="1" i="0">
                <a:solidFill>
                  <a:srgbClr val="FFFFFF"/>
                </a:solidFill>
                <a:latin typeface="Calibri"/>
                <a:ea typeface="Calibri"/>
                <a:cs typeface="Calibri"/>
              </a:defRPr>
            </a:pPr>
            <a:r>
              <a:rPr sz="1275" b="1" i="0">
                <a:solidFill>
                  <a:srgbClr val="FFFFFF"/>
                </a:solidFill>
                <a:latin typeface="Calibri"/>
                <a:ea typeface="Calibri"/>
                <a:cs typeface="Calibri"/>
              </a:rPr>
              <a:t>Lesson for this case</a:t>
            </a:r>
          </a:p>
        </p:txBody>
      </p:sp>
      <p:sp>
        <p:nvSpPr>
          <p:cNvPr id="9" name="">
            <a:extLst xmlns:a="http://schemas.openxmlformats.org/drawingml/2006/main">
              <a:ext uri="{FF2B5EF4-FFF2-40B4-BE49-F238E27FC236}">
                <a16:creationId xmlns:a16="http://schemas.microsoft.com/office/drawing/2014/main" id="{1C464C75-79D4-4091-B93F-7F7F91D1E6FF}"/>
              </a:ext>
            </a:extLst>
          </p:cNvPr>
          <p:cNvSpPr>
            <a:spLocks xmlns:a="http://schemas.openxmlformats.org/drawingml/2006/main" noGrp="1"/>
          </p:cNvSpPr>
          <p:nvPr/>
        </p:nvSpPr>
        <p:spPr>
          <a:xfrm xmlns:a="http://schemas.openxmlformats.org/drawingml/2006/main">
            <a:off x="8210550" y="1619250"/>
            <a:ext cx="2743200" cy="495300"/>
          </a:xfrm>
          <a:prstGeom xmlns:a="http://schemas.openxmlformats.org/drawingml/2006/main" prst="rect">
            <a:avLst/>
          </a:prstGeom>
          <a:solidFill xmlns:a="http://schemas.openxmlformats.org/drawingml/2006/main">
            <a:srgbClr val="1B2B45"/>
          </a:solidFill>
          <a:ln xmlns:a="http://schemas.openxmlformats.org/drawingml/2006/main" w="9525">
            <a:solidFill>
              <a:srgbClr val="FFFFFF"/>
            </a:solidFill>
            <a:prstDash val="solid"/>
          </a:ln>
        </p:spPr>
      </p:sp>
      <p:sp>
        <p:nvSpPr>
          <p:cNvPr id="10" name="">
            <a:extLst xmlns:a="http://schemas.openxmlformats.org/drawingml/2006/main">
              <a:ext uri="{FF2B5EF4-FFF2-40B4-BE49-F238E27FC236}">
                <a16:creationId xmlns:a16="http://schemas.microsoft.com/office/drawing/2014/main" id="{5C707A76-BFE4-431A-935A-843DF8982B9D}"/>
              </a:ext>
            </a:extLst>
          </p:cNvPr>
          <p:cNvSpPr>
            <a:spLocks xmlns:a="http://schemas.openxmlformats.org/drawingml/2006/main" noGrp="1"/>
          </p:cNvSpPr>
          <p:nvPr/>
        </p:nvSpPr>
        <p:spPr>
          <a:xfrm xmlns:a="http://schemas.openxmlformats.org/drawingml/2006/main">
            <a:off x="8286750" y="1733550"/>
            <a:ext cx="25908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98039"/>
          </a:bodyPr>
          <a:lstStyle xmlns:a="http://schemas.openxmlformats.org/drawingml/2006/main"/>
          <a:p xmlns:a="http://schemas.openxmlformats.org/drawingml/2006/main">
            <a:pPr algn="ctr">
              <a:defRPr sz="1275" b="1" i="0">
                <a:solidFill>
                  <a:srgbClr val="FFFFFF"/>
                </a:solidFill>
                <a:latin typeface="Calibri"/>
                <a:ea typeface="Calibri"/>
                <a:cs typeface="Calibri"/>
              </a:defRPr>
            </a:pPr>
            <a:r>
              <a:rPr sz="1275" b="1" i="0">
                <a:solidFill>
                  <a:srgbClr val="FFFFFF"/>
                </a:solidFill>
                <a:latin typeface="Calibri"/>
                <a:ea typeface="Calibri"/>
                <a:cs typeface="Calibri"/>
              </a:rPr>
              <a:t>Boundary</a:t>
            </a:r>
          </a:p>
        </p:txBody>
      </p:sp>
      <p:sp>
        <p:nvSpPr>
          <p:cNvPr id="11" name="">
            <a:extLst xmlns:a="http://schemas.openxmlformats.org/drawingml/2006/main">
              <a:ext uri="{FF2B5EF4-FFF2-40B4-BE49-F238E27FC236}">
                <a16:creationId xmlns:a16="http://schemas.microsoft.com/office/drawing/2014/main" id="{8446E307-D6DE-4BC2-8259-E74F982D52F9}"/>
              </a:ext>
            </a:extLst>
          </p:cNvPr>
          <p:cNvSpPr>
            <a:spLocks xmlns:a="http://schemas.openxmlformats.org/drawingml/2006/main" noGrp="1"/>
          </p:cNvSpPr>
          <p:nvPr/>
        </p:nvSpPr>
        <p:spPr>
          <a:xfrm xmlns:a="http://schemas.openxmlformats.org/drawingml/2006/main">
            <a:off x="514350" y="2114550"/>
            <a:ext cx="1657350" cy="742950"/>
          </a:xfrm>
          <a:prstGeom xmlns:a="http://schemas.openxmlformats.org/drawingml/2006/main" prst="rect">
            <a:avLst/>
          </a:prstGeom>
          <a:solidFill xmlns:a="http://schemas.openxmlformats.org/drawingml/2006/main">
            <a:srgbClr val="FFFFFF"/>
          </a:solidFill>
          <a:ln xmlns:a="http://schemas.openxmlformats.org/drawingml/2006/main" w="9525">
            <a:solidFill>
              <a:srgbClr val="E8ECF1"/>
            </a:solidFill>
            <a:prstDash val="solid"/>
          </a:ln>
        </p:spPr>
      </p:sp>
      <p:sp>
        <p:nvSpPr>
          <p:cNvPr id="12" name="">
            <a:extLst xmlns:a="http://schemas.openxmlformats.org/drawingml/2006/main">
              <a:ext uri="{FF2B5EF4-FFF2-40B4-BE49-F238E27FC236}">
                <a16:creationId xmlns:a16="http://schemas.microsoft.com/office/drawing/2014/main" id="{BC42AF6C-622E-476E-94F6-C08BD8596581}"/>
              </a:ext>
            </a:extLst>
          </p:cNvPr>
          <p:cNvSpPr>
            <a:spLocks xmlns:a="http://schemas.openxmlformats.org/drawingml/2006/main" noGrp="1"/>
          </p:cNvSpPr>
          <p:nvPr/>
        </p:nvSpPr>
        <p:spPr>
          <a:xfrm xmlns:a="http://schemas.openxmlformats.org/drawingml/2006/main">
            <a:off x="609600" y="2209800"/>
            <a:ext cx="14668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ctr">
            <a:normAutofit fontScale="100000"/>
          </a:bodyPr>
          <a:lstStyle xmlns:a="http://schemas.openxmlformats.org/drawingml/2006/main"/>
          <a:p xmlns:a="http://schemas.openxmlformats.org/drawingml/2006/main">
            <a:pPr algn="l">
              <a:defRPr sz="1350" b="1" i="0">
                <a:solidFill>
                  <a:srgbClr val="1B2B45"/>
                </a:solidFill>
                <a:latin typeface="Calibri"/>
                <a:ea typeface="Calibri"/>
                <a:cs typeface="Calibri"/>
              </a:defRPr>
            </a:pPr>
            <a:r>
              <a:rPr sz="1350" b="1" i="0">
                <a:solidFill>
                  <a:srgbClr val="1B2B45"/>
                </a:solidFill>
                <a:latin typeface="Calibri"/>
                <a:ea typeface="Calibri"/>
                <a:cs typeface="Calibri"/>
              </a:rPr>
              <a:t>Uber HYD</a:t>
            </a:r>
          </a:p>
        </p:txBody>
      </p:sp>
      <p:sp>
        <p:nvSpPr>
          <p:cNvPr id="13" name="">
            <a:extLst xmlns:a="http://schemas.openxmlformats.org/drawingml/2006/main">
              <a:ext uri="{FF2B5EF4-FFF2-40B4-BE49-F238E27FC236}">
                <a16:creationId xmlns:a16="http://schemas.microsoft.com/office/drawing/2014/main" id="{7ADB29CA-D57E-4E54-801D-AEE9EEF61E18}"/>
              </a:ext>
            </a:extLst>
          </p:cNvPr>
          <p:cNvSpPr>
            <a:spLocks xmlns:a="http://schemas.openxmlformats.org/drawingml/2006/main" noGrp="1"/>
          </p:cNvSpPr>
          <p:nvPr/>
        </p:nvSpPr>
        <p:spPr>
          <a:xfrm xmlns:a="http://schemas.openxmlformats.org/drawingml/2006/main">
            <a:off x="2171700" y="2114550"/>
            <a:ext cx="2781300" cy="742950"/>
          </a:xfrm>
          <a:prstGeom xmlns:a="http://schemas.openxmlformats.org/drawingml/2006/main" prst="rect">
            <a:avLst/>
          </a:prstGeom>
          <a:solidFill xmlns:a="http://schemas.openxmlformats.org/drawingml/2006/main">
            <a:srgbClr val="FFFFFF"/>
          </a:solidFill>
          <a:ln xmlns:a="http://schemas.openxmlformats.org/drawingml/2006/main" w="9525">
            <a:solidFill>
              <a:srgbClr val="E8ECF1"/>
            </a:solidFill>
            <a:prstDash val="solid"/>
          </a:ln>
        </p:spPr>
      </p:sp>
      <p:sp>
        <p:nvSpPr>
          <p:cNvPr id="14" name="">
            <a:extLst xmlns:a="http://schemas.openxmlformats.org/drawingml/2006/main">
              <a:ext uri="{FF2B5EF4-FFF2-40B4-BE49-F238E27FC236}">
                <a16:creationId xmlns:a16="http://schemas.microsoft.com/office/drawing/2014/main" id="{B49951A6-24AB-41D3-804A-2DAD8C75B8A8}"/>
              </a:ext>
            </a:extLst>
          </p:cNvPr>
          <p:cNvSpPr>
            <a:spLocks xmlns:a="http://schemas.openxmlformats.org/drawingml/2006/main" noGrp="1"/>
          </p:cNvSpPr>
          <p:nvPr/>
        </p:nvSpPr>
        <p:spPr>
          <a:xfrm xmlns:a="http://schemas.openxmlformats.org/drawingml/2006/main">
            <a:off x="2266950" y="2209800"/>
            <a:ext cx="25908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ctr">
            <a:normAutofit fontScale="100000"/>
          </a:bodyPr>
          <a:lstStyle xmlns:a="http://schemas.openxmlformats.org/drawingml/2006/main"/>
          <a:p xmlns:a="http://schemas.openxmlformats.org/drawingml/2006/main">
            <a:pPr algn="l">
              <a:defRPr sz="1200" b="0" i="0">
                <a:solidFill>
                  <a:srgbClr val="233248"/>
                </a:solidFill>
                <a:latin typeface="Calibri"/>
                <a:ea typeface="Calibri"/>
                <a:cs typeface="Calibri"/>
              </a:defRPr>
            </a:pPr>
            <a:r>
              <a:rPr sz="1200" b="0" i="0">
                <a:solidFill>
                  <a:srgbClr val="233248"/>
                </a:solidFill>
                <a:latin typeface="Calibri"/>
                <a:ea typeface="Calibri"/>
                <a:cs typeface="Calibri"/>
              </a:rPr>
              <a:t>In-app directions and D1 pickup zone</a:t>
            </a:r>
          </a:p>
        </p:txBody>
      </p:sp>
      <p:sp>
        <p:nvSpPr>
          <p:cNvPr id="15" name="">
            <a:extLst xmlns:a="http://schemas.openxmlformats.org/drawingml/2006/main">
              <a:ext uri="{FF2B5EF4-FFF2-40B4-BE49-F238E27FC236}">
                <a16:creationId xmlns:a16="http://schemas.microsoft.com/office/drawing/2014/main" id="{CBB59280-7403-48A0-9163-740751D9275A}"/>
              </a:ext>
            </a:extLst>
          </p:cNvPr>
          <p:cNvSpPr>
            <a:spLocks xmlns:a="http://schemas.openxmlformats.org/drawingml/2006/main" noGrp="1"/>
          </p:cNvSpPr>
          <p:nvPr/>
        </p:nvSpPr>
        <p:spPr>
          <a:xfrm xmlns:a="http://schemas.openxmlformats.org/drawingml/2006/main">
            <a:off x="4953000" y="2114550"/>
            <a:ext cx="3257550" cy="742950"/>
          </a:xfrm>
          <a:prstGeom xmlns:a="http://schemas.openxmlformats.org/drawingml/2006/main" prst="rect">
            <a:avLst/>
          </a:prstGeom>
          <a:solidFill xmlns:a="http://schemas.openxmlformats.org/drawingml/2006/main">
            <a:srgbClr val="FFFFFF"/>
          </a:solidFill>
          <a:ln xmlns:a="http://schemas.openxmlformats.org/drawingml/2006/main" w="9525">
            <a:solidFill>
              <a:srgbClr val="E8ECF1"/>
            </a:solidFill>
            <a:prstDash val="solid"/>
          </a:ln>
        </p:spPr>
      </p:sp>
      <p:sp>
        <p:nvSpPr>
          <p:cNvPr id="16" name="">
            <a:extLst xmlns:a="http://schemas.openxmlformats.org/drawingml/2006/main">
              <a:ext uri="{FF2B5EF4-FFF2-40B4-BE49-F238E27FC236}">
                <a16:creationId xmlns:a16="http://schemas.microsoft.com/office/drawing/2014/main" id="{186F0785-4CA3-4955-9FF8-AFB91B5ED7E4}"/>
              </a:ext>
            </a:extLst>
          </p:cNvPr>
          <p:cNvSpPr>
            <a:spLocks xmlns:a="http://schemas.openxmlformats.org/drawingml/2006/main" noGrp="1"/>
          </p:cNvSpPr>
          <p:nvPr/>
        </p:nvSpPr>
        <p:spPr>
          <a:xfrm xmlns:a="http://schemas.openxmlformats.org/drawingml/2006/main">
            <a:off x="5048250" y="2209800"/>
            <a:ext cx="30670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ctr">
            <a:normAutofit fontScale="100000"/>
          </a:bodyPr>
          <a:lstStyle xmlns:a="http://schemas.openxmlformats.org/drawingml/2006/main"/>
          <a:p xmlns:a="http://schemas.openxmlformats.org/drawingml/2006/main">
            <a:pPr algn="l">
              <a:defRPr sz="1200" b="0" i="0">
                <a:solidFill>
                  <a:srgbClr val="233248"/>
                </a:solidFill>
                <a:latin typeface="Calibri"/>
                <a:ea typeface="Calibri"/>
                <a:cs typeface="Calibri"/>
              </a:defRPr>
            </a:pPr>
            <a:r>
              <a:rPr sz="1200" b="0" i="0">
                <a:solidFill>
                  <a:srgbClr val="233248"/>
                </a:solidFill>
                <a:latin typeface="Calibri"/>
                <a:ea typeface="Calibri"/>
                <a:cs typeface="Calibri"/>
              </a:rPr>
              <a:t>Baseline exists; test coverage and failed coordination</a:t>
            </a:r>
          </a:p>
        </p:txBody>
      </p:sp>
      <p:sp>
        <p:nvSpPr>
          <p:cNvPr id="17" name="">
            <a:extLst xmlns:a="http://schemas.openxmlformats.org/drawingml/2006/main">
              <a:ext uri="{FF2B5EF4-FFF2-40B4-BE49-F238E27FC236}">
                <a16:creationId xmlns:a16="http://schemas.microsoft.com/office/drawing/2014/main" id="{DD6F5E18-5F1A-4F49-91D0-422EA7DD23B1}"/>
              </a:ext>
            </a:extLst>
          </p:cNvPr>
          <p:cNvSpPr>
            <a:spLocks xmlns:a="http://schemas.openxmlformats.org/drawingml/2006/main" noGrp="1"/>
          </p:cNvSpPr>
          <p:nvPr/>
        </p:nvSpPr>
        <p:spPr>
          <a:xfrm xmlns:a="http://schemas.openxmlformats.org/drawingml/2006/main">
            <a:off x="8210550" y="2114550"/>
            <a:ext cx="2743200" cy="742950"/>
          </a:xfrm>
          <a:prstGeom xmlns:a="http://schemas.openxmlformats.org/drawingml/2006/main" prst="rect">
            <a:avLst/>
          </a:prstGeom>
          <a:solidFill xmlns:a="http://schemas.openxmlformats.org/drawingml/2006/main">
            <a:srgbClr val="FFFFFF"/>
          </a:solidFill>
          <a:ln xmlns:a="http://schemas.openxmlformats.org/drawingml/2006/main" w="9525">
            <a:solidFill>
              <a:srgbClr val="E8ECF1"/>
            </a:solidFill>
            <a:prstDash val="solid"/>
          </a:ln>
        </p:spPr>
      </p:sp>
      <p:sp>
        <p:nvSpPr>
          <p:cNvPr id="18" name="">
            <a:extLst xmlns:a="http://schemas.openxmlformats.org/drawingml/2006/main">
              <a:ext uri="{FF2B5EF4-FFF2-40B4-BE49-F238E27FC236}">
                <a16:creationId xmlns:a16="http://schemas.microsoft.com/office/drawing/2014/main" id="{243F133D-DF2E-4F11-894E-2CDACF38A75A}"/>
              </a:ext>
            </a:extLst>
          </p:cNvPr>
          <p:cNvSpPr>
            <a:spLocks xmlns:a="http://schemas.openxmlformats.org/drawingml/2006/main" noGrp="1"/>
          </p:cNvSpPr>
          <p:nvPr/>
        </p:nvSpPr>
        <p:spPr>
          <a:xfrm xmlns:a="http://schemas.openxmlformats.org/drawingml/2006/main">
            <a:off x="8305800" y="2209800"/>
            <a:ext cx="25527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ctr">
            <a:normAutofit fontScale="100000"/>
          </a:bodyPr>
          <a:lstStyle xmlns:a="http://schemas.openxmlformats.org/drawingml/2006/main"/>
          <a:p xmlns:a="http://schemas.openxmlformats.org/drawingml/2006/main">
            <a:pPr algn="l">
              <a:defRPr sz="1200" b="0" i="0">
                <a:solidFill>
                  <a:srgbClr val="233248"/>
                </a:solidFill>
                <a:latin typeface="Calibri"/>
                <a:ea typeface="Calibri"/>
                <a:cs typeface="Calibri"/>
              </a:defRPr>
            </a:pPr>
            <a:r>
              <a:rPr sz="1200" b="0" i="0">
                <a:solidFill>
                  <a:srgbClr val="233248"/>
                </a:solidFill>
                <a:latin typeface="Calibri"/>
                <a:ea typeface="Calibri"/>
                <a:cs typeface="Calibri"/>
              </a:rPr>
              <a:t>Airport-only evidence</a:t>
            </a:r>
          </a:p>
        </p:txBody>
      </p:sp>
      <p:sp>
        <p:nvSpPr>
          <p:cNvPr id="19" name="">
            <a:extLst xmlns:a="http://schemas.openxmlformats.org/drawingml/2006/main">
              <a:ext uri="{FF2B5EF4-FFF2-40B4-BE49-F238E27FC236}">
                <a16:creationId xmlns:a16="http://schemas.microsoft.com/office/drawing/2014/main" id="{5F009817-B86A-4E0F-9067-BFD704A92C44}"/>
              </a:ext>
            </a:extLst>
          </p:cNvPr>
          <p:cNvSpPr>
            <a:spLocks xmlns:a="http://schemas.openxmlformats.org/drawingml/2006/main" noGrp="1"/>
          </p:cNvSpPr>
          <p:nvPr/>
        </p:nvSpPr>
        <p:spPr>
          <a:xfrm xmlns:a="http://schemas.openxmlformats.org/drawingml/2006/main">
            <a:off x="514350" y="2857500"/>
            <a:ext cx="1657350" cy="742950"/>
          </a:xfrm>
          <a:prstGeom xmlns:a="http://schemas.openxmlformats.org/drawingml/2006/main" prst="rect">
            <a:avLst/>
          </a:prstGeom>
          <a:solidFill xmlns:a="http://schemas.openxmlformats.org/drawingml/2006/main">
            <a:srgbClr val="F8F9FB"/>
          </a:solidFill>
          <a:ln xmlns:a="http://schemas.openxmlformats.org/drawingml/2006/main" w="9525">
            <a:solidFill>
              <a:srgbClr val="E8ECF1"/>
            </a:solidFill>
            <a:prstDash val="solid"/>
          </a:ln>
        </p:spPr>
      </p:sp>
      <p:sp>
        <p:nvSpPr>
          <p:cNvPr id="20" name="">
            <a:extLst xmlns:a="http://schemas.openxmlformats.org/drawingml/2006/main">
              <a:ext uri="{FF2B5EF4-FFF2-40B4-BE49-F238E27FC236}">
                <a16:creationId xmlns:a16="http://schemas.microsoft.com/office/drawing/2014/main" id="{511E3ADA-063E-4798-BCEA-B06D4FB1920B}"/>
              </a:ext>
            </a:extLst>
          </p:cNvPr>
          <p:cNvSpPr>
            <a:spLocks xmlns:a="http://schemas.openxmlformats.org/drawingml/2006/main" noGrp="1"/>
          </p:cNvSpPr>
          <p:nvPr/>
        </p:nvSpPr>
        <p:spPr>
          <a:xfrm xmlns:a="http://schemas.openxmlformats.org/drawingml/2006/main">
            <a:off x="609600" y="2952750"/>
            <a:ext cx="14668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ctr">
            <a:normAutofit fontScale="100000"/>
          </a:bodyPr>
          <a:lstStyle xmlns:a="http://schemas.openxmlformats.org/drawingml/2006/main"/>
          <a:p xmlns:a="http://schemas.openxmlformats.org/drawingml/2006/main">
            <a:pPr algn="l">
              <a:defRPr sz="1350" b="1" i="0">
                <a:solidFill>
                  <a:srgbClr val="1B2B45"/>
                </a:solidFill>
                <a:latin typeface="Calibri"/>
                <a:ea typeface="Calibri"/>
                <a:cs typeface="Calibri"/>
              </a:defRPr>
            </a:pPr>
            <a:r>
              <a:rPr sz="1350" b="1" i="0">
                <a:solidFill>
                  <a:srgbClr val="1B2B45"/>
                </a:solidFill>
                <a:latin typeface="Calibri"/>
                <a:ea typeface="Calibri"/>
                <a:cs typeface="Calibri"/>
              </a:rPr>
              <a:t>Grab</a:t>
            </a:r>
          </a:p>
        </p:txBody>
      </p:sp>
      <p:sp>
        <p:nvSpPr>
          <p:cNvPr id="21" name="">
            <a:extLst xmlns:a="http://schemas.openxmlformats.org/drawingml/2006/main">
              <a:ext uri="{FF2B5EF4-FFF2-40B4-BE49-F238E27FC236}">
                <a16:creationId xmlns:a16="http://schemas.microsoft.com/office/drawing/2014/main" id="{FB937291-DA38-4DA1-A950-4AE778E76BFC}"/>
              </a:ext>
            </a:extLst>
          </p:cNvPr>
          <p:cNvSpPr>
            <a:spLocks xmlns:a="http://schemas.openxmlformats.org/drawingml/2006/main" noGrp="1"/>
          </p:cNvSpPr>
          <p:nvPr/>
        </p:nvSpPr>
        <p:spPr>
          <a:xfrm xmlns:a="http://schemas.openxmlformats.org/drawingml/2006/main">
            <a:off x="2171700" y="2857500"/>
            <a:ext cx="2781300" cy="742950"/>
          </a:xfrm>
          <a:prstGeom xmlns:a="http://schemas.openxmlformats.org/drawingml/2006/main" prst="rect">
            <a:avLst/>
          </a:prstGeom>
          <a:solidFill xmlns:a="http://schemas.openxmlformats.org/drawingml/2006/main">
            <a:srgbClr val="F8F9FB"/>
          </a:solidFill>
          <a:ln xmlns:a="http://schemas.openxmlformats.org/drawingml/2006/main" w="9525">
            <a:solidFill>
              <a:srgbClr val="E8ECF1"/>
            </a:solidFill>
            <a:prstDash val="solid"/>
          </a:ln>
        </p:spPr>
      </p:sp>
      <p:sp>
        <p:nvSpPr>
          <p:cNvPr id="22" name="">
            <a:extLst xmlns:a="http://schemas.openxmlformats.org/drawingml/2006/main">
              <a:ext uri="{FF2B5EF4-FFF2-40B4-BE49-F238E27FC236}">
                <a16:creationId xmlns:a16="http://schemas.microsoft.com/office/drawing/2014/main" id="{B87E9B74-D79B-4C11-91B3-26D10E459BF0}"/>
              </a:ext>
            </a:extLst>
          </p:cNvPr>
          <p:cNvSpPr>
            <a:spLocks xmlns:a="http://schemas.openxmlformats.org/drawingml/2006/main" noGrp="1"/>
          </p:cNvSpPr>
          <p:nvPr/>
        </p:nvSpPr>
        <p:spPr>
          <a:xfrm xmlns:a="http://schemas.openxmlformats.org/drawingml/2006/main">
            <a:off x="2266950" y="2952750"/>
            <a:ext cx="25908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ctr">
            <a:normAutofit fontScale="100000"/>
          </a:bodyPr>
          <a:lstStyle xmlns:a="http://schemas.openxmlformats.org/drawingml/2006/main"/>
          <a:p xmlns:a="http://schemas.openxmlformats.org/drawingml/2006/main">
            <a:pPr algn="l">
              <a:defRPr sz="1200" b="0" i="0">
                <a:solidFill>
                  <a:srgbClr val="233248"/>
                </a:solidFill>
                <a:latin typeface="Calibri"/>
                <a:ea typeface="Calibri"/>
                <a:cs typeface="Calibri"/>
              </a:defRPr>
            </a:pPr>
            <a:r>
              <a:rPr sz="1200" b="0" i="0">
                <a:solidFill>
                  <a:srgbClr val="233248"/>
                </a:solidFill>
                <a:latin typeface="Calibri"/>
                <a:ea typeface="Calibri"/>
                <a:cs typeface="Calibri"/>
              </a:rPr>
              <a:t>Venue visuals and curated meeting points</a:t>
            </a:r>
          </a:p>
        </p:txBody>
      </p:sp>
      <p:sp>
        <p:nvSpPr>
          <p:cNvPr id="23" name="">
            <a:extLst xmlns:a="http://schemas.openxmlformats.org/drawingml/2006/main">
              <a:ext uri="{FF2B5EF4-FFF2-40B4-BE49-F238E27FC236}">
                <a16:creationId xmlns:a16="http://schemas.microsoft.com/office/drawing/2014/main" id="{BBBAC841-7BAE-44F0-BDCD-F89B61C1682F}"/>
              </a:ext>
            </a:extLst>
          </p:cNvPr>
          <p:cNvSpPr>
            <a:spLocks xmlns:a="http://schemas.openxmlformats.org/drawingml/2006/main" noGrp="1"/>
          </p:cNvSpPr>
          <p:nvPr/>
        </p:nvSpPr>
        <p:spPr>
          <a:xfrm xmlns:a="http://schemas.openxmlformats.org/drawingml/2006/main">
            <a:off x="4953000" y="2857500"/>
            <a:ext cx="3257550" cy="742950"/>
          </a:xfrm>
          <a:prstGeom xmlns:a="http://schemas.openxmlformats.org/drawingml/2006/main" prst="rect">
            <a:avLst/>
          </a:prstGeom>
          <a:solidFill xmlns:a="http://schemas.openxmlformats.org/drawingml/2006/main">
            <a:srgbClr val="F8F9FB"/>
          </a:solidFill>
          <a:ln xmlns:a="http://schemas.openxmlformats.org/drawingml/2006/main" w="9525">
            <a:solidFill>
              <a:srgbClr val="E8ECF1"/>
            </a:solidFill>
            <a:prstDash val="solid"/>
          </a:ln>
        </p:spPr>
      </p:sp>
      <p:sp>
        <p:nvSpPr>
          <p:cNvPr id="24" name="">
            <a:extLst xmlns:a="http://schemas.openxmlformats.org/drawingml/2006/main">
              <a:ext uri="{FF2B5EF4-FFF2-40B4-BE49-F238E27FC236}">
                <a16:creationId xmlns:a16="http://schemas.microsoft.com/office/drawing/2014/main" id="{80852DDF-CF27-4234-8B5D-23E6E1DF24F5}"/>
              </a:ext>
            </a:extLst>
          </p:cNvPr>
          <p:cNvSpPr>
            <a:spLocks xmlns:a="http://schemas.openxmlformats.org/drawingml/2006/main" noGrp="1"/>
          </p:cNvSpPr>
          <p:nvPr/>
        </p:nvSpPr>
        <p:spPr>
          <a:xfrm xmlns:a="http://schemas.openxmlformats.org/drawingml/2006/main">
            <a:off x="5048250" y="2952750"/>
            <a:ext cx="30670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ctr">
            <a:normAutofit fontScale="100000"/>
          </a:bodyPr>
          <a:lstStyle xmlns:a="http://schemas.openxmlformats.org/drawingml/2006/main"/>
          <a:p xmlns:a="http://schemas.openxmlformats.org/drawingml/2006/main">
            <a:pPr algn="l">
              <a:defRPr sz="1200" b="0" i="0">
                <a:solidFill>
                  <a:srgbClr val="233248"/>
                </a:solidFill>
                <a:latin typeface="Calibri"/>
                <a:ea typeface="Calibri"/>
                <a:cs typeface="Calibri"/>
              </a:defRPr>
            </a:pPr>
            <a:r>
              <a:rPr sz="1200" b="0" i="0">
                <a:solidFill>
                  <a:srgbClr val="233248"/>
                </a:solidFill>
                <a:latin typeface="Calibri"/>
                <a:ea typeface="Calibri"/>
                <a:cs typeface="Calibri"/>
              </a:rPr>
              <a:t>Make landmarks and paths concrete</a:t>
            </a:r>
          </a:p>
        </p:txBody>
      </p:sp>
      <p:sp>
        <p:nvSpPr>
          <p:cNvPr id="25" name="">
            <a:extLst xmlns:a="http://schemas.openxmlformats.org/drawingml/2006/main">
              <a:ext uri="{FF2B5EF4-FFF2-40B4-BE49-F238E27FC236}">
                <a16:creationId xmlns:a16="http://schemas.microsoft.com/office/drawing/2014/main" id="{20770811-6D04-4880-AD6F-9027E777581C}"/>
              </a:ext>
            </a:extLst>
          </p:cNvPr>
          <p:cNvSpPr>
            <a:spLocks xmlns:a="http://schemas.openxmlformats.org/drawingml/2006/main" noGrp="1"/>
          </p:cNvSpPr>
          <p:nvPr/>
        </p:nvSpPr>
        <p:spPr>
          <a:xfrm xmlns:a="http://schemas.openxmlformats.org/drawingml/2006/main">
            <a:off x="8210550" y="2857500"/>
            <a:ext cx="2743200" cy="742950"/>
          </a:xfrm>
          <a:prstGeom xmlns:a="http://schemas.openxmlformats.org/drawingml/2006/main" prst="rect">
            <a:avLst/>
          </a:prstGeom>
          <a:solidFill xmlns:a="http://schemas.openxmlformats.org/drawingml/2006/main">
            <a:srgbClr val="F8F9FB"/>
          </a:solidFill>
          <a:ln xmlns:a="http://schemas.openxmlformats.org/drawingml/2006/main" w="9525">
            <a:solidFill>
              <a:srgbClr val="E8ECF1"/>
            </a:solidFill>
            <a:prstDash val="solid"/>
          </a:ln>
        </p:spPr>
      </p:sp>
      <p:sp>
        <p:nvSpPr>
          <p:cNvPr id="26" name="">
            <a:extLst xmlns:a="http://schemas.openxmlformats.org/drawingml/2006/main">
              <a:ext uri="{FF2B5EF4-FFF2-40B4-BE49-F238E27FC236}">
                <a16:creationId xmlns:a16="http://schemas.microsoft.com/office/drawing/2014/main" id="{CF65458A-E656-45B4-B8EF-D757245CE0E9}"/>
              </a:ext>
            </a:extLst>
          </p:cNvPr>
          <p:cNvSpPr>
            <a:spLocks xmlns:a="http://schemas.openxmlformats.org/drawingml/2006/main" noGrp="1"/>
          </p:cNvSpPr>
          <p:nvPr/>
        </p:nvSpPr>
        <p:spPr>
          <a:xfrm xmlns:a="http://schemas.openxmlformats.org/drawingml/2006/main">
            <a:off x="8305800" y="2952750"/>
            <a:ext cx="25527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ctr">
            <a:normAutofit fontScale="100000"/>
          </a:bodyPr>
          <a:lstStyle xmlns:a="http://schemas.openxmlformats.org/drawingml/2006/main"/>
          <a:p xmlns:a="http://schemas.openxmlformats.org/drawingml/2006/main">
            <a:pPr algn="l">
              <a:defRPr sz="1200" b="0" i="0">
                <a:solidFill>
                  <a:srgbClr val="233248"/>
                </a:solidFill>
                <a:latin typeface="Calibri"/>
                <a:ea typeface="Calibri"/>
                <a:cs typeface="Calibri"/>
              </a:defRPr>
            </a:pPr>
            <a:r>
              <a:rPr sz="1200" b="0" i="0">
                <a:solidFill>
                  <a:srgbClr val="233248"/>
                </a:solidFill>
                <a:latin typeface="Calibri"/>
                <a:ea typeface="Calibri"/>
                <a:cs typeface="Calibri"/>
              </a:rPr>
              <a:t>Global / experimental claims</a:t>
            </a:r>
          </a:p>
        </p:txBody>
      </p:sp>
      <p:sp>
        <p:nvSpPr>
          <p:cNvPr id="27" name="">
            <a:extLst xmlns:a="http://schemas.openxmlformats.org/drawingml/2006/main">
              <a:ext uri="{FF2B5EF4-FFF2-40B4-BE49-F238E27FC236}">
                <a16:creationId xmlns:a16="http://schemas.microsoft.com/office/drawing/2014/main" id="{E5426079-025D-4633-8131-47B7B046112F}"/>
              </a:ext>
            </a:extLst>
          </p:cNvPr>
          <p:cNvSpPr>
            <a:spLocks xmlns:a="http://schemas.openxmlformats.org/drawingml/2006/main" noGrp="1"/>
          </p:cNvSpPr>
          <p:nvPr/>
        </p:nvSpPr>
        <p:spPr>
          <a:xfrm xmlns:a="http://schemas.openxmlformats.org/drawingml/2006/main">
            <a:off x="514350" y="3600450"/>
            <a:ext cx="1657350" cy="742950"/>
          </a:xfrm>
          <a:prstGeom xmlns:a="http://schemas.openxmlformats.org/drawingml/2006/main" prst="rect">
            <a:avLst/>
          </a:prstGeom>
          <a:solidFill xmlns:a="http://schemas.openxmlformats.org/drawingml/2006/main">
            <a:srgbClr val="FFFFFF"/>
          </a:solidFill>
          <a:ln xmlns:a="http://schemas.openxmlformats.org/drawingml/2006/main" w="9525">
            <a:solidFill>
              <a:srgbClr val="E8ECF1"/>
            </a:solidFill>
            <a:prstDash val="solid"/>
          </a:ln>
        </p:spPr>
      </p:sp>
      <p:sp>
        <p:nvSpPr>
          <p:cNvPr id="28" name="">
            <a:extLst xmlns:a="http://schemas.openxmlformats.org/drawingml/2006/main">
              <a:ext uri="{FF2B5EF4-FFF2-40B4-BE49-F238E27FC236}">
                <a16:creationId xmlns:a16="http://schemas.microsoft.com/office/drawing/2014/main" id="{A5DA5E3E-5D61-439E-9BAE-ADA7F35CD5A5}"/>
              </a:ext>
            </a:extLst>
          </p:cNvPr>
          <p:cNvSpPr>
            <a:spLocks xmlns:a="http://schemas.openxmlformats.org/drawingml/2006/main" noGrp="1"/>
          </p:cNvSpPr>
          <p:nvPr/>
        </p:nvSpPr>
        <p:spPr>
          <a:xfrm xmlns:a="http://schemas.openxmlformats.org/drawingml/2006/main">
            <a:off x="609600" y="3695700"/>
            <a:ext cx="14668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ctr">
            <a:normAutofit fontScale="100000"/>
          </a:bodyPr>
          <a:lstStyle xmlns:a="http://schemas.openxmlformats.org/drawingml/2006/main"/>
          <a:p xmlns:a="http://schemas.openxmlformats.org/drawingml/2006/main">
            <a:pPr algn="l">
              <a:defRPr sz="1350" b="1" i="0">
                <a:solidFill>
                  <a:srgbClr val="1B2B45"/>
                </a:solidFill>
                <a:latin typeface="Calibri"/>
                <a:ea typeface="Calibri"/>
                <a:cs typeface="Calibri"/>
              </a:defRPr>
            </a:pPr>
            <a:r>
              <a:rPr sz="1350" b="1" i="0">
                <a:solidFill>
                  <a:srgbClr val="1B2B45"/>
                </a:solidFill>
                <a:latin typeface="Calibri"/>
                <a:ea typeface="Calibri"/>
                <a:cs typeface="Calibri"/>
              </a:rPr>
              <a:t>Lyft</a:t>
            </a:r>
          </a:p>
        </p:txBody>
      </p:sp>
      <p:sp>
        <p:nvSpPr>
          <p:cNvPr id="29" name="">
            <a:extLst xmlns:a="http://schemas.openxmlformats.org/drawingml/2006/main">
              <a:ext uri="{FF2B5EF4-FFF2-40B4-BE49-F238E27FC236}">
                <a16:creationId xmlns:a16="http://schemas.microsoft.com/office/drawing/2014/main" id="{8830AC08-20BD-4BCF-B269-02FA6F1CFE4D}"/>
              </a:ext>
            </a:extLst>
          </p:cNvPr>
          <p:cNvSpPr>
            <a:spLocks xmlns:a="http://schemas.openxmlformats.org/drawingml/2006/main" noGrp="1"/>
          </p:cNvSpPr>
          <p:nvPr/>
        </p:nvSpPr>
        <p:spPr>
          <a:xfrm xmlns:a="http://schemas.openxmlformats.org/drawingml/2006/main">
            <a:off x="2171700" y="3600450"/>
            <a:ext cx="2781300" cy="742950"/>
          </a:xfrm>
          <a:prstGeom xmlns:a="http://schemas.openxmlformats.org/drawingml/2006/main" prst="rect">
            <a:avLst/>
          </a:prstGeom>
          <a:solidFill xmlns:a="http://schemas.openxmlformats.org/drawingml/2006/main">
            <a:srgbClr val="FFFFFF"/>
          </a:solidFill>
          <a:ln xmlns:a="http://schemas.openxmlformats.org/drawingml/2006/main" w="9525">
            <a:solidFill>
              <a:srgbClr val="E8ECF1"/>
            </a:solidFill>
            <a:prstDash val="solid"/>
          </a:ln>
        </p:spPr>
      </p:sp>
      <p:sp>
        <p:nvSpPr>
          <p:cNvPr id="30" name="">
            <a:extLst xmlns:a="http://schemas.openxmlformats.org/drawingml/2006/main">
              <a:ext uri="{FF2B5EF4-FFF2-40B4-BE49-F238E27FC236}">
                <a16:creationId xmlns:a16="http://schemas.microsoft.com/office/drawing/2014/main" id="{4FCC4989-1A9C-482B-BE1C-32A3BBEC6488}"/>
              </a:ext>
            </a:extLst>
          </p:cNvPr>
          <p:cNvSpPr>
            <a:spLocks xmlns:a="http://schemas.openxmlformats.org/drawingml/2006/main" noGrp="1"/>
          </p:cNvSpPr>
          <p:nvPr/>
        </p:nvSpPr>
        <p:spPr>
          <a:xfrm xmlns:a="http://schemas.openxmlformats.org/drawingml/2006/main">
            <a:off x="2266950" y="3695700"/>
            <a:ext cx="25908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ctr">
            <a:normAutofit fontScale="100000"/>
          </a:bodyPr>
          <a:lstStyle xmlns:a="http://schemas.openxmlformats.org/drawingml/2006/main"/>
          <a:p xmlns:a="http://schemas.openxmlformats.org/drawingml/2006/main">
            <a:pPr algn="l">
              <a:defRPr sz="1200" b="0" i="0">
                <a:solidFill>
                  <a:srgbClr val="233248"/>
                </a:solidFill>
                <a:latin typeface="Calibri"/>
                <a:ea typeface="Calibri"/>
                <a:cs typeface="Calibri"/>
              </a:defRPr>
            </a:pPr>
            <a:r>
              <a:rPr sz="1200" b="0" i="0">
                <a:solidFill>
                  <a:srgbClr val="233248"/>
                </a:solidFill>
                <a:latin typeface="Calibri"/>
                <a:ea typeface="Calibri"/>
                <a:cs typeface="Calibri"/>
              </a:rPr>
              <a:t>Pickup Notes and selective assisted rides</a:t>
            </a:r>
          </a:p>
        </p:txBody>
      </p:sp>
      <p:sp>
        <p:nvSpPr>
          <p:cNvPr id="31" name="">
            <a:extLst xmlns:a="http://schemas.openxmlformats.org/drawingml/2006/main">
              <a:ext uri="{FF2B5EF4-FFF2-40B4-BE49-F238E27FC236}">
                <a16:creationId xmlns:a16="http://schemas.microsoft.com/office/drawing/2014/main" id="{FEB7ED75-0321-4B53-A5B3-D84A006F481F}"/>
              </a:ext>
            </a:extLst>
          </p:cNvPr>
          <p:cNvSpPr>
            <a:spLocks xmlns:a="http://schemas.openxmlformats.org/drawingml/2006/main" noGrp="1"/>
          </p:cNvSpPr>
          <p:nvPr/>
        </p:nvSpPr>
        <p:spPr>
          <a:xfrm xmlns:a="http://schemas.openxmlformats.org/drawingml/2006/main">
            <a:off x="4953000" y="3600450"/>
            <a:ext cx="3257550" cy="742950"/>
          </a:xfrm>
          <a:prstGeom xmlns:a="http://schemas.openxmlformats.org/drawingml/2006/main" prst="rect">
            <a:avLst/>
          </a:prstGeom>
          <a:solidFill xmlns:a="http://schemas.openxmlformats.org/drawingml/2006/main">
            <a:srgbClr val="FFFFFF"/>
          </a:solidFill>
          <a:ln xmlns:a="http://schemas.openxmlformats.org/drawingml/2006/main" w="9525">
            <a:solidFill>
              <a:srgbClr val="E8ECF1"/>
            </a:solidFill>
            <a:prstDash val="solid"/>
          </a:ln>
        </p:spPr>
      </p:sp>
      <p:sp>
        <p:nvSpPr>
          <p:cNvPr id="32" name="">
            <a:extLst xmlns:a="http://schemas.openxmlformats.org/drawingml/2006/main">
              <a:ext uri="{FF2B5EF4-FFF2-40B4-BE49-F238E27FC236}">
                <a16:creationId xmlns:a16="http://schemas.microsoft.com/office/drawing/2014/main" id="{C2E85A86-D549-4A98-9172-CAE45556C5D5}"/>
              </a:ext>
            </a:extLst>
          </p:cNvPr>
          <p:cNvSpPr>
            <a:spLocks xmlns:a="http://schemas.openxmlformats.org/drawingml/2006/main" noGrp="1"/>
          </p:cNvSpPr>
          <p:nvPr/>
        </p:nvSpPr>
        <p:spPr>
          <a:xfrm xmlns:a="http://schemas.openxmlformats.org/drawingml/2006/main">
            <a:off x="5048250" y="3695700"/>
            <a:ext cx="30670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ctr">
            <a:normAutofit fontScale="100000"/>
          </a:bodyPr>
          <a:lstStyle xmlns:a="http://schemas.openxmlformats.org/drawingml/2006/main"/>
          <a:p xmlns:a="http://schemas.openxmlformats.org/drawingml/2006/main">
            <a:pPr algn="l">
              <a:defRPr sz="1200" b="0" i="0">
                <a:solidFill>
                  <a:srgbClr val="233248"/>
                </a:solidFill>
                <a:latin typeface="Calibri"/>
                <a:ea typeface="Calibri"/>
                <a:cs typeface="Calibri"/>
              </a:defRPr>
            </a:pPr>
            <a:r>
              <a:rPr sz="1200" b="0" i="0">
                <a:solidFill>
                  <a:srgbClr val="233248"/>
                </a:solidFill>
                <a:latin typeface="Calibri"/>
                <a:ea typeface="Calibri"/>
                <a:cs typeface="Calibri"/>
              </a:rPr>
              <a:t>Structured context and recovery precedent</a:t>
            </a:r>
          </a:p>
        </p:txBody>
      </p:sp>
      <p:sp>
        <p:nvSpPr>
          <p:cNvPr id="33" name="">
            <a:extLst xmlns:a="http://schemas.openxmlformats.org/drawingml/2006/main">
              <a:ext uri="{FF2B5EF4-FFF2-40B4-BE49-F238E27FC236}">
                <a16:creationId xmlns:a16="http://schemas.microsoft.com/office/drawing/2014/main" id="{36588CD5-D6B5-4528-8788-F88EB4EFDE0C}"/>
              </a:ext>
            </a:extLst>
          </p:cNvPr>
          <p:cNvSpPr>
            <a:spLocks xmlns:a="http://schemas.openxmlformats.org/drawingml/2006/main" noGrp="1"/>
          </p:cNvSpPr>
          <p:nvPr/>
        </p:nvSpPr>
        <p:spPr>
          <a:xfrm xmlns:a="http://schemas.openxmlformats.org/drawingml/2006/main">
            <a:off x="8210550" y="3600450"/>
            <a:ext cx="2743200" cy="742950"/>
          </a:xfrm>
          <a:prstGeom xmlns:a="http://schemas.openxmlformats.org/drawingml/2006/main" prst="rect">
            <a:avLst/>
          </a:prstGeom>
          <a:solidFill xmlns:a="http://schemas.openxmlformats.org/drawingml/2006/main">
            <a:srgbClr val="FFFFFF"/>
          </a:solidFill>
          <a:ln xmlns:a="http://schemas.openxmlformats.org/drawingml/2006/main" w="9525">
            <a:solidFill>
              <a:srgbClr val="E8ECF1"/>
            </a:solidFill>
            <a:prstDash val="solid"/>
          </a:ln>
        </p:spPr>
      </p:sp>
      <p:sp>
        <p:nvSpPr>
          <p:cNvPr id="34" name="">
            <a:extLst xmlns:a="http://schemas.openxmlformats.org/drawingml/2006/main">
              <a:ext uri="{FF2B5EF4-FFF2-40B4-BE49-F238E27FC236}">
                <a16:creationId xmlns:a16="http://schemas.microsoft.com/office/drawing/2014/main" id="{685AEDCF-6F88-4CBA-87CE-75C4A15DC73E}"/>
              </a:ext>
            </a:extLst>
          </p:cNvPr>
          <p:cNvSpPr>
            <a:spLocks xmlns:a="http://schemas.openxmlformats.org/drawingml/2006/main" noGrp="1"/>
          </p:cNvSpPr>
          <p:nvPr/>
        </p:nvSpPr>
        <p:spPr>
          <a:xfrm xmlns:a="http://schemas.openxmlformats.org/drawingml/2006/main">
            <a:off x="8305800" y="3695700"/>
            <a:ext cx="25527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ctr">
            <a:normAutofit fontScale="100000"/>
          </a:bodyPr>
          <a:lstStyle xmlns:a="http://schemas.openxmlformats.org/drawingml/2006/main"/>
          <a:p xmlns:a="http://schemas.openxmlformats.org/drawingml/2006/main">
            <a:pPr algn="l">
              <a:defRPr sz="1200" b="0" i="0">
                <a:solidFill>
                  <a:srgbClr val="233248"/>
                </a:solidFill>
                <a:latin typeface="Calibri"/>
                <a:ea typeface="Calibri"/>
                <a:cs typeface="Calibri"/>
              </a:defRPr>
            </a:pPr>
            <a:r>
              <a:rPr sz="1200" b="0" i="0">
                <a:solidFill>
                  <a:srgbClr val="233248"/>
                </a:solidFill>
                <a:latin typeface="Calibri"/>
                <a:ea typeface="Calibri"/>
                <a:cs typeface="Calibri"/>
              </a:rPr>
              <a:t>US market</a:t>
            </a:r>
          </a:p>
        </p:txBody>
      </p:sp>
      <p:sp>
        <p:nvSpPr>
          <p:cNvPr id="35" name="">
            <a:extLst xmlns:a="http://schemas.openxmlformats.org/drawingml/2006/main">
              <a:ext uri="{FF2B5EF4-FFF2-40B4-BE49-F238E27FC236}">
                <a16:creationId xmlns:a16="http://schemas.microsoft.com/office/drawing/2014/main" id="{D6AF820E-1BD6-4DDB-8CC9-6C9C85695972}"/>
              </a:ext>
            </a:extLst>
          </p:cNvPr>
          <p:cNvSpPr>
            <a:spLocks xmlns:a="http://schemas.openxmlformats.org/drawingml/2006/main" noGrp="1"/>
          </p:cNvSpPr>
          <p:nvPr/>
        </p:nvSpPr>
        <p:spPr>
          <a:xfrm xmlns:a="http://schemas.openxmlformats.org/drawingml/2006/main">
            <a:off x="514350" y="4343400"/>
            <a:ext cx="1657350" cy="742950"/>
          </a:xfrm>
          <a:prstGeom xmlns:a="http://schemas.openxmlformats.org/drawingml/2006/main" prst="rect">
            <a:avLst/>
          </a:prstGeom>
          <a:solidFill xmlns:a="http://schemas.openxmlformats.org/drawingml/2006/main">
            <a:srgbClr val="F8F9FB"/>
          </a:solidFill>
          <a:ln xmlns:a="http://schemas.openxmlformats.org/drawingml/2006/main" w="9525">
            <a:solidFill>
              <a:srgbClr val="E8ECF1"/>
            </a:solidFill>
            <a:prstDash val="solid"/>
          </a:ln>
        </p:spPr>
      </p:sp>
      <p:sp>
        <p:nvSpPr>
          <p:cNvPr id="36" name="">
            <a:extLst xmlns:a="http://schemas.openxmlformats.org/drawingml/2006/main">
              <a:ext uri="{FF2B5EF4-FFF2-40B4-BE49-F238E27FC236}">
                <a16:creationId xmlns:a16="http://schemas.microsoft.com/office/drawing/2014/main" id="{5B1FDAA0-8AB8-45A6-B9ED-0276AB41AD3E}"/>
              </a:ext>
            </a:extLst>
          </p:cNvPr>
          <p:cNvSpPr>
            <a:spLocks xmlns:a="http://schemas.openxmlformats.org/drawingml/2006/main" noGrp="1"/>
          </p:cNvSpPr>
          <p:nvPr/>
        </p:nvSpPr>
        <p:spPr>
          <a:xfrm xmlns:a="http://schemas.openxmlformats.org/drawingml/2006/main">
            <a:off x="609600" y="4438650"/>
            <a:ext cx="14668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ctr">
            <a:normAutofit fontScale="100000"/>
          </a:bodyPr>
          <a:lstStyle xmlns:a="http://schemas.openxmlformats.org/drawingml/2006/main"/>
          <a:p xmlns:a="http://schemas.openxmlformats.org/drawingml/2006/main">
            <a:pPr algn="l">
              <a:defRPr sz="1350" b="1" i="0">
                <a:solidFill>
                  <a:srgbClr val="1B2B45"/>
                </a:solidFill>
                <a:latin typeface="Calibri"/>
                <a:ea typeface="Calibri"/>
                <a:cs typeface="Calibri"/>
              </a:defRPr>
            </a:pPr>
            <a:r>
              <a:rPr sz="1350" b="1" i="0">
                <a:solidFill>
                  <a:srgbClr val="1B2B45"/>
                </a:solidFill>
                <a:latin typeface="Calibri"/>
                <a:ea typeface="Calibri"/>
                <a:cs typeface="Calibri"/>
              </a:rPr>
              <a:t>Waymo</a:t>
            </a:r>
          </a:p>
        </p:txBody>
      </p:sp>
      <p:sp>
        <p:nvSpPr>
          <p:cNvPr id="37" name="">
            <a:extLst xmlns:a="http://schemas.openxmlformats.org/drawingml/2006/main">
              <a:ext uri="{FF2B5EF4-FFF2-40B4-BE49-F238E27FC236}">
                <a16:creationId xmlns:a16="http://schemas.microsoft.com/office/drawing/2014/main" id="{61BCD962-E612-42CA-9F4D-F3B80C0A7B28}"/>
              </a:ext>
            </a:extLst>
          </p:cNvPr>
          <p:cNvSpPr>
            <a:spLocks xmlns:a="http://schemas.openxmlformats.org/drawingml/2006/main" noGrp="1"/>
          </p:cNvSpPr>
          <p:nvPr/>
        </p:nvSpPr>
        <p:spPr>
          <a:xfrm xmlns:a="http://schemas.openxmlformats.org/drawingml/2006/main">
            <a:off x="2171700" y="4343400"/>
            <a:ext cx="2781300" cy="742950"/>
          </a:xfrm>
          <a:prstGeom xmlns:a="http://schemas.openxmlformats.org/drawingml/2006/main" prst="rect">
            <a:avLst/>
          </a:prstGeom>
          <a:solidFill xmlns:a="http://schemas.openxmlformats.org/drawingml/2006/main">
            <a:srgbClr val="F8F9FB"/>
          </a:solidFill>
          <a:ln xmlns:a="http://schemas.openxmlformats.org/drawingml/2006/main" w="9525">
            <a:solidFill>
              <a:srgbClr val="E8ECF1"/>
            </a:solidFill>
            <a:prstDash val="solid"/>
          </a:ln>
        </p:spPr>
      </p:sp>
      <p:sp>
        <p:nvSpPr>
          <p:cNvPr id="38" name="">
            <a:extLst xmlns:a="http://schemas.openxmlformats.org/drawingml/2006/main">
              <a:ext uri="{FF2B5EF4-FFF2-40B4-BE49-F238E27FC236}">
                <a16:creationId xmlns:a16="http://schemas.microsoft.com/office/drawing/2014/main" id="{33D25166-E925-4F76-8089-34E21BB84C18}"/>
              </a:ext>
            </a:extLst>
          </p:cNvPr>
          <p:cNvSpPr>
            <a:spLocks xmlns:a="http://schemas.openxmlformats.org/drawingml/2006/main" noGrp="1"/>
          </p:cNvSpPr>
          <p:nvPr/>
        </p:nvSpPr>
        <p:spPr>
          <a:xfrm xmlns:a="http://schemas.openxmlformats.org/drawingml/2006/main">
            <a:off x="2266950" y="4438650"/>
            <a:ext cx="25908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ctr">
            <a:normAutofit fontScale="100000"/>
          </a:bodyPr>
          <a:lstStyle xmlns:a="http://schemas.openxmlformats.org/drawingml/2006/main"/>
          <a:p xmlns:a="http://schemas.openxmlformats.org/drawingml/2006/main">
            <a:pPr algn="l">
              <a:defRPr sz="1200" b="0" i="0">
                <a:solidFill>
                  <a:srgbClr val="233248"/>
                </a:solidFill>
                <a:latin typeface="Calibri"/>
                <a:ea typeface="Calibri"/>
                <a:cs typeface="Calibri"/>
              </a:defRPr>
            </a:pPr>
            <a:r>
              <a:rPr sz="1200" b="0" i="0">
                <a:solidFill>
                  <a:srgbClr val="233248"/>
                </a:solidFill>
                <a:latin typeface="Calibri"/>
                <a:ea typeface="Calibri"/>
                <a:cs typeface="Calibri"/>
              </a:rPr>
              <a:t>Navigable stops; walking preference</a:t>
            </a:r>
          </a:p>
        </p:txBody>
      </p:sp>
      <p:sp>
        <p:nvSpPr>
          <p:cNvPr id="39" name="">
            <a:extLst xmlns:a="http://schemas.openxmlformats.org/drawingml/2006/main">
              <a:ext uri="{FF2B5EF4-FFF2-40B4-BE49-F238E27FC236}">
                <a16:creationId xmlns:a16="http://schemas.microsoft.com/office/drawing/2014/main" id="{C105A791-F703-4254-ACEE-8D1F825EB07F}"/>
              </a:ext>
            </a:extLst>
          </p:cNvPr>
          <p:cNvSpPr>
            <a:spLocks xmlns:a="http://schemas.openxmlformats.org/drawingml/2006/main" noGrp="1"/>
          </p:cNvSpPr>
          <p:nvPr/>
        </p:nvSpPr>
        <p:spPr>
          <a:xfrm xmlns:a="http://schemas.openxmlformats.org/drawingml/2006/main">
            <a:off x="4953000" y="4343400"/>
            <a:ext cx="3257550" cy="742950"/>
          </a:xfrm>
          <a:prstGeom xmlns:a="http://schemas.openxmlformats.org/drawingml/2006/main" prst="rect">
            <a:avLst/>
          </a:prstGeom>
          <a:solidFill xmlns:a="http://schemas.openxmlformats.org/drawingml/2006/main">
            <a:srgbClr val="F8F9FB"/>
          </a:solidFill>
          <a:ln xmlns:a="http://schemas.openxmlformats.org/drawingml/2006/main" w="9525">
            <a:solidFill>
              <a:srgbClr val="E8ECF1"/>
            </a:solidFill>
            <a:prstDash val="solid"/>
          </a:ln>
        </p:spPr>
      </p:sp>
      <p:sp>
        <p:nvSpPr>
          <p:cNvPr id="40" name="">
            <a:extLst xmlns:a="http://schemas.openxmlformats.org/drawingml/2006/main">
              <a:ext uri="{FF2B5EF4-FFF2-40B4-BE49-F238E27FC236}">
                <a16:creationId xmlns:a16="http://schemas.microsoft.com/office/drawing/2014/main" id="{26C33738-FFD9-44EA-9BD9-8C7A16EF92C1}"/>
              </a:ext>
            </a:extLst>
          </p:cNvPr>
          <p:cNvSpPr>
            <a:spLocks xmlns:a="http://schemas.openxmlformats.org/drawingml/2006/main" noGrp="1"/>
          </p:cNvSpPr>
          <p:nvPr/>
        </p:nvSpPr>
        <p:spPr>
          <a:xfrm xmlns:a="http://schemas.openxmlformats.org/drawingml/2006/main">
            <a:off x="5048250" y="4438650"/>
            <a:ext cx="30670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ctr">
            <a:normAutofit fontScale="100000"/>
          </a:bodyPr>
          <a:lstStyle xmlns:a="http://schemas.openxmlformats.org/drawingml/2006/main"/>
          <a:p xmlns:a="http://schemas.openxmlformats.org/drawingml/2006/main">
            <a:pPr algn="l">
              <a:defRPr sz="1200" b="0" i="0">
                <a:solidFill>
                  <a:srgbClr val="233248"/>
                </a:solidFill>
                <a:latin typeface="Calibri"/>
                <a:ea typeface="Calibri"/>
                <a:cs typeface="Calibri"/>
              </a:defRPr>
            </a:pPr>
            <a:r>
              <a:rPr sz="1200" b="0" i="0">
                <a:solidFill>
                  <a:srgbClr val="233248"/>
                </a:solidFill>
                <a:latin typeface="Calibri"/>
                <a:ea typeface="Calibri"/>
                <a:cs typeface="Calibri"/>
              </a:rPr>
              <a:t>Explain vehicle-access vs walking trade-off</a:t>
            </a:r>
          </a:p>
        </p:txBody>
      </p:sp>
      <p:sp>
        <p:nvSpPr>
          <p:cNvPr id="41" name="">
            <a:extLst xmlns:a="http://schemas.openxmlformats.org/drawingml/2006/main">
              <a:ext uri="{FF2B5EF4-FFF2-40B4-BE49-F238E27FC236}">
                <a16:creationId xmlns:a16="http://schemas.microsoft.com/office/drawing/2014/main" id="{9A2E31D1-DCFF-4C1B-AE61-70707C489793}"/>
              </a:ext>
            </a:extLst>
          </p:cNvPr>
          <p:cNvSpPr>
            <a:spLocks xmlns:a="http://schemas.openxmlformats.org/drawingml/2006/main" noGrp="1"/>
          </p:cNvSpPr>
          <p:nvPr/>
        </p:nvSpPr>
        <p:spPr>
          <a:xfrm xmlns:a="http://schemas.openxmlformats.org/drawingml/2006/main">
            <a:off x="8210550" y="4343400"/>
            <a:ext cx="2743200" cy="742950"/>
          </a:xfrm>
          <a:prstGeom xmlns:a="http://schemas.openxmlformats.org/drawingml/2006/main" prst="rect">
            <a:avLst/>
          </a:prstGeom>
          <a:solidFill xmlns:a="http://schemas.openxmlformats.org/drawingml/2006/main">
            <a:srgbClr val="F8F9FB"/>
          </a:solidFill>
          <a:ln xmlns:a="http://schemas.openxmlformats.org/drawingml/2006/main" w="9525">
            <a:solidFill>
              <a:srgbClr val="E8ECF1"/>
            </a:solidFill>
            <a:prstDash val="solid"/>
          </a:ln>
        </p:spPr>
      </p:sp>
      <p:sp>
        <p:nvSpPr>
          <p:cNvPr id="42" name="">
            <a:extLst xmlns:a="http://schemas.openxmlformats.org/drawingml/2006/main">
              <a:ext uri="{FF2B5EF4-FFF2-40B4-BE49-F238E27FC236}">
                <a16:creationId xmlns:a16="http://schemas.microsoft.com/office/drawing/2014/main" id="{4A9DB875-C324-4DA9-927A-17341FB46914}"/>
              </a:ext>
            </a:extLst>
          </p:cNvPr>
          <p:cNvSpPr>
            <a:spLocks xmlns:a="http://schemas.openxmlformats.org/drawingml/2006/main" noGrp="1"/>
          </p:cNvSpPr>
          <p:nvPr/>
        </p:nvSpPr>
        <p:spPr>
          <a:xfrm xmlns:a="http://schemas.openxmlformats.org/drawingml/2006/main">
            <a:off x="8305800" y="4438650"/>
            <a:ext cx="25527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ctr">
            <a:normAutofit fontScale="100000"/>
          </a:bodyPr>
          <a:lstStyle xmlns:a="http://schemas.openxmlformats.org/drawingml/2006/main"/>
          <a:p xmlns:a="http://schemas.openxmlformats.org/drawingml/2006/main">
            <a:pPr algn="l">
              <a:defRPr sz="1200" b="0" i="0">
                <a:solidFill>
                  <a:srgbClr val="233248"/>
                </a:solidFill>
                <a:latin typeface="Calibri"/>
                <a:ea typeface="Calibri"/>
                <a:cs typeface="Calibri"/>
              </a:defRPr>
            </a:pPr>
            <a:r>
              <a:rPr sz="1200" b="0" i="0">
                <a:solidFill>
                  <a:srgbClr val="233248"/>
                </a:solidFill>
                <a:latin typeface="Calibri"/>
                <a:ea typeface="Calibri"/>
                <a:cs typeface="Calibri"/>
              </a:rPr>
              <a:t>US autonomous rides</a:t>
            </a:r>
          </a:p>
        </p:txBody>
      </p:sp>
      <p:sp>
        <p:nvSpPr>
          <p:cNvPr id="43" name="">
            <a:extLst xmlns:a="http://schemas.openxmlformats.org/drawingml/2006/main">
              <a:ext uri="{FF2B5EF4-FFF2-40B4-BE49-F238E27FC236}">
                <a16:creationId xmlns:a16="http://schemas.microsoft.com/office/drawing/2014/main" id="{0EE875BB-AAC1-45B8-91A6-A941EFD40B00}"/>
              </a:ext>
            </a:extLst>
          </p:cNvPr>
          <p:cNvSpPr>
            <a:spLocks xmlns:a="http://schemas.openxmlformats.org/drawingml/2006/main" noGrp="1"/>
          </p:cNvSpPr>
          <p:nvPr/>
        </p:nvSpPr>
        <p:spPr>
          <a:xfrm xmlns:a="http://schemas.openxmlformats.org/drawingml/2006/main">
            <a:off x="514350" y="5086350"/>
            <a:ext cx="1657350" cy="742950"/>
          </a:xfrm>
          <a:prstGeom xmlns:a="http://schemas.openxmlformats.org/drawingml/2006/main" prst="rect">
            <a:avLst/>
          </a:prstGeom>
          <a:solidFill xmlns:a="http://schemas.openxmlformats.org/drawingml/2006/main">
            <a:srgbClr val="FFFFFF"/>
          </a:solidFill>
          <a:ln xmlns:a="http://schemas.openxmlformats.org/drawingml/2006/main" w="9525">
            <a:solidFill>
              <a:srgbClr val="E8ECF1"/>
            </a:solidFill>
            <a:prstDash val="solid"/>
          </a:ln>
        </p:spPr>
      </p:sp>
      <p:sp>
        <p:nvSpPr>
          <p:cNvPr id="44" name="">
            <a:extLst xmlns:a="http://schemas.openxmlformats.org/drawingml/2006/main">
              <a:ext uri="{FF2B5EF4-FFF2-40B4-BE49-F238E27FC236}">
                <a16:creationId xmlns:a16="http://schemas.microsoft.com/office/drawing/2014/main" id="{0C782CC3-308F-4CDB-BAA7-81804E072834}"/>
              </a:ext>
            </a:extLst>
          </p:cNvPr>
          <p:cNvSpPr>
            <a:spLocks xmlns:a="http://schemas.openxmlformats.org/drawingml/2006/main" noGrp="1"/>
          </p:cNvSpPr>
          <p:nvPr/>
        </p:nvSpPr>
        <p:spPr>
          <a:xfrm xmlns:a="http://schemas.openxmlformats.org/drawingml/2006/main">
            <a:off x="609600" y="5181600"/>
            <a:ext cx="14668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ctr">
            <a:normAutofit fontScale="100000"/>
          </a:bodyPr>
          <a:lstStyle xmlns:a="http://schemas.openxmlformats.org/drawingml/2006/main"/>
          <a:p xmlns:a="http://schemas.openxmlformats.org/drawingml/2006/main">
            <a:pPr algn="l">
              <a:defRPr sz="1350" b="1" i="0">
                <a:solidFill>
                  <a:srgbClr val="1B2B45"/>
                </a:solidFill>
                <a:latin typeface="Calibri"/>
                <a:ea typeface="Calibri"/>
                <a:cs typeface="Calibri"/>
              </a:defRPr>
            </a:pPr>
            <a:r>
              <a:rPr sz="1350" b="1" i="0">
                <a:solidFill>
                  <a:srgbClr val="1B2B45"/>
                </a:solidFill>
                <a:latin typeface="Calibri"/>
                <a:ea typeface="Calibri"/>
                <a:cs typeface="Calibri"/>
              </a:rPr>
              <a:t>MyGate</a:t>
            </a:r>
          </a:p>
        </p:txBody>
      </p:sp>
      <p:sp>
        <p:nvSpPr>
          <p:cNvPr id="45" name="">
            <a:extLst xmlns:a="http://schemas.openxmlformats.org/drawingml/2006/main">
              <a:ext uri="{FF2B5EF4-FFF2-40B4-BE49-F238E27FC236}">
                <a16:creationId xmlns:a16="http://schemas.microsoft.com/office/drawing/2014/main" id="{5FFDDA41-5BBA-4162-B961-0CC041C0795A}"/>
              </a:ext>
            </a:extLst>
          </p:cNvPr>
          <p:cNvSpPr>
            <a:spLocks xmlns:a="http://schemas.openxmlformats.org/drawingml/2006/main" noGrp="1"/>
          </p:cNvSpPr>
          <p:nvPr/>
        </p:nvSpPr>
        <p:spPr>
          <a:xfrm xmlns:a="http://schemas.openxmlformats.org/drawingml/2006/main">
            <a:off x="2171700" y="5086350"/>
            <a:ext cx="2781300" cy="742950"/>
          </a:xfrm>
          <a:prstGeom xmlns:a="http://schemas.openxmlformats.org/drawingml/2006/main" prst="rect">
            <a:avLst/>
          </a:prstGeom>
          <a:solidFill xmlns:a="http://schemas.openxmlformats.org/drawingml/2006/main">
            <a:srgbClr val="FFFFFF"/>
          </a:solidFill>
          <a:ln xmlns:a="http://schemas.openxmlformats.org/drawingml/2006/main" w="9525">
            <a:solidFill>
              <a:srgbClr val="E8ECF1"/>
            </a:solidFill>
            <a:prstDash val="solid"/>
          </a:ln>
        </p:spPr>
      </p:sp>
      <p:sp>
        <p:nvSpPr>
          <p:cNvPr id="46" name="">
            <a:extLst xmlns:a="http://schemas.openxmlformats.org/drawingml/2006/main">
              <a:ext uri="{FF2B5EF4-FFF2-40B4-BE49-F238E27FC236}">
                <a16:creationId xmlns:a16="http://schemas.microsoft.com/office/drawing/2014/main" id="{9552F2EE-342A-41D1-AFCD-EA60FAF7694E}"/>
              </a:ext>
            </a:extLst>
          </p:cNvPr>
          <p:cNvSpPr>
            <a:spLocks xmlns:a="http://schemas.openxmlformats.org/drawingml/2006/main" noGrp="1"/>
          </p:cNvSpPr>
          <p:nvPr/>
        </p:nvSpPr>
        <p:spPr>
          <a:xfrm xmlns:a="http://schemas.openxmlformats.org/drawingml/2006/main">
            <a:off x="2266950" y="5181600"/>
            <a:ext cx="25908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ctr">
            <a:normAutofit fontScale="100000"/>
          </a:bodyPr>
          <a:lstStyle xmlns:a="http://schemas.openxmlformats.org/drawingml/2006/main"/>
          <a:p xmlns:a="http://schemas.openxmlformats.org/drawingml/2006/main">
            <a:pPr algn="l">
              <a:defRPr sz="1200" b="0" i="0">
                <a:solidFill>
                  <a:srgbClr val="233248"/>
                </a:solidFill>
                <a:latin typeface="Calibri"/>
                <a:ea typeface="Calibri"/>
                <a:cs typeface="Calibri"/>
              </a:defRPr>
            </a:pPr>
            <a:r>
              <a:rPr sz="1200" b="0" i="0">
                <a:solidFill>
                  <a:srgbClr val="233248"/>
                </a:solidFill>
                <a:latin typeface="Calibri"/>
                <a:ea typeface="Calibri"/>
                <a:cs typeface="Calibri"/>
              </a:rPr>
              <a:t>Privacy-aware gate handoff</a:t>
            </a:r>
          </a:p>
        </p:txBody>
      </p:sp>
      <p:sp>
        <p:nvSpPr>
          <p:cNvPr id="47" name="">
            <a:extLst xmlns:a="http://schemas.openxmlformats.org/drawingml/2006/main">
              <a:ext uri="{FF2B5EF4-FFF2-40B4-BE49-F238E27FC236}">
                <a16:creationId xmlns:a16="http://schemas.microsoft.com/office/drawing/2014/main" id="{A369BADC-7AA1-4F1F-8740-0977AD105072}"/>
              </a:ext>
            </a:extLst>
          </p:cNvPr>
          <p:cNvSpPr>
            <a:spLocks xmlns:a="http://schemas.openxmlformats.org/drawingml/2006/main" noGrp="1"/>
          </p:cNvSpPr>
          <p:nvPr/>
        </p:nvSpPr>
        <p:spPr>
          <a:xfrm xmlns:a="http://schemas.openxmlformats.org/drawingml/2006/main">
            <a:off x="4953000" y="5086350"/>
            <a:ext cx="3257550" cy="742950"/>
          </a:xfrm>
          <a:prstGeom xmlns:a="http://schemas.openxmlformats.org/drawingml/2006/main" prst="rect">
            <a:avLst/>
          </a:prstGeom>
          <a:solidFill xmlns:a="http://schemas.openxmlformats.org/drawingml/2006/main">
            <a:srgbClr val="FFFFFF"/>
          </a:solidFill>
          <a:ln xmlns:a="http://schemas.openxmlformats.org/drawingml/2006/main" w="9525">
            <a:solidFill>
              <a:srgbClr val="E8ECF1"/>
            </a:solidFill>
            <a:prstDash val="solid"/>
          </a:ln>
        </p:spPr>
      </p:sp>
      <p:sp>
        <p:nvSpPr>
          <p:cNvPr id="48" name="">
            <a:extLst xmlns:a="http://schemas.openxmlformats.org/drawingml/2006/main">
              <a:ext uri="{FF2B5EF4-FFF2-40B4-BE49-F238E27FC236}">
                <a16:creationId xmlns:a16="http://schemas.microsoft.com/office/drawing/2014/main" id="{77AFF50F-4E92-4AEE-AE36-90AD36C23D32}"/>
              </a:ext>
            </a:extLst>
          </p:cNvPr>
          <p:cNvSpPr>
            <a:spLocks xmlns:a="http://schemas.openxmlformats.org/drawingml/2006/main" noGrp="1"/>
          </p:cNvSpPr>
          <p:nvPr/>
        </p:nvSpPr>
        <p:spPr>
          <a:xfrm xmlns:a="http://schemas.openxmlformats.org/drawingml/2006/main">
            <a:off x="5048250" y="5181600"/>
            <a:ext cx="30670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ctr">
            <a:normAutofit fontScale="100000"/>
          </a:bodyPr>
          <a:lstStyle xmlns:a="http://schemas.openxmlformats.org/drawingml/2006/main"/>
          <a:p xmlns:a="http://schemas.openxmlformats.org/drawingml/2006/main">
            <a:pPr algn="l">
              <a:defRPr sz="1200" b="0" i="0">
                <a:solidFill>
                  <a:srgbClr val="233248"/>
                </a:solidFill>
                <a:latin typeface="Calibri"/>
                <a:ea typeface="Calibri"/>
                <a:cs typeface="Calibri"/>
              </a:defRPr>
            </a:pPr>
            <a:r>
              <a:rPr sz="1200" b="0" i="0">
                <a:solidFill>
                  <a:srgbClr val="233248"/>
                </a:solidFill>
                <a:latin typeface="Calibri"/>
                <a:ea typeface="Calibri"/>
                <a:cs typeface="Calibri"/>
              </a:rPr>
              <a:t>Access-aware residential coordination</a:t>
            </a:r>
          </a:p>
        </p:txBody>
      </p:sp>
      <p:sp>
        <p:nvSpPr>
          <p:cNvPr id="49" name="">
            <a:extLst xmlns:a="http://schemas.openxmlformats.org/drawingml/2006/main">
              <a:ext uri="{FF2B5EF4-FFF2-40B4-BE49-F238E27FC236}">
                <a16:creationId xmlns:a16="http://schemas.microsoft.com/office/drawing/2014/main" id="{37AFA66E-B367-4516-A3E5-43AEC03350F8}"/>
              </a:ext>
            </a:extLst>
          </p:cNvPr>
          <p:cNvSpPr>
            <a:spLocks xmlns:a="http://schemas.openxmlformats.org/drawingml/2006/main" noGrp="1"/>
          </p:cNvSpPr>
          <p:nvPr/>
        </p:nvSpPr>
        <p:spPr>
          <a:xfrm xmlns:a="http://schemas.openxmlformats.org/drawingml/2006/main">
            <a:off x="8210550" y="5086350"/>
            <a:ext cx="2743200" cy="742950"/>
          </a:xfrm>
          <a:prstGeom xmlns:a="http://schemas.openxmlformats.org/drawingml/2006/main" prst="rect">
            <a:avLst/>
          </a:prstGeom>
          <a:solidFill xmlns:a="http://schemas.openxmlformats.org/drawingml/2006/main">
            <a:srgbClr val="FFFFFF"/>
          </a:solidFill>
          <a:ln xmlns:a="http://schemas.openxmlformats.org/drawingml/2006/main" w="9525">
            <a:solidFill>
              <a:srgbClr val="E8ECF1"/>
            </a:solidFill>
            <a:prstDash val="solid"/>
          </a:ln>
        </p:spPr>
      </p:sp>
      <p:sp>
        <p:nvSpPr>
          <p:cNvPr id="50" name="">
            <a:extLst xmlns:a="http://schemas.openxmlformats.org/drawingml/2006/main">
              <a:ext uri="{FF2B5EF4-FFF2-40B4-BE49-F238E27FC236}">
                <a16:creationId xmlns:a16="http://schemas.microsoft.com/office/drawing/2014/main" id="{F0927ABF-0E4D-4FF3-A333-91F61024059D}"/>
              </a:ext>
            </a:extLst>
          </p:cNvPr>
          <p:cNvSpPr>
            <a:spLocks xmlns:a="http://schemas.openxmlformats.org/drawingml/2006/main" noGrp="1"/>
          </p:cNvSpPr>
          <p:nvPr/>
        </p:nvSpPr>
        <p:spPr>
          <a:xfrm xmlns:a="http://schemas.openxmlformats.org/drawingml/2006/main">
            <a:off x="8305800" y="5181600"/>
            <a:ext cx="25527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ctr">
            <a:normAutofit fontScale="100000"/>
          </a:bodyPr>
          <a:lstStyle xmlns:a="http://schemas.openxmlformats.org/drawingml/2006/main"/>
          <a:p xmlns:a="http://schemas.openxmlformats.org/drawingml/2006/main">
            <a:pPr algn="l">
              <a:defRPr sz="1200" b="0" i="0">
                <a:solidFill>
                  <a:srgbClr val="233248"/>
                </a:solidFill>
                <a:latin typeface="Calibri"/>
                <a:ea typeface="Calibri"/>
                <a:cs typeface="Calibri"/>
              </a:defRPr>
            </a:pPr>
            <a:r>
              <a:rPr sz="1200" b="0" i="0">
                <a:solidFill>
                  <a:srgbClr val="233248"/>
                </a:solidFill>
                <a:latin typeface="Calibri"/>
                <a:ea typeface="Calibri"/>
                <a:cs typeface="Calibri"/>
              </a:rPr>
              <a:t>Adjacent Indian product</a:t>
            </a:r>
          </a:p>
        </p:txBody>
      </p:sp>
      <p:sp>
        <p:nvSpPr>
          <p:cNvPr id="51" name="">
            <a:extLst xmlns:a="http://schemas.openxmlformats.org/drawingml/2006/main">
              <a:ext uri="{FF2B5EF4-FFF2-40B4-BE49-F238E27FC236}">
                <a16:creationId xmlns:a16="http://schemas.microsoft.com/office/drawing/2014/main" id="{D060C32E-25FA-496D-AA3D-3252AAFE6E10}"/>
              </a:ext>
            </a:extLst>
          </p:cNvPr>
          <p:cNvSpPr>
            <a:spLocks xmlns:a="http://schemas.openxmlformats.org/drawingml/2006/main" noGrp="1"/>
          </p:cNvSpPr>
          <p:nvPr/>
        </p:nvSpPr>
        <p:spPr>
          <a:xfrm xmlns:a="http://schemas.openxmlformats.org/drawingml/2006/main">
            <a:off x="514350" y="6515100"/>
            <a:ext cx="2857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l">
              <a:defRPr sz="750" b="0" i="0">
                <a:solidFill>
                  <a:srgbClr val="687489"/>
                </a:solidFill>
                <a:latin typeface="Calibri"/>
                <a:ea typeface="Calibri"/>
                <a:cs typeface="Calibri"/>
              </a:defRPr>
            </a:pPr>
            <a:r>
              <a:rPr sz="750" b="0" i="0">
                <a:solidFill>
                  <a:srgbClr val="687489"/>
                </a:solidFill>
                <a:latin typeface="Calibri"/>
                <a:ea typeface="Calibri"/>
                <a:cs typeface="Calibri"/>
              </a:rPr>
              <a:t>Find My Ride · Appendix</a:t>
            </a:r>
          </a:p>
        </p:txBody>
      </p:sp>
      <p:sp>
        <p:nvSpPr>
          <p:cNvPr id="52" name="">
            <a:extLst xmlns:a="http://schemas.openxmlformats.org/drawingml/2006/main">
              <a:ext uri="{FF2B5EF4-FFF2-40B4-BE49-F238E27FC236}">
                <a16:creationId xmlns:a16="http://schemas.microsoft.com/office/drawing/2014/main" id="{3C24F88D-3443-44D3-815D-FAB64D34C048}"/>
              </a:ext>
            </a:extLst>
          </p:cNvPr>
          <p:cNvSpPr>
            <a:spLocks xmlns:a="http://schemas.openxmlformats.org/drawingml/2006/main" noGrp="1"/>
          </p:cNvSpPr>
          <p:nvPr/>
        </p:nvSpPr>
        <p:spPr>
          <a:xfrm xmlns:a="http://schemas.openxmlformats.org/drawingml/2006/main">
            <a:off x="11372850" y="6515100"/>
            <a:ext cx="3048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r">
              <a:defRPr sz="750" b="0" i="0">
                <a:solidFill>
                  <a:srgbClr val="687489"/>
                </a:solidFill>
                <a:latin typeface="Calibri"/>
                <a:ea typeface="Calibri"/>
                <a:cs typeface="Calibri"/>
              </a:defRPr>
            </a:pPr>
            <a:r>
              <a:rPr sz="750" b="0" i="0">
                <a:solidFill>
                  <a:srgbClr val="687489"/>
                </a:solidFill>
                <a:latin typeface="Calibri"/>
                <a:ea typeface="Calibri"/>
                <a:cs typeface="Calibri"/>
              </a:rPr>
              <a:t>15</a:t>
            </a:r>
          </a:p>
        </p:txBody>
      </p:sp>
    </p:spTree>
    <p:extLst>
      <p:ext uri="{BB962C8B-B14F-4D97-AF65-F5344CB8AC3E}">
        <p14:creationId xmlns:p14="http://schemas.microsoft.com/office/powerpoint/2010/main" val="29366973"/>
      </p:ext>
    </p:extLst>
  </p:cSld>
</p:sld>
</file>

<file path=ppt/slides/slide16.xml><?xml version="1.0" encoding="utf-8"?>
<p:sld xmlns:p="http://schemas.openxmlformats.org/presentationml/2006/main">
  <p:cSld>
    <p:bg>
      <p:bgPr>
        <a:solidFill xmlns:a="http://schemas.openxmlformats.org/drawingml/2006/main">
          <a:srgbClr val="F3F5F8"/>
        </a:solidFill>
      </p:bgPr>
    </p:bg>
    <p:spTree>
      <p:nvGrpSpPr>
        <p:cNvPr id="1" name=""/>
        <p:cNvGrpSpPr/>
        <p:nvPr/>
      </p:nvGrpSpPr>
      <p:grpSpPr>
        <a:xfrm xmlns:a="http://schemas.openxmlformats.org/drawingml/2006/main"/>
      </p:grpSpPr>
      <p:sp>
        <p:nvSpPr>
          <p:cNvPr id="20" name="">
            <a:extLst xmlns:a="http://schemas.openxmlformats.org/drawingml/2006/main">
              <a:ext uri="{FF2B5EF4-FFF2-40B4-BE49-F238E27FC236}">
                <a16:creationId xmlns:a16="http://schemas.microsoft.com/office/drawing/2014/main" id="{09BF9C58-2642-4038-98AD-27377BEBC8A0}"/>
              </a:ext>
            </a:extLst>
          </p:cNvPr>
          <p:cNvSpPr>
            <a:spLocks xmlns:a="http://schemas.openxmlformats.org/drawingml/2006/main" noGrp="1"/>
          </p:cNvSpPr>
          <p:nvPr/>
        </p:nvSpPr>
        <p:spPr>
          <a:xfrm xmlns:a="http://schemas.openxmlformats.org/drawingml/2006/main">
            <a:off x="514350" y="247650"/>
            <a:ext cx="11144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l">
              <a:defRPr sz="975" b="1" i="0">
                <a:solidFill>
                  <a:srgbClr val="F47A22"/>
                </a:solidFill>
                <a:latin typeface="Calibri"/>
                <a:ea typeface="Calibri"/>
                <a:cs typeface="Calibri"/>
              </a:defRPr>
            </a:pPr>
            <a:r>
              <a:rPr sz="975" b="1" i="0">
                <a:solidFill>
                  <a:srgbClr val="F47A22"/>
                </a:solidFill>
                <a:latin typeface="Calibri"/>
                <a:ea typeface="Calibri"/>
                <a:cs typeface="Calibri"/>
              </a:rPr>
              <a:t>APPENDIX · STRATEGY RECONCILIATION</a:t>
            </a:r>
          </a:p>
        </p:txBody>
      </p:sp>
      <p:sp>
        <p:nvSpPr>
          <p:cNvPr id="2" name="">
            <a:extLst xmlns:a="http://schemas.openxmlformats.org/drawingml/2006/main">
              <a:ext uri="{FF2B5EF4-FFF2-40B4-BE49-F238E27FC236}">
                <a16:creationId xmlns:a16="http://schemas.microsoft.com/office/drawing/2014/main" id="{2C12FD67-900E-4754-97C8-4E27D2BC450A}"/>
              </a:ext>
            </a:extLst>
          </p:cNvPr>
          <p:cNvSpPr>
            <a:spLocks xmlns:a="http://schemas.openxmlformats.org/drawingml/2006/main" noGrp="1"/>
          </p:cNvSpPr>
          <p:nvPr/>
        </p:nvSpPr>
        <p:spPr>
          <a:xfrm xmlns:a="http://schemas.openxmlformats.org/drawingml/2006/main">
            <a:off x="514350" y="571500"/>
            <a:ext cx="1114425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l">
              <a:defRPr sz="2550" b="1" i="0">
                <a:solidFill>
                  <a:srgbClr val="1B2B45"/>
                </a:solidFill>
                <a:latin typeface="Calibri"/>
                <a:ea typeface="Calibri"/>
                <a:cs typeface="Calibri"/>
              </a:defRPr>
            </a:pPr>
            <a:r>
              <a:rPr sz="2550" b="1" i="0">
                <a:solidFill>
                  <a:srgbClr val="1B2B45"/>
                </a:solidFill>
                <a:latin typeface="Calibri"/>
                <a:ea typeface="Calibri"/>
                <a:cs typeface="Calibri"/>
              </a:rPr>
              <a:t>What the evidence changes — and what it does not support</a:t>
            </a:r>
          </a:p>
        </p:txBody>
      </p:sp>
      <p:sp>
        <p:nvSpPr>
          <p:cNvPr id="3" name="">
            <a:extLst xmlns:a="http://schemas.openxmlformats.org/drawingml/2006/main">
              <a:ext uri="{FF2B5EF4-FFF2-40B4-BE49-F238E27FC236}">
                <a16:creationId xmlns:a16="http://schemas.microsoft.com/office/drawing/2014/main" id="{5BFA4461-4370-4DD3-818F-189D747ADC35}"/>
              </a:ext>
            </a:extLst>
          </p:cNvPr>
          <p:cNvSpPr>
            <a:spLocks xmlns:a="http://schemas.openxmlformats.org/drawingml/2006/main" noGrp="1"/>
          </p:cNvSpPr>
          <p:nvPr/>
        </p:nvSpPr>
        <p:spPr>
          <a:xfrm xmlns:a="http://schemas.openxmlformats.org/drawingml/2006/main">
            <a:off x="514350" y="1619250"/>
            <a:ext cx="4953000" cy="1181100"/>
          </a:xfrm>
          <a:prstGeom xmlns:a="http://schemas.openxmlformats.org/drawingml/2006/main" prst="roundRect">
            <a:avLst>
              <a:gd name="adj" fmla="val 4839"/>
            </a:avLst>
          </a:prstGeom>
          <a:solidFill xmlns:a="http://schemas.openxmlformats.org/drawingml/2006/main">
            <a:srgbClr val="FFFFFF"/>
          </a:solidFill>
          <a:ln xmlns:a="http://schemas.openxmlformats.org/drawingml/2006/main" w="9525">
            <a:solidFill>
              <a:srgbClr val="E8ECF1"/>
            </a:solidFill>
            <a:prstDash val="solid"/>
          </a:ln>
        </p:spPr>
      </p:sp>
      <p:sp>
        <p:nvSpPr>
          <p:cNvPr id="4" name="">
            <a:extLst xmlns:a="http://schemas.openxmlformats.org/drawingml/2006/main">
              <a:ext uri="{FF2B5EF4-FFF2-40B4-BE49-F238E27FC236}">
                <a16:creationId xmlns:a16="http://schemas.microsoft.com/office/drawing/2014/main" id="{0CA3D175-5A08-4A9E-99CB-9F434D0A620E}"/>
              </a:ext>
            </a:extLst>
          </p:cNvPr>
          <p:cNvSpPr>
            <a:spLocks xmlns:a="http://schemas.openxmlformats.org/drawingml/2006/main" noGrp="1"/>
          </p:cNvSpPr>
          <p:nvPr/>
        </p:nvSpPr>
        <p:spPr>
          <a:xfrm xmlns:a="http://schemas.openxmlformats.org/drawingml/2006/main">
            <a:off x="666750" y="1733550"/>
            <a:ext cx="46482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l">
              <a:defRPr sz="1275" b="1" i="0">
                <a:solidFill>
                  <a:srgbClr val="F47A22"/>
                </a:solidFill>
                <a:latin typeface="Calibri"/>
                <a:ea typeface="Calibri"/>
                <a:cs typeface="Calibri"/>
              </a:defRPr>
            </a:pPr>
            <a:r>
              <a:rPr sz="1275" b="1" i="0">
                <a:solidFill>
                  <a:srgbClr val="F47A22"/>
                </a:solidFill>
                <a:latin typeface="Calibri"/>
                <a:ea typeface="Calibri"/>
                <a:cs typeface="Calibri"/>
              </a:rPr>
              <a:t>PARTIALLY SUPPORTED</a:t>
            </a:r>
          </a:p>
        </p:txBody>
      </p:sp>
      <p:sp>
        <p:nvSpPr>
          <p:cNvPr id="5" name="">
            <a:extLst xmlns:a="http://schemas.openxmlformats.org/drawingml/2006/main">
              <a:ext uri="{FF2B5EF4-FFF2-40B4-BE49-F238E27FC236}">
                <a16:creationId xmlns:a16="http://schemas.microsoft.com/office/drawing/2014/main" id="{A9AEC89F-9C91-48B1-A518-E01D90B9F1AE}"/>
              </a:ext>
            </a:extLst>
          </p:cNvPr>
          <p:cNvSpPr>
            <a:spLocks xmlns:a="http://schemas.openxmlformats.org/drawingml/2006/main" noGrp="1"/>
          </p:cNvSpPr>
          <p:nvPr/>
        </p:nvSpPr>
        <p:spPr>
          <a:xfrm xmlns:a="http://schemas.openxmlformats.org/drawingml/2006/main">
            <a:off x="666750" y="2066925"/>
            <a:ext cx="46482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89506"/>
          </a:bodyPr>
          <a:lstStyle xmlns:a="http://schemas.openxmlformats.org/drawingml/2006/main"/>
          <a:p xmlns:a="http://schemas.openxmlformats.org/drawingml/2006/main">
            <a:pPr algn="l">
              <a:defRPr sz="1350" b="0" i="0">
                <a:solidFill>
                  <a:srgbClr val="233248"/>
                </a:solidFill>
                <a:latin typeface="Calibri"/>
                <a:ea typeface="Calibri"/>
                <a:cs typeface="Calibri"/>
              </a:defRPr>
            </a:pPr>
            <a:r>
              <a:rPr sz="1350" b="0" i="0">
                <a:solidFill>
                  <a:srgbClr val="233248"/>
                </a:solidFill>
                <a:latin typeface="Calibri"/>
                <a:ea typeface="Calibri"/>
                <a:cs typeface="Calibri"/>
              </a:rPr>
              <a:t>Indoor-to-outdoor navigation matters, but gated residences, offices, and streets show a broader shared-reference-point problem.</a:t>
            </a:r>
          </a:p>
        </p:txBody>
      </p:sp>
      <p:sp>
        <p:nvSpPr>
          <p:cNvPr id="6" name="">
            <a:extLst xmlns:a="http://schemas.openxmlformats.org/drawingml/2006/main">
              <a:ext uri="{FF2B5EF4-FFF2-40B4-BE49-F238E27FC236}">
                <a16:creationId xmlns:a16="http://schemas.microsoft.com/office/drawing/2014/main" id="{80F98BD9-19BE-45D9-9C0F-712F25BBF043}"/>
              </a:ext>
            </a:extLst>
          </p:cNvPr>
          <p:cNvSpPr>
            <a:spLocks xmlns:a="http://schemas.openxmlformats.org/drawingml/2006/main" noGrp="1"/>
          </p:cNvSpPr>
          <p:nvPr/>
        </p:nvSpPr>
        <p:spPr>
          <a:xfrm xmlns:a="http://schemas.openxmlformats.org/drawingml/2006/main">
            <a:off x="5810250" y="1619250"/>
            <a:ext cx="5143500" cy="1181100"/>
          </a:xfrm>
          <a:prstGeom xmlns:a="http://schemas.openxmlformats.org/drawingml/2006/main" prst="roundRect">
            <a:avLst>
              <a:gd name="adj" fmla="val 4839"/>
            </a:avLst>
          </a:prstGeom>
          <a:solidFill xmlns:a="http://schemas.openxmlformats.org/drawingml/2006/main">
            <a:srgbClr val="FFFFFF"/>
          </a:solidFill>
          <a:ln xmlns:a="http://schemas.openxmlformats.org/drawingml/2006/main" w="9525">
            <a:solidFill>
              <a:srgbClr val="E8ECF1"/>
            </a:solidFill>
            <a:prstDash val="solid"/>
          </a:ln>
        </p:spPr>
      </p:sp>
      <p:sp>
        <p:nvSpPr>
          <p:cNvPr id="7" name="">
            <a:extLst xmlns:a="http://schemas.openxmlformats.org/drawingml/2006/main">
              <a:ext uri="{FF2B5EF4-FFF2-40B4-BE49-F238E27FC236}">
                <a16:creationId xmlns:a16="http://schemas.microsoft.com/office/drawing/2014/main" id="{AA88755B-59EF-438A-84C8-828B5FF31795}"/>
              </a:ext>
            </a:extLst>
          </p:cNvPr>
          <p:cNvSpPr>
            <a:spLocks xmlns:a="http://schemas.openxmlformats.org/drawingml/2006/main" noGrp="1"/>
          </p:cNvSpPr>
          <p:nvPr/>
        </p:nvSpPr>
        <p:spPr>
          <a:xfrm xmlns:a="http://schemas.openxmlformats.org/drawingml/2006/main">
            <a:off x="5962650" y="1733550"/>
            <a:ext cx="48387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l">
              <a:defRPr sz="1275" b="1" i="0">
                <a:solidFill>
                  <a:srgbClr val="F47A22"/>
                </a:solidFill>
                <a:latin typeface="Calibri"/>
                <a:ea typeface="Calibri"/>
                <a:cs typeface="Calibri"/>
              </a:defRPr>
            </a:pPr>
            <a:r>
              <a:rPr sz="1275" b="1" i="0">
                <a:solidFill>
                  <a:srgbClr val="F47A22"/>
                </a:solidFill>
                <a:latin typeface="Calibri"/>
                <a:ea typeface="Calibri"/>
                <a:cs typeface="Calibri"/>
              </a:rPr>
              <a:t>SUPPORTED, THIN</a:t>
            </a:r>
          </a:p>
        </p:txBody>
      </p:sp>
      <p:sp>
        <p:nvSpPr>
          <p:cNvPr id="8" name="">
            <a:extLst xmlns:a="http://schemas.openxmlformats.org/drawingml/2006/main">
              <a:ext uri="{FF2B5EF4-FFF2-40B4-BE49-F238E27FC236}">
                <a16:creationId xmlns:a16="http://schemas.microsoft.com/office/drawing/2014/main" id="{1BECB05C-8883-4821-8C89-C3CBE5C7045B}"/>
              </a:ext>
            </a:extLst>
          </p:cNvPr>
          <p:cNvSpPr>
            <a:spLocks xmlns:a="http://schemas.openxmlformats.org/drawingml/2006/main" noGrp="1"/>
          </p:cNvSpPr>
          <p:nvPr/>
        </p:nvSpPr>
        <p:spPr>
          <a:xfrm xmlns:a="http://schemas.openxmlformats.org/drawingml/2006/main">
            <a:off x="5962650" y="2066925"/>
            <a:ext cx="48387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97414"/>
          </a:bodyPr>
          <a:lstStyle xmlns:a="http://schemas.openxmlformats.org/drawingml/2006/main"/>
          <a:p xmlns:a="http://schemas.openxmlformats.org/drawingml/2006/main">
            <a:pPr algn="l">
              <a:defRPr sz="1350" b="0" i="0">
                <a:solidFill>
                  <a:srgbClr val="233248"/>
                </a:solidFill>
                <a:latin typeface="Calibri"/>
                <a:ea typeface="Calibri"/>
                <a:cs typeface="Calibri"/>
              </a:defRPr>
            </a:pPr>
            <a:r>
              <a:rPr sz="1350" b="0" i="0">
                <a:solidFill>
                  <a:srgbClr val="233248"/>
                </a:solidFill>
                <a:latin typeface="Calibri"/>
                <a:ea typeface="Calibri"/>
                <a:cs typeface="Calibri"/>
              </a:rPr>
              <a:t>Access and stopping constraints matter; driver evidence is only four responses, so desk research carries more weight here.</a:t>
            </a:r>
          </a:p>
        </p:txBody>
      </p:sp>
      <p:sp>
        <p:nvSpPr>
          <p:cNvPr id="9" name="">
            <a:extLst xmlns:a="http://schemas.openxmlformats.org/drawingml/2006/main">
              <a:ext uri="{FF2B5EF4-FFF2-40B4-BE49-F238E27FC236}">
                <a16:creationId xmlns:a16="http://schemas.microsoft.com/office/drawing/2014/main" id="{32D13354-3BFB-4F9A-9A96-A28CDD699EE3}"/>
              </a:ext>
            </a:extLst>
          </p:cNvPr>
          <p:cNvSpPr>
            <a:spLocks xmlns:a="http://schemas.openxmlformats.org/drawingml/2006/main" noGrp="1"/>
          </p:cNvSpPr>
          <p:nvPr/>
        </p:nvSpPr>
        <p:spPr>
          <a:xfrm xmlns:a="http://schemas.openxmlformats.org/drawingml/2006/main">
            <a:off x="514350" y="2990850"/>
            <a:ext cx="4953000" cy="1181100"/>
          </a:xfrm>
          <a:prstGeom xmlns:a="http://schemas.openxmlformats.org/drawingml/2006/main" prst="roundRect">
            <a:avLst>
              <a:gd name="adj" fmla="val 4839"/>
            </a:avLst>
          </a:prstGeom>
          <a:solidFill xmlns:a="http://schemas.openxmlformats.org/drawingml/2006/main">
            <a:srgbClr val="E2F4F6"/>
          </a:solidFill>
          <a:ln xmlns:a="http://schemas.openxmlformats.org/drawingml/2006/main" w="9525">
            <a:solidFill>
              <a:srgbClr val="E8ECF1"/>
            </a:solidFill>
            <a:prstDash val="solid"/>
          </a:ln>
        </p:spPr>
      </p:sp>
      <p:sp>
        <p:nvSpPr>
          <p:cNvPr id="10" name="">
            <a:extLst xmlns:a="http://schemas.openxmlformats.org/drawingml/2006/main">
              <a:ext uri="{FF2B5EF4-FFF2-40B4-BE49-F238E27FC236}">
                <a16:creationId xmlns:a16="http://schemas.microsoft.com/office/drawing/2014/main" id="{C80B5166-0906-4781-B1D8-F5349F86E1DA}"/>
              </a:ext>
            </a:extLst>
          </p:cNvPr>
          <p:cNvSpPr>
            <a:spLocks xmlns:a="http://schemas.openxmlformats.org/drawingml/2006/main" noGrp="1"/>
          </p:cNvSpPr>
          <p:nvPr/>
        </p:nvSpPr>
        <p:spPr>
          <a:xfrm xmlns:a="http://schemas.openxmlformats.org/drawingml/2006/main">
            <a:off x="666750" y="3105150"/>
            <a:ext cx="46482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l">
              <a:defRPr sz="1275" b="1" i="0">
                <a:solidFill>
                  <a:srgbClr val="1BB5C8"/>
                </a:solidFill>
                <a:latin typeface="Calibri"/>
                <a:ea typeface="Calibri"/>
                <a:cs typeface="Calibri"/>
              </a:defRPr>
            </a:pPr>
            <a:r>
              <a:rPr sz="1275" b="1" i="0">
                <a:solidFill>
                  <a:srgbClr val="1BB5C8"/>
                </a:solidFill>
                <a:latin typeface="Calibri"/>
                <a:ea typeface="Calibri"/>
                <a:cs typeface="Calibri"/>
              </a:rPr>
              <a:t>SUPPORTED</a:t>
            </a:r>
          </a:p>
        </p:txBody>
      </p:sp>
      <p:sp>
        <p:nvSpPr>
          <p:cNvPr id="11" name="">
            <a:extLst xmlns:a="http://schemas.openxmlformats.org/drawingml/2006/main">
              <a:ext uri="{FF2B5EF4-FFF2-40B4-BE49-F238E27FC236}">
                <a16:creationId xmlns:a16="http://schemas.microsoft.com/office/drawing/2014/main" id="{D3BFDDA2-3D9D-42DE-BF5B-E2C0875F7478}"/>
              </a:ext>
            </a:extLst>
          </p:cNvPr>
          <p:cNvSpPr>
            <a:spLocks xmlns:a="http://schemas.openxmlformats.org/drawingml/2006/main" noGrp="1"/>
          </p:cNvSpPr>
          <p:nvPr/>
        </p:nvSpPr>
        <p:spPr>
          <a:xfrm xmlns:a="http://schemas.openxmlformats.org/drawingml/2006/main">
            <a:off x="666750" y="3438525"/>
            <a:ext cx="46482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97330"/>
          </a:bodyPr>
          <a:lstStyle xmlns:a="http://schemas.openxmlformats.org/drawingml/2006/main"/>
          <a:p xmlns:a="http://schemas.openxmlformats.org/drawingml/2006/main">
            <a:pPr algn="l">
              <a:defRPr sz="1350" b="0" i="0">
                <a:solidFill>
                  <a:srgbClr val="233248"/>
                </a:solidFill>
                <a:latin typeface="Calibri"/>
                <a:ea typeface="Calibri"/>
                <a:cs typeface="Calibri"/>
              </a:defRPr>
            </a:pPr>
            <a:r>
              <a:rPr sz="1350" b="0" i="0">
                <a:solidFill>
                  <a:srgbClr val="233248"/>
                </a:solidFill>
                <a:latin typeface="Calibri"/>
                <a:ea typeface="Calibri"/>
                <a:cs typeface="Calibri"/>
              </a:rPr>
              <a:t>“Pickup failure” combines location confusion, recovery effort, destination preference, fare, payment, and driver behavior.</a:t>
            </a:r>
          </a:p>
        </p:txBody>
      </p:sp>
      <p:sp>
        <p:nvSpPr>
          <p:cNvPr id="12" name="">
            <a:extLst xmlns:a="http://schemas.openxmlformats.org/drawingml/2006/main">
              <a:ext uri="{FF2B5EF4-FFF2-40B4-BE49-F238E27FC236}">
                <a16:creationId xmlns:a16="http://schemas.microsoft.com/office/drawing/2014/main" id="{3D65B758-5F99-442A-BFB5-0239ABF4EB2B}"/>
              </a:ext>
            </a:extLst>
          </p:cNvPr>
          <p:cNvSpPr>
            <a:spLocks xmlns:a="http://schemas.openxmlformats.org/drawingml/2006/main" noGrp="1"/>
          </p:cNvSpPr>
          <p:nvPr/>
        </p:nvSpPr>
        <p:spPr>
          <a:xfrm xmlns:a="http://schemas.openxmlformats.org/drawingml/2006/main">
            <a:off x="5810250" y="2990850"/>
            <a:ext cx="5143500" cy="1181100"/>
          </a:xfrm>
          <a:prstGeom xmlns:a="http://schemas.openxmlformats.org/drawingml/2006/main" prst="roundRect">
            <a:avLst>
              <a:gd name="adj" fmla="val 4839"/>
            </a:avLst>
          </a:prstGeom>
          <a:solidFill xmlns:a="http://schemas.openxmlformats.org/drawingml/2006/main">
            <a:srgbClr val="FBE7D8"/>
          </a:solidFill>
          <a:ln xmlns:a="http://schemas.openxmlformats.org/drawingml/2006/main" w="9525">
            <a:solidFill>
              <a:srgbClr val="E8ECF1"/>
            </a:solidFill>
            <a:prstDash val="solid"/>
          </a:ln>
        </p:spPr>
      </p:sp>
      <p:sp>
        <p:nvSpPr>
          <p:cNvPr id="13" name="">
            <a:extLst xmlns:a="http://schemas.openxmlformats.org/drawingml/2006/main">
              <a:ext uri="{FF2B5EF4-FFF2-40B4-BE49-F238E27FC236}">
                <a16:creationId xmlns:a16="http://schemas.microsoft.com/office/drawing/2014/main" id="{271EE3CA-5D3B-4861-94C3-0E620C3B9E7D}"/>
              </a:ext>
            </a:extLst>
          </p:cNvPr>
          <p:cNvSpPr>
            <a:spLocks xmlns:a="http://schemas.openxmlformats.org/drawingml/2006/main" noGrp="1"/>
          </p:cNvSpPr>
          <p:nvPr/>
        </p:nvSpPr>
        <p:spPr>
          <a:xfrm xmlns:a="http://schemas.openxmlformats.org/drawingml/2006/main">
            <a:off x="5962650" y="3105150"/>
            <a:ext cx="48387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l">
              <a:defRPr sz="1275" b="1" i="0">
                <a:solidFill>
                  <a:srgbClr val="1B2B45"/>
                </a:solidFill>
                <a:latin typeface="Calibri"/>
                <a:ea typeface="Calibri"/>
                <a:cs typeface="Calibri"/>
              </a:defRPr>
            </a:pPr>
            <a:r>
              <a:rPr sz="1275" b="1" i="0">
                <a:solidFill>
                  <a:srgbClr val="1B2B45"/>
                </a:solidFill>
                <a:latin typeface="Calibri"/>
                <a:ea typeface="Calibri"/>
                <a:cs typeface="Calibri"/>
              </a:rPr>
              <a:t>NOT SUPPORTED</a:t>
            </a:r>
          </a:p>
        </p:txBody>
      </p:sp>
      <p:sp>
        <p:nvSpPr>
          <p:cNvPr id="14" name="">
            <a:extLst xmlns:a="http://schemas.openxmlformats.org/drawingml/2006/main">
              <a:ext uri="{FF2B5EF4-FFF2-40B4-BE49-F238E27FC236}">
                <a16:creationId xmlns:a16="http://schemas.microsoft.com/office/drawing/2014/main" id="{F7D7C2DE-C5E9-4EB8-AC41-7F12DA3F279D}"/>
              </a:ext>
            </a:extLst>
          </p:cNvPr>
          <p:cNvSpPr>
            <a:spLocks xmlns:a="http://schemas.openxmlformats.org/drawingml/2006/main" noGrp="1"/>
          </p:cNvSpPr>
          <p:nvPr/>
        </p:nvSpPr>
        <p:spPr>
          <a:xfrm xmlns:a="http://schemas.openxmlformats.org/drawingml/2006/main">
            <a:off x="5962650" y="3438525"/>
            <a:ext cx="48387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89506"/>
          </a:bodyPr>
          <a:lstStyle xmlns:a="http://schemas.openxmlformats.org/drawingml/2006/main"/>
          <a:p xmlns:a="http://schemas.openxmlformats.org/drawingml/2006/main">
            <a:pPr algn="l">
              <a:defRPr sz="1350" b="0" i="0">
                <a:solidFill>
                  <a:srgbClr val="233248"/>
                </a:solidFill>
                <a:latin typeface="Calibri"/>
                <a:ea typeface="Calibri"/>
                <a:cs typeface="Calibri"/>
              </a:defRPr>
            </a:pPr>
            <a:r>
              <a:rPr sz="1350" b="0" i="0">
                <a:solidFill>
                  <a:srgbClr val="233248"/>
                </a:solidFill>
                <a:latin typeface="Calibri"/>
                <a:ea typeface="Calibri"/>
                <a:cs typeface="Calibri"/>
              </a:rPr>
              <a:t>A universal prompt, airport-only strategy, precise Hyderabad prevalence, or a driver-specific solution cannot be justified from this evidence.</a:t>
            </a:r>
          </a:p>
        </p:txBody>
      </p:sp>
      <p:sp>
        <p:nvSpPr>
          <p:cNvPr id="15" name="">
            <a:extLst xmlns:a="http://schemas.openxmlformats.org/drawingml/2006/main">
              <a:ext uri="{FF2B5EF4-FFF2-40B4-BE49-F238E27FC236}">
                <a16:creationId xmlns:a16="http://schemas.microsoft.com/office/drawing/2014/main" id="{5F3D5A34-5571-4FF3-A220-D40BE266F22B}"/>
              </a:ext>
            </a:extLst>
          </p:cNvPr>
          <p:cNvSpPr>
            <a:spLocks xmlns:a="http://schemas.openxmlformats.org/drawingml/2006/main" noGrp="1"/>
          </p:cNvSpPr>
          <p:nvPr/>
        </p:nvSpPr>
        <p:spPr>
          <a:xfrm xmlns:a="http://schemas.openxmlformats.org/drawingml/2006/main">
            <a:off x="514350" y="4362450"/>
            <a:ext cx="10439400" cy="1257300"/>
          </a:xfrm>
          <a:prstGeom xmlns:a="http://schemas.openxmlformats.org/drawingml/2006/main" prst="roundRect">
            <a:avLst>
              <a:gd name="adj" fmla="val 4545"/>
            </a:avLst>
          </a:prstGeom>
          <a:solidFill xmlns:a="http://schemas.openxmlformats.org/drawingml/2006/main">
            <a:srgbClr val="1B2B45"/>
          </a:solidFill>
          <a:ln xmlns:a="http://schemas.openxmlformats.org/drawingml/2006/main" w="9525">
            <a:solidFill>
              <a:srgbClr val="E8ECF1"/>
            </a:solidFill>
            <a:prstDash val="solid"/>
          </a:ln>
        </p:spPr>
      </p:sp>
      <p:sp>
        <p:nvSpPr>
          <p:cNvPr id="16" name="">
            <a:extLst xmlns:a="http://schemas.openxmlformats.org/drawingml/2006/main">
              <a:ext uri="{FF2B5EF4-FFF2-40B4-BE49-F238E27FC236}">
                <a16:creationId xmlns:a16="http://schemas.microsoft.com/office/drawing/2014/main" id="{BB765B7C-A609-49FB-B642-3A788E895CF9}"/>
              </a:ext>
            </a:extLst>
          </p:cNvPr>
          <p:cNvSpPr>
            <a:spLocks xmlns:a="http://schemas.openxmlformats.org/drawingml/2006/main" noGrp="1"/>
          </p:cNvSpPr>
          <p:nvPr/>
        </p:nvSpPr>
        <p:spPr>
          <a:xfrm xmlns:a="http://schemas.openxmlformats.org/drawingml/2006/main">
            <a:off x="666750" y="4476750"/>
            <a:ext cx="101346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l">
              <a:defRPr sz="1275" b="1" i="0">
                <a:solidFill>
                  <a:srgbClr val="F47A22"/>
                </a:solidFill>
                <a:latin typeface="Calibri"/>
                <a:ea typeface="Calibri"/>
                <a:cs typeface="Calibri"/>
              </a:defRPr>
            </a:pPr>
            <a:r>
              <a:rPr sz="1275" b="1" i="0">
                <a:solidFill>
                  <a:srgbClr val="F47A22"/>
                </a:solidFill>
                <a:latin typeface="Calibri"/>
                <a:ea typeface="Calibri"/>
                <a:cs typeface="Calibri"/>
              </a:rPr>
              <a:t>DECISION</a:t>
            </a:r>
          </a:p>
        </p:txBody>
      </p:sp>
      <p:sp>
        <p:nvSpPr>
          <p:cNvPr id="17" name="">
            <a:extLst xmlns:a="http://schemas.openxmlformats.org/drawingml/2006/main">
              <a:ext uri="{FF2B5EF4-FFF2-40B4-BE49-F238E27FC236}">
                <a16:creationId xmlns:a16="http://schemas.microsoft.com/office/drawing/2014/main" id="{593EBC1F-3692-40F1-AD43-72F38CC64F2B}"/>
              </a:ext>
            </a:extLst>
          </p:cNvPr>
          <p:cNvSpPr>
            <a:spLocks xmlns:a="http://schemas.openxmlformats.org/drawingml/2006/main" noGrp="1"/>
          </p:cNvSpPr>
          <p:nvPr/>
        </p:nvSpPr>
        <p:spPr>
          <a:xfrm xmlns:a="http://schemas.openxmlformats.org/drawingml/2006/main">
            <a:off x="666750" y="4810125"/>
            <a:ext cx="1013460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l">
              <a:defRPr sz="1725" b="0" i="0">
                <a:solidFill>
                  <a:srgbClr val="FFFFFF"/>
                </a:solidFill>
                <a:latin typeface="Calibri"/>
                <a:ea typeface="Calibri"/>
                <a:cs typeface="Calibri"/>
              </a:defRPr>
            </a:pPr>
            <a:r>
              <a:rPr sz="1725" b="0" i="0">
                <a:solidFill>
                  <a:srgbClr val="FFFFFF"/>
                </a:solidFill>
                <a:latin typeface="Calibri"/>
                <a:ea typeface="Calibri"/>
                <a:cs typeface="Calibri"/>
              </a:rPr>
              <a:t>Use location type and stall signals to target coordination help. Validate rider benefit and driver impact before building a broader venue data operation.</a:t>
            </a:r>
          </a:p>
        </p:txBody>
      </p:sp>
      <p:sp>
        <p:nvSpPr>
          <p:cNvPr id="18" name="">
            <a:extLst xmlns:a="http://schemas.openxmlformats.org/drawingml/2006/main">
              <a:ext uri="{FF2B5EF4-FFF2-40B4-BE49-F238E27FC236}">
                <a16:creationId xmlns:a16="http://schemas.microsoft.com/office/drawing/2014/main" id="{1B5E552F-B75B-4273-B0FF-5D1C67C4A8D0}"/>
              </a:ext>
            </a:extLst>
          </p:cNvPr>
          <p:cNvSpPr>
            <a:spLocks xmlns:a="http://schemas.openxmlformats.org/drawingml/2006/main" noGrp="1"/>
          </p:cNvSpPr>
          <p:nvPr/>
        </p:nvSpPr>
        <p:spPr>
          <a:xfrm xmlns:a="http://schemas.openxmlformats.org/drawingml/2006/main">
            <a:off x="514350" y="6515100"/>
            <a:ext cx="2857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l">
              <a:defRPr sz="750" b="0" i="0">
                <a:solidFill>
                  <a:srgbClr val="687489"/>
                </a:solidFill>
                <a:latin typeface="Calibri"/>
                <a:ea typeface="Calibri"/>
                <a:cs typeface="Calibri"/>
              </a:defRPr>
            </a:pPr>
            <a:r>
              <a:rPr sz="750" b="0" i="0">
                <a:solidFill>
                  <a:srgbClr val="687489"/>
                </a:solidFill>
                <a:latin typeface="Calibri"/>
                <a:ea typeface="Calibri"/>
                <a:cs typeface="Calibri"/>
              </a:rPr>
              <a:t>Find My Ride · Appendix</a:t>
            </a:r>
          </a:p>
        </p:txBody>
      </p:sp>
      <p:sp>
        <p:nvSpPr>
          <p:cNvPr id="19" name="">
            <a:extLst xmlns:a="http://schemas.openxmlformats.org/drawingml/2006/main">
              <a:ext uri="{FF2B5EF4-FFF2-40B4-BE49-F238E27FC236}">
                <a16:creationId xmlns:a16="http://schemas.microsoft.com/office/drawing/2014/main" id="{A159D2F1-77E1-4E50-BCE9-7C1455735752}"/>
              </a:ext>
            </a:extLst>
          </p:cNvPr>
          <p:cNvSpPr>
            <a:spLocks xmlns:a="http://schemas.openxmlformats.org/drawingml/2006/main" noGrp="1"/>
          </p:cNvSpPr>
          <p:nvPr/>
        </p:nvSpPr>
        <p:spPr>
          <a:xfrm xmlns:a="http://schemas.openxmlformats.org/drawingml/2006/main">
            <a:off x="11372850" y="6515100"/>
            <a:ext cx="3048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r">
              <a:defRPr sz="750" b="0" i="0">
                <a:solidFill>
                  <a:srgbClr val="687489"/>
                </a:solidFill>
                <a:latin typeface="Calibri"/>
                <a:ea typeface="Calibri"/>
                <a:cs typeface="Calibri"/>
              </a:defRPr>
            </a:pPr>
            <a:r>
              <a:rPr sz="750" b="0" i="0">
                <a:solidFill>
                  <a:srgbClr val="687489"/>
                </a:solidFill>
                <a:latin typeface="Calibri"/>
                <a:ea typeface="Calibri"/>
                <a:cs typeface="Calibri"/>
              </a:rPr>
              <a:t>16</a:t>
            </a:r>
          </a:p>
        </p:txBody>
      </p:sp>
    </p:spTree>
    <p:extLst>
      <p:ext uri="{BB962C8B-B14F-4D97-AF65-F5344CB8AC3E}">
        <p14:creationId xmlns:p14="http://schemas.microsoft.com/office/powerpoint/2010/main" val="1359138373"/>
      </p:ext>
    </p:extLst>
  </p:cSld>
</p:sld>
</file>

<file path=ppt/slides/slide17.xml><?xml version="1.0" encoding="utf-8"?>
<p:sld xmlns:p="http://schemas.openxmlformats.org/presentationml/2006/main">
  <p:cSld>
    <p:bg>
      <p:bgPr>
        <a:solidFill xmlns:a="http://schemas.openxmlformats.org/drawingml/2006/main">
          <a:srgbClr val="F3F5F8"/>
        </a:solidFill>
      </p:bgPr>
    </p:bg>
    <p:spTree>
      <p:nvGrpSpPr>
        <p:cNvPr id="1" name=""/>
        <p:cNvGrpSpPr/>
        <p:nvPr/>
      </p:nvGrpSpPr>
      <p:grpSpPr>
        <a:xfrm xmlns:a="http://schemas.openxmlformats.org/drawingml/2006/main"/>
      </p:grpSpPr>
      <p:sp>
        <p:nvSpPr>
          <p:cNvPr id="47" name="">
            <a:extLst xmlns:a="http://schemas.openxmlformats.org/drawingml/2006/main">
              <a:ext uri="{FF2B5EF4-FFF2-40B4-BE49-F238E27FC236}">
                <a16:creationId xmlns:a16="http://schemas.microsoft.com/office/drawing/2014/main" id="{65F5E774-80FC-48B3-A5F2-F2C553E9E210}"/>
              </a:ext>
            </a:extLst>
          </p:cNvPr>
          <p:cNvSpPr>
            <a:spLocks xmlns:a="http://schemas.openxmlformats.org/drawingml/2006/main" noGrp="1"/>
          </p:cNvSpPr>
          <p:nvPr/>
        </p:nvSpPr>
        <p:spPr>
          <a:xfrm xmlns:a="http://schemas.openxmlformats.org/drawingml/2006/main">
            <a:off x="514350" y="247650"/>
            <a:ext cx="11144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l">
              <a:defRPr sz="975" b="1" i="0">
                <a:solidFill>
                  <a:srgbClr val="F47A22"/>
                </a:solidFill>
                <a:latin typeface="Calibri"/>
                <a:ea typeface="Calibri"/>
                <a:cs typeface="Calibri"/>
              </a:defRPr>
            </a:pPr>
            <a:r>
              <a:rPr sz="975" b="1" i="0">
                <a:solidFill>
                  <a:srgbClr val="F47A22"/>
                </a:solidFill>
                <a:latin typeface="Calibri"/>
                <a:ea typeface="Calibri"/>
                <a:cs typeface="Calibri"/>
              </a:rPr>
              <a:t>APPENDIX · IDEA TEST PLAN</a:t>
            </a:r>
          </a:p>
        </p:txBody>
      </p:sp>
      <p:sp>
        <p:nvSpPr>
          <p:cNvPr id="2" name="">
            <a:extLst xmlns:a="http://schemas.openxmlformats.org/drawingml/2006/main">
              <a:ext uri="{FF2B5EF4-FFF2-40B4-BE49-F238E27FC236}">
                <a16:creationId xmlns:a16="http://schemas.microsoft.com/office/drawing/2014/main" id="{CF6B1555-15E6-488E-92F3-23E135A3E6A1}"/>
              </a:ext>
            </a:extLst>
          </p:cNvPr>
          <p:cNvSpPr>
            <a:spLocks xmlns:a="http://schemas.openxmlformats.org/drawingml/2006/main" noGrp="1"/>
          </p:cNvSpPr>
          <p:nvPr/>
        </p:nvSpPr>
        <p:spPr>
          <a:xfrm xmlns:a="http://schemas.openxmlformats.org/drawingml/2006/main">
            <a:off x="514350" y="571500"/>
            <a:ext cx="1114425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l">
              <a:defRPr sz="2550" b="1" i="0">
                <a:solidFill>
                  <a:srgbClr val="1B2B45"/>
                </a:solidFill>
                <a:latin typeface="Calibri"/>
                <a:ea typeface="Calibri"/>
                <a:cs typeface="Calibri"/>
              </a:defRPr>
            </a:pPr>
            <a:r>
              <a:rPr sz="2550" b="1" i="0">
                <a:solidFill>
                  <a:srgbClr val="1B2B45"/>
                </a:solidFill>
                <a:latin typeface="Calibri"/>
                <a:ea typeface="Calibri"/>
                <a:cs typeface="Calibri"/>
              </a:rPr>
              <a:t>Three ideas, sequenced by evidence strength and operating risk</a:t>
            </a:r>
          </a:p>
        </p:txBody>
      </p:sp>
      <p:sp>
        <p:nvSpPr>
          <p:cNvPr id="3" name="">
            <a:extLst xmlns:a="http://schemas.openxmlformats.org/drawingml/2006/main">
              <a:ext uri="{FF2B5EF4-FFF2-40B4-BE49-F238E27FC236}">
                <a16:creationId xmlns:a16="http://schemas.microsoft.com/office/drawing/2014/main" id="{C8AC7CBA-0826-4F90-A1AF-F5FE454B3778}"/>
              </a:ext>
            </a:extLst>
          </p:cNvPr>
          <p:cNvSpPr>
            <a:spLocks xmlns:a="http://schemas.openxmlformats.org/drawingml/2006/main" noGrp="1"/>
          </p:cNvSpPr>
          <p:nvPr/>
        </p:nvSpPr>
        <p:spPr>
          <a:xfrm xmlns:a="http://schemas.openxmlformats.org/drawingml/2006/main">
            <a:off x="514350" y="1657350"/>
            <a:ext cx="666750" cy="514350"/>
          </a:xfrm>
          <a:prstGeom xmlns:a="http://schemas.openxmlformats.org/drawingml/2006/main" prst="rect">
            <a:avLst/>
          </a:prstGeom>
          <a:solidFill xmlns:a="http://schemas.openxmlformats.org/drawingml/2006/main">
            <a:srgbClr val="1B2B45"/>
          </a:solidFill>
          <a:ln xmlns:a="http://schemas.openxmlformats.org/drawingml/2006/main" w="9525">
            <a:solidFill>
              <a:srgbClr val="FFFFFF"/>
            </a:solidFill>
            <a:prstDash val="solid"/>
          </a:ln>
        </p:spPr>
      </p:sp>
      <p:sp>
        <p:nvSpPr>
          <p:cNvPr id="4" name="">
            <a:extLst xmlns:a="http://schemas.openxmlformats.org/drawingml/2006/main">
              <a:ext uri="{FF2B5EF4-FFF2-40B4-BE49-F238E27FC236}">
                <a16:creationId xmlns:a16="http://schemas.microsoft.com/office/drawing/2014/main" id="{C2ABA826-2984-4C36-A81A-885001D51C8F}"/>
              </a:ext>
            </a:extLst>
          </p:cNvPr>
          <p:cNvSpPr>
            <a:spLocks xmlns:a="http://schemas.openxmlformats.org/drawingml/2006/main" noGrp="1"/>
          </p:cNvSpPr>
          <p:nvPr/>
        </p:nvSpPr>
        <p:spPr>
          <a:xfrm xmlns:a="http://schemas.openxmlformats.org/drawingml/2006/main">
            <a:off x="590550" y="1771650"/>
            <a:ext cx="5143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ctr">
              <a:defRPr sz="1275" b="1" i="0">
                <a:solidFill>
                  <a:srgbClr val="FFFFFF"/>
                </a:solidFill>
                <a:latin typeface="Calibri"/>
                <a:ea typeface="Calibri"/>
                <a:cs typeface="Calibri"/>
              </a:defRPr>
            </a:pPr>
            <a:r>
              <a:rPr sz="1275" b="1" i="0">
                <a:solidFill>
                  <a:srgbClr val="FFFFFF"/>
                </a:solidFill>
                <a:latin typeface="Calibri"/>
                <a:ea typeface="Calibri"/>
                <a:cs typeface="Calibri"/>
              </a:rPr>
              <a:t>#</a:t>
            </a:r>
          </a:p>
        </p:txBody>
      </p:sp>
      <p:sp>
        <p:nvSpPr>
          <p:cNvPr id="5" name="">
            <a:extLst xmlns:a="http://schemas.openxmlformats.org/drawingml/2006/main">
              <a:ext uri="{FF2B5EF4-FFF2-40B4-BE49-F238E27FC236}">
                <a16:creationId xmlns:a16="http://schemas.microsoft.com/office/drawing/2014/main" id="{976B7295-D6A6-4842-AAA4-5E15DF14584E}"/>
              </a:ext>
            </a:extLst>
          </p:cNvPr>
          <p:cNvSpPr>
            <a:spLocks xmlns:a="http://schemas.openxmlformats.org/drawingml/2006/main" noGrp="1"/>
          </p:cNvSpPr>
          <p:nvPr/>
        </p:nvSpPr>
        <p:spPr>
          <a:xfrm xmlns:a="http://schemas.openxmlformats.org/drawingml/2006/main">
            <a:off x="1181100" y="1657350"/>
            <a:ext cx="2724150" cy="514350"/>
          </a:xfrm>
          <a:prstGeom xmlns:a="http://schemas.openxmlformats.org/drawingml/2006/main" prst="rect">
            <a:avLst/>
          </a:prstGeom>
          <a:solidFill xmlns:a="http://schemas.openxmlformats.org/drawingml/2006/main">
            <a:srgbClr val="1B2B45"/>
          </a:solidFill>
          <a:ln xmlns:a="http://schemas.openxmlformats.org/drawingml/2006/main" w="9525">
            <a:solidFill>
              <a:srgbClr val="FFFFFF"/>
            </a:solidFill>
            <a:prstDash val="solid"/>
          </a:ln>
        </p:spPr>
      </p:sp>
      <p:sp>
        <p:nvSpPr>
          <p:cNvPr id="6" name="">
            <a:extLst xmlns:a="http://schemas.openxmlformats.org/drawingml/2006/main">
              <a:ext uri="{FF2B5EF4-FFF2-40B4-BE49-F238E27FC236}">
                <a16:creationId xmlns:a16="http://schemas.microsoft.com/office/drawing/2014/main" id="{B2235F5F-D083-46B2-B342-53A8EA4C02CC}"/>
              </a:ext>
            </a:extLst>
          </p:cNvPr>
          <p:cNvSpPr>
            <a:spLocks xmlns:a="http://schemas.openxmlformats.org/drawingml/2006/main" noGrp="1"/>
          </p:cNvSpPr>
          <p:nvPr/>
        </p:nvSpPr>
        <p:spPr>
          <a:xfrm xmlns:a="http://schemas.openxmlformats.org/drawingml/2006/main">
            <a:off x="1257300" y="1771650"/>
            <a:ext cx="2571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ctr">
              <a:defRPr sz="1275" b="1" i="0">
                <a:solidFill>
                  <a:srgbClr val="FFFFFF"/>
                </a:solidFill>
                <a:latin typeface="Calibri"/>
                <a:ea typeface="Calibri"/>
                <a:cs typeface="Calibri"/>
              </a:defRPr>
            </a:pPr>
            <a:r>
              <a:rPr sz="1275" b="1" i="0">
                <a:solidFill>
                  <a:srgbClr val="FFFFFF"/>
                </a:solidFill>
                <a:latin typeface="Calibri"/>
                <a:ea typeface="Calibri"/>
                <a:cs typeface="Calibri"/>
              </a:rPr>
              <a:t>Idea</a:t>
            </a:r>
          </a:p>
        </p:txBody>
      </p:sp>
      <p:sp>
        <p:nvSpPr>
          <p:cNvPr id="7" name="">
            <a:extLst xmlns:a="http://schemas.openxmlformats.org/drawingml/2006/main">
              <a:ext uri="{FF2B5EF4-FFF2-40B4-BE49-F238E27FC236}">
                <a16:creationId xmlns:a16="http://schemas.microsoft.com/office/drawing/2014/main" id="{5C8A05E5-3CDE-4AC8-8B14-F48601D31E17}"/>
              </a:ext>
            </a:extLst>
          </p:cNvPr>
          <p:cNvSpPr>
            <a:spLocks xmlns:a="http://schemas.openxmlformats.org/drawingml/2006/main" noGrp="1"/>
          </p:cNvSpPr>
          <p:nvPr/>
        </p:nvSpPr>
        <p:spPr>
          <a:xfrm xmlns:a="http://schemas.openxmlformats.org/drawingml/2006/main">
            <a:off x="3905250" y="1657350"/>
            <a:ext cx="2952750" cy="514350"/>
          </a:xfrm>
          <a:prstGeom xmlns:a="http://schemas.openxmlformats.org/drawingml/2006/main" prst="rect">
            <a:avLst/>
          </a:prstGeom>
          <a:solidFill xmlns:a="http://schemas.openxmlformats.org/drawingml/2006/main">
            <a:srgbClr val="1B2B45"/>
          </a:solidFill>
          <a:ln xmlns:a="http://schemas.openxmlformats.org/drawingml/2006/main" w="9525">
            <a:solidFill>
              <a:srgbClr val="FFFFFF"/>
            </a:solidFill>
            <a:prstDash val="solid"/>
          </a:ln>
        </p:spPr>
      </p:sp>
      <p:sp>
        <p:nvSpPr>
          <p:cNvPr id="8" name="">
            <a:extLst xmlns:a="http://schemas.openxmlformats.org/drawingml/2006/main">
              <a:ext uri="{FF2B5EF4-FFF2-40B4-BE49-F238E27FC236}">
                <a16:creationId xmlns:a16="http://schemas.microsoft.com/office/drawing/2014/main" id="{03B9DBC6-F000-4257-9741-AC62AEB45734}"/>
              </a:ext>
            </a:extLst>
          </p:cNvPr>
          <p:cNvSpPr>
            <a:spLocks xmlns:a="http://schemas.openxmlformats.org/drawingml/2006/main" noGrp="1"/>
          </p:cNvSpPr>
          <p:nvPr/>
        </p:nvSpPr>
        <p:spPr>
          <a:xfrm xmlns:a="http://schemas.openxmlformats.org/drawingml/2006/main">
            <a:off x="3981450" y="1771650"/>
            <a:ext cx="28003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ctr">
              <a:defRPr sz="1275" b="1" i="0">
                <a:solidFill>
                  <a:srgbClr val="FFFFFF"/>
                </a:solidFill>
                <a:latin typeface="Calibri"/>
                <a:ea typeface="Calibri"/>
                <a:cs typeface="Calibri"/>
              </a:defRPr>
            </a:pPr>
            <a:r>
              <a:rPr sz="1275" b="1" i="0">
                <a:solidFill>
                  <a:srgbClr val="FFFFFF"/>
                </a:solidFill>
                <a:latin typeface="Calibri"/>
                <a:ea typeface="Calibri"/>
                <a:cs typeface="Calibri"/>
              </a:rPr>
              <a:t>Trigger / scope</a:t>
            </a:r>
          </a:p>
        </p:txBody>
      </p:sp>
      <p:sp>
        <p:nvSpPr>
          <p:cNvPr id="9" name="">
            <a:extLst xmlns:a="http://schemas.openxmlformats.org/drawingml/2006/main">
              <a:ext uri="{FF2B5EF4-FFF2-40B4-BE49-F238E27FC236}">
                <a16:creationId xmlns:a16="http://schemas.microsoft.com/office/drawing/2014/main" id="{6AE76F03-13A6-4121-9606-CE944F47BA1B}"/>
              </a:ext>
            </a:extLst>
          </p:cNvPr>
          <p:cNvSpPr>
            <a:spLocks xmlns:a="http://schemas.openxmlformats.org/drawingml/2006/main" noGrp="1"/>
          </p:cNvSpPr>
          <p:nvPr/>
        </p:nvSpPr>
        <p:spPr>
          <a:xfrm xmlns:a="http://schemas.openxmlformats.org/drawingml/2006/main">
            <a:off x="6858000" y="1657350"/>
            <a:ext cx="2533650" cy="514350"/>
          </a:xfrm>
          <a:prstGeom xmlns:a="http://schemas.openxmlformats.org/drawingml/2006/main" prst="rect">
            <a:avLst/>
          </a:prstGeom>
          <a:solidFill xmlns:a="http://schemas.openxmlformats.org/drawingml/2006/main">
            <a:srgbClr val="1B2B45"/>
          </a:solidFill>
          <a:ln xmlns:a="http://schemas.openxmlformats.org/drawingml/2006/main" w="9525">
            <a:solidFill>
              <a:srgbClr val="FFFFFF"/>
            </a:solidFill>
            <a:prstDash val="solid"/>
          </a:ln>
        </p:spPr>
      </p:sp>
      <p:sp>
        <p:nvSpPr>
          <p:cNvPr id="10" name="">
            <a:extLst xmlns:a="http://schemas.openxmlformats.org/drawingml/2006/main">
              <a:ext uri="{FF2B5EF4-FFF2-40B4-BE49-F238E27FC236}">
                <a16:creationId xmlns:a16="http://schemas.microsoft.com/office/drawing/2014/main" id="{640F0354-700F-47E8-8555-491CC5A55CD7}"/>
              </a:ext>
            </a:extLst>
          </p:cNvPr>
          <p:cNvSpPr>
            <a:spLocks xmlns:a="http://schemas.openxmlformats.org/drawingml/2006/main" noGrp="1"/>
          </p:cNvSpPr>
          <p:nvPr/>
        </p:nvSpPr>
        <p:spPr>
          <a:xfrm xmlns:a="http://schemas.openxmlformats.org/drawingml/2006/main">
            <a:off x="6934200" y="1771650"/>
            <a:ext cx="2381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ctr">
              <a:defRPr sz="1275" b="1" i="0">
                <a:solidFill>
                  <a:srgbClr val="FFFFFF"/>
                </a:solidFill>
                <a:latin typeface="Calibri"/>
                <a:ea typeface="Calibri"/>
                <a:cs typeface="Calibri"/>
              </a:defRPr>
            </a:pPr>
            <a:r>
              <a:rPr sz="1275" b="1" i="0">
                <a:solidFill>
                  <a:srgbClr val="FFFFFF"/>
                </a:solidFill>
                <a:latin typeface="Calibri"/>
                <a:ea typeface="Calibri"/>
                <a:cs typeface="Calibri"/>
              </a:rPr>
              <a:t>Primary measures</a:t>
            </a:r>
          </a:p>
        </p:txBody>
      </p:sp>
      <p:sp>
        <p:nvSpPr>
          <p:cNvPr id="11" name="">
            <a:extLst xmlns:a="http://schemas.openxmlformats.org/drawingml/2006/main">
              <a:ext uri="{FF2B5EF4-FFF2-40B4-BE49-F238E27FC236}">
                <a16:creationId xmlns:a16="http://schemas.microsoft.com/office/drawing/2014/main" id="{CA555438-9D27-46BB-89AF-8F3E2B2435F4}"/>
              </a:ext>
            </a:extLst>
          </p:cNvPr>
          <p:cNvSpPr>
            <a:spLocks xmlns:a="http://schemas.openxmlformats.org/drawingml/2006/main" noGrp="1"/>
          </p:cNvSpPr>
          <p:nvPr/>
        </p:nvSpPr>
        <p:spPr>
          <a:xfrm xmlns:a="http://schemas.openxmlformats.org/drawingml/2006/main">
            <a:off x="9391650" y="1657350"/>
            <a:ext cx="1562100" cy="514350"/>
          </a:xfrm>
          <a:prstGeom xmlns:a="http://schemas.openxmlformats.org/drawingml/2006/main" prst="rect">
            <a:avLst/>
          </a:prstGeom>
          <a:solidFill xmlns:a="http://schemas.openxmlformats.org/drawingml/2006/main">
            <a:srgbClr val="1B2B45"/>
          </a:solidFill>
          <a:ln xmlns:a="http://schemas.openxmlformats.org/drawingml/2006/main" w="9525">
            <a:solidFill>
              <a:srgbClr val="FFFFFF"/>
            </a:solidFill>
            <a:prstDash val="solid"/>
          </a:ln>
        </p:spPr>
      </p:sp>
      <p:sp>
        <p:nvSpPr>
          <p:cNvPr id="12" name="">
            <a:extLst xmlns:a="http://schemas.openxmlformats.org/drawingml/2006/main">
              <a:ext uri="{FF2B5EF4-FFF2-40B4-BE49-F238E27FC236}">
                <a16:creationId xmlns:a16="http://schemas.microsoft.com/office/drawing/2014/main" id="{C72496A7-5AE4-44B6-B9CE-5D86FC97615D}"/>
              </a:ext>
            </a:extLst>
          </p:cNvPr>
          <p:cNvSpPr>
            <a:spLocks xmlns:a="http://schemas.openxmlformats.org/drawingml/2006/main" noGrp="1"/>
          </p:cNvSpPr>
          <p:nvPr/>
        </p:nvSpPr>
        <p:spPr>
          <a:xfrm xmlns:a="http://schemas.openxmlformats.org/drawingml/2006/main">
            <a:off x="9467850" y="1771650"/>
            <a:ext cx="14097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ctr">
              <a:defRPr sz="1275" b="1" i="0">
                <a:solidFill>
                  <a:srgbClr val="FFFFFF"/>
                </a:solidFill>
                <a:latin typeface="Calibri"/>
                <a:ea typeface="Calibri"/>
                <a:cs typeface="Calibri"/>
              </a:defRPr>
            </a:pPr>
            <a:r>
              <a:rPr sz="1275" b="1" i="0">
                <a:solidFill>
                  <a:srgbClr val="FFFFFF"/>
                </a:solidFill>
                <a:latin typeface="Calibri"/>
                <a:ea typeface="Calibri"/>
                <a:cs typeface="Calibri"/>
              </a:rPr>
              <a:t>Main risk</a:t>
            </a:r>
          </a:p>
        </p:txBody>
      </p:sp>
      <p:sp>
        <p:nvSpPr>
          <p:cNvPr id="13" name="">
            <a:extLst xmlns:a="http://schemas.openxmlformats.org/drawingml/2006/main">
              <a:ext uri="{FF2B5EF4-FFF2-40B4-BE49-F238E27FC236}">
                <a16:creationId xmlns:a16="http://schemas.microsoft.com/office/drawing/2014/main" id="{FFDE85FF-BCF4-48ED-A2BC-17F54B7621AF}"/>
              </a:ext>
            </a:extLst>
          </p:cNvPr>
          <p:cNvSpPr>
            <a:spLocks xmlns:a="http://schemas.openxmlformats.org/drawingml/2006/main" noGrp="1"/>
          </p:cNvSpPr>
          <p:nvPr/>
        </p:nvSpPr>
        <p:spPr>
          <a:xfrm xmlns:a="http://schemas.openxmlformats.org/drawingml/2006/main">
            <a:off x="514350" y="2171700"/>
            <a:ext cx="666750" cy="1181100"/>
          </a:xfrm>
          <a:prstGeom xmlns:a="http://schemas.openxmlformats.org/drawingml/2006/main" prst="rect">
            <a:avLst/>
          </a:prstGeom>
          <a:solidFill xmlns:a="http://schemas.openxmlformats.org/drawingml/2006/main">
            <a:srgbClr val="FFFFFF"/>
          </a:solidFill>
          <a:ln xmlns:a="http://schemas.openxmlformats.org/drawingml/2006/main" w="9525">
            <a:solidFill>
              <a:srgbClr val="E8ECF1"/>
            </a:solidFill>
            <a:prstDash val="solid"/>
          </a:ln>
        </p:spPr>
      </p:sp>
      <p:sp>
        <p:nvSpPr>
          <p:cNvPr id="14" name="">
            <a:extLst xmlns:a="http://schemas.openxmlformats.org/drawingml/2006/main">
              <a:ext uri="{FF2B5EF4-FFF2-40B4-BE49-F238E27FC236}">
                <a16:creationId xmlns:a16="http://schemas.microsoft.com/office/drawing/2014/main" id="{27043F0D-EE6D-409E-982B-949005EBF688}"/>
              </a:ext>
            </a:extLst>
          </p:cNvPr>
          <p:cNvSpPr>
            <a:spLocks xmlns:a="http://schemas.openxmlformats.org/drawingml/2006/main" noGrp="1"/>
          </p:cNvSpPr>
          <p:nvPr/>
        </p:nvSpPr>
        <p:spPr>
          <a:xfrm xmlns:a="http://schemas.openxmlformats.org/drawingml/2006/main">
            <a:off x="609600" y="2305050"/>
            <a:ext cx="47625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ctr">
            <a:normAutofit fontScale="100000"/>
          </a:bodyPr>
          <a:lstStyle xmlns:a="http://schemas.openxmlformats.org/drawingml/2006/main"/>
          <a:p xmlns:a="http://schemas.openxmlformats.org/drawingml/2006/main">
            <a:pPr algn="ctr">
              <a:defRPr sz="2100" b="1" i="0">
                <a:solidFill>
                  <a:srgbClr val="F47A22"/>
                </a:solidFill>
                <a:latin typeface="Calibri"/>
                <a:ea typeface="Calibri"/>
                <a:cs typeface="Calibri"/>
              </a:defRPr>
            </a:pPr>
            <a:r>
              <a:rPr sz="2100" b="1" i="0">
                <a:solidFill>
                  <a:srgbClr val="F47A22"/>
                </a:solidFill>
                <a:latin typeface="Calibri"/>
                <a:ea typeface="Calibri"/>
                <a:cs typeface="Calibri"/>
              </a:rPr>
              <a:t>1</a:t>
            </a:r>
          </a:p>
        </p:txBody>
      </p:sp>
      <p:sp>
        <p:nvSpPr>
          <p:cNvPr id="15" name="">
            <a:extLst xmlns:a="http://schemas.openxmlformats.org/drawingml/2006/main">
              <a:ext uri="{FF2B5EF4-FFF2-40B4-BE49-F238E27FC236}">
                <a16:creationId xmlns:a16="http://schemas.microsoft.com/office/drawing/2014/main" id="{2DA6BE0B-BF57-4B6B-8F8D-5D7C277FB0E0}"/>
              </a:ext>
            </a:extLst>
          </p:cNvPr>
          <p:cNvSpPr>
            <a:spLocks xmlns:a="http://schemas.openxmlformats.org/drawingml/2006/main" noGrp="1"/>
          </p:cNvSpPr>
          <p:nvPr/>
        </p:nvSpPr>
        <p:spPr>
          <a:xfrm xmlns:a="http://schemas.openxmlformats.org/drawingml/2006/main">
            <a:off x="1181100" y="2171700"/>
            <a:ext cx="2724150" cy="1181100"/>
          </a:xfrm>
          <a:prstGeom xmlns:a="http://schemas.openxmlformats.org/drawingml/2006/main" prst="rect">
            <a:avLst/>
          </a:prstGeom>
          <a:solidFill xmlns:a="http://schemas.openxmlformats.org/drawingml/2006/main">
            <a:srgbClr val="FFFFFF"/>
          </a:solidFill>
          <a:ln xmlns:a="http://schemas.openxmlformats.org/drawingml/2006/main" w="9525">
            <a:solidFill>
              <a:srgbClr val="E8ECF1"/>
            </a:solidFill>
            <a:prstDash val="solid"/>
          </a:ln>
        </p:spPr>
      </p:sp>
      <p:sp>
        <p:nvSpPr>
          <p:cNvPr id="16" name="">
            <a:extLst xmlns:a="http://schemas.openxmlformats.org/drawingml/2006/main">
              <a:ext uri="{FF2B5EF4-FFF2-40B4-BE49-F238E27FC236}">
                <a16:creationId xmlns:a16="http://schemas.microsoft.com/office/drawing/2014/main" id="{4AB14F78-64A6-47FB-8799-2092533D2559}"/>
              </a:ext>
            </a:extLst>
          </p:cNvPr>
          <p:cNvSpPr>
            <a:spLocks xmlns:a="http://schemas.openxmlformats.org/drawingml/2006/main" noGrp="1"/>
          </p:cNvSpPr>
          <p:nvPr/>
        </p:nvSpPr>
        <p:spPr>
          <a:xfrm xmlns:a="http://schemas.openxmlformats.org/drawingml/2006/main">
            <a:off x="1276350" y="2305050"/>
            <a:ext cx="253365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ctr">
            <a:normAutofit fontScale="100000"/>
          </a:bodyPr>
          <a:lstStyle xmlns:a="http://schemas.openxmlformats.org/drawingml/2006/main"/>
          <a:p xmlns:a="http://schemas.openxmlformats.org/drawingml/2006/main">
            <a:pPr algn="l">
              <a:defRPr sz="1275" b="1" i="0">
                <a:solidFill>
                  <a:srgbClr val="233248"/>
                </a:solidFill>
                <a:latin typeface="Calibri"/>
                <a:ea typeface="Calibri"/>
                <a:cs typeface="Calibri"/>
              </a:defRPr>
            </a:pPr>
            <a:r>
              <a:rPr sz="1275" b="1" i="0">
                <a:solidFill>
                  <a:srgbClr val="233248"/>
                </a:solidFill>
                <a:latin typeface="Calibri"/>
                <a:ea typeface="Calibri"/>
                <a:cs typeface="Calibri"/>
              </a:rPr>
              <a:t>Pre-arrival meeting note</a:t>
            </a:r>
          </a:p>
        </p:txBody>
      </p:sp>
      <p:sp>
        <p:nvSpPr>
          <p:cNvPr id="17" name="">
            <a:extLst xmlns:a="http://schemas.openxmlformats.org/drawingml/2006/main">
              <a:ext uri="{FF2B5EF4-FFF2-40B4-BE49-F238E27FC236}">
                <a16:creationId xmlns:a16="http://schemas.microsoft.com/office/drawing/2014/main" id="{48D842A5-B9FA-466E-8A79-0C08EC9A91B5}"/>
              </a:ext>
            </a:extLst>
          </p:cNvPr>
          <p:cNvSpPr>
            <a:spLocks xmlns:a="http://schemas.openxmlformats.org/drawingml/2006/main" noGrp="1"/>
          </p:cNvSpPr>
          <p:nvPr/>
        </p:nvSpPr>
        <p:spPr>
          <a:xfrm xmlns:a="http://schemas.openxmlformats.org/drawingml/2006/main">
            <a:off x="3905250" y="2171700"/>
            <a:ext cx="2952750" cy="1181100"/>
          </a:xfrm>
          <a:prstGeom xmlns:a="http://schemas.openxmlformats.org/drawingml/2006/main" prst="rect">
            <a:avLst/>
          </a:prstGeom>
          <a:solidFill xmlns:a="http://schemas.openxmlformats.org/drawingml/2006/main">
            <a:srgbClr val="FFFFFF"/>
          </a:solidFill>
          <a:ln xmlns:a="http://schemas.openxmlformats.org/drawingml/2006/main" w="9525">
            <a:solidFill>
              <a:srgbClr val="E8ECF1"/>
            </a:solidFill>
            <a:prstDash val="solid"/>
          </a:ln>
        </p:spPr>
      </p:sp>
      <p:sp>
        <p:nvSpPr>
          <p:cNvPr id="18" name="">
            <a:extLst xmlns:a="http://schemas.openxmlformats.org/drawingml/2006/main">
              <a:ext uri="{FF2B5EF4-FFF2-40B4-BE49-F238E27FC236}">
                <a16:creationId xmlns:a16="http://schemas.microsoft.com/office/drawing/2014/main" id="{88C856C2-D073-40A3-986E-B48CFB18EFD1}"/>
              </a:ext>
            </a:extLst>
          </p:cNvPr>
          <p:cNvSpPr>
            <a:spLocks xmlns:a="http://schemas.openxmlformats.org/drawingml/2006/main" noGrp="1"/>
          </p:cNvSpPr>
          <p:nvPr/>
        </p:nvSpPr>
        <p:spPr>
          <a:xfrm xmlns:a="http://schemas.openxmlformats.org/drawingml/2006/main">
            <a:off x="4000500" y="2305050"/>
            <a:ext cx="276225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ctr">
            <a:normAutofit fontScale="100000"/>
          </a:bodyPr>
          <a:lstStyle xmlns:a="http://schemas.openxmlformats.org/drawingml/2006/main"/>
          <a:p xmlns:a="http://schemas.openxmlformats.org/drawingml/2006/main">
            <a:pPr algn="l">
              <a:defRPr sz="1275" b="0" i="0">
                <a:solidFill>
                  <a:srgbClr val="233248"/>
                </a:solidFill>
                <a:latin typeface="Calibri"/>
                <a:ea typeface="Calibri"/>
                <a:cs typeface="Calibri"/>
              </a:defRPr>
            </a:pPr>
            <a:r>
              <a:rPr sz="1275" b="0" i="0">
                <a:solidFill>
                  <a:srgbClr val="233248"/>
                </a:solidFill>
                <a:latin typeface="Calibri"/>
                <a:ea typeface="Calibri"/>
                <a:cs typeface="Calibri"/>
              </a:rPr>
              <a:t>Flagged complex location; before arrival</a:t>
            </a:r>
          </a:p>
        </p:txBody>
      </p:sp>
      <p:sp>
        <p:nvSpPr>
          <p:cNvPr id="19" name="">
            <a:extLst xmlns:a="http://schemas.openxmlformats.org/drawingml/2006/main">
              <a:ext uri="{FF2B5EF4-FFF2-40B4-BE49-F238E27FC236}">
                <a16:creationId xmlns:a16="http://schemas.microsoft.com/office/drawing/2014/main" id="{90F73987-0A5E-4515-82A6-B80575916EC2}"/>
              </a:ext>
            </a:extLst>
          </p:cNvPr>
          <p:cNvSpPr>
            <a:spLocks xmlns:a="http://schemas.openxmlformats.org/drawingml/2006/main" noGrp="1"/>
          </p:cNvSpPr>
          <p:nvPr/>
        </p:nvSpPr>
        <p:spPr>
          <a:xfrm xmlns:a="http://schemas.openxmlformats.org/drawingml/2006/main">
            <a:off x="6858000" y="2171700"/>
            <a:ext cx="2533650" cy="1181100"/>
          </a:xfrm>
          <a:prstGeom xmlns:a="http://schemas.openxmlformats.org/drawingml/2006/main" prst="rect">
            <a:avLst/>
          </a:prstGeom>
          <a:solidFill xmlns:a="http://schemas.openxmlformats.org/drawingml/2006/main">
            <a:srgbClr val="FFFFFF"/>
          </a:solidFill>
          <a:ln xmlns:a="http://schemas.openxmlformats.org/drawingml/2006/main" w="9525">
            <a:solidFill>
              <a:srgbClr val="E8ECF1"/>
            </a:solidFill>
            <a:prstDash val="solid"/>
          </a:ln>
        </p:spPr>
      </p:sp>
      <p:sp>
        <p:nvSpPr>
          <p:cNvPr id="20" name="">
            <a:extLst xmlns:a="http://schemas.openxmlformats.org/drawingml/2006/main">
              <a:ext uri="{FF2B5EF4-FFF2-40B4-BE49-F238E27FC236}">
                <a16:creationId xmlns:a16="http://schemas.microsoft.com/office/drawing/2014/main" id="{ED832A4C-80E2-4FDB-9534-C6DE1FF37D33}"/>
              </a:ext>
            </a:extLst>
          </p:cNvPr>
          <p:cNvSpPr>
            <a:spLocks xmlns:a="http://schemas.openxmlformats.org/drawingml/2006/main" noGrp="1"/>
          </p:cNvSpPr>
          <p:nvPr/>
        </p:nvSpPr>
        <p:spPr>
          <a:xfrm xmlns:a="http://schemas.openxmlformats.org/drawingml/2006/main">
            <a:off x="6953250" y="2305050"/>
            <a:ext cx="234315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ctr">
            <a:normAutofit fontScale="100000"/>
          </a:bodyPr>
          <a:lstStyle xmlns:a="http://schemas.openxmlformats.org/drawingml/2006/main"/>
          <a:p xmlns:a="http://schemas.openxmlformats.org/drawingml/2006/main">
            <a:pPr algn="l">
              <a:defRPr sz="1275" b="0" i="0">
                <a:solidFill>
                  <a:srgbClr val="233248"/>
                </a:solidFill>
                <a:latin typeface="Calibri"/>
                <a:ea typeface="Calibri"/>
                <a:cs typeface="Calibri"/>
              </a:defRPr>
            </a:pPr>
            <a:r>
              <a:rPr sz="1275" b="0" i="0">
                <a:solidFill>
                  <a:srgbClr val="233248"/>
                </a:solidFill>
                <a:latin typeface="Calibri"/>
                <a:ea typeface="Calibri"/>
                <a:cs typeface="Calibri"/>
              </a:rPr>
              <a:t>Calls/messages, dwell, location changes</a:t>
            </a:r>
          </a:p>
        </p:txBody>
      </p:sp>
      <p:sp>
        <p:nvSpPr>
          <p:cNvPr id="21" name="">
            <a:extLst xmlns:a="http://schemas.openxmlformats.org/drawingml/2006/main">
              <a:ext uri="{FF2B5EF4-FFF2-40B4-BE49-F238E27FC236}">
                <a16:creationId xmlns:a16="http://schemas.microsoft.com/office/drawing/2014/main" id="{70A09692-69EC-429B-ACC7-C863BD8E3F2A}"/>
              </a:ext>
            </a:extLst>
          </p:cNvPr>
          <p:cNvSpPr>
            <a:spLocks xmlns:a="http://schemas.openxmlformats.org/drawingml/2006/main" noGrp="1"/>
          </p:cNvSpPr>
          <p:nvPr/>
        </p:nvSpPr>
        <p:spPr>
          <a:xfrm xmlns:a="http://schemas.openxmlformats.org/drawingml/2006/main">
            <a:off x="9391650" y="2171700"/>
            <a:ext cx="1562100" cy="1181100"/>
          </a:xfrm>
          <a:prstGeom xmlns:a="http://schemas.openxmlformats.org/drawingml/2006/main" prst="rect">
            <a:avLst/>
          </a:prstGeom>
          <a:solidFill xmlns:a="http://schemas.openxmlformats.org/drawingml/2006/main">
            <a:srgbClr val="FFFFFF"/>
          </a:solidFill>
          <a:ln xmlns:a="http://schemas.openxmlformats.org/drawingml/2006/main" w="9525">
            <a:solidFill>
              <a:srgbClr val="E8ECF1"/>
            </a:solidFill>
            <a:prstDash val="solid"/>
          </a:ln>
        </p:spPr>
      </p:sp>
      <p:sp>
        <p:nvSpPr>
          <p:cNvPr id="22" name="">
            <a:extLst xmlns:a="http://schemas.openxmlformats.org/drawingml/2006/main">
              <a:ext uri="{FF2B5EF4-FFF2-40B4-BE49-F238E27FC236}">
                <a16:creationId xmlns:a16="http://schemas.microsoft.com/office/drawing/2014/main" id="{782358CA-A303-4FBA-875F-8FAEC106804C}"/>
              </a:ext>
            </a:extLst>
          </p:cNvPr>
          <p:cNvSpPr>
            <a:spLocks xmlns:a="http://schemas.openxmlformats.org/drawingml/2006/main" noGrp="1"/>
          </p:cNvSpPr>
          <p:nvPr/>
        </p:nvSpPr>
        <p:spPr>
          <a:xfrm xmlns:a="http://schemas.openxmlformats.org/drawingml/2006/main">
            <a:off x="9486900" y="2305050"/>
            <a:ext cx="137160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ctr">
            <a:normAutofit fontScale="100000"/>
          </a:bodyPr>
          <a:lstStyle xmlns:a="http://schemas.openxmlformats.org/drawingml/2006/main"/>
          <a:p xmlns:a="http://schemas.openxmlformats.org/drawingml/2006/main">
            <a:pPr algn="l">
              <a:defRPr sz="1275" b="0" i="0">
                <a:solidFill>
                  <a:srgbClr val="233248"/>
                </a:solidFill>
                <a:latin typeface="Calibri"/>
                <a:ea typeface="Calibri"/>
                <a:cs typeface="Calibri"/>
              </a:defRPr>
            </a:pPr>
            <a:r>
              <a:rPr sz="1275" b="0" i="0">
                <a:solidFill>
                  <a:srgbClr val="233248"/>
                </a:solidFill>
                <a:latin typeface="Calibri"/>
                <a:ea typeface="Calibri"/>
                <a:cs typeface="Calibri"/>
              </a:rPr>
              <a:t>Added friction if over-triggered</a:t>
            </a:r>
          </a:p>
        </p:txBody>
      </p:sp>
      <p:sp>
        <p:nvSpPr>
          <p:cNvPr id="23" name="">
            <a:extLst xmlns:a="http://schemas.openxmlformats.org/drawingml/2006/main">
              <a:ext uri="{FF2B5EF4-FFF2-40B4-BE49-F238E27FC236}">
                <a16:creationId xmlns:a16="http://schemas.microsoft.com/office/drawing/2014/main" id="{28741850-4198-40B6-85F0-697B18CA356B}"/>
              </a:ext>
            </a:extLst>
          </p:cNvPr>
          <p:cNvSpPr>
            <a:spLocks xmlns:a="http://schemas.openxmlformats.org/drawingml/2006/main" noGrp="1"/>
          </p:cNvSpPr>
          <p:nvPr/>
        </p:nvSpPr>
        <p:spPr>
          <a:xfrm xmlns:a="http://schemas.openxmlformats.org/drawingml/2006/main">
            <a:off x="514350" y="3352800"/>
            <a:ext cx="666750" cy="1181100"/>
          </a:xfrm>
          <a:prstGeom xmlns:a="http://schemas.openxmlformats.org/drawingml/2006/main" prst="rect">
            <a:avLst/>
          </a:prstGeom>
          <a:solidFill xmlns:a="http://schemas.openxmlformats.org/drawingml/2006/main">
            <a:srgbClr val="F8F9FB"/>
          </a:solidFill>
          <a:ln xmlns:a="http://schemas.openxmlformats.org/drawingml/2006/main" w="9525">
            <a:solidFill>
              <a:srgbClr val="E8ECF1"/>
            </a:solidFill>
            <a:prstDash val="solid"/>
          </a:ln>
        </p:spPr>
      </p:sp>
      <p:sp>
        <p:nvSpPr>
          <p:cNvPr id="24" name="">
            <a:extLst xmlns:a="http://schemas.openxmlformats.org/drawingml/2006/main">
              <a:ext uri="{FF2B5EF4-FFF2-40B4-BE49-F238E27FC236}">
                <a16:creationId xmlns:a16="http://schemas.microsoft.com/office/drawing/2014/main" id="{1A4A384E-9C1B-4C33-B402-16DAA691002B}"/>
              </a:ext>
            </a:extLst>
          </p:cNvPr>
          <p:cNvSpPr>
            <a:spLocks xmlns:a="http://schemas.openxmlformats.org/drawingml/2006/main" noGrp="1"/>
          </p:cNvSpPr>
          <p:nvPr/>
        </p:nvSpPr>
        <p:spPr>
          <a:xfrm xmlns:a="http://schemas.openxmlformats.org/drawingml/2006/main">
            <a:off x="609600" y="3486150"/>
            <a:ext cx="47625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ctr">
            <a:normAutofit fontScale="100000"/>
          </a:bodyPr>
          <a:lstStyle xmlns:a="http://schemas.openxmlformats.org/drawingml/2006/main"/>
          <a:p xmlns:a="http://schemas.openxmlformats.org/drawingml/2006/main">
            <a:pPr algn="ctr">
              <a:defRPr sz="2100" b="1" i="0">
                <a:solidFill>
                  <a:srgbClr val="F47A22"/>
                </a:solidFill>
                <a:latin typeface="Calibri"/>
                <a:ea typeface="Calibri"/>
                <a:cs typeface="Calibri"/>
              </a:defRPr>
            </a:pPr>
            <a:r>
              <a:rPr sz="2100" b="1" i="0">
                <a:solidFill>
                  <a:srgbClr val="F47A22"/>
                </a:solidFill>
                <a:latin typeface="Calibri"/>
                <a:ea typeface="Calibri"/>
                <a:cs typeface="Calibri"/>
              </a:rPr>
              <a:t>2</a:t>
            </a:r>
          </a:p>
        </p:txBody>
      </p:sp>
      <p:sp>
        <p:nvSpPr>
          <p:cNvPr id="25" name="">
            <a:extLst xmlns:a="http://schemas.openxmlformats.org/drawingml/2006/main">
              <a:ext uri="{FF2B5EF4-FFF2-40B4-BE49-F238E27FC236}">
                <a16:creationId xmlns:a16="http://schemas.microsoft.com/office/drawing/2014/main" id="{11E3B180-8ACB-4152-B13F-52789C7CC016}"/>
              </a:ext>
            </a:extLst>
          </p:cNvPr>
          <p:cNvSpPr>
            <a:spLocks xmlns:a="http://schemas.openxmlformats.org/drawingml/2006/main" noGrp="1"/>
          </p:cNvSpPr>
          <p:nvPr/>
        </p:nvSpPr>
        <p:spPr>
          <a:xfrm xmlns:a="http://schemas.openxmlformats.org/drawingml/2006/main">
            <a:off x="1181100" y="3352800"/>
            <a:ext cx="2724150" cy="1181100"/>
          </a:xfrm>
          <a:prstGeom xmlns:a="http://schemas.openxmlformats.org/drawingml/2006/main" prst="rect">
            <a:avLst/>
          </a:prstGeom>
          <a:solidFill xmlns:a="http://schemas.openxmlformats.org/drawingml/2006/main">
            <a:srgbClr val="F8F9FB"/>
          </a:solidFill>
          <a:ln xmlns:a="http://schemas.openxmlformats.org/drawingml/2006/main" w="9525">
            <a:solidFill>
              <a:srgbClr val="E8ECF1"/>
            </a:solidFill>
            <a:prstDash val="solid"/>
          </a:ln>
        </p:spPr>
      </p:sp>
      <p:sp>
        <p:nvSpPr>
          <p:cNvPr id="26" name="">
            <a:extLst xmlns:a="http://schemas.openxmlformats.org/drawingml/2006/main">
              <a:ext uri="{FF2B5EF4-FFF2-40B4-BE49-F238E27FC236}">
                <a16:creationId xmlns:a16="http://schemas.microsoft.com/office/drawing/2014/main" id="{1FC96DEA-01E0-4B50-A053-B68CD9D95A2A}"/>
              </a:ext>
            </a:extLst>
          </p:cNvPr>
          <p:cNvSpPr>
            <a:spLocks xmlns:a="http://schemas.openxmlformats.org/drawingml/2006/main" noGrp="1"/>
          </p:cNvSpPr>
          <p:nvPr/>
        </p:nvSpPr>
        <p:spPr>
          <a:xfrm xmlns:a="http://schemas.openxmlformats.org/drawingml/2006/main">
            <a:off x="1276350" y="3486150"/>
            <a:ext cx="253365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ctr">
            <a:normAutofit fontScale="100000"/>
          </a:bodyPr>
          <a:lstStyle xmlns:a="http://schemas.openxmlformats.org/drawingml/2006/main"/>
          <a:p xmlns:a="http://schemas.openxmlformats.org/drawingml/2006/main">
            <a:pPr algn="l">
              <a:defRPr sz="1275" b="1" i="0">
                <a:solidFill>
                  <a:srgbClr val="233248"/>
                </a:solidFill>
                <a:latin typeface="Calibri"/>
                <a:ea typeface="Calibri"/>
                <a:cs typeface="Calibri"/>
              </a:defRPr>
            </a:pPr>
            <a:r>
              <a:rPr sz="1275" b="1" i="0">
                <a:solidFill>
                  <a:srgbClr val="233248"/>
                </a:solidFill>
                <a:latin typeface="Calibri"/>
                <a:ea typeface="Calibri"/>
                <a:cs typeface="Calibri"/>
              </a:rPr>
              <a:t>Guided stalled-pickup recovery</a:t>
            </a:r>
          </a:p>
        </p:txBody>
      </p:sp>
      <p:sp>
        <p:nvSpPr>
          <p:cNvPr id="27" name="">
            <a:extLst xmlns:a="http://schemas.openxmlformats.org/drawingml/2006/main">
              <a:ext uri="{FF2B5EF4-FFF2-40B4-BE49-F238E27FC236}">
                <a16:creationId xmlns:a16="http://schemas.microsoft.com/office/drawing/2014/main" id="{A84BCDEF-F992-423C-A9B7-B71A92AEBB78}"/>
              </a:ext>
            </a:extLst>
          </p:cNvPr>
          <p:cNvSpPr>
            <a:spLocks xmlns:a="http://schemas.openxmlformats.org/drawingml/2006/main" noGrp="1"/>
          </p:cNvSpPr>
          <p:nvPr/>
        </p:nvSpPr>
        <p:spPr>
          <a:xfrm xmlns:a="http://schemas.openxmlformats.org/drawingml/2006/main">
            <a:off x="3905250" y="3352800"/>
            <a:ext cx="2952750" cy="1181100"/>
          </a:xfrm>
          <a:prstGeom xmlns:a="http://schemas.openxmlformats.org/drawingml/2006/main" prst="rect">
            <a:avLst/>
          </a:prstGeom>
          <a:solidFill xmlns:a="http://schemas.openxmlformats.org/drawingml/2006/main">
            <a:srgbClr val="F8F9FB"/>
          </a:solidFill>
          <a:ln xmlns:a="http://schemas.openxmlformats.org/drawingml/2006/main" w="9525">
            <a:solidFill>
              <a:srgbClr val="E8ECF1"/>
            </a:solidFill>
            <a:prstDash val="solid"/>
          </a:ln>
        </p:spPr>
      </p:sp>
      <p:sp>
        <p:nvSpPr>
          <p:cNvPr id="28" name="">
            <a:extLst xmlns:a="http://schemas.openxmlformats.org/drawingml/2006/main">
              <a:ext uri="{FF2B5EF4-FFF2-40B4-BE49-F238E27FC236}">
                <a16:creationId xmlns:a16="http://schemas.microsoft.com/office/drawing/2014/main" id="{918F381B-CDC4-4F5E-BFD8-28BE02ABB206}"/>
              </a:ext>
            </a:extLst>
          </p:cNvPr>
          <p:cNvSpPr>
            <a:spLocks xmlns:a="http://schemas.openxmlformats.org/drawingml/2006/main" noGrp="1"/>
          </p:cNvSpPr>
          <p:nvPr/>
        </p:nvSpPr>
        <p:spPr>
          <a:xfrm xmlns:a="http://schemas.openxmlformats.org/drawingml/2006/main">
            <a:off x="4000500" y="3486150"/>
            <a:ext cx="276225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ctr">
            <a:normAutofit fontScale="100000"/>
          </a:bodyPr>
          <a:lstStyle xmlns:a="http://schemas.openxmlformats.org/drawingml/2006/main"/>
          <a:p xmlns:a="http://schemas.openxmlformats.org/drawingml/2006/main">
            <a:pPr algn="l">
              <a:defRPr sz="1275" b="0" i="0">
                <a:solidFill>
                  <a:srgbClr val="233248"/>
                </a:solidFill>
                <a:latin typeface="Calibri"/>
                <a:ea typeface="Calibri"/>
                <a:cs typeface="Calibri"/>
              </a:defRPr>
            </a:pPr>
            <a:r>
              <a:rPr sz="1275" b="0" i="0">
                <a:solidFill>
                  <a:srgbClr val="233248"/>
                </a:solidFill>
                <a:latin typeface="Calibri"/>
                <a:ea typeface="Calibri"/>
                <a:cs typeface="Calibri"/>
              </a:rPr>
              <a:t>Arrived state unresolved past threshold</a:t>
            </a:r>
          </a:p>
        </p:txBody>
      </p:sp>
      <p:sp>
        <p:nvSpPr>
          <p:cNvPr id="29" name="">
            <a:extLst xmlns:a="http://schemas.openxmlformats.org/drawingml/2006/main">
              <a:ext uri="{FF2B5EF4-FFF2-40B4-BE49-F238E27FC236}">
                <a16:creationId xmlns:a16="http://schemas.microsoft.com/office/drawing/2014/main" id="{16EE9221-DDE1-483C-AA36-18EC7160D1FE}"/>
              </a:ext>
            </a:extLst>
          </p:cNvPr>
          <p:cNvSpPr>
            <a:spLocks xmlns:a="http://schemas.openxmlformats.org/drawingml/2006/main" noGrp="1"/>
          </p:cNvSpPr>
          <p:nvPr/>
        </p:nvSpPr>
        <p:spPr>
          <a:xfrm xmlns:a="http://schemas.openxmlformats.org/drawingml/2006/main">
            <a:off x="6858000" y="3352800"/>
            <a:ext cx="2533650" cy="1181100"/>
          </a:xfrm>
          <a:prstGeom xmlns:a="http://schemas.openxmlformats.org/drawingml/2006/main" prst="rect">
            <a:avLst/>
          </a:prstGeom>
          <a:solidFill xmlns:a="http://schemas.openxmlformats.org/drawingml/2006/main">
            <a:srgbClr val="F8F9FB"/>
          </a:solidFill>
          <a:ln xmlns:a="http://schemas.openxmlformats.org/drawingml/2006/main" w="9525">
            <a:solidFill>
              <a:srgbClr val="E8ECF1"/>
            </a:solidFill>
            <a:prstDash val="solid"/>
          </a:ln>
        </p:spPr>
      </p:sp>
      <p:sp>
        <p:nvSpPr>
          <p:cNvPr id="30" name="">
            <a:extLst xmlns:a="http://schemas.openxmlformats.org/drawingml/2006/main">
              <a:ext uri="{FF2B5EF4-FFF2-40B4-BE49-F238E27FC236}">
                <a16:creationId xmlns:a16="http://schemas.microsoft.com/office/drawing/2014/main" id="{034015CD-062B-44C0-A34E-6A51741C83ED}"/>
              </a:ext>
            </a:extLst>
          </p:cNvPr>
          <p:cNvSpPr>
            <a:spLocks xmlns:a="http://schemas.openxmlformats.org/drawingml/2006/main" noGrp="1"/>
          </p:cNvSpPr>
          <p:nvPr/>
        </p:nvSpPr>
        <p:spPr>
          <a:xfrm xmlns:a="http://schemas.openxmlformats.org/drawingml/2006/main">
            <a:off x="6953250" y="3486150"/>
            <a:ext cx="234315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ctr">
            <a:normAutofit fontScale="100000"/>
          </a:bodyPr>
          <a:lstStyle xmlns:a="http://schemas.openxmlformats.org/drawingml/2006/main"/>
          <a:p xmlns:a="http://schemas.openxmlformats.org/drawingml/2006/main">
            <a:pPr algn="l">
              <a:defRPr sz="1275" b="0" i="0">
                <a:solidFill>
                  <a:srgbClr val="233248"/>
                </a:solidFill>
                <a:latin typeface="Calibri"/>
                <a:ea typeface="Calibri"/>
                <a:cs typeface="Calibri"/>
              </a:defRPr>
            </a:pPr>
            <a:r>
              <a:rPr sz="1275" b="0" i="0">
                <a:solidFill>
                  <a:srgbClr val="233248"/>
                </a:solidFill>
                <a:latin typeface="Calibri"/>
                <a:ea typeface="Calibri"/>
                <a:cs typeface="Calibri"/>
              </a:rPr>
              <a:t>Resolution and unresolved-cancellation rate</a:t>
            </a:r>
          </a:p>
        </p:txBody>
      </p:sp>
      <p:sp>
        <p:nvSpPr>
          <p:cNvPr id="31" name="">
            <a:extLst xmlns:a="http://schemas.openxmlformats.org/drawingml/2006/main">
              <a:ext uri="{FF2B5EF4-FFF2-40B4-BE49-F238E27FC236}">
                <a16:creationId xmlns:a16="http://schemas.microsoft.com/office/drawing/2014/main" id="{46321BDF-5CDC-498D-A4F9-B2758BE65553}"/>
              </a:ext>
            </a:extLst>
          </p:cNvPr>
          <p:cNvSpPr>
            <a:spLocks xmlns:a="http://schemas.openxmlformats.org/drawingml/2006/main" noGrp="1"/>
          </p:cNvSpPr>
          <p:nvPr/>
        </p:nvSpPr>
        <p:spPr>
          <a:xfrm xmlns:a="http://schemas.openxmlformats.org/drawingml/2006/main">
            <a:off x="9391650" y="3352800"/>
            <a:ext cx="1562100" cy="1181100"/>
          </a:xfrm>
          <a:prstGeom xmlns:a="http://schemas.openxmlformats.org/drawingml/2006/main" prst="rect">
            <a:avLst/>
          </a:prstGeom>
          <a:solidFill xmlns:a="http://schemas.openxmlformats.org/drawingml/2006/main">
            <a:srgbClr val="F8F9FB"/>
          </a:solidFill>
          <a:ln xmlns:a="http://schemas.openxmlformats.org/drawingml/2006/main" w="9525">
            <a:solidFill>
              <a:srgbClr val="E8ECF1"/>
            </a:solidFill>
            <a:prstDash val="solid"/>
          </a:ln>
        </p:spPr>
      </p:sp>
      <p:sp>
        <p:nvSpPr>
          <p:cNvPr id="32" name="">
            <a:extLst xmlns:a="http://schemas.openxmlformats.org/drawingml/2006/main">
              <a:ext uri="{FF2B5EF4-FFF2-40B4-BE49-F238E27FC236}">
                <a16:creationId xmlns:a16="http://schemas.microsoft.com/office/drawing/2014/main" id="{D29E583A-C34D-4A9F-9163-A28DE4760AAA}"/>
              </a:ext>
            </a:extLst>
          </p:cNvPr>
          <p:cNvSpPr>
            <a:spLocks xmlns:a="http://schemas.openxmlformats.org/drawingml/2006/main" noGrp="1"/>
          </p:cNvSpPr>
          <p:nvPr/>
        </p:nvSpPr>
        <p:spPr>
          <a:xfrm xmlns:a="http://schemas.openxmlformats.org/drawingml/2006/main">
            <a:off x="9486900" y="3486150"/>
            <a:ext cx="137160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ctr">
            <a:normAutofit fontScale="100000"/>
          </a:bodyPr>
          <a:lstStyle xmlns:a="http://schemas.openxmlformats.org/drawingml/2006/main"/>
          <a:p xmlns:a="http://schemas.openxmlformats.org/drawingml/2006/main">
            <a:pPr algn="l">
              <a:defRPr sz="1275" b="0" i="0">
                <a:solidFill>
                  <a:srgbClr val="233248"/>
                </a:solidFill>
                <a:latin typeface="Calibri"/>
                <a:ea typeface="Calibri"/>
                <a:cs typeface="Calibri"/>
              </a:defRPr>
            </a:pPr>
            <a:r>
              <a:rPr sz="1275" b="0" i="0">
                <a:solidFill>
                  <a:srgbClr val="233248"/>
                </a:solidFill>
                <a:latin typeface="Calibri"/>
                <a:ea typeface="Calibri"/>
                <a:cs typeface="Calibri"/>
              </a:rPr>
              <a:t>False triggers; driver compensation</a:t>
            </a:r>
          </a:p>
        </p:txBody>
      </p:sp>
      <p:sp>
        <p:nvSpPr>
          <p:cNvPr id="33" name="">
            <a:extLst xmlns:a="http://schemas.openxmlformats.org/drawingml/2006/main">
              <a:ext uri="{FF2B5EF4-FFF2-40B4-BE49-F238E27FC236}">
                <a16:creationId xmlns:a16="http://schemas.microsoft.com/office/drawing/2014/main" id="{C32F1D5B-0A8B-430C-8797-F8086FEFC562}"/>
              </a:ext>
            </a:extLst>
          </p:cNvPr>
          <p:cNvSpPr>
            <a:spLocks xmlns:a="http://schemas.openxmlformats.org/drawingml/2006/main" noGrp="1"/>
          </p:cNvSpPr>
          <p:nvPr/>
        </p:nvSpPr>
        <p:spPr>
          <a:xfrm xmlns:a="http://schemas.openxmlformats.org/drawingml/2006/main">
            <a:off x="514350" y="4533900"/>
            <a:ext cx="666750" cy="1181100"/>
          </a:xfrm>
          <a:prstGeom xmlns:a="http://schemas.openxmlformats.org/drawingml/2006/main" prst="rect">
            <a:avLst/>
          </a:prstGeom>
          <a:solidFill xmlns:a="http://schemas.openxmlformats.org/drawingml/2006/main">
            <a:srgbClr val="FFFFFF"/>
          </a:solidFill>
          <a:ln xmlns:a="http://schemas.openxmlformats.org/drawingml/2006/main" w="9525">
            <a:solidFill>
              <a:srgbClr val="E8ECF1"/>
            </a:solidFill>
            <a:prstDash val="solid"/>
          </a:ln>
        </p:spPr>
      </p:sp>
      <p:sp>
        <p:nvSpPr>
          <p:cNvPr id="34" name="">
            <a:extLst xmlns:a="http://schemas.openxmlformats.org/drawingml/2006/main">
              <a:ext uri="{FF2B5EF4-FFF2-40B4-BE49-F238E27FC236}">
                <a16:creationId xmlns:a16="http://schemas.microsoft.com/office/drawing/2014/main" id="{4DFBAF45-A402-4D1E-AE2A-A140B68779B1}"/>
              </a:ext>
            </a:extLst>
          </p:cNvPr>
          <p:cNvSpPr>
            <a:spLocks xmlns:a="http://schemas.openxmlformats.org/drawingml/2006/main" noGrp="1"/>
          </p:cNvSpPr>
          <p:nvPr/>
        </p:nvSpPr>
        <p:spPr>
          <a:xfrm xmlns:a="http://schemas.openxmlformats.org/drawingml/2006/main">
            <a:off x="609600" y="4667250"/>
            <a:ext cx="47625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ctr">
            <a:normAutofit fontScale="100000"/>
          </a:bodyPr>
          <a:lstStyle xmlns:a="http://schemas.openxmlformats.org/drawingml/2006/main"/>
          <a:p xmlns:a="http://schemas.openxmlformats.org/drawingml/2006/main">
            <a:pPr algn="ctr">
              <a:defRPr sz="2100" b="1" i="0">
                <a:solidFill>
                  <a:srgbClr val="F47A22"/>
                </a:solidFill>
                <a:latin typeface="Calibri"/>
                <a:ea typeface="Calibri"/>
                <a:cs typeface="Calibri"/>
              </a:defRPr>
            </a:pPr>
            <a:r>
              <a:rPr sz="2100" b="1" i="0">
                <a:solidFill>
                  <a:srgbClr val="F47A22"/>
                </a:solidFill>
                <a:latin typeface="Calibri"/>
                <a:ea typeface="Calibri"/>
                <a:cs typeface="Calibri"/>
              </a:rPr>
              <a:t>3</a:t>
            </a:r>
          </a:p>
        </p:txBody>
      </p:sp>
      <p:sp>
        <p:nvSpPr>
          <p:cNvPr id="35" name="">
            <a:extLst xmlns:a="http://schemas.openxmlformats.org/drawingml/2006/main">
              <a:ext uri="{FF2B5EF4-FFF2-40B4-BE49-F238E27FC236}">
                <a16:creationId xmlns:a16="http://schemas.microsoft.com/office/drawing/2014/main" id="{6171E9D0-B99D-4516-A594-6AA8A26B839D}"/>
              </a:ext>
            </a:extLst>
          </p:cNvPr>
          <p:cNvSpPr>
            <a:spLocks xmlns:a="http://schemas.openxmlformats.org/drawingml/2006/main" noGrp="1"/>
          </p:cNvSpPr>
          <p:nvPr/>
        </p:nvSpPr>
        <p:spPr>
          <a:xfrm xmlns:a="http://schemas.openxmlformats.org/drawingml/2006/main">
            <a:off x="1181100" y="4533900"/>
            <a:ext cx="2724150" cy="1181100"/>
          </a:xfrm>
          <a:prstGeom xmlns:a="http://schemas.openxmlformats.org/drawingml/2006/main" prst="rect">
            <a:avLst/>
          </a:prstGeom>
          <a:solidFill xmlns:a="http://schemas.openxmlformats.org/drawingml/2006/main">
            <a:srgbClr val="FFFFFF"/>
          </a:solidFill>
          <a:ln xmlns:a="http://schemas.openxmlformats.org/drawingml/2006/main" w="9525">
            <a:solidFill>
              <a:srgbClr val="E8ECF1"/>
            </a:solidFill>
            <a:prstDash val="solid"/>
          </a:ln>
        </p:spPr>
      </p:sp>
      <p:sp>
        <p:nvSpPr>
          <p:cNvPr id="36" name="">
            <a:extLst xmlns:a="http://schemas.openxmlformats.org/drawingml/2006/main">
              <a:ext uri="{FF2B5EF4-FFF2-40B4-BE49-F238E27FC236}">
                <a16:creationId xmlns:a16="http://schemas.microsoft.com/office/drawing/2014/main" id="{991A1E03-93F5-4751-A651-05173C5E6902}"/>
              </a:ext>
            </a:extLst>
          </p:cNvPr>
          <p:cNvSpPr>
            <a:spLocks xmlns:a="http://schemas.openxmlformats.org/drawingml/2006/main" noGrp="1"/>
          </p:cNvSpPr>
          <p:nvPr/>
        </p:nvSpPr>
        <p:spPr>
          <a:xfrm xmlns:a="http://schemas.openxmlformats.org/drawingml/2006/main">
            <a:off x="1276350" y="4667250"/>
            <a:ext cx="253365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ctr">
            <a:normAutofit fontScale="100000"/>
          </a:bodyPr>
          <a:lstStyle xmlns:a="http://schemas.openxmlformats.org/drawingml/2006/main"/>
          <a:p xmlns:a="http://schemas.openxmlformats.org/drawingml/2006/main">
            <a:pPr algn="l">
              <a:defRPr sz="1275" b="1" i="0">
                <a:solidFill>
                  <a:srgbClr val="233248"/>
                </a:solidFill>
                <a:latin typeface="Calibri"/>
                <a:ea typeface="Calibri"/>
                <a:cs typeface="Calibri"/>
              </a:defRPr>
            </a:pPr>
            <a:r>
              <a:rPr sz="1275" b="1" i="0">
                <a:solidFill>
                  <a:srgbClr val="233248"/>
                </a:solidFill>
                <a:latin typeface="Calibri"/>
                <a:ea typeface="Calibri"/>
                <a:cs typeface="Calibri"/>
              </a:rPr>
              <a:t>Venue-specific coordination info</a:t>
            </a:r>
          </a:p>
        </p:txBody>
      </p:sp>
      <p:sp>
        <p:nvSpPr>
          <p:cNvPr id="37" name="">
            <a:extLst xmlns:a="http://schemas.openxmlformats.org/drawingml/2006/main">
              <a:ext uri="{FF2B5EF4-FFF2-40B4-BE49-F238E27FC236}">
                <a16:creationId xmlns:a16="http://schemas.microsoft.com/office/drawing/2014/main" id="{6DBCC361-16C7-4E1F-8FAF-7542878D6B29}"/>
              </a:ext>
            </a:extLst>
          </p:cNvPr>
          <p:cNvSpPr>
            <a:spLocks xmlns:a="http://schemas.openxmlformats.org/drawingml/2006/main" noGrp="1"/>
          </p:cNvSpPr>
          <p:nvPr/>
        </p:nvSpPr>
        <p:spPr>
          <a:xfrm xmlns:a="http://schemas.openxmlformats.org/drawingml/2006/main">
            <a:off x="3905250" y="4533900"/>
            <a:ext cx="2952750" cy="1181100"/>
          </a:xfrm>
          <a:prstGeom xmlns:a="http://schemas.openxmlformats.org/drawingml/2006/main" prst="rect">
            <a:avLst/>
          </a:prstGeom>
          <a:solidFill xmlns:a="http://schemas.openxmlformats.org/drawingml/2006/main">
            <a:srgbClr val="FFFFFF"/>
          </a:solidFill>
          <a:ln xmlns:a="http://schemas.openxmlformats.org/drawingml/2006/main" w="9525">
            <a:solidFill>
              <a:srgbClr val="E8ECF1"/>
            </a:solidFill>
            <a:prstDash val="solid"/>
          </a:ln>
        </p:spPr>
      </p:sp>
      <p:sp>
        <p:nvSpPr>
          <p:cNvPr id="38" name="">
            <a:extLst xmlns:a="http://schemas.openxmlformats.org/drawingml/2006/main">
              <a:ext uri="{FF2B5EF4-FFF2-40B4-BE49-F238E27FC236}">
                <a16:creationId xmlns:a16="http://schemas.microsoft.com/office/drawing/2014/main" id="{53772755-5127-418C-B5D5-A068361D4B53}"/>
              </a:ext>
            </a:extLst>
          </p:cNvPr>
          <p:cNvSpPr>
            <a:spLocks xmlns:a="http://schemas.openxmlformats.org/drawingml/2006/main" noGrp="1"/>
          </p:cNvSpPr>
          <p:nvPr/>
        </p:nvSpPr>
        <p:spPr>
          <a:xfrm xmlns:a="http://schemas.openxmlformats.org/drawingml/2006/main">
            <a:off x="4000500" y="4667250"/>
            <a:ext cx="276225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ctr">
            <a:normAutofit fontScale="100000"/>
          </a:bodyPr>
          <a:lstStyle xmlns:a="http://schemas.openxmlformats.org/drawingml/2006/main"/>
          <a:p xmlns:a="http://schemas.openxmlformats.org/drawingml/2006/main">
            <a:pPr algn="l">
              <a:defRPr sz="1275" b="0" i="0">
                <a:solidFill>
                  <a:srgbClr val="233248"/>
                </a:solidFill>
                <a:latin typeface="Calibri"/>
                <a:ea typeface="Calibri"/>
                <a:cs typeface="Calibri"/>
              </a:defRPr>
            </a:pPr>
            <a:r>
              <a:rPr sz="1275" b="0" i="0">
                <a:solidFill>
                  <a:srgbClr val="233248"/>
                </a:solidFill>
                <a:latin typeface="Calibri"/>
                <a:ea typeface="Calibri"/>
                <a:cs typeface="Calibri"/>
              </a:rPr>
              <a:t>2–3 validated venues</a:t>
            </a:r>
          </a:p>
        </p:txBody>
      </p:sp>
      <p:sp>
        <p:nvSpPr>
          <p:cNvPr id="39" name="">
            <a:extLst xmlns:a="http://schemas.openxmlformats.org/drawingml/2006/main">
              <a:ext uri="{FF2B5EF4-FFF2-40B4-BE49-F238E27FC236}">
                <a16:creationId xmlns:a16="http://schemas.microsoft.com/office/drawing/2014/main" id="{1001B9B3-6140-4EB3-A7AC-813490A47961}"/>
              </a:ext>
            </a:extLst>
          </p:cNvPr>
          <p:cNvSpPr>
            <a:spLocks xmlns:a="http://schemas.openxmlformats.org/drawingml/2006/main" noGrp="1"/>
          </p:cNvSpPr>
          <p:nvPr/>
        </p:nvSpPr>
        <p:spPr>
          <a:xfrm xmlns:a="http://schemas.openxmlformats.org/drawingml/2006/main">
            <a:off x="6858000" y="4533900"/>
            <a:ext cx="2533650" cy="1181100"/>
          </a:xfrm>
          <a:prstGeom xmlns:a="http://schemas.openxmlformats.org/drawingml/2006/main" prst="rect">
            <a:avLst/>
          </a:prstGeom>
          <a:solidFill xmlns:a="http://schemas.openxmlformats.org/drawingml/2006/main">
            <a:srgbClr val="FFFFFF"/>
          </a:solidFill>
          <a:ln xmlns:a="http://schemas.openxmlformats.org/drawingml/2006/main" w="9525">
            <a:solidFill>
              <a:srgbClr val="E8ECF1"/>
            </a:solidFill>
            <a:prstDash val="solid"/>
          </a:ln>
        </p:spPr>
      </p:sp>
      <p:sp>
        <p:nvSpPr>
          <p:cNvPr id="40" name="">
            <a:extLst xmlns:a="http://schemas.openxmlformats.org/drawingml/2006/main">
              <a:ext uri="{FF2B5EF4-FFF2-40B4-BE49-F238E27FC236}">
                <a16:creationId xmlns:a16="http://schemas.microsoft.com/office/drawing/2014/main" id="{30D01D22-9ADD-478F-9DFE-76254A649123}"/>
              </a:ext>
            </a:extLst>
          </p:cNvPr>
          <p:cNvSpPr>
            <a:spLocks xmlns:a="http://schemas.openxmlformats.org/drawingml/2006/main" noGrp="1"/>
          </p:cNvSpPr>
          <p:nvPr/>
        </p:nvSpPr>
        <p:spPr>
          <a:xfrm xmlns:a="http://schemas.openxmlformats.org/drawingml/2006/main">
            <a:off x="6953250" y="4667250"/>
            <a:ext cx="234315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ctr">
            <a:normAutofit fontScale="100000"/>
          </a:bodyPr>
          <a:lstStyle xmlns:a="http://schemas.openxmlformats.org/drawingml/2006/main"/>
          <a:p xmlns:a="http://schemas.openxmlformats.org/drawingml/2006/main">
            <a:pPr algn="l">
              <a:defRPr sz="1275" b="0" i="0">
                <a:solidFill>
                  <a:srgbClr val="233248"/>
                </a:solidFill>
                <a:latin typeface="Calibri"/>
                <a:ea typeface="Calibri"/>
                <a:cs typeface="Calibri"/>
              </a:defRPr>
            </a:pPr>
            <a:r>
              <a:rPr sz="1275" b="0" i="0">
                <a:solidFill>
                  <a:srgbClr val="233248"/>
                </a:solidFill>
                <a:latin typeface="Calibri"/>
                <a:ea typeface="Calibri"/>
                <a:cs typeface="Calibri"/>
              </a:rPr>
              <a:t>Calls/messages and dwell vs matched venues</a:t>
            </a:r>
          </a:p>
        </p:txBody>
      </p:sp>
      <p:sp>
        <p:nvSpPr>
          <p:cNvPr id="41" name="">
            <a:extLst xmlns:a="http://schemas.openxmlformats.org/drawingml/2006/main">
              <a:ext uri="{FF2B5EF4-FFF2-40B4-BE49-F238E27FC236}">
                <a16:creationId xmlns:a16="http://schemas.microsoft.com/office/drawing/2014/main" id="{F6B7D280-7DFD-4BFA-BB20-FF9D2DC1DA79}"/>
              </a:ext>
            </a:extLst>
          </p:cNvPr>
          <p:cNvSpPr>
            <a:spLocks xmlns:a="http://schemas.openxmlformats.org/drawingml/2006/main" noGrp="1"/>
          </p:cNvSpPr>
          <p:nvPr/>
        </p:nvSpPr>
        <p:spPr>
          <a:xfrm xmlns:a="http://schemas.openxmlformats.org/drawingml/2006/main">
            <a:off x="9391650" y="4533900"/>
            <a:ext cx="1562100" cy="1181100"/>
          </a:xfrm>
          <a:prstGeom xmlns:a="http://schemas.openxmlformats.org/drawingml/2006/main" prst="rect">
            <a:avLst/>
          </a:prstGeom>
          <a:solidFill xmlns:a="http://schemas.openxmlformats.org/drawingml/2006/main">
            <a:srgbClr val="FFFFFF"/>
          </a:solidFill>
          <a:ln xmlns:a="http://schemas.openxmlformats.org/drawingml/2006/main" w="9525">
            <a:solidFill>
              <a:srgbClr val="E8ECF1"/>
            </a:solidFill>
            <a:prstDash val="solid"/>
          </a:ln>
        </p:spPr>
      </p:sp>
      <p:sp>
        <p:nvSpPr>
          <p:cNvPr id="42" name="">
            <a:extLst xmlns:a="http://schemas.openxmlformats.org/drawingml/2006/main">
              <a:ext uri="{FF2B5EF4-FFF2-40B4-BE49-F238E27FC236}">
                <a16:creationId xmlns:a16="http://schemas.microsoft.com/office/drawing/2014/main" id="{B6F69D3B-FAD0-4D5E-BC29-ADD88036F8E5}"/>
              </a:ext>
            </a:extLst>
          </p:cNvPr>
          <p:cNvSpPr>
            <a:spLocks xmlns:a="http://schemas.openxmlformats.org/drawingml/2006/main" noGrp="1"/>
          </p:cNvSpPr>
          <p:nvPr/>
        </p:nvSpPr>
        <p:spPr>
          <a:xfrm xmlns:a="http://schemas.openxmlformats.org/drawingml/2006/main">
            <a:off x="9486900" y="4667250"/>
            <a:ext cx="137160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ctr">
            <a:normAutofit fontScale="100000"/>
          </a:bodyPr>
          <a:lstStyle xmlns:a="http://schemas.openxmlformats.org/drawingml/2006/main"/>
          <a:p xmlns:a="http://schemas.openxmlformats.org/drawingml/2006/main">
            <a:pPr algn="l">
              <a:defRPr sz="1275" b="0" i="0">
                <a:solidFill>
                  <a:srgbClr val="233248"/>
                </a:solidFill>
                <a:latin typeface="Calibri"/>
                <a:ea typeface="Calibri"/>
                <a:cs typeface="Calibri"/>
              </a:defRPr>
            </a:pPr>
            <a:r>
              <a:rPr sz="1275" b="0" i="0">
                <a:solidFill>
                  <a:srgbClr val="233248"/>
                </a:solidFill>
                <a:latin typeface="Calibri"/>
                <a:ea typeface="Calibri"/>
                <a:cs typeface="Calibri"/>
              </a:rPr>
              <a:t>Stale rules; ownership cost</a:t>
            </a:r>
          </a:p>
        </p:txBody>
      </p:sp>
      <p:sp>
        <p:nvSpPr>
          <p:cNvPr id="43" name="">
            <a:extLst xmlns:a="http://schemas.openxmlformats.org/drawingml/2006/main">
              <a:ext uri="{FF2B5EF4-FFF2-40B4-BE49-F238E27FC236}">
                <a16:creationId xmlns:a16="http://schemas.microsoft.com/office/drawing/2014/main" id="{5D18E97F-C3C2-4E7E-967B-51DC0251D93A}"/>
              </a:ext>
            </a:extLst>
          </p:cNvPr>
          <p:cNvSpPr>
            <a:spLocks xmlns:a="http://schemas.openxmlformats.org/drawingml/2006/main" noGrp="1"/>
          </p:cNvSpPr>
          <p:nvPr/>
        </p:nvSpPr>
        <p:spPr>
          <a:xfrm xmlns:a="http://schemas.openxmlformats.org/drawingml/2006/main">
            <a:off x="514350" y="5886450"/>
            <a:ext cx="10439400" cy="381000"/>
          </a:xfrm>
          <a:prstGeom xmlns:a="http://schemas.openxmlformats.org/drawingml/2006/main" prst="roundRect">
            <a:avLst>
              <a:gd name="adj" fmla="val 10000"/>
            </a:avLst>
          </a:prstGeom>
          <a:solidFill xmlns:a="http://schemas.openxmlformats.org/drawingml/2006/main">
            <a:srgbClr val="FBE7D8"/>
          </a:solidFill>
          <a:ln xmlns:a="http://schemas.openxmlformats.org/drawingml/2006/main" w="0">
            <a:noFill/>
            <a:prstDash val="solid"/>
          </a:ln>
        </p:spPr>
      </p:sp>
      <p:sp>
        <p:nvSpPr>
          <p:cNvPr id="44" name="">
            <a:extLst xmlns:a="http://schemas.openxmlformats.org/drawingml/2006/main">
              <a:ext uri="{FF2B5EF4-FFF2-40B4-BE49-F238E27FC236}">
                <a16:creationId xmlns:a16="http://schemas.microsoft.com/office/drawing/2014/main" id="{4FD69655-DA26-4E43-A52F-3E1605121231}"/>
              </a:ext>
            </a:extLst>
          </p:cNvPr>
          <p:cNvSpPr>
            <a:spLocks xmlns:a="http://schemas.openxmlformats.org/drawingml/2006/main" noGrp="1"/>
          </p:cNvSpPr>
          <p:nvPr/>
        </p:nvSpPr>
        <p:spPr>
          <a:xfrm xmlns:a="http://schemas.openxmlformats.org/drawingml/2006/main">
            <a:off x="704850" y="5962650"/>
            <a:ext cx="100584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78431"/>
          </a:bodyPr>
          <a:lstStyle xmlns:a="http://schemas.openxmlformats.org/drawingml/2006/main"/>
          <a:p xmlns:a="http://schemas.openxmlformats.org/drawingml/2006/main">
            <a:pPr algn="ctr">
              <a:defRPr sz="1275" b="1" i="0">
                <a:solidFill>
                  <a:srgbClr val="1B2B45"/>
                </a:solidFill>
                <a:latin typeface="Calibri"/>
                <a:ea typeface="Calibri"/>
                <a:cs typeface="Calibri"/>
              </a:defRPr>
            </a:pPr>
            <a:r>
              <a:rPr sz="1275" b="1" i="0">
                <a:solidFill>
                  <a:srgbClr val="1B2B45"/>
                </a:solidFill>
                <a:latin typeface="Calibri"/>
                <a:ea typeface="Calibri"/>
                <a:cs typeface="Calibri"/>
              </a:rPr>
              <a:t>Sequence is a test order, not a committed build roadmap.</a:t>
            </a:r>
          </a:p>
        </p:txBody>
      </p:sp>
      <p:sp>
        <p:nvSpPr>
          <p:cNvPr id="45" name="">
            <a:extLst xmlns:a="http://schemas.openxmlformats.org/drawingml/2006/main">
              <a:ext uri="{FF2B5EF4-FFF2-40B4-BE49-F238E27FC236}">
                <a16:creationId xmlns:a16="http://schemas.microsoft.com/office/drawing/2014/main" id="{F304B9B1-4713-417A-8062-CCA4FB869BB8}"/>
              </a:ext>
            </a:extLst>
          </p:cNvPr>
          <p:cNvSpPr>
            <a:spLocks xmlns:a="http://schemas.openxmlformats.org/drawingml/2006/main" noGrp="1"/>
          </p:cNvSpPr>
          <p:nvPr/>
        </p:nvSpPr>
        <p:spPr>
          <a:xfrm xmlns:a="http://schemas.openxmlformats.org/drawingml/2006/main">
            <a:off x="514350" y="6515100"/>
            <a:ext cx="2857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l">
              <a:defRPr sz="750" b="0" i="0">
                <a:solidFill>
                  <a:srgbClr val="687489"/>
                </a:solidFill>
                <a:latin typeface="Calibri"/>
                <a:ea typeface="Calibri"/>
                <a:cs typeface="Calibri"/>
              </a:defRPr>
            </a:pPr>
            <a:r>
              <a:rPr sz="750" b="0" i="0">
                <a:solidFill>
                  <a:srgbClr val="687489"/>
                </a:solidFill>
                <a:latin typeface="Calibri"/>
                <a:ea typeface="Calibri"/>
                <a:cs typeface="Calibri"/>
              </a:rPr>
              <a:t>Find My Ride · Appendix</a:t>
            </a:r>
          </a:p>
        </p:txBody>
      </p:sp>
      <p:sp>
        <p:nvSpPr>
          <p:cNvPr id="46" name="">
            <a:extLst xmlns:a="http://schemas.openxmlformats.org/drawingml/2006/main">
              <a:ext uri="{FF2B5EF4-FFF2-40B4-BE49-F238E27FC236}">
                <a16:creationId xmlns:a16="http://schemas.microsoft.com/office/drawing/2014/main" id="{8B832728-9825-4A9C-B5AE-3E100EE6BD14}"/>
              </a:ext>
            </a:extLst>
          </p:cNvPr>
          <p:cNvSpPr>
            <a:spLocks xmlns:a="http://schemas.openxmlformats.org/drawingml/2006/main" noGrp="1"/>
          </p:cNvSpPr>
          <p:nvPr/>
        </p:nvSpPr>
        <p:spPr>
          <a:xfrm xmlns:a="http://schemas.openxmlformats.org/drawingml/2006/main">
            <a:off x="11372850" y="6515100"/>
            <a:ext cx="3048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r">
              <a:defRPr sz="750" b="0" i="0">
                <a:solidFill>
                  <a:srgbClr val="687489"/>
                </a:solidFill>
                <a:latin typeface="Calibri"/>
                <a:ea typeface="Calibri"/>
                <a:cs typeface="Calibri"/>
              </a:defRPr>
            </a:pPr>
            <a:r>
              <a:rPr sz="750" b="0" i="0">
                <a:solidFill>
                  <a:srgbClr val="687489"/>
                </a:solidFill>
                <a:latin typeface="Calibri"/>
                <a:ea typeface="Calibri"/>
                <a:cs typeface="Calibri"/>
              </a:rPr>
              <a:t>17</a:t>
            </a:r>
          </a:p>
        </p:txBody>
      </p:sp>
    </p:spTree>
    <p:extLst>
      <p:ext uri="{BB962C8B-B14F-4D97-AF65-F5344CB8AC3E}">
        <p14:creationId xmlns:p14="http://schemas.microsoft.com/office/powerpoint/2010/main" val="761360466"/>
      </p:ext>
    </p:extLst>
  </p:cSld>
</p:sld>
</file>

<file path=ppt/slides/slide18.xml><?xml version="1.0" encoding="utf-8"?>
<p:sld xmlns:p="http://schemas.openxmlformats.org/presentationml/2006/main">
  <p:cSld>
    <p:bg>
      <p:bgPr>
        <a:solidFill xmlns:a="http://schemas.openxmlformats.org/drawingml/2006/main">
          <a:srgbClr val="F3F5F8"/>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DCCD1C46-EC4F-4145-8547-7E666DAF2AD9}"/>
              </a:ext>
            </a:extLst>
          </p:cNvPr>
          <p:cNvSpPr>
            <a:spLocks xmlns:a="http://schemas.openxmlformats.org/drawingml/2006/main" noGrp="1"/>
          </p:cNvSpPr>
          <p:nvPr/>
        </p:nvSpPr>
        <p:spPr>
          <a:xfrm xmlns:a="http://schemas.openxmlformats.org/drawingml/2006/main">
            <a:off x="514350" y="247650"/>
            <a:ext cx="11144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l">
              <a:defRPr sz="975" b="1" i="0">
                <a:solidFill>
                  <a:srgbClr val="F47A22"/>
                </a:solidFill>
                <a:latin typeface="Calibri"/>
                <a:ea typeface="Calibri"/>
                <a:cs typeface="Calibri"/>
              </a:defRPr>
            </a:pPr>
            <a:r>
              <a:rPr sz="975" b="1" i="0">
                <a:solidFill>
                  <a:srgbClr val="F47A22"/>
                </a:solidFill>
                <a:latin typeface="Calibri"/>
                <a:ea typeface="Calibri"/>
                <a:cs typeface="Calibri"/>
              </a:rPr>
              <a:t>APPENDIX · EVIDENCE BOUNDARY</a:t>
            </a:r>
          </a:p>
        </p:txBody>
      </p:sp>
      <p:sp>
        <p:nvSpPr>
          <p:cNvPr id="2" name="">
            <a:extLst xmlns:a="http://schemas.openxmlformats.org/drawingml/2006/main">
              <a:ext uri="{FF2B5EF4-FFF2-40B4-BE49-F238E27FC236}">
                <a16:creationId xmlns:a16="http://schemas.microsoft.com/office/drawing/2014/main" id="{18122D7F-0263-414C-8C53-95541A3970E4}"/>
              </a:ext>
            </a:extLst>
          </p:cNvPr>
          <p:cNvSpPr>
            <a:spLocks xmlns:a="http://schemas.openxmlformats.org/drawingml/2006/main" noGrp="1"/>
          </p:cNvSpPr>
          <p:nvPr/>
        </p:nvSpPr>
        <p:spPr>
          <a:xfrm xmlns:a="http://schemas.openxmlformats.org/drawingml/2006/main">
            <a:off x="514350" y="571500"/>
            <a:ext cx="1114425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l">
              <a:defRPr sz="2550" b="1" i="0">
                <a:solidFill>
                  <a:srgbClr val="1B2B45"/>
                </a:solidFill>
                <a:latin typeface="Calibri"/>
                <a:ea typeface="Calibri"/>
                <a:cs typeface="Calibri"/>
              </a:defRPr>
            </a:pPr>
            <a:r>
              <a:rPr sz="2550" b="1" i="0">
                <a:solidFill>
                  <a:srgbClr val="1B2B45"/>
                </a:solidFill>
                <a:latin typeface="Calibri"/>
                <a:ea typeface="Calibri"/>
                <a:cs typeface="Calibri"/>
              </a:rPr>
              <a:t>What kind of evidence this is</a:t>
            </a:r>
          </a:p>
        </p:txBody>
      </p:sp>
      <p:sp>
        <p:nvSpPr>
          <p:cNvPr id="3" name="">
            <a:extLst xmlns:a="http://schemas.openxmlformats.org/drawingml/2006/main">
              <a:ext uri="{FF2B5EF4-FFF2-40B4-BE49-F238E27FC236}">
                <a16:creationId xmlns:a16="http://schemas.microsoft.com/office/drawing/2014/main" id="{154315DC-001F-4F62-A3D3-96C4228C8C25}"/>
              </a:ext>
            </a:extLst>
          </p:cNvPr>
          <p:cNvSpPr>
            <a:spLocks xmlns:a="http://schemas.openxmlformats.org/drawingml/2006/main" noGrp="1"/>
          </p:cNvSpPr>
          <p:nvPr/>
        </p:nvSpPr>
        <p:spPr>
          <a:xfrm xmlns:a="http://schemas.openxmlformats.org/drawingml/2006/main">
            <a:off x="685800" y="1619250"/>
            <a:ext cx="10287000" cy="432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38100" tIns="38100" rIns="38100" bIns="38100">
            <a:normAutofit fontScale="100000"/>
          </a:bodyPr>
          <a:lstStyle xmlns:a="http://schemas.openxmlformats.org/drawingml/2006/main"/>
          <a:p xmlns:a="http://schemas.openxmlformats.org/drawingml/2006/main">
            <a:pPr marL="228600" indent="-114300">
              <a:spcAft>
                <a:spcPts val="800"/>
              </a:spcAft>
              <a:buChar char="•"/>
              <a:defRPr sz="1575">
                <a:solidFill>
                  <a:srgbClr val="233248"/>
                </a:solidFill>
                <a:latin typeface="Calibri"/>
                <a:ea typeface="Calibri"/>
                <a:cs typeface="Calibri"/>
              </a:defRPr>
            </a:pPr>
            <a:r>
              <a:rPr sz="1575">
                <a:solidFill>
                  <a:srgbClr val="233248"/>
                </a:solidFill>
                <a:latin typeface="Calibri"/>
                <a:ea typeface="Calibri"/>
                <a:cs typeface="Calibri"/>
              </a:rPr>
              <a:t>Convenience sample recruited through available networks; not representative of Hyderabad riders</a:t>
            </a:r>
          </a:p>
          <a:p xmlns:a="http://schemas.openxmlformats.org/drawingml/2006/main">
            <a:pPr marL="228600" indent="-114300">
              <a:spcAft>
                <a:spcPts val="800"/>
              </a:spcAft>
              <a:buChar char="•"/>
              <a:defRPr sz="1575">
                <a:solidFill>
                  <a:srgbClr val="233248"/>
                </a:solidFill>
                <a:latin typeface="Calibri"/>
                <a:ea typeface="Calibri"/>
                <a:cs typeface="Calibri"/>
              </a:defRPr>
            </a:pPr>
            <a:r>
              <a:rPr sz="1575">
                <a:solidFill>
                  <a:srgbClr val="233248"/>
                </a:solidFill>
                <a:latin typeface="Calibri"/>
                <a:ea typeface="Calibri"/>
                <a:cs typeface="Calibri"/>
              </a:rPr>
              <a:t>Online survey with interview-style prompts; not 10 synchronous in-depth interviews</a:t>
            </a:r>
          </a:p>
          <a:p xmlns:a="http://schemas.openxmlformats.org/drawingml/2006/main">
            <a:pPr marL="228600" indent="-114300">
              <a:spcAft>
                <a:spcPts val="800"/>
              </a:spcAft>
              <a:buChar char="•"/>
              <a:defRPr sz="1575">
                <a:solidFill>
                  <a:srgbClr val="233248"/>
                </a:solidFill>
                <a:latin typeface="Calibri"/>
                <a:ea typeface="Calibri"/>
                <a:cs typeface="Calibri"/>
              </a:defRPr>
            </a:pPr>
            <a:r>
              <a:rPr sz="1575">
                <a:solidFill>
                  <a:srgbClr val="233248"/>
                </a:solidFill>
                <a:latin typeface="Calibri"/>
                <a:ea typeface="Calibri"/>
                <a:cs typeface="Calibri"/>
              </a:rPr>
              <a:t>Four driver responses; two-sided product and marketplace conclusions remain premature</a:t>
            </a:r>
          </a:p>
          <a:p xmlns:a="http://schemas.openxmlformats.org/drawingml/2006/main">
            <a:pPr marL="228600" indent="-114300">
              <a:spcAft>
                <a:spcPts val="800"/>
              </a:spcAft>
              <a:buChar char="•"/>
              <a:defRPr sz="1575">
                <a:solidFill>
                  <a:srgbClr val="233248"/>
                </a:solidFill>
                <a:latin typeface="Calibri"/>
                <a:ea typeface="Calibri"/>
                <a:cs typeface="Calibri"/>
              </a:defRPr>
            </a:pPr>
            <a:r>
              <a:rPr sz="1575">
                <a:solidFill>
                  <a:srgbClr val="233248"/>
                </a:solidFill>
                <a:latin typeface="Calibri"/>
                <a:ea typeface="Calibri"/>
                <a:cs typeface="Calibri"/>
              </a:rPr>
              <a:t>Open prompts were optional and the schema changed during collection, so qualitative depth varies</a:t>
            </a:r>
          </a:p>
          <a:p xmlns:a="http://schemas.openxmlformats.org/drawingml/2006/main">
            <a:pPr marL="228600" indent="-114300">
              <a:spcAft>
                <a:spcPts val="800"/>
              </a:spcAft>
              <a:buChar char="•"/>
              <a:defRPr sz="1575">
                <a:solidFill>
                  <a:srgbClr val="233248"/>
                </a:solidFill>
                <a:latin typeface="Calibri"/>
                <a:ea typeface="Calibri"/>
                <a:cs typeface="Calibri"/>
              </a:defRPr>
            </a:pPr>
            <a:r>
              <a:rPr sz="1575">
                <a:solidFill>
                  <a:srgbClr val="233248"/>
                </a:solidFill>
                <a:latin typeface="Calibri"/>
                <a:ea typeface="Calibri"/>
                <a:cs typeface="Calibri"/>
              </a:rPr>
              <a:t>Twenty-nine of 62 responses came from other cities; they are comparison evidence, not a small side sample</a:t>
            </a:r>
          </a:p>
          <a:p xmlns:a="http://schemas.openxmlformats.org/drawingml/2006/main">
            <a:pPr marL="228600" indent="-114300">
              <a:spcAft>
                <a:spcPts val="800"/>
              </a:spcAft>
              <a:buChar char="•"/>
              <a:defRPr sz="1575">
                <a:solidFill>
                  <a:srgbClr val="233248"/>
                </a:solidFill>
                <a:latin typeface="Calibri"/>
                <a:ea typeface="Calibri"/>
                <a:cs typeface="Calibri"/>
              </a:defRPr>
            </a:pPr>
            <a:r>
              <a:rPr sz="1575">
                <a:solidFill>
                  <a:srgbClr val="233248"/>
                </a:solidFill>
                <a:latin typeface="Calibri"/>
                <a:ea typeface="Calibri"/>
                <a:cs typeface="Calibri"/>
              </a:rPr>
              <a:t>Consent was required in the interface but not stored as a separate backend field</a:t>
            </a:r>
          </a:p>
          <a:p xmlns:a="http://schemas.openxmlformats.org/drawingml/2006/main">
            <a:pPr marL="228600" indent="-114300">
              <a:spcAft>
                <a:spcPts val="800"/>
              </a:spcAft>
              <a:buChar char="•"/>
              <a:defRPr sz="1575">
                <a:solidFill>
                  <a:srgbClr val="233248"/>
                </a:solidFill>
                <a:latin typeface="Calibri"/>
                <a:ea typeface="Calibri"/>
                <a:cs typeface="Calibri"/>
              </a:defRPr>
            </a:pPr>
            <a:r>
              <a:rPr sz="1575">
                <a:solidFill>
                  <a:srgbClr val="233248"/>
                </a:solidFill>
                <a:latin typeface="Calibri"/>
                <a:ea typeface="Calibri"/>
                <a:cs typeface="Calibri"/>
              </a:rPr>
              <a:t>Multi-select location and action counts are mentions, not mutually exclusive people</a:t>
            </a:r>
          </a:p>
          <a:p xmlns:a="http://schemas.openxmlformats.org/drawingml/2006/main">
            <a:pPr marL="228600" indent="-114300">
              <a:spcAft>
                <a:spcPts val="800"/>
              </a:spcAft>
              <a:buChar char="•"/>
              <a:defRPr sz="1575">
                <a:solidFill>
                  <a:srgbClr val="233248"/>
                </a:solidFill>
                <a:latin typeface="Calibri"/>
                <a:ea typeface="Calibri"/>
                <a:cs typeface="Calibri"/>
              </a:defRPr>
            </a:pPr>
            <a:r>
              <a:rPr sz="1575">
                <a:solidFill>
                  <a:srgbClr val="233248"/>
                </a:solidFill>
                <a:latin typeface="Calibri"/>
                <a:ea typeface="Calibri"/>
                <a:cs typeface="Calibri"/>
              </a:rPr>
              <a:t>No reliable Hyderabad trip-volume or issue-rate denominator was found; no market-size figure is claimed</a:t>
            </a:r>
          </a:p>
        </p:txBody>
      </p:sp>
      <p:sp>
        <p:nvSpPr>
          <p:cNvPr id="4" name="">
            <a:extLst xmlns:a="http://schemas.openxmlformats.org/drawingml/2006/main">
              <a:ext uri="{FF2B5EF4-FFF2-40B4-BE49-F238E27FC236}">
                <a16:creationId xmlns:a16="http://schemas.microsoft.com/office/drawing/2014/main" id="{07DDD885-C832-4D9A-A043-06B63A737BD1}"/>
              </a:ext>
            </a:extLst>
          </p:cNvPr>
          <p:cNvSpPr>
            <a:spLocks xmlns:a="http://schemas.openxmlformats.org/drawingml/2006/main" noGrp="1"/>
          </p:cNvSpPr>
          <p:nvPr/>
        </p:nvSpPr>
        <p:spPr>
          <a:xfrm xmlns:a="http://schemas.openxmlformats.org/drawingml/2006/main">
            <a:off x="514350" y="6515100"/>
            <a:ext cx="2857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l">
              <a:defRPr sz="750" b="0" i="0">
                <a:solidFill>
                  <a:srgbClr val="687489"/>
                </a:solidFill>
                <a:latin typeface="Calibri"/>
                <a:ea typeface="Calibri"/>
                <a:cs typeface="Calibri"/>
              </a:defRPr>
            </a:pPr>
            <a:r>
              <a:rPr sz="750" b="0" i="0">
                <a:solidFill>
                  <a:srgbClr val="687489"/>
                </a:solidFill>
                <a:latin typeface="Calibri"/>
                <a:ea typeface="Calibri"/>
                <a:cs typeface="Calibri"/>
              </a:rPr>
              <a:t>Find My Ride · Appendix</a:t>
            </a:r>
          </a:p>
        </p:txBody>
      </p:sp>
      <p:sp>
        <p:nvSpPr>
          <p:cNvPr id="5" name="">
            <a:extLst xmlns:a="http://schemas.openxmlformats.org/drawingml/2006/main">
              <a:ext uri="{FF2B5EF4-FFF2-40B4-BE49-F238E27FC236}">
                <a16:creationId xmlns:a16="http://schemas.microsoft.com/office/drawing/2014/main" id="{D609536B-41E4-488C-8A19-318DB9864AB6}"/>
              </a:ext>
            </a:extLst>
          </p:cNvPr>
          <p:cNvSpPr>
            <a:spLocks xmlns:a="http://schemas.openxmlformats.org/drawingml/2006/main" noGrp="1"/>
          </p:cNvSpPr>
          <p:nvPr/>
        </p:nvSpPr>
        <p:spPr>
          <a:xfrm xmlns:a="http://schemas.openxmlformats.org/drawingml/2006/main">
            <a:off x="11372850" y="6515100"/>
            <a:ext cx="3048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r">
              <a:defRPr sz="750" b="0" i="0">
                <a:solidFill>
                  <a:srgbClr val="687489"/>
                </a:solidFill>
                <a:latin typeface="Calibri"/>
                <a:ea typeface="Calibri"/>
                <a:cs typeface="Calibri"/>
              </a:defRPr>
            </a:pPr>
            <a:r>
              <a:rPr sz="750" b="0" i="0">
                <a:solidFill>
                  <a:srgbClr val="687489"/>
                </a:solidFill>
                <a:latin typeface="Calibri"/>
                <a:ea typeface="Calibri"/>
                <a:cs typeface="Calibri"/>
              </a:rPr>
              <a:t>18</a:t>
            </a:r>
          </a:p>
        </p:txBody>
      </p:sp>
    </p:spTree>
    <p:extLst>
      <p:ext uri="{BB962C8B-B14F-4D97-AF65-F5344CB8AC3E}">
        <p14:creationId xmlns:p14="http://schemas.microsoft.com/office/powerpoint/2010/main" val="1772873770"/>
      </p:ext>
    </p:extLst>
  </p:cSld>
</p:sld>
</file>

<file path=ppt/slides/slide19.xml><?xml version="1.0" encoding="utf-8"?>
<p:sld xmlns:p="http://schemas.openxmlformats.org/presentationml/2006/main">
  <p:cSld>
    <p:bg>
      <p:bgPr>
        <a:solidFill xmlns:a="http://schemas.openxmlformats.org/drawingml/2006/main">
          <a:srgbClr val="1B2B45"/>
        </a:solidFill>
      </p:bgPr>
    </p:bg>
    <p:spTree>
      <p:nvGrpSpPr>
        <p:cNvPr id="1" name=""/>
        <p:cNvGrpSpPr/>
        <p:nvPr/>
      </p:nvGrpSpPr>
      <p:grpSpPr>
        <a:xfrm xmlns:a="http://schemas.openxmlformats.org/drawingml/2006/main"/>
      </p:grpSpPr>
      <p:sp>
        <p:nvSpPr>
          <p:cNvPr id="18" name="">
            <a:extLst xmlns:a="http://schemas.openxmlformats.org/drawingml/2006/main">
              <a:ext uri="{FF2B5EF4-FFF2-40B4-BE49-F238E27FC236}">
                <a16:creationId xmlns:a16="http://schemas.microsoft.com/office/drawing/2014/main" id="{6E3E47CB-4656-4E3B-AD3A-1C900C8B2FAA}"/>
              </a:ext>
            </a:extLst>
          </p:cNvPr>
          <p:cNvSpPr>
            <a:spLocks xmlns:a="http://schemas.openxmlformats.org/drawingml/2006/main" noGrp="1"/>
          </p:cNvSpPr>
          <p:nvPr/>
        </p:nvSpPr>
        <p:spPr>
          <a:xfrm xmlns:a="http://schemas.openxmlformats.org/drawingml/2006/main">
            <a:off x="514350" y="266700"/>
            <a:ext cx="11049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l">
              <a:defRPr sz="975" b="1" i="0">
                <a:solidFill>
                  <a:srgbClr val="F47A22"/>
                </a:solidFill>
                <a:latin typeface="Calibri"/>
                <a:ea typeface="Calibri"/>
                <a:cs typeface="Calibri"/>
              </a:defRPr>
            </a:pPr>
            <a:r>
              <a:rPr sz="975" b="1" i="0">
                <a:solidFill>
                  <a:srgbClr val="F47A22"/>
                </a:solidFill>
                <a:latin typeface="Calibri"/>
                <a:ea typeface="Calibri"/>
                <a:cs typeface="Calibri"/>
              </a:rPr>
              <a:t>APPENDIX · SOURCE TRACEABILITY</a:t>
            </a:r>
          </a:p>
        </p:txBody>
      </p:sp>
      <p:sp>
        <p:nvSpPr>
          <p:cNvPr id="2" name="">
            <a:extLst xmlns:a="http://schemas.openxmlformats.org/drawingml/2006/main">
              <a:ext uri="{FF2B5EF4-FFF2-40B4-BE49-F238E27FC236}">
                <a16:creationId xmlns:a16="http://schemas.microsoft.com/office/drawing/2014/main" id="{770E8BF2-8CDC-4E14-8D1A-3311F62ACAFA}"/>
              </a:ext>
            </a:extLst>
          </p:cNvPr>
          <p:cNvSpPr>
            <a:spLocks xmlns:a="http://schemas.openxmlformats.org/drawingml/2006/main" noGrp="1"/>
          </p:cNvSpPr>
          <p:nvPr/>
        </p:nvSpPr>
        <p:spPr>
          <a:xfrm xmlns:a="http://schemas.openxmlformats.org/drawingml/2006/main">
            <a:off x="514350" y="628650"/>
            <a:ext cx="104775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l">
              <a:defRPr sz="2550" b="1" i="0">
                <a:solidFill>
                  <a:srgbClr val="FFFFFF"/>
                </a:solidFill>
                <a:latin typeface="Calibri"/>
                <a:ea typeface="Calibri"/>
                <a:cs typeface="Calibri"/>
              </a:defRPr>
            </a:pPr>
            <a:r>
              <a:rPr sz="2550" b="1" i="0">
                <a:solidFill>
                  <a:srgbClr val="FFFFFF"/>
                </a:solidFill>
                <a:latin typeface="Calibri"/>
                <a:ea typeface="Calibri"/>
                <a:cs typeface="Calibri"/>
              </a:rPr>
              <a:t>Every claim traces to a source or an explicit limitation</a:t>
            </a:r>
          </a:p>
        </p:txBody>
      </p:sp>
      <p:sp>
        <p:nvSpPr>
          <p:cNvPr id="3" name="">
            <a:extLst xmlns:a="http://schemas.openxmlformats.org/drawingml/2006/main">
              <a:ext uri="{FF2B5EF4-FFF2-40B4-BE49-F238E27FC236}">
                <a16:creationId xmlns:a16="http://schemas.microsoft.com/office/drawing/2014/main" id="{F13CFBF0-6B03-4ADF-A0AF-F50699886570}"/>
              </a:ext>
            </a:extLst>
          </p:cNvPr>
          <p:cNvSpPr>
            <a:spLocks xmlns:a="http://schemas.openxmlformats.org/drawingml/2006/main" noGrp="1"/>
          </p:cNvSpPr>
          <p:nvPr/>
        </p:nvSpPr>
        <p:spPr>
          <a:xfrm xmlns:a="http://schemas.openxmlformats.org/drawingml/2006/main">
            <a:off x="514350" y="1466850"/>
            <a:ext cx="5143500" cy="1676400"/>
          </a:xfrm>
          <a:prstGeom xmlns:a="http://schemas.openxmlformats.org/drawingml/2006/main" prst="roundRect">
            <a:avLst>
              <a:gd name="adj" fmla="val 3409"/>
            </a:avLst>
          </a:prstGeom>
          <a:solidFill xmlns:a="http://schemas.openxmlformats.org/drawingml/2006/main">
            <a:srgbClr val="243A60"/>
          </a:solidFill>
          <a:ln xmlns:a="http://schemas.openxmlformats.org/drawingml/2006/main" w="9525">
            <a:solidFill>
              <a:srgbClr val="3B5686"/>
            </a:solidFill>
            <a:prstDash val="solid"/>
          </a:ln>
        </p:spPr>
      </p:sp>
      <p:sp>
        <p:nvSpPr>
          <p:cNvPr id="4" name="">
            <a:extLst xmlns:a="http://schemas.openxmlformats.org/drawingml/2006/main">
              <a:ext uri="{FF2B5EF4-FFF2-40B4-BE49-F238E27FC236}">
                <a16:creationId xmlns:a16="http://schemas.microsoft.com/office/drawing/2014/main" id="{D4308EE3-80C4-43DA-9D75-CDC9D34DB704}"/>
              </a:ext>
            </a:extLst>
          </p:cNvPr>
          <p:cNvSpPr>
            <a:spLocks xmlns:a="http://schemas.openxmlformats.org/drawingml/2006/main" noGrp="1"/>
          </p:cNvSpPr>
          <p:nvPr/>
        </p:nvSpPr>
        <p:spPr>
          <a:xfrm xmlns:a="http://schemas.openxmlformats.org/drawingml/2006/main">
            <a:off x="666750" y="1581150"/>
            <a:ext cx="48387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l">
              <a:defRPr sz="1275" b="1" i="0">
                <a:solidFill>
                  <a:srgbClr val="F47A22"/>
                </a:solidFill>
                <a:latin typeface="Calibri"/>
                <a:ea typeface="Calibri"/>
                <a:cs typeface="Calibri"/>
              </a:defRPr>
            </a:pPr>
            <a:r>
              <a:rPr sz="1275" b="1" i="0">
                <a:solidFill>
                  <a:srgbClr val="F47A22"/>
                </a:solidFill>
                <a:latin typeface="Calibri"/>
                <a:ea typeface="Calibri"/>
                <a:cs typeface="Calibri"/>
              </a:rPr>
              <a:t>PRIMARY EVIDENCE</a:t>
            </a:r>
          </a:p>
        </p:txBody>
      </p:sp>
      <p:sp>
        <p:nvSpPr>
          <p:cNvPr id="5" name="">
            <a:extLst xmlns:a="http://schemas.openxmlformats.org/drawingml/2006/main">
              <a:ext uri="{FF2B5EF4-FFF2-40B4-BE49-F238E27FC236}">
                <a16:creationId xmlns:a16="http://schemas.microsoft.com/office/drawing/2014/main" id="{58F9C697-4053-4E91-B3B4-579B4F8B4A24}"/>
              </a:ext>
            </a:extLst>
          </p:cNvPr>
          <p:cNvSpPr>
            <a:spLocks xmlns:a="http://schemas.openxmlformats.org/drawingml/2006/main" noGrp="1"/>
          </p:cNvSpPr>
          <p:nvPr/>
        </p:nvSpPr>
        <p:spPr>
          <a:xfrm xmlns:a="http://schemas.openxmlformats.org/drawingml/2006/main">
            <a:off x="666750" y="1914525"/>
            <a:ext cx="4838700" cy="1123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l">
              <a:defRPr sz="1500" b="0" i="0">
                <a:solidFill>
                  <a:srgbClr val="FFFFFF"/>
                </a:solidFill>
                <a:latin typeface="Calibri"/>
                <a:ea typeface="Calibri"/>
                <a:cs typeface="Calibri"/>
              </a:defRPr>
            </a:pPr>
            <a:r>
              <a:rPr sz="1500" b="0" i="0">
                <a:solidFill>
                  <a:srgbClr val="FFFFFF"/>
                </a:solidFill>
                <a:latin typeface="Calibri"/>
                <a:ea typeface="Calibri"/>
                <a:cs typeface="Calibri"/>
              </a:rPr>
              <a:t>Sanitized-Survey-Evidence.xlsx</a:t>
            </a:r>
          </a:p>
          <a:p xmlns:a="http://schemas.openxmlformats.org/drawingml/2006/main">
            <a:pPr algn="l">
              <a:defRPr sz="1500" b="0" i="0">
                <a:solidFill>
                  <a:srgbClr val="FFFFFF"/>
                </a:solidFill>
                <a:latin typeface="Calibri"/>
                <a:ea typeface="Calibri"/>
                <a:cs typeface="Calibri"/>
              </a:defRPr>
            </a:pPr>
            <a:r>
              <a:rPr sz="1500" b="0" i="0">
                <a:solidFill>
                  <a:srgbClr val="FFFFFF"/>
                </a:solidFill>
                <a:latin typeface="Calibri"/>
                <a:ea typeface="Calibri"/>
                <a:cs typeface="Calibri"/>
              </a:rPr>
              <a:t>Survey-Dashboard.png</a:t>
            </a:r>
          </a:p>
          <a:p xmlns:a="http://schemas.openxmlformats.org/drawingml/2006/main">
            <a:pPr algn="l">
              <a:defRPr sz="1500" b="0" i="0">
                <a:solidFill>
                  <a:srgbClr val="FFFFFF"/>
                </a:solidFill>
                <a:latin typeface="Calibri"/>
                <a:ea typeface="Calibri"/>
                <a:cs typeface="Calibri"/>
              </a:defRPr>
            </a:pPr>
            <a:r>
              <a:rPr sz="1500" b="0" i="0">
                <a:solidFill>
                  <a:srgbClr val="FFFFFF"/>
                </a:solidFill>
                <a:latin typeface="Calibri"/>
                <a:ea typeface="Calibri"/>
                <a:cs typeface="Calibri"/>
              </a:rPr>
              <a:t>Screenshots/</a:t>
            </a:r>
          </a:p>
          <a:p xmlns:a="http://schemas.openxmlformats.org/drawingml/2006/main">
            <a:pPr algn="l">
              <a:defRPr sz="1500" b="0" i="0">
                <a:solidFill>
                  <a:srgbClr val="FFFFFF"/>
                </a:solidFill>
                <a:latin typeface="Calibri"/>
                <a:ea typeface="Calibri"/>
                <a:cs typeface="Calibri"/>
              </a:defRPr>
            </a:pPr>
            <a:r>
              <a:rPr sz="1500" b="0" i="0">
                <a:solidFill>
                  <a:srgbClr val="FFFFFF"/>
                </a:solidFill>
                <a:latin typeface="Calibri"/>
                <a:ea typeface="Calibri"/>
                <a:cs typeface="Calibri"/>
              </a:rPr>
              <a:t>Live-URL.txt</a:t>
            </a:r>
          </a:p>
        </p:txBody>
      </p:sp>
      <p:sp>
        <p:nvSpPr>
          <p:cNvPr id="6" name="">
            <a:extLst xmlns:a="http://schemas.openxmlformats.org/drawingml/2006/main">
              <a:ext uri="{FF2B5EF4-FFF2-40B4-BE49-F238E27FC236}">
                <a16:creationId xmlns:a16="http://schemas.microsoft.com/office/drawing/2014/main" id="{14F40407-3909-476F-BA19-D0242070F2BC}"/>
              </a:ext>
            </a:extLst>
          </p:cNvPr>
          <p:cNvSpPr>
            <a:spLocks xmlns:a="http://schemas.openxmlformats.org/drawingml/2006/main" noGrp="1"/>
          </p:cNvSpPr>
          <p:nvPr/>
        </p:nvSpPr>
        <p:spPr>
          <a:xfrm xmlns:a="http://schemas.openxmlformats.org/drawingml/2006/main">
            <a:off x="5810250" y="1466850"/>
            <a:ext cx="5143500" cy="1676400"/>
          </a:xfrm>
          <a:prstGeom xmlns:a="http://schemas.openxmlformats.org/drawingml/2006/main" prst="roundRect">
            <a:avLst>
              <a:gd name="adj" fmla="val 3409"/>
            </a:avLst>
          </a:prstGeom>
          <a:solidFill xmlns:a="http://schemas.openxmlformats.org/drawingml/2006/main">
            <a:srgbClr val="243A60"/>
          </a:solidFill>
          <a:ln xmlns:a="http://schemas.openxmlformats.org/drawingml/2006/main" w="9525">
            <a:solidFill>
              <a:srgbClr val="3B5686"/>
            </a:solidFill>
            <a:prstDash val="solid"/>
          </a:ln>
        </p:spPr>
      </p:sp>
      <p:sp>
        <p:nvSpPr>
          <p:cNvPr id="7" name="">
            <a:extLst xmlns:a="http://schemas.openxmlformats.org/drawingml/2006/main">
              <a:ext uri="{FF2B5EF4-FFF2-40B4-BE49-F238E27FC236}">
                <a16:creationId xmlns:a16="http://schemas.microsoft.com/office/drawing/2014/main" id="{B1ED4D5E-40CC-4633-A89B-035BAEE9DF9E}"/>
              </a:ext>
            </a:extLst>
          </p:cNvPr>
          <p:cNvSpPr>
            <a:spLocks xmlns:a="http://schemas.openxmlformats.org/drawingml/2006/main" noGrp="1"/>
          </p:cNvSpPr>
          <p:nvPr/>
        </p:nvSpPr>
        <p:spPr>
          <a:xfrm xmlns:a="http://schemas.openxmlformats.org/drawingml/2006/main">
            <a:off x="5962650" y="1581150"/>
            <a:ext cx="48387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l">
              <a:defRPr sz="1275" b="1" i="0">
                <a:solidFill>
                  <a:srgbClr val="1BB5C8"/>
                </a:solidFill>
                <a:latin typeface="Calibri"/>
                <a:ea typeface="Calibri"/>
                <a:cs typeface="Calibri"/>
              </a:defRPr>
            </a:pPr>
            <a:r>
              <a:rPr sz="1275" b="1" i="0">
                <a:solidFill>
                  <a:srgbClr val="1BB5C8"/>
                </a:solidFill>
                <a:latin typeface="Calibri"/>
                <a:ea typeface="Calibri"/>
                <a:cs typeface="Calibri"/>
              </a:rPr>
              <a:t>DESK AND COMPETITOR EVIDENCE</a:t>
            </a:r>
          </a:p>
        </p:txBody>
      </p:sp>
      <p:sp>
        <p:nvSpPr>
          <p:cNvPr id="8" name="">
            <a:extLst xmlns:a="http://schemas.openxmlformats.org/drawingml/2006/main">
              <a:ext uri="{FF2B5EF4-FFF2-40B4-BE49-F238E27FC236}">
                <a16:creationId xmlns:a16="http://schemas.microsoft.com/office/drawing/2014/main" id="{FBA14789-B1E7-48F1-A795-864EEAF8877B}"/>
              </a:ext>
            </a:extLst>
          </p:cNvPr>
          <p:cNvSpPr>
            <a:spLocks xmlns:a="http://schemas.openxmlformats.org/drawingml/2006/main" noGrp="1"/>
          </p:cNvSpPr>
          <p:nvPr/>
        </p:nvSpPr>
        <p:spPr>
          <a:xfrm xmlns:a="http://schemas.openxmlformats.org/drawingml/2006/main">
            <a:off x="5962650" y="1914525"/>
            <a:ext cx="4838700" cy="1123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l">
              <a:defRPr sz="1500" b="0" i="0">
                <a:solidFill>
                  <a:srgbClr val="FFFFFF"/>
                </a:solidFill>
                <a:latin typeface="Calibri"/>
                <a:ea typeface="Calibri"/>
                <a:cs typeface="Calibri"/>
              </a:defRPr>
            </a:pPr>
            <a:r>
              <a:rPr sz="1500" b="0" i="0">
                <a:solidFill>
                  <a:srgbClr val="FFFFFF"/>
                </a:solidFill>
                <a:latin typeface="Calibri"/>
                <a:ea typeface="Calibri"/>
                <a:cs typeface="Calibri"/>
              </a:rPr>
              <a:t>Competitor-Analysis.md</a:t>
            </a:r>
          </a:p>
          <a:p xmlns:a="http://schemas.openxmlformats.org/drawingml/2006/main">
            <a:pPr algn="l">
              <a:defRPr sz="1500" b="0" i="0">
                <a:solidFill>
                  <a:srgbClr val="FFFFFF"/>
                </a:solidFill>
                <a:latin typeface="Calibri"/>
                <a:ea typeface="Calibri"/>
                <a:cs typeface="Calibri"/>
              </a:defRPr>
            </a:pPr>
            <a:r>
              <a:rPr sz="1500" b="0" i="0">
                <a:solidFill>
                  <a:srgbClr val="FFFFFF"/>
                </a:solidFill>
                <a:latin typeface="Calibri"/>
                <a:ea typeface="Calibri"/>
                <a:cs typeface="Calibri"/>
              </a:rPr>
              <a:t>Desk-Research-Report.md</a:t>
            </a:r>
          </a:p>
          <a:p xmlns:a="http://schemas.openxmlformats.org/drawingml/2006/main">
            <a:pPr algn="l">
              <a:defRPr sz="1500" b="0" i="0">
                <a:solidFill>
                  <a:srgbClr val="FFFFFF"/>
                </a:solidFill>
                <a:latin typeface="Calibri"/>
                <a:ea typeface="Calibri"/>
                <a:cs typeface="Calibri"/>
              </a:defRPr>
            </a:pPr>
            <a:r>
              <a:rPr sz="1500" b="0" i="0">
                <a:solidFill>
                  <a:srgbClr val="FFFFFF"/>
                </a:solidFill>
                <a:latin typeface="Calibri"/>
                <a:ea typeface="Calibri"/>
                <a:cs typeface="Calibri"/>
              </a:rPr>
              <a:t>Source-Register.md</a:t>
            </a:r>
          </a:p>
          <a:p xmlns:a="http://schemas.openxmlformats.org/drawingml/2006/main">
            <a:pPr algn="l">
              <a:defRPr sz="1500" b="0" i="0">
                <a:solidFill>
                  <a:srgbClr val="FFFFFF"/>
                </a:solidFill>
                <a:latin typeface="Calibri"/>
                <a:ea typeface="Calibri"/>
                <a:cs typeface="Calibri"/>
              </a:defRPr>
            </a:pPr>
            <a:r>
              <a:rPr sz="1500" b="0" i="0">
                <a:solidFill>
                  <a:srgbClr val="FFFFFF"/>
                </a:solidFill>
                <a:latin typeface="Calibri"/>
                <a:ea typeface="Calibri"/>
                <a:cs typeface="Calibri"/>
              </a:rPr>
              <a:t>Raw internet workbook retained privately</a:t>
            </a:r>
          </a:p>
        </p:txBody>
      </p:sp>
      <p:sp>
        <p:nvSpPr>
          <p:cNvPr id="9" name="">
            <a:extLst xmlns:a="http://schemas.openxmlformats.org/drawingml/2006/main">
              <a:ext uri="{FF2B5EF4-FFF2-40B4-BE49-F238E27FC236}">
                <a16:creationId xmlns:a16="http://schemas.microsoft.com/office/drawing/2014/main" id="{A106A14B-7B9D-43F1-9FBD-DB0FA51F6B24}"/>
              </a:ext>
            </a:extLst>
          </p:cNvPr>
          <p:cNvSpPr>
            <a:spLocks xmlns:a="http://schemas.openxmlformats.org/drawingml/2006/main" noGrp="1"/>
          </p:cNvSpPr>
          <p:nvPr/>
        </p:nvSpPr>
        <p:spPr>
          <a:xfrm xmlns:a="http://schemas.openxmlformats.org/drawingml/2006/main">
            <a:off x="514350" y="3371850"/>
            <a:ext cx="5143500" cy="1485900"/>
          </a:xfrm>
          <a:prstGeom xmlns:a="http://schemas.openxmlformats.org/drawingml/2006/main" prst="roundRect">
            <a:avLst>
              <a:gd name="adj" fmla="val 3846"/>
            </a:avLst>
          </a:prstGeom>
          <a:solidFill xmlns:a="http://schemas.openxmlformats.org/drawingml/2006/main">
            <a:srgbClr val="243A60"/>
          </a:solidFill>
          <a:ln xmlns:a="http://schemas.openxmlformats.org/drawingml/2006/main" w="9525">
            <a:solidFill>
              <a:srgbClr val="3B5686"/>
            </a:solidFill>
            <a:prstDash val="solid"/>
          </a:ln>
        </p:spPr>
      </p:sp>
      <p:sp>
        <p:nvSpPr>
          <p:cNvPr id="10" name="">
            <a:extLst xmlns:a="http://schemas.openxmlformats.org/drawingml/2006/main">
              <a:ext uri="{FF2B5EF4-FFF2-40B4-BE49-F238E27FC236}">
                <a16:creationId xmlns:a16="http://schemas.microsoft.com/office/drawing/2014/main" id="{6C39F561-0AEA-485F-BCB5-46720302755B}"/>
              </a:ext>
            </a:extLst>
          </p:cNvPr>
          <p:cNvSpPr>
            <a:spLocks xmlns:a="http://schemas.openxmlformats.org/drawingml/2006/main" noGrp="1"/>
          </p:cNvSpPr>
          <p:nvPr/>
        </p:nvSpPr>
        <p:spPr>
          <a:xfrm xmlns:a="http://schemas.openxmlformats.org/drawingml/2006/main">
            <a:off x="666750" y="3486150"/>
            <a:ext cx="48387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l">
              <a:defRPr sz="1275" b="1" i="0">
                <a:solidFill>
                  <a:srgbClr val="F47A22"/>
                </a:solidFill>
                <a:latin typeface="Calibri"/>
                <a:ea typeface="Calibri"/>
                <a:cs typeface="Calibri"/>
              </a:defRPr>
            </a:pPr>
            <a:r>
              <a:rPr sz="1275" b="1" i="0">
                <a:solidFill>
                  <a:srgbClr val="F47A22"/>
                </a:solidFill>
                <a:latin typeface="Calibri"/>
                <a:ea typeface="Calibri"/>
                <a:cs typeface="Calibri"/>
              </a:rPr>
              <a:t>SYNTHESIS</a:t>
            </a:r>
          </a:p>
        </p:txBody>
      </p:sp>
      <p:sp>
        <p:nvSpPr>
          <p:cNvPr id="11" name="">
            <a:extLst xmlns:a="http://schemas.openxmlformats.org/drawingml/2006/main">
              <a:ext uri="{FF2B5EF4-FFF2-40B4-BE49-F238E27FC236}">
                <a16:creationId xmlns:a16="http://schemas.microsoft.com/office/drawing/2014/main" id="{D961329E-FE54-4152-A6A1-19A6995B86EF}"/>
              </a:ext>
            </a:extLst>
          </p:cNvPr>
          <p:cNvSpPr>
            <a:spLocks xmlns:a="http://schemas.openxmlformats.org/drawingml/2006/main" noGrp="1"/>
          </p:cNvSpPr>
          <p:nvPr/>
        </p:nvSpPr>
        <p:spPr>
          <a:xfrm xmlns:a="http://schemas.openxmlformats.org/drawingml/2006/main">
            <a:off x="666750" y="3819525"/>
            <a:ext cx="4838700" cy="933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l">
              <a:defRPr sz="1500" b="0" i="0">
                <a:solidFill>
                  <a:srgbClr val="FFFFFF"/>
                </a:solidFill>
                <a:latin typeface="Calibri"/>
                <a:ea typeface="Calibri"/>
                <a:cs typeface="Calibri"/>
              </a:defRPr>
            </a:pPr>
            <a:r>
              <a:rPr sz="1500" b="0" i="0">
                <a:solidFill>
                  <a:srgbClr val="FFFFFF"/>
                </a:solidFill>
                <a:latin typeface="Calibri"/>
                <a:ea typeface="Calibri"/>
                <a:cs typeface="Calibri"/>
              </a:rPr>
              <a:t>01-survey-insights.md</a:t>
            </a:r>
          </a:p>
          <a:p xmlns:a="http://schemas.openxmlformats.org/drawingml/2006/main">
            <a:pPr algn="l">
              <a:defRPr sz="1500" b="0" i="0">
                <a:solidFill>
                  <a:srgbClr val="FFFFFF"/>
                </a:solidFill>
                <a:latin typeface="Calibri"/>
                <a:ea typeface="Calibri"/>
                <a:cs typeface="Calibri"/>
              </a:defRPr>
            </a:pPr>
            <a:r>
              <a:rPr sz="1500" b="0" i="0">
                <a:solidFill>
                  <a:srgbClr val="FFFFFF"/>
                </a:solidFill>
                <a:latin typeface="Calibri"/>
                <a:ea typeface="Calibri"/>
                <a:cs typeface="Calibri"/>
              </a:rPr>
              <a:t>02-strategy-implications.md</a:t>
            </a:r>
          </a:p>
          <a:p xmlns:a="http://schemas.openxmlformats.org/drawingml/2006/main">
            <a:pPr algn="l">
              <a:defRPr sz="1500" b="0" i="0">
                <a:solidFill>
                  <a:srgbClr val="FFFFFF"/>
                </a:solidFill>
                <a:latin typeface="Calibri"/>
                <a:ea typeface="Calibri"/>
                <a:cs typeface="Calibri"/>
              </a:defRPr>
            </a:pPr>
            <a:r>
              <a:rPr sz="1500" b="0" i="0">
                <a:solidFill>
                  <a:srgbClr val="FFFFFF"/>
                </a:solidFill>
                <a:latin typeface="Calibri"/>
                <a:ea typeface="Calibri"/>
                <a:cs typeface="Calibri"/>
              </a:rPr>
              <a:t>04-product-ideas.md</a:t>
            </a:r>
          </a:p>
        </p:txBody>
      </p:sp>
      <p:sp>
        <p:nvSpPr>
          <p:cNvPr id="12" name="">
            <a:extLst xmlns:a="http://schemas.openxmlformats.org/drawingml/2006/main">
              <a:ext uri="{FF2B5EF4-FFF2-40B4-BE49-F238E27FC236}">
                <a16:creationId xmlns:a16="http://schemas.microsoft.com/office/drawing/2014/main" id="{815EFCC5-C598-48AA-A562-6EB39C08FAD5}"/>
              </a:ext>
            </a:extLst>
          </p:cNvPr>
          <p:cNvSpPr>
            <a:spLocks xmlns:a="http://schemas.openxmlformats.org/drawingml/2006/main" noGrp="1"/>
          </p:cNvSpPr>
          <p:nvPr/>
        </p:nvSpPr>
        <p:spPr>
          <a:xfrm xmlns:a="http://schemas.openxmlformats.org/drawingml/2006/main">
            <a:off x="5810250" y="3371850"/>
            <a:ext cx="5143500" cy="1485900"/>
          </a:xfrm>
          <a:prstGeom xmlns:a="http://schemas.openxmlformats.org/drawingml/2006/main" prst="roundRect">
            <a:avLst>
              <a:gd name="adj" fmla="val 3846"/>
            </a:avLst>
          </a:prstGeom>
          <a:solidFill xmlns:a="http://schemas.openxmlformats.org/drawingml/2006/main">
            <a:srgbClr val="FBE7D8"/>
          </a:solidFill>
          <a:ln xmlns:a="http://schemas.openxmlformats.org/drawingml/2006/main" w="9525">
            <a:solidFill>
              <a:srgbClr val="FBE7D8"/>
            </a:solidFill>
            <a:prstDash val="solid"/>
          </a:ln>
        </p:spPr>
      </p:sp>
      <p:sp>
        <p:nvSpPr>
          <p:cNvPr id="13" name="">
            <a:extLst xmlns:a="http://schemas.openxmlformats.org/drawingml/2006/main">
              <a:ext uri="{FF2B5EF4-FFF2-40B4-BE49-F238E27FC236}">
                <a16:creationId xmlns:a16="http://schemas.microsoft.com/office/drawing/2014/main" id="{F098E1E3-3808-4BAD-9FD9-A0C8396020FD}"/>
              </a:ext>
            </a:extLst>
          </p:cNvPr>
          <p:cNvSpPr>
            <a:spLocks xmlns:a="http://schemas.openxmlformats.org/drawingml/2006/main" noGrp="1"/>
          </p:cNvSpPr>
          <p:nvPr/>
        </p:nvSpPr>
        <p:spPr>
          <a:xfrm xmlns:a="http://schemas.openxmlformats.org/drawingml/2006/main">
            <a:off x="5962650" y="3486150"/>
            <a:ext cx="48387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l">
              <a:defRPr sz="1275" b="1" i="0">
                <a:solidFill>
                  <a:srgbClr val="1B2B45"/>
                </a:solidFill>
                <a:latin typeface="Calibri"/>
                <a:ea typeface="Calibri"/>
                <a:cs typeface="Calibri"/>
              </a:defRPr>
            </a:pPr>
            <a:r>
              <a:rPr sz="1275" b="1" i="0">
                <a:solidFill>
                  <a:srgbClr val="1B2B45"/>
                </a:solidFill>
                <a:latin typeface="Calibri"/>
                <a:ea typeface="Calibri"/>
                <a:cs typeface="Calibri"/>
              </a:rPr>
              <a:t>HARD SUBMISSION GATE</a:t>
            </a:r>
          </a:p>
        </p:txBody>
      </p:sp>
      <p:sp>
        <p:nvSpPr>
          <p:cNvPr id="14" name="">
            <a:extLst xmlns:a="http://schemas.openxmlformats.org/drawingml/2006/main">
              <a:ext uri="{FF2B5EF4-FFF2-40B4-BE49-F238E27FC236}">
                <a16:creationId xmlns:a16="http://schemas.microsoft.com/office/drawing/2014/main" id="{3793490E-D957-4DDF-8E39-C7235E222AB7}"/>
              </a:ext>
            </a:extLst>
          </p:cNvPr>
          <p:cNvSpPr>
            <a:spLocks xmlns:a="http://schemas.openxmlformats.org/drawingml/2006/main" noGrp="1"/>
          </p:cNvSpPr>
          <p:nvPr/>
        </p:nvSpPr>
        <p:spPr>
          <a:xfrm xmlns:a="http://schemas.openxmlformats.org/drawingml/2006/main">
            <a:off x="5962650" y="3819525"/>
            <a:ext cx="4838700" cy="933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l">
              <a:defRPr sz="1425" b="0" i="0">
                <a:solidFill>
                  <a:srgbClr val="1B2B45"/>
                </a:solidFill>
                <a:latin typeface="Calibri"/>
                <a:ea typeface="Calibri"/>
                <a:cs typeface="Calibri"/>
              </a:defRPr>
            </a:pPr>
            <a:r>
              <a:rPr sz="1425" b="0" i="0">
                <a:solidFill>
                  <a:srgbClr val="1B2B45"/>
                </a:solidFill>
                <a:latin typeface="Calibri"/>
                <a:ea typeface="Calibri"/>
                <a:cs typeface="Calibri"/>
              </a:rPr>
              <a:t>Video link is pending. Before submission: record presenter-visible video under 5 minutes, upload it, add the working link, and verify access.</a:t>
            </a:r>
          </a:p>
        </p:txBody>
      </p:sp>
      <p:sp>
        <p:nvSpPr>
          <p:cNvPr id="15" name="">
            <a:extLst xmlns:a="http://schemas.openxmlformats.org/drawingml/2006/main">
              <a:ext uri="{FF2B5EF4-FFF2-40B4-BE49-F238E27FC236}">
                <a16:creationId xmlns:a16="http://schemas.microsoft.com/office/drawing/2014/main" id="{9EED5ACF-E1BE-4A7D-A7E8-82AD04CA35F6}"/>
              </a:ext>
            </a:extLst>
          </p:cNvPr>
          <p:cNvSpPr>
            <a:spLocks xmlns:a="http://schemas.openxmlformats.org/drawingml/2006/main" noGrp="1"/>
          </p:cNvSpPr>
          <p:nvPr/>
        </p:nvSpPr>
        <p:spPr>
          <a:xfrm xmlns:a="http://schemas.openxmlformats.org/drawingml/2006/main">
            <a:off x="514350" y="5238750"/>
            <a:ext cx="104394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85781"/>
          </a:bodyPr>
          <a:lstStyle xmlns:a="http://schemas.openxmlformats.org/drawingml/2006/main"/>
          <a:p xmlns:a="http://schemas.openxmlformats.org/drawingml/2006/main">
            <a:pPr algn="ctr">
              <a:defRPr sz="1350" b="0" i="0">
                <a:solidFill>
                  <a:srgbClr val="CFD8E7"/>
                </a:solidFill>
                <a:latin typeface="Calibri"/>
                <a:ea typeface="Calibri"/>
                <a:cs typeface="Calibri"/>
              </a:defRPr>
            </a:pPr>
            <a:r>
              <a:rPr sz="1350" b="0" i="0">
                <a:solidFill>
                  <a:srgbClr val="CFD8E7"/>
                </a:solidFill>
                <a:latin typeface="Calibri"/>
                <a:ea typeface="Calibri"/>
                <a:cs typeface="Calibri"/>
              </a:rPr>
              <a:t>Evidence ZIP excludes participant contacts, raw API payloads, test rows, internal artifacts, and the raw internet workbook containing public creator contacts.</a:t>
            </a:r>
          </a:p>
        </p:txBody>
      </p:sp>
      <p:sp>
        <p:nvSpPr>
          <p:cNvPr id="16" name="">
            <a:extLst xmlns:a="http://schemas.openxmlformats.org/drawingml/2006/main">
              <a:ext uri="{FF2B5EF4-FFF2-40B4-BE49-F238E27FC236}">
                <a16:creationId xmlns:a16="http://schemas.microsoft.com/office/drawing/2014/main" id="{7ACE5995-46D0-42E5-88E1-69DADA1379D7}"/>
              </a:ext>
            </a:extLst>
          </p:cNvPr>
          <p:cNvSpPr>
            <a:spLocks xmlns:a="http://schemas.openxmlformats.org/drawingml/2006/main" noGrp="1"/>
          </p:cNvSpPr>
          <p:nvPr/>
        </p:nvSpPr>
        <p:spPr>
          <a:xfrm xmlns:a="http://schemas.openxmlformats.org/drawingml/2006/main">
            <a:off x="514350" y="6515100"/>
            <a:ext cx="2857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l">
              <a:defRPr sz="750" b="0" i="0">
                <a:solidFill>
                  <a:srgbClr val="687489"/>
                </a:solidFill>
                <a:latin typeface="Calibri"/>
                <a:ea typeface="Calibri"/>
                <a:cs typeface="Calibri"/>
              </a:defRPr>
            </a:pPr>
            <a:r>
              <a:rPr sz="750" b="0" i="0">
                <a:solidFill>
                  <a:srgbClr val="687489"/>
                </a:solidFill>
                <a:latin typeface="Calibri"/>
                <a:ea typeface="Calibri"/>
                <a:cs typeface="Calibri"/>
              </a:rPr>
              <a:t>Find My Ride · Appendix</a:t>
            </a:r>
          </a:p>
        </p:txBody>
      </p:sp>
      <p:sp>
        <p:nvSpPr>
          <p:cNvPr id="17" name="">
            <a:extLst xmlns:a="http://schemas.openxmlformats.org/drawingml/2006/main">
              <a:ext uri="{FF2B5EF4-FFF2-40B4-BE49-F238E27FC236}">
                <a16:creationId xmlns:a16="http://schemas.microsoft.com/office/drawing/2014/main" id="{59A04546-3D36-40E6-A18D-FDE0EC620AA2}"/>
              </a:ext>
            </a:extLst>
          </p:cNvPr>
          <p:cNvSpPr>
            <a:spLocks xmlns:a="http://schemas.openxmlformats.org/drawingml/2006/main" noGrp="1"/>
          </p:cNvSpPr>
          <p:nvPr/>
        </p:nvSpPr>
        <p:spPr>
          <a:xfrm xmlns:a="http://schemas.openxmlformats.org/drawingml/2006/main">
            <a:off x="11372850" y="6515100"/>
            <a:ext cx="3048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r">
              <a:defRPr sz="750" b="0" i="0">
                <a:solidFill>
                  <a:srgbClr val="687489"/>
                </a:solidFill>
                <a:latin typeface="Calibri"/>
                <a:ea typeface="Calibri"/>
                <a:cs typeface="Calibri"/>
              </a:defRPr>
            </a:pPr>
            <a:r>
              <a:rPr sz="750" b="0" i="0">
                <a:solidFill>
                  <a:srgbClr val="687489"/>
                </a:solidFill>
                <a:latin typeface="Calibri"/>
                <a:ea typeface="Calibri"/>
                <a:cs typeface="Calibri"/>
              </a:rPr>
              <a:t>19</a:t>
            </a:r>
          </a:p>
        </p:txBody>
      </p:sp>
    </p:spTree>
    <p:extLst>
      <p:ext uri="{BB962C8B-B14F-4D97-AF65-F5344CB8AC3E}">
        <p14:creationId xmlns:p14="http://schemas.microsoft.com/office/powerpoint/2010/main" val="658307527"/>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2026-09-18T12:20:20.6850000Z</dcterms:created>
  <dcterms:modified xsi:type="dcterms:W3CDTF">2026-09-18T12:20:20.6850000Z</dcterms:modified>
</coreProperties>
</file>