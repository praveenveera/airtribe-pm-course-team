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82b27e7d5f894cd7" Type="http://schemas.openxmlformats.org/package/2006/relationships/metadata/core-properties" Target="docProps/core.xml"/><Relationship Id="Rb9b344be51fd433d" Type="http://schemas.openxmlformats.org/officeDocument/2006/relationships/extended-properties" Target="docProps/app.xml"/><Relationship Id="Rc7828eb38841408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b9c8ebd9716840f8"/>
  </p:sldMasterIdLst>
  <p:notesMasterIdLst>
    <p:notesMasterId xmlns:r="http://schemas.openxmlformats.org/officeDocument/2006/relationships" r:id="R3f256bab52e849ef"/>
  </p:notesMasterIdLst>
  <p:sldIdLst>
    <p:sldId xmlns:r="http://schemas.openxmlformats.org/officeDocument/2006/relationships" id="256" r:id="R0de464961f594898"/>
    <p:sldId xmlns:r="http://schemas.openxmlformats.org/officeDocument/2006/relationships" id="257" r:id="R37e84bd58ece4d3b"/>
    <p:sldId xmlns:r="http://schemas.openxmlformats.org/officeDocument/2006/relationships" id="258" r:id="Rec37b75f4dc541a7"/>
    <p:sldId xmlns:r="http://schemas.openxmlformats.org/officeDocument/2006/relationships" id="259" r:id="R0bdb601650be48a6"/>
    <p:sldId xmlns:r="http://schemas.openxmlformats.org/officeDocument/2006/relationships" id="260" r:id="R50799cdaa1db4377"/>
    <p:sldId xmlns:r="http://schemas.openxmlformats.org/officeDocument/2006/relationships" id="261" r:id="R54e3fade80a24118"/>
    <p:sldId xmlns:r="http://schemas.openxmlformats.org/officeDocument/2006/relationships" id="262" r:id="Rb5eb5ad31fa64557"/>
    <p:sldId xmlns:r="http://schemas.openxmlformats.org/officeDocument/2006/relationships" id="263" r:id="Rc66e0d5e1405428b"/>
    <p:sldId xmlns:r="http://schemas.openxmlformats.org/officeDocument/2006/relationships" id="264" r:id="R50e1706c3ee54f74"/>
    <p:sldId xmlns:r="http://schemas.openxmlformats.org/officeDocument/2006/relationships" id="265" r:id="Rb74b595952504449"/>
    <p:sldId xmlns:r="http://schemas.openxmlformats.org/officeDocument/2006/relationships" id="266" r:id="R5be257d87713413b"/>
    <p:sldId xmlns:r="http://schemas.openxmlformats.org/officeDocument/2006/relationships" id="267" r:id="R9e33a32e40de41ff"/>
    <p:sldId xmlns:r="http://schemas.openxmlformats.org/officeDocument/2006/relationships" id="268" r:id="Raccaa7bd5f784485"/>
    <p:sldId xmlns:r="http://schemas.openxmlformats.org/officeDocument/2006/relationships" id="269" r:id="R069f0a41677c4d2a"/>
    <p:sldId xmlns:r="http://schemas.openxmlformats.org/officeDocument/2006/relationships" id="270" r:id="Rc076720125ed4a25"/>
    <p:sldId xmlns:r="http://schemas.openxmlformats.org/officeDocument/2006/relationships" id="271" r:id="Rac2762db94eb4a3f"/>
    <p:sldId xmlns:r="http://schemas.openxmlformats.org/officeDocument/2006/relationships" id="272" r:id="R0a267e1c11c24b34"/>
    <p:sldId xmlns:r="http://schemas.openxmlformats.org/officeDocument/2006/relationships" id="273" r:id="Rb423e4c3f5124c66"/>
    <p:sldId xmlns:r="http://schemas.openxmlformats.org/officeDocument/2006/relationships" id="274" r:id="Rdfcb6c8dc63d48c5"/>
    <p:sldId xmlns:r="http://schemas.openxmlformats.org/officeDocument/2006/relationships" id="275" r:id="R2c7e96b51a7f4487"/>
    <p:sldId xmlns:r="http://schemas.openxmlformats.org/officeDocument/2006/relationships" id="276" r:id="R12fbbac76a804cf1"/>
    <p:sldId xmlns:r="http://schemas.openxmlformats.org/officeDocument/2006/relationships" id="277" r:id="Rde91bba1ee924ad3"/>
    <p:sldId xmlns:r="http://schemas.openxmlformats.org/officeDocument/2006/relationships" id="278" r:id="R9d7c6151c1744211"/>
    <p:sldId xmlns:r="http://schemas.openxmlformats.org/officeDocument/2006/relationships" id="279" r:id="R6b59b62658e34242"/>
    <p:sldId xmlns:r="http://schemas.openxmlformats.org/officeDocument/2006/relationships" id="280" r:id="R42267e6132414957"/>
    <p:sldId xmlns:r="http://schemas.openxmlformats.org/officeDocument/2006/relationships" id="281" r:id="Rf461894d18da47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69f0a41677c4d2a" Type="http://schemas.openxmlformats.org/officeDocument/2006/relationships/slide" Target="slides/slide14.xml"/><Relationship Id="R0a267e1c11c24b34" Type="http://schemas.openxmlformats.org/officeDocument/2006/relationships/slide" Target="slides/slide17.xml"/><Relationship Id="R0bdb601650be48a6" Type="http://schemas.openxmlformats.org/officeDocument/2006/relationships/slide" Target="slides/slide4.xml"/><Relationship Id="R0de464961f594898" Type="http://schemas.openxmlformats.org/officeDocument/2006/relationships/slide" Target="slides/slide1.xml"/><Relationship Id="R12fbbac76a804cf1" Type="http://schemas.openxmlformats.org/officeDocument/2006/relationships/slide" Target="slides/slide21.xml"/><Relationship Id="R2c7e96b51a7f4487" Type="http://schemas.openxmlformats.org/officeDocument/2006/relationships/slide" Target="slides/slide20.xml"/><Relationship Id="R32455bc699c0420f" Type="http://schemas.openxmlformats.org/officeDocument/2006/relationships/presProps" Target="presProps.xml"/><Relationship Id="R37e84bd58ece4d3b" Type="http://schemas.openxmlformats.org/officeDocument/2006/relationships/slide" Target="slides/slide2.xml"/><Relationship Id="R3f256bab52e849ef" Type="http://schemas.openxmlformats.org/officeDocument/2006/relationships/notesMaster" Target="notesMasters/notesMaster1.xml"/><Relationship Id="R42267e6132414957" Type="http://schemas.openxmlformats.org/officeDocument/2006/relationships/slide" Target="slides/slide25.xml"/><Relationship Id="R50799cdaa1db4377" Type="http://schemas.openxmlformats.org/officeDocument/2006/relationships/slide" Target="slides/slide5.xml"/><Relationship Id="R50e1706c3ee54f74" Type="http://schemas.openxmlformats.org/officeDocument/2006/relationships/slide" Target="slides/slide9.xml"/><Relationship Id="R52f81a59dc5c4754" Type="http://schemas.openxmlformats.org/officeDocument/2006/relationships/theme" Target="theme/theme1.xml"/><Relationship Id="R54e3fade80a24118" Type="http://schemas.openxmlformats.org/officeDocument/2006/relationships/slide" Target="slides/slide6.xml"/><Relationship Id="R5be257d87713413b" Type="http://schemas.openxmlformats.org/officeDocument/2006/relationships/slide" Target="slides/slide11.xml"/><Relationship Id="R6b59b62658e34242" Type="http://schemas.openxmlformats.org/officeDocument/2006/relationships/slide" Target="slides/slide24.xml"/><Relationship Id="R7d96dde76cd54dcf" Type="http://schemas.openxmlformats.org/officeDocument/2006/relationships/tableStyles" Target="tableStyles.xml"/><Relationship Id="R9d7c6151c1744211" Type="http://schemas.openxmlformats.org/officeDocument/2006/relationships/slide" Target="slides/slide23.xml"/><Relationship Id="R9e33a32e40de41ff" Type="http://schemas.openxmlformats.org/officeDocument/2006/relationships/slide" Target="slides/slide12.xml"/><Relationship Id="Rac2762db94eb4a3f" Type="http://schemas.openxmlformats.org/officeDocument/2006/relationships/slide" Target="slides/slide16.xml"/><Relationship Id="Raccaa7bd5f784485" Type="http://schemas.openxmlformats.org/officeDocument/2006/relationships/slide" Target="slides/slide13.xml"/><Relationship Id="Rb423e4c3f5124c66" Type="http://schemas.openxmlformats.org/officeDocument/2006/relationships/slide" Target="slides/slide18.xml"/><Relationship Id="Rb5eb5ad31fa64557" Type="http://schemas.openxmlformats.org/officeDocument/2006/relationships/slide" Target="slides/slide7.xml"/><Relationship Id="Rb74b595952504449" Type="http://schemas.openxmlformats.org/officeDocument/2006/relationships/slide" Target="slides/slide10.xml"/><Relationship Id="Rb9c8ebd9716840f8" Type="http://schemas.openxmlformats.org/officeDocument/2006/relationships/slideMaster" Target="slideMasters/slideMaster1.xml"/><Relationship Id="Rc076720125ed4a25" Type="http://schemas.openxmlformats.org/officeDocument/2006/relationships/slide" Target="slides/slide15.xml"/><Relationship Id="Rc66e0d5e1405428b" Type="http://schemas.openxmlformats.org/officeDocument/2006/relationships/slide" Target="slides/slide8.xml"/><Relationship Id="Rde91bba1ee924ad3" Type="http://schemas.openxmlformats.org/officeDocument/2006/relationships/slide" Target="slides/slide22.xml"/><Relationship Id="Rdfcb6c8dc63d48c5" Type="http://schemas.openxmlformats.org/officeDocument/2006/relationships/slide" Target="slides/slide19.xml"/><Relationship Id="Rec37b75f4dc541a7" Type="http://schemas.openxmlformats.org/officeDocument/2006/relationships/slide" Target="slides/slide3.xml"/><Relationship Id="Rf461894d18da47d6"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f7abac43ce58433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9a1c8ceae8544ad" Type="http://schemas.openxmlformats.org/officeDocument/2006/relationships/notesMaster" Target="../notesMasters/notesMaster1.xml"/><Relationship Id="Rc3d0f8f07ac042b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6045cb756d04ad4" Type="http://schemas.openxmlformats.org/officeDocument/2006/relationships/slide" Target="../slides/slide2.xml"/><Relationship Id="Rf51c6e6c1e8748f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a7aa532422bf4c4d" Type="http://schemas.openxmlformats.org/officeDocument/2006/relationships/notesMaster" Target="../notesMasters/notesMaster1.xml"/><Relationship Id="Ref1a88d7c2484157"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58ba1b90cf914d28" Type="http://schemas.openxmlformats.org/officeDocument/2006/relationships/notesMaster" Target="../notesMasters/notesMaster1.xml"/><Relationship Id="R8668b337d8924b8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a022419197a4c91" Type="http://schemas.openxmlformats.org/officeDocument/2006/relationships/slide" Target="../slides/slide5.xml"/><Relationship Id="Rc1c2b78df5a74ad6"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deb9f45be19c4bb9" Type="http://schemas.openxmlformats.org/officeDocument/2006/relationships/notesMaster" Target="../notesMasters/notesMaster1.xml"/><Relationship Id="Rfcb86aa29e554898"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cb757e35e0048b5" Type="http://schemas.openxmlformats.org/officeDocument/2006/relationships/slide" Target="../slides/slide7.xml"/><Relationship Id="R7c3d31902f0d4e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343064c81ada4096" Type="http://schemas.openxmlformats.org/officeDocument/2006/relationships/notesMaster" Target="../notesMasters/notesMaster1.xml"/><Relationship Id="R663d44dfda154289"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c9757533b274adb" Type="http://schemas.openxmlformats.org/officeDocument/2006/relationships/slide" Target="../slides/slide9.xml"/><Relationship Id="R8ae3e0ed9e88441a"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2960bdb0101e47de" Type="http://schemas.openxmlformats.org/officeDocument/2006/relationships/slide" Target="../slides/slide10.xml"/><Relationship Id="R73d02ef67ec04f8e"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de270e787d74a8b" Type="http://schemas.openxmlformats.org/officeDocument/2006/relationships/notesMaster" Target="../notesMasters/notesMaster1.xml"/><Relationship Id="R4e32938393724677"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b0ca3806afc4301" Type="http://schemas.openxmlformats.org/officeDocument/2006/relationships/notesMaster" Target="../notesMasters/notesMaster1.xml"/><Relationship Id="Rd93650d483a94070"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150e3127830642b2" Type="http://schemas.openxmlformats.org/officeDocument/2006/relationships/notesMaster" Target="../notesMasters/notesMaster1.xml"/><Relationship Id="R36453add78ce4ef8"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bc0a3e6971d14272" Type="http://schemas.openxmlformats.org/officeDocument/2006/relationships/notesMaster" Target="../notesMasters/notesMaster1.xml"/><Relationship Id="Rdb11c1faa25948c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e49b49d38b84d59" Type="http://schemas.openxmlformats.org/officeDocument/2006/relationships/slide" Target="../slides/slide15.xml"/><Relationship Id="R540a975e8c9d433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a835c5cb6d74994" Type="http://schemas.openxmlformats.org/officeDocument/2006/relationships/notesMaster" Target="../notesMasters/notesMaster1.xml"/><Relationship Id="R4b1d109dc77d446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205c3cfb30674ff3" Type="http://schemas.openxmlformats.org/officeDocument/2006/relationships/slide" Target="../slides/slide17.xml"/><Relationship Id="R6c9ace74d5484b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f2c1de79ce74a23" Type="http://schemas.openxmlformats.org/officeDocument/2006/relationships/notesMaster" Target="../notesMasters/notesMaster1.xml"/><Relationship Id="Rceae50025c4d49f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20fb95716474517" Type="http://schemas.openxmlformats.org/officeDocument/2006/relationships/notesMaster" Target="../notesMasters/notesMaster1.xml"/><Relationship Id="Rf0e0c9bccc6d4086"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a7e032943ddd4ec0" Type="http://schemas.openxmlformats.org/officeDocument/2006/relationships/slide" Target="../slides/slide20.xml"/><Relationship Id="Rc2cbf49ed0464164"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0f7b4b567a554470" Type="http://schemas.openxmlformats.org/officeDocument/2006/relationships/slide" Target="../slides/slide21.xml"/><Relationship Id="Rae1490c341cb4be7"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0d7b104125d94f43" Type="http://schemas.openxmlformats.org/officeDocument/2006/relationships/notesMaster" Target="../notesMasters/notesMaster1.xml"/><Relationship Id="R8670aa13682a4559"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41d46fb599f44277" Type="http://schemas.openxmlformats.org/officeDocument/2006/relationships/notesMaster" Target="../notesMasters/notesMaster1.xml"/><Relationship Id="R8df3e7721d4248c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7cd94572475d47e1" Type="http://schemas.openxmlformats.org/officeDocument/2006/relationships/notesMaster" Target="../notesMasters/notesMaster1.xml"/><Relationship Id="R96f22979b90b494a"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76e1b5d678134d38" Type="http://schemas.openxmlformats.org/officeDocument/2006/relationships/slide" Target="../slides/slide25.xml"/><Relationship Id="Rf795323792ed442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4e176acbbb34388" Type="http://schemas.openxmlformats.org/officeDocument/2006/relationships/slide" Target="../slides/slide26.xml"/><Relationship Id="R5446a3be8ea34d10"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Hi, I'm Praveen. This is Find My Ride. It looks at the moment when a driver is nearby, but the rider and driver still can't find each other. I wanted to know why that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I couldn't complete ten live interviews in time, so I built an online survey instead — English, Telugu, and Hindi, with separate rider and driver questions. After removing one duplicate, I had sixty-two responses: fifty-eight riders, four drivers — reaching further than ten interviews would. The tradeoff: no live follow-up on a surprising answer.</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I also checked how other services handle this. Uber already guides Hyderabad airport riders to a pickup zone — this isn't a no-guidance problem. Grab, Lyft, and Waymo use meeting points and clear walking guidance. These prove the pattern, not local demand. The gap is guidance when the pin alone isn't enough.</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I couldn't find reliable data for an exact market size, so I'm not guessing a number. Instead, I show the method, and where demand concentrates: airports, gated communities, malls, offices, and stations.</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My goal was simple: understand what breaks during a difficult pickup, and how people recover today. The rider is the main user; the driver is affected too. Success means fewer calls and a faster start.</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Before writing the problem statement, I checked five questions. Who: a rider at a complex pickup, with the driver also affected. What: no shared meeting point. Where: airports, gated homes, malls, offices, stations. When: as the driver arrives. Why: the extra coordination creates delay.</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Framework adapted from the user-provided 5W problem-framing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The final statement: at complex locations, a correct pin can still fail to create one shared meeting point. That causes calls, waiting, and delay. It doesn't apply to every ride. Rider evidence is broad; driver-side validation is still the open gap.</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synthesis/01-survey-insights.md, synthesis/02-strategy-implications.md, and Sanitized-Survey-Evidence.xlsx.</a:t>
            </a:r>
          </a:p>
          <a:p xmlns:a="http://schemas.openxmlformats.org/drawingml/2006/main">
            <a:r>
              <a:t>Format adapted from the user-provided What Makes a Good Problem Statement reference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These are my main survey questions: what happened, where, what the app showed, when confusion started, what people did next, and what actually helped. Drivers were asked what stopped them from reaching the rider. All online, no live follow-up.</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The problem is real, but not universal. Twenty-four of fifty-one recent car users reported difficulty. Of twenty-eight problem cases, twenty-three said it happened before. Twenty said calling or messaging helped; six said nothing helped. This describes my sample only, not all of Hyderabad.</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Most difficult pickups happened at airports, gated communities, malls, offices, and stations. Calling was the top fix, then waiting or moving. Riders and drivers mostly solve the last step themselves. Full insights are in the appendix.</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My recommendation: help the rider and driver agree on one clear meeting point when a pickup gets hard. I'd test in order — a structured meeting note first, then help for a stuck pickup, then venue guidance. A test order, not a roadmap.</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The first test is a short note before the driver arrives — a gate, landmark, or waiting spot. I'd measure whether it cuts calls, waiting, and cancellations. It should only show up where it's useful.</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The second idea is guided recovery — if they can't connect, the app suggests confirming the meeting point or calling. The third is verified guidance for a few venues, though that needs regular updates or it creates more confusion.</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(read this part aloud)</a:t>
            </a:r>
          </a:p>
          <a:p xmlns:a="http://schemas.openxmlformats.org/drawingml/2006/main"/>
          <a:p xmlns:a="http://schemas.openxmlformats.org/drawingml/2006/main">
            <a:r>
              <a:t>My recommendation is to test the meeting note first — the smallest change that addresses what I found. The research has real gaps: driver evidence is thin, only four responses, and the sample doesn't represent Hyderabad. Next, moderated interviews, then testing with actual pickup-delay data. Everything else is in the appendix. Thank you.</a:t>
            </a:r>
          </a:p>
          <a:p xmlns:a="http://schemas.openxmlformats.org/drawingml/2006/main"/>
          <a:p xmlns:a="http://schemas.openxmlformats.org/drawingml/2006/main">
            <a:r>
              <a:t>— do not read below this line —</a:t>
            </a:r>
          </a:p>
          <a:p xmlns:a="http://schemas.openxmlformats.org/drawingml/2006/main"/>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checks whether the project defined a real user problem before choosing a feature. The frame is specific: complex-location riders and their drivers lack one clear meeting point even when the pin shows the general area. The survey supports the pain and recovery behavior, but validation remains directional because there were no moderated interviews, only four driver responses, and no reliable pickup event data.</a:t>
            </a:r>
          </a:p>
          <a:p xmlns:a="http://schemas.openxmlformats.org/drawingml/2006/main">
            <a:r>
              <a:t/>
            </a:r>
          </a:p>
          <a:p xmlns:a="http://schemas.openxmlformats.org/drawingml/2006/main">
            <a:r>
              <a:t>Sources:</a:t>
            </a:r>
          </a:p>
          <a:p xmlns:a="http://schemas.openxmlformats.org/drawingml/2006/main">
            <a:r>
              <a:t>Concept adapted from the user-provided Good &amp; Bad Problem Framing reference image.</a:t>
            </a:r>
          </a:p>
          <a:p xmlns:a="http://schemas.openxmlformats.org/drawingml/2006/main">
            <a:r>
              <a:t>Local evidence: Sanitized-Survey-Evidence.xlsx,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sizing evidence status.</a:t>
            </a:r>
          </a:p>
          <a:p xmlns:a="http://schemas.openxmlformats.org/drawingml/2006/main">
            <a:r>
              <a:t/>
            </a:r>
          </a:p>
          <a:p xmlns:a="http://schemas.openxmlformats.org/drawingml/2006/main">
            <a:r>
              <a:t>Sources:</a:t>
            </a:r>
          </a:p>
          <a:p xmlns:a="http://schemas.openxmlformats.org/drawingml/2006/main">
            <a:r>
              <a:t>Local evidence: research/desk-research-report.md, research/competitor-analysis.md, and Sanitized-Survey-Evidence.xlsx.</a:t>
            </a:r>
          </a:p>
          <a:p xmlns:a="http://schemas.openxmlformats.org/drawingml/2006/main">
            <a:r>
              <a:t>No numeric TAM, SAM, SOM, CAGR, willingness-to-pay, or saturation claim is made without supporting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readiness and signals.</a:t>
            </a:r>
          </a:p>
          <a:p xmlns:a="http://schemas.openxmlformats.org/drawingml/2006/main">
            <a:r>
              <a:t/>
            </a:r>
          </a:p>
          <a:p xmlns:a="http://schemas.openxmlformats.org/drawingml/2006/main">
            <a:r>
              <a:t>Sources:</a:t>
            </a:r>
          </a:p>
          <a:p xmlns:a="http://schemas.openxmlformats.org/drawingml/2006/main">
            <a:r>
              <a:t>Local evidence: synthesis/02-strategy-implications.md and synthesis/04-product-ideas.md.</a:t>
            </a:r>
          </a:p>
          <a:p xmlns:a="http://schemas.openxmlformats.org/drawingml/2006/main">
            <a:r>
              <a:t>No A/B sample size is claimed because the required baseline, effect-size, confidence, power, and traffic inputs are not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4d533d9257b4b4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99867b5bdd1d4b0b" Type="http://schemas.openxmlformats.org/officeDocument/2006/relationships/theme" Target="theme/theme2.xml"/><Relationship Id="Rb44f2b8b9c8c47cd"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f2b8b9c8c47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4f1256251b24fe5" Type="http://schemas.openxmlformats.org/officeDocument/2006/relationships/slideLayout" Target="../slideLayouts/slideLayout1.xml"/><Relationship Id="R568e462b1b9c40a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4f790138d43e443e" Type="http://schemas.openxmlformats.org/officeDocument/2006/relationships/image" Target="../media/image.png"/><Relationship Id="R53923683a3be40ee" Type="http://schemas.openxmlformats.org/officeDocument/2006/relationships/slideLayout" Target="../slideLayouts/slideLayout1.xml"/><Relationship Id="Rd70d4d872e8145e2" Type="http://schemas.openxmlformats.org/officeDocument/2006/relationships/notesSlide" Target="../notesSlides/notesSlide2.xml"/><Relationship Id="Rdbb748b3aaf34745" Type="http://schemas.openxmlformats.org/officeDocument/2006/relationships/hyperlink" Target="https://praveenveera.github.io/uber-pickup-survey/" TargetMode="External"/></Relationships>
</file>

<file path=ppt/slides/_rels/slide3.xml.rels><?xml version='1.0' encoding='UTF-8' standalone='yes'?>
<Relationships xmlns="http://schemas.openxmlformats.org/package/2006/relationships"><Relationship Id="R15266c5d75624298" Type="http://schemas.openxmlformats.org/officeDocument/2006/relationships/slideLayout" Target="../slideLayouts/slideLayout1.xml"/><Relationship Id="R471a53a61d7940e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42a9c31ce2f34fe8" Type="http://schemas.openxmlformats.org/officeDocument/2006/relationships/notesSlide" Target="../notesSlides/notesSlide4.xml"/><Relationship Id="Rb478f1211d7f45ff"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e13528bf7954872" Type="http://schemas.openxmlformats.org/officeDocument/2006/relationships/notesSlide" Target="../notesSlides/notesSlide5.xml"/><Relationship Id="R594f5c731feb4520"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9f0f40f2ec74fe2" Type="http://schemas.openxmlformats.org/officeDocument/2006/relationships/slideLayout" Target="../slideLayouts/slideLayout1.xml"/><Relationship Id="Rf5a9b1b7a7da438c"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2980512a4864645" Type="http://schemas.openxmlformats.org/officeDocument/2006/relationships/slideLayout" Target="../slideLayouts/slideLayout1.xml"/><Relationship Id="Rb4d06df5de0e4bdb"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29b09a352a24f43" Type="http://schemas.openxmlformats.org/officeDocument/2006/relationships/notesSlide" Target="../notesSlides/notesSlide8.xml"/><Relationship Id="Rde9058e8141c4808"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2e7ef14b824b4e51" Type="http://schemas.openxmlformats.org/officeDocument/2006/relationships/notesSlide" Target="../notesSlides/notesSlide9.xml"/><Relationship Id="Rb9841a733491403e"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84b9818745a4868" Type="http://schemas.openxmlformats.org/officeDocument/2006/relationships/slideLayout" Target="../slideLayouts/slideLayout1.xml"/><Relationship Id="Rf83b5ad84560476c"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8b0fa9a99104c16" Type="http://schemas.openxmlformats.org/officeDocument/2006/relationships/notesSlide" Target="../notesSlides/notesSlide11.xml"/><Relationship Id="R963bf46b772141f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43870482bbf64e3b" Type="http://schemas.openxmlformats.org/officeDocument/2006/relationships/slideLayout" Target="../slideLayouts/slideLayout1.xml"/><Relationship Id="Rd913d87464294fae"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3ff271ccecb543de" Type="http://schemas.openxmlformats.org/officeDocument/2006/relationships/slideLayout" Target="../slideLayouts/slideLayout1.xml"/><Relationship Id="Rc394cb1a650a482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1c88d611182f48b9" Type="http://schemas.openxmlformats.org/officeDocument/2006/relationships/slideLayout" Target="../slideLayouts/slideLayout1.xml"/><Relationship Id="Rfc18d1a5a7744f9f"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f94e05997c74e3c" Type="http://schemas.openxmlformats.org/officeDocument/2006/relationships/slideLayout" Target="../slideLayouts/slideLayout1.xml"/><Relationship Id="Re68302bc65e741df"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e3c9d04032a4ea6" Type="http://schemas.openxmlformats.org/officeDocument/2006/relationships/slideLayout" Target="../slideLayouts/slideLayout1.xml"/><Relationship Id="Rd27c36995d3f405e" Type="http://schemas.openxmlformats.org/officeDocument/2006/relationships/image" Target="../media/image3.png"/><Relationship Id="Rdec1f11b717e4be3" Type="http://schemas.openxmlformats.org/officeDocument/2006/relationships/image" Target="../media/image2.png"/><Relationship Id="Rdfb5b0944b6a472b"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2471e3f80b1b4f25" Type="http://schemas.openxmlformats.org/officeDocument/2006/relationships/slideLayout" Target="../slideLayouts/slideLayout1.xml"/><Relationship Id="R25b0b8a5eeb14fb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0f1cff0bbbd1418b" Type="http://schemas.openxmlformats.org/officeDocument/2006/relationships/notesSlide" Target="../notesSlides/notesSlide18.xml"/><Relationship Id="Rf456f8e2b0a64990"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f14d3b1aa8bc4bd0" Type="http://schemas.openxmlformats.org/officeDocument/2006/relationships/notesSlide" Target="../notesSlides/notesSlide19.xml"/><Relationship Id="Rf631cacc8e21498f"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330b163b160945f4" Type="http://schemas.openxmlformats.org/officeDocument/2006/relationships/slideLayout" Target="../slideLayouts/slideLayout1.xml"/><Relationship Id="R957900d8a24c442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a907f368435c4b40" Type="http://schemas.openxmlformats.org/officeDocument/2006/relationships/notesSlide" Target="../notesSlides/notesSlide21.xml"/><Relationship Id="Rf8ac9c9ae2b545cc"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334a9ae3e5ef402a" Type="http://schemas.openxmlformats.org/officeDocument/2006/relationships/slideLayout" Target="../slideLayouts/slideLayout1.xml"/><Relationship Id="Rb70aaae0a60c4c2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0d1b68cc2c1c48f7" Type="http://schemas.openxmlformats.org/officeDocument/2006/relationships/slideLayout" Target="../slideLayouts/slideLayout1.xml"/><Relationship Id="R1563afcf08e847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2e984220a8c1468f" Type="http://schemas.openxmlformats.org/officeDocument/2006/relationships/notesSlide" Target="../notesSlides/notesSlide24.xml"/><Relationship Id="Re2eaad1a7c9e40b5"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2ee6e0396bc84ebd" Type="http://schemas.openxmlformats.org/officeDocument/2006/relationships/notesSlide" Target="../notesSlides/notesSlide25.xml"/><Relationship Id="Rc5626c6aa7ff4010"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7c44b03314f246e0" Type="http://schemas.openxmlformats.org/officeDocument/2006/relationships/slideLayout" Target="../slideLayouts/slideLayout1.xml"/><Relationship Id="Rd4f0c2c9b0044f15" Type="http://schemas.openxmlformats.org/officeDocument/2006/relationships/notesSlide" Target="../notesSlides/notesSlide26.xml"/></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9D48A1A-FB3B-49B6-8BB8-4D1258040EEF}"/>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71B23EEC-567A-4856-8BEA-4CDA21965DCF}"/>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529140CC-FD12-41BF-9290-66CA2166ACA5}"/>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8EF27A3D-05BB-49A0-A16A-CF94B11DDA77}"/>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1E17EE-0DA5-4592-8D06-287C9354774B}"/>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9B52467B-3BED-411F-B921-B02BC554098B}"/>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3CA9B61B-E816-4864-A42A-6DE1F78F5792}"/>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E88FBD-23DC-41F6-90F9-2995FE2B23BE}"/>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502C2FF9-7313-4806-BE87-326F9329AB09}"/>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F3A27EF5-55C6-41A1-B8AE-C1E2D08FD3CD}"/>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513E89-F9C1-48AE-8FEA-B3B756128167}"/>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B3D006A4-AEB2-442A-AB96-5E5F44174606}"/>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352EF320-D688-484A-9C7E-E90A4F222B2A}"/>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5E0891E-9F6B-4A4A-9635-7A090BF3D9C7}"/>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5C467213-2803-4D07-AB6D-202FEFA3F08A}"/>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1DAC434F-01D5-4487-A272-BF25BD14E84B}"/>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1043782108"/>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E77C5A6-073D-4F45-86B9-F9293D9A2BC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04812AA3-7BC8-42CD-AD2A-A6FE39374391}"/>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F9648E97-5A55-46D0-9BF7-176C86CC55A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8C8CB59E-6E2D-461E-AD5F-B54594EF2B28}"/>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42BBFC6-3AD0-49FB-99FE-59FDBE12697D}"/>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3F491254-7181-4568-9535-1ED05F2B2592}"/>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575EC74C-2B99-4C19-A333-C3B8BD5AAB80}"/>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D923DCF-D801-432C-AC1B-BBDB12DEAD84}"/>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67658E6B-133B-40DA-B567-AD13140DD4F6}"/>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2ED67A11-FF7E-42F0-BC78-15001EF508BA}"/>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ED58017-1DE8-418B-90D4-2D2E2E51EDA0}"/>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7A05D3A4-9FBF-4F0F-8D15-640521ECD0B3}"/>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responses across three languages reach further than 10 interviews would. The tradeoff: no live probing, so depth per respondent is lower than a moderated interview.</a:t>
            </a:r>
          </a:p>
        </p:txBody>
      </p:sp>
      <p:sp>
        <p:nvSpPr>
          <p:cNvPr id="13" name="">
            <a:extLst xmlns:a="http://schemas.openxmlformats.org/drawingml/2006/main">
              <a:ext uri="{FF2B5EF4-FFF2-40B4-BE49-F238E27FC236}">
                <a16:creationId xmlns:a16="http://schemas.microsoft.com/office/drawing/2014/main" id="{704118CB-B519-45C0-8A7B-60A32532E9D3}"/>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F469199E-3D2B-4B32-856B-858C89889937}"/>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txBody xmlns:a="http://schemas.openxmlformats.org/drawingml/2006/main">
          <a:bodyP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f790138d43e443e"/>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88F1885-3EC3-4508-B583-F0E63C70603A}"/>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dbb748b3aaf34745"/>
              </a:rPr>
              <a:t>https://praveenveera.github.io/uber-pickup-survey/</a:t>
            </a:r>
          </a:p>
        </p:txBody>
      </p:sp>
      <p:sp>
        <p:nvSpPr>
          <p:cNvPr id="17" name="">
            <a:extLst xmlns:a="http://schemas.openxmlformats.org/drawingml/2006/main">
              <a:ext uri="{FF2B5EF4-FFF2-40B4-BE49-F238E27FC236}">
                <a16:creationId xmlns:a16="http://schemas.microsoft.com/office/drawing/2014/main" id="{5EF20309-1FCE-43D0-BA3A-F4EC0819CA6C}"/>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24E0C5FE-2150-4537-B341-AE7008C59E78}"/>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0D41A8B0-C53F-46B9-BCB8-4930F7359D0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49B0328B-6930-4E45-9EDC-DD0622253CC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128950912"/>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FD4D8FE-2D62-4024-9DE9-EBA0C9F6353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A5E2A3CE-DF5B-41EB-A0B1-52031DFE36EF}"/>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10AE95E3-F4B4-4DC3-84E8-0C8F9D49FCC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3AAA5E43-22D5-4328-8DEA-41B7E75D1DFA}"/>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719E5AB5-7C80-4A60-8777-72ECB988C885}"/>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EED3114F-ABF9-4B31-AC0E-299D7BA6EBB8}"/>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38DA5318-607B-423C-893B-5A7D61807CCE}"/>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BED76A67-D7A1-45B7-92E0-46FA576A4382}"/>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50B00364-8117-407C-A019-FE3E036338CE}"/>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ECC0F23E-4F34-461A-9D62-3AEB8EB53E8E}"/>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A20EF050-B975-4A3E-ADF4-1B5AEE190026}"/>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2014A419-8FE7-4CA2-A3E2-2ACFF4D74D52}"/>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BF3D6AF9-D4AC-4000-973B-5E3842D0BA7C}"/>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75BC9C3-F67E-477B-AD2B-15D60A61B781}"/>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CA9BE84C-0AF6-4C12-92B6-3CAB153FCB1E}"/>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BDD830F5-E8C7-4329-A804-476989579233}"/>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F773551-AFE3-4D7B-AE97-A75F7D69D9FF}"/>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132F1D2D-33C4-4DE2-BD13-86104BB807E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D47C9BA7-EEC9-4F1C-8163-40A40BEF40C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261969515"/>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8CD966-189E-4D48-8EFA-9BE32A7C46C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D7DCFF52-3524-469B-A849-B94CA6CA1C5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57B2CF92-F0B2-4EFF-AF65-801A2D8812A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FE24409E-7FD9-4793-B45D-5C33C739F721}"/>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5BEBB2F-D585-4597-92E6-6A00EF2112DD}"/>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53892F25-A45E-4330-85F8-EEC3FC9553DB}"/>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7AAC6164-1412-4BAE-AF80-3AA5A1E9244D}"/>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E40F4285-8C45-4002-B315-283D215CFBFE}"/>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EB78B34D-2033-4FB0-B08F-46BBA187D26C}"/>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2EAC5087-00A6-4BBE-A2F7-2D6A79F15450}"/>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CDE4CEB9-9E76-4760-88F1-E975E7BFAE4B}"/>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E8A16693-997C-4E5B-8ECD-9FA732BD397F}"/>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F28DFC1F-4032-4249-BAC5-90F74B6DAF85}"/>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9C7B3C5-5D37-440A-AD29-70019F39CEBA}"/>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9D1B0DB6-1ADE-482C-8137-A611177572F2}"/>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201DA75B-C2DB-4ADA-A11A-62A1693A09D9}"/>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117066-5B86-4C5D-BDEC-15885CEC822E}"/>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C5F63144-BA0E-4FC5-835A-14CCC175D1C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5EFF4A6-427E-4A29-9EFF-2185CBB13F2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51219222"/>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F3E773-AC50-4A06-87CE-5CF46FD3F4C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RESEARCH GOAL</a:t>
            </a:r>
          </a:p>
        </p:txBody>
      </p:sp>
      <p:sp>
        <p:nvSpPr>
          <p:cNvPr id="2" name="">
            <a:extLst xmlns:a="http://schemas.openxmlformats.org/drawingml/2006/main">
              <a:ext uri="{FF2B5EF4-FFF2-40B4-BE49-F238E27FC236}">
                <a16:creationId xmlns:a16="http://schemas.microsoft.com/office/drawing/2014/main" id="{08E98FCA-C40A-4CA6-9530-36D3FA68B2EE}"/>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research question grounded in a clear problem frame</a:t>
            </a:r>
          </a:p>
        </p:txBody>
      </p:sp>
      <p:sp>
        <p:nvSpPr>
          <p:cNvPr id="3" name="">
            <a:extLst xmlns:a="http://schemas.openxmlformats.org/drawingml/2006/main">
              <a:ext uri="{FF2B5EF4-FFF2-40B4-BE49-F238E27FC236}">
                <a16:creationId xmlns:a16="http://schemas.microsoft.com/office/drawing/2014/main" id="{E0DA6781-7C9E-4F37-A7F1-B43654D2422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Primary: Hyderabad four-wheel riders at complex pickups. Connected stakeholder: the driver.</a:t>
            </a:r>
          </a:p>
        </p:txBody>
      </p:sp>
      <p:sp>
        <p:nvSpPr>
          <p:cNvPr id="4" name="">
            <a:extLst xmlns:a="http://schemas.openxmlformats.org/drawingml/2006/main">
              <a:ext uri="{FF2B5EF4-FFF2-40B4-BE49-F238E27FC236}">
                <a16:creationId xmlns:a16="http://schemas.microsoft.com/office/drawing/2014/main" id="{EC85C58F-4260-4CFA-BEC0-250A521E0F10}"/>
              </a:ext>
            </a:extLst>
          </p:cNvPr>
          <p:cNvSpPr>
            <a:spLocks xmlns:a="http://schemas.openxmlformats.org/drawingml/2006/main" noGrp="1"/>
          </p:cNvSpPr>
          <p:nvPr/>
        </p:nvSpPr>
        <p:spPr>
          <a:xfrm xmlns:a="http://schemas.openxmlformats.org/drawingml/2006/main">
            <a:off x="514350" y="1600200"/>
            <a:ext cx="10439400" cy="990600"/>
          </a:xfrm>
          <a:prstGeom xmlns:a="http://schemas.openxmlformats.org/drawingml/2006/main" prst="roundRect">
            <a:avLst>
              <a:gd name="adj" fmla="val 5769"/>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588BF3-2438-4C43-92E2-DB0480540845}"/>
              </a:ext>
            </a:extLst>
          </p:cNvPr>
          <p:cNvSpPr>
            <a:spLocks xmlns:a="http://schemas.openxmlformats.org/drawingml/2006/main" noGrp="1"/>
          </p:cNvSpPr>
          <p:nvPr/>
        </p:nvSpPr>
        <p:spPr>
          <a:xfrm xmlns:a="http://schemas.openxmlformats.org/drawingml/2006/main">
            <a:off x="781050" y="1790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6420"/>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When a pickup becomes difficult, what breaks, and what do riders and drivers do to recover?</a:t>
            </a:r>
          </a:p>
        </p:txBody>
      </p:sp>
      <p:sp>
        <p:nvSpPr>
          <p:cNvPr id="6" name="">
            <a:extLst xmlns:a="http://schemas.openxmlformats.org/drawingml/2006/main">
              <a:ext uri="{FF2B5EF4-FFF2-40B4-BE49-F238E27FC236}">
                <a16:creationId xmlns:a16="http://schemas.microsoft.com/office/drawing/2014/main" id="{1C260AD8-5C43-4DED-8CC7-4BC39D3B0FA0}"/>
              </a:ext>
            </a:extLst>
          </p:cNvPr>
          <p:cNvSpPr>
            <a:spLocks xmlns:a="http://schemas.openxmlformats.org/drawingml/2006/main" noGrp="1"/>
          </p:cNvSpPr>
          <p:nvPr/>
        </p:nvSpPr>
        <p:spPr>
          <a:xfrm xmlns:a="http://schemas.openxmlformats.org/drawingml/2006/main">
            <a:off x="514350" y="2895600"/>
            <a:ext cx="5048250" cy="2057400"/>
          </a:xfrm>
          <a:prstGeom xmlns:a="http://schemas.openxmlformats.org/drawingml/2006/main" prst="roundRect">
            <a:avLst>
              <a:gd name="adj" fmla="val 2778"/>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031B6321-AB09-4167-8311-64E853DB1BE6}"/>
              </a:ext>
            </a:extLst>
          </p:cNvPr>
          <p:cNvSpPr>
            <a:spLocks xmlns:a="http://schemas.openxmlformats.org/drawingml/2006/main" noGrp="1"/>
          </p:cNvSpPr>
          <p:nvPr/>
        </p:nvSpPr>
        <p:spPr>
          <a:xfrm xmlns:a="http://schemas.openxmlformats.org/drawingml/2006/main">
            <a:off x="66675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PROBLEM</a:t>
            </a:r>
          </a:p>
        </p:txBody>
      </p:sp>
      <p:sp>
        <p:nvSpPr>
          <p:cNvPr id="8" name="">
            <a:extLst xmlns:a="http://schemas.openxmlformats.org/drawingml/2006/main">
              <a:ext uri="{FF2B5EF4-FFF2-40B4-BE49-F238E27FC236}">
                <a16:creationId xmlns:a16="http://schemas.microsoft.com/office/drawing/2014/main" id="{DE521B88-DE29-4448-B903-B5FA41A21060}"/>
              </a:ext>
            </a:extLst>
          </p:cNvPr>
          <p:cNvSpPr>
            <a:spLocks xmlns:a="http://schemas.openxmlformats.org/drawingml/2006/main" noGrp="1"/>
          </p:cNvSpPr>
          <p:nvPr/>
        </p:nvSpPr>
        <p:spPr>
          <a:xfrm xmlns:a="http://schemas.openxmlformats.org/drawingml/2006/main">
            <a:off x="66675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an app pin may identify the area without giving rider and driver a shared, workable meeting point. Observed impact: extra calls, waiting, movement, and delay.</a:t>
            </a:r>
          </a:p>
        </p:txBody>
      </p:sp>
      <p:sp>
        <p:nvSpPr>
          <p:cNvPr id="9" name="">
            <a:extLst xmlns:a="http://schemas.openxmlformats.org/drawingml/2006/main">
              <a:ext uri="{FF2B5EF4-FFF2-40B4-BE49-F238E27FC236}">
                <a16:creationId xmlns:a16="http://schemas.microsoft.com/office/drawing/2014/main" id="{3C9CD9EF-1E42-4294-9AB7-235E28624B35}"/>
              </a:ext>
            </a:extLst>
          </p:cNvPr>
          <p:cNvSpPr>
            <a:spLocks xmlns:a="http://schemas.openxmlformats.org/drawingml/2006/main" noGrp="1"/>
          </p:cNvSpPr>
          <p:nvPr/>
        </p:nvSpPr>
        <p:spPr>
          <a:xfrm xmlns:a="http://schemas.openxmlformats.org/drawingml/2006/main">
            <a:off x="5905500" y="2895600"/>
            <a:ext cx="5048250" cy="2057400"/>
          </a:xfrm>
          <a:prstGeom xmlns:a="http://schemas.openxmlformats.org/drawingml/2006/main" prst="roundRect">
            <a:avLst>
              <a:gd name="adj" fmla="val 2778"/>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92965C42-10DD-49B3-BF47-3A892D4F4365}"/>
              </a:ext>
            </a:extLst>
          </p:cNvPr>
          <p:cNvSpPr>
            <a:spLocks xmlns:a="http://schemas.openxmlformats.org/drawingml/2006/main" noGrp="1"/>
          </p:cNvSpPr>
          <p:nvPr/>
        </p:nvSpPr>
        <p:spPr>
          <a:xfrm xmlns:a="http://schemas.openxmlformats.org/drawingml/2006/main">
            <a:off x="6057900" y="300990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WORKING JTBD · ASSUMPTION</a:t>
            </a:r>
          </a:p>
        </p:txBody>
      </p:sp>
      <p:sp>
        <p:nvSpPr>
          <p:cNvPr id="11" name="">
            <a:extLst xmlns:a="http://schemas.openxmlformats.org/drawingml/2006/main">
              <a:ext uri="{FF2B5EF4-FFF2-40B4-BE49-F238E27FC236}">
                <a16:creationId xmlns:a16="http://schemas.microsoft.com/office/drawing/2014/main" id="{53FFCD01-4655-4ADD-9F30-9DCCEA4CDE19}"/>
              </a:ext>
            </a:extLst>
          </p:cNvPr>
          <p:cNvSpPr>
            <a:spLocks xmlns:a="http://schemas.openxmlformats.org/drawingml/2006/main" noGrp="1"/>
          </p:cNvSpPr>
          <p:nvPr/>
        </p:nvSpPr>
        <p:spPr>
          <a:xfrm xmlns:a="http://schemas.openxmlformats.org/drawingml/2006/main">
            <a:off x="6057900" y="3343275"/>
            <a:ext cx="4743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When I am waiting at a complex pickup, help my driver and me agree on a legal, easy-to-recognize meeting point so the trip can start with less recovery effort.</a:t>
            </a:r>
          </a:p>
        </p:txBody>
      </p:sp>
      <p:sp>
        <p:nvSpPr>
          <p:cNvPr id="12" name="">
            <a:extLst xmlns:a="http://schemas.openxmlformats.org/drawingml/2006/main">
              <a:ext uri="{FF2B5EF4-FFF2-40B4-BE49-F238E27FC236}">
                <a16:creationId xmlns:a16="http://schemas.microsoft.com/office/drawing/2014/main" id="{A635FEF5-FC53-47F9-8309-693ECEF49BE3}"/>
              </a:ext>
            </a:extLst>
          </p:cNvPr>
          <p:cNvSpPr>
            <a:spLocks xmlns:a="http://schemas.openxmlformats.org/drawingml/2006/main" noGrp="1"/>
          </p:cNvSpPr>
          <p:nvPr/>
        </p:nvSpPr>
        <p:spPr>
          <a:xfrm xmlns:a="http://schemas.openxmlformats.org/drawingml/2006/main">
            <a:off x="514350" y="521970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3FE5FA-A99D-4C7D-BBD9-10CC55BA8C15}"/>
              </a:ext>
            </a:extLst>
          </p:cNvPr>
          <p:cNvSpPr>
            <a:spLocks xmlns:a="http://schemas.openxmlformats.org/drawingml/2006/main" noGrp="1"/>
          </p:cNvSpPr>
          <p:nvPr/>
        </p:nvSpPr>
        <p:spPr>
          <a:xfrm xmlns:a="http://schemas.openxmlformats.org/drawingml/2006/main">
            <a:off x="704850" y="5372100"/>
            <a:ext cx="1005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469"/>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Success direction: fewer reactive contacts and lower arrived-to-trip-start dwell. Driver and marketplace impact still requires validation.</a:t>
            </a:r>
          </a:p>
        </p:txBody>
      </p:sp>
      <p:sp>
        <p:nvSpPr>
          <p:cNvPr id="14" name="">
            <a:extLst xmlns:a="http://schemas.openxmlformats.org/drawingml/2006/main">
              <a:ext uri="{FF2B5EF4-FFF2-40B4-BE49-F238E27FC236}">
                <a16:creationId xmlns:a16="http://schemas.microsoft.com/office/drawing/2014/main" id="{B763B77E-5D39-4941-BF20-9E9AB7B8E12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5" name="">
            <a:extLst xmlns:a="http://schemas.openxmlformats.org/drawingml/2006/main">
              <a:ext uri="{FF2B5EF4-FFF2-40B4-BE49-F238E27FC236}">
                <a16:creationId xmlns:a16="http://schemas.microsoft.com/office/drawing/2014/main" id="{0E47B34B-B757-4582-AE03-6BF6C5F8E44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622789712"/>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A3EE1B4-A2EE-48B2-9005-8ED69DA287B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FRAMING</a:t>
            </a:r>
          </a:p>
        </p:txBody>
      </p:sp>
      <p:sp>
        <p:nvSpPr>
          <p:cNvPr id="2" name="">
            <a:extLst xmlns:a="http://schemas.openxmlformats.org/drawingml/2006/main">
              <a:ext uri="{FF2B5EF4-FFF2-40B4-BE49-F238E27FC236}">
                <a16:creationId xmlns:a16="http://schemas.microsoft.com/office/drawing/2014/main" id="{DF8A7889-1212-45F4-9952-93B3CBF119BD}"/>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Five questions before writing the problem statement</a:t>
            </a:r>
          </a:p>
        </p:txBody>
      </p:sp>
      <p:sp>
        <p:nvSpPr>
          <p:cNvPr id="3" name="">
            <a:extLst xmlns:a="http://schemas.openxmlformats.org/drawingml/2006/main">
              <a:ext uri="{FF2B5EF4-FFF2-40B4-BE49-F238E27FC236}">
                <a16:creationId xmlns:a16="http://schemas.microsoft.com/office/drawing/2014/main" id="{D9F47ECA-ECA0-47ED-95D2-0CCD57E8927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5Ws define the context and impact without jumping to a feature.</a:t>
            </a:r>
          </a:p>
        </p:txBody>
      </p:sp>
      <p:sp>
        <p:nvSpPr>
          <p:cNvPr id="4" name="">
            <a:extLst xmlns:a="http://schemas.openxmlformats.org/drawingml/2006/main">
              <a:ext uri="{FF2B5EF4-FFF2-40B4-BE49-F238E27FC236}">
                <a16:creationId xmlns:a16="http://schemas.microsoft.com/office/drawing/2014/main" id="{1714CE79-41D0-42EC-BBD7-A5EA0FFAAA95}"/>
              </a:ext>
            </a:extLst>
          </p:cNvPr>
          <p:cNvSpPr>
            <a:spLocks xmlns:a="http://schemas.openxmlformats.org/drawingml/2006/main" noGrp="1"/>
          </p:cNvSpPr>
          <p:nvPr/>
        </p:nvSpPr>
        <p:spPr>
          <a:xfrm xmlns:a="http://schemas.openxmlformats.org/drawingml/2006/main">
            <a:off x="514350" y="1619250"/>
            <a:ext cx="10439400" cy="3352800"/>
          </a:xfrm>
          <a:prstGeom xmlns:a="http://schemas.openxmlformats.org/drawingml/2006/main" prst="roundRect">
            <a:avLst>
              <a:gd name="adj" fmla="val 2273"/>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C5F61A1-79CE-46CF-93D6-F470E7223F04}"/>
              </a:ext>
            </a:extLst>
          </p:cNvPr>
          <p:cNvSpPr>
            <a:spLocks xmlns:a="http://schemas.openxmlformats.org/drawingml/2006/main" noGrp="1"/>
          </p:cNvSpPr>
          <p:nvPr/>
        </p:nvSpPr>
        <p:spPr>
          <a:xfrm xmlns:a="http://schemas.openxmlformats.org/drawingml/2006/main">
            <a:off x="1247775" y="1924050"/>
            <a:ext cx="628650" cy="628650"/>
          </a:xfrm>
          <a:prstGeom xmlns:a="http://schemas.openxmlformats.org/drawingml/2006/main" prst="ellipse">
            <a:avLst/>
          </a:prstGeom>
          <a:solidFill xmlns:a="http://schemas.openxmlformats.org/drawingml/2006/main">
            <a:srgbClr val="F47A2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80A5333-ACD4-4E2C-B684-3F25B949CCBA}"/>
              </a:ext>
            </a:extLst>
          </p:cNvPr>
          <p:cNvSpPr>
            <a:spLocks xmlns:a="http://schemas.openxmlformats.org/drawingml/2006/main" noGrp="1"/>
          </p:cNvSpPr>
          <p:nvPr/>
        </p:nvSpPr>
        <p:spPr>
          <a:xfrm xmlns:a="http://schemas.openxmlformats.org/drawingml/2006/main">
            <a:off x="131445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01</a:t>
            </a:r>
          </a:p>
        </p:txBody>
      </p:sp>
      <p:sp>
        <p:nvSpPr>
          <p:cNvPr id="7" name="">
            <a:extLst xmlns:a="http://schemas.openxmlformats.org/drawingml/2006/main">
              <a:ext uri="{FF2B5EF4-FFF2-40B4-BE49-F238E27FC236}">
                <a16:creationId xmlns:a16="http://schemas.microsoft.com/office/drawing/2014/main" id="{5FFE4AAC-277E-4CF0-BBF6-9377FEBF6647}"/>
              </a:ext>
            </a:extLst>
          </p:cNvPr>
          <p:cNvSpPr>
            <a:spLocks xmlns:a="http://schemas.openxmlformats.org/drawingml/2006/main" noGrp="1"/>
          </p:cNvSpPr>
          <p:nvPr/>
        </p:nvSpPr>
        <p:spPr>
          <a:xfrm xmlns:a="http://schemas.openxmlformats.org/drawingml/2006/main">
            <a:off x="77152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WHO</a:t>
            </a:r>
          </a:p>
        </p:txBody>
      </p:sp>
      <p:sp>
        <p:nvSpPr>
          <p:cNvPr id="8" name="">
            <a:extLst xmlns:a="http://schemas.openxmlformats.org/drawingml/2006/main">
              <a:ext uri="{FF2B5EF4-FFF2-40B4-BE49-F238E27FC236}">
                <a16:creationId xmlns:a16="http://schemas.microsoft.com/office/drawing/2014/main" id="{8C727946-CF45-41B3-A46A-BF3C5FAE10D1}"/>
              </a:ext>
            </a:extLst>
          </p:cNvPr>
          <p:cNvSpPr>
            <a:spLocks xmlns:a="http://schemas.openxmlformats.org/drawingml/2006/main" noGrp="1"/>
          </p:cNvSpPr>
          <p:nvPr/>
        </p:nvSpPr>
        <p:spPr>
          <a:xfrm xmlns:a="http://schemas.openxmlformats.org/drawingml/2006/main">
            <a:off x="72390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four-wheel riders</a:t>
            </a:r>
          </a:p>
          <a:p xmlns:a="http://schemas.openxmlformats.org/drawingml/2006/main">
            <a:r>
              <a:t/>
            </a:r>
          </a:p>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The driver is the connected stakeholder.</a:t>
            </a:r>
          </a:p>
        </p:txBody>
      </p:sp>
      <p:sp>
        <p:nvSpPr>
          <p:cNvPr id="9" name="">
            <a:extLst xmlns:a="http://schemas.openxmlformats.org/drawingml/2006/main">
              <a:ext uri="{FF2B5EF4-FFF2-40B4-BE49-F238E27FC236}">
                <a16:creationId xmlns:a16="http://schemas.microsoft.com/office/drawing/2014/main" id="{56428C57-3473-462A-A994-8E324D111432}"/>
              </a:ext>
            </a:extLst>
          </p:cNvPr>
          <p:cNvSpPr>
            <a:spLocks xmlns:a="http://schemas.openxmlformats.org/drawingml/2006/main" noGrp="1"/>
          </p:cNvSpPr>
          <p:nvPr/>
        </p:nvSpPr>
        <p:spPr>
          <a:xfrm xmlns:a="http://schemas.openxmlformats.org/drawingml/2006/main">
            <a:off x="260223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A83BEA-9E31-4A65-95C1-4D19DB33A677}"/>
              </a:ext>
            </a:extLst>
          </p:cNvPr>
          <p:cNvSpPr>
            <a:spLocks xmlns:a="http://schemas.openxmlformats.org/drawingml/2006/main" noGrp="1"/>
          </p:cNvSpPr>
          <p:nvPr/>
        </p:nvSpPr>
        <p:spPr>
          <a:xfrm xmlns:a="http://schemas.openxmlformats.org/drawingml/2006/main">
            <a:off x="333565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CA90EF-FCF6-452B-B6FB-B19570CEC643}"/>
              </a:ext>
            </a:extLst>
          </p:cNvPr>
          <p:cNvSpPr>
            <a:spLocks xmlns:a="http://schemas.openxmlformats.org/drawingml/2006/main" noGrp="1"/>
          </p:cNvSpPr>
          <p:nvPr/>
        </p:nvSpPr>
        <p:spPr>
          <a:xfrm xmlns:a="http://schemas.openxmlformats.org/drawingml/2006/main">
            <a:off x="340233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02</a:t>
            </a:r>
          </a:p>
        </p:txBody>
      </p:sp>
      <p:sp>
        <p:nvSpPr>
          <p:cNvPr id="12" name="">
            <a:extLst xmlns:a="http://schemas.openxmlformats.org/drawingml/2006/main">
              <a:ext uri="{FF2B5EF4-FFF2-40B4-BE49-F238E27FC236}">
                <a16:creationId xmlns:a16="http://schemas.microsoft.com/office/drawing/2014/main" id="{5D773E17-4290-4447-937B-45D07E8FFE56}"/>
              </a:ext>
            </a:extLst>
          </p:cNvPr>
          <p:cNvSpPr>
            <a:spLocks xmlns:a="http://schemas.openxmlformats.org/drawingml/2006/main" noGrp="1"/>
          </p:cNvSpPr>
          <p:nvPr/>
        </p:nvSpPr>
        <p:spPr>
          <a:xfrm xmlns:a="http://schemas.openxmlformats.org/drawingml/2006/main">
            <a:off x="285940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WHAT</a:t>
            </a:r>
          </a:p>
        </p:txBody>
      </p:sp>
      <p:sp>
        <p:nvSpPr>
          <p:cNvPr id="13" name="">
            <a:extLst xmlns:a="http://schemas.openxmlformats.org/drawingml/2006/main">
              <a:ext uri="{FF2B5EF4-FFF2-40B4-BE49-F238E27FC236}">
                <a16:creationId xmlns:a16="http://schemas.microsoft.com/office/drawing/2014/main" id="{726E416D-97C3-4A59-9C19-7C3960A86DA0}"/>
              </a:ext>
            </a:extLst>
          </p:cNvPr>
          <p:cNvSpPr>
            <a:spLocks xmlns:a="http://schemas.openxmlformats.org/drawingml/2006/main" noGrp="1"/>
          </p:cNvSpPr>
          <p:nvPr/>
        </p:nvSpPr>
        <p:spPr>
          <a:xfrm xmlns:a="http://schemas.openxmlformats.org/drawingml/2006/main">
            <a:off x="281178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 generally correct pin may still fail to create one shared, workable meeting point.</a:t>
            </a:r>
          </a:p>
        </p:txBody>
      </p:sp>
      <p:sp>
        <p:nvSpPr>
          <p:cNvPr id="14" name="">
            <a:extLst xmlns:a="http://schemas.openxmlformats.org/drawingml/2006/main">
              <a:ext uri="{FF2B5EF4-FFF2-40B4-BE49-F238E27FC236}">
                <a16:creationId xmlns:a16="http://schemas.microsoft.com/office/drawing/2014/main" id="{07E20E39-9652-4AA9-BE59-9557BFAF1E2D}"/>
              </a:ext>
            </a:extLst>
          </p:cNvPr>
          <p:cNvSpPr>
            <a:spLocks xmlns:a="http://schemas.openxmlformats.org/drawingml/2006/main" noGrp="1"/>
          </p:cNvSpPr>
          <p:nvPr/>
        </p:nvSpPr>
        <p:spPr>
          <a:xfrm xmlns:a="http://schemas.openxmlformats.org/drawingml/2006/main">
            <a:off x="469011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0947D8-090F-40D5-A37E-F2158745DCC8}"/>
              </a:ext>
            </a:extLst>
          </p:cNvPr>
          <p:cNvSpPr>
            <a:spLocks xmlns:a="http://schemas.openxmlformats.org/drawingml/2006/main" noGrp="1"/>
          </p:cNvSpPr>
          <p:nvPr/>
        </p:nvSpPr>
        <p:spPr>
          <a:xfrm xmlns:a="http://schemas.openxmlformats.org/drawingml/2006/main">
            <a:off x="542353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C26B600-BAC0-42B1-BF2C-7C507EE5B892}"/>
              </a:ext>
            </a:extLst>
          </p:cNvPr>
          <p:cNvSpPr>
            <a:spLocks xmlns:a="http://schemas.openxmlformats.org/drawingml/2006/main" noGrp="1"/>
          </p:cNvSpPr>
          <p:nvPr/>
        </p:nvSpPr>
        <p:spPr>
          <a:xfrm xmlns:a="http://schemas.openxmlformats.org/drawingml/2006/main">
            <a:off x="549021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6E23BDC2-0491-4D1B-A27F-09F20827FCDA}"/>
              </a:ext>
            </a:extLst>
          </p:cNvPr>
          <p:cNvSpPr>
            <a:spLocks xmlns:a="http://schemas.openxmlformats.org/drawingml/2006/main" noGrp="1"/>
          </p:cNvSpPr>
          <p:nvPr/>
        </p:nvSpPr>
        <p:spPr>
          <a:xfrm xmlns:a="http://schemas.openxmlformats.org/drawingml/2006/main">
            <a:off x="494728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WHERE</a:t>
            </a:r>
          </a:p>
        </p:txBody>
      </p:sp>
      <p:sp>
        <p:nvSpPr>
          <p:cNvPr id="18" name="">
            <a:extLst xmlns:a="http://schemas.openxmlformats.org/drawingml/2006/main">
              <a:ext uri="{FF2B5EF4-FFF2-40B4-BE49-F238E27FC236}">
                <a16:creationId xmlns:a16="http://schemas.microsoft.com/office/drawing/2014/main" id="{DB9CAFA3-E05F-4B97-83E6-18D12E1CF480}"/>
              </a:ext>
            </a:extLst>
          </p:cNvPr>
          <p:cNvSpPr>
            <a:spLocks xmlns:a="http://schemas.openxmlformats.org/drawingml/2006/main" noGrp="1"/>
          </p:cNvSpPr>
          <p:nvPr/>
        </p:nvSpPr>
        <p:spPr>
          <a:xfrm xmlns:a="http://schemas.openxmlformats.org/drawingml/2006/main">
            <a:off x="489966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Airports, gated homes, malls, offices, and metro or railway stations.</a:t>
            </a:r>
          </a:p>
        </p:txBody>
      </p:sp>
      <p:sp>
        <p:nvSpPr>
          <p:cNvPr id="19" name="">
            <a:extLst xmlns:a="http://schemas.openxmlformats.org/drawingml/2006/main">
              <a:ext uri="{FF2B5EF4-FFF2-40B4-BE49-F238E27FC236}">
                <a16:creationId xmlns:a16="http://schemas.microsoft.com/office/drawing/2014/main" id="{1B377D78-1758-4136-ACBE-85BF3BF0C56E}"/>
              </a:ext>
            </a:extLst>
          </p:cNvPr>
          <p:cNvSpPr>
            <a:spLocks xmlns:a="http://schemas.openxmlformats.org/drawingml/2006/main" noGrp="1"/>
          </p:cNvSpPr>
          <p:nvPr/>
        </p:nvSpPr>
        <p:spPr>
          <a:xfrm xmlns:a="http://schemas.openxmlformats.org/drawingml/2006/main">
            <a:off x="677799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38BF29-9D8F-4573-A05C-CDC3272E5A97}"/>
              </a:ext>
            </a:extLst>
          </p:cNvPr>
          <p:cNvSpPr>
            <a:spLocks xmlns:a="http://schemas.openxmlformats.org/drawingml/2006/main" noGrp="1"/>
          </p:cNvSpPr>
          <p:nvPr/>
        </p:nvSpPr>
        <p:spPr>
          <a:xfrm xmlns:a="http://schemas.openxmlformats.org/drawingml/2006/main">
            <a:off x="751141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1A728A-00DF-4B8A-95B5-16EC94E97148}"/>
              </a:ext>
            </a:extLst>
          </p:cNvPr>
          <p:cNvSpPr>
            <a:spLocks xmlns:a="http://schemas.openxmlformats.org/drawingml/2006/main" noGrp="1"/>
          </p:cNvSpPr>
          <p:nvPr/>
        </p:nvSpPr>
        <p:spPr>
          <a:xfrm xmlns:a="http://schemas.openxmlformats.org/drawingml/2006/main">
            <a:off x="757809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04</a:t>
            </a:r>
          </a:p>
        </p:txBody>
      </p:sp>
      <p:sp>
        <p:nvSpPr>
          <p:cNvPr id="22" name="">
            <a:extLst xmlns:a="http://schemas.openxmlformats.org/drawingml/2006/main">
              <a:ext uri="{FF2B5EF4-FFF2-40B4-BE49-F238E27FC236}">
                <a16:creationId xmlns:a16="http://schemas.microsoft.com/office/drawing/2014/main" id="{E5BC8E40-BF1C-4D1A-92C7-5290E9C79FEF}"/>
              </a:ext>
            </a:extLst>
          </p:cNvPr>
          <p:cNvSpPr>
            <a:spLocks xmlns:a="http://schemas.openxmlformats.org/drawingml/2006/main" noGrp="1"/>
          </p:cNvSpPr>
          <p:nvPr/>
        </p:nvSpPr>
        <p:spPr>
          <a:xfrm xmlns:a="http://schemas.openxmlformats.org/drawingml/2006/main">
            <a:off x="703516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WHEN</a:t>
            </a:r>
          </a:p>
        </p:txBody>
      </p:sp>
      <p:sp>
        <p:nvSpPr>
          <p:cNvPr id="23" name="">
            <a:extLst xmlns:a="http://schemas.openxmlformats.org/drawingml/2006/main">
              <a:ext uri="{FF2B5EF4-FFF2-40B4-BE49-F238E27FC236}">
                <a16:creationId xmlns:a16="http://schemas.microsoft.com/office/drawing/2014/main" id="{B12A5015-C89A-4FAF-B08F-07BB4698D182}"/>
              </a:ext>
            </a:extLst>
          </p:cNvPr>
          <p:cNvSpPr>
            <a:spLocks xmlns:a="http://schemas.openxmlformats.org/drawingml/2006/main" noGrp="1"/>
          </p:cNvSpPr>
          <p:nvPr/>
        </p:nvSpPr>
        <p:spPr>
          <a:xfrm xmlns:a="http://schemas.openxmlformats.org/drawingml/2006/main">
            <a:off x="698754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After booking, mainly as the driver approaches or is marked arrived.</a:t>
            </a:r>
          </a:p>
        </p:txBody>
      </p:sp>
      <p:sp>
        <p:nvSpPr>
          <p:cNvPr id="24" name="">
            <a:extLst xmlns:a="http://schemas.openxmlformats.org/drawingml/2006/main">
              <a:ext uri="{FF2B5EF4-FFF2-40B4-BE49-F238E27FC236}">
                <a16:creationId xmlns:a16="http://schemas.microsoft.com/office/drawing/2014/main" id="{3065E860-FD06-47A9-918E-58AD5E755097}"/>
              </a:ext>
            </a:extLst>
          </p:cNvPr>
          <p:cNvSpPr>
            <a:spLocks xmlns:a="http://schemas.openxmlformats.org/drawingml/2006/main" noGrp="1"/>
          </p:cNvSpPr>
          <p:nvPr/>
        </p:nvSpPr>
        <p:spPr>
          <a:xfrm xmlns:a="http://schemas.openxmlformats.org/drawingml/2006/main">
            <a:off x="8865870" y="1847850"/>
            <a:ext cx="9525" cy="2667000"/>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BC1EA0B-E589-4963-8AAE-67C1E27941DA}"/>
              </a:ext>
            </a:extLst>
          </p:cNvPr>
          <p:cNvSpPr>
            <a:spLocks xmlns:a="http://schemas.openxmlformats.org/drawingml/2006/main" noGrp="1"/>
          </p:cNvSpPr>
          <p:nvPr/>
        </p:nvSpPr>
        <p:spPr>
          <a:xfrm xmlns:a="http://schemas.openxmlformats.org/drawingml/2006/main">
            <a:off x="9599295" y="1924050"/>
            <a:ext cx="628650" cy="628650"/>
          </a:xfrm>
          <a:prstGeom xmlns:a="http://schemas.openxmlformats.org/drawingml/2006/main" prst="ellipse">
            <a:avLst/>
          </a:prstGeom>
          <a:solidFill xmlns:a="http://schemas.openxmlformats.org/drawingml/2006/main">
            <a:srgbClr val="E2F4F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1E493B-D19A-4E82-9F0D-5553F67499A6}"/>
              </a:ext>
            </a:extLst>
          </p:cNvPr>
          <p:cNvSpPr>
            <a:spLocks xmlns:a="http://schemas.openxmlformats.org/drawingml/2006/main" noGrp="1"/>
          </p:cNvSpPr>
          <p:nvPr/>
        </p:nvSpPr>
        <p:spPr>
          <a:xfrm xmlns:a="http://schemas.openxmlformats.org/drawingml/2006/main">
            <a:off x="9665970" y="2085975"/>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05</a:t>
            </a:r>
          </a:p>
        </p:txBody>
      </p:sp>
      <p:sp>
        <p:nvSpPr>
          <p:cNvPr id="27" name="">
            <a:extLst xmlns:a="http://schemas.openxmlformats.org/drawingml/2006/main">
              <a:ext uri="{FF2B5EF4-FFF2-40B4-BE49-F238E27FC236}">
                <a16:creationId xmlns:a16="http://schemas.microsoft.com/office/drawing/2014/main" id="{9E514852-FECC-44D3-9B51-EBFBD9EB3923}"/>
              </a:ext>
            </a:extLst>
          </p:cNvPr>
          <p:cNvSpPr>
            <a:spLocks xmlns:a="http://schemas.openxmlformats.org/drawingml/2006/main" noGrp="1"/>
          </p:cNvSpPr>
          <p:nvPr/>
        </p:nvSpPr>
        <p:spPr>
          <a:xfrm xmlns:a="http://schemas.openxmlformats.org/drawingml/2006/main">
            <a:off x="9123045" y="2686050"/>
            <a:ext cx="157353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75" b="1" i="0">
                <a:solidFill>
                  <a:srgbClr val="1B2B45"/>
                </a:solidFill>
                <a:latin typeface="Calibri"/>
                <a:ea typeface="Calibri"/>
                <a:cs typeface="Calibri"/>
              </a:defRPr>
            </a:pPr>
            <a:r>
              <a:rPr sz="1575" b="1" i="0">
                <a:solidFill>
                  <a:srgbClr val="1B2B45"/>
                </a:solidFill>
                <a:latin typeface="Calibri"/>
                <a:ea typeface="Calibri"/>
                <a:cs typeface="Calibri"/>
              </a:rPr>
              <a:t>WHY</a:t>
            </a:r>
          </a:p>
        </p:txBody>
      </p:sp>
      <p:sp>
        <p:nvSpPr>
          <p:cNvPr id="28" name="">
            <a:extLst xmlns:a="http://schemas.openxmlformats.org/drawingml/2006/main">
              <a:ext uri="{FF2B5EF4-FFF2-40B4-BE49-F238E27FC236}">
                <a16:creationId xmlns:a16="http://schemas.microsoft.com/office/drawing/2014/main" id="{3FE046F6-5BE1-4A94-9A74-95DF457D393E}"/>
              </a:ext>
            </a:extLst>
          </p:cNvPr>
          <p:cNvSpPr>
            <a:spLocks xmlns:a="http://schemas.openxmlformats.org/drawingml/2006/main" noGrp="1"/>
          </p:cNvSpPr>
          <p:nvPr/>
        </p:nvSpPr>
        <p:spPr>
          <a:xfrm xmlns:a="http://schemas.openxmlformats.org/drawingml/2006/main">
            <a:off x="9075420" y="3124200"/>
            <a:ext cx="166878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Extra calls, waiting, movement, and delayed trip starts reduce pickup reliability.</a:t>
            </a:r>
          </a:p>
        </p:txBody>
      </p:sp>
      <p:sp>
        <p:nvSpPr>
          <p:cNvPr id="29" name="">
            <a:extLst xmlns:a="http://schemas.openxmlformats.org/drawingml/2006/main">
              <a:ext uri="{FF2B5EF4-FFF2-40B4-BE49-F238E27FC236}">
                <a16:creationId xmlns:a16="http://schemas.microsoft.com/office/drawing/2014/main" id="{50A38E68-5807-4DBE-8A68-E4AF8A9024F8}"/>
              </a:ext>
            </a:extLst>
          </p:cNvPr>
          <p:cNvSpPr>
            <a:spLocks xmlns:a="http://schemas.openxmlformats.org/drawingml/2006/main" noGrp="1"/>
          </p:cNvSpPr>
          <p:nvPr/>
        </p:nvSpPr>
        <p:spPr>
          <a:xfrm xmlns:a="http://schemas.openxmlformats.org/drawingml/2006/main">
            <a:off x="514350" y="5219700"/>
            <a:ext cx="10439400" cy="74295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265C019-CF9E-49CB-A3EE-B3FD00FAEF1D}"/>
              </a:ext>
            </a:extLst>
          </p:cNvPr>
          <p:cNvSpPr>
            <a:spLocks xmlns:a="http://schemas.openxmlformats.org/drawingml/2006/main" noGrp="1"/>
          </p:cNvSpPr>
          <p:nvPr/>
        </p:nvSpPr>
        <p:spPr>
          <a:xfrm xmlns:a="http://schemas.openxmlformats.org/drawingml/2006/main">
            <a:off x="742950" y="5381625"/>
            <a:ext cx="9982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7963"/>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Evidence check: the survey supports the direction, but root causes, driver impact, and venue constraints still need moderated and field validation.</a:t>
            </a:r>
          </a:p>
        </p:txBody>
      </p:sp>
      <p:sp>
        <p:nvSpPr>
          <p:cNvPr id="31" name="">
            <a:extLst xmlns:a="http://schemas.openxmlformats.org/drawingml/2006/main">
              <a:ext uri="{FF2B5EF4-FFF2-40B4-BE49-F238E27FC236}">
                <a16:creationId xmlns:a16="http://schemas.microsoft.com/office/drawing/2014/main" id="{792E6AEB-264B-4B64-85E1-66BB42F8516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32" name="">
            <a:extLst xmlns:a="http://schemas.openxmlformats.org/drawingml/2006/main">
              <a:ext uri="{FF2B5EF4-FFF2-40B4-BE49-F238E27FC236}">
                <a16:creationId xmlns:a16="http://schemas.microsoft.com/office/drawing/2014/main" id="{C6B05BC3-9EDC-4139-BD48-5ED0CB327EE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81513938"/>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55ABA67-49F0-4542-8541-59B78895978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 · PROBLEM STATEMENT</a:t>
            </a:r>
          </a:p>
        </p:txBody>
      </p:sp>
      <p:sp>
        <p:nvSpPr>
          <p:cNvPr id="2" name="">
            <a:extLst xmlns:a="http://schemas.openxmlformats.org/drawingml/2006/main">
              <a:ext uri="{FF2B5EF4-FFF2-40B4-BE49-F238E27FC236}">
                <a16:creationId xmlns:a16="http://schemas.microsoft.com/office/drawing/2014/main" id="{AC384D8C-BDBE-424E-8D2F-DCFA9A7921E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specific, evidence-based, and focused statement</a:t>
            </a:r>
          </a:p>
        </p:txBody>
      </p:sp>
      <p:sp>
        <p:nvSpPr>
          <p:cNvPr id="3" name="">
            <a:extLst xmlns:a="http://schemas.openxmlformats.org/drawingml/2006/main">
              <a:ext uri="{FF2B5EF4-FFF2-40B4-BE49-F238E27FC236}">
                <a16:creationId xmlns:a16="http://schemas.microsoft.com/office/drawing/2014/main" id="{2B29B079-7BDE-46A2-BBED-774FBC1AA23A}"/>
              </a:ext>
            </a:extLst>
          </p:cNvPr>
          <p:cNvSpPr>
            <a:spLocks xmlns:a="http://schemas.openxmlformats.org/drawingml/2006/main" noGrp="1"/>
          </p:cNvSpPr>
          <p:nvPr/>
        </p:nvSpPr>
        <p:spPr>
          <a:xfrm xmlns:a="http://schemas.openxmlformats.org/drawingml/2006/main">
            <a:off x="514350" y="1657350"/>
            <a:ext cx="400050" cy="400050"/>
          </a:xfrm>
          <a:prstGeom xmlns:a="http://schemas.openxmlformats.org/drawingml/2006/main" prst="ellipse">
            <a:avLst/>
          </a:prstGeom>
          <a:solidFill xmlns:a="http://schemas.openxmlformats.org/drawingml/2006/main">
            <a:srgbClr val="F47A22"/>
          </a:solidFill>
          <a:ln xmlns:a="http://schemas.openxmlformats.org/drawingml/2006/main" w="0">
            <a:noFill/>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31854672-27F7-480C-A6D8-E65ABEE76794}"/>
              </a:ext>
            </a:extLst>
          </p:cNvPr>
          <p:cNvSpPr>
            <a:spLocks xmlns:a="http://schemas.openxmlformats.org/drawingml/2006/main" noGrp="1"/>
          </p:cNvSpPr>
          <p:nvPr/>
        </p:nvSpPr>
        <p:spPr>
          <a:xfrm xmlns:a="http://schemas.openxmlformats.org/drawingml/2006/main">
            <a:off x="571500" y="17145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16B00937-E659-4A51-BFFC-FDE456498F43}"/>
              </a:ext>
            </a:extLst>
          </p:cNvPr>
          <p:cNvSpPr>
            <a:spLocks xmlns:a="http://schemas.openxmlformats.org/drawingml/2006/main" noGrp="1"/>
          </p:cNvSpPr>
          <p:nvPr/>
        </p:nvSpPr>
        <p:spPr>
          <a:xfrm xmlns:a="http://schemas.openxmlformats.org/drawingml/2006/main">
            <a:off x="1104900" y="1619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SPECIFIC USER</a:t>
            </a:r>
          </a:p>
        </p:txBody>
      </p:sp>
      <p:sp>
        <p:nvSpPr>
          <p:cNvPr id="6" name="">
            <a:extLst xmlns:a="http://schemas.openxmlformats.org/drawingml/2006/main">
              <a:ext uri="{FF2B5EF4-FFF2-40B4-BE49-F238E27FC236}">
                <a16:creationId xmlns:a16="http://schemas.microsoft.com/office/drawing/2014/main" id="{199DF540-A85F-44A9-B3FB-EB21F1E41B77}"/>
              </a:ext>
            </a:extLst>
          </p:cNvPr>
          <p:cNvSpPr>
            <a:spLocks xmlns:a="http://schemas.openxmlformats.org/drawingml/2006/main" noGrp="1"/>
          </p:cNvSpPr>
          <p:nvPr/>
        </p:nvSpPr>
        <p:spPr>
          <a:xfrm xmlns:a="http://schemas.openxmlformats.org/drawingml/2006/main">
            <a:off x="1104900" y="19431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Hyderabad four-wheel riders starting from complex pickup locations.</a:t>
            </a:r>
          </a:p>
        </p:txBody>
      </p:sp>
      <p:sp>
        <p:nvSpPr>
          <p:cNvPr id="7" name="">
            <a:extLst xmlns:a="http://schemas.openxmlformats.org/drawingml/2006/main">
              <a:ext uri="{FF2B5EF4-FFF2-40B4-BE49-F238E27FC236}">
                <a16:creationId xmlns:a16="http://schemas.microsoft.com/office/drawing/2014/main" id="{960412B5-E530-4E9F-AB82-7E2617E4E286}"/>
              </a:ext>
            </a:extLst>
          </p:cNvPr>
          <p:cNvSpPr>
            <a:spLocks xmlns:a="http://schemas.openxmlformats.org/drawingml/2006/main" noGrp="1"/>
          </p:cNvSpPr>
          <p:nvPr/>
        </p:nvSpPr>
        <p:spPr>
          <a:xfrm xmlns:a="http://schemas.openxmlformats.org/drawingml/2006/main">
            <a:off x="514350" y="24955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453B8EB-358D-4578-98FA-22C564ED8094}"/>
              </a:ext>
            </a:extLst>
          </p:cNvPr>
          <p:cNvSpPr>
            <a:spLocks xmlns:a="http://schemas.openxmlformats.org/drawingml/2006/main" noGrp="1"/>
          </p:cNvSpPr>
          <p:nvPr/>
        </p:nvSpPr>
        <p:spPr>
          <a:xfrm xmlns:a="http://schemas.openxmlformats.org/drawingml/2006/main">
            <a:off x="514350" y="26670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D0ADAE6-2EF2-4339-9B8D-DED6B3FB1208}"/>
              </a:ext>
            </a:extLst>
          </p:cNvPr>
          <p:cNvSpPr>
            <a:spLocks xmlns:a="http://schemas.openxmlformats.org/drawingml/2006/main" noGrp="1"/>
          </p:cNvSpPr>
          <p:nvPr/>
        </p:nvSpPr>
        <p:spPr>
          <a:xfrm xmlns:a="http://schemas.openxmlformats.org/drawingml/2006/main">
            <a:off x="571500" y="27241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2</a:t>
            </a:r>
          </a:p>
        </p:txBody>
      </p:sp>
      <p:sp>
        <p:nvSpPr>
          <p:cNvPr id="10" name="">
            <a:extLst xmlns:a="http://schemas.openxmlformats.org/drawingml/2006/main">
              <a:ext uri="{FF2B5EF4-FFF2-40B4-BE49-F238E27FC236}">
                <a16:creationId xmlns:a16="http://schemas.microsoft.com/office/drawing/2014/main" id="{6A655DFD-311D-4953-8864-06AF3DD8D925}"/>
              </a:ext>
            </a:extLst>
          </p:cNvPr>
          <p:cNvSpPr>
            <a:spLocks xmlns:a="http://schemas.openxmlformats.org/drawingml/2006/main" noGrp="1"/>
          </p:cNvSpPr>
          <p:nvPr/>
        </p:nvSpPr>
        <p:spPr>
          <a:xfrm xmlns:a="http://schemas.openxmlformats.org/drawingml/2006/main">
            <a:off x="1104900" y="2628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CLEAR PAIN</a:t>
            </a:r>
          </a:p>
        </p:txBody>
      </p:sp>
      <p:sp>
        <p:nvSpPr>
          <p:cNvPr id="11" name="">
            <a:extLst xmlns:a="http://schemas.openxmlformats.org/drawingml/2006/main">
              <a:ext uri="{FF2B5EF4-FFF2-40B4-BE49-F238E27FC236}">
                <a16:creationId xmlns:a16="http://schemas.microsoft.com/office/drawing/2014/main" id="{F8586DD1-E41D-4586-B175-0043A943FDB7}"/>
              </a:ext>
            </a:extLst>
          </p:cNvPr>
          <p:cNvSpPr>
            <a:spLocks xmlns:a="http://schemas.openxmlformats.org/drawingml/2006/main" noGrp="1"/>
          </p:cNvSpPr>
          <p:nvPr/>
        </p:nvSpPr>
        <p:spPr>
          <a:xfrm xmlns:a="http://schemas.openxmlformats.org/drawingml/2006/main">
            <a:off x="1104900" y="29527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The rider and driver lack one shared, workable meeting point.</a:t>
            </a:r>
          </a:p>
        </p:txBody>
      </p:sp>
      <p:sp>
        <p:nvSpPr>
          <p:cNvPr id="12" name="">
            <a:extLst xmlns:a="http://schemas.openxmlformats.org/drawingml/2006/main">
              <a:ext uri="{FF2B5EF4-FFF2-40B4-BE49-F238E27FC236}">
                <a16:creationId xmlns:a16="http://schemas.microsoft.com/office/drawing/2014/main" id="{04D4D40B-808B-4B3A-BC80-645F974947FA}"/>
              </a:ext>
            </a:extLst>
          </p:cNvPr>
          <p:cNvSpPr>
            <a:spLocks xmlns:a="http://schemas.openxmlformats.org/drawingml/2006/main" noGrp="1"/>
          </p:cNvSpPr>
          <p:nvPr/>
        </p:nvSpPr>
        <p:spPr>
          <a:xfrm xmlns:a="http://schemas.openxmlformats.org/drawingml/2006/main">
            <a:off x="514350" y="350520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B775D40C-DB73-49F2-AEE3-B4CBF3D90517}"/>
              </a:ext>
            </a:extLst>
          </p:cNvPr>
          <p:cNvSpPr>
            <a:spLocks xmlns:a="http://schemas.openxmlformats.org/drawingml/2006/main" noGrp="1"/>
          </p:cNvSpPr>
          <p:nvPr/>
        </p:nvSpPr>
        <p:spPr>
          <a:xfrm xmlns:a="http://schemas.openxmlformats.org/drawingml/2006/main">
            <a:off x="514350" y="367665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F5F5573E-9A0E-4E8A-B38F-9E4A436038D2}"/>
              </a:ext>
            </a:extLst>
          </p:cNvPr>
          <p:cNvSpPr>
            <a:spLocks xmlns:a="http://schemas.openxmlformats.org/drawingml/2006/main" noGrp="1"/>
          </p:cNvSpPr>
          <p:nvPr/>
        </p:nvSpPr>
        <p:spPr>
          <a:xfrm xmlns:a="http://schemas.openxmlformats.org/drawingml/2006/main">
            <a:off x="571500" y="373380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64707952-CB51-4409-BECE-55C2687F673B}"/>
              </a:ext>
            </a:extLst>
          </p:cNvPr>
          <p:cNvSpPr>
            <a:spLocks xmlns:a="http://schemas.openxmlformats.org/drawingml/2006/main" noGrp="1"/>
          </p:cNvSpPr>
          <p:nvPr/>
        </p:nvSpPr>
        <p:spPr>
          <a:xfrm xmlns:a="http://schemas.openxmlformats.org/drawingml/2006/main">
            <a:off x="1104900" y="36385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VISIBLE IMPACT</a:t>
            </a:r>
          </a:p>
        </p:txBody>
      </p:sp>
      <p:sp>
        <p:nvSpPr>
          <p:cNvPr id="16" name="">
            <a:extLst xmlns:a="http://schemas.openxmlformats.org/drawingml/2006/main">
              <a:ext uri="{FF2B5EF4-FFF2-40B4-BE49-F238E27FC236}">
                <a16:creationId xmlns:a16="http://schemas.microsoft.com/office/drawing/2014/main" id="{45E4FAAF-52FA-4E42-82AC-1380A7B67681}"/>
              </a:ext>
            </a:extLst>
          </p:cNvPr>
          <p:cNvSpPr>
            <a:spLocks xmlns:a="http://schemas.openxmlformats.org/drawingml/2006/main" noGrp="1"/>
          </p:cNvSpPr>
          <p:nvPr/>
        </p:nvSpPr>
        <p:spPr>
          <a:xfrm xmlns:a="http://schemas.openxmlformats.org/drawingml/2006/main">
            <a:off x="1104900" y="396240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Extra calls, waiting, movement, and delayed trip starts.</a:t>
            </a:r>
          </a:p>
        </p:txBody>
      </p:sp>
      <p:sp>
        <p:nvSpPr>
          <p:cNvPr id="17" name="">
            <a:extLst xmlns:a="http://schemas.openxmlformats.org/drawingml/2006/main">
              <a:ext uri="{FF2B5EF4-FFF2-40B4-BE49-F238E27FC236}">
                <a16:creationId xmlns:a16="http://schemas.microsoft.com/office/drawing/2014/main" id="{9C7C0394-73E1-4010-9170-4EDBC74480DC}"/>
              </a:ext>
            </a:extLst>
          </p:cNvPr>
          <p:cNvSpPr>
            <a:spLocks xmlns:a="http://schemas.openxmlformats.org/drawingml/2006/main" noGrp="1"/>
          </p:cNvSpPr>
          <p:nvPr/>
        </p:nvSpPr>
        <p:spPr>
          <a:xfrm xmlns:a="http://schemas.openxmlformats.org/drawingml/2006/main">
            <a:off x="514350" y="4514850"/>
            <a:ext cx="42862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9867EB0A-CCA4-44C7-B489-801C3BA2ADE0}"/>
              </a:ext>
            </a:extLst>
          </p:cNvPr>
          <p:cNvSpPr>
            <a:spLocks xmlns:a="http://schemas.openxmlformats.org/drawingml/2006/main" noGrp="1"/>
          </p:cNvSpPr>
          <p:nvPr/>
        </p:nvSpPr>
        <p:spPr>
          <a:xfrm xmlns:a="http://schemas.openxmlformats.org/drawingml/2006/main">
            <a:off x="514350" y="4686300"/>
            <a:ext cx="400050" cy="400050"/>
          </a:xfrm>
          <a:prstGeom xmlns:a="http://schemas.openxmlformats.org/drawingml/2006/main" prst="ellipse">
            <a:avLst/>
          </a:prstGeom>
          <a:solidFill xmlns:a="http://schemas.openxmlformats.org/drawingml/2006/main">
            <a:srgbClr val="E2F4F6"/>
          </a:solidFill>
          <a:ln xmlns:a="http://schemas.openxmlformats.org/drawingml/2006/main" w="0">
            <a:noFill/>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6D306518-C55C-4234-BAB2-8B649FCAA78E}"/>
              </a:ext>
            </a:extLst>
          </p:cNvPr>
          <p:cNvSpPr>
            <a:spLocks xmlns:a="http://schemas.openxmlformats.org/drawingml/2006/main" noGrp="1"/>
          </p:cNvSpPr>
          <p:nvPr/>
        </p:nvSpPr>
        <p:spPr>
          <a:xfrm xmlns:a="http://schemas.openxmlformats.org/drawingml/2006/main">
            <a:off x="571500" y="4743450"/>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039"/>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4</a:t>
            </a:r>
          </a:p>
        </p:txBody>
      </p:sp>
      <p:sp>
        <p:nvSpPr>
          <p:cNvPr id="20" name="">
            <a:extLst xmlns:a="http://schemas.openxmlformats.org/drawingml/2006/main">
              <a:ext uri="{FF2B5EF4-FFF2-40B4-BE49-F238E27FC236}">
                <a16:creationId xmlns:a16="http://schemas.microsoft.com/office/drawing/2014/main" id="{A80F9ABD-D564-486A-B9DE-0BA0186BDE4E}"/>
              </a:ext>
            </a:extLst>
          </p:cNvPr>
          <p:cNvSpPr>
            <a:spLocks xmlns:a="http://schemas.openxmlformats.org/drawingml/2006/main" noGrp="1"/>
          </p:cNvSpPr>
          <p:nvPr/>
        </p:nvSpPr>
        <p:spPr>
          <a:xfrm xmlns:a="http://schemas.openxmlformats.org/drawingml/2006/main">
            <a:off x="1104900" y="46482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719"/>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DEFINED SCOPE</a:t>
            </a:r>
          </a:p>
        </p:txBody>
      </p:sp>
      <p:sp>
        <p:nvSpPr>
          <p:cNvPr id="21" name="">
            <a:extLst xmlns:a="http://schemas.openxmlformats.org/drawingml/2006/main">
              <a:ext uri="{FF2B5EF4-FFF2-40B4-BE49-F238E27FC236}">
                <a16:creationId xmlns:a16="http://schemas.microsoft.com/office/drawing/2014/main" id="{E6A37F8E-C0FD-4619-A868-A8BEE3A16DE9}"/>
              </a:ext>
            </a:extLst>
          </p:cNvPr>
          <p:cNvSpPr>
            <a:spLocks xmlns:a="http://schemas.openxmlformats.org/drawingml/2006/main" noGrp="1"/>
          </p:cNvSpPr>
          <p:nvPr/>
        </p:nvSpPr>
        <p:spPr>
          <a:xfrm xmlns:a="http://schemas.openxmlformats.org/drawingml/2006/main">
            <a:off x="1104900" y="4972050"/>
            <a:ext cx="369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Airports, gated residences, malls, offices, and stations. Not every ride.</a:t>
            </a:r>
          </a:p>
        </p:txBody>
      </p:sp>
      <p:sp>
        <p:nvSpPr>
          <p:cNvPr id="22" name="">
            <a:extLst xmlns:a="http://schemas.openxmlformats.org/drawingml/2006/main">
              <a:ext uri="{FF2B5EF4-FFF2-40B4-BE49-F238E27FC236}">
                <a16:creationId xmlns:a16="http://schemas.microsoft.com/office/drawing/2014/main" id="{2339592F-3259-4B04-B0F9-DF8E5B02C07E}"/>
              </a:ext>
            </a:extLst>
          </p:cNvPr>
          <p:cNvSpPr>
            <a:spLocks xmlns:a="http://schemas.openxmlformats.org/drawingml/2006/main" noGrp="1"/>
          </p:cNvSpPr>
          <p:nvPr/>
        </p:nvSpPr>
        <p:spPr>
          <a:xfrm xmlns:a="http://schemas.openxmlformats.org/drawingml/2006/main">
            <a:off x="5238750" y="1619250"/>
            <a:ext cx="5715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E8ECF1"/>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BB42F64A-5A29-4B37-96AF-597ABB4C7512}"/>
              </a:ext>
            </a:extLst>
          </p:cNvPr>
          <p:cNvSpPr>
            <a:spLocks xmlns:a="http://schemas.openxmlformats.org/drawingml/2006/main" noGrp="1"/>
          </p:cNvSpPr>
          <p:nvPr/>
        </p:nvSpPr>
        <p:spPr>
          <a:xfrm xmlns:a="http://schemas.openxmlformats.org/drawingml/2006/main">
            <a:off x="5562600" y="1885950"/>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FINAL PROBLEM STATEMENT</a:t>
            </a:r>
          </a:p>
        </p:txBody>
      </p:sp>
      <p:sp>
        <p:nvSpPr>
          <p:cNvPr id="24" name="">
            <a:extLst xmlns:a="http://schemas.openxmlformats.org/drawingml/2006/main">
              <a:ext uri="{FF2B5EF4-FFF2-40B4-BE49-F238E27FC236}">
                <a16:creationId xmlns:a16="http://schemas.microsoft.com/office/drawing/2014/main" id="{90796C9C-4BC0-4729-B522-B15AC87553AD}"/>
              </a:ext>
            </a:extLst>
          </p:cNvPr>
          <p:cNvSpPr>
            <a:spLocks xmlns:a="http://schemas.openxmlformats.org/drawingml/2006/main" noGrp="1"/>
          </p:cNvSpPr>
          <p:nvPr/>
        </p:nvSpPr>
        <p:spPr>
          <a:xfrm xmlns:a="http://schemas.openxmlformats.org/drawingml/2006/main">
            <a:off x="5562600" y="2305050"/>
            <a:ext cx="5067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For Hyderabad four-wheel riders starting from complex locations, the pickup pin may show the correct general area but still fail to give the rider and driver one shared, workable meeting point.</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This causes extra calls, waiting, movement, and delayed trip starts.</a:t>
            </a:r>
          </a:p>
          <a:p xmlns:a="http://schemas.openxmlformats.org/drawingml/2006/main">
            <a:r>
              <a:t/>
            </a:r>
          </a:p>
          <a:p xmlns:a="http://schemas.openxmlformats.org/drawingml/2006/main">
            <a:pPr algn="l">
              <a:defRPr sz="1650" b="1" i="0">
                <a:solidFill>
                  <a:srgbClr val="1B2B45"/>
                </a:solidFill>
                <a:latin typeface="Calibri"/>
                <a:ea typeface="Calibri"/>
                <a:cs typeface="Calibri"/>
              </a:defRPr>
            </a:pPr>
            <a:r>
              <a:rPr sz="1650" b="1" i="0">
                <a:solidFill>
                  <a:srgbClr val="1B2B45"/>
                </a:solidFill>
                <a:latin typeface="Calibri"/>
                <a:ea typeface="Calibri"/>
                <a:cs typeface="Calibri"/>
              </a:rPr>
              <a:t>Uber should solve this to reduce recovery effort and improve pickup reliability, while respecting driver access and stopping constraints.</a:t>
            </a:r>
          </a:p>
        </p:txBody>
      </p:sp>
      <p:sp>
        <p:nvSpPr>
          <p:cNvPr id="25" name="">
            <a:extLst xmlns:a="http://schemas.openxmlformats.org/drawingml/2006/main">
              <a:ext uri="{FF2B5EF4-FFF2-40B4-BE49-F238E27FC236}">
                <a16:creationId xmlns:a16="http://schemas.microsoft.com/office/drawing/2014/main" id="{812DB9DB-F963-47B7-B45C-F08355A19B19}"/>
              </a:ext>
            </a:extLst>
          </p:cNvPr>
          <p:cNvSpPr>
            <a:spLocks xmlns:a="http://schemas.openxmlformats.org/drawingml/2006/main" noGrp="1"/>
          </p:cNvSpPr>
          <p:nvPr/>
        </p:nvSpPr>
        <p:spPr>
          <a:xfrm xmlns:a="http://schemas.openxmlformats.org/drawingml/2006/main">
            <a:off x="5238750" y="5276850"/>
            <a:ext cx="57150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979F088D-29F6-4762-93BB-BC1AF2E7A96C}"/>
              </a:ext>
            </a:extLst>
          </p:cNvPr>
          <p:cNvSpPr>
            <a:spLocks xmlns:a="http://schemas.openxmlformats.org/drawingml/2006/main" noGrp="1"/>
          </p:cNvSpPr>
          <p:nvPr/>
        </p:nvSpPr>
        <p:spPr>
          <a:xfrm xmlns:a="http://schemas.openxmlformats.org/drawingml/2006/main">
            <a:off x="5486400" y="54292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Evidence boundary: rider evidence is broad; driver-side validation (4 responses) is the open gap.</a:t>
            </a:r>
          </a:p>
        </p:txBody>
      </p:sp>
      <p:sp>
        <p:nvSpPr>
          <p:cNvPr id="27" name="">
            <a:extLst xmlns:a="http://schemas.openxmlformats.org/drawingml/2006/main">
              <a:ext uri="{FF2B5EF4-FFF2-40B4-BE49-F238E27FC236}">
                <a16:creationId xmlns:a16="http://schemas.microsoft.com/office/drawing/2014/main" id="{E385232B-9E10-4B64-B15F-D22B44F3BF9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8" name="">
            <a:extLst xmlns:a="http://schemas.openxmlformats.org/drawingml/2006/main">
              <a:ext uri="{FF2B5EF4-FFF2-40B4-BE49-F238E27FC236}">
                <a16:creationId xmlns:a16="http://schemas.microsoft.com/office/drawing/2014/main" id="{C6877B66-7105-4644-B25F-C67CC85B9BC6}"/>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199298137"/>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491AA7-446D-4820-8F22-C5F83CA2484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1.1 · KEY INTERVIEW QUESTIONS</a:t>
            </a:r>
          </a:p>
        </p:txBody>
      </p:sp>
      <p:sp>
        <p:nvSpPr>
          <p:cNvPr id="2" name="">
            <a:extLst xmlns:a="http://schemas.openxmlformats.org/drawingml/2006/main">
              <a:ext uri="{FF2B5EF4-FFF2-40B4-BE49-F238E27FC236}">
                <a16:creationId xmlns:a16="http://schemas.microsoft.com/office/drawing/2014/main" id="{625DFCF8-D75A-4107-B0F7-1023D1BDF85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Ten questions adapted for the online instrument</a:t>
            </a:r>
          </a:p>
        </p:txBody>
      </p:sp>
      <p:sp>
        <p:nvSpPr>
          <p:cNvPr id="3" name="">
            <a:extLst xmlns:a="http://schemas.openxmlformats.org/drawingml/2006/main">
              <a:ext uri="{FF2B5EF4-FFF2-40B4-BE49-F238E27FC236}">
                <a16:creationId xmlns:a16="http://schemas.microsoft.com/office/drawing/2014/main" id="{8800E620-1963-4561-B134-6119477E182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Required interview prompts used asynchronously; no live follow-up or probing.</a:t>
            </a:r>
          </a:p>
        </p:txBody>
      </p:sp>
      <p:sp>
        <p:nvSpPr>
          <p:cNvPr id="4" name="">
            <a:extLst xmlns:a="http://schemas.openxmlformats.org/drawingml/2006/main">
              <a:ext uri="{FF2B5EF4-FFF2-40B4-BE49-F238E27FC236}">
                <a16:creationId xmlns:a16="http://schemas.microsoft.com/office/drawing/2014/main" id="{CB47CCD1-A1FB-4965-9E69-2A7C8FB4610A}"/>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F4CA63B2-0DF9-4ED5-9172-3FD6D46DBCF4}"/>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1A3D16-85A3-4305-AC9C-EC9683D1E3C9}"/>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0" i="0">
                <a:solidFill>
                  <a:srgbClr val="233248"/>
                </a:solidFill>
                <a:latin typeface="Calibri"/>
                <a:ea typeface="Calibri"/>
                <a:cs typeface="Calibri"/>
              </a:defRPr>
            </a:pPr>
            <a:r>
              <a:rPr sz="1275" b="0" i="0">
                <a:solidFill>
                  <a:srgbClr val="233248"/>
                </a:solidFill>
                <a:latin typeface="Calibri"/>
                <a:ea typeface="Calibri"/>
                <a:cs typeface="Calibri"/>
              </a:rPr>
              <a:t>Method boundary: the form could not probe vague answers or ask a live follow-up.</a:t>
            </a:r>
          </a:p>
        </p:txBody>
      </p:sp>
      <p:sp>
        <p:nvSpPr>
          <p:cNvPr id="7" name="">
            <a:extLst xmlns:a="http://schemas.openxmlformats.org/drawingml/2006/main">
              <a:ext uri="{FF2B5EF4-FFF2-40B4-BE49-F238E27FC236}">
                <a16:creationId xmlns:a16="http://schemas.microsoft.com/office/drawing/2014/main" id="{AC1528B4-516C-4FF6-B12F-72237FA44D9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8" name="">
            <a:extLst xmlns:a="http://schemas.openxmlformats.org/drawingml/2006/main">
              <a:ext uri="{FF2B5EF4-FFF2-40B4-BE49-F238E27FC236}">
                <a16:creationId xmlns:a16="http://schemas.microsoft.com/office/drawing/2014/main" id="{D3005BE1-84CE-4492-A1B4-752A54FC083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367576119"/>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EDFFDE3-2C98-4913-95F6-C9865FE9D20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EE3724C4-5B9E-4860-8A5D-320695174D57}"/>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37D05CBE-C0BA-4A1A-A765-D059D696E56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Headline signals and a direct quote; the complete ten insights appear in the appendix.</a:t>
            </a:r>
          </a:p>
        </p:txBody>
      </p:sp>
      <p:sp>
        <p:nvSpPr>
          <p:cNvPr id="4" name="">
            <a:extLst xmlns:a="http://schemas.openxmlformats.org/drawingml/2006/main">
              <a:ext uri="{FF2B5EF4-FFF2-40B4-BE49-F238E27FC236}">
                <a16:creationId xmlns:a16="http://schemas.microsoft.com/office/drawing/2014/main" id="{4C331DBE-DB4B-44DD-9CD5-542291698740}"/>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2A938E-D4B5-4AE3-8BA1-A84036FB0F9A}"/>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6" name="">
            <a:extLst xmlns:a="http://schemas.openxmlformats.org/drawingml/2006/main">
              <a:ext uri="{FF2B5EF4-FFF2-40B4-BE49-F238E27FC236}">
                <a16:creationId xmlns:a16="http://schemas.microsoft.com/office/drawing/2014/main" id="{FD90C3B6-5EA4-48A3-A0F6-20480851A3B7}"/>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7" name="">
            <a:extLst xmlns:a="http://schemas.openxmlformats.org/drawingml/2006/main">
              <a:ext uri="{FF2B5EF4-FFF2-40B4-BE49-F238E27FC236}">
                <a16:creationId xmlns:a16="http://schemas.microsoft.com/office/drawing/2014/main" id="{C36709B7-9D29-4A3E-A553-794468292639}"/>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5D56C68-B572-4C7D-943E-AFCD7740BC10}"/>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9" name="">
            <a:extLst xmlns:a="http://schemas.openxmlformats.org/drawingml/2006/main">
              <a:ext uri="{FF2B5EF4-FFF2-40B4-BE49-F238E27FC236}">
                <a16:creationId xmlns:a16="http://schemas.microsoft.com/office/drawing/2014/main" id="{62D3171E-5FD2-47EB-A9CA-F5C06A0ABB44}"/>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10" name="">
            <a:extLst xmlns:a="http://schemas.openxmlformats.org/drawingml/2006/main">
              <a:ext uri="{FF2B5EF4-FFF2-40B4-BE49-F238E27FC236}">
                <a16:creationId xmlns:a16="http://schemas.microsoft.com/office/drawing/2014/main" id="{7B232DCE-411F-4B3D-B93C-ED6C8FBBC0B6}"/>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21CB6ED-0490-4986-8D02-198E8ECE6AA6}"/>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2" name="">
            <a:extLst xmlns:a="http://schemas.openxmlformats.org/drawingml/2006/main">
              <a:ext uri="{FF2B5EF4-FFF2-40B4-BE49-F238E27FC236}">
                <a16:creationId xmlns:a16="http://schemas.microsoft.com/office/drawing/2014/main" id="{CEEF15BC-0F67-40BE-9D64-E52D5C087A46}"/>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3" name="">
            <a:extLst xmlns:a="http://schemas.openxmlformats.org/drawingml/2006/main">
              <a:ext uri="{FF2B5EF4-FFF2-40B4-BE49-F238E27FC236}">
                <a16:creationId xmlns:a16="http://schemas.microsoft.com/office/drawing/2014/main" id="{8E489B75-2586-4077-AB13-A115EC2F1044}"/>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97D0F2-57E1-4600-8729-4E93E4EA59D5}"/>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5" name="">
            <a:extLst xmlns:a="http://schemas.openxmlformats.org/drawingml/2006/main">
              <a:ext uri="{FF2B5EF4-FFF2-40B4-BE49-F238E27FC236}">
                <a16:creationId xmlns:a16="http://schemas.microsoft.com/office/drawing/2014/main" id="{19CB5EE4-0E98-4A13-9347-13475A0C86D2}"/>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6" name="">
            <a:extLst xmlns:a="http://schemas.openxmlformats.org/drawingml/2006/main">
              <a:ext uri="{FF2B5EF4-FFF2-40B4-BE49-F238E27FC236}">
                <a16:creationId xmlns:a16="http://schemas.microsoft.com/office/drawing/2014/main" id="{C5E82611-0BC2-4ED4-9ACE-7C624C102C5E}"/>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8DB7A34-FD74-4EC0-AA89-2BB82E086206}"/>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8" name="">
            <a:extLst xmlns:a="http://schemas.openxmlformats.org/drawingml/2006/main">
              <a:ext uri="{FF2B5EF4-FFF2-40B4-BE49-F238E27FC236}">
                <a16:creationId xmlns:a16="http://schemas.microsoft.com/office/drawing/2014/main" id="{0C47C57B-AA2A-42CB-9A0A-1FDD89C4AF8D}"/>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9" name="">
            <a:extLst xmlns:a="http://schemas.openxmlformats.org/drawingml/2006/main">
              <a:ext uri="{FF2B5EF4-FFF2-40B4-BE49-F238E27FC236}">
                <a16:creationId xmlns:a16="http://schemas.microsoft.com/office/drawing/2014/main" id="{677F57DB-9349-435F-A414-3C0D5E76B9E6}"/>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5523BB7-3A49-42BA-9561-2690AF0409A9}"/>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1" name="">
            <a:extLst xmlns:a="http://schemas.openxmlformats.org/drawingml/2006/main">
              <a:ext uri="{FF2B5EF4-FFF2-40B4-BE49-F238E27FC236}">
                <a16:creationId xmlns:a16="http://schemas.microsoft.com/office/drawing/2014/main" id="{36180028-E884-4CD2-8436-5AE1B3D1A91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2" name="">
            <a:extLst xmlns:a="http://schemas.openxmlformats.org/drawingml/2006/main">
              <a:ext uri="{FF2B5EF4-FFF2-40B4-BE49-F238E27FC236}">
                <a16:creationId xmlns:a16="http://schemas.microsoft.com/office/drawing/2014/main" id="{E1C75A13-899D-4AF9-BC50-4CC34CFBEF0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2051642328"/>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3A83E579-AA41-4CB9-9585-0045D8F80B3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2 · TOP 10 MOST RELEVANT INSIGHTS</a:t>
            </a:r>
          </a:p>
        </p:txBody>
      </p:sp>
      <p:sp>
        <p:nvSpPr>
          <p:cNvPr id="2" name="">
            <a:extLst xmlns:a="http://schemas.openxmlformats.org/drawingml/2006/main">
              <a:ext uri="{FF2B5EF4-FFF2-40B4-BE49-F238E27FC236}">
                <a16:creationId xmlns:a16="http://schemas.microsoft.com/office/drawing/2014/main" id="{271B973C-CCFD-445F-9FC1-5EDBABA6BDC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53253B0F-D955-4EC1-8C4D-8A8F22E45497}"/>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Supporting visual for the location and recovery insights.</a:t>
            </a:r>
          </a:p>
        </p:txBody>
      </p:sp>
      <p:sp>
        <p:nvSpPr>
          <p:cNvPr id="4" name="">
            <a:extLst xmlns:a="http://schemas.openxmlformats.org/drawingml/2006/main">
              <a:ext uri="{FF2B5EF4-FFF2-40B4-BE49-F238E27FC236}">
                <a16:creationId xmlns:a16="http://schemas.microsoft.com/office/drawing/2014/main" id="{3464A231-6979-4605-8B14-7AB19B38B8C7}"/>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5" name="">
            <a:extLst xmlns:a="http://schemas.openxmlformats.org/drawingml/2006/main">
              <a:ext uri="{FF2B5EF4-FFF2-40B4-BE49-F238E27FC236}">
                <a16:creationId xmlns:a16="http://schemas.microsoft.com/office/drawing/2014/main" id="{BC9D6157-FC48-403B-A355-2379A494B3C5}"/>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6" name="">
            <a:extLst xmlns:a="http://schemas.openxmlformats.org/drawingml/2006/main">
              <a:ext uri="{FF2B5EF4-FFF2-40B4-BE49-F238E27FC236}">
                <a16:creationId xmlns:a16="http://schemas.microsoft.com/office/drawing/2014/main" id="{57D01F76-BB18-4A01-9E7E-C66F12B50E32}"/>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10F625-F0C8-42FE-9F63-3BC718202025}"/>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F0FECD-7DE3-4990-970A-C8FD44B63B73}"/>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9" name="">
            <a:extLst xmlns:a="http://schemas.openxmlformats.org/drawingml/2006/main">
              <a:ext uri="{FF2B5EF4-FFF2-40B4-BE49-F238E27FC236}">
                <a16:creationId xmlns:a16="http://schemas.microsoft.com/office/drawing/2014/main" id="{1CABFB3B-7135-4E93-AC71-4FBDF22B375D}"/>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10" name="">
            <a:extLst xmlns:a="http://schemas.openxmlformats.org/drawingml/2006/main">
              <a:ext uri="{FF2B5EF4-FFF2-40B4-BE49-F238E27FC236}">
                <a16:creationId xmlns:a16="http://schemas.microsoft.com/office/drawing/2014/main" id="{C242AB69-6FDC-4F26-84E9-A696EBA8B561}"/>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E383C2-C4AF-4F91-88DA-58C2F71CC0B5}"/>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34BBC3-8E07-4A99-9DDB-C743187956B5}"/>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3" name="">
            <a:extLst xmlns:a="http://schemas.openxmlformats.org/drawingml/2006/main">
              <a:ext uri="{FF2B5EF4-FFF2-40B4-BE49-F238E27FC236}">
                <a16:creationId xmlns:a16="http://schemas.microsoft.com/office/drawing/2014/main" id="{51ACE3F1-7A73-4D95-B4DA-8CE23808B92B}"/>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4" name="">
            <a:extLst xmlns:a="http://schemas.openxmlformats.org/drawingml/2006/main">
              <a:ext uri="{FF2B5EF4-FFF2-40B4-BE49-F238E27FC236}">
                <a16:creationId xmlns:a16="http://schemas.microsoft.com/office/drawing/2014/main" id="{E50F9693-37A9-4901-ACEB-046116C7DC13}"/>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0179D87-C799-4352-BB06-CD2E99F39687}"/>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A0266BF-A44A-4465-A488-7FE95A7D83B7}"/>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7" name="">
            <a:extLst xmlns:a="http://schemas.openxmlformats.org/drawingml/2006/main">
              <a:ext uri="{FF2B5EF4-FFF2-40B4-BE49-F238E27FC236}">
                <a16:creationId xmlns:a16="http://schemas.microsoft.com/office/drawing/2014/main" id="{5CFE184A-F0F2-4274-9AA1-7631245D061E}"/>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8" name="">
            <a:extLst xmlns:a="http://schemas.openxmlformats.org/drawingml/2006/main">
              <a:ext uri="{FF2B5EF4-FFF2-40B4-BE49-F238E27FC236}">
                <a16:creationId xmlns:a16="http://schemas.microsoft.com/office/drawing/2014/main" id="{677574E4-CE1D-4BE4-A569-737C8DE84196}"/>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BBBC84-0F3D-4BA1-9A70-99ED19C55D26}"/>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790768A-B60A-46BC-9C43-D935960528E1}"/>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1" name="">
            <a:extLst xmlns:a="http://schemas.openxmlformats.org/drawingml/2006/main">
              <a:ext uri="{FF2B5EF4-FFF2-40B4-BE49-F238E27FC236}">
                <a16:creationId xmlns:a16="http://schemas.microsoft.com/office/drawing/2014/main" id="{FF6A87C7-962B-4C85-84B5-175F0F1DA669}"/>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2" name="">
            <a:extLst xmlns:a="http://schemas.openxmlformats.org/drawingml/2006/main">
              <a:ext uri="{FF2B5EF4-FFF2-40B4-BE49-F238E27FC236}">
                <a16:creationId xmlns:a16="http://schemas.microsoft.com/office/drawing/2014/main" id="{E8C01A11-898C-4C2A-A394-801C2BCBB804}"/>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E9785A9-3798-4390-A5BA-DD80076EC2D3}"/>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955AC08-3426-4D63-8BFC-A02B87641F7B}"/>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5" name="">
            <a:extLst xmlns:a="http://schemas.openxmlformats.org/drawingml/2006/main">
              <a:ext uri="{FF2B5EF4-FFF2-40B4-BE49-F238E27FC236}">
                <a16:creationId xmlns:a16="http://schemas.microsoft.com/office/drawing/2014/main" id="{C533B192-0C29-4E5E-9D4F-2A5CDE0D85CC}"/>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6" name="">
            <a:extLst xmlns:a="http://schemas.openxmlformats.org/drawingml/2006/main">
              <a:ext uri="{FF2B5EF4-FFF2-40B4-BE49-F238E27FC236}">
                <a16:creationId xmlns:a16="http://schemas.microsoft.com/office/drawing/2014/main" id="{FF21AE7D-F807-4E8A-81C1-AF61C266B40C}"/>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F37093A-E47F-43AC-A28C-E4082C964579}"/>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FBC5D1A-4495-4BC3-BD47-9912BAE6501E}"/>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9" name="">
            <a:extLst xmlns:a="http://schemas.openxmlformats.org/drawingml/2006/main">
              <a:ext uri="{FF2B5EF4-FFF2-40B4-BE49-F238E27FC236}">
                <a16:creationId xmlns:a16="http://schemas.microsoft.com/office/drawing/2014/main" id="{22409692-B547-4056-8AFD-57ED58DC25E7}"/>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30" name="">
            <a:extLst xmlns:a="http://schemas.openxmlformats.org/drawingml/2006/main">
              <a:ext uri="{FF2B5EF4-FFF2-40B4-BE49-F238E27FC236}">
                <a16:creationId xmlns:a16="http://schemas.microsoft.com/office/drawing/2014/main" id="{3D6B5A24-D261-41A2-B32B-66E1F8B87DF2}"/>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1" name="">
            <a:extLst xmlns:a="http://schemas.openxmlformats.org/drawingml/2006/main">
              <a:ext uri="{FF2B5EF4-FFF2-40B4-BE49-F238E27FC236}">
                <a16:creationId xmlns:a16="http://schemas.microsoft.com/office/drawing/2014/main" id="{C613B273-EED9-4DD0-BA08-171D72A6BF60}"/>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969061F-B8E3-4246-B97C-6779D6856495}"/>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768CA5E-68D1-4EEF-A7F2-AD5D427A28CA}"/>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4" name="">
            <a:extLst xmlns:a="http://schemas.openxmlformats.org/drawingml/2006/main">
              <a:ext uri="{FF2B5EF4-FFF2-40B4-BE49-F238E27FC236}">
                <a16:creationId xmlns:a16="http://schemas.microsoft.com/office/drawing/2014/main" id="{F990AEF0-29F4-469D-87E2-D7049A41614C}"/>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5" name="">
            <a:extLst xmlns:a="http://schemas.openxmlformats.org/drawingml/2006/main">
              <a:ext uri="{FF2B5EF4-FFF2-40B4-BE49-F238E27FC236}">
                <a16:creationId xmlns:a16="http://schemas.microsoft.com/office/drawing/2014/main" id="{4CC263C2-84D0-4FE6-991A-C7B1D0E4DA58}"/>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42BF29FF-E638-474D-8B29-A029C8F560CB}"/>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DAAF771-FD35-48E7-A087-A3F08A4A61D6}"/>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8" name="">
            <a:extLst xmlns:a="http://schemas.openxmlformats.org/drawingml/2006/main">
              <a:ext uri="{FF2B5EF4-FFF2-40B4-BE49-F238E27FC236}">
                <a16:creationId xmlns:a16="http://schemas.microsoft.com/office/drawing/2014/main" id="{95D1E2F1-1560-4D10-BEC4-967B5B08B3CD}"/>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9" name="">
            <a:extLst xmlns:a="http://schemas.openxmlformats.org/drawingml/2006/main">
              <a:ext uri="{FF2B5EF4-FFF2-40B4-BE49-F238E27FC236}">
                <a16:creationId xmlns:a16="http://schemas.microsoft.com/office/drawing/2014/main" id="{2E655BB2-3447-44FB-A75B-109CA3624401}"/>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3A12E74-BECD-476E-8338-CEF4D6677C6B}"/>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ED18C5CF-4007-41D2-9700-D324B547099C}"/>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2" name="">
            <a:extLst xmlns:a="http://schemas.openxmlformats.org/drawingml/2006/main">
              <a:ext uri="{FF2B5EF4-FFF2-40B4-BE49-F238E27FC236}">
                <a16:creationId xmlns:a16="http://schemas.microsoft.com/office/drawing/2014/main" id="{B243EF67-2612-45F0-90C6-A8EB89052BEC}"/>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3" name="">
            <a:extLst xmlns:a="http://schemas.openxmlformats.org/drawingml/2006/main">
              <a:ext uri="{FF2B5EF4-FFF2-40B4-BE49-F238E27FC236}">
                <a16:creationId xmlns:a16="http://schemas.microsoft.com/office/drawing/2014/main" id="{4FA8A537-A99A-4A92-BDA7-52FDB227AACF}"/>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2BFF4B3-E3A4-4237-9B23-4D245D3C96E2}"/>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A4A9B93A-0E62-4EC4-95FF-05CD7D2971D8}"/>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6" name="">
            <a:extLst xmlns:a="http://schemas.openxmlformats.org/drawingml/2006/main">
              <a:ext uri="{FF2B5EF4-FFF2-40B4-BE49-F238E27FC236}">
                <a16:creationId xmlns:a16="http://schemas.microsoft.com/office/drawing/2014/main" id="{4F7F6ABB-F2B1-4287-B0FE-CEDDFE512522}"/>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7" name="">
            <a:extLst xmlns:a="http://schemas.openxmlformats.org/drawingml/2006/main">
              <a:ext uri="{FF2B5EF4-FFF2-40B4-BE49-F238E27FC236}">
                <a16:creationId xmlns:a16="http://schemas.microsoft.com/office/drawing/2014/main" id="{A3AD503D-25CB-4221-9677-E4238FFDC6DC}"/>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C3731E7-89AB-4FE4-B4BE-44941B60C598}"/>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1B4BDB5-1B10-4550-8964-B7FB190B2EF4}"/>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50" name="">
            <a:extLst xmlns:a="http://schemas.openxmlformats.org/drawingml/2006/main">
              <a:ext uri="{FF2B5EF4-FFF2-40B4-BE49-F238E27FC236}">
                <a16:creationId xmlns:a16="http://schemas.microsoft.com/office/drawing/2014/main" id="{E22F6D51-375E-40EA-81A2-ACD8C3204A50}"/>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1" name="">
            <a:extLst xmlns:a="http://schemas.openxmlformats.org/drawingml/2006/main">
              <a:ext uri="{FF2B5EF4-FFF2-40B4-BE49-F238E27FC236}">
                <a16:creationId xmlns:a16="http://schemas.microsoft.com/office/drawing/2014/main" id="{57E142B9-49A1-4869-8A5C-9138ABEBDB03}"/>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8EFA8240-3B92-4413-A57A-3D603FE84F98}"/>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9B61FC7-ADC4-4938-AB0A-CFD4D8D5339A}"/>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4" name="">
            <a:extLst xmlns:a="http://schemas.openxmlformats.org/drawingml/2006/main">
              <a:ext uri="{FF2B5EF4-FFF2-40B4-BE49-F238E27FC236}">
                <a16:creationId xmlns:a16="http://schemas.microsoft.com/office/drawing/2014/main" id="{04B57375-F812-4993-99BB-6A12ABA5875F}"/>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629E02D1-67F5-4CC5-89CD-CEE449557090}"/>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6" name="">
            <a:extLst xmlns:a="http://schemas.openxmlformats.org/drawingml/2006/main">
              <a:ext uri="{FF2B5EF4-FFF2-40B4-BE49-F238E27FC236}">
                <a16:creationId xmlns:a16="http://schemas.microsoft.com/office/drawing/2014/main" id="{1DA3C6FB-8C74-437D-8F4D-0C86BD5598E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7" name="">
            <a:extLst xmlns:a="http://schemas.openxmlformats.org/drawingml/2006/main">
              <a:ext uri="{FF2B5EF4-FFF2-40B4-BE49-F238E27FC236}">
                <a16:creationId xmlns:a16="http://schemas.microsoft.com/office/drawing/2014/main" id="{EB7FE8F1-3EF8-4881-8A77-5A9732BEC22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474893422"/>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ED23E9-336A-428B-AB3C-7480F692329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3 · STRATEGY IMPLICATIONS</a:t>
            </a:r>
          </a:p>
        </p:txBody>
      </p:sp>
      <p:sp>
        <p:nvSpPr>
          <p:cNvPr id="2" name="">
            <a:extLst xmlns:a="http://schemas.openxmlformats.org/drawingml/2006/main">
              <a:ext uri="{FF2B5EF4-FFF2-40B4-BE49-F238E27FC236}">
                <a16:creationId xmlns:a16="http://schemas.microsoft.com/office/drawing/2014/main" id="{79DB4C17-E7F8-4A2D-85FD-7888C0B35953}"/>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52F5D172-C010-4A67-8BF7-B95600D3B899}"/>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0321BF4-A0A0-401E-BC83-C900C3FC02D8}"/>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3EA78799-385B-4071-9F5D-DD779EAD8194}"/>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C031B3C9-683B-4075-9F7E-20160DAD0808}"/>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E73C60A5-1E22-477C-A116-3E62328563A1}"/>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22B58DBB-A93B-4254-AB1E-16AEC7E87481}"/>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6AC2D3AA-64D6-4993-B9BA-7378BF68008A}"/>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972F990A-69E2-4846-BE91-C4CA7E273EC1}"/>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958FE9CF-EFE4-41B1-A181-15DE96551D7A}"/>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77003F1B-52EE-457A-88BF-83409E88008D}"/>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C267DC34-9578-4ECF-8453-BCBD3702927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45AF8859-CB8A-4265-B2EF-102536E66A1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2064657721"/>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400476A-038C-4DAA-86F2-CDCB0889391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 · P0</a:t>
            </a:r>
          </a:p>
        </p:txBody>
      </p:sp>
      <p:sp>
        <p:nvSpPr>
          <p:cNvPr id="2" name="">
            <a:extLst xmlns:a="http://schemas.openxmlformats.org/drawingml/2006/main">
              <a:ext uri="{FF2B5EF4-FFF2-40B4-BE49-F238E27FC236}">
                <a16:creationId xmlns:a16="http://schemas.microsoft.com/office/drawing/2014/main" id="{F0C829A8-2EEF-4E68-BEA3-A8E3BFC5B2B8}"/>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BAACA564-3A59-4D44-8A98-4B66E7169F41}"/>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973AAD6F-86F4-43EB-B43C-A1AB991D2145}"/>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C97F4530-3CCC-4DC0-9CED-53E55BAA1754}"/>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B981DD6B-D688-4A8A-8077-059D9EC972EF}"/>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B2BFF1E7-B6F5-4996-877D-B94DFBBC87A5}"/>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824F0781-E3BC-4582-A4E0-16204387E2EF}"/>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D1D4F3A3-C3F9-41FF-AD72-AEECB6C69FD6}"/>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5777F065-8991-4EF3-A5F8-16676DB0F5F7}"/>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FCE61C3A-BBF0-48D1-B46D-5B2870C6F4E3}"/>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008860C2-20E8-4CAB-AC76-AEBA2A0D8451}"/>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7245A020-EDFF-41A7-88F7-36553C2B701C}"/>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3D6295B-8AF6-4A69-96E1-FF4C7CC31F1C}"/>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3467E7C7-1CCC-4FAB-AD16-8910C6F8B5E8}"/>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99BC44A4-C8E3-416B-B41A-01DBD1AC3BD1}"/>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7941DC-8555-467E-AFFC-405D3014E352}"/>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96D2FDF5-E4E4-40F0-9045-9B43885CA03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833C8197-3369-4BDE-A6C4-44CFEEB86FD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558893963"/>
      </p:ext>
    </p:extLst>
  </p:cSld>
</p:sld>
</file>

<file path=ppt/slides/slide1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CB3BED-1E7D-4E46-9CB8-91572A05389E}"/>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4 · RESEARCH-LED PRODUCT IDEAS · P1 AND P2</a:t>
            </a:r>
          </a:p>
        </p:txBody>
      </p:sp>
      <p:sp>
        <p:nvSpPr>
          <p:cNvPr id="2" name="">
            <a:extLst xmlns:a="http://schemas.openxmlformats.org/drawingml/2006/main">
              <a:ext uri="{FF2B5EF4-FFF2-40B4-BE49-F238E27FC236}">
                <a16:creationId xmlns:a16="http://schemas.microsoft.com/office/drawing/2014/main" id="{CEC36ED6-CE6D-4033-A4CC-D6099FF2FC5C}"/>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27B59548-9DEF-4A30-BD35-B53A9B5EF1F3}"/>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E545EE33-86B7-4ED2-AF71-C4C147C03732}"/>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D492A1F3-699B-4CED-9404-7D6FF9D48EDE}"/>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EE5A015F-A5E8-422A-880B-CA2A4CBC7528}"/>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BBA96F3-7EED-4DFC-B66F-E8D6DE767B01}"/>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F956E0DB-F0C3-4AD6-8597-23D6A641A9E6}"/>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E98AB83C-E8A9-4A81-8924-172021D18E92}"/>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E6E492-6395-44B0-A2FE-EB10814FC79B}"/>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6776B62B-E730-443F-866B-2463CA026CD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DD8B7E25-151E-481A-9C23-2EEF3DC5F81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299169175"/>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D9E576-ED5C-4D6A-8243-CAA8D9424D1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A8DF0D20-7318-4114-AACC-CC2841A5A05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4F7B7600-CB84-4166-9155-E33FF1B3C05A}"/>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C403966F-4599-456F-B84E-00E79A530684}"/>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48D1CB7F-3B76-4CA8-AEC7-D329F97C17F0}"/>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28456A9-9ACF-4FF3-9169-CC2D5D1ED173}"/>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8DD60BC5-4EDD-4079-ADEF-E8E2A4FAB893}"/>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reached via online survey; driver evidence thin (4 responses); no live follow-up on surprising answers; 29 other-city responses; no reliable local market denominator.</a:t>
            </a:r>
          </a:p>
        </p:txBody>
      </p:sp>
      <p:sp>
        <p:nvSpPr>
          <p:cNvPr id="8" name="">
            <a:extLst xmlns:a="http://schemas.openxmlformats.org/drawingml/2006/main">
              <a:ext uri="{FF2B5EF4-FFF2-40B4-BE49-F238E27FC236}">
                <a16:creationId xmlns:a16="http://schemas.microsoft.com/office/drawing/2014/main" id="{F7827F8B-10F4-4210-80FF-6FF5729C8192}"/>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0337FC53-7A38-4031-B951-0BA173FA5DCD}"/>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59178C7D-CC88-4187-A60F-FCBFEA14AC8E}"/>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D69DD6E4-5456-4FB9-8BD5-276C317D0970}"/>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4B15F95-78A4-465B-BA66-0634A2754A7E}"/>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17F981A4-1BB7-43CA-9D35-10DDD86B24B5}"/>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C34C3A86-AAAE-4989-AEF8-408CB688202B}"/>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framing check,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30476F9F-F1B7-4E43-A52B-73D91C7A218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C2C25361-9080-4358-82A7-14CE6ACBD3C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372227777"/>
      </p:ext>
    </p:extLst>
  </p:cSld>
</p:sld>
</file>

<file path=ppt/slides/slide15.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B4846E-B333-42D9-BC53-65B8B797922C}"/>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83143391-499B-4DCC-BF21-B92837A451EF}"/>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32AEBBBD-BC6C-44E3-AAEB-56159A46ADF1}"/>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Problem-framing check · Top 10 insights · Market evidence · Product tests · Experiment readiness · Limitations · Sources</a:t>
            </a:r>
          </a:p>
        </p:txBody>
      </p:sp>
      <p:sp>
        <p:nvSpPr>
          <p:cNvPr id="4" name="">
            <a:extLst xmlns:a="http://schemas.openxmlformats.org/drawingml/2006/main">
              <a:ext uri="{FF2B5EF4-FFF2-40B4-BE49-F238E27FC236}">
                <a16:creationId xmlns:a16="http://schemas.microsoft.com/office/drawing/2014/main" id="{537B2664-15EC-447C-8576-F0208D0DF97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EEF263C5-DAD8-4A41-B8C2-F28ED01F294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2098581369"/>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DD306B2-BAF1-4A40-87C2-0E52A3800B64}"/>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ADA30901-93F9-4D5A-9A59-E2AD9CDF99A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795695AB-E67D-46EE-8296-655191A3BCBE}"/>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2D0FDB87-100D-4BD8-92EF-67FE399AAD50}"/>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c1f11b717e4be3"/>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26F3A62-FB8B-42BF-85D0-51B43D8076CF}"/>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27c36995d3f405e"/>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71C5256-EC9E-4C55-8CBA-8D8E6513F10B}"/>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A7607096-2A12-4A86-8F69-4DB6ABB8192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1850C004-BF12-4361-B454-4C9FCBF4696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757924441"/>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8CCECCB-7057-4ED4-9E34-D312C8216A6F}"/>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PROBLEM FRAMING</a:t>
            </a:r>
          </a:p>
        </p:txBody>
      </p:sp>
      <p:sp>
        <p:nvSpPr>
          <p:cNvPr id="2" name="">
            <a:extLst xmlns:a="http://schemas.openxmlformats.org/drawingml/2006/main">
              <a:ext uri="{FF2B5EF4-FFF2-40B4-BE49-F238E27FC236}">
                <a16:creationId xmlns:a16="http://schemas.microsoft.com/office/drawing/2014/main" id="{9C987F57-D4AF-4A82-A426-F11D0A2300E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Current problem frame and validation status</a:t>
            </a:r>
          </a:p>
        </p:txBody>
      </p:sp>
      <p:sp>
        <p:nvSpPr>
          <p:cNvPr id="3" name="">
            <a:extLst xmlns:a="http://schemas.openxmlformats.org/drawingml/2006/main">
              <a:ext uri="{FF2B5EF4-FFF2-40B4-BE49-F238E27FC236}">
                <a16:creationId xmlns:a16="http://schemas.microsoft.com/office/drawing/2014/main" id="{AEF0CB64-E3D4-49CB-BA43-8CD219418300}"/>
              </a:ext>
            </a:extLst>
          </p:cNvPr>
          <p:cNvSpPr>
            <a:spLocks xmlns:a="http://schemas.openxmlformats.org/drawingml/2006/main" noGrp="1"/>
          </p:cNvSpPr>
          <p:nvPr/>
        </p:nvSpPr>
        <p:spPr>
          <a:xfrm xmlns:a="http://schemas.openxmlformats.org/drawingml/2006/main">
            <a:off x="895350" y="1790700"/>
            <a:ext cx="2381250" cy="1600200"/>
          </a:xfrm>
          <a:prstGeom xmlns:a="http://schemas.openxmlformats.org/drawingml/2006/main" prst="rect">
            <a:avLst/>
          </a:prstGeom>
          <a:solidFill xmlns:a="http://schemas.openxmlformats.org/drawingml/2006/main">
            <a:srgbClr val="F6F8FB"/>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B539D4B-0863-4871-B735-6096920BAF36}"/>
              </a:ext>
            </a:extLst>
          </p:cNvPr>
          <p:cNvSpPr>
            <a:spLocks xmlns:a="http://schemas.openxmlformats.org/drawingml/2006/main" noGrp="1"/>
          </p:cNvSpPr>
          <p:nvPr/>
        </p:nvSpPr>
        <p:spPr>
          <a:xfrm xmlns:a="http://schemas.openxmlformats.org/drawingml/2006/main">
            <a:off x="3276600" y="1790700"/>
            <a:ext cx="2381250" cy="1600200"/>
          </a:xfrm>
          <a:prstGeom xmlns:a="http://schemas.openxmlformats.org/drawingml/2006/main" prst="rect">
            <a:avLst/>
          </a:prstGeom>
          <a:solidFill xmlns:a="http://schemas.openxmlformats.org/drawingml/2006/main">
            <a:srgbClr val="E2F4F6"/>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2F3C035A-8F7C-47E5-A87B-4240167CEAEA}"/>
              </a:ext>
            </a:extLst>
          </p:cNvPr>
          <p:cNvSpPr>
            <a:spLocks xmlns:a="http://schemas.openxmlformats.org/drawingml/2006/main" noGrp="1"/>
          </p:cNvSpPr>
          <p:nvPr/>
        </p:nvSpPr>
        <p:spPr>
          <a:xfrm xmlns:a="http://schemas.openxmlformats.org/drawingml/2006/main">
            <a:off x="895350" y="3390900"/>
            <a:ext cx="2381250" cy="1600200"/>
          </a:xfrm>
          <a:prstGeom xmlns:a="http://schemas.openxmlformats.org/drawingml/2006/main" prst="rect">
            <a:avLst/>
          </a:prstGeom>
          <a:solidFill xmlns:a="http://schemas.openxmlformats.org/drawingml/2006/main">
            <a:srgbClr val="F7F7F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51AEE507-FE4C-43FD-A98F-0FCB18500B59}"/>
              </a:ext>
            </a:extLst>
          </p:cNvPr>
          <p:cNvSpPr>
            <a:spLocks xmlns:a="http://schemas.openxmlformats.org/drawingml/2006/main" noGrp="1"/>
          </p:cNvSpPr>
          <p:nvPr/>
        </p:nvSpPr>
        <p:spPr>
          <a:xfrm xmlns:a="http://schemas.openxmlformats.org/drawingml/2006/main">
            <a:off x="3276600" y="3390900"/>
            <a:ext cx="2381250" cy="1600200"/>
          </a:xfrm>
          <a:prstGeom xmlns:a="http://schemas.openxmlformats.org/drawingml/2006/main" prst="rect">
            <a:avLst/>
          </a:prstGeom>
          <a:solidFill xmlns:a="http://schemas.openxmlformats.org/drawingml/2006/main">
            <a:srgbClr val="FBE7D8"/>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B75A3E88-0FB9-4958-BA59-2C55771568A5}"/>
              </a:ext>
            </a:extLst>
          </p:cNvPr>
          <p:cNvSpPr>
            <a:spLocks xmlns:a="http://schemas.openxmlformats.org/drawingml/2006/main" noGrp="1"/>
          </p:cNvSpPr>
          <p:nvPr/>
        </p:nvSpPr>
        <p:spPr>
          <a:xfrm xmlns:a="http://schemas.openxmlformats.org/drawingml/2006/main">
            <a:off x="3257550" y="1790700"/>
            <a:ext cx="38100" cy="32004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7A3529-AE1C-42EA-A94C-584A1FF41B4F}"/>
              </a:ext>
            </a:extLst>
          </p:cNvPr>
          <p:cNvSpPr>
            <a:spLocks xmlns:a="http://schemas.openxmlformats.org/drawingml/2006/main" noGrp="1"/>
          </p:cNvSpPr>
          <p:nvPr/>
        </p:nvSpPr>
        <p:spPr>
          <a:xfrm xmlns:a="http://schemas.openxmlformats.org/drawingml/2006/main">
            <a:off x="895350" y="3371850"/>
            <a:ext cx="4762500" cy="38100"/>
          </a:xfrm>
          <a:prstGeom xmlns:a="http://schemas.openxmlformats.org/drawingml/2006/main" prst="rect">
            <a:avLst/>
          </a:prstGeom>
          <a:solidFill xmlns:a="http://schemas.openxmlformats.org/drawingml/2006/main">
            <a:srgbClr val="1B2B4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2304A9B-7231-409F-8210-A55F2FFB9109}"/>
              </a:ext>
            </a:extLst>
          </p:cNvPr>
          <p:cNvSpPr>
            <a:spLocks xmlns:a="http://schemas.openxmlformats.org/drawingml/2006/main" noGrp="1"/>
          </p:cNvSpPr>
          <p:nvPr/>
        </p:nvSpPr>
        <p:spPr>
          <a:xfrm xmlns:a="http://schemas.openxmlformats.org/drawingml/2006/main">
            <a:off x="106680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644"/>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Clear frame, weak evidence</a:t>
            </a:r>
          </a:p>
        </p:txBody>
      </p:sp>
      <p:sp>
        <p:nvSpPr>
          <p:cNvPr id="10" name="">
            <a:extLst xmlns:a="http://schemas.openxmlformats.org/drawingml/2006/main">
              <a:ext uri="{FF2B5EF4-FFF2-40B4-BE49-F238E27FC236}">
                <a16:creationId xmlns:a16="http://schemas.microsoft.com/office/drawing/2014/main" id="{707C086E-299D-41D3-8F4D-BF18A6565271}"/>
              </a:ext>
            </a:extLst>
          </p:cNvPr>
          <p:cNvSpPr>
            <a:spLocks xmlns:a="http://schemas.openxmlformats.org/drawingml/2006/main" noGrp="1"/>
          </p:cNvSpPr>
          <p:nvPr/>
        </p:nvSpPr>
        <p:spPr>
          <a:xfrm xmlns:a="http://schemas.openxmlformats.org/drawingml/2006/main">
            <a:off x="114300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Specific problem, limited user proof</a:t>
            </a:r>
          </a:p>
        </p:txBody>
      </p:sp>
      <p:sp>
        <p:nvSpPr>
          <p:cNvPr id="11" name="">
            <a:extLst xmlns:a="http://schemas.openxmlformats.org/drawingml/2006/main">
              <a:ext uri="{FF2B5EF4-FFF2-40B4-BE49-F238E27FC236}">
                <a16:creationId xmlns:a16="http://schemas.microsoft.com/office/drawing/2014/main" id="{071708F6-148D-4A0E-A218-3EED1107B019}"/>
              </a:ext>
            </a:extLst>
          </p:cNvPr>
          <p:cNvSpPr>
            <a:spLocks xmlns:a="http://schemas.openxmlformats.org/drawingml/2006/main" noGrp="1"/>
          </p:cNvSpPr>
          <p:nvPr/>
        </p:nvSpPr>
        <p:spPr>
          <a:xfrm xmlns:a="http://schemas.openxmlformats.org/drawingml/2006/main">
            <a:off x="3448050" y="209550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Evidence-led frame</a:t>
            </a:r>
          </a:p>
        </p:txBody>
      </p:sp>
      <p:sp>
        <p:nvSpPr>
          <p:cNvPr id="12" name="">
            <a:extLst xmlns:a="http://schemas.openxmlformats.org/drawingml/2006/main">
              <a:ext uri="{FF2B5EF4-FFF2-40B4-BE49-F238E27FC236}">
                <a16:creationId xmlns:a16="http://schemas.microsoft.com/office/drawing/2014/main" id="{6478E44D-2850-452D-A051-0CE5A6EB463A}"/>
              </a:ext>
            </a:extLst>
          </p:cNvPr>
          <p:cNvSpPr>
            <a:spLocks xmlns:a="http://schemas.openxmlformats.org/drawingml/2006/main" noGrp="1"/>
          </p:cNvSpPr>
          <p:nvPr/>
        </p:nvSpPr>
        <p:spPr>
          <a:xfrm xmlns:a="http://schemas.openxmlformats.org/drawingml/2006/main">
            <a:off x="3524250" y="247650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Connects user pain, impact, and success</a:t>
            </a:r>
          </a:p>
        </p:txBody>
      </p:sp>
      <p:sp>
        <p:nvSpPr>
          <p:cNvPr id="13" name="">
            <a:extLst xmlns:a="http://schemas.openxmlformats.org/drawingml/2006/main">
              <a:ext uri="{FF2B5EF4-FFF2-40B4-BE49-F238E27FC236}">
                <a16:creationId xmlns:a16="http://schemas.microsoft.com/office/drawing/2014/main" id="{CC77808D-CD30-46F1-B678-8253DA02245A}"/>
              </a:ext>
            </a:extLst>
          </p:cNvPr>
          <p:cNvSpPr>
            <a:spLocks xmlns:a="http://schemas.openxmlformats.org/drawingml/2006/main" noGrp="1"/>
          </p:cNvSpPr>
          <p:nvPr/>
        </p:nvSpPr>
        <p:spPr>
          <a:xfrm xmlns:a="http://schemas.openxmlformats.org/drawingml/2006/main">
            <a:off x="106680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Internal assumption</a:t>
            </a:r>
          </a:p>
        </p:txBody>
      </p:sp>
      <p:sp>
        <p:nvSpPr>
          <p:cNvPr id="14" name="">
            <a:extLst xmlns:a="http://schemas.openxmlformats.org/drawingml/2006/main">
              <a:ext uri="{FF2B5EF4-FFF2-40B4-BE49-F238E27FC236}">
                <a16:creationId xmlns:a16="http://schemas.microsoft.com/office/drawing/2014/main" id="{E08F3AF2-BA33-40A7-806A-B72451FB69B8}"/>
              </a:ext>
            </a:extLst>
          </p:cNvPr>
          <p:cNvSpPr>
            <a:spLocks xmlns:a="http://schemas.openxmlformats.org/drawingml/2006/main" noGrp="1"/>
          </p:cNvSpPr>
          <p:nvPr/>
        </p:nvSpPr>
        <p:spPr>
          <a:xfrm xmlns:a="http://schemas.openxmlformats.org/drawingml/2006/main">
            <a:off x="114300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Feature chosen before the problem is understood</a:t>
            </a:r>
          </a:p>
        </p:txBody>
      </p:sp>
      <p:sp>
        <p:nvSpPr>
          <p:cNvPr id="15" name="">
            <a:extLst xmlns:a="http://schemas.openxmlformats.org/drawingml/2006/main">
              <a:ext uri="{FF2B5EF4-FFF2-40B4-BE49-F238E27FC236}">
                <a16:creationId xmlns:a16="http://schemas.microsoft.com/office/drawing/2014/main" id="{EC62C8A9-89C7-49F1-8E02-1248EC5490FD}"/>
              </a:ext>
            </a:extLst>
          </p:cNvPr>
          <p:cNvSpPr>
            <a:spLocks xmlns:a="http://schemas.openxmlformats.org/drawingml/2006/main" noGrp="1"/>
          </p:cNvSpPr>
          <p:nvPr/>
        </p:nvSpPr>
        <p:spPr>
          <a:xfrm xmlns:a="http://schemas.openxmlformats.org/drawingml/2006/main">
            <a:off x="3448050" y="37909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User pain, solution jump</a:t>
            </a:r>
          </a:p>
        </p:txBody>
      </p:sp>
      <p:sp>
        <p:nvSpPr>
          <p:cNvPr id="16" name="">
            <a:extLst xmlns:a="http://schemas.openxmlformats.org/drawingml/2006/main">
              <a:ext uri="{FF2B5EF4-FFF2-40B4-BE49-F238E27FC236}">
                <a16:creationId xmlns:a16="http://schemas.microsoft.com/office/drawing/2014/main" id="{B6FE0E65-F6AD-411F-A03F-0CBA2B2413D9}"/>
              </a:ext>
            </a:extLst>
          </p:cNvPr>
          <p:cNvSpPr>
            <a:spLocks xmlns:a="http://schemas.openxmlformats.org/drawingml/2006/main" noGrp="1"/>
          </p:cNvSpPr>
          <p:nvPr/>
        </p:nvSpPr>
        <p:spPr>
          <a:xfrm xmlns:a="http://schemas.openxmlformats.org/drawingml/2006/main">
            <a:off x="3524250" y="4171950"/>
            <a:ext cx="1885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050" b="0" i="0">
                <a:solidFill>
                  <a:srgbClr val="687489"/>
                </a:solidFill>
                <a:latin typeface="Calibri"/>
                <a:ea typeface="Calibri"/>
                <a:cs typeface="Calibri"/>
              </a:defRPr>
            </a:pPr>
            <a:r>
              <a:rPr sz="1050" b="0" i="0">
                <a:solidFill>
                  <a:srgbClr val="687489"/>
                </a:solidFill>
                <a:latin typeface="Calibri"/>
                <a:ea typeface="Calibri"/>
                <a:cs typeface="Calibri"/>
              </a:rPr>
              <a:t>Real pain, but constraints and feasibility are missed</a:t>
            </a:r>
          </a:p>
        </p:txBody>
      </p:sp>
      <p:sp>
        <p:nvSpPr>
          <p:cNvPr id="17" name="">
            <a:extLst xmlns:a="http://schemas.openxmlformats.org/drawingml/2006/main">
              <a:ext uri="{FF2B5EF4-FFF2-40B4-BE49-F238E27FC236}">
                <a16:creationId xmlns:a16="http://schemas.microsoft.com/office/drawing/2014/main" id="{63D4162E-0171-4309-92AD-2C5530F03DCB}"/>
              </a:ext>
            </a:extLst>
          </p:cNvPr>
          <p:cNvSpPr>
            <a:spLocks xmlns:a="http://schemas.openxmlformats.org/drawingml/2006/main" noGrp="1"/>
          </p:cNvSpPr>
          <p:nvPr/>
        </p:nvSpPr>
        <p:spPr>
          <a:xfrm xmlns:a="http://schemas.openxmlformats.org/drawingml/2006/main">
            <a:off x="2247900" y="14859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F47A22"/>
                </a:solidFill>
                <a:latin typeface="Calibri"/>
                <a:ea typeface="Calibri"/>
                <a:cs typeface="Calibri"/>
              </a:defRPr>
            </a:pPr>
            <a:r>
              <a:rPr sz="1050" b="1" i="0">
                <a:solidFill>
                  <a:srgbClr val="F47A22"/>
                </a:solidFill>
                <a:latin typeface="Calibri"/>
                <a:ea typeface="Calibri"/>
                <a:cs typeface="Calibri"/>
              </a:rPr>
              <a:t>PROBLEM FIRST</a:t>
            </a:r>
          </a:p>
        </p:txBody>
      </p:sp>
      <p:sp>
        <p:nvSpPr>
          <p:cNvPr id="18" name="">
            <a:extLst xmlns:a="http://schemas.openxmlformats.org/drawingml/2006/main">
              <a:ext uri="{FF2B5EF4-FFF2-40B4-BE49-F238E27FC236}">
                <a16:creationId xmlns:a16="http://schemas.microsoft.com/office/drawing/2014/main" id="{7B15057F-F1D4-4144-8C34-987FB80A2082}"/>
              </a:ext>
            </a:extLst>
          </p:cNvPr>
          <p:cNvSpPr>
            <a:spLocks xmlns:a="http://schemas.openxmlformats.org/drawingml/2006/main" noGrp="1"/>
          </p:cNvSpPr>
          <p:nvPr/>
        </p:nvSpPr>
        <p:spPr>
          <a:xfrm xmlns:a="http://schemas.openxmlformats.org/drawingml/2006/main">
            <a:off x="2247900" y="5067300"/>
            <a:ext cx="2057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ctr">
              <a:defRPr sz="1050" b="1" i="0">
                <a:solidFill>
                  <a:srgbClr val="687489"/>
                </a:solidFill>
                <a:latin typeface="Calibri"/>
                <a:ea typeface="Calibri"/>
                <a:cs typeface="Calibri"/>
              </a:defRPr>
            </a:pPr>
            <a:r>
              <a:rPr sz="1050" b="1" i="0">
                <a:solidFill>
                  <a:srgbClr val="687489"/>
                </a:solidFill>
                <a:latin typeface="Calibri"/>
                <a:ea typeface="Calibri"/>
                <a:cs typeface="Calibri"/>
              </a:rPr>
              <a:t>SOLUTION FIRST</a:t>
            </a:r>
          </a:p>
        </p:txBody>
      </p:sp>
      <p:sp>
        <p:nvSpPr>
          <p:cNvPr id="19" name="">
            <a:extLst xmlns:a="http://schemas.openxmlformats.org/drawingml/2006/main">
              <a:ext uri="{FF2B5EF4-FFF2-40B4-BE49-F238E27FC236}">
                <a16:creationId xmlns:a16="http://schemas.microsoft.com/office/drawing/2014/main" id="{30796B15-8AC5-4C94-BFF1-0E44A1FBE614}"/>
              </a:ext>
            </a:extLst>
          </p:cNvPr>
          <p:cNvSpPr>
            <a:spLocks xmlns:a="http://schemas.openxmlformats.org/drawingml/2006/main" noGrp="1"/>
          </p:cNvSpPr>
          <p:nvPr/>
        </p:nvSpPr>
        <p:spPr>
          <a:xfrm xmlns:a="http://schemas.openxmlformats.org/drawingml/2006/main">
            <a:off x="19050" y="3200400"/>
            <a:ext cx="83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3032"/>
          </a:bodyPr>
          <a:lstStyle xmlns:a="http://schemas.openxmlformats.org/drawingml/2006/main"/>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STAKEHOLDER</a:t>
            </a:r>
          </a:p>
          <a:p xmlns:a="http://schemas.openxmlformats.org/drawingml/2006/main">
            <a:pPr algn="ctr">
              <a:defRPr sz="825" b="1" i="0">
                <a:solidFill>
                  <a:srgbClr val="687489"/>
                </a:solidFill>
                <a:latin typeface="Calibri"/>
                <a:ea typeface="Calibri"/>
                <a:cs typeface="Calibri"/>
              </a:defRPr>
            </a:pPr>
            <a:r>
              <a:rPr sz="825" b="1" i="0">
                <a:solidFill>
                  <a:srgbClr val="687489"/>
                </a:solidFill>
                <a:latin typeface="Calibri"/>
                <a:ea typeface="Calibri"/>
                <a:cs typeface="Calibri"/>
              </a:rPr>
              <a:t>ASSUMPTION</a:t>
            </a:r>
          </a:p>
        </p:txBody>
      </p:sp>
      <p:sp>
        <p:nvSpPr>
          <p:cNvPr id="20" name="">
            <a:extLst xmlns:a="http://schemas.openxmlformats.org/drawingml/2006/main">
              <a:ext uri="{FF2B5EF4-FFF2-40B4-BE49-F238E27FC236}">
                <a16:creationId xmlns:a16="http://schemas.microsoft.com/office/drawing/2014/main" id="{9F84CAA0-46C6-4E34-BE4A-04F2B00E2B1E}"/>
              </a:ext>
            </a:extLst>
          </p:cNvPr>
          <p:cNvSpPr>
            <a:spLocks xmlns:a="http://schemas.openxmlformats.org/drawingml/2006/main" noGrp="1"/>
          </p:cNvSpPr>
          <p:nvPr/>
        </p:nvSpPr>
        <p:spPr>
          <a:xfrm xmlns:a="http://schemas.openxmlformats.org/drawingml/2006/main">
            <a:off x="5695950" y="3200400"/>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USER</a:t>
            </a:r>
          </a:p>
          <a:p xmlns:a="http://schemas.openxmlformats.org/drawingml/2006/main">
            <a:pPr algn="ctr">
              <a:defRPr sz="825" b="1" i="0">
                <a:solidFill>
                  <a:srgbClr val="1BB5C8"/>
                </a:solidFill>
                <a:latin typeface="Calibri"/>
                <a:ea typeface="Calibri"/>
                <a:cs typeface="Calibri"/>
              </a:defRPr>
            </a:pPr>
            <a:r>
              <a:rPr sz="825" b="1" i="0">
                <a:solidFill>
                  <a:srgbClr val="1BB5C8"/>
                </a:solidFill>
                <a:latin typeface="Calibri"/>
                <a:ea typeface="Calibri"/>
                <a:cs typeface="Calibri"/>
              </a:rPr>
              <a:t>EVIDENCE</a:t>
            </a:r>
          </a:p>
        </p:txBody>
      </p:sp>
      <p:sp>
        <p:nvSpPr>
          <p:cNvPr id="21" name="">
            <a:extLst xmlns:a="http://schemas.openxmlformats.org/drawingml/2006/main">
              <a:ext uri="{FF2B5EF4-FFF2-40B4-BE49-F238E27FC236}">
                <a16:creationId xmlns:a16="http://schemas.microsoft.com/office/drawing/2014/main" id="{F1B453C4-455F-4FE0-8FA8-A0F69EBE360B}"/>
              </a:ext>
            </a:extLst>
          </p:cNvPr>
          <p:cNvSpPr>
            <a:spLocks xmlns:a="http://schemas.openxmlformats.org/drawingml/2006/main" noGrp="1"/>
          </p:cNvSpPr>
          <p:nvPr/>
        </p:nvSpPr>
        <p:spPr>
          <a:xfrm xmlns:a="http://schemas.openxmlformats.org/drawingml/2006/main">
            <a:off x="4457700" y="2571750"/>
            <a:ext cx="228600" cy="228600"/>
          </a:xfrm>
          <a:prstGeom xmlns:a="http://schemas.openxmlformats.org/drawingml/2006/main" prst="ellipse">
            <a:avLst/>
          </a:prstGeom>
          <a:solidFill xmlns:a="http://schemas.openxmlformats.org/drawingml/2006/main">
            <a:srgbClr val="F47A22"/>
          </a:solidFill>
          <a:ln xmlns:a="http://schemas.openxmlformats.org/drawingml/2006/main" w="19050">
            <a:solidFill>
              <a:srgbClr val="FFFFFF"/>
            </a:solidFill>
          </a:ln>
        </p:spPr>
      </p:sp>
      <p:sp>
        <p:nvSpPr>
          <p:cNvPr id="22" name="">
            <a:extLst xmlns:a="http://schemas.openxmlformats.org/drawingml/2006/main">
              <a:ext uri="{FF2B5EF4-FFF2-40B4-BE49-F238E27FC236}">
                <a16:creationId xmlns:a16="http://schemas.microsoft.com/office/drawing/2014/main" id="{613DFFC2-CEEE-43F9-B954-F9749F9DF28A}"/>
              </a:ext>
            </a:extLst>
          </p:cNvPr>
          <p:cNvSpPr>
            <a:spLocks xmlns:a="http://schemas.openxmlformats.org/drawingml/2006/main" noGrp="1"/>
          </p:cNvSpPr>
          <p:nvPr/>
        </p:nvSpPr>
        <p:spPr>
          <a:xfrm xmlns:a="http://schemas.openxmlformats.org/drawingml/2006/main">
            <a:off x="3962400" y="281940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637"/>
          </a:bodyPr>
          <a:lstStyle xmlns:a="http://schemas.openxmlformats.org/drawingml/2006/main"/>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CURRENT FRAME</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Strong definition</a:t>
            </a:r>
          </a:p>
          <a:p xmlns:a="http://schemas.openxmlformats.org/drawingml/2006/main">
            <a:pPr algn="ctr">
              <a:defRPr sz="900" b="1" i="0">
                <a:solidFill>
                  <a:srgbClr val="1B2B45"/>
                </a:solidFill>
                <a:latin typeface="Calibri"/>
                <a:ea typeface="Calibri"/>
                <a:cs typeface="Calibri"/>
              </a:defRPr>
            </a:pPr>
            <a:r>
              <a:rPr sz="900" b="1" i="0">
                <a:solidFill>
                  <a:srgbClr val="1B2B45"/>
                </a:solidFill>
                <a:latin typeface="Calibri"/>
                <a:ea typeface="Calibri"/>
                <a:cs typeface="Calibri"/>
              </a:rPr>
              <a:t>Directional validation</a:t>
            </a:r>
          </a:p>
        </p:txBody>
      </p:sp>
      <p:sp>
        <p:nvSpPr>
          <p:cNvPr id="23" name="">
            <a:extLst xmlns:a="http://schemas.openxmlformats.org/drawingml/2006/main">
              <a:ext uri="{FF2B5EF4-FFF2-40B4-BE49-F238E27FC236}">
                <a16:creationId xmlns:a16="http://schemas.microsoft.com/office/drawing/2014/main" id="{D74F26AE-36C1-4115-995A-5E8D8116F8A9}"/>
              </a:ext>
            </a:extLst>
          </p:cNvPr>
          <p:cNvSpPr>
            <a:spLocks xmlns:a="http://schemas.openxmlformats.org/drawingml/2006/main" noGrp="1"/>
          </p:cNvSpPr>
          <p:nvPr/>
        </p:nvSpPr>
        <p:spPr>
          <a:xfrm xmlns:a="http://schemas.openxmlformats.org/drawingml/2006/main">
            <a:off x="6515100" y="1581150"/>
            <a:ext cx="5048250" cy="4038600"/>
          </a:xfrm>
          <a:prstGeom xmlns:a="http://schemas.openxmlformats.org/drawingml/2006/main" prst="roundRect">
            <a:avLst>
              <a:gd name="adj" fmla="val 943"/>
            </a:avLst>
          </a:prstGeom>
          <a:solidFill xmlns:a="http://schemas.openxmlformats.org/drawingml/2006/main">
            <a:srgbClr val="FFFFFF"/>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FE6AFD1A-FC0F-43EF-BC0C-C960FCE5CDF2}"/>
              </a:ext>
            </a:extLst>
          </p:cNvPr>
          <p:cNvSpPr>
            <a:spLocks xmlns:a="http://schemas.openxmlformats.org/drawingml/2006/main" noGrp="1"/>
          </p:cNvSpPr>
          <p:nvPr/>
        </p:nvSpPr>
        <p:spPr>
          <a:xfrm xmlns:a="http://schemas.openxmlformats.org/drawingml/2006/main">
            <a:off x="6743700" y="1733550"/>
            <a:ext cx="451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050" b="1" i="0">
                <a:solidFill>
                  <a:srgbClr val="F47A22"/>
                </a:solidFill>
                <a:latin typeface="Calibri"/>
                <a:ea typeface="Calibri"/>
                <a:cs typeface="Calibri"/>
              </a:defRPr>
            </a:pPr>
            <a:r>
              <a:rPr sz="1050" b="1" i="0">
                <a:solidFill>
                  <a:srgbClr val="F47A22"/>
                </a:solidFill>
                <a:latin typeface="Calibri"/>
                <a:ea typeface="Calibri"/>
                <a:cs typeface="Calibri"/>
              </a:rPr>
              <a:t>CURRENT CONTEXT</a:t>
            </a:r>
          </a:p>
        </p:txBody>
      </p:sp>
      <p:sp>
        <p:nvSpPr>
          <p:cNvPr id="25" name="">
            <a:extLst xmlns:a="http://schemas.openxmlformats.org/drawingml/2006/main">
              <a:ext uri="{FF2B5EF4-FFF2-40B4-BE49-F238E27FC236}">
                <a16:creationId xmlns:a16="http://schemas.microsoft.com/office/drawing/2014/main" id="{395F0607-839D-4354-BFFA-ADA67BCF3A13}"/>
              </a:ext>
            </a:extLst>
          </p:cNvPr>
          <p:cNvSpPr>
            <a:spLocks xmlns:a="http://schemas.openxmlformats.org/drawingml/2006/main" noGrp="1"/>
          </p:cNvSpPr>
          <p:nvPr/>
        </p:nvSpPr>
        <p:spPr>
          <a:xfrm xmlns:a="http://schemas.openxmlformats.org/drawingml/2006/main">
            <a:off x="6743700" y="2152650"/>
            <a:ext cx="1219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USER AND SETTING</a:t>
            </a:r>
          </a:p>
        </p:txBody>
      </p:sp>
      <p:sp>
        <p:nvSpPr>
          <p:cNvPr id="26" name="">
            <a:extLst xmlns:a="http://schemas.openxmlformats.org/drawingml/2006/main">
              <a:ext uri="{FF2B5EF4-FFF2-40B4-BE49-F238E27FC236}">
                <a16:creationId xmlns:a16="http://schemas.microsoft.com/office/drawing/2014/main" id="{EE98DE14-0675-4DDF-AFEF-5AFD6A7FDE75}"/>
              </a:ext>
            </a:extLst>
          </p:cNvPr>
          <p:cNvSpPr>
            <a:spLocks xmlns:a="http://schemas.openxmlformats.org/drawingml/2006/main" noGrp="1"/>
          </p:cNvSpPr>
          <p:nvPr/>
        </p:nvSpPr>
        <p:spPr>
          <a:xfrm xmlns:a="http://schemas.openxmlformats.org/drawingml/2006/main">
            <a:off x="8020050" y="2133600"/>
            <a:ext cx="325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25"/>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Four-wheel riders starting from airports, gated residences, malls, offices, or stations. Drivers are directly affected.</a:t>
            </a:r>
          </a:p>
        </p:txBody>
      </p:sp>
      <p:sp>
        <p:nvSpPr>
          <p:cNvPr id="27" name="">
            <a:extLst xmlns:a="http://schemas.openxmlformats.org/drawingml/2006/main">
              <a:ext uri="{FF2B5EF4-FFF2-40B4-BE49-F238E27FC236}">
                <a16:creationId xmlns:a16="http://schemas.microsoft.com/office/drawing/2014/main" id="{B1F44976-B23E-450F-8F10-B7BFB5A75627}"/>
              </a:ext>
            </a:extLst>
          </p:cNvPr>
          <p:cNvSpPr>
            <a:spLocks xmlns:a="http://schemas.openxmlformats.org/drawingml/2006/main" noGrp="1"/>
          </p:cNvSpPr>
          <p:nvPr/>
        </p:nvSpPr>
        <p:spPr>
          <a:xfrm xmlns:a="http://schemas.openxmlformats.org/drawingml/2006/main">
            <a:off x="6724650" y="26860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5935AE-9A71-481A-BCA8-3A27C24F9B1A}"/>
              </a:ext>
            </a:extLst>
          </p:cNvPr>
          <p:cNvSpPr>
            <a:spLocks xmlns:a="http://schemas.openxmlformats.org/drawingml/2006/main" noGrp="1"/>
          </p:cNvSpPr>
          <p:nvPr/>
        </p:nvSpPr>
        <p:spPr>
          <a:xfrm xmlns:a="http://schemas.openxmlformats.org/drawingml/2006/main">
            <a:off x="6743700" y="278130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OBSERVED PROBLEM</a:t>
            </a:r>
          </a:p>
        </p:txBody>
      </p:sp>
      <p:sp>
        <p:nvSpPr>
          <p:cNvPr id="29" name="">
            <a:extLst xmlns:a="http://schemas.openxmlformats.org/drawingml/2006/main">
              <a:ext uri="{FF2B5EF4-FFF2-40B4-BE49-F238E27FC236}">
                <a16:creationId xmlns:a16="http://schemas.microsoft.com/office/drawing/2014/main" id="{6EC461A1-6735-4BA5-A583-CD3AC8FC3F22}"/>
              </a:ext>
            </a:extLst>
          </p:cNvPr>
          <p:cNvSpPr>
            <a:spLocks xmlns:a="http://schemas.openxmlformats.org/drawingml/2006/main" noGrp="1"/>
          </p:cNvSpPr>
          <p:nvPr/>
        </p:nvSpPr>
        <p:spPr>
          <a:xfrm xmlns:a="http://schemas.openxmlformats.org/drawingml/2006/main">
            <a:off x="8020050" y="276225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The pin may show the area, but both sides still lack one clear and workable meeting point. Calls, waiting, or movement follow.</a:t>
            </a:r>
          </a:p>
        </p:txBody>
      </p:sp>
      <p:sp>
        <p:nvSpPr>
          <p:cNvPr id="30" name="">
            <a:extLst xmlns:a="http://schemas.openxmlformats.org/drawingml/2006/main">
              <a:ext uri="{FF2B5EF4-FFF2-40B4-BE49-F238E27FC236}">
                <a16:creationId xmlns:a16="http://schemas.microsoft.com/office/drawing/2014/main" id="{910CCD55-2624-4D8D-AABF-A55F06070A8D}"/>
              </a:ext>
            </a:extLst>
          </p:cNvPr>
          <p:cNvSpPr>
            <a:spLocks xmlns:a="http://schemas.openxmlformats.org/drawingml/2006/main" noGrp="1"/>
          </p:cNvSpPr>
          <p:nvPr/>
        </p:nvSpPr>
        <p:spPr>
          <a:xfrm xmlns:a="http://schemas.openxmlformats.org/drawingml/2006/main">
            <a:off x="6724650" y="346710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F407A62-CC46-444B-8809-8BF2931BC1D5}"/>
              </a:ext>
            </a:extLst>
          </p:cNvPr>
          <p:cNvSpPr>
            <a:spLocks xmlns:a="http://schemas.openxmlformats.org/drawingml/2006/main" noGrp="1"/>
          </p:cNvSpPr>
          <p:nvPr/>
        </p:nvSpPr>
        <p:spPr>
          <a:xfrm xmlns:a="http://schemas.openxmlformats.org/drawingml/2006/main">
            <a:off x="6743700" y="3562350"/>
            <a:ext cx="1219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CURRENT EVIDENCE</a:t>
            </a:r>
          </a:p>
        </p:txBody>
      </p:sp>
      <p:sp>
        <p:nvSpPr>
          <p:cNvPr id="32" name="">
            <a:extLst xmlns:a="http://schemas.openxmlformats.org/drawingml/2006/main">
              <a:ext uri="{FF2B5EF4-FFF2-40B4-BE49-F238E27FC236}">
                <a16:creationId xmlns:a16="http://schemas.microsoft.com/office/drawing/2014/main" id="{EE95126E-214B-4AFE-91B1-B5740725A6F5}"/>
              </a:ext>
            </a:extLst>
          </p:cNvPr>
          <p:cNvSpPr>
            <a:spLocks xmlns:a="http://schemas.openxmlformats.org/drawingml/2006/main" noGrp="1"/>
          </p:cNvSpPr>
          <p:nvPr/>
        </p:nvSpPr>
        <p:spPr>
          <a:xfrm xmlns:a="http://schemas.openxmlformats.org/drawingml/2006/main">
            <a:off x="8020050" y="3543300"/>
            <a:ext cx="3257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62 unique responses. 24 of 51 recent users reported difficulty or uncertainty. 30 gave open-ended answers. Only 4 drivers responded.</a:t>
            </a:r>
          </a:p>
        </p:txBody>
      </p:sp>
      <p:sp>
        <p:nvSpPr>
          <p:cNvPr id="33" name="">
            <a:extLst xmlns:a="http://schemas.openxmlformats.org/drawingml/2006/main">
              <a:ext uri="{FF2B5EF4-FFF2-40B4-BE49-F238E27FC236}">
                <a16:creationId xmlns:a16="http://schemas.microsoft.com/office/drawing/2014/main" id="{993D2F86-793F-42D9-85DD-7248AA363748}"/>
              </a:ext>
            </a:extLst>
          </p:cNvPr>
          <p:cNvSpPr>
            <a:spLocks xmlns:a="http://schemas.openxmlformats.org/drawingml/2006/main" noGrp="1"/>
          </p:cNvSpPr>
          <p:nvPr/>
        </p:nvSpPr>
        <p:spPr>
          <a:xfrm xmlns:a="http://schemas.openxmlformats.org/drawingml/2006/main">
            <a:off x="6724650" y="42481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56CEDE0-BE33-43A9-9DB0-D26C8BE584C9}"/>
              </a:ext>
            </a:extLst>
          </p:cNvPr>
          <p:cNvSpPr>
            <a:spLocks xmlns:a="http://schemas.openxmlformats.org/drawingml/2006/main" noGrp="1"/>
          </p:cNvSpPr>
          <p:nvPr/>
        </p:nvSpPr>
        <p:spPr>
          <a:xfrm xmlns:a="http://schemas.openxmlformats.org/drawingml/2006/main">
            <a:off x="6743700" y="4343400"/>
            <a:ext cx="121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1BB5C8"/>
                </a:solidFill>
                <a:latin typeface="Calibri"/>
                <a:ea typeface="Calibri"/>
                <a:cs typeface="Calibri"/>
              </a:defRPr>
            </a:pPr>
            <a:r>
              <a:rPr sz="900" b="1" i="0">
                <a:solidFill>
                  <a:srgbClr val="1BB5C8"/>
                </a:solidFill>
                <a:latin typeface="Calibri"/>
                <a:ea typeface="Calibri"/>
                <a:cs typeface="Calibri"/>
              </a:rPr>
              <a:t>SUCCESS SIGNAL</a:t>
            </a:r>
          </a:p>
        </p:txBody>
      </p:sp>
      <p:sp>
        <p:nvSpPr>
          <p:cNvPr id="35" name="">
            <a:extLst xmlns:a="http://schemas.openxmlformats.org/drawingml/2006/main">
              <a:ext uri="{FF2B5EF4-FFF2-40B4-BE49-F238E27FC236}">
                <a16:creationId xmlns:a16="http://schemas.microsoft.com/office/drawing/2014/main" id="{A9F77108-D426-4C40-AB2E-7896500C36AB}"/>
              </a:ext>
            </a:extLst>
          </p:cNvPr>
          <p:cNvSpPr>
            <a:spLocks xmlns:a="http://schemas.openxmlformats.org/drawingml/2006/main" noGrp="1"/>
          </p:cNvSpPr>
          <p:nvPr/>
        </p:nvSpPr>
        <p:spPr>
          <a:xfrm xmlns:a="http://schemas.openxmlformats.org/drawingml/2006/main">
            <a:off x="8020050" y="4324350"/>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Fewer reactive calls or messages and less time between driver arrival and trip start.</a:t>
            </a:r>
          </a:p>
        </p:txBody>
      </p:sp>
      <p:sp>
        <p:nvSpPr>
          <p:cNvPr id="36" name="">
            <a:extLst xmlns:a="http://schemas.openxmlformats.org/drawingml/2006/main">
              <a:ext uri="{FF2B5EF4-FFF2-40B4-BE49-F238E27FC236}">
                <a16:creationId xmlns:a16="http://schemas.microsoft.com/office/drawing/2014/main" id="{D9994D71-A5EB-4450-BAB5-1F1AE2225AA4}"/>
              </a:ext>
            </a:extLst>
          </p:cNvPr>
          <p:cNvSpPr>
            <a:spLocks xmlns:a="http://schemas.openxmlformats.org/drawingml/2006/main" noGrp="1"/>
          </p:cNvSpPr>
          <p:nvPr/>
        </p:nvSpPr>
        <p:spPr>
          <a:xfrm xmlns:a="http://schemas.openxmlformats.org/drawingml/2006/main">
            <a:off x="6724650" y="4819650"/>
            <a:ext cx="462915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F5340E5-6D37-4913-8FCA-47E6E390F577}"/>
              </a:ext>
            </a:extLst>
          </p:cNvPr>
          <p:cNvSpPr>
            <a:spLocks xmlns:a="http://schemas.openxmlformats.org/drawingml/2006/main" noGrp="1"/>
          </p:cNvSpPr>
          <p:nvPr/>
        </p:nvSpPr>
        <p:spPr>
          <a:xfrm xmlns:a="http://schemas.openxmlformats.org/drawingml/2006/main">
            <a:off x="6743700" y="4914900"/>
            <a:ext cx="1219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00" b="1" i="0">
                <a:solidFill>
                  <a:srgbClr val="F47A22"/>
                </a:solidFill>
                <a:latin typeface="Calibri"/>
                <a:ea typeface="Calibri"/>
                <a:cs typeface="Calibri"/>
              </a:defRPr>
            </a:pPr>
            <a:r>
              <a:rPr sz="900" b="1" i="0">
                <a:solidFill>
                  <a:srgbClr val="F47A22"/>
                </a:solidFill>
                <a:latin typeface="Calibri"/>
                <a:ea typeface="Calibri"/>
                <a:cs typeface="Calibri"/>
              </a:rPr>
              <a:t>REMAINING GAPS</a:t>
            </a:r>
          </a:p>
        </p:txBody>
      </p:sp>
      <p:sp>
        <p:nvSpPr>
          <p:cNvPr id="38" name="">
            <a:extLst xmlns:a="http://schemas.openxmlformats.org/drawingml/2006/main">
              <a:ext uri="{FF2B5EF4-FFF2-40B4-BE49-F238E27FC236}">
                <a16:creationId xmlns:a16="http://schemas.microsoft.com/office/drawing/2014/main" id="{61A7BEA6-0E81-4D17-A92B-FFEF88ED9589}"/>
              </a:ext>
            </a:extLst>
          </p:cNvPr>
          <p:cNvSpPr>
            <a:spLocks xmlns:a="http://schemas.openxmlformats.org/drawingml/2006/main" noGrp="1"/>
          </p:cNvSpPr>
          <p:nvPr/>
        </p:nvSpPr>
        <p:spPr>
          <a:xfrm xmlns:a="http://schemas.openxmlformats.org/drawingml/2006/main">
            <a:off x="8020050" y="4895850"/>
            <a:ext cx="3257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0" i="0">
                <a:solidFill>
                  <a:srgbClr val="233248"/>
                </a:solidFill>
                <a:latin typeface="Calibri"/>
                <a:ea typeface="Calibri"/>
                <a:cs typeface="Calibri"/>
              </a:defRPr>
            </a:pPr>
            <a:r>
              <a:rPr sz="1050" b="0" i="0">
                <a:solidFill>
                  <a:srgbClr val="233248"/>
                </a:solidFill>
                <a:latin typeface="Calibri"/>
                <a:ea typeface="Calibri"/>
                <a:cs typeface="Calibri"/>
              </a:rPr>
              <a:t>No moderated interviews. Driver evidence is thin. The sample is not representative. Validate with rider and driver interviews plus pickup event data.</a:t>
            </a:r>
          </a:p>
        </p:txBody>
      </p:sp>
      <p:sp>
        <p:nvSpPr>
          <p:cNvPr id="39" name="">
            <a:extLst xmlns:a="http://schemas.openxmlformats.org/drawingml/2006/main">
              <a:ext uri="{FF2B5EF4-FFF2-40B4-BE49-F238E27FC236}">
                <a16:creationId xmlns:a16="http://schemas.microsoft.com/office/drawing/2014/main" id="{83FD4A03-E0CB-43EF-BE3F-7695D47366D6}"/>
              </a:ext>
            </a:extLst>
          </p:cNvPr>
          <p:cNvSpPr>
            <a:spLocks xmlns:a="http://schemas.openxmlformats.org/drawingml/2006/main" noGrp="1"/>
          </p:cNvSpPr>
          <p:nvPr/>
        </p:nvSpPr>
        <p:spPr>
          <a:xfrm xmlns:a="http://schemas.openxmlformats.org/drawingml/2006/main">
            <a:off x="514350" y="5810250"/>
            <a:ext cx="11049000" cy="476250"/>
          </a:xfrm>
          <a:prstGeom xmlns:a="http://schemas.openxmlformats.org/drawingml/2006/main" prst="roundRect">
            <a:avLst>
              <a:gd name="adj" fmla="val 8000"/>
            </a:avLst>
          </a:prstGeom>
          <a:solidFill xmlns:a="http://schemas.openxmlformats.org/drawingml/2006/main">
            <a:srgbClr val="E2F4F6"/>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E02C9C4-E9C7-4E85-9D63-15FF4673F0B4}"/>
              </a:ext>
            </a:extLst>
          </p:cNvPr>
          <p:cNvSpPr>
            <a:spLocks xmlns:a="http://schemas.openxmlformats.org/drawingml/2006/main" noGrp="1"/>
          </p:cNvSpPr>
          <p:nvPr/>
        </p:nvSpPr>
        <p:spPr>
          <a:xfrm xmlns:a="http://schemas.openxmlformats.org/drawingml/2006/main">
            <a:off x="723900" y="5905500"/>
            <a:ext cx="1062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Assessment: strong problem framing with directional validation. Test the smallest idea while gathering stronger evidence.</a:t>
            </a:r>
          </a:p>
        </p:txBody>
      </p:sp>
      <p:sp>
        <p:nvSpPr>
          <p:cNvPr id="41" name="">
            <a:extLst xmlns:a="http://schemas.openxmlformats.org/drawingml/2006/main">
              <a:ext uri="{FF2B5EF4-FFF2-40B4-BE49-F238E27FC236}">
                <a16:creationId xmlns:a16="http://schemas.microsoft.com/office/drawing/2014/main" id="{09FA0744-76A6-4CEF-B426-1ACBF884BF6F}"/>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2" name="">
            <a:extLst xmlns:a="http://schemas.openxmlformats.org/drawingml/2006/main">
              <a:ext uri="{FF2B5EF4-FFF2-40B4-BE49-F238E27FC236}">
                <a16:creationId xmlns:a16="http://schemas.microsoft.com/office/drawing/2014/main" id="{8DFA6B64-2976-424D-8775-B3539E1EDFE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021319183"/>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099CF971-7CA2-4E63-A29C-D69CC244403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67D147C0-FD3A-4BBC-A93D-922212806E30}"/>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8404BCE9-3270-43ED-83B2-C15CADA1A238}"/>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8F88A6B7-548C-48B1-9A3A-4A3FB36ED0F5}"/>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9ECD68BF-4357-47F2-8BEB-FD366D158F0C}"/>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FF0673C5-68FD-4731-84A9-D387A7DAD1A3}"/>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68A28E5A-4BC6-4C4C-B2CD-37551409E256}"/>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8227CE-9146-4BD9-8E9D-F4C8560BF68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5C591B02-5A4D-4FA3-8EA4-73EB808A44AC}"/>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5E8C9335-7535-4A2C-AF1A-80ED013B3D8E}"/>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41E49F6E-A425-4470-B5C0-280597BAEFAB}"/>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8EA96B1F-42F7-4ECD-A3C8-EF3387CD16C0}"/>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371D5AC7-FCD5-4248-BBCC-8330DE0F1E14}"/>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9DFE8C-3AD6-4F4C-89FB-5911D7A9FF62}"/>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0959BB4C-2BCD-46E2-BD52-15010B2B80EB}"/>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753B99F5-9866-4040-8AE2-FC5672F182E6}"/>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E8A00CDD-0441-4BDA-8C3B-A91C9C22C77B}"/>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BC46DAE9-0D96-4B49-9F6F-2A0D8D058CD3}"/>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7A6C81D2-0CC2-40A7-B523-517EE62390A7}"/>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BC7DC66-C8D5-4843-B383-19B42B5ED97D}"/>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38B1DA8B-0226-457C-987E-9D51FA573948}"/>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66D703CC-7A61-4E19-B5DB-76F2971F5855}"/>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9A0F0FC2-E289-4F0C-AD29-A87F6CD1416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1961F4D7-BB81-45F5-BEA4-EC587A21E3BA}"/>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88A889B8-87EE-4518-9953-4272A99B49D7}"/>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FC459AC-C8A5-4156-97AE-6FEF74736AD6}"/>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8C26BF68-B033-4BBD-AD30-B88B0102A073}"/>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A692B40-D15B-44CC-96F5-5F78F86A0025}"/>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1DC83D95-5F0B-439E-B581-1AA4706AFDFA}"/>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59495047-6CF7-4DCB-BAE1-E14E24C30DD3}"/>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64FBB90B-1AE5-4EC9-9209-1631877EA08F}"/>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9341BD8-034F-4E4A-B88A-A13ABA10EDD2}"/>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EA706004-554D-4964-BA6A-3E4E91569C8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E3B41768-43D5-4112-BA93-F537AC88923C}"/>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1476511634"/>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D70AA88-C3D5-4B36-B684-AEAAEFEF99B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2 · TOP 10 MOST RELEVANT INSIGHTS</a:t>
            </a:r>
          </a:p>
        </p:txBody>
      </p:sp>
      <p:sp>
        <p:nvSpPr>
          <p:cNvPr id="2" name="">
            <a:extLst xmlns:a="http://schemas.openxmlformats.org/drawingml/2006/main">
              <a:ext uri="{FF2B5EF4-FFF2-40B4-BE49-F238E27FC236}">
                <a16:creationId xmlns:a16="http://schemas.microsoft.com/office/drawing/2014/main" id="{23578572-0947-4247-847A-776F8DC6F46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F66074AB-EDB0-4219-8E6A-5CAE5C3C3594}"/>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6A29E884-57AA-4871-BBEC-7652DCA1D7B5}"/>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B4F9EB88-5897-465C-9D1D-239F253E095E}"/>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611FD3D6-3F32-48A7-930D-A52BAC1CF65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848174BD-0A2B-441E-8FBC-5DFBC36CFCFB}"/>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B6C71D-E9E9-41AF-A9D1-06E26688A6AB}"/>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A6F88BAE-50AD-4C05-886C-17E6290BF96B}"/>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61F51560-EA22-4A9E-9871-63939D44826C}"/>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FA05678F-065F-49F5-8F36-2EE311392DCC}"/>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CCF0E66D-5E54-4C04-9FC8-27A4017570AD}"/>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AD846B27-618C-4295-96C4-2453F3AA5F31}"/>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F55DEB-E0CF-4729-9011-685012721223}"/>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10766601-8761-40B2-B16A-E5E1D3C6BF9C}"/>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0F94364-B6AF-4EDB-A630-9E19F7CA810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1CCEDBD1-177E-447E-8B53-B3B1AC1C879C}"/>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B42EB2AF-BC42-4930-9CEC-783B8E743E7B}"/>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249CBD2F-75E7-4E2A-ACF8-32709DCAEC23}"/>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0B05422-1E63-4F67-8AA6-ACFAB189EE02}"/>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0C597761-8806-4BE2-B27F-970440E20270}"/>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FF172CDD-56F8-477A-B9D3-0582FAEA5EAE}"/>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A6295B6E-DE17-41DC-BC3A-F1880F58269F}"/>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5FC506A1-88C2-4256-BCED-CF33DF3BC55E}"/>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AC576F5B-444B-423E-8431-D30C9BFDBF20}"/>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4EAEEE9-C2D8-4506-915C-D2AA4655F157}"/>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0569E73B-0340-4DD5-A1D5-ED62C739AB25}"/>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07E29B3-6D0F-441B-8499-A3F4F4B48D67}"/>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8E838373-6B25-4522-A319-5B9072CBCDE3}"/>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D47CE29E-C9BB-4509-A5A8-4E4B1A25F112}"/>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B759B72F-16EA-44D5-987F-FCFD35CCEA95}"/>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04C9692-A9C0-497B-A3D5-6B61BD1B9998}"/>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925EFC87-B9D9-4100-9C17-13EAFAD0315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01503E67-848A-48D7-8BA7-9C2E4E15255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016141232"/>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6B8B376C-B752-431A-861D-FA1C343741D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6089EC51-A4A4-45CD-938E-E2719A45373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327E9A20-EA66-480D-87CF-A77314F8E25B}"/>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0B5659FE-DE20-4746-A92A-0B0C83A799AF}"/>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AC6B79E7-0CD8-4C28-B95C-C5DC65F6DB0F}"/>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245B6FF9-DCC5-4780-93AB-6A8B0821F9E8}"/>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9476DD1F-9C94-40DB-8F21-C34AAE274E12}"/>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0E54CB10-A843-4634-900D-BB444736165A}"/>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34F701DF-4B11-4E05-BBFE-873EC83C9A07}"/>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53EC95AB-E9D0-4694-94FC-8D143E86E514}"/>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FDF5CE93-D6F5-40C4-8A18-3B2931B40D95}"/>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699F87A7-0E6C-49C2-BF21-F9ECAB709461}"/>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4E9C7727-3CE3-4359-8EDF-97C5B8433362}"/>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E1DBF931-AF6E-4395-A60F-BCE6AB326942}"/>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D3B8C3CD-186D-4A2E-BB6C-8232D81AFC12}"/>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CA3625D-DE77-4533-B594-FF4C6F494713}"/>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D7E3DD97-650C-4BD5-AE6F-ACC42EE18EA9}"/>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29A1F4A5-7692-48A3-8232-FFD5A028FFF3}"/>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8C17CE1C-94A5-4B6E-A6D0-97E2020EC5EA}"/>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BF79E558-214A-4A65-BF0C-F461141F2613}"/>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4125BB37-DC41-43B1-B524-3D1C6577CF81}"/>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1BDB035E-5115-4D6B-8B2E-E72577CF0246}"/>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CBF6724A-42B9-43BA-847F-BB455ACF426C}"/>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39216675-DD71-44DF-BC48-72D13AD83502}"/>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8112740C-9EFB-48BF-88EE-0C9C12A27BFC}"/>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43B6A54-5334-40F5-B70B-699176356B03}"/>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9A2C0358-B344-4155-964F-360581AA6883}"/>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7F979898-1ECB-4E3B-B5EA-97AC27014539}"/>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F2D57CFB-1307-4FBC-9337-FB8F320EFF31}"/>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D906851B-7332-43E4-B368-9CC8A7AD4C24}"/>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BF658527-3468-455C-856B-D3E6C0C4F516}"/>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6C8B176C-68DA-4AF6-AB63-5CAFCEFBD2DA}"/>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18EEDC60-4183-40B5-9574-181E32EC83C6}"/>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EAD43D67-CAA6-4FC0-936D-F5CAAF4FE1EB}"/>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A4A22D1F-9EAC-43FC-A61A-A1E09E07B052}"/>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E899F450-BF39-4DC2-8DCA-FC9EFAB6D1D8}"/>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61BD194C-1B16-43AA-BC3F-7EAD2CCAA28D}"/>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02B48940-5CA3-4222-B272-16040CA152B8}"/>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E4531511-D3B1-4F66-8AB3-98359CAEAF94}"/>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0EE19AC6-E365-44F5-8148-6C5C17273AE3}"/>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020B67A4-765D-4558-AE5C-F52F642E9DCD}"/>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2D0608AB-A883-405B-BB6B-5B87C53E9808}"/>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060DCA09-A9B6-4BFA-9484-A2241482C439}"/>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3473C893-C28F-4947-9C80-4233640F0422}"/>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B2700391-2A4C-4DB2-BE63-DF4B7F9C4DE1}"/>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22569DC5-0183-46EE-AD89-B7063F206CD9}"/>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42C18819-F318-4837-91B8-8916F030CE3B}"/>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5115958D-D2BC-4B2C-AF9D-99D92B89C20A}"/>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D070035B-0C3F-4E39-8453-97E139CA602B}"/>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2E64C726-7087-4955-9F45-E0C0D753ACF5}"/>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2A03FC63-E5F2-445B-9BB3-C7DD6B615EF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F801555E-A4DC-4083-87D2-D83180D53F3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987322044"/>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71D047C-AD0A-42A9-8B27-4D38E1707EF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3 · STRATEGY IMPLICATIONS</a:t>
            </a:r>
          </a:p>
        </p:txBody>
      </p:sp>
      <p:sp>
        <p:nvSpPr>
          <p:cNvPr id="2" name="">
            <a:extLst xmlns:a="http://schemas.openxmlformats.org/drawingml/2006/main">
              <a:ext uri="{FF2B5EF4-FFF2-40B4-BE49-F238E27FC236}">
                <a16:creationId xmlns:a16="http://schemas.microsoft.com/office/drawing/2014/main" id="{56EE222D-C5AC-4C70-A143-56F48F06943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49FC7788-C2A7-4574-932D-CC9B329359E1}"/>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9E9BADE0-41E6-45EB-8085-53799C322789}"/>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7D3AEE4C-C866-45F6-BA95-87E69093140B}"/>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2942C254-24D7-417D-A29A-92F17EAC7858}"/>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7679D9C7-7B76-4AE0-96DE-FEADB1DB4546}"/>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A73E2C87-628E-4B22-8E6E-C0A4AAC99E49}"/>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08E87F24-A9D5-40D0-95BF-F342108EE785}"/>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2DF30649-04A6-4C77-A020-4F7AEC978383}"/>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5551DB9E-1F06-4A79-A7CD-FD880F808F09}"/>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50F9B87A-625B-40F8-AB68-CEBAEE9FD0EB}"/>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BDFDAA20-9074-4440-98B8-8ACE0D1947EA}"/>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E2554065-82C8-43BA-8DFB-A938E07CCC7C}"/>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79BD3BFF-1301-46CB-9881-23FE0666F40E}"/>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4DE69BDD-0584-4CC0-903D-A06BD87FFA14}"/>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BA2C4906-A378-452A-AECD-1B17480A419A}"/>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5BC31453-A732-40A8-95B8-4E57BC5C671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59161E93-5108-4FC6-A750-A25E694D030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795796441"/>
      </p:ext>
    </p:extLst>
  </p:cSld>
</p:sld>
</file>

<file path=ppt/slides/slide2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35D1D6D4-867F-40FD-8B40-DBB18DCE5B3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4 · RESEARCH-LED PRODUCT IDEAS</a:t>
            </a:r>
          </a:p>
        </p:txBody>
      </p:sp>
      <p:sp>
        <p:nvSpPr>
          <p:cNvPr id="2" name="">
            <a:extLst xmlns:a="http://schemas.openxmlformats.org/drawingml/2006/main">
              <a:ext uri="{FF2B5EF4-FFF2-40B4-BE49-F238E27FC236}">
                <a16:creationId xmlns:a16="http://schemas.microsoft.com/office/drawing/2014/main" id="{B867D3AB-D6C9-4294-9598-B78AFD231005}"/>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E5A08D8C-A1D7-4EF3-BED6-A53F45DBE325}"/>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4254C1A9-9C20-44AE-B73D-ED108E96F8ED}"/>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65DD99D5-57B3-49E3-B412-EE399582BDFB}"/>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9783D8E5-D469-4E97-ADB2-2FB06E185467}"/>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74018F30-255A-4004-8604-91928F2F78D5}"/>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BF2662D1-8A28-4CA8-8760-626B9435B14D}"/>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29BB7353-64A0-496B-8A9C-9E58A4DB669C}"/>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2AD6172-138A-4F98-A611-23A8DE1F3348}"/>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990CC3DD-FBEA-43C2-BD79-5F0163C77CF2}"/>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C9F38175-CC84-44CF-8B9C-C8B7CF822EA4}"/>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80C3E2C7-EC10-4DD6-987D-9F85896F1B0C}"/>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C354D537-FE7C-4F98-9C0F-22279FE5F834}"/>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81273FFF-B37D-4CEB-916C-58F5B3C04D81}"/>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935594A0-8E56-408C-920F-11149A301674}"/>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5D3AE179-4CBC-415A-8001-96A895FFAE52}"/>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FAEB02CF-083B-40BE-A48C-5BE10538DAB3}"/>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42DCBED2-8DD2-42D1-9BFC-97BF95BD774A}"/>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3D553E78-DB23-4D5B-A503-C0093D54BD69}"/>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F90E2F2C-8963-4A52-A76D-6F741B924F15}"/>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E2FA045C-886A-4979-83CC-7F3A13A0D854}"/>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C8303FAD-28FB-49D0-82CA-17117427B2E3}"/>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5A58298C-B8EE-47A4-B7D7-88EA52F30E94}"/>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801EAAEB-4311-423F-8660-FD630717A467}"/>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3C7D8E46-A7E0-4AFD-B098-E5CEBA1F560A}"/>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EE04F985-0812-4E17-8FFF-62BEC76F08F4}"/>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9C77176B-32FB-441B-92DC-62EABDD9B7A8}"/>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82621285-E4FF-4C6D-B009-ECCDFDA0F17B}"/>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FB216CD2-C5B2-483F-B339-905C4837055B}"/>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97E2F427-736D-4C01-83C3-134CEE126F15}"/>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A7F3D50B-5569-4A45-9A61-B7A3AFEE7DCA}"/>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15CF4446-1331-4011-AA76-76D8BBEB476B}"/>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14D5B3D2-2AD3-455C-AF35-4F0409EA4677}"/>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62D83733-29F2-4C6A-B94A-ECD81B33BA8F}"/>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5C55818C-91EA-48FC-9EF0-323DD7D3ADC3}"/>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06DD4A18-45CC-4DB8-A63A-4F3DBA11A04F}"/>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D6746F63-5FFF-4F54-9D7B-925F98EBB3A0}"/>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B6B876CF-B07B-4311-A0EE-092F7408485C}"/>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D252A9B7-F71A-4B6C-829F-44FB2E2A8B0C}"/>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DC10C454-AF89-4C0C-8345-4D4C6CA27DD6}"/>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63DB324-EE0C-419C-9ED0-544A5A721B73}"/>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53C2CA48-220E-40B9-9EFA-9CEAA676E6F5}"/>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75D5857-E5AE-4A06-A5B3-949C4DF1E1E3}"/>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D796CE54-DC0B-4946-AA66-DDFC6A1C73AA}"/>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E8F36FB1-D9DE-4E3E-8FC3-6DFA915CB148}"/>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1126938661"/>
      </p:ext>
    </p:extLst>
  </p:cSld>
</p:sld>
</file>

<file path=ppt/slides/slide2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696EB97-8FB9-4CF7-A8DC-16C223755A58}"/>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RESEARCH</a:t>
            </a:r>
          </a:p>
        </p:txBody>
      </p:sp>
      <p:sp>
        <p:nvSpPr>
          <p:cNvPr id="2" name="">
            <a:extLst xmlns:a="http://schemas.openxmlformats.org/drawingml/2006/main">
              <a:ext uri="{FF2B5EF4-FFF2-40B4-BE49-F238E27FC236}">
                <a16:creationId xmlns:a16="http://schemas.microsoft.com/office/drawing/2014/main" id="{78F78921-0FDC-4318-93D7-DA7077B1F740}"/>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Market sizing evidence and gaps</a:t>
            </a:r>
          </a:p>
        </p:txBody>
      </p:sp>
      <p:sp>
        <p:nvSpPr>
          <p:cNvPr id="3" name="">
            <a:extLst xmlns:a="http://schemas.openxmlformats.org/drawingml/2006/main">
              <a:ext uri="{FF2B5EF4-FFF2-40B4-BE49-F238E27FC236}">
                <a16:creationId xmlns:a16="http://schemas.microsoft.com/office/drawing/2014/main" id="{5B8A1CEB-DD3A-4B83-8974-6D0CFC39AD8B}"/>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framework is usable. The inputs are not yet strong enough for a numeric market claim.</a:t>
            </a:r>
          </a:p>
        </p:txBody>
      </p:sp>
      <p:sp>
        <p:nvSpPr>
          <p:cNvPr id="4" name="">
            <a:extLst xmlns:a="http://schemas.openxmlformats.org/drawingml/2006/main">
              <a:ext uri="{FF2B5EF4-FFF2-40B4-BE49-F238E27FC236}">
                <a16:creationId xmlns:a16="http://schemas.microsoft.com/office/drawing/2014/main" id="{49BF3669-56DC-46C8-B546-58B1687ADD25}"/>
              </a:ext>
            </a:extLst>
          </p:cNvPr>
          <p:cNvSpPr>
            <a:spLocks xmlns:a="http://schemas.openxmlformats.org/drawingml/2006/main" noGrp="1"/>
          </p:cNvSpPr>
          <p:nvPr/>
        </p:nvSpPr>
        <p:spPr>
          <a:xfrm xmlns:a="http://schemas.openxmlformats.org/drawingml/2006/main">
            <a:off x="514350" y="1657350"/>
            <a:ext cx="10439400" cy="8382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729CFB8-A154-48A8-B6C8-150185075EB0}"/>
              </a:ext>
            </a:extLst>
          </p:cNvPr>
          <p:cNvSpPr>
            <a:spLocks xmlns:a="http://schemas.openxmlformats.org/drawingml/2006/main" noGrp="1"/>
          </p:cNvSpPr>
          <p:nvPr/>
        </p:nvSpPr>
        <p:spPr>
          <a:xfrm xmlns:a="http://schemas.openxmlformats.org/drawingml/2006/main">
            <a:off x="704850" y="17811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F47A22"/>
                </a:solidFill>
                <a:latin typeface="Calibri"/>
                <a:ea typeface="Calibri"/>
                <a:cs typeface="Calibri"/>
              </a:defRPr>
            </a:pPr>
            <a:r>
              <a:rPr sz="1200" b="1" i="0">
                <a:solidFill>
                  <a:srgbClr val="F47A22"/>
                </a:solidFill>
                <a:latin typeface="Calibri"/>
                <a:ea typeface="Calibri"/>
                <a:cs typeface="Calibri"/>
              </a:rPr>
              <a:t>DEMAND AND SEGMENTS</a:t>
            </a:r>
          </a:p>
        </p:txBody>
      </p:sp>
      <p:sp>
        <p:nvSpPr>
          <p:cNvPr id="6" name="">
            <a:extLst xmlns:a="http://schemas.openxmlformats.org/drawingml/2006/main">
              <a:ext uri="{FF2B5EF4-FFF2-40B4-BE49-F238E27FC236}">
                <a16:creationId xmlns:a16="http://schemas.microsoft.com/office/drawing/2014/main" id="{FDF6DE7A-A97A-402A-87F1-495534D44B0A}"/>
              </a:ext>
            </a:extLst>
          </p:cNvPr>
          <p:cNvSpPr>
            <a:spLocks xmlns:a="http://schemas.openxmlformats.org/drawingml/2006/main" noGrp="1"/>
          </p:cNvSpPr>
          <p:nvPr/>
        </p:nvSpPr>
        <p:spPr>
          <a:xfrm xmlns:a="http://schemas.openxmlformats.org/drawingml/2006/main">
            <a:off x="704850" y="21050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DIRECTIONAL</a:t>
            </a:r>
          </a:p>
        </p:txBody>
      </p:sp>
      <p:sp>
        <p:nvSpPr>
          <p:cNvPr id="7" name="">
            <a:extLst xmlns:a="http://schemas.openxmlformats.org/drawingml/2006/main">
              <a:ext uri="{FF2B5EF4-FFF2-40B4-BE49-F238E27FC236}">
                <a16:creationId xmlns:a16="http://schemas.microsoft.com/office/drawing/2014/main" id="{AC3B87F1-BEB2-4356-A9F4-D7025B8F340F}"/>
              </a:ext>
            </a:extLst>
          </p:cNvPr>
          <p:cNvSpPr>
            <a:spLocks xmlns:a="http://schemas.openxmlformats.org/drawingml/2006/main" noGrp="1"/>
          </p:cNvSpPr>
          <p:nvPr/>
        </p:nvSpPr>
        <p:spPr>
          <a:xfrm xmlns:a="http://schemas.openxmlformats.org/drawingml/2006/main">
            <a:off x="3048000" y="17716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24 of 51 recent users reported difficulty or uncertainty. Issue cases concentrate at airports, gated homes, malls, offices, and stations.</a:t>
            </a:r>
          </a:p>
        </p:txBody>
      </p:sp>
      <p:sp>
        <p:nvSpPr>
          <p:cNvPr id="8" name="">
            <a:extLst xmlns:a="http://schemas.openxmlformats.org/drawingml/2006/main">
              <a:ext uri="{FF2B5EF4-FFF2-40B4-BE49-F238E27FC236}">
                <a16:creationId xmlns:a16="http://schemas.microsoft.com/office/drawing/2014/main" id="{D44E62D5-6235-4BF0-9A05-FFAFDA718768}"/>
              </a:ext>
            </a:extLst>
          </p:cNvPr>
          <p:cNvSpPr>
            <a:spLocks xmlns:a="http://schemas.openxmlformats.org/drawingml/2006/main" noGrp="1"/>
          </p:cNvSpPr>
          <p:nvPr/>
        </p:nvSpPr>
        <p:spPr>
          <a:xfrm xmlns:a="http://schemas.openxmlformats.org/drawingml/2006/main">
            <a:off x="8667750" y="17716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Representative Hyderabad incidence is missing.</a:t>
            </a:r>
          </a:p>
        </p:txBody>
      </p:sp>
      <p:sp>
        <p:nvSpPr>
          <p:cNvPr id="9" name="">
            <a:extLst xmlns:a="http://schemas.openxmlformats.org/drawingml/2006/main">
              <a:ext uri="{FF2B5EF4-FFF2-40B4-BE49-F238E27FC236}">
                <a16:creationId xmlns:a16="http://schemas.microsoft.com/office/drawing/2014/main" id="{26F194C2-9835-4DFF-81BC-724744650BB8}"/>
              </a:ext>
            </a:extLst>
          </p:cNvPr>
          <p:cNvSpPr>
            <a:spLocks xmlns:a="http://schemas.openxmlformats.org/drawingml/2006/main" noGrp="1"/>
          </p:cNvSpPr>
          <p:nvPr/>
        </p:nvSpPr>
        <p:spPr>
          <a:xfrm xmlns:a="http://schemas.openxmlformats.org/drawingml/2006/main">
            <a:off x="514350" y="2647950"/>
            <a:ext cx="10439400" cy="838200"/>
          </a:xfrm>
          <a:prstGeom xmlns:a="http://schemas.openxmlformats.org/drawingml/2006/main" prst="roundRect">
            <a:avLst>
              <a:gd name="adj" fmla="val 4545"/>
            </a:avLst>
          </a:prstGeom>
          <a:solidFill xmlns:a="http://schemas.openxmlformats.org/drawingml/2006/main">
            <a:srgbClr val="F8F9FB"/>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039D212B-5AA4-4C8D-A957-AD641AA984C9}"/>
              </a:ext>
            </a:extLst>
          </p:cNvPr>
          <p:cNvSpPr>
            <a:spLocks xmlns:a="http://schemas.openxmlformats.org/drawingml/2006/main" noGrp="1"/>
          </p:cNvSpPr>
          <p:nvPr/>
        </p:nvSpPr>
        <p:spPr>
          <a:xfrm xmlns:a="http://schemas.openxmlformats.org/drawingml/2006/main">
            <a:off x="704850" y="27717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TAM / SAM / SOM</a:t>
            </a:r>
          </a:p>
        </p:txBody>
      </p:sp>
      <p:sp>
        <p:nvSpPr>
          <p:cNvPr id="11" name="">
            <a:extLst xmlns:a="http://schemas.openxmlformats.org/drawingml/2006/main">
              <a:ext uri="{FF2B5EF4-FFF2-40B4-BE49-F238E27FC236}">
                <a16:creationId xmlns:a16="http://schemas.microsoft.com/office/drawing/2014/main" id="{54B5F909-D6D6-4872-A711-BC7833B360F2}"/>
              </a:ext>
            </a:extLst>
          </p:cNvPr>
          <p:cNvSpPr>
            <a:spLocks xmlns:a="http://schemas.openxmlformats.org/drawingml/2006/main" noGrp="1"/>
          </p:cNvSpPr>
          <p:nvPr/>
        </p:nvSpPr>
        <p:spPr>
          <a:xfrm xmlns:a="http://schemas.openxmlformats.org/drawingml/2006/main">
            <a:off x="704850" y="30956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1BB5C8"/>
                </a:solidFill>
                <a:latin typeface="Calibri"/>
                <a:ea typeface="Calibri"/>
                <a:cs typeface="Calibri"/>
              </a:defRPr>
            </a:pPr>
            <a:r>
              <a:rPr sz="975" b="1" i="0">
                <a:solidFill>
                  <a:srgbClr val="1BB5C8"/>
                </a:solidFill>
                <a:latin typeface="Calibri"/>
                <a:ea typeface="Calibri"/>
                <a:cs typeface="Calibri"/>
              </a:rPr>
              <a:t>FRAMEWORK ONLY</a:t>
            </a:r>
          </a:p>
        </p:txBody>
      </p:sp>
      <p:sp>
        <p:nvSpPr>
          <p:cNvPr id="12" name="">
            <a:extLst xmlns:a="http://schemas.openxmlformats.org/drawingml/2006/main">
              <a:ext uri="{FF2B5EF4-FFF2-40B4-BE49-F238E27FC236}">
                <a16:creationId xmlns:a16="http://schemas.microsoft.com/office/drawing/2014/main" id="{AA487E04-BB1E-44B5-9DA7-C603D2D21334}"/>
              </a:ext>
            </a:extLst>
          </p:cNvPr>
          <p:cNvSpPr>
            <a:spLocks xmlns:a="http://schemas.openxmlformats.org/drawingml/2006/main" noGrp="1"/>
          </p:cNvSpPr>
          <p:nvPr/>
        </p:nvSpPr>
        <p:spPr>
          <a:xfrm xmlns:a="http://schemas.openxmlformats.org/drawingml/2006/main">
            <a:off x="3048000" y="27622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8322"/>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TAM: Hyderabad Uber four-wheel pickups. SAM: pickups beginning at complex locations. SOM: eligible locations and riders reachable by the first test.</a:t>
            </a:r>
          </a:p>
        </p:txBody>
      </p:sp>
      <p:sp>
        <p:nvSpPr>
          <p:cNvPr id="13" name="">
            <a:extLst xmlns:a="http://schemas.openxmlformats.org/drawingml/2006/main">
              <a:ext uri="{FF2B5EF4-FFF2-40B4-BE49-F238E27FC236}">
                <a16:creationId xmlns:a16="http://schemas.microsoft.com/office/drawing/2014/main" id="{93534C93-7E70-4B08-8262-5F1AED95A707}"/>
              </a:ext>
            </a:extLst>
          </p:cNvPr>
          <p:cNvSpPr>
            <a:spLocks xmlns:a="http://schemas.openxmlformats.org/drawingml/2006/main" noGrp="1"/>
          </p:cNvSpPr>
          <p:nvPr/>
        </p:nvSpPr>
        <p:spPr>
          <a:xfrm xmlns:a="http://schemas.openxmlformats.org/drawingml/2006/main">
            <a:off x="8667750" y="27622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Trip volume and affected-share inputs are missing.</a:t>
            </a:r>
          </a:p>
        </p:txBody>
      </p:sp>
      <p:sp>
        <p:nvSpPr>
          <p:cNvPr id="14" name="">
            <a:extLst xmlns:a="http://schemas.openxmlformats.org/drawingml/2006/main">
              <a:ext uri="{FF2B5EF4-FFF2-40B4-BE49-F238E27FC236}">
                <a16:creationId xmlns:a16="http://schemas.microsoft.com/office/drawing/2014/main" id="{40D26382-1E1E-4AEB-8A4C-4E0198CF517F}"/>
              </a:ext>
            </a:extLst>
          </p:cNvPr>
          <p:cNvSpPr>
            <a:spLocks xmlns:a="http://schemas.openxmlformats.org/drawingml/2006/main" noGrp="1"/>
          </p:cNvSpPr>
          <p:nvPr/>
        </p:nvSpPr>
        <p:spPr>
          <a:xfrm xmlns:a="http://schemas.openxmlformats.org/drawingml/2006/main">
            <a:off x="514350" y="3638550"/>
            <a:ext cx="10439400" cy="8382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E8ECF1"/>
            </a:solidFill>
            <a:prstDash val="solid"/>
          </a:ln>
        </p:spPr>
      </p:sp>
      <p:sp>
        <p:nvSpPr>
          <p:cNvPr id="15" name="">
            <a:extLst xmlns:a="http://schemas.openxmlformats.org/drawingml/2006/main">
              <a:ext uri="{FF2B5EF4-FFF2-40B4-BE49-F238E27FC236}">
                <a16:creationId xmlns:a16="http://schemas.microsoft.com/office/drawing/2014/main" id="{9761183F-F6F5-47BE-A1C1-45751F8841C3}"/>
              </a:ext>
            </a:extLst>
          </p:cNvPr>
          <p:cNvSpPr>
            <a:spLocks xmlns:a="http://schemas.openxmlformats.org/drawingml/2006/main" noGrp="1"/>
          </p:cNvSpPr>
          <p:nvPr/>
        </p:nvSpPr>
        <p:spPr>
          <a:xfrm xmlns:a="http://schemas.openxmlformats.org/drawingml/2006/main">
            <a:off x="704850" y="37623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GROWTH / CAGR</a:t>
            </a:r>
          </a:p>
        </p:txBody>
      </p:sp>
      <p:sp>
        <p:nvSpPr>
          <p:cNvPr id="16" name="">
            <a:extLst xmlns:a="http://schemas.openxmlformats.org/drawingml/2006/main">
              <a:ext uri="{FF2B5EF4-FFF2-40B4-BE49-F238E27FC236}">
                <a16:creationId xmlns:a16="http://schemas.microsoft.com/office/drawing/2014/main" id="{1353D757-AE36-4EC2-B658-93DC138064EA}"/>
              </a:ext>
            </a:extLst>
          </p:cNvPr>
          <p:cNvSpPr>
            <a:spLocks xmlns:a="http://schemas.openxmlformats.org/drawingml/2006/main" noGrp="1"/>
          </p:cNvSpPr>
          <p:nvPr/>
        </p:nvSpPr>
        <p:spPr>
          <a:xfrm xmlns:a="http://schemas.openxmlformats.org/drawingml/2006/main">
            <a:off x="704850" y="40862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NOT ESTIMATED</a:t>
            </a:r>
          </a:p>
        </p:txBody>
      </p:sp>
      <p:sp>
        <p:nvSpPr>
          <p:cNvPr id="17" name="">
            <a:extLst xmlns:a="http://schemas.openxmlformats.org/drawingml/2006/main">
              <a:ext uri="{FF2B5EF4-FFF2-40B4-BE49-F238E27FC236}">
                <a16:creationId xmlns:a16="http://schemas.microsoft.com/office/drawing/2014/main" id="{1C5ACD6D-1C21-44B2-BC8B-E1BEDD8FDB98}"/>
              </a:ext>
            </a:extLst>
          </p:cNvPr>
          <p:cNvSpPr>
            <a:spLocks xmlns:a="http://schemas.openxmlformats.org/drawingml/2006/main" noGrp="1"/>
          </p:cNvSpPr>
          <p:nvPr/>
        </p:nvSpPr>
        <p:spPr>
          <a:xfrm xmlns:a="http://schemas.openxmlformats.org/drawingml/2006/main">
            <a:off x="3048000" y="37528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 metro, and railway volumes show exposure to complex locations. They are planning proxies, not a comparable feature-market time series.</a:t>
            </a:r>
          </a:p>
        </p:txBody>
      </p:sp>
      <p:sp>
        <p:nvSpPr>
          <p:cNvPr id="18" name="">
            <a:extLst xmlns:a="http://schemas.openxmlformats.org/drawingml/2006/main">
              <a:ext uri="{FF2B5EF4-FFF2-40B4-BE49-F238E27FC236}">
                <a16:creationId xmlns:a16="http://schemas.microsoft.com/office/drawing/2014/main" id="{5E527759-48DE-4F35-AA94-60290B57E22B}"/>
              </a:ext>
            </a:extLst>
          </p:cNvPr>
          <p:cNvSpPr>
            <a:spLocks xmlns:a="http://schemas.openxmlformats.org/drawingml/2006/main" noGrp="1"/>
          </p:cNvSpPr>
          <p:nvPr/>
        </p:nvSpPr>
        <p:spPr>
          <a:xfrm xmlns:a="http://schemas.openxmlformats.org/drawingml/2006/main">
            <a:off x="8667750" y="37528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No defensible CAGR can be calculated.</a:t>
            </a:r>
          </a:p>
        </p:txBody>
      </p:sp>
      <p:sp>
        <p:nvSpPr>
          <p:cNvPr id="19" name="">
            <a:extLst xmlns:a="http://schemas.openxmlformats.org/drawingml/2006/main">
              <a:ext uri="{FF2B5EF4-FFF2-40B4-BE49-F238E27FC236}">
                <a16:creationId xmlns:a16="http://schemas.microsoft.com/office/drawing/2014/main" id="{CDA82255-9C93-4180-AF3B-16B24F66DDBA}"/>
              </a:ext>
            </a:extLst>
          </p:cNvPr>
          <p:cNvSpPr>
            <a:spLocks xmlns:a="http://schemas.openxmlformats.org/drawingml/2006/main" noGrp="1"/>
          </p:cNvSpPr>
          <p:nvPr/>
        </p:nvSpPr>
        <p:spPr>
          <a:xfrm xmlns:a="http://schemas.openxmlformats.org/drawingml/2006/main">
            <a:off x="514350" y="4629150"/>
            <a:ext cx="10439400" cy="838200"/>
          </a:xfrm>
          <a:prstGeom xmlns:a="http://schemas.openxmlformats.org/drawingml/2006/main" prst="roundRect">
            <a:avLst>
              <a:gd name="adj" fmla="val 4545"/>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E6401E48-07A6-420F-A1D1-29CC0B601A6E}"/>
              </a:ext>
            </a:extLst>
          </p:cNvPr>
          <p:cNvSpPr>
            <a:spLocks xmlns:a="http://schemas.openxmlformats.org/drawingml/2006/main" noGrp="1"/>
          </p:cNvSpPr>
          <p:nvPr/>
        </p:nvSpPr>
        <p:spPr>
          <a:xfrm xmlns:a="http://schemas.openxmlformats.org/drawingml/2006/main">
            <a:off x="704850" y="4752975"/>
            <a:ext cx="2171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172"/>
          </a:bodyPr>
          <a:lstStyle xmlns:a="http://schemas.openxmlformats.org/drawingml/2006/main"/>
          <a:p xmlns:a="http://schemas.openxmlformats.org/drawingml/2006/main">
            <a:pPr algn="l">
              <a:defRPr sz="1200" b="1" i="0">
                <a:solidFill>
                  <a:srgbClr val="1B2B45"/>
                </a:solidFill>
                <a:latin typeface="Calibri"/>
                <a:ea typeface="Calibri"/>
                <a:cs typeface="Calibri"/>
              </a:defRPr>
            </a:pPr>
            <a:r>
              <a:rPr sz="1200" b="1" i="0">
                <a:solidFill>
                  <a:srgbClr val="1B2B45"/>
                </a:solidFill>
                <a:latin typeface="Calibri"/>
                <a:ea typeface="Calibri"/>
                <a:cs typeface="Calibri"/>
              </a:rPr>
              <a:t>COMPETITION / WTP / SATURATION</a:t>
            </a:r>
          </a:p>
        </p:txBody>
      </p:sp>
      <p:sp>
        <p:nvSpPr>
          <p:cNvPr id="21" name="">
            <a:extLst xmlns:a="http://schemas.openxmlformats.org/drawingml/2006/main">
              <a:ext uri="{FF2B5EF4-FFF2-40B4-BE49-F238E27FC236}">
                <a16:creationId xmlns:a16="http://schemas.microsoft.com/office/drawing/2014/main" id="{939AF8C5-8578-4D9A-8BFC-BDB0F6454042}"/>
              </a:ext>
            </a:extLst>
          </p:cNvPr>
          <p:cNvSpPr>
            <a:spLocks xmlns:a="http://schemas.openxmlformats.org/drawingml/2006/main" noGrp="1"/>
          </p:cNvSpPr>
          <p:nvPr/>
        </p:nvSpPr>
        <p:spPr>
          <a:xfrm xmlns:a="http://schemas.openxmlformats.org/drawingml/2006/main">
            <a:off x="704850" y="5076825"/>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744"/>
          </a:bodyPr>
          <a:lstStyle xmlns:a="http://schemas.openxmlformats.org/drawingml/2006/main"/>
          <a:p xmlns:a="http://schemas.openxmlformats.org/drawingml/2006/main">
            <a:pPr algn="l">
              <a:defRPr sz="975" b="1" i="0">
                <a:solidFill>
                  <a:srgbClr val="687489"/>
                </a:solidFill>
                <a:latin typeface="Calibri"/>
                <a:ea typeface="Calibri"/>
                <a:cs typeface="Calibri"/>
              </a:defRPr>
            </a:pPr>
            <a:r>
              <a:rPr sz="975" b="1" i="0">
                <a:solidFill>
                  <a:srgbClr val="687489"/>
                </a:solidFill>
                <a:latin typeface="Calibri"/>
                <a:ea typeface="Calibri"/>
                <a:cs typeface="Calibri"/>
              </a:rPr>
              <a:t>MIXED</a:t>
            </a:r>
          </a:p>
        </p:txBody>
      </p:sp>
      <p:sp>
        <p:nvSpPr>
          <p:cNvPr id="22" name="">
            <a:extLst xmlns:a="http://schemas.openxmlformats.org/drawingml/2006/main">
              <a:ext uri="{FF2B5EF4-FFF2-40B4-BE49-F238E27FC236}">
                <a16:creationId xmlns:a16="http://schemas.microsoft.com/office/drawing/2014/main" id="{ADEDB80E-D6FB-4CF2-ACE7-5530982A1A6F}"/>
              </a:ext>
            </a:extLst>
          </p:cNvPr>
          <p:cNvSpPr>
            <a:spLocks xmlns:a="http://schemas.openxmlformats.org/drawingml/2006/main" noGrp="1"/>
          </p:cNvSpPr>
          <p:nvPr/>
        </p:nvSpPr>
        <p:spPr>
          <a:xfrm xmlns:a="http://schemas.openxmlformats.org/drawingml/2006/main">
            <a:off x="3048000" y="47434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Competitor patterns and alternatives are documented. Willingness to pay and market saturation were not studied.</a:t>
            </a:r>
          </a:p>
        </p:txBody>
      </p:sp>
      <p:sp>
        <p:nvSpPr>
          <p:cNvPr id="23" name="">
            <a:extLst xmlns:a="http://schemas.openxmlformats.org/drawingml/2006/main">
              <a:ext uri="{FF2B5EF4-FFF2-40B4-BE49-F238E27FC236}">
                <a16:creationId xmlns:a16="http://schemas.microsoft.com/office/drawing/2014/main" id="{06046E1B-8B88-4DFE-8B19-D97B0DE3B42B}"/>
              </a:ext>
            </a:extLst>
          </p:cNvPr>
          <p:cNvSpPr>
            <a:spLocks xmlns:a="http://schemas.openxmlformats.org/drawingml/2006/main" noGrp="1"/>
          </p:cNvSpPr>
          <p:nvPr/>
        </p:nvSpPr>
        <p:spPr>
          <a:xfrm xmlns:a="http://schemas.openxmlformats.org/drawingml/2006/main">
            <a:off x="8667750" y="474345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125" b="1" i="0">
                <a:solidFill>
                  <a:srgbClr val="687489"/>
                </a:solidFill>
                <a:latin typeface="Calibri"/>
                <a:ea typeface="Calibri"/>
                <a:cs typeface="Calibri"/>
              </a:defRPr>
            </a:pPr>
            <a:r>
              <a:rPr sz="1125" b="1" i="0">
                <a:solidFill>
                  <a:srgbClr val="687489"/>
                </a:solidFill>
                <a:latin typeface="Calibri"/>
                <a:ea typeface="Calibri"/>
                <a:cs typeface="Calibri"/>
              </a:rPr>
              <a:t>They do not block a small reliability test.</a:t>
            </a:r>
          </a:p>
        </p:txBody>
      </p:sp>
      <p:sp>
        <p:nvSpPr>
          <p:cNvPr id="24" name="">
            <a:extLst xmlns:a="http://schemas.openxmlformats.org/drawingml/2006/main">
              <a:ext uri="{FF2B5EF4-FFF2-40B4-BE49-F238E27FC236}">
                <a16:creationId xmlns:a16="http://schemas.microsoft.com/office/drawing/2014/main" id="{1C1F8932-629C-4CDB-B4E1-A34D2E4FACB0}"/>
              </a:ext>
            </a:extLst>
          </p:cNvPr>
          <p:cNvSpPr>
            <a:spLocks xmlns:a="http://schemas.openxmlformats.org/drawingml/2006/main" noGrp="1"/>
          </p:cNvSpPr>
          <p:nvPr/>
        </p:nvSpPr>
        <p:spPr>
          <a:xfrm xmlns:a="http://schemas.openxmlformats.org/drawingml/2006/main">
            <a:off x="514350" y="5753100"/>
            <a:ext cx="10439400" cy="495300"/>
          </a:xfrm>
          <a:prstGeom xmlns:a="http://schemas.openxmlformats.org/drawingml/2006/main" prst="roundRect">
            <a:avLst>
              <a:gd name="adj" fmla="val 7692"/>
            </a:avLst>
          </a:prstGeom>
          <a:solidFill xmlns:a="http://schemas.openxmlformats.org/drawingml/2006/main">
            <a:srgbClr val="FBE7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44EFA03-D142-4B24-930D-D15396757CE0}"/>
              </a:ext>
            </a:extLst>
          </p:cNvPr>
          <p:cNvSpPr>
            <a:spLocks xmlns:a="http://schemas.openxmlformats.org/drawingml/2006/main" noGrp="1"/>
          </p:cNvSpPr>
          <p:nvPr/>
        </p:nvSpPr>
        <p:spPr>
          <a:xfrm xmlns:a="http://schemas.openxmlformats.org/drawingml/2006/main">
            <a:off x="704850" y="5848350"/>
            <a:ext cx="10058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Planning rule: use proxies to form a hypothesis, then test whether they predict real pickup difficulty.</a:t>
            </a:r>
          </a:p>
        </p:txBody>
      </p:sp>
      <p:sp>
        <p:nvSpPr>
          <p:cNvPr id="26" name="">
            <a:extLst xmlns:a="http://schemas.openxmlformats.org/drawingml/2006/main">
              <a:ext uri="{FF2B5EF4-FFF2-40B4-BE49-F238E27FC236}">
                <a16:creationId xmlns:a16="http://schemas.microsoft.com/office/drawing/2014/main" id="{D0936FAA-BD87-4246-85A7-8A2BB013E6D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27" name="">
            <a:extLst xmlns:a="http://schemas.openxmlformats.org/drawingml/2006/main">
              <a:ext uri="{FF2B5EF4-FFF2-40B4-BE49-F238E27FC236}">
                <a16:creationId xmlns:a16="http://schemas.microsoft.com/office/drawing/2014/main" id="{41E2D43D-59E1-47ED-A58C-451D8E4E59F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23</a:t>
            </a:r>
          </a:p>
        </p:txBody>
      </p:sp>
    </p:spTree>
    <p:extLst>
      <p:ext uri="{BB962C8B-B14F-4D97-AF65-F5344CB8AC3E}">
        <p14:creationId xmlns:p14="http://schemas.microsoft.com/office/powerpoint/2010/main" val="609496856"/>
      </p:ext>
    </p:extLst>
  </p:cSld>
</p:sld>
</file>

<file path=ppt/slides/slide2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959BD2B-B807-485D-8795-EE98D57DAB5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EXPERIMENT DESIGN</a:t>
            </a:r>
          </a:p>
        </p:txBody>
      </p:sp>
      <p:sp>
        <p:nvSpPr>
          <p:cNvPr id="2" name="">
            <a:extLst xmlns:a="http://schemas.openxmlformats.org/drawingml/2006/main">
              <a:ext uri="{FF2B5EF4-FFF2-40B4-BE49-F238E27FC236}">
                <a16:creationId xmlns:a16="http://schemas.microsoft.com/office/drawing/2014/main" id="{301F8C22-6C42-4259-859C-34E9E9FFEC4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Experiment readiness and signals</a:t>
            </a:r>
          </a:p>
        </p:txBody>
      </p:sp>
      <p:sp>
        <p:nvSpPr>
          <p:cNvPr id="3" name="">
            <a:extLst xmlns:a="http://schemas.openxmlformats.org/drawingml/2006/main">
              <a:ext uri="{FF2B5EF4-FFF2-40B4-BE49-F238E27FC236}">
                <a16:creationId xmlns:a16="http://schemas.microsoft.com/office/drawing/2014/main" id="{A4C2C14B-16F2-4BEF-AAB5-0437F9979305}"/>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The first test needs a measurement plan before it needs a large build.</a:t>
            </a:r>
          </a:p>
        </p:txBody>
      </p:sp>
      <p:sp>
        <p:nvSpPr>
          <p:cNvPr id="4" name="">
            <a:extLst xmlns:a="http://schemas.openxmlformats.org/drawingml/2006/main">
              <a:ext uri="{FF2B5EF4-FFF2-40B4-BE49-F238E27FC236}">
                <a16:creationId xmlns:a16="http://schemas.microsoft.com/office/drawing/2014/main" id="{7F5A354E-4DB4-4B10-8AE3-C1CE24BD32A4}"/>
              </a:ext>
            </a:extLst>
          </p:cNvPr>
          <p:cNvSpPr>
            <a:spLocks xmlns:a="http://schemas.openxmlformats.org/drawingml/2006/main" noGrp="1"/>
          </p:cNvSpPr>
          <p:nvPr/>
        </p:nvSpPr>
        <p:spPr>
          <a:xfrm xmlns:a="http://schemas.openxmlformats.org/drawingml/2006/main">
            <a:off x="514350" y="1657350"/>
            <a:ext cx="4457700" cy="3638550"/>
          </a:xfrm>
          <a:prstGeom xmlns:a="http://schemas.openxmlformats.org/drawingml/2006/main" prst="roundRect">
            <a:avLst>
              <a:gd name="adj" fmla="val 1571"/>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B0239ACD-C9E3-4E15-9187-F295B9769460}"/>
              </a:ext>
            </a:extLst>
          </p:cNvPr>
          <p:cNvSpPr>
            <a:spLocks xmlns:a="http://schemas.openxmlformats.org/drawingml/2006/main" noGrp="1"/>
          </p:cNvSpPr>
          <p:nvPr/>
        </p:nvSpPr>
        <p:spPr>
          <a:xfrm xmlns:a="http://schemas.openxmlformats.org/drawingml/2006/main">
            <a:off x="742950" y="18288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TEST READINESS</a:t>
            </a:r>
          </a:p>
        </p:txBody>
      </p:sp>
      <p:sp>
        <p:nvSpPr>
          <p:cNvPr id="6" name="">
            <a:extLst xmlns:a="http://schemas.openxmlformats.org/drawingml/2006/main">
              <a:ext uri="{FF2B5EF4-FFF2-40B4-BE49-F238E27FC236}">
                <a16:creationId xmlns:a16="http://schemas.microsoft.com/office/drawing/2014/main" id="{0C28D1DD-926D-4152-A7B3-C7FE3AFD6991}"/>
              </a:ext>
            </a:extLst>
          </p:cNvPr>
          <p:cNvSpPr>
            <a:spLocks xmlns:a="http://schemas.openxmlformats.org/drawingml/2006/main" noGrp="1"/>
          </p:cNvSpPr>
          <p:nvPr/>
        </p:nvSpPr>
        <p:spPr>
          <a:xfrm xmlns:a="http://schemas.openxmlformats.org/drawingml/2006/main">
            <a:off x="742950" y="22860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A/B SAMPLE SIZE</a:t>
            </a:r>
          </a:p>
        </p:txBody>
      </p:sp>
      <p:sp>
        <p:nvSpPr>
          <p:cNvPr id="7" name="">
            <a:extLst xmlns:a="http://schemas.openxmlformats.org/drawingml/2006/main">
              <a:ext uri="{FF2B5EF4-FFF2-40B4-BE49-F238E27FC236}">
                <a16:creationId xmlns:a16="http://schemas.microsoft.com/office/drawing/2014/main" id="{67A795AA-DE84-4E76-8F34-4F0CE093AD45}"/>
              </a:ext>
            </a:extLst>
          </p:cNvPr>
          <p:cNvSpPr>
            <a:spLocks xmlns:a="http://schemas.openxmlformats.org/drawingml/2006/main" noGrp="1"/>
          </p:cNvSpPr>
          <p:nvPr/>
        </p:nvSpPr>
        <p:spPr>
          <a:xfrm xmlns:a="http://schemas.openxmlformats.org/drawingml/2006/main">
            <a:off x="742950" y="2571750"/>
            <a:ext cx="3962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Calculate N only after choosing the primary metric, baseline rate or variance, minimum detectable effect, confidence, power, and eligible traffic.</a:t>
            </a:r>
          </a:p>
        </p:txBody>
      </p:sp>
      <p:sp>
        <p:nvSpPr>
          <p:cNvPr id="8" name="">
            <a:extLst xmlns:a="http://schemas.openxmlformats.org/drawingml/2006/main">
              <a:ext uri="{FF2B5EF4-FFF2-40B4-BE49-F238E27FC236}">
                <a16:creationId xmlns:a16="http://schemas.microsoft.com/office/drawing/2014/main" id="{C0D8DB1D-FA8A-4D75-BA8D-E20199F966A6}"/>
              </a:ext>
            </a:extLst>
          </p:cNvPr>
          <p:cNvSpPr>
            <a:spLocks xmlns:a="http://schemas.openxmlformats.org/drawingml/2006/main" noGrp="1"/>
          </p:cNvSpPr>
          <p:nvPr/>
        </p:nvSpPr>
        <p:spPr>
          <a:xfrm xmlns:a="http://schemas.openxmlformats.org/drawingml/2006/main">
            <a:off x="742950" y="3476625"/>
            <a:ext cx="396240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93E545B-DE29-49B0-B4F5-9034ACCE1D14}"/>
              </a:ext>
            </a:extLst>
          </p:cNvPr>
          <p:cNvSpPr>
            <a:spLocks xmlns:a="http://schemas.openxmlformats.org/drawingml/2006/main" noGrp="1"/>
          </p:cNvSpPr>
          <p:nvPr/>
        </p:nvSpPr>
        <p:spPr>
          <a:xfrm xmlns:a="http://schemas.openxmlformats.org/drawingml/2006/main">
            <a:off x="742950" y="36576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MVP RULE</a:t>
            </a:r>
          </a:p>
        </p:txBody>
      </p:sp>
      <p:sp>
        <p:nvSpPr>
          <p:cNvPr id="10" name="">
            <a:extLst xmlns:a="http://schemas.openxmlformats.org/drawingml/2006/main">
              <a:ext uri="{FF2B5EF4-FFF2-40B4-BE49-F238E27FC236}">
                <a16:creationId xmlns:a16="http://schemas.microsoft.com/office/drawing/2014/main" id="{75607CB1-7AD6-48FF-9678-EDE790BA101D}"/>
              </a:ext>
            </a:extLst>
          </p:cNvPr>
          <p:cNvSpPr>
            <a:spLocks xmlns:a="http://schemas.openxmlformats.org/drawingml/2006/main" noGrp="1"/>
          </p:cNvSpPr>
          <p:nvPr/>
        </p:nvSpPr>
        <p:spPr>
          <a:xfrm xmlns:a="http://schemas.openxmlformats.org/drawingml/2006/main">
            <a:off x="742950" y="3943350"/>
            <a:ext cx="3962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1385"/>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Test the P0 meeting note first. Add recovery or venue operations only if behavior and pickup outcomes improve.</a:t>
            </a:r>
          </a:p>
        </p:txBody>
      </p:sp>
      <p:sp>
        <p:nvSpPr>
          <p:cNvPr id="11" name="">
            <a:extLst xmlns:a="http://schemas.openxmlformats.org/drawingml/2006/main">
              <a:ext uri="{FF2B5EF4-FFF2-40B4-BE49-F238E27FC236}">
                <a16:creationId xmlns:a16="http://schemas.microsoft.com/office/drawing/2014/main" id="{47392095-F6A1-45EB-9B28-D086EEEA9ED7}"/>
              </a:ext>
            </a:extLst>
          </p:cNvPr>
          <p:cNvSpPr>
            <a:spLocks xmlns:a="http://schemas.openxmlformats.org/drawingml/2006/main" noGrp="1"/>
          </p:cNvSpPr>
          <p:nvPr/>
        </p:nvSpPr>
        <p:spPr>
          <a:xfrm xmlns:a="http://schemas.openxmlformats.org/drawingml/2006/main">
            <a:off x="742950" y="4648200"/>
            <a:ext cx="3962400" cy="9525"/>
          </a:xfrm>
          <a:prstGeom xmlns:a="http://schemas.openxmlformats.org/drawingml/2006/main" prst="rect">
            <a:avLst/>
          </a:prstGeom>
          <a:solidFill xmlns:a="http://schemas.openxmlformats.org/drawingml/2006/main">
            <a:srgbClr val="E8ECF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25A742-1352-4F97-8516-8352E2E131D2}"/>
              </a:ext>
            </a:extLst>
          </p:cNvPr>
          <p:cNvSpPr>
            <a:spLocks xmlns:a="http://schemas.openxmlformats.org/drawingml/2006/main" noGrp="1"/>
          </p:cNvSpPr>
          <p:nvPr/>
        </p:nvSpPr>
        <p:spPr>
          <a:xfrm xmlns:a="http://schemas.openxmlformats.org/drawingml/2006/main">
            <a:off x="742950" y="481012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1B2B45"/>
                </a:solidFill>
                <a:latin typeface="Calibri"/>
                <a:ea typeface="Calibri"/>
                <a:cs typeface="Calibri"/>
              </a:defRPr>
            </a:pPr>
            <a:r>
              <a:rPr sz="1125" b="1" i="0">
                <a:solidFill>
                  <a:srgbClr val="1B2B45"/>
                </a:solidFill>
                <a:latin typeface="Calibri"/>
                <a:ea typeface="Calibri"/>
                <a:cs typeface="Calibri"/>
              </a:rPr>
              <a:t>ADOPTION BLOCKER</a:t>
            </a:r>
          </a:p>
        </p:txBody>
      </p:sp>
      <p:sp>
        <p:nvSpPr>
          <p:cNvPr id="13" name="">
            <a:extLst xmlns:a="http://schemas.openxmlformats.org/drawingml/2006/main">
              <a:ext uri="{FF2B5EF4-FFF2-40B4-BE49-F238E27FC236}">
                <a16:creationId xmlns:a16="http://schemas.microsoft.com/office/drawing/2014/main" id="{7CC72C10-684B-4546-AB46-8C05B7BA2CDF}"/>
              </a:ext>
            </a:extLst>
          </p:cNvPr>
          <p:cNvSpPr>
            <a:spLocks xmlns:a="http://schemas.openxmlformats.org/drawingml/2006/main" noGrp="1"/>
          </p:cNvSpPr>
          <p:nvPr/>
        </p:nvSpPr>
        <p:spPr>
          <a:xfrm xmlns:a="http://schemas.openxmlformats.org/drawingml/2006/main">
            <a:off x="2495550" y="4772025"/>
            <a:ext cx="220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67284"/>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Driver burden, false triggers, or compensation concerns can block a two-sided rollout.</a:t>
            </a:r>
          </a:p>
        </p:txBody>
      </p:sp>
      <p:sp>
        <p:nvSpPr>
          <p:cNvPr id="14" name="">
            <a:extLst xmlns:a="http://schemas.openxmlformats.org/drawingml/2006/main">
              <a:ext uri="{FF2B5EF4-FFF2-40B4-BE49-F238E27FC236}">
                <a16:creationId xmlns:a16="http://schemas.microsoft.com/office/drawing/2014/main" id="{DF18550F-50CE-4CA8-84CB-9F6F9C4CBA3B}"/>
              </a:ext>
            </a:extLst>
          </p:cNvPr>
          <p:cNvSpPr>
            <a:spLocks xmlns:a="http://schemas.openxmlformats.org/drawingml/2006/main" noGrp="1"/>
          </p:cNvSpPr>
          <p:nvPr/>
        </p:nvSpPr>
        <p:spPr>
          <a:xfrm xmlns:a="http://schemas.openxmlformats.org/drawingml/2006/main">
            <a:off x="5276850" y="1657350"/>
            <a:ext cx="5676900" cy="3638550"/>
          </a:xfrm>
          <a:prstGeom xmlns:a="http://schemas.openxmlformats.org/drawingml/2006/main" prst="roundRect">
            <a:avLst>
              <a:gd name="adj" fmla="val 1571"/>
            </a:avLst>
          </a:prstGeom>
          <a:solidFill xmlns:a="http://schemas.openxmlformats.org/drawingml/2006/main">
            <a:srgbClr val="E2F4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3DCFE6F-9545-40FE-863B-720165A5489A}"/>
              </a:ext>
            </a:extLst>
          </p:cNvPr>
          <p:cNvSpPr>
            <a:spLocks xmlns:a="http://schemas.openxmlformats.org/drawingml/2006/main" noGrp="1"/>
          </p:cNvSpPr>
          <p:nvPr/>
        </p:nvSpPr>
        <p:spPr>
          <a:xfrm xmlns:a="http://schemas.openxmlformats.org/drawingml/2006/main">
            <a:off x="5505450" y="182880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SIGNALS TO WATCH</a:t>
            </a:r>
          </a:p>
        </p:txBody>
      </p:sp>
      <p:sp>
        <p:nvSpPr>
          <p:cNvPr id="16" name="">
            <a:extLst xmlns:a="http://schemas.openxmlformats.org/drawingml/2006/main">
              <a:ext uri="{FF2B5EF4-FFF2-40B4-BE49-F238E27FC236}">
                <a16:creationId xmlns:a16="http://schemas.microsoft.com/office/drawing/2014/main" id="{551EE2E8-9B28-4115-A1AE-4527EB7D9DB8}"/>
              </a:ext>
            </a:extLst>
          </p:cNvPr>
          <p:cNvSpPr>
            <a:spLocks xmlns:a="http://schemas.openxmlformats.org/drawingml/2006/main" noGrp="1"/>
          </p:cNvSpPr>
          <p:nvPr/>
        </p:nvSpPr>
        <p:spPr>
          <a:xfrm xmlns:a="http://schemas.openxmlformats.org/drawingml/2006/main">
            <a:off x="5505450" y="22669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DEMAND</a:t>
            </a:r>
          </a:p>
        </p:txBody>
      </p:sp>
      <p:sp>
        <p:nvSpPr>
          <p:cNvPr id="17" name="">
            <a:extLst xmlns:a="http://schemas.openxmlformats.org/drawingml/2006/main">
              <a:ext uri="{FF2B5EF4-FFF2-40B4-BE49-F238E27FC236}">
                <a16:creationId xmlns:a16="http://schemas.microsoft.com/office/drawing/2014/main" id="{12E1CB97-B372-4FF4-A37A-C5084D60FB43}"/>
              </a:ext>
            </a:extLst>
          </p:cNvPr>
          <p:cNvSpPr>
            <a:spLocks xmlns:a="http://schemas.openxmlformats.org/drawingml/2006/main" noGrp="1"/>
          </p:cNvSpPr>
          <p:nvPr/>
        </p:nvSpPr>
        <p:spPr>
          <a:xfrm xmlns:a="http://schemas.openxmlformats.org/drawingml/2006/main">
            <a:off x="7029450" y="22479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4116"/>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Eligible complex pickups and measured issue incidence</a:t>
            </a:r>
          </a:p>
        </p:txBody>
      </p:sp>
      <p:sp>
        <p:nvSpPr>
          <p:cNvPr id="18" name="">
            <a:extLst xmlns:a="http://schemas.openxmlformats.org/drawingml/2006/main">
              <a:ext uri="{FF2B5EF4-FFF2-40B4-BE49-F238E27FC236}">
                <a16:creationId xmlns:a16="http://schemas.microsoft.com/office/drawing/2014/main" id="{47A0B1DC-F769-449D-B47C-E9B887071AE6}"/>
              </a:ext>
            </a:extLst>
          </p:cNvPr>
          <p:cNvSpPr>
            <a:spLocks xmlns:a="http://schemas.openxmlformats.org/drawingml/2006/main" noGrp="1"/>
          </p:cNvSpPr>
          <p:nvPr/>
        </p:nvSpPr>
        <p:spPr>
          <a:xfrm xmlns:a="http://schemas.openxmlformats.org/drawingml/2006/main">
            <a:off x="5505450" y="266700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B2A6B5F-B4C9-4E82-A23F-DF24F64E8683}"/>
              </a:ext>
            </a:extLst>
          </p:cNvPr>
          <p:cNvSpPr>
            <a:spLocks xmlns:a="http://schemas.openxmlformats.org/drawingml/2006/main" noGrp="1"/>
          </p:cNvSpPr>
          <p:nvPr/>
        </p:nvSpPr>
        <p:spPr>
          <a:xfrm xmlns:a="http://schemas.openxmlformats.org/drawingml/2006/main">
            <a:off x="5505450" y="281940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DISCOVERABILITY</a:t>
            </a:r>
          </a:p>
        </p:txBody>
      </p:sp>
      <p:sp>
        <p:nvSpPr>
          <p:cNvPr id="20" name="">
            <a:extLst xmlns:a="http://schemas.openxmlformats.org/drawingml/2006/main">
              <a:ext uri="{FF2B5EF4-FFF2-40B4-BE49-F238E27FC236}">
                <a16:creationId xmlns:a16="http://schemas.microsoft.com/office/drawing/2014/main" id="{6FF53DBA-E55F-4EFC-88A5-625C685F4C4A}"/>
              </a:ext>
            </a:extLst>
          </p:cNvPr>
          <p:cNvSpPr>
            <a:spLocks xmlns:a="http://schemas.openxmlformats.org/drawingml/2006/main" noGrp="1"/>
          </p:cNvSpPr>
          <p:nvPr/>
        </p:nvSpPr>
        <p:spPr>
          <a:xfrm xmlns:a="http://schemas.openxmlformats.org/drawingml/2006/main">
            <a:off x="7029450" y="280035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Prompt exposure, opening, and completion</a:t>
            </a:r>
          </a:p>
        </p:txBody>
      </p:sp>
      <p:sp>
        <p:nvSpPr>
          <p:cNvPr id="21" name="">
            <a:extLst xmlns:a="http://schemas.openxmlformats.org/drawingml/2006/main">
              <a:ext uri="{FF2B5EF4-FFF2-40B4-BE49-F238E27FC236}">
                <a16:creationId xmlns:a16="http://schemas.microsoft.com/office/drawing/2014/main" id="{958E5111-B2CA-43FC-899D-C5DD8E619D1A}"/>
              </a:ext>
            </a:extLst>
          </p:cNvPr>
          <p:cNvSpPr>
            <a:spLocks xmlns:a="http://schemas.openxmlformats.org/drawingml/2006/main" noGrp="1"/>
          </p:cNvSpPr>
          <p:nvPr/>
        </p:nvSpPr>
        <p:spPr>
          <a:xfrm xmlns:a="http://schemas.openxmlformats.org/drawingml/2006/main">
            <a:off x="5505450" y="321945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95AF87C-6213-43FB-9636-AF99CFDDB5DB}"/>
              </a:ext>
            </a:extLst>
          </p:cNvPr>
          <p:cNvSpPr>
            <a:spLocks xmlns:a="http://schemas.openxmlformats.org/drawingml/2006/main" noGrp="1"/>
          </p:cNvSpPr>
          <p:nvPr/>
        </p:nvSpPr>
        <p:spPr>
          <a:xfrm xmlns:a="http://schemas.openxmlformats.org/drawingml/2006/main">
            <a:off x="5505450" y="33718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OUTCOME</a:t>
            </a:r>
          </a:p>
        </p:txBody>
      </p:sp>
      <p:sp>
        <p:nvSpPr>
          <p:cNvPr id="23" name="">
            <a:extLst xmlns:a="http://schemas.openxmlformats.org/drawingml/2006/main">
              <a:ext uri="{FF2B5EF4-FFF2-40B4-BE49-F238E27FC236}">
                <a16:creationId xmlns:a16="http://schemas.microsoft.com/office/drawing/2014/main" id="{3BD19F33-00C0-4F3F-9D61-5ABC861AD9EE}"/>
              </a:ext>
            </a:extLst>
          </p:cNvPr>
          <p:cNvSpPr>
            <a:spLocks xmlns:a="http://schemas.openxmlformats.org/drawingml/2006/main" noGrp="1"/>
          </p:cNvSpPr>
          <p:nvPr/>
        </p:nvSpPr>
        <p:spPr>
          <a:xfrm xmlns:a="http://schemas.openxmlformats.org/drawingml/2006/main">
            <a:off x="7029450" y="33528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Calls or messages, arrived-to-start time, location changes, cancellations</a:t>
            </a:r>
          </a:p>
        </p:txBody>
      </p:sp>
      <p:sp>
        <p:nvSpPr>
          <p:cNvPr id="24" name="">
            <a:extLst xmlns:a="http://schemas.openxmlformats.org/drawingml/2006/main">
              <a:ext uri="{FF2B5EF4-FFF2-40B4-BE49-F238E27FC236}">
                <a16:creationId xmlns:a16="http://schemas.microsoft.com/office/drawing/2014/main" id="{30B0F67A-F699-4265-AA07-E62097F702DC}"/>
              </a:ext>
            </a:extLst>
          </p:cNvPr>
          <p:cNvSpPr>
            <a:spLocks xmlns:a="http://schemas.openxmlformats.org/drawingml/2006/main" noGrp="1"/>
          </p:cNvSpPr>
          <p:nvPr/>
        </p:nvSpPr>
        <p:spPr>
          <a:xfrm xmlns:a="http://schemas.openxmlformats.org/drawingml/2006/main">
            <a:off x="5505450" y="377190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1E16B90-5E91-40E6-B354-695EA3122AF1}"/>
              </a:ext>
            </a:extLst>
          </p:cNvPr>
          <p:cNvSpPr>
            <a:spLocks xmlns:a="http://schemas.openxmlformats.org/drawingml/2006/main" noGrp="1"/>
          </p:cNvSpPr>
          <p:nvPr/>
        </p:nvSpPr>
        <p:spPr>
          <a:xfrm xmlns:a="http://schemas.openxmlformats.org/drawingml/2006/main">
            <a:off x="5505450" y="392430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RETENTION</a:t>
            </a:r>
          </a:p>
        </p:txBody>
      </p:sp>
      <p:sp>
        <p:nvSpPr>
          <p:cNvPr id="26" name="">
            <a:extLst xmlns:a="http://schemas.openxmlformats.org/drawingml/2006/main">
              <a:ext uri="{FF2B5EF4-FFF2-40B4-BE49-F238E27FC236}">
                <a16:creationId xmlns:a16="http://schemas.microsoft.com/office/drawing/2014/main" id="{8281E158-BD38-4553-A237-2CA2590CA8EF}"/>
              </a:ext>
            </a:extLst>
          </p:cNvPr>
          <p:cNvSpPr>
            <a:spLocks xmlns:a="http://schemas.openxmlformats.org/drawingml/2006/main" noGrp="1"/>
          </p:cNvSpPr>
          <p:nvPr/>
        </p:nvSpPr>
        <p:spPr>
          <a:xfrm xmlns:a="http://schemas.openxmlformats.org/drawingml/2006/main">
            <a:off x="7029450" y="390525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Repeat use among eligible riders after the first useful experience</a:t>
            </a:r>
          </a:p>
        </p:txBody>
      </p:sp>
      <p:sp>
        <p:nvSpPr>
          <p:cNvPr id="27" name="">
            <a:extLst xmlns:a="http://schemas.openxmlformats.org/drawingml/2006/main">
              <a:ext uri="{FF2B5EF4-FFF2-40B4-BE49-F238E27FC236}">
                <a16:creationId xmlns:a16="http://schemas.microsoft.com/office/drawing/2014/main" id="{F61B354B-39EE-4292-8B88-2C4D4F90114B}"/>
              </a:ext>
            </a:extLst>
          </p:cNvPr>
          <p:cNvSpPr>
            <a:spLocks xmlns:a="http://schemas.openxmlformats.org/drawingml/2006/main" noGrp="1"/>
          </p:cNvSpPr>
          <p:nvPr/>
        </p:nvSpPr>
        <p:spPr>
          <a:xfrm xmlns:a="http://schemas.openxmlformats.org/drawingml/2006/main">
            <a:off x="5505450" y="4324350"/>
            <a:ext cx="5219700" cy="9525"/>
          </a:xfrm>
          <a:prstGeom xmlns:a="http://schemas.openxmlformats.org/drawingml/2006/main" prst="rect">
            <a:avLst/>
          </a:prstGeom>
          <a:solidFill xmlns:a="http://schemas.openxmlformats.org/drawingml/2006/main">
            <a:srgbClr val="C9E7E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58BC2AE-CD29-43FB-AE81-B9741411E3F2}"/>
              </a:ext>
            </a:extLst>
          </p:cNvPr>
          <p:cNvSpPr>
            <a:spLocks xmlns:a="http://schemas.openxmlformats.org/drawingml/2006/main" noGrp="1"/>
          </p:cNvSpPr>
          <p:nvPr/>
        </p:nvSpPr>
        <p:spPr>
          <a:xfrm xmlns:a="http://schemas.openxmlformats.org/drawingml/2006/main">
            <a:off x="5505450" y="4476750"/>
            <a:ext cx="1485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050" b="1" i="0">
                <a:solidFill>
                  <a:srgbClr val="1B2B45"/>
                </a:solidFill>
                <a:latin typeface="Calibri"/>
                <a:ea typeface="Calibri"/>
                <a:cs typeface="Calibri"/>
              </a:defRPr>
            </a:pPr>
            <a:r>
              <a:rPr sz="1050" b="1" i="0">
                <a:solidFill>
                  <a:srgbClr val="1B2B45"/>
                </a:solidFill>
                <a:latin typeface="Calibri"/>
                <a:ea typeface="Calibri"/>
                <a:cs typeface="Calibri"/>
              </a:rPr>
              <a:t>COMPETITION</a:t>
            </a:r>
          </a:p>
        </p:txBody>
      </p:sp>
      <p:sp>
        <p:nvSpPr>
          <p:cNvPr id="29" name="">
            <a:extLst xmlns:a="http://schemas.openxmlformats.org/drawingml/2006/main">
              <a:ext uri="{FF2B5EF4-FFF2-40B4-BE49-F238E27FC236}">
                <a16:creationId xmlns:a16="http://schemas.microsoft.com/office/drawing/2014/main" id="{DD1C4BDE-24C0-44BC-96C8-4D0CC41D2A1C}"/>
              </a:ext>
            </a:extLst>
          </p:cNvPr>
          <p:cNvSpPr>
            <a:spLocks xmlns:a="http://schemas.openxmlformats.org/drawingml/2006/main" noGrp="1"/>
          </p:cNvSpPr>
          <p:nvPr/>
        </p:nvSpPr>
        <p:spPr>
          <a:xfrm xmlns:a="http://schemas.openxmlformats.org/drawingml/2006/main">
            <a:off x="7029450" y="4457700"/>
            <a:ext cx="3695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Changes in pickup-note, venue-guidance, and recovery patterns</a:t>
            </a:r>
          </a:p>
        </p:txBody>
      </p:sp>
      <p:sp>
        <p:nvSpPr>
          <p:cNvPr id="30" name="">
            <a:extLst xmlns:a="http://schemas.openxmlformats.org/drawingml/2006/main">
              <a:ext uri="{FF2B5EF4-FFF2-40B4-BE49-F238E27FC236}">
                <a16:creationId xmlns:a16="http://schemas.microsoft.com/office/drawing/2014/main" id="{05F14CA6-2E9F-45CF-B008-3094963CCD58}"/>
              </a:ext>
            </a:extLst>
          </p:cNvPr>
          <p:cNvSpPr>
            <a:spLocks xmlns:a="http://schemas.openxmlformats.org/drawingml/2006/main" noGrp="1"/>
          </p:cNvSpPr>
          <p:nvPr/>
        </p:nvSpPr>
        <p:spPr>
          <a:xfrm xmlns:a="http://schemas.openxmlformats.org/drawingml/2006/main">
            <a:off x="514350" y="5543550"/>
            <a:ext cx="10439400" cy="704850"/>
          </a:xfrm>
          <a:prstGeom xmlns:a="http://schemas.openxmlformats.org/drawingml/2006/main" prst="roundRect">
            <a:avLst>
              <a:gd name="adj" fmla="val 8108"/>
            </a:avLst>
          </a:prstGeom>
          <a:solidFill xmlns:a="http://schemas.openxmlformats.org/drawingml/2006/main">
            <a:srgbClr val="FBE7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01C7583-67E7-4868-A3EB-6B19D662FA1B}"/>
              </a:ext>
            </a:extLst>
          </p:cNvPr>
          <p:cNvSpPr>
            <a:spLocks xmlns:a="http://schemas.openxmlformats.org/drawingml/2006/main" noGrp="1"/>
          </p:cNvSpPr>
          <p:nvPr/>
        </p:nvSpPr>
        <p:spPr>
          <a:xfrm xmlns:a="http://schemas.openxmlformats.org/drawingml/2006/main">
            <a:off x="742950" y="56197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Pricing power is not an initial success measure for this reliability feature.</a:t>
            </a:r>
          </a:p>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First prove user value and marketplace safety.</a:t>
            </a:r>
          </a:p>
        </p:txBody>
      </p:sp>
      <p:sp>
        <p:nvSpPr>
          <p:cNvPr id="32" name="">
            <a:extLst xmlns:a="http://schemas.openxmlformats.org/drawingml/2006/main">
              <a:ext uri="{FF2B5EF4-FFF2-40B4-BE49-F238E27FC236}">
                <a16:creationId xmlns:a16="http://schemas.microsoft.com/office/drawing/2014/main" id="{E4DB9689-94B4-4C1B-9558-E2E93C937FB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3" name="">
            <a:extLst xmlns:a="http://schemas.openxmlformats.org/drawingml/2006/main">
              <a:ext uri="{FF2B5EF4-FFF2-40B4-BE49-F238E27FC236}">
                <a16:creationId xmlns:a16="http://schemas.microsoft.com/office/drawing/2014/main" id="{44D87D33-00BD-4098-BF94-9F6D06D9BA8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24</a:t>
            </a:r>
          </a:p>
        </p:txBody>
      </p:sp>
    </p:spTree>
    <p:extLst>
      <p:ext uri="{BB962C8B-B14F-4D97-AF65-F5344CB8AC3E}">
        <p14:creationId xmlns:p14="http://schemas.microsoft.com/office/powerpoint/2010/main" val="52971208"/>
      </p:ext>
    </p:extLst>
  </p:cSld>
</p:sld>
</file>

<file path=ppt/slides/slide2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BEB309-0568-46F9-B868-1A462E3781B2}"/>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D788AC1E-16FC-4158-A745-E1D8999C547D}"/>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69E022DA-4CE6-444A-B271-7276B5B841FE}"/>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CB4967BE-724C-4CF6-A49E-81CBE436F96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8171F331-72A8-4DCE-8168-E5CC74ED621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25</a:t>
            </a:r>
          </a:p>
        </p:txBody>
      </p:sp>
    </p:spTree>
    <p:extLst>
      <p:ext uri="{BB962C8B-B14F-4D97-AF65-F5344CB8AC3E}">
        <p14:creationId xmlns:p14="http://schemas.microsoft.com/office/powerpoint/2010/main" val="2024506814"/>
      </p:ext>
    </p:extLst>
  </p:cSld>
</p:sld>
</file>

<file path=ppt/slides/slide26.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0BCDD06-24CA-4793-8033-55A0DC6E9344}"/>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B46B23C8-3862-47E3-B128-570484803B17}"/>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A5780E14-3E13-4A5C-9EE5-9812E272884E}"/>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A6547EE8-3C1D-4F27-8901-2643AA6FBC6D}"/>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242F62FC-B05F-4880-80B7-2A283C8B62CF}"/>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837630E3-B3AA-4F6E-A024-F791A013F09F}"/>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837C50A-7DE2-47C0-84B4-8878DED3B9AA}"/>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DB7B4660-1A15-4F34-90E8-00705A3FD2F0}"/>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80576995-F20C-44A4-A762-66BED5B8D9B0}"/>
              </a:ext>
            </a:extLst>
          </p:cNvPr>
          <p:cNvSpPr>
            <a:spLocks xmlns:a="http://schemas.openxmlformats.org/drawingml/2006/main" noGrp="1"/>
          </p:cNvSpPr>
          <p:nvPr/>
        </p:nvSpPr>
        <p:spPr>
          <a:xfrm xmlns:a="http://schemas.openxmlformats.org/drawingml/2006/main">
            <a:off x="514350" y="3371850"/>
            <a:ext cx="104394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6C0CBE9-EBBD-4944-BA21-72A3C6E3ED71}"/>
              </a:ext>
            </a:extLst>
          </p:cNvPr>
          <p:cNvSpPr>
            <a:spLocks xmlns:a="http://schemas.openxmlformats.org/drawingml/2006/main" noGrp="1"/>
          </p:cNvSpPr>
          <p:nvPr/>
        </p:nvSpPr>
        <p:spPr>
          <a:xfrm xmlns:a="http://schemas.openxmlformats.org/drawingml/2006/main">
            <a:off x="666750" y="348615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2AA340DC-C326-4D31-A3B9-9886BB3A7B14}"/>
              </a:ext>
            </a:extLst>
          </p:cNvPr>
          <p:cNvSpPr>
            <a:spLocks xmlns:a="http://schemas.openxmlformats.org/drawingml/2006/main" noGrp="1"/>
          </p:cNvSpPr>
          <p:nvPr/>
        </p:nvSpPr>
        <p:spPr>
          <a:xfrm xmlns:a="http://schemas.openxmlformats.org/drawingml/2006/main">
            <a:off x="666750" y="3819525"/>
            <a:ext cx="10439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5" name="">
            <a:extLst xmlns:a="http://schemas.openxmlformats.org/drawingml/2006/main">
              <a:ext uri="{FF2B5EF4-FFF2-40B4-BE49-F238E27FC236}">
                <a16:creationId xmlns:a16="http://schemas.microsoft.com/office/drawing/2014/main" id="{0C4A03A0-3C86-4A62-8B80-C4B12B2EFC02}"/>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DBE7FDFE-5028-41D1-A116-0D0C5520E73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5AAD1879-5E43-4273-B800-CF532427F94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26</a:t>
            </a:r>
          </a:p>
        </p:txBody>
      </p:sp>
    </p:spTree>
    <p:extLst>
      <p:ext uri="{BB962C8B-B14F-4D97-AF65-F5344CB8AC3E}">
        <p14:creationId xmlns:p14="http://schemas.microsoft.com/office/powerpoint/2010/main" val="6641893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2026-09-19T07:39:59.1970000Z</dcterms:created>
  <dcterms:modified xsi:type="dcterms:W3CDTF">2026-09-19T07:39:59.1970000Z</dcterms:modified>
</coreProperties>
</file>