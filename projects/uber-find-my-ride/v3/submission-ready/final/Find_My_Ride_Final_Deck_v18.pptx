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4d23d6e2b54603" /><Relationship Type="http://schemas.openxmlformats.org/officeDocument/2006/relationships/extended-properties" Target="/docProps/app.xml" Id="Re973bb1274594bc4" /><Relationship Type="http://schemas.openxmlformats.org/officeDocument/2006/relationships/officeDocument" Target="/ppt/presentation.xml" Id="Rb11d0a0c34a34c7f" /></Relationships>
</file>

<file path=ppt/presentation.xml><?xml version="1.0" encoding="utf-8"?>
<p:presentation xmlns:p="http://schemas.openxmlformats.org/presentationml/2006/main">
  <p:sldMasterIdLst>
    <p:sldMasterId xmlns:r="http://schemas.openxmlformats.org/officeDocument/2006/relationships" id="2147483648" r:id="R0fc8fbd5e51e4879"/>
  </p:sldMasterIdLst>
  <p:notesMasterIdLst>
    <p:notesMasterId xmlns:r="http://schemas.openxmlformats.org/officeDocument/2006/relationships" r:id="R7b4e1741089742a0"/>
  </p:notesMasterIdLst>
  <p:sldIdLst>
    <p:sldId xmlns:r="http://schemas.openxmlformats.org/officeDocument/2006/relationships" id="256" r:id="R8d91381ae39a4b46"/>
    <p:sldId xmlns:r="http://schemas.openxmlformats.org/officeDocument/2006/relationships" id="257" r:id="R37de546638e94876"/>
    <p:sldId xmlns:r="http://schemas.openxmlformats.org/officeDocument/2006/relationships" id="258" r:id="R39b3299a14d544f7"/>
    <p:sldId xmlns:r="http://schemas.openxmlformats.org/officeDocument/2006/relationships" id="259" r:id="R60022c2a5dec4316"/>
    <p:sldId xmlns:r="http://schemas.openxmlformats.org/officeDocument/2006/relationships" id="260" r:id="Raedd1662aec54564"/>
    <p:sldId xmlns:r="http://schemas.openxmlformats.org/officeDocument/2006/relationships" id="261" r:id="R96cd25ce23144bb8"/>
    <p:sldId xmlns:r="http://schemas.openxmlformats.org/officeDocument/2006/relationships" id="262" r:id="Rf86fee2a84d64705"/>
    <p:sldId xmlns:r="http://schemas.openxmlformats.org/officeDocument/2006/relationships" id="263" r:id="Re2ae803e1a8c4562"/>
    <p:sldId xmlns:r="http://schemas.openxmlformats.org/officeDocument/2006/relationships" id="264" r:id="Rf645e07c8a7d4809"/>
    <p:sldId xmlns:r="http://schemas.openxmlformats.org/officeDocument/2006/relationships" id="265" r:id="R71e4cbe4b2614c87"/>
    <p:sldId xmlns:r="http://schemas.openxmlformats.org/officeDocument/2006/relationships" id="266" r:id="R47167bbb0a09475b"/>
    <p:sldId xmlns:r="http://schemas.openxmlformats.org/officeDocument/2006/relationships" id="267" r:id="R20f5bedf83e34eaa"/>
    <p:sldId xmlns:r="http://schemas.openxmlformats.org/officeDocument/2006/relationships" id="268" r:id="Rbaf86785e0734d4f"/>
    <p:sldId xmlns:r="http://schemas.openxmlformats.org/officeDocument/2006/relationships" id="269" r:id="R59ed2eb7c3e34567"/>
    <p:sldId xmlns:r="http://schemas.openxmlformats.org/officeDocument/2006/relationships" id="270" r:id="Rd6f5daafcc834f67"/>
    <p:sldId xmlns:r="http://schemas.openxmlformats.org/officeDocument/2006/relationships" id="271" r:id="R5df1b5fdbb3e4529"/>
    <p:sldId xmlns:r="http://schemas.openxmlformats.org/officeDocument/2006/relationships" id="272" r:id="R9b29608d5c0144ee"/>
    <p:sldId xmlns:r="http://schemas.openxmlformats.org/officeDocument/2006/relationships" id="273" r:id="R7797665d498443c1"/>
    <p:sldId xmlns:r="http://schemas.openxmlformats.org/officeDocument/2006/relationships" id="274" r:id="Rfbc9f036447643aa"/>
    <p:sldId xmlns:r="http://schemas.openxmlformats.org/officeDocument/2006/relationships" id="275" r:id="Rd905e14e59524cf6"/>
    <p:sldId xmlns:r="http://schemas.openxmlformats.org/officeDocument/2006/relationships" id="276" r:id="R71dfaa4986e64dbf"/>
    <p:sldId xmlns:r="http://schemas.openxmlformats.org/officeDocument/2006/relationships" id="277" r:id="R2526a4410cd9477b"/>
    <p:sldId xmlns:r="http://schemas.openxmlformats.org/officeDocument/2006/relationships" id="278" r:id="R671bce7d36bb457a"/>
    <p:sldId xmlns:r="http://schemas.openxmlformats.org/officeDocument/2006/relationships" id="279" r:id="Rd1336ebe152b41ff"/>
    <p:sldId xmlns:r="http://schemas.openxmlformats.org/officeDocument/2006/relationships" id="280" r:id="R09fec47d95d546b8"/>
    <p:sldId xmlns:r="http://schemas.openxmlformats.org/officeDocument/2006/relationships" id="281" r:id="R08e0b51895e441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52dc0726f94b7c" /><Relationship Type="http://schemas.openxmlformats.org/officeDocument/2006/relationships/slideMaster" Target="/ppt/slideMasters/slideMaster1.xml" Id="R0fc8fbd5e51e4879" /><Relationship Type="http://schemas.openxmlformats.org/officeDocument/2006/relationships/notesMaster" Target="/ppt/notesMasters/notesMaster1.xml" Id="R7b4e1741089742a0" /><Relationship Type="http://schemas.openxmlformats.org/officeDocument/2006/relationships/presProps" Target="/ppt/presProps.xml" Id="Ra8220011b56c42b0" /><Relationship Type="http://schemas.openxmlformats.org/officeDocument/2006/relationships/tableStyles" Target="/ppt/tableStyles.xml" Id="Rfecaec5b116a4757" /><Relationship Type="http://schemas.openxmlformats.org/officeDocument/2006/relationships/slide" Target="/ppt/slides/slide1.xml" Id="R8d91381ae39a4b46" /><Relationship Type="http://schemas.openxmlformats.org/officeDocument/2006/relationships/slide" Target="/ppt/slides/slide2.xml" Id="R37de546638e94876" /><Relationship Type="http://schemas.openxmlformats.org/officeDocument/2006/relationships/slide" Target="/ppt/slides/slide3.xml" Id="R39b3299a14d544f7" /><Relationship Type="http://schemas.openxmlformats.org/officeDocument/2006/relationships/slide" Target="/ppt/slides/slide4.xml" Id="R60022c2a5dec4316" /><Relationship Type="http://schemas.openxmlformats.org/officeDocument/2006/relationships/slide" Target="/ppt/slides/slide5.xml" Id="Raedd1662aec54564" /><Relationship Type="http://schemas.openxmlformats.org/officeDocument/2006/relationships/slide" Target="/ppt/slides/slide6.xml" Id="R96cd25ce23144bb8" /><Relationship Type="http://schemas.openxmlformats.org/officeDocument/2006/relationships/slide" Target="/ppt/slides/slide7.xml" Id="Rf86fee2a84d64705" /><Relationship Type="http://schemas.openxmlformats.org/officeDocument/2006/relationships/slide" Target="/ppt/slides/slide8.xml" Id="Re2ae803e1a8c4562" /><Relationship Type="http://schemas.openxmlformats.org/officeDocument/2006/relationships/slide" Target="/ppt/slides/slide9.xml" Id="Rf645e07c8a7d4809" /><Relationship Type="http://schemas.openxmlformats.org/officeDocument/2006/relationships/slide" Target="/ppt/slides/slide10.xml" Id="R71e4cbe4b2614c87" /><Relationship Type="http://schemas.openxmlformats.org/officeDocument/2006/relationships/slide" Target="/ppt/slides/slide11.xml" Id="R47167bbb0a09475b" /><Relationship Type="http://schemas.openxmlformats.org/officeDocument/2006/relationships/slide" Target="/ppt/slides/slide12.xml" Id="R20f5bedf83e34eaa" /><Relationship Type="http://schemas.openxmlformats.org/officeDocument/2006/relationships/slide" Target="/ppt/slides/slide13.xml" Id="Rbaf86785e0734d4f" /><Relationship Type="http://schemas.openxmlformats.org/officeDocument/2006/relationships/slide" Target="/ppt/slides/slide14.xml" Id="R59ed2eb7c3e34567" /><Relationship Type="http://schemas.openxmlformats.org/officeDocument/2006/relationships/slide" Target="/ppt/slides/slide15.xml" Id="Rd6f5daafcc834f67" /><Relationship Type="http://schemas.openxmlformats.org/officeDocument/2006/relationships/slide" Target="/ppt/slides/slide16.xml" Id="R5df1b5fdbb3e4529" /><Relationship Type="http://schemas.openxmlformats.org/officeDocument/2006/relationships/slide" Target="/ppt/slides/slide17.xml" Id="R9b29608d5c0144ee" /><Relationship Type="http://schemas.openxmlformats.org/officeDocument/2006/relationships/slide" Target="/ppt/slides/slide18.xml" Id="R7797665d498443c1" /><Relationship Type="http://schemas.openxmlformats.org/officeDocument/2006/relationships/slide" Target="/ppt/slides/slide19.xml" Id="Rfbc9f036447643aa" /><Relationship Type="http://schemas.openxmlformats.org/officeDocument/2006/relationships/slide" Target="/ppt/slides/slide20.xml" Id="Rd905e14e59524cf6" /><Relationship Type="http://schemas.openxmlformats.org/officeDocument/2006/relationships/slide" Target="/ppt/slides/slide21.xml" Id="R71dfaa4986e64dbf" /><Relationship Type="http://schemas.openxmlformats.org/officeDocument/2006/relationships/slide" Target="/ppt/slides/slide22.xml" Id="R2526a4410cd9477b" /><Relationship Type="http://schemas.openxmlformats.org/officeDocument/2006/relationships/slide" Target="/ppt/slides/slide23.xml" Id="R671bce7d36bb457a" /><Relationship Type="http://schemas.openxmlformats.org/officeDocument/2006/relationships/slide" Target="/ppt/slides/slide24.xml" Id="Rd1336ebe152b41ff" /><Relationship Type="http://schemas.openxmlformats.org/officeDocument/2006/relationships/slide" Target="/ppt/slides/slide25.xml" Id="R09fec47d95d546b8" /><Relationship Type="http://schemas.openxmlformats.org/officeDocument/2006/relationships/slide" Target="/ppt/slides/slide26.xml" Id="R08e0b51895e441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aefb5baf7141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43d1e94444d9e" /><Relationship Type="http://schemas.openxmlformats.org/officeDocument/2006/relationships/notesMaster" Target="/ppt/notesMasters/notesMaster1.xml" Id="R19666aa85bb9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537f67433448a3" /><Relationship Type="http://schemas.openxmlformats.org/officeDocument/2006/relationships/notesMaster" Target="/ppt/notesMasters/notesMaster1.xml" Id="Rdacdf4ef7d0e4c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7f9501c95348d8" /><Relationship Type="http://schemas.openxmlformats.org/officeDocument/2006/relationships/notesMaster" Target="/ppt/notesMasters/notesMaster1.xml" Id="R8a33119630b848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9ec4f578ae4698" /><Relationship Type="http://schemas.openxmlformats.org/officeDocument/2006/relationships/notesMaster" Target="/ppt/notesMasters/notesMaster1.xml" Id="R0c688ecca9c146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10edb39c6e4218" /><Relationship Type="http://schemas.openxmlformats.org/officeDocument/2006/relationships/notesMaster" Target="/ppt/notesMasters/notesMaster1.xml" Id="Rf17c9608185b4d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27b84db9bd4030" /><Relationship Type="http://schemas.openxmlformats.org/officeDocument/2006/relationships/notesMaster" Target="/ppt/notesMasters/notesMaster1.xml" Id="Rc34d5ec3dcf94a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51fd3a42724075" /><Relationship Type="http://schemas.openxmlformats.org/officeDocument/2006/relationships/notesMaster" Target="/ppt/notesMasters/notesMaster1.xml" Id="Reabc263a420e41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72be8c31c34f11" /><Relationship Type="http://schemas.openxmlformats.org/officeDocument/2006/relationships/notesMaster" Target="/ppt/notesMasters/notesMaster1.xml" Id="R9bc8353fd7164c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da0180343a4e8c" /><Relationship Type="http://schemas.openxmlformats.org/officeDocument/2006/relationships/notesMaster" Target="/ppt/notesMasters/notesMaster1.xml" Id="Ra0ee2701815443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f80f884daf4366" /><Relationship Type="http://schemas.openxmlformats.org/officeDocument/2006/relationships/notesMaster" Target="/ppt/notesMasters/notesMaster1.xml" Id="Rbbf25ef39c7047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ed2183de2d4e7b" /><Relationship Type="http://schemas.openxmlformats.org/officeDocument/2006/relationships/notesMaster" Target="/ppt/notesMasters/notesMaster1.xml" Id="R98acfe290cc749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947c32f5b34d5a" /><Relationship Type="http://schemas.openxmlformats.org/officeDocument/2006/relationships/notesMaster" Target="/ppt/notesMasters/notesMaster1.xml" Id="Rd8270e071f9241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5711083c7642cd" /><Relationship Type="http://schemas.openxmlformats.org/officeDocument/2006/relationships/notesMaster" Target="/ppt/notesMasters/notesMaster1.xml" Id="R66e84e4e0b364f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a21d0ad34a469b" /><Relationship Type="http://schemas.openxmlformats.org/officeDocument/2006/relationships/notesMaster" Target="/ppt/notesMasters/notesMaster1.xml" Id="R7b09df45a75e43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feb3a30d174b0b" /><Relationship Type="http://schemas.openxmlformats.org/officeDocument/2006/relationships/notesMaster" Target="/ppt/notesMasters/notesMaster1.xml" Id="R0a76d870fb4944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9f8bc4dd1b46da" /><Relationship Type="http://schemas.openxmlformats.org/officeDocument/2006/relationships/notesMaster" Target="/ppt/notesMasters/notesMaster1.xml" Id="Rfd76c6568f4548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5fe496dbd04044" /><Relationship Type="http://schemas.openxmlformats.org/officeDocument/2006/relationships/notesMaster" Target="/ppt/notesMasters/notesMaster1.xml" Id="Rba7f4427764f40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2bb718d0b9464c" /><Relationship Type="http://schemas.openxmlformats.org/officeDocument/2006/relationships/notesMaster" Target="/ppt/notesMasters/notesMaster1.xml" Id="R27c3228583d948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2255d3dd294113" /><Relationship Type="http://schemas.openxmlformats.org/officeDocument/2006/relationships/notesMaster" Target="/ppt/notesMasters/notesMaster1.xml" Id="Radeec50a15f747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6ad58a99ea44e2" /><Relationship Type="http://schemas.openxmlformats.org/officeDocument/2006/relationships/notesMaster" Target="/ppt/notesMasters/notesMaster1.xml" Id="R5e3ebee0a00a44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dd2b20a32149d6" /><Relationship Type="http://schemas.openxmlformats.org/officeDocument/2006/relationships/notesMaster" Target="/ppt/notesMasters/notesMaster1.xml" Id="R8bd9afebd45745b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cd046432434624" /><Relationship Type="http://schemas.openxmlformats.org/officeDocument/2006/relationships/notesMaster" Target="/ppt/notesMasters/notesMaster1.xml" Id="R44053713629a4c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a8c51ffa66475c" /><Relationship Type="http://schemas.openxmlformats.org/officeDocument/2006/relationships/notesMaster" Target="/ppt/notesMasters/notesMaster1.xml" Id="Rc9bb5e86d5784a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e9c1a7e2fb4589" /><Relationship Type="http://schemas.openxmlformats.org/officeDocument/2006/relationships/notesMaster" Target="/ppt/notesMasters/notesMaster1.xml" Id="R7e3ddf7702c4478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0d1b018bf394657" /><Relationship Type="http://schemas.openxmlformats.org/officeDocument/2006/relationships/notesMaster" Target="/ppt/notesMasters/notesMaster1.xml" Id="R997824b6686f4a5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240ede49ec4051" /><Relationship Type="http://schemas.openxmlformats.org/officeDocument/2006/relationships/notesMaster" Target="/ppt/notesMasters/notesMaster1.xml" Id="R2559c988ab3841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the stressful moment when a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English, Telugu, and Hindi, with separate rider and driver questions.</a:t>
            </a:r>
          </a:p>
          <a:p xmlns:a="http://schemas.openxmlformats.org/drawingml/2006/main">
            <a:r>
              <a:t/>
            </a:r>
          </a:p>
          <a:p xmlns:a="http://schemas.openxmlformats.org/drawingml/2006/main">
            <a:r>
              <a:t>After removing one duplicate, I had sixty-two responses: fifty-eight riders and four drivers. Thirty people wrote answers, and eleven shared detailed experiences. This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pictures, and access information. These are possible approaches, but they do not prove local demand. The opportunity is better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 The survey points to airports, gated communities, malls, offices, and stations.</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recover today. The rider is the main user, and the driver is also affected. Success means fewer calls and a faster trip start.</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Before writing the statement, I checked five questions. Who? A rider at a complex pickup, with the driver also affected. What? No shared meeting point. Where? Airports, gated homes, malls, offices, and stations. When? As the driver approaches or arrives. Why? The extra coordination creates waiting and delay.</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Framework adapted from the user-provided 5W problem-framing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final statement is this. At selected complex locations, a generally correct pin may still fail to create one shared meeting point. This causes calls, waiting, movement, and delay. It does not apply to every ride. The survey is directional, so interviews and stronger driver evidence are still needed.</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Format adapted from the user-provided What Makes a Good Problem Statement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it before. Twenty said calling or messaging helped, while six said nothing helped. These numbers describe this sample only, not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sizing evidence status.</a:t>
            </a:r>
          </a:p>
          <a:p xmlns:a="http://schemas.openxmlformats.org/drawingml/2006/main">
            <a:r>
              <a:t/>
            </a:r>
          </a:p>
          <a:p xmlns:a="http://schemas.openxmlformats.org/drawingml/2006/main">
            <a:r>
              <a:t>Sources:</a:t>
            </a:r>
          </a:p>
          <a:p xmlns:a="http://schemas.openxmlformats.org/drawingml/2006/main">
            <a:r>
              <a:t>Local evidence: research/desk-research-report.md, research/competitor-analysis.md, and Sanitized-Survey-Evidence.xlsx.</a:t>
            </a:r>
          </a:p>
          <a:p xmlns:a="http://schemas.openxmlformats.org/drawingml/2006/main">
            <a:r>
              <a:t>No numeric TAM, SAM, SOM, CAGR, willingness-to-pay, or saturation claim is made without supporting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readiness and signals.</a:t>
            </a:r>
          </a:p>
          <a:p xmlns:a="http://schemas.openxmlformats.org/drawingml/2006/main">
            <a:r>
              <a:t/>
            </a:r>
          </a:p>
          <a:p xmlns:a="http://schemas.openxmlformats.org/drawingml/2006/main">
            <a:r>
              <a:t>Sources:</a:t>
            </a:r>
          </a:p>
          <a:p xmlns:a="http://schemas.openxmlformats.org/drawingml/2006/main">
            <a:r>
              <a:t>Local evidence: synthesis/02-strategy-implications.md and synthesis/04-product-ideas.md.</a:t>
            </a:r>
          </a:p>
          <a:p xmlns:a="http://schemas.openxmlformats.org/drawingml/2006/main">
            <a:r>
              <a:t>No A/B sample size is claimed because the required baseline, effect-size, confidence, power, and traffic inputs are not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8282abde014d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f8d64c73d14a25" /><Relationship Type="http://schemas.openxmlformats.org/officeDocument/2006/relationships/slideLayout" Target="/ppt/slideLayouts/slideLayout1.xml" Id="R98c8802e33c140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c8802e33c140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c9429494ab445b" /><Relationship Type="http://schemas.openxmlformats.org/officeDocument/2006/relationships/notesSlide" Target="/ppt/notesSlides/notesSlide1.xml" Id="R8effadf6df2046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c9d42206a34e09" /><Relationship Type="http://schemas.openxmlformats.org/officeDocument/2006/relationships/image" Target="/ppt/media/image.png" Id="R31232e9a556e4805" /><Relationship Type="http://schemas.openxmlformats.org/officeDocument/2006/relationships/hyperlink" Target="https://praveenveera.github.io/uber-pickup-survey/" TargetMode="External" Id="R2bad92cffb1341c0" /><Relationship Type="http://schemas.openxmlformats.org/officeDocument/2006/relationships/notesSlide" Target="/ppt/notesSlides/notesSlide2.xml" Id="R805a260bf0c647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d5b53707054385" /><Relationship Type="http://schemas.openxmlformats.org/officeDocument/2006/relationships/notesSlide" Target="/ppt/notesSlides/notesSlide3.xml" Id="R26bc7d5a487348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78f606390d41dc" /><Relationship Type="http://schemas.openxmlformats.org/officeDocument/2006/relationships/notesSlide" Target="/ppt/notesSlides/notesSlide4.xml" Id="R544e7842569144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2ddf3405864017" /><Relationship Type="http://schemas.openxmlformats.org/officeDocument/2006/relationships/notesSlide" Target="/ppt/notesSlides/notesSlide5.xml" Id="R10941fbe7a8f4a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274f3e7fe04e2b" /><Relationship Type="http://schemas.openxmlformats.org/officeDocument/2006/relationships/notesSlide" Target="/ppt/notesSlides/notesSlide6.xml" Id="R5a83345bdf174d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aedee41c1b4e88" /><Relationship Type="http://schemas.openxmlformats.org/officeDocument/2006/relationships/notesSlide" Target="/ppt/notesSlides/notesSlide7.xml" Id="R6aa22ca0fefe4c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46a68a37124f30" /><Relationship Type="http://schemas.openxmlformats.org/officeDocument/2006/relationships/notesSlide" Target="/ppt/notesSlides/notesSlide8.xml" Id="Ra23cd7adafca41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b5c9691e57341b5" /><Relationship Type="http://schemas.openxmlformats.org/officeDocument/2006/relationships/notesSlide" Target="/ppt/notesSlides/notesSlide9.xml" Id="Rce1731a2714f42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c19c02cf664d6d" /><Relationship Type="http://schemas.openxmlformats.org/officeDocument/2006/relationships/notesSlide" Target="/ppt/notesSlides/notesSlide10.xml" Id="Reb92359543ad43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487bd553944ad1" /><Relationship Type="http://schemas.openxmlformats.org/officeDocument/2006/relationships/notesSlide" Target="/ppt/notesSlides/notesSlide11.xml" Id="R0417f7ff81e64e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bbbbb246354e0b" /><Relationship Type="http://schemas.openxmlformats.org/officeDocument/2006/relationships/notesSlide" Target="/ppt/notesSlides/notesSlide12.xml" Id="Ra056cd79127b42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e3634fda6347dd" /><Relationship Type="http://schemas.openxmlformats.org/officeDocument/2006/relationships/notesSlide" Target="/ppt/notesSlides/notesSlide13.xml" Id="R7b0987ded9804a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d1c6519dea4541" /><Relationship Type="http://schemas.openxmlformats.org/officeDocument/2006/relationships/notesSlide" Target="/ppt/notesSlides/notesSlide14.xml" Id="R4bd3b98f9f1346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20946762e614314" /><Relationship Type="http://schemas.openxmlformats.org/officeDocument/2006/relationships/notesSlide" Target="/ppt/notesSlides/notesSlide15.xml" Id="R4d3d16f4e10e4f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7a80f1c64b4a3b" /><Relationship Type="http://schemas.openxmlformats.org/officeDocument/2006/relationships/image" Target="/ppt/media/image2.png" Id="R75c51f46d2704e6c" /><Relationship Type="http://schemas.openxmlformats.org/officeDocument/2006/relationships/image" Target="/ppt/media/image3.png" Id="Ra0e0dd9c98f64b0b" /><Relationship Type="http://schemas.openxmlformats.org/officeDocument/2006/relationships/notesSlide" Target="/ppt/notesSlides/notesSlide16.xml" Id="R9d3123be232843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8eeee67b4554569" /><Relationship Type="http://schemas.openxmlformats.org/officeDocument/2006/relationships/notesSlide" Target="/ppt/notesSlides/notesSlide17.xml" Id="R5b6ba322274346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b164e10c3164384" /><Relationship Type="http://schemas.openxmlformats.org/officeDocument/2006/relationships/notesSlide" Target="/ppt/notesSlides/notesSlide18.xml" Id="Reeaab83ca4504a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d4d7bd386cd4674" /><Relationship Type="http://schemas.openxmlformats.org/officeDocument/2006/relationships/notesSlide" Target="/ppt/notesSlides/notesSlide19.xml" Id="R48f74b820d9b4fb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a236d72fede464b" /><Relationship Type="http://schemas.openxmlformats.org/officeDocument/2006/relationships/notesSlide" Target="/ppt/notesSlides/notesSlide20.xml" Id="Rf6d2b89647674a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63f4db79c284499" /><Relationship Type="http://schemas.openxmlformats.org/officeDocument/2006/relationships/notesSlide" Target="/ppt/notesSlides/notesSlide21.xml" Id="R49764c2b30244c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bdbce03364740ac" /><Relationship Type="http://schemas.openxmlformats.org/officeDocument/2006/relationships/notesSlide" Target="/ppt/notesSlides/notesSlide22.xml" Id="R98a997db5a954eb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867def0e1364004" /><Relationship Type="http://schemas.openxmlformats.org/officeDocument/2006/relationships/notesSlide" Target="/ppt/notesSlides/notesSlide23.xml" Id="Ra4add773315f48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58baaa2d9124cf8" /><Relationship Type="http://schemas.openxmlformats.org/officeDocument/2006/relationships/notesSlide" Target="/ppt/notesSlides/notesSlide24.xml" Id="Rcdb3cc1fe3984b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c0275053ff848ff" /><Relationship Type="http://schemas.openxmlformats.org/officeDocument/2006/relationships/notesSlide" Target="/ppt/notesSlides/notesSlide25.xml" Id="R9217155961f64ff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3b81a59a01c4423" /><Relationship Type="http://schemas.openxmlformats.org/officeDocument/2006/relationships/notesSlide" Target="/ppt/notesSlides/notesSlide26.xml" Id="R8c5e4eb23d914c5b"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5D8B2B-0A19-42F5-93D6-60AFBF9E69D6}"/>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5E9932F2-0A66-4951-845B-453B4138A724}"/>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991BE6CB-289C-42F2-8DB9-C75765ABBA42}"/>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79A94201-FD1A-4BC8-859D-185A41FEBE3C}"/>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C6F105-9ACC-45B6-B6C8-7C78C3C3F42A}"/>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F7F5CAA0-1FC8-4A50-A3A5-685F8550141F}"/>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AAACC1EC-0310-4E07-9628-1A21CEC6567C}"/>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787801-2D9B-4271-B97A-BD0E0C64FB01}"/>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F1213B23-33F2-4F89-8C18-2E29C2D42072}"/>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E56DC88E-2DAF-4AD7-83C2-20CCDD3FEE34}"/>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C5DDEE-7C8E-49DA-8ABD-76FA10BF9518}"/>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A8BC43CE-E8CF-4742-BA92-4264AD958883}"/>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B7656C07-1703-49C1-BB12-4C902A666D44}"/>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F758C5-C127-4EDB-ABDE-C7DB95060992}"/>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8E2C2D47-347A-4CBC-B6A4-44A9DEC381A7}"/>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2838BCCA-7411-4522-89FF-E203406ABB5C}"/>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2029702659"/>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11C5471-AC1C-4A35-96A0-F5EB548D4DB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8C639FA2-593E-43DA-82B9-32B76AA2FC0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393796FF-3A34-4631-BB8E-C4ED77D96B8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B3EA9D97-4FA8-4518-A0A7-787191E1E65C}"/>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A6389269-1933-40AA-8E8A-F9CFC9833641}"/>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8B47104B-873C-4BE8-8FE7-E3E916C0BACC}"/>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0CE1BDDB-F85E-4BA3-BFB4-077CFB52BB34}"/>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02DDE0C-17F2-4E57-8EC7-2013D42D8FD5}"/>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4A5B91AB-1334-4711-BC97-413A4F7F79F4}"/>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CEDAEEFB-3A85-4C40-A5F4-7CA057C8C87C}"/>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07280AAD-DC44-4178-A350-474E605988B3}"/>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1C40983A-DBD3-4F54-BAE2-22DB86BF0218}"/>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5889F9C6-864B-47B5-8B8E-E04E8C47C2B4}"/>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689C3CED-9990-471D-8913-295317AB547B}"/>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1232e9a556e4805"/>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5FC0DB3-58E2-43A1-9487-9F56059B70EE}"/>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2bad92cffb1341c0"/>
              </a:rPr>
              <a:t>https://praveenveera.github.io/uber-pickup-survey/</a:t>
            </a:r>
          </a:p>
        </p:txBody>
      </p:sp>
      <p:sp>
        <p:nvSpPr>
          <p:cNvPr id="17" name="">
            <a:extLst xmlns:a="http://schemas.openxmlformats.org/drawingml/2006/main">
              <a:ext uri="{FF2B5EF4-FFF2-40B4-BE49-F238E27FC236}">
                <a16:creationId xmlns:a16="http://schemas.microsoft.com/office/drawing/2014/main" id="{CD07C69D-CBCD-4F4B-AC29-0E3B5C171448}"/>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450E33D7-BFAE-48FB-8961-BD0B902F6DB9}"/>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EE1CF458-6424-4E68-8F8B-6BD465CE139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670DD62E-4C31-475B-9ECD-3410715E99F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894680706"/>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4302700-4938-4058-A386-A45B5C97516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67B95214-B3D1-4E1E-9A41-591B8EA0EEB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2DB3C867-FA77-4091-9E13-94A735A4731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F2297417-C651-4142-9891-07345303343C}"/>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9183AC07-6A3E-4B76-9625-9A6C03E2F8D7}"/>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59FF342F-1C94-4B66-B977-FF232F719932}"/>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05CBB6D9-0901-43E0-A528-FF8096FE1426}"/>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8BBE7DA9-5525-40A7-AE9B-82C4364411C0}"/>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00D05A11-523B-4910-A0C1-E9F3FD5C7F2C}"/>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0FC0A54A-8B94-4B35-979B-20F12743091B}"/>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1C051C0-F088-4CF0-9701-7E48637DCD5C}"/>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77C39CBA-D1E3-4628-BD65-FDFF06BE0306}"/>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9B4DB19D-6CA4-48AB-9113-2DDAC558F812}"/>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A1EC94D-2971-46E6-88FC-E9D536188728}"/>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F2E3C8EB-B860-403E-9E88-925488A90684}"/>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54871157-061C-4938-9C05-6B87354767C7}"/>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E1E9DA-B07C-4D52-B10F-C9D37B29E49B}"/>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92A13E84-1B5E-4968-BC40-2004ABF34FB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1DCE91BA-6A0C-4E69-A661-6371217CC05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417283754"/>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AC9873A-C5AF-47CD-B11B-7091878BDE6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68552AFE-6EA7-4AF9-9A19-7F3B0FD8D7A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21871AF7-F129-45C4-9AE6-32D952B8E85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98C26F88-F0E6-45D7-80E2-FB6027EF0992}"/>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2855ABF-A379-4DEC-A1F1-581385995756}"/>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B3F7D24D-4DD9-4700-9417-FA053750E64D}"/>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1085CCBE-20DB-4D36-A9DF-0035778331B3}"/>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CEE04DA-7377-40B9-BA46-D80A02A58E11}"/>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C2C1E622-DDAA-4023-B07F-CCCAE5F57BB7}"/>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9D37279F-E3EF-4119-8BD0-E2A9A9886182}"/>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39E7BFC-9B5D-4276-BB70-E4AAAC298857}"/>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729F9E92-FDD4-40E2-81FD-AD565EB17CAB}"/>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EEEC4085-4BB4-4449-9227-808CCE0EFF5A}"/>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39CF5B-05BA-440B-9BA4-BD777F04CC68}"/>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E44E146E-97A6-4F5B-872C-AC796274A2BF}"/>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15332AC3-D10F-48F3-B6F6-5604AFBCE642}"/>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696B5F5-5198-431D-B6FB-6D8B5FE40B79}"/>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CF64C996-6191-46E8-ACD9-5B9058138EC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9E72E70-DAA8-436B-B3BB-200B48A2EA4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183460821"/>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3A24F1-1236-4F9F-AC5E-A8CD4429028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8F34242E-D8AC-4582-9417-3973F141446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FBF317BF-BE72-4BFF-AE8E-6B287FF4C4C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80822ED5-A8A6-43EB-AB27-7383F942FD6B}"/>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40F3AA-90B3-42A3-836F-E127A4BD3FE6}"/>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A7D44B24-F4D2-4D91-9185-5A4035665D0D}"/>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E7993DE9-60DF-4D06-9284-2541288672D0}"/>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7BC645D9-AC43-466D-83D3-FE5AB7C15C97}"/>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F0B93F2D-1397-496D-BC7D-65F9F4121C1F}"/>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A50DB6A-6988-4C4D-BED4-D04A3AA65525}"/>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15ACFA8C-215A-4739-86D1-8CA9FC225598}"/>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CC158806-65E4-411A-B042-2A866C70BCCA}"/>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FB124D-E1E2-400A-BD2A-9EBDAE798E82}"/>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72E0A6F6-6BF5-44B7-9A37-6CF4EBDC677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9BA77936-01B8-4E05-8607-942D9D28F77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054784448"/>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2BCFE32-DD3C-4072-8CF9-8BE4DD957FE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FRAMING</a:t>
            </a:r>
          </a:p>
        </p:txBody>
      </p:sp>
      <p:sp>
        <p:nvSpPr>
          <p:cNvPr id="2" name="">
            <a:extLst xmlns:a="http://schemas.openxmlformats.org/drawingml/2006/main">
              <a:ext uri="{FF2B5EF4-FFF2-40B4-BE49-F238E27FC236}">
                <a16:creationId xmlns:a16="http://schemas.microsoft.com/office/drawing/2014/main" id="{BF1E5E38-FC8E-4789-A506-86D64BB9ABD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Five questions before writing the problem statement</a:t>
            </a:r>
          </a:p>
        </p:txBody>
      </p:sp>
      <p:sp>
        <p:nvSpPr>
          <p:cNvPr id="3" name="">
            <a:extLst xmlns:a="http://schemas.openxmlformats.org/drawingml/2006/main">
              <a:ext uri="{FF2B5EF4-FFF2-40B4-BE49-F238E27FC236}">
                <a16:creationId xmlns:a16="http://schemas.microsoft.com/office/drawing/2014/main" id="{82B4C6AE-0E89-4B64-BA1A-89F23C2CFE0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5Ws define the context and impact without jumping to a feature.</a:t>
            </a:r>
          </a:p>
        </p:txBody>
      </p:sp>
      <p:sp>
        <p:nvSpPr>
          <p:cNvPr id="4" name="">
            <a:extLst xmlns:a="http://schemas.openxmlformats.org/drawingml/2006/main">
              <a:ext uri="{FF2B5EF4-FFF2-40B4-BE49-F238E27FC236}">
                <a16:creationId xmlns:a16="http://schemas.microsoft.com/office/drawing/2014/main" id="{0847F818-1360-4F6F-B6C8-DD041BF42B41}"/>
              </a:ext>
            </a:extLst>
          </p:cNvPr>
          <p:cNvSpPr>
            <a:spLocks xmlns:a="http://schemas.openxmlformats.org/drawingml/2006/main" noGrp="1"/>
          </p:cNvSpPr>
          <p:nvPr/>
        </p:nvSpPr>
        <p:spPr>
          <a:xfrm xmlns:a="http://schemas.openxmlformats.org/drawingml/2006/main">
            <a:off x="514350" y="1619250"/>
            <a:ext cx="104394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3F32956-A77F-4281-A22B-F228990719DC}"/>
              </a:ext>
            </a:extLst>
          </p:cNvPr>
          <p:cNvSpPr>
            <a:spLocks xmlns:a="http://schemas.openxmlformats.org/drawingml/2006/main" noGrp="1"/>
          </p:cNvSpPr>
          <p:nvPr/>
        </p:nvSpPr>
        <p:spPr>
          <a:xfrm xmlns:a="http://schemas.openxmlformats.org/drawingml/2006/main">
            <a:off x="1247775" y="1924050"/>
            <a:ext cx="628650" cy="6286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3D36BA-921D-48D6-BC1C-C91EEA732F1C}"/>
              </a:ext>
            </a:extLst>
          </p:cNvPr>
          <p:cNvSpPr>
            <a:spLocks xmlns:a="http://schemas.openxmlformats.org/drawingml/2006/main" noGrp="1"/>
          </p:cNvSpPr>
          <p:nvPr/>
        </p:nvSpPr>
        <p:spPr>
          <a:xfrm xmlns:a="http://schemas.openxmlformats.org/drawingml/2006/main">
            <a:off x="131445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F47C3068-1C77-4BB2-AEAA-EFF4AC29EDDE}"/>
              </a:ext>
            </a:extLst>
          </p:cNvPr>
          <p:cNvSpPr>
            <a:spLocks xmlns:a="http://schemas.openxmlformats.org/drawingml/2006/main" noGrp="1"/>
          </p:cNvSpPr>
          <p:nvPr/>
        </p:nvSpPr>
        <p:spPr>
          <a:xfrm xmlns:a="http://schemas.openxmlformats.org/drawingml/2006/main">
            <a:off x="77152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WHO</a:t>
            </a:r>
          </a:p>
        </p:txBody>
      </p:sp>
      <p:sp>
        <p:nvSpPr>
          <p:cNvPr id="8" name="">
            <a:extLst xmlns:a="http://schemas.openxmlformats.org/drawingml/2006/main">
              <a:ext uri="{FF2B5EF4-FFF2-40B4-BE49-F238E27FC236}">
                <a16:creationId xmlns:a16="http://schemas.microsoft.com/office/drawing/2014/main" id="{3A059106-9A21-4AF8-9228-F9282ED0E85C}"/>
              </a:ext>
            </a:extLst>
          </p:cNvPr>
          <p:cNvSpPr>
            <a:spLocks xmlns:a="http://schemas.openxmlformats.org/drawingml/2006/main" noGrp="1"/>
          </p:cNvSpPr>
          <p:nvPr/>
        </p:nvSpPr>
        <p:spPr>
          <a:xfrm xmlns:a="http://schemas.openxmlformats.org/drawingml/2006/main">
            <a:off x="72390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four-wheel riders</a:t>
            </a:r>
          </a:p>
          <a:p xmlns:a="http://schemas.openxmlformats.org/drawingml/2006/main">
            <a:r>
              <a:t/>
            </a:r>
          </a:p>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The driver is the connected stakeholder.</a:t>
            </a:r>
          </a:p>
        </p:txBody>
      </p:sp>
      <p:sp>
        <p:nvSpPr>
          <p:cNvPr id="9" name="">
            <a:extLst xmlns:a="http://schemas.openxmlformats.org/drawingml/2006/main">
              <a:ext uri="{FF2B5EF4-FFF2-40B4-BE49-F238E27FC236}">
                <a16:creationId xmlns:a16="http://schemas.microsoft.com/office/drawing/2014/main" id="{C5A92036-3800-4689-9368-9EDD2EF52272}"/>
              </a:ext>
            </a:extLst>
          </p:cNvPr>
          <p:cNvSpPr>
            <a:spLocks xmlns:a="http://schemas.openxmlformats.org/drawingml/2006/main" noGrp="1"/>
          </p:cNvSpPr>
          <p:nvPr/>
        </p:nvSpPr>
        <p:spPr>
          <a:xfrm xmlns:a="http://schemas.openxmlformats.org/drawingml/2006/main">
            <a:off x="260223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5F3ECD-901F-4D14-8E2B-1B4C6F543A28}"/>
              </a:ext>
            </a:extLst>
          </p:cNvPr>
          <p:cNvSpPr>
            <a:spLocks xmlns:a="http://schemas.openxmlformats.org/drawingml/2006/main" noGrp="1"/>
          </p:cNvSpPr>
          <p:nvPr/>
        </p:nvSpPr>
        <p:spPr>
          <a:xfrm xmlns:a="http://schemas.openxmlformats.org/drawingml/2006/main">
            <a:off x="333565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38A2C0-710D-4977-A1BD-CB0CBB1ED749}"/>
              </a:ext>
            </a:extLst>
          </p:cNvPr>
          <p:cNvSpPr>
            <a:spLocks xmlns:a="http://schemas.openxmlformats.org/drawingml/2006/main" noGrp="1"/>
          </p:cNvSpPr>
          <p:nvPr/>
        </p:nvSpPr>
        <p:spPr>
          <a:xfrm xmlns:a="http://schemas.openxmlformats.org/drawingml/2006/main">
            <a:off x="340233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DBD69D4F-8814-401D-9900-268B7D9D49E8}"/>
              </a:ext>
            </a:extLst>
          </p:cNvPr>
          <p:cNvSpPr>
            <a:spLocks xmlns:a="http://schemas.openxmlformats.org/drawingml/2006/main" noGrp="1"/>
          </p:cNvSpPr>
          <p:nvPr/>
        </p:nvSpPr>
        <p:spPr>
          <a:xfrm xmlns:a="http://schemas.openxmlformats.org/drawingml/2006/main">
            <a:off x="285940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WHAT</a:t>
            </a:r>
          </a:p>
        </p:txBody>
      </p:sp>
      <p:sp>
        <p:nvSpPr>
          <p:cNvPr id="13" name="">
            <a:extLst xmlns:a="http://schemas.openxmlformats.org/drawingml/2006/main">
              <a:ext uri="{FF2B5EF4-FFF2-40B4-BE49-F238E27FC236}">
                <a16:creationId xmlns:a16="http://schemas.microsoft.com/office/drawing/2014/main" id="{72FD4645-CCFF-4AC4-ACA3-E4F3CCB94CA7}"/>
              </a:ext>
            </a:extLst>
          </p:cNvPr>
          <p:cNvSpPr>
            <a:spLocks xmlns:a="http://schemas.openxmlformats.org/drawingml/2006/main" noGrp="1"/>
          </p:cNvSpPr>
          <p:nvPr/>
        </p:nvSpPr>
        <p:spPr>
          <a:xfrm xmlns:a="http://schemas.openxmlformats.org/drawingml/2006/main">
            <a:off x="281178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 generally correct pin may still fail to create one shared, workable meeting point.</a:t>
            </a:r>
          </a:p>
        </p:txBody>
      </p:sp>
      <p:sp>
        <p:nvSpPr>
          <p:cNvPr id="14" name="">
            <a:extLst xmlns:a="http://schemas.openxmlformats.org/drawingml/2006/main">
              <a:ext uri="{FF2B5EF4-FFF2-40B4-BE49-F238E27FC236}">
                <a16:creationId xmlns:a16="http://schemas.microsoft.com/office/drawing/2014/main" id="{F0070117-00EE-485A-BDE5-F3601400BC63}"/>
              </a:ext>
            </a:extLst>
          </p:cNvPr>
          <p:cNvSpPr>
            <a:spLocks xmlns:a="http://schemas.openxmlformats.org/drawingml/2006/main" noGrp="1"/>
          </p:cNvSpPr>
          <p:nvPr/>
        </p:nvSpPr>
        <p:spPr>
          <a:xfrm xmlns:a="http://schemas.openxmlformats.org/drawingml/2006/main">
            <a:off x="469011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A36A4C-3647-4104-B258-5F04B9B700B8}"/>
              </a:ext>
            </a:extLst>
          </p:cNvPr>
          <p:cNvSpPr>
            <a:spLocks xmlns:a="http://schemas.openxmlformats.org/drawingml/2006/main" noGrp="1"/>
          </p:cNvSpPr>
          <p:nvPr/>
        </p:nvSpPr>
        <p:spPr>
          <a:xfrm xmlns:a="http://schemas.openxmlformats.org/drawingml/2006/main">
            <a:off x="542353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4BB8C60-C383-4A52-A62B-3CCAEB4D35F1}"/>
              </a:ext>
            </a:extLst>
          </p:cNvPr>
          <p:cNvSpPr>
            <a:spLocks xmlns:a="http://schemas.openxmlformats.org/drawingml/2006/main" noGrp="1"/>
          </p:cNvSpPr>
          <p:nvPr/>
        </p:nvSpPr>
        <p:spPr>
          <a:xfrm xmlns:a="http://schemas.openxmlformats.org/drawingml/2006/main">
            <a:off x="549021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83299729-1280-4F94-AE7A-B8D6EA6AC0E8}"/>
              </a:ext>
            </a:extLst>
          </p:cNvPr>
          <p:cNvSpPr>
            <a:spLocks xmlns:a="http://schemas.openxmlformats.org/drawingml/2006/main" noGrp="1"/>
          </p:cNvSpPr>
          <p:nvPr/>
        </p:nvSpPr>
        <p:spPr>
          <a:xfrm xmlns:a="http://schemas.openxmlformats.org/drawingml/2006/main">
            <a:off x="494728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WHERE</a:t>
            </a:r>
          </a:p>
        </p:txBody>
      </p:sp>
      <p:sp>
        <p:nvSpPr>
          <p:cNvPr id="18" name="">
            <a:extLst xmlns:a="http://schemas.openxmlformats.org/drawingml/2006/main">
              <a:ext uri="{FF2B5EF4-FFF2-40B4-BE49-F238E27FC236}">
                <a16:creationId xmlns:a16="http://schemas.microsoft.com/office/drawing/2014/main" id="{59CAA141-337A-4B07-9987-263E51FFAA47}"/>
              </a:ext>
            </a:extLst>
          </p:cNvPr>
          <p:cNvSpPr>
            <a:spLocks xmlns:a="http://schemas.openxmlformats.org/drawingml/2006/main" noGrp="1"/>
          </p:cNvSpPr>
          <p:nvPr/>
        </p:nvSpPr>
        <p:spPr>
          <a:xfrm xmlns:a="http://schemas.openxmlformats.org/drawingml/2006/main">
            <a:off x="489966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Airports, gated homes, malls, offices, and metro or railway stations.</a:t>
            </a:r>
          </a:p>
        </p:txBody>
      </p:sp>
      <p:sp>
        <p:nvSpPr>
          <p:cNvPr id="19" name="">
            <a:extLst xmlns:a="http://schemas.openxmlformats.org/drawingml/2006/main">
              <a:ext uri="{FF2B5EF4-FFF2-40B4-BE49-F238E27FC236}">
                <a16:creationId xmlns:a16="http://schemas.microsoft.com/office/drawing/2014/main" id="{49FABDD7-8F4E-479E-B937-85BE3EB65DA6}"/>
              </a:ext>
            </a:extLst>
          </p:cNvPr>
          <p:cNvSpPr>
            <a:spLocks xmlns:a="http://schemas.openxmlformats.org/drawingml/2006/main" noGrp="1"/>
          </p:cNvSpPr>
          <p:nvPr/>
        </p:nvSpPr>
        <p:spPr>
          <a:xfrm xmlns:a="http://schemas.openxmlformats.org/drawingml/2006/main">
            <a:off x="677799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A7173C3-24FD-4431-B332-C753A81B463C}"/>
              </a:ext>
            </a:extLst>
          </p:cNvPr>
          <p:cNvSpPr>
            <a:spLocks xmlns:a="http://schemas.openxmlformats.org/drawingml/2006/main" noGrp="1"/>
          </p:cNvSpPr>
          <p:nvPr/>
        </p:nvSpPr>
        <p:spPr>
          <a:xfrm xmlns:a="http://schemas.openxmlformats.org/drawingml/2006/main">
            <a:off x="751141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9FBBD27-857E-4D0C-A7FD-D63D4389E413}"/>
              </a:ext>
            </a:extLst>
          </p:cNvPr>
          <p:cNvSpPr>
            <a:spLocks xmlns:a="http://schemas.openxmlformats.org/drawingml/2006/main" noGrp="1"/>
          </p:cNvSpPr>
          <p:nvPr/>
        </p:nvSpPr>
        <p:spPr>
          <a:xfrm xmlns:a="http://schemas.openxmlformats.org/drawingml/2006/main">
            <a:off x="757809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04</a:t>
            </a:r>
          </a:p>
        </p:txBody>
      </p:sp>
      <p:sp>
        <p:nvSpPr>
          <p:cNvPr id="22" name="">
            <a:extLst xmlns:a="http://schemas.openxmlformats.org/drawingml/2006/main">
              <a:ext uri="{FF2B5EF4-FFF2-40B4-BE49-F238E27FC236}">
                <a16:creationId xmlns:a16="http://schemas.microsoft.com/office/drawing/2014/main" id="{19C41543-0B8A-43F1-BC68-C45D24C8CDC1}"/>
              </a:ext>
            </a:extLst>
          </p:cNvPr>
          <p:cNvSpPr>
            <a:spLocks xmlns:a="http://schemas.openxmlformats.org/drawingml/2006/main" noGrp="1"/>
          </p:cNvSpPr>
          <p:nvPr/>
        </p:nvSpPr>
        <p:spPr>
          <a:xfrm xmlns:a="http://schemas.openxmlformats.org/drawingml/2006/main">
            <a:off x="703516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WHEN</a:t>
            </a:r>
          </a:p>
        </p:txBody>
      </p:sp>
      <p:sp>
        <p:nvSpPr>
          <p:cNvPr id="23" name="">
            <a:extLst xmlns:a="http://schemas.openxmlformats.org/drawingml/2006/main">
              <a:ext uri="{FF2B5EF4-FFF2-40B4-BE49-F238E27FC236}">
                <a16:creationId xmlns:a16="http://schemas.microsoft.com/office/drawing/2014/main" id="{A3C37A7B-18A3-4B24-A440-61A5BFEB7080}"/>
              </a:ext>
            </a:extLst>
          </p:cNvPr>
          <p:cNvSpPr>
            <a:spLocks xmlns:a="http://schemas.openxmlformats.org/drawingml/2006/main" noGrp="1"/>
          </p:cNvSpPr>
          <p:nvPr/>
        </p:nvSpPr>
        <p:spPr>
          <a:xfrm xmlns:a="http://schemas.openxmlformats.org/drawingml/2006/main">
            <a:off x="698754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After booking, mainly as the driver approaches or is marked arrived.</a:t>
            </a:r>
          </a:p>
        </p:txBody>
      </p:sp>
      <p:sp>
        <p:nvSpPr>
          <p:cNvPr id="24" name="">
            <a:extLst xmlns:a="http://schemas.openxmlformats.org/drawingml/2006/main">
              <a:ext uri="{FF2B5EF4-FFF2-40B4-BE49-F238E27FC236}">
                <a16:creationId xmlns:a16="http://schemas.microsoft.com/office/drawing/2014/main" id="{8AE29DD4-A84C-43FF-9782-CE02A4B8C329}"/>
              </a:ext>
            </a:extLst>
          </p:cNvPr>
          <p:cNvSpPr>
            <a:spLocks xmlns:a="http://schemas.openxmlformats.org/drawingml/2006/main" noGrp="1"/>
          </p:cNvSpPr>
          <p:nvPr/>
        </p:nvSpPr>
        <p:spPr>
          <a:xfrm xmlns:a="http://schemas.openxmlformats.org/drawingml/2006/main">
            <a:off x="886587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033CFDB-DFF0-4359-8C9F-DB52F5A8DC97}"/>
              </a:ext>
            </a:extLst>
          </p:cNvPr>
          <p:cNvSpPr>
            <a:spLocks xmlns:a="http://schemas.openxmlformats.org/drawingml/2006/main" noGrp="1"/>
          </p:cNvSpPr>
          <p:nvPr/>
        </p:nvSpPr>
        <p:spPr>
          <a:xfrm xmlns:a="http://schemas.openxmlformats.org/drawingml/2006/main">
            <a:off x="959929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0379B2A-88DB-47A7-966F-E434E681368E}"/>
              </a:ext>
            </a:extLst>
          </p:cNvPr>
          <p:cNvSpPr>
            <a:spLocks xmlns:a="http://schemas.openxmlformats.org/drawingml/2006/main" noGrp="1"/>
          </p:cNvSpPr>
          <p:nvPr/>
        </p:nvSpPr>
        <p:spPr>
          <a:xfrm xmlns:a="http://schemas.openxmlformats.org/drawingml/2006/main">
            <a:off x="966597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05</a:t>
            </a:r>
          </a:p>
        </p:txBody>
      </p:sp>
      <p:sp>
        <p:nvSpPr>
          <p:cNvPr id="27" name="">
            <a:extLst xmlns:a="http://schemas.openxmlformats.org/drawingml/2006/main">
              <a:ext uri="{FF2B5EF4-FFF2-40B4-BE49-F238E27FC236}">
                <a16:creationId xmlns:a16="http://schemas.microsoft.com/office/drawing/2014/main" id="{D187F7D1-7A9A-4F11-8BE8-4A1BC97FE5A6}"/>
              </a:ext>
            </a:extLst>
          </p:cNvPr>
          <p:cNvSpPr>
            <a:spLocks xmlns:a="http://schemas.openxmlformats.org/drawingml/2006/main" noGrp="1"/>
          </p:cNvSpPr>
          <p:nvPr/>
        </p:nvSpPr>
        <p:spPr>
          <a:xfrm xmlns:a="http://schemas.openxmlformats.org/drawingml/2006/main">
            <a:off x="912304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WHY</a:t>
            </a:r>
          </a:p>
        </p:txBody>
      </p:sp>
      <p:sp>
        <p:nvSpPr>
          <p:cNvPr id="28" name="">
            <a:extLst xmlns:a="http://schemas.openxmlformats.org/drawingml/2006/main">
              <a:ext uri="{FF2B5EF4-FFF2-40B4-BE49-F238E27FC236}">
                <a16:creationId xmlns:a16="http://schemas.microsoft.com/office/drawing/2014/main" id="{24374CF0-BE9B-44FE-A0E7-2A1F85D6D1E8}"/>
              </a:ext>
            </a:extLst>
          </p:cNvPr>
          <p:cNvSpPr>
            <a:spLocks xmlns:a="http://schemas.openxmlformats.org/drawingml/2006/main" noGrp="1"/>
          </p:cNvSpPr>
          <p:nvPr/>
        </p:nvSpPr>
        <p:spPr>
          <a:xfrm xmlns:a="http://schemas.openxmlformats.org/drawingml/2006/main">
            <a:off x="907542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Extra calls, waiting, movement, and delayed trip starts reduce pickup reliability.</a:t>
            </a:r>
          </a:p>
        </p:txBody>
      </p:sp>
      <p:sp>
        <p:nvSpPr>
          <p:cNvPr id="29" name="">
            <a:extLst xmlns:a="http://schemas.openxmlformats.org/drawingml/2006/main">
              <a:ext uri="{FF2B5EF4-FFF2-40B4-BE49-F238E27FC236}">
                <a16:creationId xmlns:a16="http://schemas.microsoft.com/office/drawing/2014/main" id="{6AF3A784-B151-433B-B3A2-9B9B82A258CB}"/>
              </a:ext>
            </a:extLst>
          </p:cNvPr>
          <p:cNvSpPr>
            <a:spLocks xmlns:a="http://schemas.openxmlformats.org/drawingml/2006/main" noGrp="1"/>
          </p:cNvSpPr>
          <p:nvPr/>
        </p:nvSpPr>
        <p:spPr>
          <a:xfrm xmlns:a="http://schemas.openxmlformats.org/drawingml/2006/main">
            <a:off x="514350" y="5219700"/>
            <a:ext cx="10439400" cy="74295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05DBF5E-D08A-46EE-AED8-AF79756C7C86}"/>
              </a:ext>
            </a:extLst>
          </p:cNvPr>
          <p:cNvSpPr>
            <a:spLocks xmlns:a="http://schemas.openxmlformats.org/drawingml/2006/main" noGrp="1"/>
          </p:cNvSpPr>
          <p:nvPr/>
        </p:nvSpPr>
        <p:spPr>
          <a:xfrm xmlns:a="http://schemas.openxmlformats.org/drawingml/2006/main">
            <a:off x="742950" y="5381625"/>
            <a:ext cx="998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7963"/>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Evidence check: the survey supports the direction, but root causes, driver impact, and venue constraints still need moderated and field validation.</a:t>
            </a:r>
          </a:p>
        </p:txBody>
      </p:sp>
      <p:sp>
        <p:nvSpPr>
          <p:cNvPr id="31" name="">
            <a:extLst xmlns:a="http://schemas.openxmlformats.org/drawingml/2006/main">
              <a:ext uri="{FF2B5EF4-FFF2-40B4-BE49-F238E27FC236}">
                <a16:creationId xmlns:a16="http://schemas.microsoft.com/office/drawing/2014/main" id="{6B660536-2C1B-49FD-8D09-42ACCAE5918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32" name="">
            <a:extLst xmlns:a="http://schemas.openxmlformats.org/drawingml/2006/main">
              <a:ext uri="{FF2B5EF4-FFF2-40B4-BE49-F238E27FC236}">
                <a16:creationId xmlns:a16="http://schemas.microsoft.com/office/drawing/2014/main" id="{A43DD0D2-75FC-4815-A612-A4CC3C2F6F4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582509387"/>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029BC77-CA09-457C-907C-FD16AECBCF8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STATEMENT</a:t>
            </a:r>
          </a:p>
        </p:txBody>
      </p:sp>
      <p:sp>
        <p:nvSpPr>
          <p:cNvPr id="2" name="">
            <a:extLst xmlns:a="http://schemas.openxmlformats.org/drawingml/2006/main">
              <a:ext uri="{FF2B5EF4-FFF2-40B4-BE49-F238E27FC236}">
                <a16:creationId xmlns:a16="http://schemas.microsoft.com/office/drawing/2014/main" id="{CBC8B65C-38BF-4842-B858-733287DC85F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specific, evidence-based, and focused statement</a:t>
            </a:r>
          </a:p>
        </p:txBody>
      </p:sp>
      <p:sp>
        <p:nvSpPr>
          <p:cNvPr id="3" name="">
            <a:extLst xmlns:a="http://schemas.openxmlformats.org/drawingml/2006/main">
              <a:ext uri="{FF2B5EF4-FFF2-40B4-BE49-F238E27FC236}">
                <a16:creationId xmlns:a16="http://schemas.microsoft.com/office/drawing/2014/main" id="{1438BDBF-74ED-418B-938A-81314D76C9EE}"/>
              </a:ext>
            </a:extLst>
          </p:cNvPr>
          <p:cNvSpPr>
            <a:spLocks xmlns:a="http://schemas.openxmlformats.org/drawingml/2006/main" noGrp="1"/>
          </p:cNvSpPr>
          <p:nvPr/>
        </p:nvSpPr>
        <p:spPr>
          <a:xfrm xmlns:a="http://schemas.openxmlformats.org/drawingml/2006/main">
            <a:off x="514350" y="1657350"/>
            <a:ext cx="400050" cy="4000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FE8326-AC09-4260-A599-2A855EF208FF}"/>
              </a:ext>
            </a:extLst>
          </p:cNvPr>
          <p:cNvSpPr>
            <a:spLocks xmlns:a="http://schemas.openxmlformats.org/drawingml/2006/main" noGrp="1"/>
          </p:cNvSpPr>
          <p:nvPr/>
        </p:nvSpPr>
        <p:spPr>
          <a:xfrm xmlns:a="http://schemas.openxmlformats.org/drawingml/2006/main">
            <a:off x="571500" y="17145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F4ECD5D7-A2C2-4E33-A19C-D3CFB1F5EBDA}"/>
              </a:ext>
            </a:extLst>
          </p:cNvPr>
          <p:cNvSpPr>
            <a:spLocks xmlns:a="http://schemas.openxmlformats.org/drawingml/2006/main" noGrp="1"/>
          </p:cNvSpPr>
          <p:nvPr/>
        </p:nvSpPr>
        <p:spPr>
          <a:xfrm xmlns:a="http://schemas.openxmlformats.org/drawingml/2006/main">
            <a:off x="1104900" y="1619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SPECIFIC USER</a:t>
            </a:r>
          </a:p>
        </p:txBody>
      </p:sp>
      <p:sp>
        <p:nvSpPr>
          <p:cNvPr id="6" name="">
            <a:extLst xmlns:a="http://schemas.openxmlformats.org/drawingml/2006/main">
              <a:ext uri="{FF2B5EF4-FFF2-40B4-BE49-F238E27FC236}">
                <a16:creationId xmlns:a16="http://schemas.microsoft.com/office/drawing/2014/main" id="{7F5512B7-3734-41C8-B0E2-221F190B9C46}"/>
              </a:ext>
            </a:extLst>
          </p:cNvPr>
          <p:cNvSpPr>
            <a:spLocks xmlns:a="http://schemas.openxmlformats.org/drawingml/2006/main" noGrp="1"/>
          </p:cNvSpPr>
          <p:nvPr/>
        </p:nvSpPr>
        <p:spPr>
          <a:xfrm xmlns:a="http://schemas.openxmlformats.org/drawingml/2006/main">
            <a:off x="1104900" y="1943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Hyderabad four-wheel riders starting from complex pickup locations.</a:t>
            </a:r>
          </a:p>
        </p:txBody>
      </p:sp>
      <p:sp>
        <p:nvSpPr>
          <p:cNvPr id="7" name="">
            <a:extLst xmlns:a="http://schemas.openxmlformats.org/drawingml/2006/main">
              <a:ext uri="{FF2B5EF4-FFF2-40B4-BE49-F238E27FC236}">
                <a16:creationId xmlns:a16="http://schemas.microsoft.com/office/drawing/2014/main" id="{56427B6F-11EC-4EFF-A2C0-5FF09061E2F5}"/>
              </a:ext>
            </a:extLst>
          </p:cNvPr>
          <p:cNvSpPr>
            <a:spLocks xmlns:a="http://schemas.openxmlformats.org/drawingml/2006/main" noGrp="1"/>
          </p:cNvSpPr>
          <p:nvPr/>
        </p:nvSpPr>
        <p:spPr>
          <a:xfrm xmlns:a="http://schemas.openxmlformats.org/drawingml/2006/main">
            <a:off x="514350" y="24955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9DBE22-8924-4946-8865-499FE57AE968}"/>
              </a:ext>
            </a:extLst>
          </p:cNvPr>
          <p:cNvSpPr>
            <a:spLocks xmlns:a="http://schemas.openxmlformats.org/drawingml/2006/main" noGrp="1"/>
          </p:cNvSpPr>
          <p:nvPr/>
        </p:nvSpPr>
        <p:spPr>
          <a:xfrm xmlns:a="http://schemas.openxmlformats.org/drawingml/2006/main">
            <a:off x="514350" y="26670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A84C71-51A7-46EF-A25B-C4240350C78F}"/>
              </a:ext>
            </a:extLst>
          </p:cNvPr>
          <p:cNvSpPr>
            <a:spLocks xmlns:a="http://schemas.openxmlformats.org/drawingml/2006/main" noGrp="1"/>
          </p:cNvSpPr>
          <p:nvPr/>
        </p:nvSpPr>
        <p:spPr>
          <a:xfrm xmlns:a="http://schemas.openxmlformats.org/drawingml/2006/main">
            <a:off x="571500" y="27241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3255866A-8077-4874-88C6-A6BFA8CDD1B9}"/>
              </a:ext>
            </a:extLst>
          </p:cNvPr>
          <p:cNvSpPr>
            <a:spLocks xmlns:a="http://schemas.openxmlformats.org/drawingml/2006/main" noGrp="1"/>
          </p:cNvSpPr>
          <p:nvPr/>
        </p:nvSpPr>
        <p:spPr>
          <a:xfrm xmlns:a="http://schemas.openxmlformats.org/drawingml/2006/main">
            <a:off x="1104900" y="2628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CLEAR PAIN</a:t>
            </a:r>
          </a:p>
        </p:txBody>
      </p:sp>
      <p:sp>
        <p:nvSpPr>
          <p:cNvPr id="11" name="">
            <a:extLst xmlns:a="http://schemas.openxmlformats.org/drawingml/2006/main">
              <a:ext uri="{FF2B5EF4-FFF2-40B4-BE49-F238E27FC236}">
                <a16:creationId xmlns:a16="http://schemas.microsoft.com/office/drawing/2014/main" id="{5B71116C-D977-428E-A7E4-1A02F631248B}"/>
              </a:ext>
            </a:extLst>
          </p:cNvPr>
          <p:cNvSpPr>
            <a:spLocks xmlns:a="http://schemas.openxmlformats.org/drawingml/2006/main" noGrp="1"/>
          </p:cNvSpPr>
          <p:nvPr/>
        </p:nvSpPr>
        <p:spPr>
          <a:xfrm xmlns:a="http://schemas.openxmlformats.org/drawingml/2006/main">
            <a:off x="1104900" y="29527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The rider and driver lack one shared, workable meeting point.</a:t>
            </a:r>
          </a:p>
        </p:txBody>
      </p:sp>
      <p:sp>
        <p:nvSpPr>
          <p:cNvPr id="12" name="">
            <a:extLst xmlns:a="http://schemas.openxmlformats.org/drawingml/2006/main">
              <a:ext uri="{FF2B5EF4-FFF2-40B4-BE49-F238E27FC236}">
                <a16:creationId xmlns:a16="http://schemas.microsoft.com/office/drawing/2014/main" id="{C0B9303E-D157-4BC3-A1D6-E7B19BC3F194}"/>
              </a:ext>
            </a:extLst>
          </p:cNvPr>
          <p:cNvSpPr>
            <a:spLocks xmlns:a="http://schemas.openxmlformats.org/drawingml/2006/main" noGrp="1"/>
          </p:cNvSpPr>
          <p:nvPr/>
        </p:nvSpPr>
        <p:spPr>
          <a:xfrm xmlns:a="http://schemas.openxmlformats.org/drawingml/2006/main">
            <a:off x="514350" y="350520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44053A-F309-47F5-9B25-D07182CF6CBB}"/>
              </a:ext>
            </a:extLst>
          </p:cNvPr>
          <p:cNvSpPr>
            <a:spLocks xmlns:a="http://schemas.openxmlformats.org/drawingml/2006/main" noGrp="1"/>
          </p:cNvSpPr>
          <p:nvPr/>
        </p:nvSpPr>
        <p:spPr>
          <a:xfrm xmlns:a="http://schemas.openxmlformats.org/drawingml/2006/main">
            <a:off x="514350" y="367665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9B7484-1173-4B5E-97C6-6A830961F89D}"/>
              </a:ext>
            </a:extLst>
          </p:cNvPr>
          <p:cNvSpPr>
            <a:spLocks xmlns:a="http://schemas.openxmlformats.org/drawingml/2006/main" noGrp="1"/>
          </p:cNvSpPr>
          <p:nvPr/>
        </p:nvSpPr>
        <p:spPr>
          <a:xfrm xmlns:a="http://schemas.openxmlformats.org/drawingml/2006/main">
            <a:off x="571500" y="37338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7069F145-7AF8-44EB-83B6-7B7128601D48}"/>
              </a:ext>
            </a:extLst>
          </p:cNvPr>
          <p:cNvSpPr>
            <a:spLocks xmlns:a="http://schemas.openxmlformats.org/drawingml/2006/main" noGrp="1"/>
          </p:cNvSpPr>
          <p:nvPr/>
        </p:nvSpPr>
        <p:spPr>
          <a:xfrm xmlns:a="http://schemas.openxmlformats.org/drawingml/2006/main">
            <a:off x="1104900" y="36385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VISIBLE IMPACT</a:t>
            </a:r>
          </a:p>
        </p:txBody>
      </p:sp>
      <p:sp>
        <p:nvSpPr>
          <p:cNvPr id="16" name="">
            <a:extLst xmlns:a="http://schemas.openxmlformats.org/drawingml/2006/main">
              <a:ext uri="{FF2B5EF4-FFF2-40B4-BE49-F238E27FC236}">
                <a16:creationId xmlns:a16="http://schemas.microsoft.com/office/drawing/2014/main" id="{63538A87-15AB-4437-9E98-4A3AFB28B9B5}"/>
              </a:ext>
            </a:extLst>
          </p:cNvPr>
          <p:cNvSpPr>
            <a:spLocks xmlns:a="http://schemas.openxmlformats.org/drawingml/2006/main" noGrp="1"/>
          </p:cNvSpPr>
          <p:nvPr/>
        </p:nvSpPr>
        <p:spPr>
          <a:xfrm xmlns:a="http://schemas.openxmlformats.org/drawingml/2006/main">
            <a:off x="1104900" y="39624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Extra calls, waiting, movement, and delayed trip starts.</a:t>
            </a:r>
          </a:p>
        </p:txBody>
      </p:sp>
      <p:sp>
        <p:nvSpPr>
          <p:cNvPr id="17" name="">
            <a:extLst xmlns:a="http://schemas.openxmlformats.org/drawingml/2006/main">
              <a:ext uri="{FF2B5EF4-FFF2-40B4-BE49-F238E27FC236}">
                <a16:creationId xmlns:a16="http://schemas.microsoft.com/office/drawing/2014/main" id="{7B58A8B8-904D-4D1F-A0C3-03EC745BE222}"/>
              </a:ext>
            </a:extLst>
          </p:cNvPr>
          <p:cNvSpPr>
            <a:spLocks xmlns:a="http://schemas.openxmlformats.org/drawingml/2006/main" noGrp="1"/>
          </p:cNvSpPr>
          <p:nvPr/>
        </p:nvSpPr>
        <p:spPr>
          <a:xfrm xmlns:a="http://schemas.openxmlformats.org/drawingml/2006/main">
            <a:off x="514350" y="45148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BFCE087-4E23-42F4-9203-AD2F4F6CB2A5}"/>
              </a:ext>
            </a:extLst>
          </p:cNvPr>
          <p:cNvSpPr>
            <a:spLocks xmlns:a="http://schemas.openxmlformats.org/drawingml/2006/main" noGrp="1"/>
          </p:cNvSpPr>
          <p:nvPr/>
        </p:nvSpPr>
        <p:spPr>
          <a:xfrm xmlns:a="http://schemas.openxmlformats.org/drawingml/2006/main">
            <a:off x="514350" y="46863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FB492CC-F8B5-4218-9ABB-23FB1CCB81FF}"/>
              </a:ext>
            </a:extLst>
          </p:cNvPr>
          <p:cNvSpPr>
            <a:spLocks xmlns:a="http://schemas.openxmlformats.org/drawingml/2006/main" noGrp="1"/>
          </p:cNvSpPr>
          <p:nvPr/>
        </p:nvSpPr>
        <p:spPr>
          <a:xfrm xmlns:a="http://schemas.openxmlformats.org/drawingml/2006/main">
            <a:off x="571500" y="47434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4</a:t>
            </a:r>
          </a:p>
        </p:txBody>
      </p:sp>
      <p:sp>
        <p:nvSpPr>
          <p:cNvPr id="20" name="">
            <a:extLst xmlns:a="http://schemas.openxmlformats.org/drawingml/2006/main">
              <a:ext uri="{FF2B5EF4-FFF2-40B4-BE49-F238E27FC236}">
                <a16:creationId xmlns:a16="http://schemas.microsoft.com/office/drawing/2014/main" id="{C5B15E0E-10E3-4EB9-B902-E0B747A1F2C7}"/>
              </a:ext>
            </a:extLst>
          </p:cNvPr>
          <p:cNvSpPr>
            <a:spLocks xmlns:a="http://schemas.openxmlformats.org/drawingml/2006/main" noGrp="1"/>
          </p:cNvSpPr>
          <p:nvPr/>
        </p:nvSpPr>
        <p:spPr>
          <a:xfrm xmlns:a="http://schemas.openxmlformats.org/drawingml/2006/main">
            <a:off x="1104900" y="46482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DEFINED SCOPE</a:t>
            </a:r>
          </a:p>
        </p:txBody>
      </p:sp>
      <p:sp>
        <p:nvSpPr>
          <p:cNvPr id="21" name="">
            <a:extLst xmlns:a="http://schemas.openxmlformats.org/drawingml/2006/main">
              <a:ext uri="{FF2B5EF4-FFF2-40B4-BE49-F238E27FC236}">
                <a16:creationId xmlns:a16="http://schemas.microsoft.com/office/drawing/2014/main" id="{1A1ACEA0-E8DB-4F15-9E63-FAC61A4E8908}"/>
              </a:ext>
            </a:extLst>
          </p:cNvPr>
          <p:cNvSpPr>
            <a:spLocks xmlns:a="http://schemas.openxmlformats.org/drawingml/2006/main" noGrp="1"/>
          </p:cNvSpPr>
          <p:nvPr/>
        </p:nvSpPr>
        <p:spPr>
          <a:xfrm xmlns:a="http://schemas.openxmlformats.org/drawingml/2006/main">
            <a:off x="1104900" y="49720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Airports, gated residences, malls, offices, and stations. Not every ride.</a:t>
            </a:r>
          </a:p>
        </p:txBody>
      </p:sp>
      <p:sp>
        <p:nvSpPr>
          <p:cNvPr id="22" name="">
            <a:extLst xmlns:a="http://schemas.openxmlformats.org/drawingml/2006/main">
              <a:ext uri="{FF2B5EF4-FFF2-40B4-BE49-F238E27FC236}">
                <a16:creationId xmlns:a16="http://schemas.microsoft.com/office/drawing/2014/main" id="{6504F777-18B5-44AF-82DE-F427C61BDC7D}"/>
              </a:ext>
            </a:extLst>
          </p:cNvPr>
          <p:cNvSpPr>
            <a:spLocks xmlns:a="http://schemas.openxmlformats.org/drawingml/2006/main" noGrp="1"/>
          </p:cNvSpPr>
          <p:nvPr/>
        </p:nvSpPr>
        <p:spPr>
          <a:xfrm xmlns:a="http://schemas.openxmlformats.org/drawingml/2006/main">
            <a:off x="5238750" y="1619250"/>
            <a:ext cx="5715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E8ECF1"/>
            </a:solidFill>
            <a:prstDash val="solid"/>
          </a:ln>
        </p:spPr>
      </p:sp>
      <p:sp>
        <p:nvSpPr>
          <p:cNvPr id="23" name="">
            <a:extLst xmlns:a="http://schemas.openxmlformats.org/drawingml/2006/main">
              <a:ext uri="{FF2B5EF4-FFF2-40B4-BE49-F238E27FC236}">
                <a16:creationId xmlns:a16="http://schemas.microsoft.com/office/drawing/2014/main" id="{D4C46919-4F6F-49E1-AF06-81D5C17A6E2D}"/>
              </a:ext>
            </a:extLst>
          </p:cNvPr>
          <p:cNvSpPr>
            <a:spLocks xmlns:a="http://schemas.openxmlformats.org/drawingml/2006/main" noGrp="1"/>
          </p:cNvSpPr>
          <p:nvPr/>
        </p:nvSpPr>
        <p:spPr>
          <a:xfrm xmlns:a="http://schemas.openxmlformats.org/drawingml/2006/main">
            <a:off x="5562600" y="18859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FINAL PROBLEM STATEMENT</a:t>
            </a:r>
          </a:p>
        </p:txBody>
      </p:sp>
      <p:sp>
        <p:nvSpPr>
          <p:cNvPr id="24" name="">
            <a:extLst xmlns:a="http://schemas.openxmlformats.org/drawingml/2006/main">
              <a:ext uri="{FF2B5EF4-FFF2-40B4-BE49-F238E27FC236}">
                <a16:creationId xmlns:a16="http://schemas.microsoft.com/office/drawing/2014/main" id="{44477749-8D4B-4CE8-B036-E3D3E471F8D8}"/>
              </a:ext>
            </a:extLst>
          </p:cNvPr>
          <p:cNvSpPr>
            <a:spLocks xmlns:a="http://schemas.openxmlformats.org/drawingml/2006/main" noGrp="1"/>
          </p:cNvSpPr>
          <p:nvPr/>
        </p:nvSpPr>
        <p:spPr>
          <a:xfrm xmlns:a="http://schemas.openxmlformats.org/drawingml/2006/main">
            <a:off x="5562600" y="2305050"/>
            <a:ext cx="5067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For Hyderabad four-wheel riders starting from complex locations, the pickup pin may show the correct general area but still fail to give the rider and driver one shared, workable meeting point.</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This causes extra calls, waiting, movement, and delayed trip starts.</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Uber should solve this to reduce recovery effort and improve pickup reliability, while respecting driver access and stopping constraints.</a:t>
            </a:r>
          </a:p>
        </p:txBody>
      </p:sp>
      <p:sp>
        <p:nvSpPr>
          <p:cNvPr id="25" name="">
            <a:extLst xmlns:a="http://schemas.openxmlformats.org/drawingml/2006/main">
              <a:ext uri="{FF2B5EF4-FFF2-40B4-BE49-F238E27FC236}">
                <a16:creationId xmlns:a16="http://schemas.microsoft.com/office/drawing/2014/main" id="{992AC3C6-D5B1-45A9-91D8-44FFFAC78389}"/>
              </a:ext>
            </a:extLst>
          </p:cNvPr>
          <p:cNvSpPr>
            <a:spLocks xmlns:a="http://schemas.openxmlformats.org/drawingml/2006/main" noGrp="1"/>
          </p:cNvSpPr>
          <p:nvPr/>
        </p:nvSpPr>
        <p:spPr>
          <a:xfrm xmlns:a="http://schemas.openxmlformats.org/drawingml/2006/main">
            <a:off x="5238750" y="5276850"/>
            <a:ext cx="57150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E2DDFE0-C00E-43D7-9E39-74C0D31F75E3}"/>
              </a:ext>
            </a:extLst>
          </p:cNvPr>
          <p:cNvSpPr>
            <a:spLocks xmlns:a="http://schemas.openxmlformats.org/drawingml/2006/main" noGrp="1"/>
          </p:cNvSpPr>
          <p:nvPr/>
        </p:nvSpPr>
        <p:spPr>
          <a:xfrm xmlns:a="http://schemas.openxmlformats.org/drawingml/2006/main">
            <a:off x="5486400" y="54292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Evidence boundary: directional survey evidence. Moderated interviews and stronger driver validation are still pending.</a:t>
            </a:r>
          </a:p>
        </p:txBody>
      </p:sp>
      <p:sp>
        <p:nvSpPr>
          <p:cNvPr id="27" name="">
            <a:extLst xmlns:a="http://schemas.openxmlformats.org/drawingml/2006/main">
              <a:ext uri="{FF2B5EF4-FFF2-40B4-BE49-F238E27FC236}">
                <a16:creationId xmlns:a16="http://schemas.microsoft.com/office/drawing/2014/main" id="{DFC8B18E-311D-436D-9C16-87459E40260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8" name="">
            <a:extLst xmlns:a="http://schemas.openxmlformats.org/drawingml/2006/main">
              <a:ext uri="{FF2B5EF4-FFF2-40B4-BE49-F238E27FC236}">
                <a16:creationId xmlns:a16="http://schemas.microsoft.com/office/drawing/2014/main" id="{5EE9B482-70D6-42E3-B6D3-44E1B2CFC9E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763950233"/>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92F223-D0F7-4798-A19F-68902EAD1CE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A40550B8-62F2-4EA1-B2CD-1D4AC121578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B46214D2-491C-40E1-AB1D-C7BE2B11DB8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ADD366E7-EF15-4555-B720-CC51E8436347}"/>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189CDF2F-792C-483D-82B2-A515550CE647}"/>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7D4AA6B-4921-4023-96DF-C59293527C94}"/>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54305C73-4354-4562-A950-A333FA6C123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922E9782-26BE-4BD6-8FC6-C32BD7ABA0F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747636670"/>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6D003B4-6B9C-4FD2-B4FC-0CDE325FFDC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70B167C5-7D39-4DE4-8A07-4DF8EB0112BA}"/>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8A8EB815-9403-4971-9829-347B4B328EA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4716C82E-6458-47EC-AF86-CEE03B15DF14}"/>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7E1D8D-C740-4F2F-8714-0C92CD88BAD6}"/>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4D26CE94-9DDB-43FF-95AA-1A9E1219F409}"/>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C1195E4B-D9AB-4147-A9F6-408806E768B8}"/>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296588A-4325-4AB5-A9E6-BA38DBFF3FD5}"/>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4D93D739-1943-41D9-A2B4-127A61B43E0C}"/>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FD9DE3D2-C8C9-4E7F-BB7A-78CB1459157D}"/>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5632A6-D5D8-4E3D-92EF-3ED96635E721}"/>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94A4D962-5289-47D3-BA9E-9A1DEAEAD6DF}"/>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A4695421-6D17-44DD-A009-99BE32FC1439}"/>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DDE4DC-6EDC-497F-B1B1-29EB9AE2174E}"/>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D0899106-4B0C-41A5-BCCF-46AE71EAAEBF}"/>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2AA38656-CA25-42B5-B6B4-BA5BA082F7DB}"/>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E87004E-4AAD-40C0-AABD-3E3091D00D67}"/>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41FB9289-5CC4-4F22-A810-4CE7A663001A}"/>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5097E3D3-038E-44E6-907C-04E99947C80B}"/>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C7F23B-59EA-4F3A-86B8-384897F59C11}"/>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C9F92014-B320-4A68-B53E-D602AEFC258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8D345F87-CBAF-489F-B885-F13D2AA7AFD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925634155"/>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CD0F33F3-41B3-4C44-9A10-548959942C3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F31204BF-17C0-4656-8B8E-81D140757BD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DBBC923A-85BA-4462-9605-8779278FA6C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93D4FF86-4C81-46AF-990E-BB002F19AD7C}"/>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F8537417-0528-4018-BABE-309BFF1EDCDF}"/>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B3D225CA-B992-4E9E-8027-BD422C587F4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585D22E-D9D2-4DC6-9E88-04068830729F}"/>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830ED8-E66B-437D-B55D-871D7902CF26}"/>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8BE208DA-1DF5-42F0-8A7E-C76474328AB6}"/>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1D7C74B4-2B18-45FC-8AFE-FDF13B9EAFAE}"/>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815272-5FFD-4AD7-A4A0-169173ECBF29}"/>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56F214-9399-44A1-82FF-DC0A322FA2C9}"/>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4D859256-07DC-4C7E-9D3D-472C0613ED9A}"/>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31446A2D-0C47-46D0-8449-FD1FC6275E8B}"/>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55F26FD-3E4C-4F41-A74C-0CA4C43E2352}"/>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88EC28-A681-451D-B05B-657297682685}"/>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DEEDA71D-9D2E-4706-B7D7-57A4ED8AEB67}"/>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2B59947B-C19D-4ADB-B6BC-0CE4FCB19C17}"/>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E39C04E-AD0E-4686-83A8-5F42B8A1404E}"/>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AC8ED2C-7821-497F-A0B8-82DE5D8BFE58}"/>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BCC3829E-F1B1-4430-9883-F42232B603FE}"/>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AF9BEFB8-A280-414D-B70C-750EE5909780}"/>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0A34C21-D8F1-4FA5-B845-8031FE6CEB6A}"/>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2E807A-E0A8-4133-BC3D-B2A8985286D3}"/>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61B8F07A-7F25-4CF0-B423-48CBE6307CBD}"/>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6919B5E4-DF82-49DF-80BE-8C5445D5ECBF}"/>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C3877BC-AFCA-4989-B5C8-675DCDD96A89}"/>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B531476-D514-420A-962B-64FEFD6DE10C}"/>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C7EFCBC2-AF0B-4E8E-8C32-8FF783BB6C5C}"/>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13F6197C-59C6-4155-9D53-3449B4AE1774}"/>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3E396A4C-280A-4BD0-B364-5AC40E958ACD}"/>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04BF6AB-ED82-4DEF-8508-BDD39A6AFB1D}"/>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D825E6C-C621-41E2-BC1B-42245F9DC576}"/>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83ABB41C-3562-4907-8895-9D968D5D83C3}"/>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54B15FF9-7942-42BC-A5B3-BBC1F4A546E2}"/>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EA59C74-9AD0-4F36-A2BF-9DBFE59DA59F}"/>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218F4DC-EDBB-456C-8660-993B54C24C2A}"/>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1FDC878F-B620-46E1-ABD5-0D815BDD57DE}"/>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2D7EDF6B-9823-4577-B278-DDE3C81ABF4B}"/>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D0B05C1-0541-4BC8-96EE-BE4C3B66532F}"/>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B7810EF-7B31-46D3-A7DF-982F24BD1034}"/>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6E2BE24C-743A-4E44-B0DF-3C3971BF6822}"/>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86F156D4-FF79-4DC4-BF8C-0160FD963127}"/>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EF9C22E-EE65-4024-90EF-D508DA42F60A}"/>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1ADDE7E-A694-429E-B00F-A3FB3677E370}"/>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5A4902B2-5C99-4221-8216-0342FF947C97}"/>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291550D0-5A32-4389-B4A5-CE5BA1A8F0C5}"/>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018B6F8-98AB-43D9-925F-2EB7EB497074}"/>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4F85812-1D1E-4127-BD82-E6609AEB7215}"/>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224CEE09-BC3C-4B4F-9DB8-A86E98504964}"/>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6923C2D9-034A-40DD-A8D1-52E80A0526E2}"/>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443CDB4-321F-44EE-8FC8-980E2B1DCEFB}"/>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1777B470-D581-4839-8206-9458C9373A3D}"/>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7C2EC439-28C1-4C8F-8AB4-FA01880695CE}"/>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97792E4-409B-46A5-BA25-AC1D0048B4F8}"/>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5CB4C9B0-370A-4747-B1E4-E227AA792CD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29374786-6874-4EF3-9292-DAD2F875571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2077458367"/>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774826-4C57-4834-B147-507BEA97E90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6A4AA55F-DAF1-44EB-8A4D-4CAA98459A1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828BA2E8-8791-434B-B9FE-61BB659E212E}"/>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7E4AA2-006C-49F1-968E-04AA8CF2134F}"/>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1E7AE195-B3BD-4CE7-B1F7-DFD88474DA39}"/>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D482B10C-C686-4753-AD6D-C06FAACED4E2}"/>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8B76139-5189-4AFD-90D1-EC27A0B8D81B}"/>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B1116923-D7C3-4449-95D1-592D39A4EBF8}"/>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1FEE9E8D-F282-4A08-994C-AEC2FD7D1F6E}"/>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A94C025A-23B8-4C61-8CE0-81511EB135A7}"/>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C82E946E-D808-4205-919B-0762C09DA9ED}"/>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544A2A4F-A3C3-4E94-9767-73635C9F488D}"/>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8704E81C-E864-4AC6-84F7-EAAC7049204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7F1E7AEE-8DD0-4F03-9AFC-060E589E5FD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814056256"/>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5C7EB8-F2B3-4519-9FB9-19244E158CF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678A8D4C-89DF-47BB-8836-3B41AA3AA60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55963BCF-B2EA-419D-8279-34C5E114C0F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38FBA501-AA95-42F3-A295-CEABF473F2DC}"/>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C984780-9359-4932-998A-361E6237DDC6}"/>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A6A9739A-6582-454B-9047-F05BD4072E8A}"/>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3340FAC6-09F4-4427-A229-F53707F85A1B}"/>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5DBAA116-8BC2-4277-993A-6ACA11577E79}"/>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C2D653CB-FD1B-425A-97C0-71C20303B535}"/>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EA923B47-CB60-4D79-8FA2-C346B8FF6045}"/>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12B29333-B3F9-4042-A2B2-214E1A6599E5}"/>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012F964E-9307-4362-95B1-7089258D93D9}"/>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366D053E-7B51-46D4-9280-B571E0485994}"/>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4C738DAA-7721-4167-9A55-F98B3C50A4B4}"/>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89D4DC26-8434-4F97-AB59-EEC013D1E363}"/>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7FE6340C-5BAB-4CA3-B83F-758438821F1F}"/>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AE304B-8629-4772-A33F-FE85575DD2E8}"/>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F44B110F-CA63-462C-8CB7-93DB5E86EAA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33C0352B-F297-4DF5-BBD5-B37533FC33D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708905339"/>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7135AA-32B9-408B-9904-16E0CB78E2E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D9287CBB-9C8E-424C-8E93-4070B701089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8FA779F2-6E6D-4802-A781-E0F9AF2BFDFE}"/>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8864A75-361A-4B2C-BA26-8E693F01D7D8}"/>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620F62BA-63EA-47D0-BF39-4AE131370354}"/>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A4DC859C-7943-41A4-9E8F-3CAF04FFDE69}"/>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798DE451-5187-4360-A49C-08B66F6DDA7C}"/>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C4DAC28D-BDC9-49E2-84EA-A9F96321B9E8}"/>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E0045188-B097-46EE-A241-CA99C4F49C70}"/>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2D93EF-FD4A-4DC8-8BE8-C6371345D2DF}"/>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CF40A34F-916A-4610-B0A0-F35D1E4B57F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72265CEF-FB28-469A-802C-4B914B74B0F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83496069"/>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18C94D-F0FB-44FC-A632-FA721C2279B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5A3EBDAC-C557-40B6-88C0-45527A888B0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4A306C61-4CE8-43F4-8C8F-5BB598908956}"/>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E4ABDC-65A5-491E-B250-2F438778126E}"/>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5B41879F-0A0A-49D7-AB92-514BB217870C}"/>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6034B6E4-5250-4666-9D2A-C51C89C1414F}"/>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36C80A3C-924C-4D31-9338-50F37E421668}"/>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CB66AD78-8962-47C5-A5EA-7B9FCF355E99}"/>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6F38EEB9-82D2-453C-A521-F7841719DCF4}"/>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B5643C1F-F290-46B8-82D0-B5C0E55F1D47}"/>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98C2397C-3EFF-42A3-9D4E-D2E4CDDB4754}"/>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E28EAE46-1F72-4E0E-8F02-89F95AA95903}"/>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3DBA2FB2-46F6-4C92-B816-3415CC870F52}"/>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10D977DD-F3B5-4185-A3D3-12155943F837}"/>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16607692-50C9-4FFC-BE4F-232D386022E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B4E6ACEA-8890-4199-AEF7-9DDA64BF24E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630833173"/>
      </p:ext>
    </p:extLst>
  </p:cSld>
</p:sld>
</file>

<file path=ppt/slides/slide15.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052192-DE6B-4EAE-AAFB-4358571EF945}"/>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C8D14FBD-6ECB-4F78-A415-6DCE8F880B6C}"/>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73384061-A01C-4C5A-B530-EEE848C6E48E}"/>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evidence · Product tests · Experiment readiness · Limitations · Sources</a:t>
            </a:r>
          </a:p>
        </p:txBody>
      </p:sp>
      <p:sp>
        <p:nvSpPr>
          <p:cNvPr id="4" name="">
            <a:extLst xmlns:a="http://schemas.openxmlformats.org/drawingml/2006/main">
              <a:ext uri="{FF2B5EF4-FFF2-40B4-BE49-F238E27FC236}">
                <a16:creationId xmlns:a16="http://schemas.microsoft.com/office/drawing/2014/main" id="{7EAEA440-E81A-492C-9E70-524B94FBE11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DFA082FB-01C7-45E7-988B-D4EE8C1452D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378826213"/>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98DC4-5A62-486B-9900-C7CFB723458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007B4479-306F-4B9D-B00B-117E0B82058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B9E498CC-FA9B-4510-992F-5A11BC8C5611}"/>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C250DAF8-DAB9-4C01-ADA3-E5DBA4BD6CBF}"/>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5c51f46d2704e6c"/>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E01ACE-68AE-413A-99F5-135BA38E9448}"/>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0e0dd9c98f64b0b"/>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7C09A7D-0B23-4F8D-A5FA-DBDA10CEC37A}"/>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6C29F2ED-FB8E-4B31-A393-3E9A57BC9CA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2D038E6A-36B4-424C-A87A-08CDE678D93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2091549703"/>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4061B6E-6482-433C-B9AD-3530030507F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3C614A0A-286C-4C42-AB6E-02899D71321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5A8FD3B7-ABF7-43F5-AE5D-D07F1EFBEC47}"/>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3604550-BF27-43CD-9085-107A1AFCED4B}"/>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550EDAB-8620-4F29-891C-5FD51744DD55}"/>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13A6EABE-769B-4D0A-A5AE-A972091D9E08}"/>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15D36E81-3062-4B51-BDD2-51C7ADCAEF91}"/>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842FAF-1B75-49E6-B42C-A05A7AF110C9}"/>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108FBF-89F4-4A29-BE18-184FE390C830}"/>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F0039C07-16F4-4F12-B52A-61A87FA1EB40}"/>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F70E3A21-DBA8-4F75-8460-EA83C828613D}"/>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5CBD1472-134E-4672-820B-C5C0FE5B8512}"/>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B0DA4A3F-9DDE-4A66-8E3F-1925041970A8}"/>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500E9D5A-82A8-49B6-96AF-7D392636D8E5}"/>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300F1A01-7F23-4610-BB62-66AF066EE51B}"/>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764BA774-7225-4ED1-950B-0726CF46DEBF}"/>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7015D239-030B-4F6E-A9D3-7A6391EAADC9}"/>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FDB090C4-C04B-4DC9-A976-794D58464718}"/>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175DEB6C-C06C-4A16-B59F-A712FB237AA9}"/>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CB5CF4A2-5385-463D-A15E-A6522F178A23}"/>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FD7207C0-39F7-4448-9FE1-38B70CE9C0AF}"/>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DB639BC7-7581-42BB-9154-101A59029208}"/>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7B981D05-3A91-4BB5-9CB4-6E78061C88C4}"/>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DBBF781-CCE6-413E-91F9-0B190F99C4C6}"/>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FEEB1C58-BCA9-4B5B-8F4F-DEBB49786BEA}"/>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D03AB296-0A8E-4E67-B3FC-14FDE8A4944C}"/>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C73E129E-438B-4E71-B4C5-E8B89FE53231}"/>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3C3793D-DE8E-49AA-A42F-3DD536A92FFF}"/>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3DD1F6A7-32D1-4CD6-AB60-FF4079C0F6BC}"/>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67A5629A-D63F-4318-91A5-FA203C37E773}"/>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7110D9F-9CD2-454D-8D39-37C5D5F32D37}"/>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18872E23-E1D0-424D-AAB7-56F7CBBE7A00}"/>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F0B585AB-BCEC-4FCB-B257-0E3E3D053F74}"/>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3C00315-6579-4AFD-B07E-110B31BBAD67}"/>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2DA5C974-8759-4048-B423-093EDC54A088}"/>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13D46E21-C144-49D7-BE61-FBD2958C218A}"/>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BBA7187-02F6-41AE-A0FF-A20B30525715}"/>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A3879A17-5821-469D-9F06-9A753FB79C02}"/>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A55D260E-7541-490A-B680-B56E27B9BFF9}"/>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8C52EEC-2F02-4E8B-A513-D880371A7578}"/>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1C181B2A-7560-48C3-9E9B-5613873B589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24FA3AAE-4CF3-4E1C-B154-2C15D524696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961851760"/>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B7FFAFF-D763-4F13-AF71-CE22CD666A1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CDAC37F2-F02A-4F8D-89E4-532738A4AD3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B13552AE-BD3D-48F3-813C-BA8A59AF180C}"/>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CB0A04F4-C0DA-4976-947B-FA0A76DCD6D6}"/>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86B42B06-FAF8-4D37-8268-BD300E94B31F}"/>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E28C4CAE-7640-41E6-9B12-00A7FDE4450B}"/>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E3F0687C-AD16-4D03-B229-4234AC9F4193}"/>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FDA9EA-FB48-4699-81C9-45D920DC8371}"/>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4D9A3AAD-313B-40E7-ABEA-713ADFF603C6}"/>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DD0A630A-D7A5-4905-83B6-5786CC52E745}"/>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90FA1FBC-6960-441B-82E2-AF6B40CE2485}"/>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437ED7E9-623F-43EF-BD15-9D960303981E}"/>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6885B16A-3A64-4972-BF43-8E49906328A6}"/>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0CAFB0F-7D6F-4117-96D1-FDC24929E4FD}"/>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8F43B3CA-ED93-45C8-A8A7-301A6A9C9AE3}"/>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227DC74-2CF3-48C9-AEE6-DAFDC899F6A9}"/>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0403D6EC-BC73-417E-8CA9-B26F381F08D5}"/>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A54663DF-44EE-4863-A494-08BC8066223A}"/>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2218E3CD-BDE9-4179-A41C-B1724A49231C}"/>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41EDACC-0FCB-4190-8AFC-9B122F77856C}"/>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E3D6E341-39EF-4961-B04F-24EBBA4BEAD3}"/>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E0D44881-D2D2-4E15-B75E-74E2BF9D16D9}"/>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D94A4DC6-16BC-4278-B0C1-5B64BAF1526D}"/>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0C73070B-0AE0-40C2-BF02-1D1EF072C950}"/>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2AA7222C-3B54-4254-A6C8-0C4B15B3E058}"/>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8313374-19FF-47DC-9402-309BB7D6F22D}"/>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A95559F0-AA52-43AC-BE31-AE04D8079A52}"/>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5306DA4E-0675-4245-861E-395B0C21F065}"/>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799C779A-B1AD-4236-A571-C529B7943FCD}"/>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A4C3ECCC-926B-44BD-BD11-CFFAE9616177}"/>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321804D8-1E96-4606-BFDF-863DBAB62A74}"/>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1271160-DCD7-404B-9194-4DB85CF9519E}"/>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2281CA5A-B639-4685-BA67-5B48999D8B7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55D0CCF9-07D5-4F9F-9E28-AD67DA35DA3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830489832"/>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BA7DD16-A0C7-44AA-83D2-0EE2707C6F3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8B26A6C5-42DC-4484-82FB-DD2508F8768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801D36C9-DFE6-4CC1-8BF9-EAB4CD2E6473}"/>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11F57B93-0421-4C6B-8DA8-47358FB09496}"/>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1A0BCD15-8F89-494C-9993-147E13D0FEA7}"/>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8AE3C563-AC2A-43FA-BC8F-F20F163B991D}"/>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B431E965-17BB-40CB-8661-0859F3F00793}"/>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F463DF-D695-4FC1-A132-392EBE6719E6}"/>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6C794F2F-CAF8-4E0B-97A3-F9E6556F105B}"/>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819F2E8-C98F-4EE0-8D23-9166549042FF}"/>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F3D92E68-4382-40F5-8B8E-6BE2509C6D64}"/>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5CB7C170-97BE-46D0-BA05-C044B67E4C90}"/>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D34C6639-150D-474D-8A7B-3FF67369B749}"/>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8FDFBE-895E-4AA7-8351-7BAB3704B171}"/>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112584D2-F0AE-4336-A212-8E87B9CA2209}"/>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2044B489-2A9A-474B-ACF3-DF618E5BC331}"/>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68D98F40-5F64-4B18-B2FD-866E5BE2411F}"/>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6C372E2B-8106-4406-9825-42D6FFA5F708}"/>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1AAC172B-C5B8-461F-B8F1-3CA900C77E25}"/>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8EA227A-FBED-41A1-A448-7A0DFD33C1DC}"/>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C875FD85-8CE3-4ABA-A759-B369D12155B7}"/>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F1A2F8AD-ACD3-4E18-B318-C81577704385}"/>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11A8A9CA-E90D-460C-ADE6-C5B6D4FFCC84}"/>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3264D178-6A5A-4824-B848-B762C08D1FF3}"/>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B09A9C6A-8F9C-480D-BF7C-15A3DBCDAA04}"/>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B6549B6-04D8-48ED-882D-B4F7758CDB1D}"/>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2997D097-9AB7-4A3D-9F5C-ED84360C876D}"/>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B3C99AA-97B5-4888-A586-CF96F4C79E09}"/>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3FDCB39E-2982-4DA1-86E4-CC8087F3C3FC}"/>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E9E46F90-4D22-424B-8928-D1856664C88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4C9D5D21-3648-41E5-A7D8-CD415AEB068C}"/>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445AAAB-0222-42CF-87CC-5682209DC8B8}"/>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9B2B471F-348A-4179-BDDC-4B559E9E5CD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B61B8F29-DE5E-46F2-973E-3E54716E40C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430195899"/>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F25C0F2-B58E-4BB3-9FB2-E8034793FBE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13D00507-B39F-48B3-B8B6-6BFF96BC5A4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558E6859-3A86-4AF9-B104-CA22C1EA9867}"/>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D1C1DC86-1638-46B0-8639-05B3F149DC0B}"/>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FFFB0245-9C31-434B-BB09-15E71E0B13C7}"/>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763023B1-E36C-43A5-9AFA-B39AA080590D}"/>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96E9FDD0-B31F-44C2-9E65-0C434A03F7CE}"/>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CAEB4257-111E-4E53-AF77-6BA264B7A540}"/>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6595C78E-D173-4647-961E-291C94D64DBE}"/>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588A5693-3127-4D4B-A301-9E89E63DEF3A}"/>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D693BF8A-7C85-444D-8CAC-D04345308A39}"/>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2EE4B755-1E50-45CF-8E24-7C350CE52425}"/>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8D99F66B-DC2D-4138-820E-4ACAA5E3F444}"/>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5EC95D6E-47D0-4794-9720-B3612B304A6B}"/>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76C39034-A3AD-46AE-B0F5-5B7378E10689}"/>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BBF848EB-CA9E-4A83-AB6E-CB50F5691701}"/>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60093F2E-0776-4997-BD18-9AE85BB3C9B4}"/>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40AB536A-51DA-44E0-B687-B6CA2469E190}"/>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61C2CF89-5DFE-4AF9-AFBE-DDD97012E5A9}"/>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7C45B25F-026B-4563-A636-56DFF5C101C1}"/>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67A19011-C09B-440F-AB6C-234EBB48D081}"/>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3D39B1DC-E093-4989-AA5E-F05010D0E2D8}"/>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34BB14E9-B69C-44A4-B781-9460ECDEB4D3}"/>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B81C8461-4959-4B84-8B06-600DEE8E040A}"/>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8FABD4FB-686F-4980-BB69-6B54F1EDAE98}"/>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FD75622-1F29-45C4-9329-A6B44FE02111}"/>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AAEE52ED-217B-4DD4-B49F-0935FF1C7397}"/>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3C08CBA-D9B9-4B32-8621-D33F65D1833F}"/>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18E5E09C-0923-4CB9-9EDE-F406082806FD}"/>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92CCEADC-46DC-4120-BE2F-D7E789333DA2}"/>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50F3EBB4-1E1E-4AA9-A203-5AE0101AC922}"/>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5BB89B0E-45D1-4BB2-9686-32798BB4ECAC}"/>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633DACCE-41A7-4342-A853-CB8ADDDE4DB7}"/>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3714519C-C85B-491C-96FC-A4E9B587F9ED}"/>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E22593F9-0663-46C3-9F3E-45BB7C72C191}"/>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9EEA2DB1-3E3E-4211-888D-5527B42DAAEB}"/>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4C9EA4C3-DC89-4998-98CF-3003EECEFC27}"/>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FB1E5F00-BAA2-41D8-B143-D92D1CEE7D18}"/>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5482DC66-1DC2-4D04-B631-550A0D907500}"/>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DB79D353-C9EB-4A6F-A193-3497F980250A}"/>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61E81ABE-6EE7-430B-84C4-04C76740043F}"/>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72B7D048-75C4-4367-AB6F-611136F4DFC3}"/>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0E902C8A-3FFB-4588-B840-CC7F8F81BF2A}"/>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CF5F7517-D899-455C-BAC7-497A7470C23D}"/>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BF448B70-1E53-4F8A-AC2D-5F64D4ACAD39}"/>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8D21B94B-EB43-4304-9908-8C43DC6F191D}"/>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4A9252CC-BC17-48CE-9084-0D05681E9FFD}"/>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6E0CC5B6-8887-48F6-82C6-492AF12377DF}"/>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8E24A08B-6310-4C68-A19C-4513BA2837F5}"/>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D71ED90D-00E6-4FB7-9993-9A9169AC31EC}"/>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2FEBD2C3-CD90-4B4C-A1DC-D00C6B2C301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788CEAFF-79A9-4243-9313-E19206BC813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721400732"/>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3C7EFBB-3834-4302-B5E1-BEEBCA40038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C90A15A9-18F4-4120-8B03-494B00DFCE0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9A029792-95E0-4DC9-9F7C-19CAF1FD31B0}"/>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C194C43-7706-4891-B584-2B1B0720A0DD}"/>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05DDBAFA-47BF-491A-8C45-2888AB2FB3A4}"/>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C25297B5-7A39-4C18-8C96-277FE291A8A1}"/>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6D18EA50-B8B0-4833-AB83-A8EF8153EEF7}"/>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1C17D50B-CF30-4DB7-8385-7A4FCCFE23AF}"/>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5E20C144-C55C-4273-8C31-B12FB2C96EC9}"/>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83730DD-6BD3-430E-8815-D7500C41902E}"/>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82E93682-6234-41CA-95C7-7CE296F6FE7E}"/>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56A9C8FE-4116-4EF3-A332-0327C274DE5F}"/>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BEEAFB85-A870-457B-B444-52FF54898F2B}"/>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31C72AC3-9F72-445F-839B-ACE25EF5A870}"/>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0AD0D579-7A55-4B4A-AC99-AFAC53463D3C}"/>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58BA503-31CB-48CB-983D-03A71237BFE3}"/>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A17E3FC6-A510-4F0D-BF9A-5F8136CDD838}"/>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484541C6-215E-4EE7-8BE3-9E07D8D67D5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481E98B4-88F7-4333-B285-1BC67F716CA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969459988"/>
      </p:ext>
    </p:extLst>
  </p:cSld>
</p:sld>
</file>

<file path=ppt/slides/slide2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18556CA-C345-4665-807D-FB2ABE61AB8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7D8D2AAB-F1D9-4CAC-8C3E-238ED0BCA1C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59BFA04E-8311-49AB-8E83-3DFEAD580FD5}"/>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6E7EA60C-492A-45FE-B083-363FB8C90A53}"/>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CF78B3EB-DF68-4597-A909-A2D001DF7E5F}"/>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2AC57581-B36D-4E50-B0B9-396F13F80882}"/>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4B08BF75-F392-4544-97EF-48C89CFB4497}"/>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442CCA5-872B-4560-9294-5E30FDAF2185}"/>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C6007119-1AB3-4F2A-855D-794BECDE4A31}"/>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317B3564-D758-4E38-BFC9-CC46244E19FC}"/>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76AF7A6D-0477-4F76-BC74-A98F573BB8FD}"/>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4DBEDC1B-B730-4D27-A93F-A54EF07AEFA9}"/>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FACBEF69-3C6B-447A-8BD4-B53CB5138EE8}"/>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184024A5-2EE0-4EDA-ACCF-896F9EA5E0FA}"/>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DCB83EC9-F9FD-423E-ADB8-69E0ABDE73EC}"/>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AFF76638-EB05-4465-B07E-9461D9B13B4C}"/>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FB342A03-8BCA-4179-9B43-6369A1F4C05D}"/>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FA8D9CCA-333E-4DC3-B61E-1EB83F718A2A}"/>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F9A3DF83-7673-4C6F-916B-A4D27AED6DB5}"/>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966A1616-BAE9-4FE7-A404-9FDEB2FBD837}"/>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32AE328E-0F3D-4E6E-AFC1-2FF7C12A1189}"/>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3F1B108E-C3D9-4F6C-8FDD-A958054DD5D1}"/>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E2A08882-162A-46B6-B290-5E61D18EB8F1}"/>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E3CD406A-CCE8-4B34-81CD-637384C9F2F4}"/>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A8EF633D-4EE4-4D56-BA9D-C6A4B5773A2C}"/>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4F9849D-225F-4643-B98F-A80592857FCC}"/>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3EA42D4A-62D5-4633-A5FF-7EE701DA6B23}"/>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08ED785C-E54F-4A69-A7AF-8F108B3074A1}"/>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AE0DD6C4-A8A2-4731-BB4B-826A3FDFB37E}"/>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8211679E-1D9D-4844-8503-AB0AC7EBF4C3}"/>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A8863BE1-2B99-4209-BFA7-532D7D9402FB}"/>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AA350CDA-78A0-456E-BE69-7BC04635880A}"/>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643AACE7-4F12-46A5-9397-201C84C82726}"/>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6BAFFA89-D911-4B00-880B-0AF99274F1C8}"/>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56ED0CE4-DD7E-4BC3-A3BC-3DC06A22EE83}"/>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C5377486-F2E1-44F4-AB12-807870954256}"/>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E41CEF62-68B5-45EF-AEF8-795C59FF00A7}"/>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EDC0B012-A8E6-497C-A249-3D9DA88F7D29}"/>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DEF1D58B-6942-43F1-B858-0E25398FAFD6}"/>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2F721CD4-8F89-47F7-A3D8-0B8F94A31E6B}"/>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52823BF0-C5D6-4FC7-90F0-73FE45327DBF}"/>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5A229734-BABC-4DE8-94BB-0175C51D6D5B}"/>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FBA1B8AD-2AAE-4D92-A627-FC220AADC381}"/>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12F2688-FF74-4DB2-8A4E-95B345D11A0E}"/>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33BF4D76-A803-4A5A-AB54-4504D4A42CB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53538259-0B66-4C50-B1BB-351A40F0198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044402627"/>
      </p:ext>
    </p:extLst>
  </p:cSld>
</p:sld>
</file>

<file path=ppt/slides/slide2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5B78A50-1F4D-4986-98B7-7C2B648B35F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RESEARCH</a:t>
            </a:r>
          </a:p>
        </p:txBody>
      </p:sp>
      <p:sp>
        <p:nvSpPr>
          <p:cNvPr id="2" name="">
            <a:extLst xmlns:a="http://schemas.openxmlformats.org/drawingml/2006/main">
              <a:ext uri="{FF2B5EF4-FFF2-40B4-BE49-F238E27FC236}">
                <a16:creationId xmlns:a16="http://schemas.microsoft.com/office/drawing/2014/main" id="{6CBF7F2A-0041-4406-9A17-CC48CB6F9B0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Market sizing evidence and gaps</a:t>
            </a:r>
          </a:p>
        </p:txBody>
      </p:sp>
      <p:sp>
        <p:nvSpPr>
          <p:cNvPr id="3" name="">
            <a:extLst xmlns:a="http://schemas.openxmlformats.org/drawingml/2006/main">
              <a:ext uri="{FF2B5EF4-FFF2-40B4-BE49-F238E27FC236}">
                <a16:creationId xmlns:a16="http://schemas.microsoft.com/office/drawing/2014/main" id="{99F5889F-626B-4480-BBD8-4810B00378EE}"/>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framework is usable. The inputs are not yet strong enough for a numeric market claim.</a:t>
            </a:r>
          </a:p>
        </p:txBody>
      </p:sp>
      <p:sp>
        <p:nvSpPr>
          <p:cNvPr id="4" name="">
            <a:extLst xmlns:a="http://schemas.openxmlformats.org/drawingml/2006/main">
              <a:ext uri="{FF2B5EF4-FFF2-40B4-BE49-F238E27FC236}">
                <a16:creationId xmlns:a16="http://schemas.microsoft.com/office/drawing/2014/main" id="{D7947D9A-EA47-4D88-9771-9AC5DE02A76C}"/>
              </a:ext>
            </a:extLst>
          </p:cNvPr>
          <p:cNvSpPr>
            <a:spLocks xmlns:a="http://schemas.openxmlformats.org/drawingml/2006/main" noGrp="1"/>
          </p:cNvSpPr>
          <p:nvPr/>
        </p:nvSpPr>
        <p:spPr>
          <a:xfrm xmlns:a="http://schemas.openxmlformats.org/drawingml/2006/main">
            <a:off x="514350" y="1657350"/>
            <a:ext cx="10439400" cy="8382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1A38D805-DD8A-4491-BA07-A7905B5AE98C}"/>
              </a:ext>
            </a:extLst>
          </p:cNvPr>
          <p:cNvSpPr>
            <a:spLocks xmlns:a="http://schemas.openxmlformats.org/drawingml/2006/main" noGrp="1"/>
          </p:cNvSpPr>
          <p:nvPr/>
        </p:nvSpPr>
        <p:spPr>
          <a:xfrm xmlns:a="http://schemas.openxmlformats.org/drawingml/2006/main">
            <a:off x="704850" y="17811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F47A22"/>
                </a:solidFill>
                <a:latin typeface="Calibri"/>
                <a:ea typeface="Calibri"/>
                <a:cs typeface="Calibri"/>
              </a:defRPr>
            </a:pPr>
            <a:r>
              <a:rPr sz="1200" b="1" i="0">
                <a:solidFill>
                  <a:srgbClr val="F47A22"/>
                </a:solidFill>
                <a:latin typeface="Calibri"/>
                <a:ea typeface="Calibri"/>
                <a:cs typeface="Calibri"/>
              </a:rPr>
              <a:t>DEMAND AND SEGMENTS</a:t>
            </a:r>
          </a:p>
        </p:txBody>
      </p:sp>
      <p:sp>
        <p:nvSpPr>
          <p:cNvPr id="6" name="">
            <a:extLst xmlns:a="http://schemas.openxmlformats.org/drawingml/2006/main">
              <a:ext uri="{FF2B5EF4-FFF2-40B4-BE49-F238E27FC236}">
                <a16:creationId xmlns:a16="http://schemas.microsoft.com/office/drawing/2014/main" id="{CAB5506A-C830-4311-98BE-A1EFB4AB1F11}"/>
              </a:ext>
            </a:extLst>
          </p:cNvPr>
          <p:cNvSpPr>
            <a:spLocks xmlns:a="http://schemas.openxmlformats.org/drawingml/2006/main" noGrp="1"/>
          </p:cNvSpPr>
          <p:nvPr/>
        </p:nvSpPr>
        <p:spPr>
          <a:xfrm xmlns:a="http://schemas.openxmlformats.org/drawingml/2006/main">
            <a:off x="704850" y="21050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DIRECTIONAL</a:t>
            </a:r>
          </a:p>
        </p:txBody>
      </p:sp>
      <p:sp>
        <p:nvSpPr>
          <p:cNvPr id="7" name="">
            <a:extLst xmlns:a="http://schemas.openxmlformats.org/drawingml/2006/main">
              <a:ext uri="{FF2B5EF4-FFF2-40B4-BE49-F238E27FC236}">
                <a16:creationId xmlns:a16="http://schemas.microsoft.com/office/drawing/2014/main" id="{9025FA01-B201-443A-B4F6-59D1BE16179C}"/>
              </a:ext>
            </a:extLst>
          </p:cNvPr>
          <p:cNvSpPr>
            <a:spLocks xmlns:a="http://schemas.openxmlformats.org/drawingml/2006/main" noGrp="1"/>
          </p:cNvSpPr>
          <p:nvPr/>
        </p:nvSpPr>
        <p:spPr>
          <a:xfrm xmlns:a="http://schemas.openxmlformats.org/drawingml/2006/main">
            <a:off x="3048000" y="17716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24 of 51 recent users reported difficulty or uncertainty. Issue cases concentrate at airports, gated homes, malls, offices, and stations.</a:t>
            </a:r>
          </a:p>
        </p:txBody>
      </p:sp>
      <p:sp>
        <p:nvSpPr>
          <p:cNvPr id="8" name="">
            <a:extLst xmlns:a="http://schemas.openxmlformats.org/drawingml/2006/main">
              <a:ext uri="{FF2B5EF4-FFF2-40B4-BE49-F238E27FC236}">
                <a16:creationId xmlns:a16="http://schemas.microsoft.com/office/drawing/2014/main" id="{E4163A32-35A1-4937-9481-589156A09C8F}"/>
              </a:ext>
            </a:extLst>
          </p:cNvPr>
          <p:cNvSpPr>
            <a:spLocks xmlns:a="http://schemas.openxmlformats.org/drawingml/2006/main" noGrp="1"/>
          </p:cNvSpPr>
          <p:nvPr/>
        </p:nvSpPr>
        <p:spPr>
          <a:xfrm xmlns:a="http://schemas.openxmlformats.org/drawingml/2006/main">
            <a:off x="8667750" y="17716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Representative Hyderabad incidence is missing.</a:t>
            </a:r>
          </a:p>
        </p:txBody>
      </p:sp>
      <p:sp>
        <p:nvSpPr>
          <p:cNvPr id="9" name="">
            <a:extLst xmlns:a="http://schemas.openxmlformats.org/drawingml/2006/main">
              <a:ext uri="{FF2B5EF4-FFF2-40B4-BE49-F238E27FC236}">
                <a16:creationId xmlns:a16="http://schemas.microsoft.com/office/drawing/2014/main" id="{98BDD7E6-E6A3-4DE0-B43B-19876F4E4A63}"/>
              </a:ext>
            </a:extLst>
          </p:cNvPr>
          <p:cNvSpPr>
            <a:spLocks xmlns:a="http://schemas.openxmlformats.org/drawingml/2006/main" noGrp="1"/>
          </p:cNvSpPr>
          <p:nvPr/>
        </p:nvSpPr>
        <p:spPr>
          <a:xfrm xmlns:a="http://schemas.openxmlformats.org/drawingml/2006/main">
            <a:off x="514350" y="2647950"/>
            <a:ext cx="10439400" cy="838200"/>
          </a:xfrm>
          <a:prstGeom xmlns:a="http://schemas.openxmlformats.org/drawingml/2006/main" prst="roundRect">
            <a:avLst>
              <a:gd name="adj" fmla="val 4545"/>
            </a:avLst>
          </a:prstGeom>
          <a:solidFill xmlns:a="http://schemas.openxmlformats.org/drawingml/2006/main">
            <a:srgbClr val="F8F9FB"/>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ACA5D49A-1A6B-413B-AD5F-76577BFCF608}"/>
              </a:ext>
            </a:extLst>
          </p:cNvPr>
          <p:cNvSpPr>
            <a:spLocks xmlns:a="http://schemas.openxmlformats.org/drawingml/2006/main" noGrp="1"/>
          </p:cNvSpPr>
          <p:nvPr/>
        </p:nvSpPr>
        <p:spPr>
          <a:xfrm xmlns:a="http://schemas.openxmlformats.org/drawingml/2006/main">
            <a:off x="704850" y="27717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TAM / SAM / SOM</a:t>
            </a:r>
          </a:p>
        </p:txBody>
      </p:sp>
      <p:sp>
        <p:nvSpPr>
          <p:cNvPr id="11" name="">
            <a:extLst xmlns:a="http://schemas.openxmlformats.org/drawingml/2006/main">
              <a:ext uri="{FF2B5EF4-FFF2-40B4-BE49-F238E27FC236}">
                <a16:creationId xmlns:a16="http://schemas.microsoft.com/office/drawing/2014/main" id="{201FD09B-4CB9-42F7-B6DA-961C00D87AA8}"/>
              </a:ext>
            </a:extLst>
          </p:cNvPr>
          <p:cNvSpPr>
            <a:spLocks xmlns:a="http://schemas.openxmlformats.org/drawingml/2006/main" noGrp="1"/>
          </p:cNvSpPr>
          <p:nvPr/>
        </p:nvSpPr>
        <p:spPr>
          <a:xfrm xmlns:a="http://schemas.openxmlformats.org/drawingml/2006/main">
            <a:off x="704850" y="30956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1BB5C8"/>
                </a:solidFill>
                <a:latin typeface="Calibri"/>
                <a:ea typeface="Calibri"/>
                <a:cs typeface="Calibri"/>
              </a:defRPr>
            </a:pPr>
            <a:r>
              <a:rPr sz="975" b="1" i="0">
                <a:solidFill>
                  <a:srgbClr val="1BB5C8"/>
                </a:solidFill>
                <a:latin typeface="Calibri"/>
                <a:ea typeface="Calibri"/>
                <a:cs typeface="Calibri"/>
              </a:rPr>
              <a:t>FRAMEWORK ONLY</a:t>
            </a:r>
          </a:p>
        </p:txBody>
      </p:sp>
      <p:sp>
        <p:nvSpPr>
          <p:cNvPr id="12" name="">
            <a:extLst xmlns:a="http://schemas.openxmlformats.org/drawingml/2006/main">
              <a:ext uri="{FF2B5EF4-FFF2-40B4-BE49-F238E27FC236}">
                <a16:creationId xmlns:a16="http://schemas.microsoft.com/office/drawing/2014/main" id="{D8AF6A19-5278-4B12-AC4F-36D6DE5CD87C}"/>
              </a:ext>
            </a:extLst>
          </p:cNvPr>
          <p:cNvSpPr>
            <a:spLocks xmlns:a="http://schemas.openxmlformats.org/drawingml/2006/main" noGrp="1"/>
          </p:cNvSpPr>
          <p:nvPr/>
        </p:nvSpPr>
        <p:spPr>
          <a:xfrm xmlns:a="http://schemas.openxmlformats.org/drawingml/2006/main">
            <a:off x="3048000" y="27622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322"/>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TAM: Hyderabad Uber four-wheel pickups. SAM: pickups beginning at complex locations. SOM: eligible locations and riders reachable by the first test.</a:t>
            </a:r>
          </a:p>
        </p:txBody>
      </p:sp>
      <p:sp>
        <p:nvSpPr>
          <p:cNvPr id="13" name="">
            <a:extLst xmlns:a="http://schemas.openxmlformats.org/drawingml/2006/main">
              <a:ext uri="{FF2B5EF4-FFF2-40B4-BE49-F238E27FC236}">
                <a16:creationId xmlns:a16="http://schemas.microsoft.com/office/drawing/2014/main" id="{75CB5D1E-7CE5-4449-BFD5-973C7421D540}"/>
              </a:ext>
            </a:extLst>
          </p:cNvPr>
          <p:cNvSpPr>
            <a:spLocks xmlns:a="http://schemas.openxmlformats.org/drawingml/2006/main" noGrp="1"/>
          </p:cNvSpPr>
          <p:nvPr/>
        </p:nvSpPr>
        <p:spPr>
          <a:xfrm xmlns:a="http://schemas.openxmlformats.org/drawingml/2006/main">
            <a:off x="8667750" y="27622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Trip volume and affected-share inputs are missing.</a:t>
            </a:r>
          </a:p>
        </p:txBody>
      </p:sp>
      <p:sp>
        <p:nvSpPr>
          <p:cNvPr id="14" name="">
            <a:extLst xmlns:a="http://schemas.openxmlformats.org/drawingml/2006/main">
              <a:ext uri="{FF2B5EF4-FFF2-40B4-BE49-F238E27FC236}">
                <a16:creationId xmlns:a16="http://schemas.microsoft.com/office/drawing/2014/main" id="{A4AA1130-D94A-4670-A5BF-22221F736163}"/>
              </a:ext>
            </a:extLst>
          </p:cNvPr>
          <p:cNvSpPr>
            <a:spLocks xmlns:a="http://schemas.openxmlformats.org/drawingml/2006/main" noGrp="1"/>
          </p:cNvSpPr>
          <p:nvPr/>
        </p:nvSpPr>
        <p:spPr>
          <a:xfrm xmlns:a="http://schemas.openxmlformats.org/drawingml/2006/main">
            <a:off x="514350" y="3638550"/>
            <a:ext cx="10439400" cy="8382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E8ECF1"/>
            </a:solidFill>
            <a:prstDash val="solid"/>
          </a:ln>
        </p:spPr>
      </p:sp>
      <p:sp>
        <p:nvSpPr>
          <p:cNvPr id="15" name="">
            <a:extLst xmlns:a="http://schemas.openxmlformats.org/drawingml/2006/main">
              <a:ext uri="{FF2B5EF4-FFF2-40B4-BE49-F238E27FC236}">
                <a16:creationId xmlns:a16="http://schemas.microsoft.com/office/drawing/2014/main" id="{1CD61D9F-37E9-4033-A293-30E979F35F01}"/>
              </a:ext>
            </a:extLst>
          </p:cNvPr>
          <p:cNvSpPr>
            <a:spLocks xmlns:a="http://schemas.openxmlformats.org/drawingml/2006/main" noGrp="1"/>
          </p:cNvSpPr>
          <p:nvPr/>
        </p:nvSpPr>
        <p:spPr>
          <a:xfrm xmlns:a="http://schemas.openxmlformats.org/drawingml/2006/main">
            <a:off x="704850" y="37623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GROWTH / CAGR</a:t>
            </a:r>
          </a:p>
        </p:txBody>
      </p:sp>
      <p:sp>
        <p:nvSpPr>
          <p:cNvPr id="16" name="">
            <a:extLst xmlns:a="http://schemas.openxmlformats.org/drawingml/2006/main">
              <a:ext uri="{FF2B5EF4-FFF2-40B4-BE49-F238E27FC236}">
                <a16:creationId xmlns:a16="http://schemas.microsoft.com/office/drawing/2014/main" id="{A5E79E34-F872-4639-8884-9CBB22E1B45D}"/>
              </a:ext>
            </a:extLst>
          </p:cNvPr>
          <p:cNvSpPr>
            <a:spLocks xmlns:a="http://schemas.openxmlformats.org/drawingml/2006/main" noGrp="1"/>
          </p:cNvSpPr>
          <p:nvPr/>
        </p:nvSpPr>
        <p:spPr>
          <a:xfrm xmlns:a="http://schemas.openxmlformats.org/drawingml/2006/main">
            <a:off x="704850" y="40862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NOT ESTIMATED</a:t>
            </a:r>
          </a:p>
        </p:txBody>
      </p:sp>
      <p:sp>
        <p:nvSpPr>
          <p:cNvPr id="17" name="">
            <a:extLst xmlns:a="http://schemas.openxmlformats.org/drawingml/2006/main">
              <a:ext uri="{FF2B5EF4-FFF2-40B4-BE49-F238E27FC236}">
                <a16:creationId xmlns:a16="http://schemas.microsoft.com/office/drawing/2014/main" id="{600A3A7D-DC49-4A7D-A606-8D4DAABDBB19}"/>
              </a:ext>
            </a:extLst>
          </p:cNvPr>
          <p:cNvSpPr>
            <a:spLocks xmlns:a="http://schemas.openxmlformats.org/drawingml/2006/main" noGrp="1"/>
          </p:cNvSpPr>
          <p:nvPr/>
        </p:nvSpPr>
        <p:spPr>
          <a:xfrm xmlns:a="http://schemas.openxmlformats.org/drawingml/2006/main">
            <a:off x="3048000" y="37528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 metro, and railway volumes show exposure to complex locations. They are planning proxies, not a comparable feature-market time series.</a:t>
            </a:r>
          </a:p>
        </p:txBody>
      </p:sp>
      <p:sp>
        <p:nvSpPr>
          <p:cNvPr id="18" name="">
            <a:extLst xmlns:a="http://schemas.openxmlformats.org/drawingml/2006/main">
              <a:ext uri="{FF2B5EF4-FFF2-40B4-BE49-F238E27FC236}">
                <a16:creationId xmlns:a16="http://schemas.microsoft.com/office/drawing/2014/main" id="{0244DAD0-EDF2-46E6-9B5C-B83E3023FE96}"/>
              </a:ext>
            </a:extLst>
          </p:cNvPr>
          <p:cNvSpPr>
            <a:spLocks xmlns:a="http://schemas.openxmlformats.org/drawingml/2006/main" noGrp="1"/>
          </p:cNvSpPr>
          <p:nvPr/>
        </p:nvSpPr>
        <p:spPr>
          <a:xfrm xmlns:a="http://schemas.openxmlformats.org/drawingml/2006/main">
            <a:off x="8667750" y="37528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No defensible CAGR can be calculated.</a:t>
            </a:r>
          </a:p>
        </p:txBody>
      </p:sp>
      <p:sp>
        <p:nvSpPr>
          <p:cNvPr id="19" name="">
            <a:extLst xmlns:a="http://schemas.openxmlformats.org/drawingml/2006/main">
              <a:ext uri="{FF2B5EF4-FFF2-40B4-BE49-F238E27FC236}">
                <a16:creationId xmlns:a16="http://schemas.microsoft.com/office/drawing/2014/main" id="{672E02BB-B8D6-492A-9F11-8EA45A893AAA}"/>
              </a:ext>
            </a:extLst>
          </p:cNvPr>
          <p:cNvSpPr>
            <a:spLocks xmlns:a="http://schemas.openxmlformats.org/drawingml/2006/main" noGrp="1"/>
          </p:cNvSpPr>
          <p:nvPr/>
        </p:nvSpPr>
        <p:spPr>
          <a:xfrm xmlns:a="http://schemas.openxmlformats.org/drawingml/2006/main">
            <a:off x="514350" y="4629150"/>
            <a:ext cx="10439400" cy="838200"/>
          </a:xfrm>
          <a:prstGeom xmlns:a="http://schemas.openxmlformats.org/drawingml/2006/main" prst="roundRect">
            <a:avLst>
              <a:gd name="adj" fmla="val 4545"/>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34C6B944-CF69-4955-A5D3-99A279314FBC}"/>
              </a:ext>
            </a:extLst>
          </p:cNvPr>
          <p:cNvSpPr>
            <a:spLocks xmlns:a="http://schemas.openxmlformats.org/drawingml/2006/main" noGrp="1"/>
          </p:cNvSpPr>
          <p:nvPr/>
        </p:nvSpPr>
        <p:spPr>
          <a:xfrm xmlns:a="http://schemas.openxmlformats.org/drawingml/2006/main">
            <a:off x="704850" y="47529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172"/>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COMPETITION / WTP / SATURATION</a:t>
            </a:r>
          </a:p>
        </p:txBody>
      </p:sp>
      <p:sp>
        <p:nvSpPr>
          <p:cNvPr id="21" name="">
            <a:extLst xmlns:a="http://schemas.openxmlformats.org/drawingml/2006/main">
              <a:ext uri="{FF2B5EF4-FFF2-40B4-BE49-F238E27FC236}">
                <a16:creationId xmlns:a16="http://schemas.microsoft.com/office/drawing/2014/main" id="{C3F0A313-3770-4361-955C-01225AD8993F}"/>
              </a:ext>
            </a:extLst>
          </p:cNvPr>
          <p:cNvSpPr>
            <a:spLocks xmlns:a="http://schemas.openxmlformats.org/drawingml/2006/main" noGrp="1"/>
          </p:cNvSpPr>
          <p:nvPr/>
        </p:nvSpPr>
        <p:spPr>
          <a:xfrm xmlns:a="http://schemas.openxmlformats.org/drawingml/2006/main">
            <a:off x="704850" y="50768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MIXED</a:t>
            </a:r>
          </a:p>
        </p:txBody>
      </p:sp>
      <p:sp>
        <p:nvSpPr>
          <p:cNvPr id="22" name="">
            <a:extLst xmlns:a="http://schemas.openxmlformats.org/drawingml/2006/main">
              <a:ext uri="{FF2B5EF4-FFF2-40B4-BE49-F238E27FC236}">
                <a16:creationId xmlns:a16="http://schemas.microsoft.com/office/drawing/2014/main" id="{BEE8039D-E99B-422A-858B-F18BBCCCFC31}"/>
              </a:ext>
            </a:extLst>
          </p:cNvPr>
          <p:cNvSpPr>
            <a:spLocks xmlns:a="http://schemas.openxmlformats.org/drawingml/2006/main" noGrp="1"/>
          </p:cNvSpPr>
          <p:nvPr/>
        </p:nvSpPr>
        <p:spPr>
          <a:xfrm xmlns:a="http://schemas.openxmlformats.org/drawingml/2006/main">
            <a:off x="3048000" y="47434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Competitor patterns and alternatives are documented. Willingness to pay and market saturation were not studied.</a:t>
            </a:r>
          </a:p>
        </p:txBody>
      </p:sp>
      <p:sp>
        <p:nvSpPr>
          <p:cNvPr id="23" name="">
            <a:extLst xmlns:a="http://schemas.openxmlformats.org/drawingml/2006/main">
              <a:ext uri="{FF2B5EF4-FFF2-40B4-BE49-F238E27FC236}">
                <a16:creationId xmlns:a16="http://schemas.microsoft.com/office/drawing/2014/main" id="{853DA31E-931A-4E4C-905C-51F05551E19A}"/>
              </a:ext>
            </a:extLst>
          </p:cNvPr>
          <p:cNvSpPr>
            <a:spLocks xmlns:a="http://schemas.openxmlformats.org/drawingml/2006/main" noGrp="1"/>
          </p:cNvSpPr>
          <p:nvPr/>
        </p:nvSpPr>
        <p:spPr>
          <a:xfrm xmlns:a="http://schemas.openxmlformats.org/drawingml/2006/main">
            <a:off x="8667750" y="47434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They do not block a small reliability test.</a:t>
            </a:r>
          </a:p>
        </p:txBody>
      </p:sp>
      <p:sp>
        <p:nvSpPr>
          <p:cNvPr id="24" name="">
            <a:extLst xmlns:a="http://schemas.openxmlformats.org/drawingml/2006/main">
              <a:ext uri="{FF2B5EF4-FFF2-40B4-BE49-F238E27FC236}">
                <a16:creationId xmlns:a16="http://schemas.microsoft.com/office/drawing/2014/main" id="{C6A7D001-44F2-4651-8A2D-6BC5444D2A83}"/>
              </a:ext>
            </a:extLst>
          </p:cNvPr>
          <p:cNvSpPr>
            <a:spLocks xmlns:a="http://schemas.openxmlformats.org/drawingml/2006/main" noGrp="1"/>
          </p:cNvSpPr>
          <p:nvPr/>
        </p:nvSpPr>
        <p:spPr>
          <a:xfrm xmlns:a="http://schemas.openxmlformats.org/drawingml/2006/main">
            <a:off x="514350" y="5753100"/>
            <a:ext cx="10439400" cy="49530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6323848-7CBA-4E2C-97DC-38D3D4E48826}"/>
              </a:ext>
            </a:extLst>
          </p:cNvPr>
          <p:cNvSpPr>
            <a:spLocks xmlns:a="http://schemas.openxmlformats.org/drawingml/2006/main" noGrp="1"/>
          </p:cNvSpPr>
          <p:nvPr/>
        </p:nvSpPr>
        <p:spPr>
          <a:xfrm xmlns:a="http://schemas.openxmlformats.org/drawingml/2006/main">
            <a:off x="704850" y="5848350"/>
            <a:ext cx="10058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Planning rule: use proxies to form a hypothesis, then test whether they predict real pickup difficulty.</a:t>
            </a:r>
          </a:p>
        </p:txBody>
      </p:sp>
      <p:sp>
        <p:nvSpPr>
          <p:cNvPr id="26" name="">
            <a:extLst xmlns:a="http://schemas.openxmlformats.org/drawingml/2006/main">
              <a:ext uri="{FF2B5EF4-FFF2-40B4-BE49-F238E27FC236}">
                <a16:creationId xmlns:a16="http://schemas.microsoft.com/office/drawing/2014/main" id="{66382E3E-69B9-4255-BD3A-E7C772FB780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27" name="">
            <a:extLst xmlns:a="http://schemas.openxmlformats.org/drawingml/2006/main">
              <a:ext uri="{FF2B5EF4-FFF2-40B4-BE49-F238E27FC236}">
                <a16:creationId xmlns:a16="http://schemas.microsoft.com/office/drawing/2014/main" id="{E3B9CF70-71CE-47BF-8A89-84B950CB5F4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23</a:t>
            </a:r>
          </a:p>
        </p:txBody>
      </p:sp>
    </p:spTree>
    <p:extLst>
      <p:ext uri="{BB962C8B-B14F-4D97-AF65-F5344CB8AC3E}">
        <p14:creationId xmlns:p14="http://schemas.microsoft.com/office/powerpoint/2010/main" val="1075081237"/>
      </p:ext>
    </p:extLst>
  </p:cSld>
</p:sld>
</file>

<file path=ppt/slides/slide2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F74924A-A75E-4B7E-B630-E88A1DC6666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EXPERIMENT DESIGN</a:t>
            </a:r>
          </a:p>
        </p:txBody>
      </p:sp>
      <p:sp>
        <p:nvSpPr>
          <p:cNvPr id="2" name="">
            <a:extLst xmlns:a="http://schemas.openxmlformats.org/drawingml/2006/main">
              <a:ext uri="{FF2B5EF4-FFF2-40B4-BE49-F238E27FC236}">
                <a16:creationId xmlns:a16="http://schemas.microsoft.com/office/drawing/2014/main" id="{95510387-7594-440F-8CF1-F5C842B60D8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Experiment readiness and signals</a:t>
            </a:r>
          </a:p>
        </p:txBody>
      </p:sp>
      <p:sp>
        <p:nvSpPr>
          <p:cNvPr id="3" name="">
            <a:extLst xmlns:a="http://schemas.openxmlformats.org/drawingml/2006/main">
              <a:ext uri="{FF2B5EF4-FFF2-40B4-BE49-F238E27FC236}">
                <a16:creationId xmlns:a16="http://schemas.microsoft.com/office/drawing/2014/main" id="{469A20E7-029C-43CF-A86D-B6D246DCA4E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first test needs a measurement plan before it needs a large build.</a:t>
            </a:r>
          </a:p>
        </p:txBody>
      </p:sp>
      <p:sp>
        <p:nvSpPr>
          <p:cNvPr id="4" name="">
            <a:extLst xmlns:a="http://schemas.openxmlformats.org/drawingml/2006/main">
              <a:ext uri="{FF2B5EF4-FFF2-40B4-BE49-F238E27FC236}">
                <a16:creationId xmlns:a16="http://schemas.microsoft.com/office/drawing/2014/main" id="{FFC29479-271D-4257-A09D-3407C0231CB2}"/>
              </a:ext>
            </a:extLst>
          </p:cNvPr>
          <p:cNvSpPr>
            <a:spLocks xmlns:a="http://schemas.openxmlformats.org/drawingml/2006/main" noGrp="1"/>
          </p:cNvSpPr>
          <p:nvPr/>
        </p:nvSpPr>
        <p:spPr>
          <a:xfrm xmlns:a="http://schemas.openxmlformats.org/drawingml/2006/main">
            <a:off x="514350" y="1657350"/>
            <a:ext cx="4457700" cy="3638550"/>
          </a:xfrm>
          <a:prstGeom xmlns:a="http://schemas.openxmlformats.org/drawingml/2006/main" prst="roundRect">
            <a:avLst>
              <a:gd name="adj" fmla="val 1571"/>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26DE76A-A51F-4EA4-A79A-33920D182DA9}"/>
              </a:ext>
            </a:extLst>
          </p:cNvPr>
          <p:cNvSpPr>
            <a:spLocks xmlns:a="http://schemas.openxmlformats.org/drawingml/2006/main" noGrp="1"/>
          </p:cNvSpPr>
          <p:nvPr/>
        </p:nvSpPr>
        <p:spPr>
          <a:xfrm xmlns:a="http://schemas.openxmlformats.org/drawingml/2006/main">
            <a:off x="742950" y="1828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TEST READINESS</a:t>
            </a:r>
          </a:p>
        </p:txBody>
      </p:sp>
      <p:sp>
        <p:nvSpPr>
          <p:cNvPr id="6" name="">
            <a:extLst xmlns:a="http://schemas.openxmlformats.org/drawingml/2006/main">
              <a:ext uri="{FF2B5EF4-FFF2-40B4-BE49-F238E27FC236}">
                <a16:creationId xmlns:a16="http://schemas.microsoft.com/office/drawing/2014/main" id="{9FDEEF74-031C-4305-8DF2-52B7C6467CEF}"/>
              </a:ext>
            </a:extLst>
          </p:cNvPr>
          <p:cNvSpPr>
            <a:spLocks xmlns:a="http://schemas.openxmlformats.org/drawingml/2006/main" noGrp="1"/>
          </p:cNvSpPr>
          <p:nvPr/>
        </p:nvSpPr>
        <p:spPr>
          <a:xfrm xmlns:a="http://schemas.openxmlformats.org/drawingml/2006/main">
            <a:off x="742950" y="22860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A/B SAMPLE SIZE</a:t>
            </a:r>
          </a:p>
        </p:txBody>
      </p:sp>
      <p:sp>
        <p:nvSpPr>
          <p:cNvPr id="7" name="">
            <a:extLst xmlns:a="http://schemas.openxmlformats.org/drawingml/2006/main">
              <a:ext uri="{FF2B5EF4-FFF2-40B4-BE49-F238E27FC236}">
                <a16:creationId xmlns:a16="http://schemas.microsoft.com/office/drawing/2014/main" id="{79CECA11-D792-4B9B-AEAC-44C37C8E0660}"/>
              </a:ext>
            </a:extLst>
          </p:cNvPr>
          <p:cNvSpPr>
            <a:spLocks xmlns:a="http://schemas.openxmlformats.org/drawingml/2006/main" noGrp="1"/>
          </p:cNvSpPr>
          <p:nvPr/>
        </p:nvSpPr>
        <p:spPr>
          <a:xfrm xmlns:a="http://schemas.openxmlformats.org/drawingml/2006/main">
            <a:off x="742950" y="2571750"/>
            <a:ext cx="3962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Calculate N only after choosing the primary metric, baseline rate or variance, minimum detectable effect, confidence, power, and eligible traffic.</a:t>
            </a:r>
          </a:p>
        </p:txBody>
      </p:sp>
      <p:sp>
        <p:nvSpPr>
          <p:cNvPr id="8" name="">
            <a:extLst xmlns:a="http://schemas.openxmlformats.org/drawingml/2006/main">
              <a:ext uri="{FF2B5EF4-FFF2-40B4-BE49-F238E27FC236}">
                <a16:creationId xmlns:a16="http://schemas.microsoft.com/office/drawing/2014/main" id="{A652D325-021F-4E87-AD72-B73A5A08417B}"/>
              </a:ext>
            </a:extLst>
          </p:cNvPr>
          <p:cNvSpPr>
            <a:spLocks xmlns:a="http://schemas.openxmlformats.org/drawingml/2006/main" noGrp="1"/>
          </p:cNvSpPr>
          <p:nvPr/>
        </p:nvSpPr>
        <p:spPr>
          <a:xfrm xmlns:a="http://schemas.openxmlformats.org/drawingml/2006/main">
            <a:off x="742950" y="3476625"/>
            <a:ext cx="396240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3A7FF1B-7398-45A1-BC58-A8B5150405DB}"/>
              </a:ext>
            </a:extLst>
          </p:cNvPr>
          <p:cNvSpPr>
            <a:spLocks xmlns:a="http://schemas.openxmlformats.org/drawingml/2006/main" noGrp="1"/>
          </p:cNvSpPr>
          <p:nvPr/>
        </p:nvSpPr>
        <p:spPr>
          <a:xfrm xmlns:a="http://schemas.openxmlformats.org/drawingml/2006/main">
            <a:off x="742950" y="36576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MVP RULE</a:t>
            </a:r>
          </a:p>
        </p:txBody>
      </p:sp>
      <p:sp>
        <p:nvSpPr>
          <p:cNvPr id="10" name="">
            <a:extLst xmlns:a="http://schemas.openxmlformats.org/drawingml/2006/main">
              <a:ext uri="{FF2B5EF4-FFF2-40B4-BE49-F238E27FC236}">
                <a16:creationId xmlns:a16="http://schemas.microsoft.com/office/drawing/2014/main" id="{F343E188-CE59-45BB-84FE-3DDEC25BF78E}"/>
              </a:ext>
            </a:extLst>
          </p:cNvPr>
          <p:cNvSpPr>
            <a:spLocks xmlns:a="http://schemas.openxmlformats.org/drawingml/2006/main" noGrp="1"/>
          </p:cNvSpPr>
          <p:nvPr/>
        </p:nvSpPr>
        <p:spPr>
          <a:xfrm xmlns:a="http://schemas.openxmlformats.org/drawingml/2006/main">
            <a:off x="742950" y="39433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85"/>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Test the P0 meeting note first. Add recovery or venue operations only if behavior and pickup outcomes improve.</a:t>
            </a:r>
          </a:p>
        </p:txBody>
      </p:sp>
      <p:sp>
        <p:nvSpPr>
          <p:cNvPr id="11" name="">
            <a:extLst xmlns:a="http://schemas.openxmlformats.org/drawingml/2006/main">
              <a:ext uri="{FF2B5EF4-FFF2-40B4-BE49-F238E27FC236}">
                <a16:creationId xmlns:a16="http://schemas.microsoft.com/office/drawing/2014/main" id="{C18E023F-F206-4900-927A-F9373106A097}"/>
              </a:ext>
            </a:extLst>
          </p:cNvPr>
          <p:cNvSpPr>
            <a:spLocks xmlns:a="http://schemas.openxmlformats.org/drawingml/2006/main" noGrp="1"/>
          </p:cNvSpPr>
          <p:nvPr/>
        </p:nvSpPr>
        <p:spPr>
          <a:xfrm xmlns:a="http://schemas.openxmlformats.org/drawingml/2006/main">
            <a:off x="742950" y="4648200"/>
            <a:ext cx="396240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62AC78-1B27-4DB9-AC92-7C9830A73409}"/>
              </a:ext>
            </a:extLst>
          </p:cNvPr>
          <p:cNvSpPr>
            <a:spLocks xmlns:a="http://schemas.openxmlformats.org/drawingml/2006/main" noGrp="1"/>
          </p:cNvSpPr>
          <p:nvPr/>
        </p:nvSpPr>
        <p:spPr>
          <a:xfrm xmlns:a="http://schemas.openxmlformats.org/drawingml/2006/main">
            <a:off x="742950" y="481012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ADOPTION BLOCKER</a:t>
            </a:r>
          </a:p>
        </p:txBody>
      </p:sp>
      <p:sp>
        <p:nvSpPr>
          <p:cNvPr id="13" name="">
            <a:extLst xmlns:a="http://schemas.openxmlformats.org/drawingml/2006/main">
              <a:ext uri="{FF2B5EF4-FFF2-40B4-BE49-F238E27FC236}">
                <a16:creationId xmlns:a16="http://schemas.microsoft.com/office/drawing/2014/main" id="{590C7611-4B97-4C3F-8541-EB4E6D3515A1}"/>
              </a:ext>
            </a:extLst>
          </p:cNvPr>
          <p:cNvSpPr>
            <a:spLocks xmlns:a="http://schemas.openxmlformats.org/drawingml/2006/main" noGrp="1"/>
          </p:cNvSpPr>
          <p:nvPr/>
        </p:nvSpPr>
        <p:spPr>
          <a:xfrm xmlns:a="http://schemas.openxmlformats.org/drawingml/2006/main">
            <a:off x="2495550" y="477202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67284"/>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Driver burden, false triggers, or compensation concerns can block a two-sided rollout.</a:t>
            </a:r>
          </a:p>
        </p:txBody>
      </p:sp>
      <p:sp>
        <p:nvSpPr>
          <p:cNvPr id="14" name="">
            <a:extLst xmlns:a="http://schemas.openxmlformats.org/drawingml/2006/main">
              <a:ext uri="{FF2B5EF4-FFF2-40B4-BE49-F238E27FC236}">
                <a16:creationId xmlns:a16="http://schemas.microsoft.com/office/drawing/2014/main" id="{4E48E4DB-9FE8-4C3A-98EE-70F3E3A91683}"/>
              </a:ext>
            </a:extLst>
          </p:cNvPr>
          <p:cNvSpPr>
            <a:spLocks xmlns:a="http://schemas.openxmlformats.org/drawingml/2006/main" noGrp="1"/>
          </p:cNvSpPr>
          <p:nvPr/>
        </p:nvSpPr>
        <p:spPr>
          <a:xfrm xmlns:a="http://schemas.openxmlformats.org/drawingml/2006/main">
            <a:off x="5276850" y="1657350"/>
            <a:ext cx="5676900" cy="3638550"/>
          </a:xfrm>
          <a:prstGeom xmlns:a="http://schemas.openxmlformats.org/drawingml/2006/main" prst="roundRect">
            <a:avLst>
              <a:gd name="adj" fmla="val 1571"/>
            </a:avLst>
          </a:prstGeom>
          <a:solidFill xmlns:a="http://schemas.openxmlformats.org/drawingml/2006/main">
            <a:srgbClr val="E2F4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4DCD548-3F69-4AB7-91BC-C32BAB49F1A9}"/>
              </a:ext>
            </a:extLst>
          </p:cNvPr>
          <p:cNvSpPr>
            <a:spLocks xmlns:a="http://schemas.openxmlformats.org/drawingml/2006/main" noGrp="1"/>
          </p:cNvSpPr>
          <p:nvPr/>
        </p:nvSpPr>
        <p:spPr>
          <a:xfrm xmlns:a="http://schemas.openxmlformats.org/drawingml/2006/main">
            <a:off x="5505450" y="182880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SIGNALS TO WATCH</a:t>
            </a:r>
          </a:p>
        </p:txBody>
      </p:sp>
      <p:sp>
        <p:nvSpPr>
          <p:cNvPr id="16" name="">
            <a:extLst xmlns:a="http://schemas.openxmlformats.org/drawingml/2006/main">
              <a:ext uri="{FF2B5EF4-FFF2-40B4-BE49-F238E27FC236}">
                <a16:creationId xmlns:a16="http://schemas.microsoft.com/office/drawing/2014/main" id="{B33D53C7-628B-48AD-B6F9-A42A64813D74}"/>
              </a:ext>
            </a:extLst>
          </p:cNvPr>
          <p:cNvSpPr>
            <a:spLocks xmlns:a="http://schemas.openxmlformats.org/drawingml/2006/main" noGrp="1"/>
          </p:cNvSpPr>
          <p:nvPr/>
        </p:nvSpPr>
        <p:spPr>
          <a:xfrm xmlns:a="http://schemas.openxmlformats.org/drawingml/2006/main">
            <a:off x="5505450" y="22669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DEMAND</a:t>
            </a:r>
          </a:p>
        </p:txBody>
      </p:sp>
      <p:sp>
        <p:nvSpPr>
          <p:cNvPr id="17" name="">
            <a:extLst xmlns:a="http://schemas.openxmlformats.org/drawingml/2006/main">
              <a:ext uri="{FF2B5EF4-FFF2-40B4-BE49-F238E27FC236}">
                <a16:creationId xmlns:a16="http://schemas.microsoft.com/office/drawing/2014/main" id="{A1D80BFA-23C3-4E81-A162-DA94719FD562}"/>
              </a:ext>
            </a:extLst>
          </p:cNvPr>
          <p:cNvSpPr>
            <a:spLocks xmlns:a="http://schemas.openxmlformats.org/drawingml/2006/main" noGrp="1"/>
          </p:cNvSpPr>
          <p:nvPr/>
        </p:nvSpPr>
        <p:spPr>
          <a:xfrm xmlns:a="http://schemas.openxmlformats.org/drawingml/2006/main">
            <a:off x="7029450" y="22479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4116"/>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Eligible complex pickups and measured issue incidence</a:t>
            </a:r>
          </a:p>
        </p:txBody>
      </p:sp>
      <p:sp>
        <p:nvSpPr>
          <p:cNvPr id="18" name="">
            <a:extLst xmlns:a="http://schemas.openxmlformats.org/drawingml/2006/main">
              <a:ext uri="{FF2B5EF4-FFF2-40B4-BE49-F238E27FC236}">
                <a16:creationId xmlns:a16="http://schemas.microsoft.com/office/drawing/2014/main" id="{8FA604E2-0289-4AA8-86EC-C9D6F6916720}"/>
              </a:ext>
            </a:extLst>
          </p:cNvPr>
          <p:cNvSpPr>
            <a:spLocks xmlns:a="http://schemas.openxmlformats.org/drawingml/2006/main" noGrp="1"/>
          </p:cNvSpPr>
          <p:nvPr/>
        </p:nvSpPr>
        <p:spPr>
          <a:xfrm xmlns:a="http://schemas.openxmlformats.org/drawingml/2006/main">
            <a:off x="5505450" y="266700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6408D80-7CC2-4804-B5BB-60B5AD3CF2C8}"/>
              </a:ext>
            </a:extLst>
          </p:cNvPr>
          <p:cNvSpPr>
            <a:spLocks xmlns:a="http://schemas.openxmlformats.org/drawingml/2006/main" noGrp="1"/>
          </p:cNvSpPr>
          <p:nvPr/>
        </p:nvSpPr>
        <p:spPr>
          <a:xfrm xmlns:a="http://schemas.openxmlformats.org/drawingml/2006/main">
            <a:off x="5505450" y="281940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DISCOVERABILITY</a:t>
            </a:r>
          </a:p>
        </p:txBody>
      </p:sp>
      <p:sp>
        <p:nvSpPr>
          <p:cNvPr id="20" name="">
            <a:extLst xmlns:a="http://schemas.openxmlformats.org/drawingml/2006/main">
              <a:ext uri="{FF2B5EF4-FFF2-40B4-BE49-F238E27FC236}">
                <a16:creationId xmlns:a16="http://schemas.microsoft.com/office/drawing/2014/main" id="{74F3D94A-27CE-4896-9338-73FB73CA7BA3}"/>
              </a:ext>
            </a:extLst>
          </p:cNvPr>
          <p:cNvSpPr>
            <a:spLocks xmlns:a="http://schemas.openxmlformats.org/drawingml/2006/main" noGrp="1"/>
          </p:cNvSpPr>
          <p:nvPr/>
        </p:nvSpPr>
        <p:spPr>
          <a:xfrm xmlns:a="http://schemas.openxmlformats.org/drawingml/2006/main">
            <a:off x="7029450" y="280035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Prompt exposure, opening, and completion</a:t>
            </a:r>
          </a:p>
        </p:txBody>
      </p:sp>
      <p:sp>
        <p:nvSpPr>
          <p:cNvPr id="21" name="">
            <a:extLst xmlns:a="http://schemas.openxmlformats.org/drawingml/2006/main">
              <a:ext uri="{FF2B5EF4-FFF2-40B4-BE49-F238E27FC236}">
                <a16:creationId xmlns:a16="http://schemas.microsoft.com/office/drawing/2014/main" id="{B45C4936-7C9E-48C4-80F8-29294439A073}"/>
              </a:ext>
            </a:extLst>
          </p:cNvPr>
          <p:cNvSpPr>
            <a:spLocks xmlns:a="http://schemas.openxmlformats.org/drawingml/2006/main" noGrp="1"/>
          </p:cNvSpPr>
          <p:nvPr/>
        </p:nvSpPr>
        <p:spPr>
          <a:xfrm xmlns:a="http://schemas.openxmlformats.org/drawingml/2006/main">
            <a:off x="5505450" y="321945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A6D574-E78A-4B41-AA34-3802C76FDA61}"/>
              </a:ext>
            </a:extLst>
          </p:cNvPr>
          <p:cNvSpPr>
            <a:spLocks xmlns:a="http://schemas.openxmlformats.org/drawingml/2006/main" noGrp="1"/>
          </p:cNvSpPr>
          <p:nvPr/>
        </p:nvSpPr>
        <p:spPr>
          <a:xfrm xmlns:a="http://schemas.openxmlformats.org/drawingml/2006/main">
            <a:off x="5505450" y="33718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OUTCOME</a:t>
            </a:r>
          </a:p>
        </p:txBody>
      </p:sp>
      <p:sp>
        <p:nvSpPr>
          <p:cNvPr id="23" name="">
            <a:extLst xmlns:a="http://schemas.openxmlformats.org/drawingml/2006/main">
              <a:ext uri="{FF2B5EF4-FFF2-40B4-BE49-F238E27FC236}">
                <a16:creationId xmlns:a16="http://schemas.microsoft.com/office/drawing/2014/main" id="{7260DB04-7A9A-4087-9DEB-026E57F43E24}"/>
              </a:ext>
            </a:extLst>
          </p:cNvPr>
          <p:cNvSpPr>
            <a:spLocks xmlns:a="http://schemas.openxmlformats.org/drawingml/2006/main" noGrp="1"/>
          </p:cNvSpPr>
          <p:nvPr/>
        </p:nvSpPr>
        <p:spPr>
          <a:xfrm xmlns:a="http://schemas.openxmlformats.org/drawingml/2006/main">
            <a:off x="7029450" y="33528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Calls or messages, arrived-to-start time, location changes, cancellations</a:t>
            </a:r>
          </a:p>
        </p:txBody>
      </p:sp>
      <p:sp>
        <p:nvSpPr>
          <p:cNvPr id="24" name="">
            <a:extLst xmlns:a="http://schemas.openxmlformats.org/drawingml/2006/main">
              <a:ext uri="{FF2B5EF4-FFF2-40B4-BE49-F238E27FC236}">
                <a16:creationId xmlns:a16="http://schemas.microsoft.com/office/drawing/2014/main" id="{C7AE9B22-F786-47AD-B181-9ECD77835296}"/>
              </a:ext>
            </a:extLst>
          </p:cNvPr>
          <p:cNvSpPr>
            <a:spLocks xmlns:a="http://schemas.openxmlformats.org/drawingml/2006/main" noGrp="1"/>
          </p:cNvSpPr>
          <p:nvPr/>
        </p:nvSpPr>
        <p:spPr>
          <a:xfrm xmlns:a="http://schemas.openxmlformats.org/drawingml/2006/main">
            <a:off x="5505450" y="377190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6B33FB2-CFBF-4DA3-B131-8C9084317E5B}"/>
              </a:ext>
            </a:extLst>
          </p:cNvPr>
          <p:cNvSpPr>
            <a:spLocks xmlns:a="http://schemas.openxmlformats.org/drawingml/2006/main" noGrp="1"/>
          </p:cNvSpPr>
          <p:nvPr/>
        </p:nvSpPr>
        <p:spPr>
          <a:xfrm xmlns:a="http://schemas.openxmlformats.org/drawingml/2006/main">
            <a:off x="5505450" y="392430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RETENTION</a:t>
            </a:r>
          </a:p>
        </p:txBody>
      </p:sp>
      <p:sp>
        <p:nvSpPr>
          <p:cNvPr id="26" name="">
            <a:extLst xmlns:a="http://schemas.openxmlformats.org/drawingml/2006/main">
              <a:ext uri="{FF2B5EF4-FFF2-40B4-BE49-F238E27FC236}">
                <a16:creationId xmlns:a16="http://schemas.microsoft.com/office/drawing/2014/main" id="{FBF11BE0-EF20-4909-93F6-B5A23F9E7334}"/>
              </a:ext>
            </a:extLst>
          </p:cNvPr>
          <p:cNvSpPr>
            <a:spLocks xmlns:a="http://schemas.openxmlformats.org/drawingml/2006/main" noGrp="1"/>
          </p:cNvSpPr>
          <p:nvPr/>
        </p:nvSpPr>
        <p:spPr>
          <a:xfrm xmlns:a="http://schemas.openxmlformats.org/drawingml/2006/main">
            <a:off x="7029450" y="390525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Repeat use among eligible riders after the first useful experience</a:t>
            </a:r>
          </a:p>
        </p:txBody>
      </p:sp>
      <p:sp>
        <p:nvSpPr>
          <p:cNvPr id="27" name="">
            <a:extLst xmlns:a="http://schemas.openxmlformats.org/drawingml/2006/main">
              <a:ext uri="{FF2B5EF4-FFF2-40B4-BE49-F238E27FC236}">
                <a16:creationId xmlns:a16="http://schemas.microsoft.com/office/drawing/2014/main" id="{25994FAD-07D1-4F0D-AC00-F9A82EBAB8D7}"/>
              </a:ext>
            </a:extLst>
          </p:cNvPr>
          <p:cNvSpPr>
            <a:spLocks xmlns:a="http://schemas.openxmlformats.org/drawingml/2006/main" noGrp="1"/>
          </p:cNvSpPr>
          <p:nvPr/>
        </p:nvSpPr>
        <p:spPr>
          <a:xfrm xmlns:a="http://schemas.openxmlformats.org/drawingml/2006/main">
            <a:off x="5505450" y="432435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FD7D919-FC88-410E-9CFF-FA73853E3B77}"/>
              </a:ext>
            </a:extLst>
          </p:cNvPr>
          <p:cNvSpPr>
            <a:spLocks xmlns:a="http://schemas.openxmlformats.org/drawingml/2006/main" noGrp="1"/>
          </p:cNvSpPr>
          <p:nvPr/>
        </p:nvSpPr>
        <p:spPr>
          <a:xfrm xmlns:a="http://schemas.openxmlformats.org/drawingml/2006/main">
            <a:off x="5505450" y="44767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COMPETITION</a:t>
            </a:r>
          </a:p>
        </p:txBody>
      </p:sp>
      <p:sp>
        <p:nvSpPr>
          <p:cNvPr id="29" name="">
            <a:extLst xmlns:a="http://schemas.openxmlformats.org/drawingml/2006/main">
              <a:ext uri="{FF2B5EF4-FFF2-40B4-BE49-F238E27FC236}">
                <a16:creationId xmlns:a16="http://schemas.microsoft.com/office/drawing/2014/main" id="{C5C19C50-71D9-47A7-B5F3-A56C59A24402}"/>
              </a:ext>
            </a:extLst>
          </p:cNvPr>
          <p:cNvSpPr>
            <a:spLocks xmlns:a="http://schemas.openxmlformats.org/drawingml/2006/main" noGrp="1"/>
          </p:cNvSpPr>
          <p:nvPr/>
        </p:nvSpPr>
        <p:spPr>
          <a:xfrm xmlns:a="http://schemas.openxmlformats.org/drawingml/2006/main">
            <a:off x="7029450" y="44577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Changes in pickup-note, venue-guidance, and recovery patterns</a:t>
            </a:r>
          </a:p>
        </p:txBody>
      </p:sp>
      <p:sp>
        <p:nvSpPr>
          <p:cNvPr id="30" name="">
            <a:extLst xmlns:a="http://schemas.openxmlformats.org/drawingml/2006/main">
              <a:ext uri="{FF2B5EF4-FFF2-40B4-BE49-F238E27FC236}">
                <a16:creationId xmlns:a16="http://schemas.microsoft.com/office/drawing/2014/main" id="{EECD793F-A6A0-4A0D-AF0D-D93F3F86D1E4}"/>
              </a:ext>
            </a:extLst>
          </p:cNvPr>
          <p:cNvSpPr>
            <a:spLocks xmlns:a="http://schemas.openxmlformats.org/drawingml/2006/main" noGrp="1"/>
          </p:cNvSpPr>
          <p:nvPr/>
        </p:nvSpPr>
        <p:spPr>
          <a:xfrm xmlns:a="http://schemas.openxmlformats.org/drawingml/2006/main">
            <a:off x="514350" y="5543550"/>
            <a:ext cx="10439400" cy="704850"/>
          </a:xfrm>
          <a:prstGeom xmlns:a="http://schemas.openxmlformats.org/drawingml/2006/main" prst="roundRect">
            <a:avLst>
              <a:gd name="adj" fmla="val 8108"/>
            </a:avLst>
          </a:prstGeom>
          <a:solidFill xmlns:a="http://schemas.openxmlformats.org/drawingml/2006/main">
            <a:srgbClr val="FBE7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00E8BFD-E695-4360-9D21-67BC0027E5B5}"/>
              </a:ext>
            </a:extLst>
          </p:cNvPr>
          <p:cNvSpPr>
            <a:spLocks xmlns:a="http://schemas.openxmlformats.org/drawingml/2006/main" noGrp="1"/>
          </p:cNvSpPr>
          <p:nvPr/>
        </p:nvSpPr>
        <p:spPr>
          <a:xfrm xmlns:a="http://schemas.openxmlformats.org/drawingml/2006/main">
            <a:off x="742950" y="5695950"/>
            <a:ext cx="998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Pricing power is not an initial success measure for this reliability feature. First prove user value and marketplace safety.</a:t>
            </a:r>
          </a:p>
        </p:txBody>
      </p:sp>
      <p:sp>
        <p:nvSpPr>
          <p:cNvPr id="32" name="">
            <a:extLst xmlns:a="http://schemas.openxmlformats.org/drawingml/2006/main">
              <a:ext uri="{FF2B5EF4-FFF2-40B4-BE49-F238E27FC236}">
                <a16:creationId xmlns:a16="http://schemas.microsoft.com/office/drawing/2014/main" id="{F27B6CB2-9022-4D4B-8195-F7F2A016869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3" name="">
            <a:extLst xmlns:a="http://schemas.openxmlformats.org/drawingml/2006/main">
              <a:ext uri="{FF2B5EF4-FFF2-40B4-BE49-F238E27FC236}">
                <a16:creationId xmlns:a16="http://schemas.microsoft.com/office/drawing/2014/main" id="{6BF376FE-32BD-4A76-84C2-AD0FE87B4B1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24</a:t>
            </a:r>
          </a:p>
        </p:txBody>
      </p:sp>
    </p:spTree>
    <p:extLst>
      <p:ext uri="{BB962C8B-B14F-4D97-AF65-F5344CB8AC3E}">
        <p14:creationId xmlns:p14="http://schemas.microsoft.com/office/powerpoint/2010/main" val="277488349"/>
      </p:ext>
    </p:extLst>
  </p:cSld>
</p:sld>
</file>

<file path=ppt/slides/slide2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6E236E-0F0F-493E-A68B-4370DF71223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5C977AB8-1FBB-4473-9E29-F9FCB159267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1A85CDD0-89C2-4A68-A098-AF25C38856B7}"/>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EA7F2A43-8A84-4DE0-AEDE-F32E90673EB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825F1DD9-202E-4B2F-A7BF-69888C0B629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25</a:t>
            </a:r>
          </a:p>
        </p:txBody>
      </p:sp>
    </p:spTree>
    <p:extLst>
      <p:ext uri="{BB962C8B-B14F-4D97-AF65-F5344CB8AC3E}">
        <p14:creationId xmlns:p14="http://schemas.microsoft.com/office/powerpoint/2010/main" val="318371204"/>
      </p:ext>
    </p:extLst>
  </p:cSld>
</p:sld>
</file>

<file path=ppt/slides/slide26.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E3EE470-92FD-425F-B8D2-C74E2F70CD55}"/>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B7D9C5EE-1174-475F-B20B-A9AA692BFDA9}"/>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1C59101E-C2A6-44E8-B0CE-6C180EDC3773}"/>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06AE148B-1EA5-453A-BE95-AFB8797E7969}"/>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340D7304-DD10-4E29-95BD-1B4755A2C982}"/>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188965EA-9394-47BC-BE85-8C0C8CB1C46C}"/>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50899D91-ABF3-42EB-8043-286D84FF122B}"/>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DA5338EB-EA3F-409A-BAFD-04F6EE724B25}"/>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ABD4712C-64FA-406E-8FED-D955EFB79170}"/>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5EDEEB02-A9C9-4193-8330-00D8CF7AEEC2}"/>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8CAD8BDC-17A6-4FC1-A6D3-7E514D14E338}"/>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2B49B636-1ACE-4DDD-8976-8467286F1C7C}"/>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5FEA3314-5892-41CB-9791-D113A7B23B40}"/>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BF0E785C-65E8-4F66-B199-5F07FF5BB06E}"/>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E58AAB4D-8D28-4D60-8B44-2855F07B1C5F}"/>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D6C4B7B0-A90E-4A0B-8313-CECFDF6E4E1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E1AE3445-2BB3-4C73-BCE1-853E9FE2AB7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26</a:t>
            </a:r>
          </a:p>
        </p:txBody>
      </p:sp>
    </p:spTree>
    <p:extLst>
      <p:ext uri="{BB962C8B-B14F-4D97-AF65-F5344CB8AC3E}">
        <p14:creationId xmlns:p14="http://schemas.microsoft.com/office/powerpoint/2010/main" val="2010645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2026-09-19T07:38:42.6640000Z</dcterms:created>
  <dcterms:modified xsi:type="dcterms:W3CDTF">2026-09-19T07:38:42.6640000Z</dcterms:modified>
</coreProperties>
</file>