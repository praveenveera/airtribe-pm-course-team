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bfb1489f1164b16" /><Relationship Type="http://schemas.openxmlformats.org/officeDocument/2006/relationships/extended-properties" Target="/docProps/app.xml" Id="R730c86c03eec41b5" /><Relationship Type="http://schemas.openxmlformats.org/officeDocument/2006/relationships/officeDocument" Target="/ppt/presentation.xml" Id="R88dbb495078946a6" /></Relationships>
</file>

<file path=ppt/presentation.xml><?xml version="1.0" encoding="utf-8"?>
<p:presentation xmlns:p="http://schemas.openxmlformats.org/presentationml/2006/main">
  <p:sldMasterIdLst>
    <p:sldMasterId xmlns:r="http://schemas.openxmlformats.org/officeDocument/2006/relationships" id="2147483648" r:id="Re9b2d190015a4076"/>
  </p:sldMasterIdLst>
  <p:notesMasterIdLst>
    <p:notesMasterId xmlns:r="http://schemas.openxmlformats.org/officeDocument/2006/relationships" r:id="R4e67d3c5ce2c4476"/>
  </p:notesMasterIdLst>
  <p:sldIdLst>
    <p:sldId xmlns:r="http://schemas.openxmlformats.org/officeDocument/2006/relationships" id="256" r:id="R68e194b535fb4e35"/>
    <p:sldId xmlns:r="http://schemas.openxmlformats.org/officeDocument/2006/relationships" id="257" r:id="R1c4a8f308ed5406e"/>
    <p:sldId xmlns:r="http://schemas.openxmlformats.org/officeDocument/2006/relationships" id="258" r:id="R53b34471dc814ecb"/>
    <p:sldId xmlns:r="http://schemas.openxmlformats.org/officeDocument/2006/relationships" id="259" r:id="Rb626b5a733924e69"/>
    <p:sldId xmlns:r="http://schemas.openxmlformats.org/officeDocument/2006/relationships" id="260" r:id="Rdfd2348eba4f422f"/>
    <p:sldId xmlns:r="http://schemas.openxmlformats.org/officeDocument/2006/relationships" id="261" r:id="R1b375ec26e2e49cf"/>
    <p:sldId xmlns:r="http://schemas.openxmlformats.org/officeDocument/2006/relationships" id="262" r:id="Rd884d893ca544a16"/>
    <p:sldId xmlns:r="http://schemas.openxmlformats.org/officeDocument/2006/relationships" id="263" r:id="Rb6c775be21684394"/>
    <p:sldId xmlns:r="http://schemas.openxmlformats.org/officeDocument/2006/relationships" id="264" r:id="R48ef9a0c3f574d25"/>
    <p:sldId xmlns:r="http://schemas.openxmlformats.org/officeDocument/2006/relationships" id="265" r:id="Rd78831c3633d4d4b"/>
    <p:sldId xmlns:r="http://schemas.openxmlformats.org/officeDocument/2006/relationships" id="266" r:id="Ra27b6031a82c4cf4"/>
    <p:sldId xmlns:r="http://schemas.openxmlformats.org/officeDocument/2006/relationships" id="267" r:id="R7277622187414fe0"/>
    <p:sldId xmlns:r="http://schemas.openxmlformats.org/officeDocument/2006/relationships" id="268" r:id="R900dcd6d29704717"/>
    <p:sldId xmlns:r="http://schemas.openxmlformats.org/officeDocument/2006/relationships" id="269" r:id="Ra23ee718f6a64f74"/>
    <p:sldId xmlns:r="http://schemas.openxmlformats.org/officeDocument/2006/relationships" id="270" r:id="Ra216f7e4a9974068"/>
    <p:sldId xmlns:r="http://schemas.openxmlformats.org/officeDocument/2006/relationships" id="271" r:id="R3ddb140b04354dc9"/>
    <p:sldId xmlns:r="http://schemas.openxmlformats.org/officeDocument/2006/relationships" id="272" r:id="R3d8913c755874771"/>
    <p:sldId xmlns:r="http://schemas.openxmlformats.org/officeDocument/2006/relationships" id="273" r:id="R3e005a08d3dd4135"/>
    <p:sldId xmlns:r="http://schemas.openxmlformats.org/officeDocument/2006/relationships" id="274" r:id="R8b989337bad64f2a"/>
    <p:sldId xmlns:r="http://schemas.openxmlformats.org/officeDocument/2006/relationships" id="275" r:id="R2b6d86914c974282"/>
    <p:sldId xmlns:r="http://schemas.openxmlformats.org/officeDocument/2006/relationships" id="276" r:id="R022f16f7d17049bd"/>
    <p:sldId xmlns:r="http://schemas.openxmlformats.org/officeDocument/2006/relationships" id="277" r:id="Ra33d838d840e45b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184764b63bd4c0e" /><Relationship Type="http://schemas.openxmlformats.org/officeDocument/2006/relationships/slideMaster" Target="/ppt/slideMasters/slideMaster1.xml" Id="Re9b2d190015a4076" /><Relationship Type="http://schemas.openxmlformats.org/officeDocument/2006/relationships/notesMaster" Target="/ppt/notesMasters/notesMaster1.xml" Id="R4e67d3c5ce2c4476" /><Relationship Type="http://schemas.openxmlformats.org/officeDocument/2006/relationships/presProps" Target="/ppt/presProps.xml" Id="R41f72166474d4666" /><Relationship Type="http://schemas.openxmlformats.org/officeDocument/2006/relationships/tableStyles" Target="/ppt/tableStyles.xml" Id="R971db11c9d7e4cc9" /><Relationship Type="http://schemas.openxmlformats.org/officeDocument/2006/relationships/slide" Target="/ppt/slides/slide1.xml" Id="R68e194b535fb4e35" /><Relationship Type="http://schemas.openxmlformats.org/officeDocument/2006/relationships/slide" Target="/ppt/slides/slide2.xml" Id="R1c4a8f308ed5406e" /><Relationship Type="http://schemas.openxmlformats.org/officeDocument/2006/relationships/slide" Target="/ppt/slides/slide3.xml" Id="R53b34471dc814ecb" /><Relationship Type="http://schemas.openxmlformats.org/officeDocument/2006/relationships/slide" Target="/ppt/slides/slide4.xml" Id="Rb626b5a733924e69" /><Relationship Type="http://schemas.openxmlformats.org/officeDocument/2006/relationships/slide" Target="/ppt/slides/slide5.xml" Id="Rdfd2348eba4f422f" /><Relationship Type="http://schemas.openxmlformats.org/officeDocument/2006/relationships/slide" Target="/ppt/slides/slide6.xml" Id="R1b375ec26e2e49cf" /><Relationship Type="http://schemas.openxmlformats.org/officeDocument/2006/relationships/slide" Target="/ppt/slides/slide7.xml" Id="Rd884d893ca544a16" /><Relationship Type="http://schemas.openxmlformats.org/officeDocument/2006/relationships/slide" Target="/ppt/slides/slide8.xml" Id="Rb6c775be21684394" /><Relationship Type="http://schemas.openxmlformats.org/officeDocument/2006/relationships/slide" Target="/ppt/slides/slide9.xml" Id="R48ef9a0c3f574d25" /><Relationship Type="http://schemas.openxmlformats.org/officeDocument/2006/relationships/slide" Target="/ppt/slides/slide10.xml" Id="Rd78831c3633d4d4b" /><Relationship Type="http://schemas.openxmlformats.org/officeDocument/2006/relationships/slide" Target="/ppt/slides/slide11.xml" Id="Ra27b6031a82c4cf4" /><Relationship Type="http://schemas.openxmlformats.org/officeDocument/2006/relationships/slide" Target="/ppt/slides/slide12.xml" Id="R7277622187414fe0" /><Relationship Type="http://schemas.openxmlformats.org/officeDocument/2006/relationships/slide" Target="/ppt/slides/slide13.xml" Id="R900dcd6d29704717" /><Relationship Type="http://schemas.openxmlformats.org/officeDocument/2006/relationships/slide" Target="/ppt/slides/slide14.xml" Id="Ra23ee718f6a64f74" /><Relationship Type="http://schemas.openxmlformats.org/officeDocument/2006/relationships/slide" Target="/ppt/slides/slide15.xml" Id="Ra216f7e4a9974068" /><Relationship Type="http://schemas.openxmlformats.org/officeDocument/2006/relationships/slide" Target="/ppt/slides/slide16.xml" Id="R3ddb140b04354dc9" /><Relationship Type="http://schemas.openxmlformats.org/officeDocument/2006/relationships/slide" Target="/ppt/slides/slide17.xml" Id="R3d8913c755874771" /><Relationship Type="http://schemas.openxmlformats.org/officeDocument/2006/relationships/slide" Target="/ppt/slides/slide18.xml" Id="R3e005a08d3dd4135" /><Relationship Type="http://schemas.openxmlformats.org/officeDocument/2006/relationships/slide" Target="/ppt/slides/slide19.xml" Id="R8b989337bad64f2a" /><Relationship Type="http://schemas.openxmlformats.org/officeDocument/2006/relationships/slide" Target="/ppt/slides/slide20.xml" Id="R2b6d86914c974282" /><Relationship Type="http://schemas.openxmlformats.org/officeDocument/2006/relationships/slide" Target="/ppt/slides/slide21.xml" Id="R022f16f7d17049bd" /><Relationship Type="http://schemas.openxmlformats.org/officeDocument/2006/relationships/slide" Target="/ppt/slides/slide22.xml" Id="Ra33d838d840e45b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9d3393e4218459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9de932b05b44406" /><Relationship Type="http://schemas.openxmlformats.org/officeDocument/2006/relationships/notesMaster" Target="/ppt/notesMasters/notesMaster1.xml" Id="R3a7feab85aa2430f" /></Relationships>
</file>

<file path=ppt/notesSlides/_rels/notesSlide2.xml.rels>&#65279;<?xml version="1.0" encoding="utf-8"?><Relationships xmlns="http://schemas.openxmlformats.org/package/2006/relationships"><Relationship Type="http://schemas.openxmlformats.org/officeDocument/2006/relationships/slide" Target="/ppt/slides/slide2.xml" Id="R4e6ddb18541d4deb" /><Relationship Type="http://schemas.openxmlformats.org/officeDocument/2006/relationships/notesMaster" Target="/ppt/notesMasters/notesMaster1.xml" Id="R00326daa8e084b52" /></Relationships>
</file>

<file path=ppt/notesSlides/_rels/notesSlide3.xml.rels>&#65279;<?xml version="1.0" encoding="utf-8"?><Relationships xmlns="http://schemas.openxmlformats.org/package/2006/relationships"><Relationship Type="http://schemas.openxmlformats.org/officeDocument/2006/relationships/slide" Target="/ppt/slides/slide3.xml" Id="R9503720c5a634c31" /><Relationship Type="http://schemas.openxmlformats.org/officeDocument/2006/relationships/notesMaster" Target="/ppt/notesMasters/notesMaster1.xml" Id="Rc43deedceb17468e" /></Relationships>
</file>

<file path=ppt/notesSlides/_rels/notesSlide4.xml.rels>&#65279;<?xml version="1.0" encoding="utf-8"?><Relationships xmlns="http://schemas.openxmlformats.org/package/2006/relationships"><Relationship Type="http://schemas.openxmlformats.org/officeDocument/2006/relationships/slide" Target="/ppt/slides/slide4.xml" Id="R6b33941584c64405" /><Relationship Type="http://schemas.openxmlformats.org/officeDocument/2006/relationships/notesMaster" Target="/ppt/notesMasters/notesMaster1.xml" Id="Ra40d7c3d967d42f8" /></Relationships>
</file>

<file path=ppt/notesSlides/_rels/notesSlide5.xml.rels>&#65279;<?xml version="1.0" encoding="utf-8"?><Relationships xmlns="http://schemas.openxmlformats.org/package/2006/relationships"><Relationship Type="http://schemas.openxmlformats.org/officeDocument/2006/relationships/slide" Target="/ppt/slides/slide5.xml" Id="R5ac4c9f298c34a86" /><Relationship Type="http://schemas.openxmlformats.org/officeDocument/2006/relationships/notesMaster" Target="/ppt/notesMasters/notesMaster1.xml" Id="R7e6b43141a1148ba" /></Relationships>
</file>

<file path=ppt/notesSlides/_rels/notesSlide6.xml.rels>&#65279;<?xml version="1.0" encoding="utf-8"?><Relationships xmlns="http://schemas.openxmlformats.org/package/2006/relationships"><Relationship Type="http://schemas.openxmlformats.org/officeDocument/2006/relationships/slide" Target="/ppt/slides/slide6.xml" Id="Rccd4838f6ee74b01" /><Relationship Type="http://schemas.openxmlformats.org/officeDocument/2006/relationships/notesMaster" Target="/ppt/notesMasters/notesMaster1.xml" Id="R162c9e00d4114d7e" /></Relationships>
</file>

<file path=ppt/notesSlides/_rels/notesSlide7.xml.rels>&#65279;<?xml version="1.0" encoding="utf-8"?><Relationships xmlns="http://schemas.openxmlformats.org/package/2006/relationships"><Relationship Type="http://schemas.openxmlformats.org/officeDocument/2006/relationships/slide" Target="/ppt/slides/slide7.xml" Id="R9eeaf82496d445e2" /><Relationship Type="http://schemas.openxmlformats.org/officeDocument/2006/relationships/notesMaster" Target="/ppt/notesMasters/notesMaster1.xml" Id="R943fa561f8774f7c" /></Relationships>
</file>

<file path=ppt/notesSlides/_rels/notesSlide8.xml.rels>&#65279;<?xml version="1.0" encoding="utf-8"?><Relationships xmlns="http://schemas.openxmlformats.org/package/2006/relationships"><Relationship Type="http://schemas.openxmlformats.org/officeDocument/2006/relationships/slide" Target="/ppt/slides/slide8.xml" Id="Rbe88779e172e4fc3" /><Relationship Type="http://schemas.openxmlformats.org/officeDocument/2006/relationships/notesMaster" Target="/ppt/notesMasters/notesMaster1.xml" Id="R51ab640f792a4a7c" /></Relationships>
</file>

<file path=ppt/notesSlides/_rels/notesSlide9.xml.rels>&#65279;<?xml version="1.0" encoding="utf-8"?><Relationships xmlns="http://schemas.openxmlformats.org/package/2006/relationships"><Relationship Type="http://schemas.openxmlformats.org/officeDocument/2006/relationships/slide" Target="/ppt/slides/slide9.xml" Id="R3ea471a744e3472b" /><Relationship Type="http://schemas.openxmlformats.org/officeDocument/2006/relationships/notesMaster" Target="/ppt/notesMasters/notesMaster1.xml" Id="R23f50f140fe74aa8"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442f6e011a64012" /><Relationship Type="http://schemas.openxmlformats.org/officeDocument/2006/relationships/notesMaster" Target="/ppt/notesMasters/notesMaster1.xml" Id="Rb45cb441d31c4ebb"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5dddae6132ec44b4" /><Relationship Type="http://schemas.openxmlformats.org/officeDocument/2006/relationships/notesMaster" Target="/ppt/notesMasters/notesMaster1.xml" Id="R27201f0d4b464482"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848e8976743c44a6" /><Relationship Type="http://schemas.openxmlformats.org/officeDocument/2006/relationships/notesMaster" Target="/ppt/notesMasters/notesMaster1.xml" Id="Rff85890967c0447b"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a112f9dcf2b146b9" /><Relationship Type="http://schemas.openxmlformats.org/officeDocument/2006/relationships/notesMaster" Target="/ppt/notesMasters/notesMaster1.xml" Id="R4ac5594069404174"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8c40bb540b714aa3" /><Relationship Type="http://schemas.openxmlformats.org/officeDocument/2006/relationships/notesMaster" Target="/ppt/notesMasters/notesMaster1.xml" Id="Rec654d0af6304b66"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f4ad9830b7bf4e67" /><Relationship Type="http://schemas.openxmlformats.org/officeDocument/2006/relationships/notesMaster" Target="/ppt/notesMasters/notesMaster1.xml" Id="Rafacef53759d4d1e"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55d64cc3dc444fb5" /><Relationship Type="http://schemas.openxmlformats.org/officeDocument/2006/relationships/notesMaster" Target="/ppt/notesMasters/notesMaster1.xml" Id="Rbcc5a7215f984bfe"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ceefd3c1ae334983" /><Relationship Type="http://schemas.openxmlformats.org/officeDocument/2006/relationships/notesMaster" Target="/ppt/notesMasters/notesMaster1.xml" Id="R54ccefaa16264442"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fc249f077afc41e4" /><Relationship Type="http://schemas.openxmlformats.org/officeDocument/2006/relationships/notesMaster" Target="/ppt/notesMasters/notesMaster1.xml" Id="R77a4dab8391e4508"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85cdd8e6b3014861" /><Relationship Type="http://schemas.openxmlformats.org/officeDocument/2006/relationships/notesMaster" Target="/ppt/notesMasters/notesMaster1.xml" Id="R911b8e17bb3f47d0"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4d6d30bd8c554d74" /><Relationship Type="http://schemas.openxmlformats.org/officeDocument/2006/relationships/notesMaster" Target="/ppt/notesMasters/notesMaster1.xml" Id="Rb8dd4f6f830f4dd0"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0451fe682799436f" /><Relationship Type="http://schemas.openxmlformats.org/officeDocument/2006/relationships/notesMaster" Target="/ppt/notesMasters/notesMaster1.xml" Id="Rf28115c1830649d7"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f4c9d65f09d246ac" /><Relationship Type="http://schemas.openxmlformats.org/officeDocument/2006/relationships/notesMaster" Target="/ppt/notesMasters/notesMaster1.xml" Id="R7dc216a3c28c4ed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script</a:t>
            </a:r>
          </a:p>
          <a:p xmlns:a="http://schemas.openxmlformats.org/drawingml/2006/main">
            <a:r>
              <a:t/>
            </a:r>
          </a:p>
          <a:p xmlns:a="http://schemas.openxmlformats.org/drawingml/2006/main">
            <a:r>
              <a:t>Hello. This project is called Find My Ride. It studies a stressful moment after booking. The driver is nearby, but the rider and driver still cannot find each other. I wanted to understand why pickup coordination breaks and what Uber should test first.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script</a:t>
            </a:r>
          </a:p>
          <a:p xmlns:a="http://schemas.openxmlformats.org/drawingml/2006/main">
            <a:r>
              <a:t/>
            </a:r>
          </a:p>
          <a:p xmlns:a="http://schemas.openxmlformats.org/drawingml/2006/main">
            <a:r>
              <a:t>I could not complete ten live interviews. Instead, I built an online survey app in three languages, with separate questions for riders and drivers.</a:t>
            </a:r>
          </a:p>
          <a:p xmlns:a="http://schemas.openxmlformats.org/drawingml/2006/main">
            <a:r>
              <a:t/>
            </a:r>
          </a:p>
          <a:p xmlns:a="http://schemas.openxmlformats.org/drawingml/2006/main">
            <a:r>
              <a:t>After removing one duplicate, I had sixty-two responses. Fifty-eight were riders and four were drivers. Thirty people wrote answers, and eleven shared detailed experiences. The survey gave useful signals, but no live follow-up. So, it does not replace interviews.</a:t>
            </a:r>
          </a:p>
          <a:p xmlns:a="http://schemas.openxmlformats.org/drawingml/2006/main">
            <a:r>
              <a:t/>
            </a:r>
          </a:p>
          <a:p xmlns:a="http://schemas.openxmlformats.org/drawingml/2006/main">
            <a:r>
              <a:t>Sources:</a:t>
            </a:r>
          </a:p>
          <a:p xmlns:a="http://schemas.openxmlformats.org/drawingml/2006/main">
            <a:r>
              <a:t>Local evidence: data/survey/normalized-data.tsv; R032 removed as confirmed duplicate of R031.</a:t>
            </a:r>
          </a:p>
          <a:p xmlns:a="http://schemas.openxmlformats.org/drawingml/2006/main">
            <a:r>
              <a:t>https://praveenveera.github.io/uber-pickup-survey/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script</a:t>
            </a:r>
          </a:p>
          <a:p xmlns:a="http://schemas.openxmlformats.org/drawingml/2006/main">
            <a:r>
              <a:t/>
            </a:r>
          </a:p>
          <a:p xmlns:a="http://schemas.openxmlformats.org/drawingml/2006/main">
            <a:r>
              <a:t>I also reviewed how other services handle pickups. Uber already guides Hyderabad airport riders to the D1 pickup zone. Others use meeting points, pickup notes, pictures, and access information.</a:t>
            </a:r>
          </a:p>
          <a:p xmlns:a="http://schemas.openxmlformats.org/drawingml/2006/main">
            <a:r>
              <a:t/>
            </a:r>
          </a:p>
          <a:p xmlns:a="http://schemas.openxmlformats.org/drawingml/2006/main">
            <a:r>
              <a:t>These examples show possible approaches, but they do not prove local demand. The opportunity is to improve guidance when the pickup pin is not enough.</a:t>
            </a:r>
          </a:p>
          <a:p xmlns:a="http://schemas.openxmlformats.org/drawingml/2006/main">
            <a:r>
              <a:t/>
            </a:r>
          </a:p>
          <a:p xmlns:a="http://schemas.openxmlformats.org/drawingml/2006/main">
            <a:r>
              <a:t>Sources:</a:t>
            </a:r>
          </a:p>
          <a:p xmlns:a="http://schemas.openxmlformats.org/drawingml/2006/main">
            <a:r>
              <a:t>https://www.uber.com/global/en/r/airports/hyd/pickup/</a:t>
            </a:r>
          </a:p>
          <a:p xmlns:a="http://schemas.openxmlformats.org/drawingml/2006/main">
            <a:r>
              <a:t>https://www.grab.com/inside-grab/stories/were-making-pickups-easier-with-video-guides-in-the-grab-app/</a:t>
            </a:r>
          </a:p>
          <a:p xmlns:a="http://schemas.openxmlformats.org/drawingml/2006/main">
            <a:r>
              <a:t>https://help.lyft.com/hc/en-us/all/articles/360047353153</a:t>
            </a:r>
          </a:p>
          <a:p xmlns:a="http://schemas.openxmlformats.org/drawingml/2006/main">
            <a:r>
              <a:t>https://support.google.com/waymo/answer/9696059?hl=en</a:t>
            </a:r>
          </a:p>
          <a:p xmlns:a="http://schemas.openxmlformats.org/drawingml/2006/main">
            <a:r>
              <a:t>https://help.mygate.in/articles/138755-where-will-my-cab-pick-me-up-if-i-am-using-safe-pickup-mode</a:t>
            </a:r>
          </a:p>
          <a:p xmlns:a="http://schemas.openxmlformats.org/drawingml/2006/main">
            <a:r>
              <a:t>https://www.htp.gov.in/road_rules.html</a:t>
            </a:r>
          </a:p>
          <a:p xmlns:a="http://schemas.openxmlformats.org/drawingml/2006/main">
            <a:r>
              <a:t>https://www.indiacode.nic.in/indiacode/handle/123456789/22037?view_type=browse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script</a:t>
            </a:r>
          </a:p>
          <a:p xmlns:a="http://schemas.openxmlformats.org/drawingml/2006/main">
            <a:r>
              <a:t/>
            </a:r>
          </a:p>
          <a:p xmlns:a="http://schemas.openxmlformats.org/drawingml/2006/main">
            <a:r>
              <a:t>Reliable public data was not available for an exact market size. We would need Hyderabad pickup volume, the share from complex places, and the share facing difficulty. So, I show the sizing method instead of making up a number.</a:t>
            </a:r>
          </a:p>
          <a:p xmlns:a="http://schemas.openxmlformats.org/drawingml/2006/main">
            <a:r>
              <a:t/>
            </a:r>
          </a:p>
          <a:p xmlns:a="http://schemas.openxmlformats.org/drawingml/2006/main">
            <a:r>
              <a:t>The survey points to airports, gated communities, malls, offices, and stations. Location matters more than age or income.</a:t>
            </a:r>
          </a:p>
          <a:p xmlns:a="http://schemas.openxmlformats.org/drawingml/2006/main">
            <a:r>
              <a:t/>
            </a:r>
          </a:p>
          <a:p xmlns:a="http://schemas.openxmlformats.org/drawingml/2006/main">
            <a:r>
              <a:t>Sources:</a:t>
            </a:r>
          </a:p>
          <a:p xmlns:a="http://schemas.openxmlformats.org/drawingml/2006/main">
            <a:r>
              <a:t>https://www.uber.com/in/en/newsroom/how-india-ubered-in-2025-everyday-travel-extraordinary-scale/</a:t>
            </a:r>
          </a:p>
          <a:p xmlns:a="http://schemas.openxmlformats.org/drawingml/2006/main">
            <a:r>
              <a:t>https://www.uber.com/in/en/newsroom/how-india-ubered-in-2023-a-year-in-rear-view/</a:t>
            </a:r>
          </a:p>
          <a:p xmlns:a="http://schemas.openxmlformats.org/drawingml/2006/main">
            <a:r>
              <a:t>https://www.gmrgroup.com/airports-and-aero-services/airports/hyderabad-airport</a:t>
            </a:r>
          </a:p>
          <a:p xmlns:a="http://schemas.openxmlformats.org/drawingml/2006/main">
            <a:r>
              <a:t>https://www.ltmetro.com/wp-content/uploads/2025/01/28-11-2024-Press-Release-Hyderabad-Metro-Rail-Celebrates-its-7th-Anniversary-181-Chief-Guest.pdf</a:t>
            </a:r>
          </a:p>
          <a:p xmlns:a="http://schemas.openxmlformats.org/drawingml/2006/main">
            <a:r>
              <a:t>https://morth.nic.in/sites/default/files/circulars_document/MV-Aggregators-Guidelines-2025%20-%20English%20and%20Hindi.pdf</a:t>
            </a:r>
          </a:p>
          <a:p xmlns:a="http://schemas.openxmlformats.org/drawingml/2006/main">
            <a:r>
              <a:t>https://www.indiacode.nic.in/indiacode/handle/123456789/22037?view_type=browse</a:t>
            </a:r>
          </a:p>
          <a:p xmlns:a="http://schemas.openxmlformats.org/drawingml/2006/main">
            <a:r>
              <a:t>Local evidence: research/desk-research-report.md sections 3.1, 3.5, 3.6, 3.7 and 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script</a:t>
            </a:r>
          </a:p>
          <a:p xmlns:a="http://schemas.openxmlformats.org/drawingml/2006/main">
            <a:r>
              <a:t/>
            </a:r>
          </a:p>
          <a:p xmlns:a="http://schemas.openxmlformats.org/drawingml/2006/main">
            <a:r>
              <a:t>My goal was to understand what goes wrong during a difficult pickup and how people solve it today.</a:t>
            </a:r>
          </a:p>
          <a:p xmlns:a="http://schemas.openxmlformats.org/drawingml/2006/main">
            <a:r>
              <a:t/>
            </a:r>
          </a:p>
          <a:p xmlns:a="http://schemas.openxmlformats.org/drawingml/2006/main">
            <a:r>
              <a:t>The problem statement is simple. At complex locations, the map pin may show the right area, but the rider and driver still lack one clear meeting place. This causes calls, waiting, movement, and delay.</a:t>
            </a:r>
          </a:p>
          <a:p xmlns:a="http://schemas.openxmlformats.org/drawingml/2006/main">
            <a:r>
              <a:t/>
            </a:r>
          </a:p>
          <a:p xmlns:a="http://schemas.openxmlformats.org/drawingml/2006/main">
            <a:r>
              <a:t>The rider is the main user, and the driver is also affected. Success means fewer calls and a faster trip start. The appendix shows how I checked this frame before choosing a feature.</a:t>
            </a:r>
          </a:p>
          <a:p xmlns:a="http://schemas.openxmlformats.org/drawingml/2006/main">
            <a:r>
              <a:t/>
            </a:r>
          </a:p>
          <a:p xmlns:a="http://schemas.openxmlformats.org/drawingml/2006/main">
            <a:r>
              <a:t>Sources:</a:t>
            </a:r>
          </a:p>
          <a:p xmlns:a="http://schemas.openxmlformats.org/drawingml/2006/main">
            <a:r>
              <a:t>Local evidence: synthesis/01-survey-insights.md, synthesis/02-strategy-implications.md, and v2/requirement.md.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script</a:t>
            </a:r>
          </a:p>
          <a:p xmlns:a="http://schemas.openxmlformats.org/drawingml/2006/main">
            <a:r>
              <a:t/>
            </a:r>
          </a:p>
          <a:p xmlns:a="http://schemas.openxmlformats.org/drawingml/2006/main">
            <a:r>
              <a:t>These are the main survey questions. People described their latest difficult pickup, where it happened, what the app showed, when confusion started, what they did next, and what helped.</a:t>
            </a:r>
          </a:p>
          <a:p xmlns:a="http://schemas.openxmlformats.org/drawingml/2006/main">
            <a:r>
              <a:t/>
            </a:r>
          </a:p>
          <a:p xmlns:a="http://schemas.openxmlformats.org/drawingml/2006/main">
            <a:r>
              <a:t>Drivers were also asked what stopped them from reaching the rider. All answers were online, without live follow-up.</a:t>
            </a:r>
          </a:p>
          <a:p xmlns:a="http://schemas.openxmlformats.org/drawingml/2006/main">
            <a:r>
              <a:t/>
            </a:r>
          </a:p>
          <a:p xmlns:a="http://schemas.openxmlformats.org/drawingml/2006/main">
            <a:r>
              <a:t>Sources:</a:t>
            </a:r>
          </a:p>
          <a:p xmlns:a="http://schemas.openxmlformats.org/drawingml/2006/main">
            <a:r>
              <a:t>Local evidence: synthesis/01-survey-insights.md section 1.1; interviews/survey-form-content.md.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script</a:t>
            </a:r>
          </a:p>
          <a:p xmlns:a="http://schemas.openxmlformats.org/drawingml/2006/main">
            <a:r>
              <a:t/>
            </a:r>
          </a:p>
          <a:p xmlns:a="http://schemas.openxmlformats.org/drawingml/2006/main">
            <a:r>
              <a:t>The problem affected many people in the sample, but not everyone. Twenty-four out of fifty-one recent Uber car users reported difficulty or uncertainty.</a:t>
            </a:r>
          </a:p>
          <a:p xmlns:a="http://schemas.openxmlformats.org/drawingml/2006/main">
            <a:r>
              <a:t/>
            </a:r>
          </a:p>
          <a:p xmlns:a="http://schemas.openxmlformats.org/drawingml/2006/main">
            <a:r>
              <a:t>Among twenty-eight problem cases, twenty-three had faced the problem before. Twenty said calling or messaging helped, while six said nothing helped. These numbers describe this sample only. They do not represent all Hyderabad users.</a:t>
            </a:r>
          </a:p>
          <a:p xmlns:a="http://schemas.openxmlformats.org/drawingml/2006/main">
            <a:r>
              <a:t/>
            </a:r>
          </a:p>
          <a:p xmlns:a="http://schemas.openxmlformats.org/drawingml/2006/main">
            <a:r>
              <a:t>Sources:</a:t>
            </a:r>
          </a:p>
          <a:p xmlns:a="http://schemas.openxmlformats.org/drawingml/2006/main">
            <a:r>
              <a:t>Local evidence: v3/submission-ready/evidence/03-Anonymized-Responses/Sanitized-Survey-Evidence.xlsx.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script</a:t>
            </a:r>
          </a:p>
          <a:p xmlns:a="http://schemas.openxmlformats.org/drawingml/2006/main">
            <a:r>
              <a:t/>
            </a:r>
          </a:p>
          <a:p xmlns:a="http://schemas.openxmlformats.org/drawingml/2006/main">
            <a:r>
              <a:t>Most difficult pickups happened at airports, gated communities, malls, offices, and stations. Calling was the most common solution. People also waited or moved.</a:t>
            </a:r>
          </a:p>
          <a:p xmlns:a="http://schemas.openxmlformats.org/drawingml/2006/main">
            <a:r>
              <a:t/>
            </a:r>
          </a:p>
          <a:p xmlns:a="http://schemas.openxmlformats.org/drawingml/2006/main">
            <a:r>
              <a:t>This shows that riders and drivers often solve the final pickup step themselves. The appendix contains all ten insights and their evidence.</a:t>
            </a:r>
          </a:p>
          <a:p xmlns:a="http://schemas.openxmlformats.org/drawingml/2006/main">
            <a:r>
              <a:t/>
            </a:r>
          </a:p>
          <a:p xmlns:a="http://schemas.openxmlformats.org/drawingml/2006/main">
            <a:r>
              <a:t>Sources:</a:t>
            </a:r>
          </a:p>
          <a:p xmlns:a="http://schemas.openxmlformats.org/drawingml/2006/main">
            <a:r>
              <a:t>Local evidence: Sanitized-Survey-Evidence.xlsx, Summary and Anonymized Responses sheets. Multi-select counts are mentions, not unique people.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script</a:t>
            </a:r>
          </a:p>
          <a:p xmlns:a="http://schemas.openxmlformats.org/drawingml/2006/main">
            <a:r>
              <a:t/>
            </a:r>
          </a:p>
          <a:p xmlns:a="http://schemas.openxmlformats.org/drawingml/2006/main">
            <a:r>
              <a:t>The direction is simple. Help the rider and driver agree on a clear meeting place when pickup becomes difficult.</a:t>
            </a:r>
          </a:p>
          <a:p xmlns:a="http://schemas.openxmlformats.org/drawingml/2006/main">
            <a:r>
              <a:t/>
            </a:r>
          </a:p>
          <a:p xmlns:a="http://schemas.openxmlformats.org/drawingml/2006/main">
            <a:r>
              <a:t>First, test a structured meeting note. Next, test help for a stuck pickup. Finally, test guidance for selected venues. This is a test order, not a final roadmap.</a:t>
            </a:r>
          </a:p>
          <a:p xmlns:a="http://schemas.openxmlformats.org/drawingml/2006/main">
            <a:r>
              <a:t/>
            </a:r>
          </a:p>
          <a:p xmlns:a="http://schemas.openxmlformats.org/drawingml/2006/main">
            <a:r>
              <a:t>Sources:</a:t>
            </a:r>
          </a:p>
          <a:p xmlns:a="http://schemas.openxmlformats.org/drawingml/2006/main">
            <a:r>
              <a:t>Local evidence: synthesis/02-strategy-implications.md.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script</a:t>
            </a:r>
          </a:p>
          <a:p xmlns:a="http://schemas.openxmlformats.org/drawingml/2006/main">
            <a:r>
              <a:t/>
            </a:r>
          </a:p>
          <a:p xmlns:a="http://schemas.openxmlformats.org/drawingml/2006/main">
            <a:r>
              <a:t>The first test is a short note before the driver arrives. At a complex location, the rider can share the gate, landmark, road side, or waiting spot.</a:t>
            </a:r>
          </a:p>
          <a:p xmlns:a="http://schemas.openxmlformats.org/drawingml/2006/main">
            <a:r>
              <a:t/>
            </a:r>
          </a:p>
          <a:p xmlns:a="http://schemas.openxmlformats.org/drawingml/2006/main">
            <a:r>
              <a:t>We should test whether this reduces calls, waiting, pickup-point changes, and cancellations. It should appear only where useful, so normal pickups stay quick.</a:t>
            </a:r>
          </a:p>
          <a:p xmlns:a="http://schemas.openxmlformats.org/drawingml/2006/main">
            <a:r>
              <a:t/>
            </a:r>
          </a:p>
          <a:p xmlns:a="http://schemas.openxmlformats.org/drawingml/2006/main">
            <a:r>
              <a:t>Sources:</a:t>
            </a:r>
          </a:p>
          <a:p xmlns:a="http://schemas.openxmlformats.org/drawingml/2006/main">
            <a:r>
              <a:t>Local evidence: R061 in normalized-data.tsv; 20 of 28 issue cases reported calls/messages as helpful.</a:t>
            </a:r>
          </a:p>
          <a:p xmlns:a="http://schemas.openxmlformats.org/drawingml/2006/main">
            <a:r>
              <a:t>Competitor precedent: https://help.lyft.com/hc/en-us/all/articles/360047353153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script</a:t>
            </a:r>
          </a:p>
          <a:p xmlns:a="http://schemas.openxmlformats.org/drawingml/2006/main">
            <a:r>
              <a:t/>
            </a:r>
          </a:p>
          <a:p xmlns:a="http://schemas.openxmlformats.org/drawingml/2006/main">
            <a:r>
              <a:t>The second idea is guided recovery. If the rider and driver cannot connect, the app can suggest the next step, such as confirming the meeting point or calling.</a:t>
            </a:r>
          </a:p>
          <a:p xmlns:a="http://schemas.openxmlformats.org/drawingml/2006/main">
            <a:r>
              <a:t/>
            </a:r>
          </a:p>
          <a:p xmlns:a="http://schemas.openxmlformats.org/drawingml/2006/main">
            <a:r>
              <a:t>The third idea is verified pickup guidance for a few complex venues. Uber would need regular updates, because old venue information could create more confusion.</a:t>
            </a:r>
          </a:p>
          <a:p xmlns:a="http://schemas.openxmlformats.org/drawingml/2006/main">
            <a:r>
              <a:t/>
            </a:r>
          </a:p>
          <a:p xmlns:a="http://schemas.openxmlformats.org/drawingml/2006/main">
            <a:r>
              <a:t>Sources:</a:t>
            </a:r>
          </a:p>
          <a:p xmlns:a="http://schemas.openxmlformats.org/drawingml/2006/main">
            <a:r>
              <a:t>Local evidence: synthesis/04-product-ideas.md and Sanitized-Survey-Evidence.xlsx.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script</a:t>
            </a:r>
          </a:p>
          <a:p xmlns:a="http://schemas.openxmlformats.org/drawingml/2006/main">
            <a:r>
              <a:t/>
            </a:r>
          </a:p>
          <a:p xmlns:a="http://schemas.openxmlformats.org/drawingml/2006/main">
            <a:r>
              <a:t>My recommendation is to test the structured meeting note first. It is the smallest idea that directly addresses the problem we observed.</a:t>
            </a:r>
          </a:p>
          <a:p xmlns:a="http://schemas.openxmlformats.org/drawingml/2006/main">
            <a:r>
              <a:t/>
            </a:r>
          </a:p>
          <a:p xmlns:a="http://schemas.openxmlformats.org/drawingml/2006/main">
            <a:r>
              <a:t>The research has gaps. I did not complete live interviews, only four drivers responded, and the sample does not represent Hyderabad. Next, we should interview riders and drivers, then test at a few complex locations using actual pickup-delay data.</a:t>
            </a:r>
          </a:p>
          <a:p xmlns:a="http://schemas.openxmlformats.org/drawingml/2006/main">
            <a:r>
              <a:t/>
            </a:r>
          </a:p>
          <a:p xmlns:a="http://schemas.openxmlformats.org/drawingml/2006/main">
            <a:r>
              <a:t>The appendix and evidence ZIP contain the supporting material. Thank you.</a:t>
            </a:r>
          </a:p>
          <a:p xmlns:a="http://schemas.openxmlformats.org/drawingml/2006/main">
            <a:r>
              <a:t/>
            </a:r>
          </a:p>
          <a:p xmlns:a="http://schemas.openxmlformats.org/drawingml/2006/main">
            <a:r>
              <a:t>Sources:</a:t>
            </a:r>
          </a:p>
          <a:p xmlns:a="http://schemas.openxmlformats.org/drawingml/2006/main">
            <a:r>
              <a:t>Local evidence: submission-requirements.md and synthesis/*.md.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Appendix divider.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Methodology evidence.</a:t>
            </a:r>
          </a:p>
          <a:p xmlns:a="http://schemas.openxmlformats.org/drawingml/2006/main">
            <a:r>
              <a:t/>
            </a:r>
          </a:p>
          <a:p xmlns:a="http://schemas.openxmlformats.org/drawingml/2006/main">
            <a:r>
              <a:t>Sources:</a:t>
            </a:r>
          </a:p>
          <a:p xmlns:a="http://schemas.openxmlformats.org/drawingml/2006/main">
            <a:r>
              <a:t>https://praveenveera.github.io/uber-pickup-survey/</a:t>
            </a:r>
          </a:p>
          <a:p xmlns:a="http://schemas.openxmlformats.org/drawingml/2006/main">
            <a:r>
              <a:t>Local evidence: webapp/index.html and Sanitized-Survey-Evidence.xlsx.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checks whether the project defined a real user problem before choosing a feature. The frame is specific: complex-location riders and their drivers lack one clear meeting point even when the pin shows the general area. The survey supports the pain and recovery behavior, but validation remains directional because there were no moderated interviews, only four driver responses, and no reliable pickup event data.</a:t>
            </a:r>
          </a:p>
          <a:p xmlns:a="http://schemas.openxmlformats.org/drawingml/2006/main">
            <a:r>
              <a:t/>
            </a:r>
          </a:p>
          <a:p xmlns:a="http://schemas.openxmlformats.org/drawingml/2006/main">
            <a:r>
              <a:t>Sources:</a:t>
            </a:r>
          </a:p>
          <a:p xmlns:a="http://schemas.openxmlformats.org/drawingml/2006/main">
            <a:r>
              <a:t>Concept adapted from the user-provided Good &amp; Bad Problem Framing reference image.</a:t>
            </a:r>
          </a:p>
          <a:p xmlns:a="http://schemas.openxmlformats.org/drawingml/2006/main">
            <a:r>
              <a:t>Local evidence: Sanitized-Survey-Evidence.xlsx, synthesis/01-survey-insights.md, and synthesis/02-strategy-implications.md.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Top insights 1 through 5.</a:t>
            </a:r>
          </a:p>
          <a:p xmlns:a="http://schemas.openxmlformats.org/drawingml/2006/main">
            <a:r>
              <a:t/>
            </a:r>
          </a:p>
          <a:p xmlns:a="http://schemas.openxmlformats.org/drawingml/2006/main">
            <a:r>
              <a:t>Sources:</a:t>
            </a:r>
          </a:p>
          <a:p xmlns:a="http://schemas.openxmlformats.org/drawingml/2006/main">
            <a:r>
              <a:t>Local evidence: v3/submission-ready/evidence/03-Anonymized-Responses/Sanitized-Survey-Evidence.xlsx, Insight Traceability sheet.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Top insights 6 through 10.</a:t>
            </a:r>
          </a:p>
          <a:p xmlns:a="http://schemas.openxmlformats.org/drawingml/2006/main">
            <a:r>
              <a:t/>
            </a:r>
          </a:p>
          <a:p xmlns:a="http://schemas.openxmlformats.org/drawingml/2006/main">
            <a:r>
              <a:t>Sources:</a:t>
            </a:r>
          </a:p>
          <a:p xmlns:a="http://schemas.openxmlformats.org/drawingml/2006/main">
            <a:r>
              <a:t>Local evidence: Sanitized-Survey-Evidence.xlsx, Insight Traceability sheet.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Competitor pattern comparison.</a:t>
            </a:r>
          </a:p>
          <a:p xmlns:a="http://schemas.openxmlformats.org/drawingml/2006/main">
            <a:r>
              <a:t/>
            </a:r>
          </a:p>
          <a:p xmlns:a="http://schemas.openxmlformats.org/drawingml/2006/main">
            <a:r>
              <a:t>Sources:</a:t>
            </a:r>
          </a:p>
          <a:p xmlns:a="http://schemas.openxmlformats.org/drawingml/2006/main">
            <a:r>
              <a:t>https://www.uber.com/global/en/r/airports/hyd/pickup/</a:t>
            </a:r>
          </a:p>
          <a:p xmlns:a="http://schemas.openxmlformats.org/drawingml/2006/main">
            <a:r>
              <a:t>https://www.grab.com/inside-grab/stories/were-making-pickups-easier-with-video-guides-in-the-grab-app/</a:t>
            </a:r>
          </a:p>
          <a:p xmlns:a="http://schemas.openxmlformats.org/drawingml/2006/main">
            <a:r>
              <a:t>https://help.lyft.com/hc/en-us/all/articles/360047353153</a:t>
            </a:r>
          </a:p>
          <a:p xmlns:a="http://schemas.openxmlformats.org/drawingml/2006/main">
            <a:r>
              <a:t>https://support.google.com/waymo/answer/9696059?hl=en</a:t>
            </a:r>
          </a:p>
          <a:p xmlns:a="http://schemas.openxmlformats.org/drawingml/2006/main">
            <a:r>
              <a:t>https://help.mygate.in/articles/138755-where-will-my-cab-pick-me-up-if-i-am-using-safe-pickup-mode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Strategy reconciliation.</a:t>
            </a:r>
          </a:p>
          <a:p xmlns:a="http://schemas.openxmlformats.org/drawingml/2006/main">
            <a:r>
              <a:t/>
            </a:r>
          </a:p>
          <a:p xmlns:a="http://schemas.openxmlformats.org/drawingml/2006/main">
            <a:r>
              <a:t>Sources:</a:t>
            </a:r>
          </a:p>
          <a:p xmlns:a="http://schemas.openxmlformats.org/drawingml/2006/main">
            <a:r>
              <a:t>Local evidence: synthesis/02-strategy-implications.md.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Product test plan.</a:t>
            </a:r>
          </a:p>
          <a:p xmlns:a="http://schemas.openxmlformats.org/drawingml/2006/main">
            <a:r>
              <a:t/>
            </a:r>
          </a:p>
          <a:p xmlns:a="http://schemas.openxmlformats.org/drawingml/2006/main">
            <a:r>
              <a:t>Sources:</a:t>
            </a:r>
          </a:p>
          <a:p xmlns:a="http://schemas.openxmlformats.org/drawingml/2006/main">
            <a:r>
              <a:t>Local evidence: synthesis/04-product-ideas.md.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Evidence limitations.</a:t>
            </a:r>
          </a:p>
          <a:p xmlns:a="http://schemas.openxmlformats.org/drawingml/2006/main">
            <a:r>
              <a:t/>
            </a:r>
          </a:p>
          <a:p xmlns:a="http://schemas.openxmlformats.org/drawingml/2006/main">
            <a:r>
              <a:t>Sources:</a:t>
            </a:r>
          </a:p>
          <a:p xmlns:a="http://schemas.openxmlformats.org/drawingml/2006/main">
            <a:r>
              <a:t>Local evidence: submission-requirements.md and Sanitized-Survey-Evidence.xlsx, Method &amp; Limitations sheet.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traceability and final submission gate.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dc2018db62b48d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87a52de8c5b457e" /><Relationship Type="http://schemas.openxmlformats.org/officeDocument/2006/relationships/slideLayout" Target="/ppt/slideLayouts/slideLayout1.xml" Id="R26c2ee6ad6b340b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6c2ee6ad6b340b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278870c757245c1" /><Relationship Type="http://schemas.openxmlformats.org/officeDocument/2006/relationships/notesSlide" Target="/ppt/notesSlides/notesSlide1.xml" Id="Ra54acc1aae474a1d"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6a2e167a61dc47b8" /><Relationship Type="http://schemas.openxmlformats.org/officeDocument/2006/relationships/image" Target="/ppt/media/image.png" Id="Re89e4f1b6a194d59" /><Relationship Type="http://schemas.openxmlformats.org/officeDocument/2006/relationships/hyperlink" Target="https://praveenveera.github.io/uber-pickup-survey/" TargetMode="External" Id="R4484944b0dc04113" /><Relationship Type="http://schemas.openxmlformats.org/officeDocument/2006/relationships/notesSlide" Target="/ppt/notesSlides/notesSlide2.xml" Id="R07da9cc4cf364268"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e83aa56789e74ac6" /><Relationship Type="http://schemas.openxmlformats.org/officeDocument/2006/relationships/notesSlide" Target="/ppt/notesSlides/notesSlide3.xml" Id="R854b559a29564dd6"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520fe1edf13442f8" /><Relationship Type="http://schemas.openxmlformats.org/officeDocument/2006/relationships/notesSlide" Target="/ppt/notesSlides/notesSlide4.xml" Id="R82a40c765ae4408b"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f5566b9178214dba" /><Relationship Type="http://schemas.openxmlformats.org/officeDocument/2006/relationships/notesSlide" Target="/ppt/notesSlides/notesSlide5.xml" Id="Rfd1c1227ad544eb7"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90aa4b11318f4ce7" /><Relationship Type="http://schemas.openxmlformats.org/officeDocument/2006/relationships/notesSlide" Target="/ppt/notesSlides/notesSlide6.xml" Id="R8a3fd6f06b44453e"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6c63b0e969e64795" /><Relationship Type="http://schemas.openxmlformats.org/officeDocument/2006/relationships/notesSlide" Target="/ppt/notesSlides/notesSlide7.xml" Id="Rbcb23dd19f884ef7"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273bf274a81642f1" /><Relationship Type="http://schemas.openxmlformats.org/officeDocument/2006/relationships/notesSlide" Target="/ppt/notesSlides/notesSlide8.xml" Id="R0d886af36a594993"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8f4e635d24b64f2c" /><Relationship Type="http://schemas.openxmlformats.org/officeDocument/2006/relationships/notesSlide" Target="/ppt/notesSlides/notesSlide9.xml" Id="Rdc005dab68d540c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6bd17deb566549ee" /><Relationship Type="http://schemas.openxmlformats.org/officeDocument/2006/relationships/notesSlide" Target="/ppt/notesSlides/notesSlide10.xml" Id="R4bcea5e97eb343e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970c649525c34e54" /><Relationship Type="http://schemas.openxmlformats.org/officeDocument/2006/relationships/notesSlide" Target="/ppt/notesSlides/notesSlide11.xml" Id="Rced59f0f7ca94698"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691d2c2ad94245c9" /><Relationship Type="http://schemas.openxmlformats.org/officeDocument/2006/relationships/notesSlide" Target="/ppt/notesSlides/notesSlide12.xml" Id="R1a2a8e93634b40a1"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dddde68b0fc54759" /><Relationship Type="http://schemas.openxmlformats.org/officeDocument/2006/relationships/notesSlide" Target="/ppt/notesSlides/notesSlide13.xml" Id="R1618fb84319f4003"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2092ecbee1b44d25" /><Relationship Type="http://schemas.openxmlformats.org/officeDocument/2006/relationships/image" Target="/ppt/media/image2.png" Id="Rcc7f9edd96534495" /><Relationship Type="http://schemas.openxmlformats.org/officeDocument/2006/relationships/image" Target="/ppt/media/image3.png" Id="R88c0ab6e0b1244b1" /><Relationship Type="http://schemas.openxmlformats.org/officeDocument/2006/relationships/notesSlide" Target="/ppt/notesSlides/notesSlide14.xml" Id="R8d0c17e247524687"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cee92cd1c3aa465f" /><Relationship Type="http://schemas.openxmlformats.org/officeDocument/2006/relationships/notesSlide" Target="/ppt/notesSlides/notesSlide15.xml" Id="R0fa9c8c2cd654034"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95999f58e3af4745" /><Relationship Type="http://schemas.openxmlformats.org/officeDocument/2006/relationships/notesSlide" Target="/ppt/notesSlides/notesSlide16.xml" Id="R160e82122d1d4ade"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5b6f6320df514351" /><Relationship Type="http://schemas.openxmlformats.org/officeDocument/2006/relationships/notesSlide" Target="/ppt/notesSlides/notesSlide17.xml" Id="Ra2e363d86fe24fa3"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f859bf9866564dee" /><Relationship Type="http://schemas.openxmlformats.org/officeDocument/2006/relationships/notesSlide" Target="/ppt/notesSlides/notesSlide18.xml" Id="R4ca5e05a769f44c4"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26436ae873964221" /><Relationship Type="http://schemas.openxmlformats.org/officeDocument/2006/relationships/notesSlide" Target="/ppt/notesSlides/notesSlide19.xml" Id="R88861406fae64596"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ef2bb026315c4edc" /><Relationship Type="http://schemas.openxmlformats.org/officeDocument/2006/relationships/notesSlide" Target="/ppt/notesSlides/notesSlide20.xml" Id="Rb981e75af5ba4e05"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a5ac7a3563a948fd" /><Relationship Type="http://schemas.openxmlformats.org/officeDocument/2006/relationships/notesSlide" Target="/ppt/notesSlides/notesSlide21.xml" Id="R419ed6d5d69b45c6"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e8025f37ed2d49dd" /><Relationship Type="http://schemas.openxmlformats.org/officeDocument/2006/relationships/notesSlide" Target="/ppt/notesSlides/notesSlide22.xml" Id="R3d4a3c15f0c34031" /></Relationships>
</file>

<file path=ppt/slides/slide1.xml><?xml version="1.0" encoding="utf-8"?>
<p:sld xmlns:p="http://schemas.openxmlformats.org/presentationml/2006/main">
  <p:cSld>
    <p:bg>
      <p:bgPr>
        <a:solidFill xmlns:a="http://schemas.openxmlformats.org/drawingml/2006/main">
          <a:srgbClr val="1B2B45"/>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88929CC8-80F2-44B1-AB7C-7AD4DE7EB6A9}"/>
              </a:ext>
            </a:extLst>
          </p:cNvPr>
          <p:cNvSpPr>
            <a:spLocks xmlns:a="http://schemas.openxmlformats.org/drawingml/2006/main" noGrp="1"/>
          </p:cNvSpPr>
          <p:nvPr/>
        </p:nvSpPr>
        <p:spPr>
          <a:xfrm xmlns:a="http://schemas.openxmlformats.org/drawingml/2006/main">
            <a:off x="514350" y="266700"/>
            <a:ext cx="1104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AIRTRIBE · PRODUCT MANAGEMENT COURSEWORK · PROJECT 3</a:t>
            </a:r>
          </a:p>
        </p:txBody>
      </p:sp>
      <p:sp>
        <p:nvSpPr>
          <p:cNvPr id="2" name="">
            <a:extLst xmlns:a="http://schemas.openxmlformats.org/drawingml/2006/main">
              <a:ext uri="{FF2B5EF4-FFF2-40B4-BE49-F238E27FC236}">
                <a16:creationId xmlns:a16="http://schemas.microsoft.com/office/drawing/2014/main" id="{6C99DBD1-4535-4A29-9FD2-07F70D4829B2}"/>
              </a:ext>
            </a:extLst>
          </p:cNvPr>
          <p:cNvSpPr>
            <a:spLocks xmlns:a="http://schemas.openxmlformats.org/drawingml/2006/main" noGrp="1"/>
          </p:cNvSpPr>
          <p:nvPr/>
        </p:nvSpPr>
        <p:spPr>
          <a:xfrm xmlns:a="http://schemas.openxmlformats.org/drawingml/2006/main">
            <a:off x="514350" y="876300"/>
            <a:ext cx="8572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3600" b="1" i="0">
                <a:solidFill>
                  <a:srgbClr val="FFFFFF"/>
                </a:solidFill>
                <a:latin typeface="Calibri"/>
                <a:ea typeface="Calibri"/>
                <a:cs typeface="Calibri"/>
              </a:defRPr>
            </a:pPr>
            <a:r>
              <a:rPr sz="3600" b="1" i="0">
                <a:solidFill>
                  <a:srgbClr val="FFFFFF"/>
                </a:solidFill>
                <a:latin typeface="Calibri"/>
                <a:ea typeface="Calibri"/>
                <a:cs typeface="Calibri"/>
              </a:rPr>
              <a:t>Find My Ride</a:t>
            </a:r>
          </a:p>
        </p:txBody>
      </p:sp>
      <p:sp>
        <p:nvSpPr>
          <p:cNvPr id="3" name="">
            <a:extLst xmlns:a="http://schemas.openxmlformats.org/drawingml/2006/main">
              <a:ext uri="{FF2B5EF4-FFF2-40B4-BE49-F238E27FC236}">
                <a16:creationId xmlns:a16="http://schemas.microsoft.com/office/drawing/2014/main" id="{CDF7C734-F85B-4AAF-8856-A2CCE95968DF}"/>
              </a:ext>
            </a:extLst>
          </p:cNvPr>
          <p:cNvSpPr>
            <a:spLocks xmlns:a="http://schemas.openxmlformats.org/drawingml/2006/main" noGrp="1"/>
          </p:cNvSpPr>
          <p:nvPr/>
        </p:nvSpPr>
        <p:spPr>
          <a:xfrm xmlns:a="http://schemas.openxmlformats.org/drawingml/2006/main">
            <a:off x="514350" y="1676400"/>
            <a:ext cx="9906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725" b="0" i="0">
                <a:solidFill>
                  <a:srgbClr val="D8E0EC"/>
                </a:solidFill>
                <a:latin typeface="Calibri"/>
                <a:ea typeface="Calibri"/>
                <a:cs typeface="Calibri"/>
              </a:defRPr>
            </a:pPr>
            <a:r>
              <a:rPr sz="1725" b="0" i="0">
                <a:solidFill>
                  <a:srgbClr val="D8E0EC"/>
                </a:solidFill>
                <a:latin typeface="Calibri"/>
                <a:ea typeface="Calibri"/>
                <a:cs typeface="Calibri"/>
              </a:rPr>
              <a:t>Reducing uncertainty when riders and drivers cannot convert an app pin into a workable meeting point</a:t>
            </a:r>
          </a:p>
        </p:txBody>
      </p:sp>
      <p:sp>
        <p:nvSpPr>
          <p:cNvPr id="4" name="">
            <a:extLst xmlns:a="http://schemas.openxmlformats.org/drawingml/2006/main">
              <a:ext uri="{FF2B5EF4-FFF2-40B4-BE49-F238E27FC236}">
                <a16:creationId xmlns:a16="http://schemas.microsoft.com/office/drawing/2014/main" id="{8CD3C76F-7F65-4ECE-A1BA-8265776FB983}"/>
              </a:ext>
            </a:extLst>
          </p:cNvPr>
          <p:cNvSpPr>
            <a:spLocks xmlns:a="http://schemas.openxmlformats.org/drawingml/2006/main" noGrp="1"/>
          </p:cNvSpPr>
          <p:nvPr/>
        </p:nvSpPr>
        <p:spPr>
          <a:xfrm xmlns:a="http://schemas.openxmlformats.org/drawingml/2006/main">
            <a:off x="514350" y="3429000"/>
            <a:ext cx="2476500" cy="1123950"/>
          </a:xfrm>
          <a:prstGeom xmlns:a="http://schemas.openxmlformats.org/drawingml/2006/main" prst="roundRect">
            <a:avLst>
              <a:gd name="adj" fmla="val 6780"/>
            </a:avLst>
          </a:prstGeom>
          <a:solidFill xmlns:a="http://schemas.openxmlformats.org/drawingml/2006/main">
            <a:srgbClr val="2D4672"/>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221C4203-2AC7-4784-AE52-56F453CD7604}"/>
              </a:ext>
            </a:extLst>
          </p:cNvPr>
          <p:cNvSpPr>
            <a:spLocks xmlns:a="http://schemas.openxmlformats.org/drawingml/2006/main" noGrp="1"/>
          </p:cNvSpPr>
          <p:nvPr/>
        </p:nvSpPr>
        <p:spPr>
          <a:xfrm xmlns:a="http://schemas.openxmlformats.org/drawingml/2006/main">
            <a:off x="666750" y="3562350"/>
            <a:ext cx="2171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475" b="1" i="0">
                <a:solidFill>
                  <a:srgbClr val="FFFFFF"/>
                </a:solidFill>
                <a:latin typeface="Calibri"/>
                <a:ea typeface="Calibri"/>
                <a:cs typeface="Calibri"/>
              </a:defRPr>
            </a:pPr>
            <a:r>
              <a:rPr sz="2475" b="1" i="0">
                <a:solidFill>
                  <a:srgbClr val="FFFFFF"/>
                </a:solidFill>
                <a:latin typeface="Calibri"/>
                <a:ea typeface="Calibri"/>
                <a:cs typeface="Calibri"/>
              </a:rPr>
              <a:t>62</a:t>
            </a:r>
          </a:p>
        </p:txBody>
      </p:sp>
      <p:sp>
        <p:nvSpPr>
          <p:cNvPr id="6" name="">
            <a:extLst xmlns:a="http://schemas.openxmlformats.org/drawingml/2006/main">
              <a:ext uri="{FF2B5EF4-FFF2-40B4-BE49-F238E27FC236}">
                <a16:creationId xmlns:a16="http://schemas.microsoft.com/office/drawing/2014/main" id="{5EC0AF4C-8614-4EDF-BD1E-9549B3A83D00}"/>
              </a:ext>
            </a:extLst>
          </p:cNvPr>
          <p:cNvSpPr>
            <a:spLocks xmlns:a="http://schemas.openxmlformats.org/drawingml/2006/main" noGrp="1"/>
          </p:cNvSpPr>
          <p:nvPr/>
        </p:nvSpPr>
        <p:spPr>
          <a:xfrm xmlns:a="http://schemas.openxmlformats.org/drawingml/2006/main">
            <a:off x="666750" y="4076700"/>
            <a:ext cx="21717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00" b="0" i="0">
                <a:solidFill>
                  <a:srgbClr val="FFFFFF"/>
                </a:solidFill>
                <a:latin typeface="Calibri"/>
                <a:ea typeface="Calibri"/>
                <a:cs typeface="Calibri"/>
              </a:defRPr>
            </a:pPr>
            <a:r>
              <a:rPr sz="1200" b="0" i="0">
                <a:solidFill>
                  <a:srgbClr val="FFFFFF"/>
                </a:solidFill>
                <a:latin typeface="Calibri"/>
                <a:ea typeface="Calibri"/>
                <a:cs typeface="Calibri"/>
              </a:rPr>
              <a:t>unique survey submissions</a:t>
            </a:r>
          </a:p>
        </p:txBody>
      </p:sp>
      <p:sp>
        <p:nvSpPr>
          <p:cNvPr id="7" name="">
            <a:extLst xmlns:a="http://schemas.openxmlformats.org/drawingml/2006/main">
              <a:ext uri="{FF2B5EF4-FFF2-40B4-BE49-F238E27FC236}">
                <a16:creationId xmlns:a16="http://schemas.microsoft.com/office/drawing/2014/main" id="{1CBE1801-76D9-41C2-A585-F431C403FBF3}"/>
              </a:ext>
            </a:extLst>
          </p:cNvPr>
          <p:cNvSpPr>
            <a:spLocks xmlns:a="http://schemas.openxmlformats.org/drawingml/2006/main" noGrp="1"/>
          </p:cNvSpPr>
          <p:nvPr/>
        </p:nvSpPr>
        <p:spPr>
          <a:xfrm xmlns:a="http://schemas.openxmlformats.org/drawingml/2006/main">
            <a:off x="3181350" y="3429000"/>
            <a:ext cx="2476500" cy="1123950"/>
          </a:xfrm>
          <a:prstGeom xmlns:a="http://schemas.openxmlformats.org/drawingml/2006/main" prst="roundRect">
            <a:avLst>
              <a:gd name="adj" fmla="val 6780"/>
            </a:avLst>
          </a:prstGeom>
          <a:solidFill xmlns:a="http://schemas.openxmlformats.org/drawingml/2006/main">
            <a:srgbClr val="2D4672"/>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C9109584-B42F-41AF-B702-11AF4552DBC9}"/>
              </a:ext>
            </a:extLst>
          </p:cNvPr>
          <p:cNvSpPr>
            <a:spLocks xmlns:a="http://schemas.openxmlformats.org/drawingml/2006/main" noGrp="1"/>
          </p:cNvSpPr>
          <p:nvPr/>
        </p:nvSpPr>
        <p:spPr>
          <a:xfrm xmlns:a="http://schemas.openxmlformats.org/drawingml/2006/main">
            <a:off x="3333750" y="3562350"/>
            <a:ext cx="2171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475" b="1" i="0">
                <a:solidFill>
                  <a:srgbClr val="FFFFFF"/>
                </a:solidFill>
                <a:latin typeface="Calibri"/>
                <a:ea typeface="Calibri"/>
                <a:cs typeface="Calibri"/>
              </a:defRPr>
            </a:pPr>
            <a:r>
              <a:rPr sz="2475" b="1" i="0">
                <a:solidFill>
                  <a:srgbClr val="FFFFFF"/>
                </a:solidFill>
                <a:latin typeface="Calibri"/>
                <a:ea typeface="Calibri"/>
                <a:cs typeface="Calibri"/>
              </a:rPr>
              <a:t>24 / 51</a:t>
            </a:r>
          </a:p>
        </p:txBody>
      </p:sp>
      <p:sp>
        <p:nvSpPr>
          <p:cNvPr id="9" name="">
            <a:extLst xmlns:a="http://schemas.openxmlformats.org/drawingml/2006/main">
              <a:ext uri="{FF2B5EF4-FFF2-40B4-BE49-F238E27FC236}">
                <a16:creationId xmlns:a16="http://schemas.microsoft.com/office/drawing/2014/main" id="{213E5628-38B7-43A6-AE46-8DE7CDC89F23}"/>
              </a:ext>
            </a:extLst>
          </p:cNvPr>
          <p:cNvSpPr>
            <a:spLocks xmlns:a="http://schemas.openxmlformats.org/drawingml/2006/main" noGrp="1"/>
          </p:cNvSpPr>
          <p:nvPr/>
        </p:nvSpPr>
        <p:spPr>
          <a:xfrm xmlns:a="http://schemas.openxmlformats.org/drawingml/2006/main">
            <a:off x="3333750" y="4076700"/>
            <a:ext cx="21717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7522"/>
          </a:bodyPr>
          <a:lstStyle xmlns:a="http://schemas.openxmlformats.org/drawingml/2006/main"/>
          <a:p xmlns:a="http://schemas.openxmlformats.org/drawingml/2006/main">
            <a:pPr algn="l">
              <a:defRPr sz="1200" b="0" i="0">
                <a:solidFill>
                  <a:srgbClr val="FFFFFF"/>
                </a:solidFill>
                <a:latin typeface="Calibri"/>
                <a:ea typeface="Calibri"/>
                <a:cs typeface="Calibri"/>
              </a:defRPr>
            </a:pPr>
            <a:r>
              <a:rPr sz="1200" b="0" i="0">
                <a:solidFill>
                  <a:srgbClr val="FFFFFF"/>
                </a:solidFill>
                <a:latin typeface="Calibri"/>
                <a:ea typeface="Calibri"/>
                <a:cs typeface="Calibri"/>
              </a:rPr>
              <a:t>recent users reporting difficulty</a:t>
            </a:r>
          </a:p>
        </p:txBody>
      </p:sp>
      <p:sp>
        <p:nvSpPr>
          <p:cNvPr id="10" name="">
            <a:extLst xmlns:a="http://schemas.openxmlformats.org/drawingml/2006/main">
              <a:ext uri="{FF2B5EF4-FFF2-40B4-BE49-F238E27FC236}">
                <a16:creationId xmlns:a16="http://schemas.microsoft.com/office/drawing/2014/main" id="{D9A663A8-93EA-48FF-8A0D-0472FCF84214}"/>
              </a:ext>
            </a:extLst>
          </p:cNvPr>
          <p:cNvSpPr>
            <a:spLocks xmlns:a="http://schemas.openxmlformats.org/drawingml/2006/main" noGrp="1"/>
          </p:cNvSpPr>
          <p:nvPr/>
        </p:nvSpPr>
        <p:spPr>
          <a:xfrm xmlns:a="http://schemas.openxmlformats.org/drawingml/2006/main">
            <a:off x="5848350" y="3429000"/>
            <a:ext cx="2476500" cy="1123950"/>
          </a:xfrm>
          <a:prstGeom xmlns:a="http://schemas.openxmlformats.org/drawingml/2006/main" prst="roundRect">
            <a:avLst>
              <a:gd name="adj" fmla="val 6780"/>
            </a:avLst>
          </a:prstGeom>
          <a:solidFill xmlns:a="http://schemas.openxmlformats.org/drawingml/2006/main">
            <a:srgbClr val="2D4672"/>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18E28A3F-8C37-4323-A428-966C3E61552C}"/>
              </a:ext>
            </a:extLst>
          </p:cNvPr>
          <p:cNvSpPr>
            <a:spLocks xmlns:a="http://schemas.openxmlformats.org/drawingml/2006/main" noGrp="1"/>
          </p:cNvSpPr>
          <p:nvPr/>
        </p:nvSpPr>
        <p:spPr>
          <a:xfrm xmlns:a="http://schemas.openxmlformats.org/drawingml/2006/main">
            <a:off x="6000750" y="3562350"/>
            <a:ext cx="2171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475" b="1" i="0">
                <a:solidFill>
                  <a:srgbClr val="FFFFFF"/>
                </a:solidFill>
                <a:latin typeface="Calibri"/>
                <a:ea typeface="Calibri"/>
                <a:cs typeface="Calibri"/>
              </a:defRPr>
            </a:pPr>
            <a:r>
              <a:rPr sz="2475" b="1" i="0">
                <a:solidFill>
                  <a:srgbClr val="FFFFFF"/>
                </a:solidFill>
                <a:latin typeface="Calibri"/>
                <a:ea typeface="Calibri"/>
                <a:cs typeface="Calibri"/>
              </a:rPr>
              <a:t>4</a:t>
            </a:r>
          </a:p>
        </p:txBody>
      </p:sp>
      <p:sp>
        <p:nvSpPr>
          <p:cNvPr id="12" name="">
            <a:extLst xmlns:a="http://schemas.openxmlformats.org/drawingml/2006/main">
              <a:ext uri="{FF2B5EF4-FFF2-40B4-BE49-F238E27FC236}">
                <a16:creationId xmlns:a16="http://schemas.microsoft.com/office/drawing/2014/main" id="{0E8F0186-235A-4D07-824C-E9125130AC02}"/>
              </a:ext>
            </a:extLst>
          </p:cNvPr>
          <p:cNvSpPr>
            <a:spLocks xmlns:a="http://schemas.openxmlformats.org/drawingml/2006/main" noGrp="1"/>
          </p:cNvSpPr>
          <p:nvPr/>
        </p:nvSpPr>
        <p:spPr>
          <a:xfrm xmlns:a="http://schemas.openxmlformats.org/drawingml/2006/main">
            <a:off x="6000750" y="4076700"/>
            <a:ext cx="21717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0184"/>
          </a:bodyPr>
          <a:lstStyle xmlns:a="http://schemas.openxmlformats.org/drawingml/2006/main"/>
          <a:p xmlns:a="http://schemas.openxmlformats.org/drawingml/2006/main">
            <a:pPr algn="l">
              <a:defRPr sz="1200" b="0" i="0">
                <a:solidFill>
                  <a:srgbClr val="FFFFFF"/>
                </a:solidFill>
                <a:latin typeface="Calibri"/>
                <a:ea typeface="Calibri"/>
                <a:cs typeface="Calibri"/>
              </a:defRPr>
            </a:pPr>
            <a:r>
              <a:rPr sz="1200" b="0" i="0">
                <a:solidFill>
                  <a:srgbClr val="FFFFFF"/>
                </a:solidFill>
                <a:latin typeface="Calibri"/>
                <a:ea typeface="Calibri"/>
                <a:cs typeface="Calibri"/>
              </a:rPr>
              <a:t>driver responses — evidence gap</a:t>
            </a:r>
          </a:p>
        </p:txBody>
      </p:sp>
      <p:sp>
        <p:nvSpPr>
          <p:cNvPr id="13" name="">
            <a:extLst xmlns:a="http://schemas.openxmlformats.org/drawingml/2006/main">
              <a:ext uri="{FF2B5EF4-FFF2-40B4-BE49-F238E27FC236}">
                <a16:creationId xmlns:a16="http://schemas.microsoft.com/office/drawing/2014/main" id="{B97E2B7B-6CCC-405A-B4B1-6188365BF795}"/>
              </a:ext>
            </a:extLst>
          </p:cNvPr>
          <p:cNvSpPr>
            <a:spLocks xmlns:a="http://schemas.openxmlformats.org/drawingml/2006/main" noGrp="1"/>
          </p:cNvSpPr>
          <p:nvPr/>
        </p:nvSpPr>
        <p:spPr>
          <a:xfrm xmlns:a="http://schemas.openxmlformats.org/drawingml/2006/main">
            <a:off x="8515350" y="3429000"/>
            <a:ext cx="2476500" cy="1123950"/>
          </a:xfrm>
          <a:prstGeom xmlns:a="http://schemas.openxmlformats.org/drawingml/2006/main" prst="roundRect">
            <a:avLst>
              <a:gd name="adj" fmla="val 6780"/>
            </a:avLst>
          </a:prstGeom>
          <a:solidFill xmlns:a="http://schemas.openxmlformats.org/drawingml/2006/main">
            <a:srgbClr val="2D4672"/>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419F6C2B-27DB-4679-889F-D9E97079A338}"/>
              </a:ext>
            </a:extLst>
          </p:cNvPr>
          <p:cNvSpPr>
            <a:spLocks xmlns:a="http://schemas.openxmlformats.org/drawingml/2006/main" noGrp="1"/>
          </p:cNvSpPr>
          <p:nvPr/>
        </p:nvSpPr>
        <p:spPr>
          <a:xfrm xmlns:a="http://schemas.openxmlformats.org/drawingml/2006/main">
            <a:off x="8667750" y="3562350"/>
            <a:ext cx="2171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475" b="1" i="0">
                <a:solidFill>
                  <a:srgbClr val="FFFFFF"/>
                </a:solidFill>
                <a:latin typeface="Calibri"/>
                <a:ea typeface="Calibri"/>
                <a:cs typeface="Calibri"/>
              </a:defRPr>
            </a:pPr>
            <a:r>
              <a:rPr sz="2475" b="1" i="0">
                <a:solidFill>
                  <a:srgbClr val="FFFFFF"/>
                </a:solidFill>
                <a:latin typeface="Calibri"/>
                <a:ea typeface="Calibri"/>
                <a:cs typeface="Calibri"/>
              </a:rPr>
              <a:t>3</a:t>
            </a:r>
          </a:p>
        </p:txBody>
      </p:sp>
      <p:sp>
        <p:nvSpPr>
          <p:cNvPr id="15" name="">
            <a:extLst xmlns:a="http://schemas.openxmlformats.org/drawingml/2006/main">
              <a:ext uri="{FF2B5EF4-FFF2-40B4-BE49-F238E27FC236}">
                <a16:creationId xmlns:a16="http://schemas.microsoft.com/office/drawing/2014/main" id="{7AEC4F69-0C9C-4058-A60C-D9EAA0C08EEF}"/>
              </a:ext>
            </a:extLst>
          </p:cNvPr>
          <p:cNvSpPr>
            <a:spLocks xmlns:a="http://schemas.openxmlformats.org/drawingml/2006/main" noGrp="1"/>
          </p:cNvSpPr>
          <p:nvPr/>
        </p:nvSpPr>
        <p:spPr>
          <a:xfrm xmlns:a="http://schemas.openxmlformats.org/drawingml/2006/main">
            <a:off x="8667750" y="4076700"/>
            <a:ext cx="21717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00" b="0" i="0">
                <a:solidFill>
                  <a:srgbClr val="FFFFFF"/>
                </a:solidFill>
                <a:latin typeface="Calibri"/>
                <a:ea typeface="Calibri"/>
                <a:cs typeface="Calibri"/>
              </a:defRPr>
            </a:pPr>
            <a:r>
              <a:rPr sz="1200" b="0" i="0">
                <a:solidFill>
                  <a:srgbClr val="FFFFFF"/>
                </a:solidFill>
                <a:latin typeface="Calibri"/>
                <a:ea typeface="Calibri"/>
                <a:cs typeface="Calibri"/>
              </a:rPr>
              <a:t>research-led ideas to test</a:t>
            </a:r>
          </a:p>
        </p:txBody>
      </p:sp>
      <p:sp>
        <p:nvSpPr>
          <p:cNvPr id="16" name="">
            <a:extLst xmlns:a="http://schemas.openxmlformats.org/drawingml/2006/main">
              <a:ext uri="{FF2B5EF4-FFF2-40B4-BE49-F238E27FC236}">
                <a16:creationId xmlns:a16="http://schemas.microsoft.com/office/drawing/2014/main" id="{ACC55B20-D5D1-43A0-96FB-CFD98B92601B}"/>
              </a:ext>
            </a:extLst>
          </p:cNvPr>
          <p:cNvSpPr>
            <a:spLocks xmlns:a="http://schemas.openxmlformats.org/drawingml/2006/main" noGrp="1"/>
          </p:cNvSpPr>
          <p:nvPr/>
        </p:nvSpPr>
        <p:spPr>
          <a:xfrm xmlns:a="http://schemas.openxmlformats.org/drawingml/2006/main">
            <a:off x="514350" y="6143625"/>
            <a:ext cx="762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0" i="0">
                <a:solidFill>
                  <a:srgbClr val="AEBBD0"/>
                </a:solidFill>
                <a:latin typeface="Calibri"/>
                <a:ea typeface="Calibri"/>
                <a:cs typeface="Calibri"/>
              </a:defRPr>
            </a:pPr>
            <a:r>
              <a:rPr sz="975" b="0" i="0">
                <a:solidFill>
                  <a:srgbClr val="AEBBD0"/>
                </a:solidFill>
                <a:latin typeface="Calibri"/>
                <a:ea typeface="Calibri"/>
                <a:cs typeface="Calibri"/>
              </a:rPr>
              <a:t>Hyderabad primary · India comparison responses · 18 September 2026</a:t>
            </a:r>
          </a:p>
        </p:txBody>
      </p:sp>
    </p:spTree>
    <p:extLst>
      <p:ext uri="{BB962C8B-B14F-4D97-AF65-F5344CB8AC3E}">
        <p14:creationId xmlns:p14="http://schemas.microsoft.com/office/powerpoint/2010/main" val="447462129"/>
      </p:ext>
    </p:extLst>
  </p:cSld>
</p:sld>
</file>

<file path=ppt/slides/slide2.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65C3A281-0A98-4A24-BDE2-3ACF493EF1AA}"/>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RESEARCH METHOD</a:t>
            </a:r>
          </a:p>
        </p:txBody>
      </p:sp>
      <p:sp>
        <p:nvSpPr>
          <p:cNvPr id="2" name="">
            <a:extLst xmlns:a="http://schemas.openxmlformats.org/drawingml/2006/main">
              <a:ext uri="{FF2B5EF4-FFF2-40B4-BE49-F238E27FC236}">
                <a16:creationId xmlns:a16="http://schemas.microsoft.com/office/drawing/2014/main" id="{6258DC85-A17E-4BF0-BBFA-8EE2A98A5B12}"/>
              </a:ext>
            </a:extLst>
          </p:cNvPr>
          <p:cNvSpPr>
            <a:spLocks xmlns:a="http://schemas.openxmlformats.org/drawingml/2006/main" noGrp="1"/>
          </p:cNvSpPr>
          <p:nvPr/>
        </p:nvSpPr>
        <p:spPr>
          <a:xfrm xmlns:a="http://schemas.openxmlformats.org/drawingml/2006/main">
            <a:off x="514350" y="571500"/>
            <a:ext cx="11144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What we actually researched</a:t>
            </a:r>
          </a:p>
        </p:txBody>
      </p:sp>
      <p:sp>
        <p:nvSpPr>
          <p:cNvPr id="3" name="">
            <a:extLst xmlns:a="http://schemas.openxmlformats.org/drawingml/2006/main">
              <a:ext uri="{FF2B5EF4-FFF2-40B4-BE49-F238E27FC236}">
                <a16:creationId xmlns:a16="http://schemas.microsoft.com/office/drawing/2014/main" id="{BD425C6D-D4F3-40D3-ADB6-C3CF8F7E518F}"/>
              </a:ext>
            </a:extLst>
          </p:cNvPr>
          <p:cNvSpPr>
            <a:spLocks xmlns:a="http://schemas.openxmlformats.org/drawingml/2006/main" noGrp="1"/>
          </p:cNvSpPr>
          <p:nvPr/>
        </p:nvSpPr>
        <p:spPr>
          <a:xfrm xmlns:a="http://schemas.openxmlformats.org/drawingml/2006/main">
            <a:off x="514350" y="1057275"/>
            <a:ext cx="1085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350" b="0" i="0">
                <a:solidFill>
                  <a:srgbClr val="687489"/>
                </a:solidFill>
                <a:latin typeface="Calibri"/>
                <a:ea typeface="Calibri"/>
                <a:cs typeface="Calibri"/>
              </a:defRPr>
            </a:pPr>
            <a:r>
              <a:rPr sz="1350" b="0" i="0">
                <a:solidFill>
                  <a:srgbClr val="687489"/>
                </a:solidFill>
                <a:latin typeface="Calibri"/>
                <a:ea typeface="Calibri"/>
                <a:cs typeface="Calibri"/>
              </a:rPr>
              <a:t>A deliberate method choice under constraint — stated up front, not buried in a footnote.</a:t>
            </a:r>
          </a:p>
        </p:txBody>
      </p:sp>
      <p:sp>
        <p:nvSpPr>
          <p:cNvPr id="4" name="">
            <a:extLst xmlns:a="http://schemas.openxmlformats.org/drawingml/2006/main">
              <a:ext uri="{FF2B5EF4-FFF2-40B4-BE49-F238E27FC236}">
                <a16:creationId xmlns:a16="http://schemas.microsoft.com/office/drawing/2014/main" id="{53067E85-F37D-4788-BB20-D25907B07209}"/>
              </a:ext>
            </a:extLst>
          </p:cNvPr>
          <p:cNvSpPr>
            <a:spLocks xmlns:a="http://schemas.openxmlformats.org/drawingml/2006/main" noGrp="1"/>
          </p:cNvSpPr>
          <p:nvPr/>
        </p:nvSpPr>
        <p:spPr>
          <a:xfrm xmlns:a="http://schemas.openxmlformats.org/drawingml/2006/main">
            <a:off x="514350" y="1619250"/>
            <a:ext cx="5810250" cy="1238250"/>
          </a:xfrm>
          <a:prstGeom xmlns:a="http://schemas.openxmlformats.org/drawingml/2006/main" prst="roundRect">
            <a:avLst>
              <a:gd name="adj" fmla="val 4615"/>
            </a:avLst>
          </a:prstGeom>
          <a:solidFill xmlns:a="http://schemas.openxmlformats.org/drawingml/2006/main">
            <a:srgbClr val="FFFFFF"/>
          </a:solidFill>
          <a:ln xmlns:a="http://schemas.openxmlformats.org/drawingml/2006/main" w="9525">
            <a:solidFill>
              <a:srgbClr val="E8ECF1"/>
            </a:solidFill>
            <a:prstDash val="solid"/>
          </a:ln>
        </p:spPr>
      </p:sp>
      <p:sp>
        <p:nvSpPr>
          <p:cNvPr id="5" name="">
            <a:extLst xmlns:a="http://schemas.openxmlformats.org/drawingml/2006/main">
              <a:ext uri="{FF2B5EF4-FFF2-40B4-BE49-F238E27FC236}">
                <a16:creationId xmlns:a16="http://schemas.microsoft.com/office/drawing/2014/main" id="{6B75BA3E-2E46-46B2-B2BC-4D5D393E6777}"/>
              </a:ext>
            </a:extLst>
          </p:cNvPr>
          <p:cNvSpPr>
            <a:spLocks xmlns:a="http://schemas.openxmlformats.org/drawingml/2006/main" noGrp="1"/>
          </p:cNvSpPr>
          <p:nvPr/>
        </p:nvSpPr>
        <p:spPr>
          <a:xfrm xmlns:a="http://schemas.openxmlformats.org/drawingml/2006/main">
            <a:off x="666750" y="1733550"/>
            <a:ext cx="5505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F47A22"/>
                </a:solidFill>
                <a:latin typeface="Calibri"/>
                <a:ea typeface="Calibri"/>
                <a:cs typeface="Calibri"/>
              </a:defRPr>
            </a:pPr>
            <a:r>
              <a:rPr sz="1275" b="1" i="0">
                <a:solidFill>
                  <a:srgbClr val="F47A22"/>
                </a:solidFill>
                <a:latin typeface="Calibri"/>
                <a:ea typeface="Calibri"/>
                <a:cs typeface="Calibri"/>
              </a:rPr>
              <a:t>METHOD CHOICE</a:t>
            </a:r>
          </a:p>
        </p:txBody>
      </p:sp>
      <p:sp>
        <p:nvSpPr>
          <p:cNvPr id="6" name="">
            <a:extLst xmlns:a="http://schemas.openxmlformats.org/drawingml/2006/main">
              <a:ext uri="{FF2B5EF4-FFF2-40B4-BE49-F238E27FC236}">
                <a16:creationId xmlns:a16="http://schemas.microsoft.com/office/drawing/2014/main" id="{30859A95-2BDE-4AA0-9F5B-047E379D364C}"/>
              </a:ext>
            </a:extLst>
          </p:cNvPr>
          <p:cNvSpPr>
            <a:spLocks xmlns:a="http://schemas.openxmlformats.org/drawingml/2006/main" noGrp="1"/>
          </p:cNvSpPr>
          <p:nvPr/>
        </p:nvSpPr>
        <p:spPr>
          <a:xfrm xmlns:a="http://schemas.openxmlformats.org/drawingml/2006/main">
            <a:off x="666750" y="2066925"/>
            <a:ext cx="55054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0" i="0">
                <a:solidFill>
                  <a:srgbClr val="233248"/>
                </a:solidFill>
                <a:latin typeface="Calibri"/>
                <a:ea typeface="Calibri"/>
                <a:cs typeface="Calibri"/>
              </a:defRPr>
            </a:pPr>
            <a:r>
              <a:rPr sz="1275" b="0" i="0">
                <a:solidFill>
                  <a:srgbClr val="233248"/>
                </a:solidFill>
                <a:latin typeface="Calibri"/>
                <a:ea typeface="Calibri"/>
                <a:cs typeface="Calibri"/>
              </a:rPr>
              <a:t>Synchronous interviews were not feasible in the available window. I built a multilingual self-serve research app instead: rider/driver branches, structured tags, and four optional open-text or voice prompts.</a:t>
            </a:r>
          </a:p>
        </p:txBody>
      </p:sp>
      <p:sp>
        <p:nvSpPr>
          <p:cNvPr id="7" name="">
            <a:extLst xmlns:a="http://schemas.openxmlformats.org/drawingml/2006/main">
              <a:ext uri="{FF2B5EF4-FFF2-40B4-BE49-F238E27FC236}">
                <a16:creationId xmlns:a16="http://schemas.microsoft.com/office/drawing/2014/main" id="{EC1700B8-AAAB-4F3B-B79C-A55C19FB170D}"/>
              </a:ext>
            </a:extLst>
          </p:cNvPr>
          <p:cNvSpPr>
            <a:spLocks xmlns:a="http://schemas.openxmlformats.org/drawingml/2006/main" noGrp="1"/>
          </p:cNvSpPr>
          <p:nvPr/>
        </p:nvSpPr>
        <p:spPr>
          <a:xfrm xmlns:a="http://schemas.openxmlformats.org/drawingml/2006/main">
            <a:off x="514350" y="2933700"/>
            <a:ext cx="5810250" cy="1123950"/>
          </a:xfrm>
          <a:prstGeom xmlns:a="http://schemas.openxmlformats.org/drawingml/2006/main" prst="roundRect">
            <a:avLst>
              <a:gd name="adj" fmla="val 5085"/>
            </a:avLst>
          </a:prstGeom>
          <a:solidFill xmlns:a="http://schemas.openxmlformats.org/drawingml/2006/main">
            <a:srgbClr val="E2F4F6"/>
          </a:solidFill>
          <a:ln xmlns:a="http://schemas.openxmlformats.org/drawingml/2006/main" w="9525">
            <a:solidFill>
              <a:srgbClr val="E8ECF1"/>
            </a:solidFill>
            <a:prstDash val="solid"/>
          </a:ln>
        </p:spPr>
      </p:sp>
      <p:sp>
        <p:nvSpPr>
          <p:cNvPr id="8" name="">
            <a:extLst xmlns:a="http://schemas.openxmlformats.org/drawingml/2006/main">
              <a:ext uri="{FF2B5EF4-FFF2-40B4-BE49-F238E27FC236}">
                <a16:creationId xmlns:a16="http://schemas.microsoft.com/office/drawing/2014/main" id="{FD7B42A3-4FA1-4768-950F-0C3711E3F227}"/>
              </a:ext>
            </a:extLst>
          </p:cNvPr>
          <p:cNvSpPr>
            <a:spLocks xmlns:a="http://schemas.openxmlformats.org/drawingml/2006/main" noGrp="1"/>
          </p:cNvSpPr>
          <p:nvPr/>
        </p:nvSpPr>
        <p:spPr>
          <a:xfrm xmlns:a="http://schemas.openxmlformats.org/drawingml/2006/main">
            <a:off x="666750" y="3048000"/>
            <a:ext cx="5505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1BB5C8"/>
                </a:solidFill>
                <a:latin typeface="Calibri"/>
                <a:ea typeface="Calibri"/>
                <a:cs typeface="Calibri"/>
              </a:defRPr>
            </a:pPr>
            <a:r>
              <a:rPr sz="1275" b="1" i="0">
                <a:solidFill>
                  <a:srgbClr val="1BB5C8"/>
                </a:solidFill>
                <a:latin typeface="Calibri"/>
                <a:ea typeface="Calibri"/>
                <a:cs typeface="Calibri"/>
              </a:rPr>
              <a:t>DEPTH ACHIEVED</a:t>
            </a:r>
          </a:p>
        </p:txBody>
      </p:sp>
      <p:sp>
        <p:nvSpPr>
          <p:cNvPr id="9" name="">
            <a:extLst xmlns:a="http://schemas.openxmlformats.org/drawingml/2006/main">
              <a:ext uri="{FF2B5EF4-FFF2-40B4-BE49-F238E27FC236}">
                <a16:creationId xmlns:a16="http://schemas.microsoft.com/office/drawing/2014/main" id="{8F3F5F0C-91A4-4D7E-BBF2-9A708F56963D}"/>
              </a:ext>
            </a:extLst>
          </p:cNvPr>
          <p:cNvSpPr>
            <a:spLocks xmlns:a="http://schemas.openxmlformats.org/drawingml/2006/main" noGrp="1"/>
          </p:cNvSpPr>
          <p:nvPr/>
        </p:nvSpPr>
        <p:spPr>
          <a:xfrm xmlns:a="http://schemas.openxmlformats.org/drawingml/2006/main">
            <a:off x="666750" y="3381375"/>
            <a:ext cx="55054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397"/>
          </a:bodyPr>
          <a:lstStyle xmlns:a="http://schemas.openxmlformats.org/drawingml/2006/main"/>
          <a:p xmlns:a="http://schemas.openxmlformats.org/drawingml/2006/main">
            <a:pPr algn="l">
              <a:defRPr sz="1275" b="0" i="0">
                <a:solidFill>
                  <a:srgbClr val="233248"/>
                </a:solidFill>
                <a:latin typeface="Calibri"/>
                <a:ea typeface="Calibri"/>
                <a:cs typeface="Calibri"/>
              </a:defRPr>
            </a:pPr>
            <a:r>
              <a:rPr sz="1275" b="0" i="0">
                <a:solidFill>
                  <a:srgbClr val="233248"/>
                </a:solidFill>
                <a:latin typeface="Calibri"/>
                <a:ea typeface="Calibri"/>
                <a:cs typeface="Calibri"/>
              </a:rPr>
              <a:t>62 unique respondents. 30 answered at least one open-ended narrative prompt, 11 gave extended accounts, and 3 completed all four detailed prompts.</a:t>
            </a:r>
          </a:p>
        </p:txBody>
      </p:sp>
      <p:sp>
        <p:nvSpPr>
          <p:cNvPr id="10" name="">
            <a:extLst xmlns:a="http://schemas.openxmlformats.org/drawingml/2006/main">
              <a:ext uri="{FF2B5EF4-FFF2-40B4-BE49-F238E27FC236}">
                <a16:creationId xmlns:a16="http://schemas.microsoft.com/office/drawing/2014/main" id="{A735860F-0394-47F4-B06D-F149B3348EAB}"/>
              </a:ext>
            </a:extLst>
          </p:cNvPr>
          <p:cNvSpPr>
            <a:spLocks xmlns:a="http://schemas.openxmlformats.org/drawingml/2006/main" noGrp="1"/>
          </p:cNvSpPr>
          <p:nvPr/>
        </p:nvSpPr>
        <p:spPr>
          <a:xfrm xmlns:a="http://schemas.openxmlformats.org/drawingml/2006/main">
            <a:off x="514350" y="4133850"/>
            <a:ext cx="5810250" cy="1200150"/>
          </a:xfrm>
          <a:prstGeom xmlns:a="http://schemas.openxmlformats.org/drawingml/2006/main" prst="roundRect">
            <a:avLst>
              <a:gd name="adj" fmla="val 4762"/>
            </a:avLst>
          </a:prstGeom>
          <a:solidFill xmlns:a="http://schemas.openxmlformats.org/drawingml/2006/main">
            <a:srgbClr val="FBE7D8"/>
          </a:solidFill>
          <a:ln xmlns:a="http://schemas.openxmlformats.org/drawingml/2006/main" w="9525">
            <a:solidFill>
              <a:srgbClr val="E8ECF1"/>
            </a:solidFill>
            <a:prstDash val="solid"/>
          </a:ln>
        </p:spPr>
      </p:sp>
      <p:sp>
        <p:nvSpPr>
          <p:cNvPr id="11" name="">
            <a:extLst xmlns:a="http://schemas.openxmlformats.org/drawingml/2006/main">
              <a:ext uri="{FF2B5EF4-FFF2-40B4-BE49-F238E27FC236}">
                <a16:creationId xmlns:a16="http://schemas.microsoft.com/office/drawing/2014/main" id="{713C3B2D-E5BB-4F1B-B757-B299071132C5}"/>
              </a:ext>
            </a:extLst>
          </p:cNvPr>
          <p:cNvSpPr>
            <a:spLocks xmlns:a="http://schemas.openxmlformats.org/drawingml/2006/main" noGrp="1"/>
          </p:cNvSpPr>
          <p:nvPr/>
        </p:nvSpPr>
        <p:spPr>
          <a:xfrm xmlns:a="http://schemas.openxmlformats.org/drawingml/2006/main">
            <a:off x="666750" y="4248150"/>
            <a:ext cx="5505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1B2B45"/>
                </a:solidFill>
                <a:latin typeface="Calibri"/>
                <a:ea typeface="Calibri"/>
                <a:cs typeface="Calibri"/>
              </a:defRPr>
            </a:pPr>
            <a:r>
              <a:rPr sz="1275" b="1" i="0">
                <a:solidFill>
                  <a:srgbClr val="1B2B45"/>
                </a:solidFill>
                <a:latin typeface="Calibri"/>
                <a:ea typeface="Calibri"/>
                <a:cs typeface="Calibri"/>
              </a:rPr>
              <a:t>TRADEOFF</a:t>
            </a:r>
          </a:p>
        </p:txBody>
      </p:sp>
      <p:sp>
        <p:nvSpPr>
          <p:cNvPr id="12" name="">
            <a:extLst xmlns:a="http://schemas.openxmlformats.org/drawingml/2006/main">
              <a:ext uri="{FF2B5EF4-FFF2-40B4-BE49-F238E27FC236}">
                <a16:creationId xmlns:a16="http://schemas.microsoft.com/office/drawing/2014/main" id="{FB5A5408-0913-4482-BAE3-2794155B1D14}"/>
              </a:ext>
            </a:extLst>
          </p:cNvPr>
          <p:cNvSpPr>
            <a:spLocks xmlns:a="http://schemas.openxmlformats.org/drawingml/2006/main" noGrp="1"/>
          </p:cNvSpPr>
          <p:nvPr/>
        </p:nvSpPr>
        <p:spPr>
          <a:xfrm xmlns:a="http://schemas.openxmlformats.org/drawingml/2006/main">
            <a:off x="666750" y="4581525"/>
            <a:ext cx="55054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8039"/>
          </a:bodyPr>
          <a:lstStyle xmlns:a="http://schemas.openxmlformats.org/drawingml/2006/main"/>
          <a:p xmlns:a="http://schemas.openxmlformats.org/drawingml/2006/main">
            <a:pPr algn="l">
              <a:defRPr sz="1275" b="0" i="0">
                <a:solidFill>
                  <a:srgbClr val="233248"/>
                </a:solidFill>
                <a:latin typeface="Calibri"/>
                <a:ea typeface="Calibri"/>
                <a:cs typeface="Calibri"/>
              </a:defRPr>
            </a:pPr>
            <a:r>
              <a:rPr sz="1275" b="0" i="0">
                <a:solidFill>
                  <a:srgbClr val="233248"/>
                </a:solidFill>
                <a:latin typeface="Calibri"/>
                <a:ea typeface="Calibri"/>
                <a:cs typeface="Calibri"/>
              </a:rPr>
              <a:t>No live probing and no follow-up on surprising answers. Depth per respondent is lower than a moderated interview; breadth, language coverage and traceability are higher.</a:t>
            </a:r>
          </a:p>
        </p:txBody>
      </p:sp>
      <p:sp>
        <p:nvSpPr>
          <p:cNvPr id="13" name="">
            <a:extLst xmlns:a="http://schemas.openxmlformats.org/drawingml/2006/main">
              <a:ext uri="{FF2B5EF4-FFF2-40B4-BE49-F238E27FC236}">
                <a16:creationId xmlns:a16="http://schemas.microsoft.com/office/drawing/2014/main" id="{8C3C8B6D-A4BF-48D2-A584-7180CD94D2D2}"/>
              </a:ext>
            </a:extLst>
          </p:cNvPr>
          <p:cNvSpPr>
            <a:spLocks xmlns:a="http://schemas.openxmlformats.org/drawingml/2006/main" noGrp="1"/>
          </p:cNvSpPr>
          <p:nvPr/>
        </p:nvSpPr>
        <p:spPr>
          <a:xfrm xmlns:a="http://schemas.openxmlformats.org/drawingml/2006/main">
            <a:off x="514350" y="5429250"/>
            <a:ext cx="609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275" b="1" i="0">
                <a:solidFill>
                  <a:srgbClr val="1B2B45"/>
                </a:solidFill>
                <a:latin typeface="Calibri"/>
                <a:ea typeface="Calibri"/>
                <a:cs typeface="Calibri"/>
              </a:defRPr>
            </a:pPr>
            <a:r>
              <a:rPr sz="1275" b="1" i="0">
                <a:solidFill>
                  <a:srgbClr val="1B2B45"/>
                </a:solidFill>
                <a:latin typeface="Calibri"/>
                <a:ea typeface="Calibri"/>
                <a:cs typeface="Calibri"/>
              </a:rPr>
              <a:t>62 unique submissions · 58 riders · 4 drivers · 33 Hyderabad / 29 other cities · 30 open-ended responses</a:t>
            </a:r>
          </a:p>
        </p:txBody>
      </p:sp>
      <p:sp>
        <p:nvSpPr>
          <p:cNvPr id="14" name="">
            <a:extLst xmlns:a="http://schemas.openxmlformats.org/drawingml/2006/main">
              <a:ext uri="{FF2B5EF4-FFF2-40B4-BE49-F238E27FC236}">
                <a16:creationId xmlns:a16="http://schemas.microsoft.com/office/drawing/2014/main" id="{9B232131-93EE-4294-A757-1FB218FCF38E}"/>
              </a:ext>
            </a:extLst>
          </p:cNvPr>
          <p:cNvSpPr>
            <a:spLocks xmlns:a="http://schemas.openxmlformats.org/drawingml/2006/main" noGrp="1"/>
          </p:cNvSpPr>
          <p:nvPr/>
        </p:nvSpPr>
        <p:spPr>
          <a:xfrm xmlns:a="http://schemas.openxmlformats.org/drawingml/2006/main">
            <a:off x="7067550" y="1562100"/>
            <a:ext cx="2609850" cy="4343400"/>
          </a:xfrm>
          <a:prstGeom xmlns:a="http://schemas.openxmlformats.org/drawingml/2006/main" prst="roundRect">
            <a:avLst>
              <a:gd name="adj" fmla="val 2920"/>
            </a:avLst>
          </a:prstGeom>
          <a:solidFill xmlns:a="http://schemas.openxmlformats.org/drawingml/2006/main">
            <a:srgbClr val="FFFFFF"/>
          </a:solidFill>
          <a:ln xmlns:a="http://schemas.openxmlformats.org/drawingml/2006/main" w="19050">
            <a:solidFill>
              <a:srgbClr val="1B2B45"/>
            </a:solidFill>
            <a:prstDash val="solid"/>
          </a:ln>
        </p:spPr>
      </p:sp>
      <p:pic>
        <p:nvPicPr>
          <p:cNvPr id="35" name=""/>
          <p:cNvPicPr>
            <a:picLocks xmlns:a="http://schemas.openxmlformats.org/drawingml/2006/main" noChangeAspect="1"/>
          </p:cNvPicPr>
          <p:nvPr/>
        </p:nvPicPr>
        <p:blipFill>
          <a:blip xmlns:r="http://schemas.openxmlformats.org/officeDocument/2006/relationships" xmlns:a="http://schemas.openxmlformats.org/drawingml/2006/main" r:embed="Re89e4f1b6a194d59"/>
          <a:stretch xmlns:a="http://schemas.openxmlformats.org/drawingml/2006/main"/>
        </p:blipFill>
        <p:spPr>
          <a:xfrm xmlns:a="http://schemas.openxmlformats.org/drawingml/2006/main">
            <a:off x="7414456" y="1657350"/>
            <a:ext cx="1916038" cy="4152900"/>
          </a:xfrm>
          <a:prstGeom xmlns:a="http://schemas.openxmlformats.org/drawingml/2006/main" prst="rect">
            <a:avLst/>
          </a:prstGeom>
        </p:spPr>
      </p:pic>
      <p:sp>
        <p:nvSpPr>
          <p:cNvPr id="16" name="">
            <a:extLst xmlns:a="http://schemas.openxmlformats.org/drawingml/2006/main">
              <a:ext uri="{FF2B5EF4-FFF2-40B4-BE49-F238E27FC236}">
                <a16:creationId xmlns:a16="http://schemas.microsoft.com/office/drawing/2014/main" id="{9801A355-AD44-48EC-ADCA-0641DD85CC4A}"/>
              </a:ext>
            </a:extLst>
          </p:cNvPr>
          <p:cNvSpPr>
            <a:spLocks xmlns:a="http://schemas.openxmlformats.org/drawingml/2006/main" noGrp="1"/>
          </p:cNvSpPr>
          <p:nvPr/>
        </p:nvSpPr>
        <p:spPr>
          <a:xfrm xmlns:a="http://schemas.openxmlformats.org/drawingml/2006/main">
            <a:off x="9810750" y="2286000"/>
            <a:ext cx="1809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00" b="0" i="0">
                <a:solidFill>
                  <a:srgbClr val="2D4672"/>
                </a:solidFill>
                <a:latin typeface="Calibri"/>
                <a:ea typeface="Calibri"/>
                <a:cs typeface="Calibri"/>
              </a:defRPr>
            </a:pPr>
            <a:r>
              <a:rPr sz="1200" b="0" i="0" u="sng">
                <a:solidFill>
                  <a:srgbClr val="2D4672"/>
                </a:solidFill>
                <a:latin typeface="Calibri"/>
                <a:ea typeface="Calibri"/>
                <a:cs typeface="Calibri"/>
                <a:hlinkClick xmlns:r="http://schemas.openxmlformats.org/officeDocument/2006/relationships" r:id="R4484944b0dc04113"/>
              </a:rPr>
              <a:t>https://praveenveera.github.io/uber-pickup-survey/</a:t>
            </a:r>
          </a:p>
        </p:txBody>
      </p:sp>
      <p:sp>
        <p:nvSpPr>
          <p:cNvPr id="17" name="">
            <a:extLst xmlns:a="http://schemas.openxmlformats.org/drawingml/2006/main">
              <a:ext uri="{FF2B5EF4-FFF2-40B4-BE49-F238E27FC236}">
                <a16:creationId xmlns:a16="http://schemas.microsoft.com/office/drawing/2014/main" id="{D4726EBB-BAB4-4887-970C-87E16E749322}"/>
              </a:ext>
            </a:extLst>
          </p:cNvPr>
          <p:cNvSpPr>
            <a:spLocks xmlns:a="http://schemas.openxmlformats.org/drawingml/2006/main" noGrp="1"/>
          </p:cNvSpPr>
          <p:nvPr/>
        </p:nvSpPr>
        <p:spPr>
          <a:xfrm xmlns:a="http://schemas.openxmlformats.org/drawingml/2006/main">
            <a:off x="9810750" y="1657350"/>
            <a:ext cx="1809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6803"/>
          </a:bodyPr>
          <a:lstStyle xmlns:a="http://schemas.openxmlformats.org/drawingml/2006/main"/>
          <a:p xmlns:a="http://schemas.openxmlformats.org/drawingml/2006/main">
            <a:pPr algn="l">
              <a:defRPr sz="1425" b="1" i="0">
                <a:solidFill>
                  <a:srgbClr val="1B2B45"/>
                </a:solidFill>
                <a:latin typeface="Calibri"/>
                <a:ea typeface="Calibri"/>
                <a:cs typeface="Calibri"/>
              </a:defRPr>
            </a:pPr>
            <a:r>
              <a:rPr sz="1425" b="1" i="0">
                <a:solidFill>
                  <a:srgbClr val="1B2B45"/>
                </a:solidFill>
                <a:latin typeface="Calibri"/>
                <a:ea typeface="Calibri"/>
                <a:cs typeface="Calibri"/>
              </a:rPr>
              <a:t>Live app</a:t>
            </a:r>
          </a:p>
          <a:p xmlns:a="http://schemas.openxmlformats.org/drawingml/2006/main">
            <a:pPr algn="l">
              <a:defRPr sz="1425" b="1" i="0">
                <a:solidFill>
                  <a:srgbClr val="1B2B45"/>
                </a:solidFill>
                <a:latin typeface="Calibri"/>
                <a:ea typeface="Calibri"/>
                <a:cs typeface="Calibri"/>
              </a:defRPr>
            </a:pPr>
            <a:r>
              <a:rPr sz="1425" b="1" i="0">
                <a:solidFill>
                  <a:srgbClr val="1B2B45"/>
                </a:solidFill>
                <a:latin typeface="Calibri"/>
                <a:ea typeface="Calibri"/>
                <a:cs typeface="Calibri"/>
              </a:rPr>
              <a:t>English · Telugu · Hindi</a:t>
            </a:r>
          </a:p>
        </p:txBody>
      </p:sp>
      <p:sp>
        <p:nvSpPr>
          <p:cNvPr id="18" name="">
            <a:extLst xmlns:a="http://schemas.openxmlformats.org/drawingml/2006/main">
              <a:ext uri="{FF2B5EF4-FFF2-40B4-BE49-F238E27FC236}">
                <a16:creationId xmlns:a16="http://schemas.microsoft.com/office/drawing/2014/main" id="{00E0CCCA-3F1C-412F-A01F-CBB88CC4B427}"/>
              </a:ext>
            </a:extLst>
          </p:cNvPr>
          <p:cNvSpPr>
            <a:spLocks xmlns:a="http://schemas.openxmlformats.org/drawingml/2006/main" noGrp="1"/>
          </p:cNvSpPr>
          <p:nvPr/>
        </p:nvSpPr>
        <p:spPr>
          <a:xfrm xmlns:a="http://schemas.openxmlformats.org/drawingml/2006/main">
            <a:off x="9810750" y="3543300"/>
            <a:ext cx="1809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0" i="0">
                <a:solidFill>
                  <a:srgbClr val="687489"/>
                </a:solidFill>
                <a:latin typeface="Calibri"/>
                <a:ea typeface="Calibri"/>
                <a:cs typeface="Calibri"/>
              </a:defRPr>
            </a:pPr>
            <a:r>
              <a:rPr sz="1275" b="0" i="0">
                <a:solidFill>
                  <a:srgbClr val="687489"/>
                </a:solidFill>
                <a:latin typeface="Calibri"/>
                <a:ea typeface="Calibri"/>
                <a:cs typeface="Calibri"/>
              </a:rPr>
              <a:t>Full consent, question-flow, and anonymized-response evidence is included in the evidence ZIP.</a:t>
            </a:r>
          </a:p>
        </p:txBody>
      </p:sp>
      <p:sp>
        <p:nvSpPr>
          <p:cNvPr id="19" name="">
            <a:extLst xmlns:a="http://schemas.openxmlformats.org/drawingml/2006/main">
              <a:ext uri="{FF2B5EF4-FFF2-40B4-BE49-F238E27FC236}">
                <a16:creationId xmlns:a16="http://schemas.microsoft.com/office/drawing/2014/main" id="{514BA834-CF8D-4E77-9183-D92CE4E02D06}"/>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a:t>
            </a:r>
          </a:p>
        </p:txBody>
      </p:sp>
      <p:sp>
        <p:nvSpPr>
          <p:cNvPr id="20" name="">
            <a:extLst xmlns:a="http://schemas.openxmlformats.org/drawingml/2006/main">
              <a:ext uri="{FF2B5EF4-FFF2-40B4-BE49-F238E27FC236}">
                <a16:creationId xmlns:a16="http://schemas.microsoft.com/office/drawing/2014/main" id="{86A62A8D-EE3B-4AB4-950A-BC03FD860184}"/>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2</a:t>
            </a:r>
          </a:p>
        </p:txBody>
      </p:sp>
    </p:spTree>
    <p:extLst>
      <p:ext uri="{BB962C8B-B14F-4D97-AF65-F5344CB8AC3E}">
        <p14:creationId xmlns:p14="http://schemas.microsoft.com/office/powerpoint/2010/main" val="908015283"/>
      </p:ext>
    </p:extLst>
  </p:cSld>
</p:sld>
</file>

<file path=ppt/slides/slide3.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6B0112DC-C644-48C0-9F34-FB1C29EEFF82}"/>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MARKET AND ALTERNATIVES</a:t>
            </a:r>
          </a:p>
        </p:txBody>
      </p:sp>
      <p:sp>
        <p:nvSpPr>
          <p:cNvPr id="2" name="">
            <a:extLst xmlns:a="http://schemas.openxmlformats.org/drawingml/2006/main">
              <a:ext uri="{FF2B5EF4-FFF2-40B4-BE49-F238E27FC236}">
                <a16:creationId xmlns:a16="http://schemas.microsoft.com/office/drawing/2014/main" id="{D538857E-7FAF-40E3-A04C-1365A3AABBB7}"/>
              </a:ext>
            </a:extLst>
          </p:cNvPr>
          <p:cNvSpPr>
            <a:spLocks xmlns:a="http://schemas.openxmlformats.org/drawingml/2006/main" noGrp="1"/>
          </p:cNvSpPr>
          <p:nvPr/>
        </p:nvSpPr>
        <p:spPr>
          <a:xfrm xmlns:a="http://schemas.openxmlformats.org/drawingml/2006/main">
            <a:off x="514350" y="571500"/>
            <a:ext cx="11144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Guidance exists — focus on coverage, clarity, and recovery</a:t>
            </a:r>
          </a:p>
        </p:txBody>
      </p:sp>
      <p:sp>
        <p:nvSpPr>
          <p:cNvPr id="3" name="">
            <a:extLst xmlns:a="http://schemas.openxmlformats.org/drawingml/2006/main">
              <a:ext uri="{FF2B5EF4-FFF2-40B4-BE49-F238E27FC236}">
                <a16:creationId xmlns:a16="http://schemas.microsoft.com/office/drawing/2014/main" id="{038D8F6F-3393-4724-9866-A0BDAA34BF02}"/>
              </a:ext>
            </a:extLst>
          </p:cNvPr>
          <p:cNvSpPr>
            <a:spLocks xmlns:a="http://schemas.openxmlformats.org/drawingml/2006/main" noGrp="1"/>
          </p:cNvSpPr>
          <p:nvPr/>
        </p:nvSpPr>
        <p:spPr>
          <a:xfrm xmlns:a="http://schemas.openxmlformats.org/drawingml/2006/main">
            <a:off x="514350" y="1057275"/>
            <a:ext cx="1085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350" b="0" i="0">
                <a:solidFill>
                  <a:srgbClr val="687489"/>
                </a:solidFill>
                <a:latin typeface="Calibri"/>
                <a:ea typeface="Calibri"/>
                <a:cs typeface="Calibri"/>
              </a:defRPr>
            </a:pPr>
            <a:r>
              <a:rPr sz="1350" b="0" i="0">
                <a:solidFill>
                  <a:srgbClr val="687489"/>
                </a:solidFill>
                <a:latin typeface="Calibri"/>
                <a:ea typeface="Calibri"/>
                <a:cs typeface="Calibri"/>
              </a:rPr>
              <a:t>Competitor evidence establishes design precedents, not validated Hyderabad outcomes.</a:t>
            </a:r>
          </a:p>
        </p:txBody>
      </p:sp>
      <p:sp>
        <p:nvSpPr>
          <p:cNvPr id="4" name="">
            <a:extLst xmlns:a="http://schemas.openxmlformats.org/drawingml/2006/main">
              <a:ext uri="{FF2B5EF4-FFF2-40B4-BE49-F238E27FC236}">
                <a16:creationId xmlns:a16="http://schemas.microsoft.com/office/drawing/2014/main" id="{B9712587-F235-4B3D-B2A7-7D2228818017}"/>
              </a:ext>
            </a:extLst>
          </p:cNvPr>
          <p:cNvSpPr>
            <a:spLocks xmlns:a="http://schemas.openxmlformats.org/drawingml/2006/main" noGrp="1"/>
          </p:cNvSpPr>
          <p:nvPr/>
        </p:nvSpPr>
        <p:spPr>
          <a:xfrm xmlns:a="http://schemas.openxmlformats.org/drawingml/2006/main">
            <a:off x="514350" y="1657350"/>
            <a:ext cx="3333750" cy="1981200"/>
          </a:xfrm>
          <a:prstGeom xmlns:a="http://schemas.openxmlformats.org/drawingml/2006/main" prst="roundRect">
            <a:avLst>
              <a:gd name="adj" fmla="val 2885"/>
            </a:avLst>
          </a:prstGeom>
          <a:solidFill xmlns:a="http://schemas.openxmlformats.org/drawingml/2006/main">
            <a:srgbClr val="FFFFFF"/>
          </a:solidFill>
          <a:ln xmlns:a="http://schemas.openxmlformats.org/drawingml/2006/main" w="9525">
            <a:solidFill>
              <a:srgbClr val="E8ECF1"/>
            </a:solidFill>
            <a:prstDash val="solid"/>
          </a:ln>
        </p:spPr>
      </p:sp>
      <p:sp>
        <p:nvSpPr>
          <p:cNvPr id="5" name="">
            <a:extLst xmlns:a="http://schemas.openxmlformats.org/drawingml/2006/main">
              <a:ext uri="{FF2B5EF4-FFF2-40B4-BE49-F238E27FC236}">
                <a16:creationId xmlns:a16="http://schemas.microsoft.com/office/drawing/2014/main" id="{6697F1E3-6967-43CD-96C8-582E68DEBF26}"/>
              </a:ext>
            </a:extLst>
          </p:cNvPr>
          <p:cNvSpPr>
            <a:spLocks xmlns:a="http://schemas.openxmlformats.org/drawingml/2006/main" noGrp="1"/>
          </p:cNvSpPr>
          <p:nvPr/>
        </p:nvSpPr>
        <p:spPr>
          <a:xfrm xmlns:a="http://schemas.openxmlformats.org/drawingml/2006/main">
            <a:off x="666750" y="1771650"/>
            <a:ext cx="3028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F47A22"/>
                </a:solidFill>
                <a:latin typeface="Calibri"/>
                <a:ea typeface="Calibri"/>
                <a:cs typeface="Calibri"/>
              </a:defRPr>
            </a:pPr>
            <a:r>
              <a:rPr sz="1275" b="1" i="0">
                <a:solidFill>
                  <a:srgbClr val="F47A22"/>
                </a:solidFill>
                <a:latin typeface="Calibri"/>
                <a:ea typeface="Calibri"/>
                <a:cs typeface="Calibri"/>
              </a:rPr>
              <a:t>UBER HYDERABAD BASELINE</a:t>
            </a:r>
          </a:p>
        </p:txBody>
      </p:sp>
      <p:sp>
        <p:nvSpPr>
          <p:cNvPr id="6" name="">
            <a:extLst xmlns:a="http://schemas.openxmlformats.org/drawingml/2006/main">
              <a:ext uri="{FF2B5EF4-FFF2-40B4-BE49-F238E27FC236}">
                <a16:creationId xmlns:a16="http://schemas.microsoft.com/office/drawing/2014/main" id="{52C9F987-255D-446F-8567-C8233D5E7177}"/>
              </a:ext>
            </a:extLst>
          </p:cNvPr>
          <p:cNvSpPr>
            <a:spLocks xmlns:a="http://schemas.openxmlformats.org/drawingml/2006/main" noGrp="1"/>
          </p:cNvSpPr>
          <p:nvPr/>
        </p:nvSpPr>
        <p:spPr>
          <a:xfrm xmlns:a="http://schemas.openxmlformats.org/drawingml/2006/main">
            <a:off x="666750" y="2105025"/>
            <a:ext cx="30289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500" b="0" i="0">
                <a:solidFill>
                  <a:srgbClr val="233248"/>
                </a:solidFill>
                <a:latin typeface="Calibri"/>
                <a:ea typeface="Calibri"/>
                <a:cs typeface="Calibri"/>
              </a:defRPr>
            </a:pPr>
            <a:r>
              <a:rPr sz="1500" b="0" i="0">
                <a:solidFill>
                  <a:srgbClr val="233248"/>
                </a:solidFill>
                <a:latin typeface="Calibri"/>
                <a:ea typeface="Calibri"/>
                <a:cs typeface="Calibri"/>
              </a:rPr>
              <a:t>Uber's HYD guidance points riders to in-app directions and a D1 pickup zone. The case is not “Uber has no pickup guidance.”</a:t>
            </a:r>
          </a:p>
        </p:txBody>
      </p:sp>
      <p:sp>
        <p:nvSpPr>
          <p:cNvPr id="7" name="">
            <a:extLst xmlns:a="http://schemas.openxmlformats.org/drawingml/2006/main">
              <a:ext uri="{FF2B5EF4-FFF2-40B4-BE49-F238E27FC236}">
                <a16:creationId xmlns:a16="http://schemas.microsoft.com/office/drawing/2014/main" id="{FDA4E2F1-E5E0-4B15-A554-CFFB8CB1430B}"/>
              </a:ext>
            </a:extLst>
          </p:cNvPr>
          <p:cNvSpPr>
            <a:spLocks xmlns:a="http://schemas.openxmlformats.org/drawingml/2006/main" noGrp="1"/>
          </p:cNvSpPr>
          <p:nvPr/>
        </p:nvSpPr>
        <p:spPr>
          <a:xfrm xmlns:a="http://schemas.openxmlformats.org/drawingml/2006/main">
            <a:off x="4067175" y="1657350"/>
            <a:ext cx="3333750" cy="1981200"/>
          </a:xfrm>
          <a:prstGeom xmlns:a="http://schemas.openxmlformats.org/drawingml/2006/main" prst="roundRect">
            <a:avLst>
              <a:gd name="adj" fmla="val 2885"/>
            </a:avLst>
          </a:prstGeom>
          <a:solidFill xmlns:a="http://schemas.openxmlformats.org/drawingml/2006/main">
            <a:srgbClr val="FFFFFF"/>
          </a:solidFill>
          <a:ln xmlns:a="http://schemas.openxmlformats.org/drawingml/2006/main" w="9525">
            <a:solidFill>
              <a:srgbClr val="E8ECF1"/>
            </a:solidFill>
            <a:prstDash val="solid"/>
          </a:ln>
        </p:spPr>
      </p:sp>
      <p:sp>
        <p:nvSpPr>
          <p:cNvPr id="8" name="">
            <a:extLst xmlns:a="http://schemas.openxmlformats.org/drawingml/2006/main">
              <a:ext uri="{FF2B5EF4-FFF2-40B4-BE49-F238E27FC236}">
                <a16:creationId xmlns:a16="http://schemas.microsoft.com/office/drawing/2014/main" id="{30A5A4E0-E70F-4522-A91B-33968484877A}"/>
              </a:ext>
            </a:extLst>
          </p:cNvPr>
          <p:cNvSpPr>
            <a:spLocks xmlns:a="http://schemas.openxmlformats.org/drawingml/2006/main" noGrp="1"/>
          </p:cNvSpPr>
          <p:nvPr/>
        </p:nvSpPr>
        <p:spPr>
          <a:xfrm xmlns:a="http://schemas.openxmlformats.org/drawingml/2006/main">
            <a:off x="4219575" y="1771650"/>
            <a:ext cx="3028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1BB5C8"/>
                </a:solidFill>
                <a:latin typeface="Calibri"/>
                <a:ea typeface="Calibri"/>
                <a:cs typeface="Calibri"/>
              </a:defRPr>
            </a:pPr>
            <a:r>
              <a:rPr sz="1275" b="1" i="0">
                <a:solidFill>
                  <a:srgbClr val="1BB5C8"/>
                </a:solidFill>
                <a:latin typeface="Calibri"/>
                <a:ea typeface="Calibri"/>
                <a:cs typeface="Calibri"/>
              </a:rPr>
              <a:t>GLOBAL PATTERNS</a:t>
            </a:r>
          </a:p>
        </p:txBody>
      </p:sp>
      <p:sp>
        <p:nvSpPr>
          <p:cNvPr id="9" name="">
            <a:extLst xmlns:a="http://schemas.openxmlformats.org/drawingml/2006/main">
              <a:ext uri="{FF2B5EF4-FFF2-40B4-BE49-F238E27FC236}">
                <a16:creationId xmlns:a16="http://schemas.microsoft.com/office/drawing/2014/main" id="{CE7B286E-4106-425D-94A0-9244F4D2BD76}"/>
              </a:ext>
            </a:extLst>
          </p:cNvPr>
          <p:cNvSpPr>
            <a:spLocks xmlns:a="http://schemas.openxmlformats.org/drawingml/2006/main" noGrp="1"/>
          </p:cNvSpPr>
          <p:nvPr/>
        </p:nvSpPr>
        <p:spPr>
          <a:xfrm xmlns:a="http://schemas.openxmlformats.org/drawingml/2006/main">
            <a:off x="4219575" y="2105025"/>
            <a:ext cx="30289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500" b="0" i="0">
                <a:solidFill>
                  <a:srgbClr val="233248"/>
                </a:solidFill>
                <a:latin typeface="Calibri"/>
                <a:ea typeface="Calibri"/>
                <a:cs typeface="Calibri"/>
              </a:defRPr>
            </a:pPr>
            <a:r>
              <a:rPr sz="1500" b="0" i="0">
                <a:solidFill>
                  <a:srgbClr val="233248"/>
                </a:solidFill>
                <a:latin typeface="Calibri"/>
                <a:ea typeface="Calibri"/>
                <a:cs typeface="Calibri"/>
              </a:rPr>
              <a:t>Grab uses venue visuals and meeting points. Lyft uses pickup notes. Waymo makes accessible stops and walking trade-offs explicit.</a:t>
            </a:r>
          </a:p>
        </p:txBody>
      </p:sp>
      <p:sp>
        <p:nvSpPr>
          <p:cNvPr id="10" name="">
            <a:extLst xmlns:a="http://schemas.openxmlformats.org/drawingml/2006/main">
              <a:ext uri="{FF2B5EF4-FFF2-40B4-BE49-F238E27FC236}">
                <a16:creationId xmlns:a16="http://schemas.microsoft.com/office/drawing/2014/main" id="{24E129C3-B00B-4982-98A0-0604CDB0F690}"/>
              </a:ext>
            </a:extLst>
          </p:cNvPr>
          <p:cNvSpPr>
            <a:spLocks xmlns:a="http://schemas.openxmlformats.org/drawingml/2006/main" noGrp="1"/>
          </p:cNvSpPr>
          <p:nvPr/>
        </p:nvSpPr>
        <p:spPr>
          <a:xfrm xmlns:a="http://schemas.openxmlformats.org/drawingml/2006/main">
            <a:off x="7620000" y="1657350"/>
            <a:ext cx="3333750" cy="1981200"/>
          </a:xfrm>
          <a:prstGeom xmlns:a="http://schemas.openxmlformats.org/drawingml/2006/main" prst="roundRect">
            <a:avLst>
              <a:gd name="adj" fmla="val 2885"/>
            </a:avLst>
          </a:prstGeom>
          <a:solidFill xmlns:a="http://schemas.openxmlformats.org/drawingml/2006/main">
            <a:srgbClr val="FFFFFF"/>
          </a:solidFill>
          <a:ln xmlns:a="http://schemas.openxmlformats.org/drawingml/2006/main" w="9525">
            <a:solidFill>
              <a:srgbClr val="E8ECF1"/>
            </a:solidFill>
            <a:prstDash val="solid"/>
          </a:ln>
        </p:spPr>
      </p:sp>
      <p:sp>
        <p:nvSpPr>
          <p:cNvPr id="11" name="">
            <a:extLst xmlns:a="http://schemas.openxmlformats.org/drawingml/2006/main">
              <a:ext uri="{FF2B5EF4-FFF2-40B4-BE49-F238E27FC236}">
                <a16:creationId xmlns:a16="http://schemas.microsoft.com/office/drawing/2014/main" id="{F9D22A30-801B-43A4-858C-7B94F7E3E658}"/>
              </a:ext>
            </a:extLst>
          </p:cNvPr>
          <p:cNvSpPr>
            <a:spLocks xmlns:a="http://schemas.openxmlformats.org/drawingml/2006/main" noGrp="1"/>
          </p:cNvSpPr>
          <p:nvPr/>
        </p:nvSpPr>
        <p:spPr>
          <a:xfrm xmlns:a="http://schemas.openxmlformats.org/drawingml/2006/main">
            <a:off x="7772400" y="1771650"/>
            <a:ext cx="3028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2D4672"/>
                </a:solidFill>
                <a:latin typeface="Calibri"/>
                <a:ea typeface="Calibri"/>
                <a:cs typeface="Calibri"/>
              </a:defRPr>
            </a:pPr>
            <a:r>
              <a:rPr sz="1275" b="1" i="0">
                <a:solidFill>
                  <a:srgbClr val="2D4672"/>
                </a:solidFill>
                <a:latin typeface="Calibri"/>
                <a:ea typeface="Calibri"/>
                <a:cs typeface="Calibri"/>
              </a:rPr>
              <a:t>INDIAN ACCESS PATTERN</a:t>
            </a:r>
          </a:p>
        </p:txBody>
      </p:sp>
      <p:sp>
        <p:nvSpPr>
          <p:cNvPr id="12" name="">
            <a:extLst xmlns:a="http://schemas.openxmlformats.org/drawingml/2006/main">
              <a:ext uri="{FF2B5EF4-FFF2-40B4-BE49-F238E27FC236}">
                <a16:creationId xmlns:a16="http://schemas.microsoft.com/office/drawing/2014/main" id="{FCE112AA-32BF-4DE0-AEB0-397F62E38FC5}"/>
              </a:ext>
            </a:extLst>
          </p:cNvPr>
          <p:cNvSpPr>
            <a:spLocks xmlns:a="http://schemas.openxmlformats.org/drawingml/2006/main" noGrp="1"/>
          </p:cNvSpPr>
          <p:nvPr/>
        </p:nvSpPr>
        <p:spPr>
          <a:xfrm xmlns:a="http://schemas.openxmlformats.org/drawingml/2006/main">
            <a:off x="7772400" y="2105025"/>
            <a:ext cx="30289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500" b="0" i="0">
                <a:solidFill>
                  <a:srgbClr val="233248"/>
                </a:solidFill>
                <a:latin typeface="Calibri"/>
                <a:ea typeface="Calibri"/>
                <a:cs typeface="Calibri"/>
              </a:defRPr>
            </a:pPr>
            <a:r>
              <a:rPr sz="1500" b="0" i="0">
                <a:solidFill>
                  <a:srgbClr val="233248"/>
                </a:solidFill>
                <a:latin typeface="Calibri"/>
                <a:ea typeface="Calibri"/>
                <a:cs typeface="Calibri"/>
              </a:rPr>
              <a:t>MyGate shows how a privacy-aware gate handoff can work. Historical Ola evidence shows physical zones or human help, but not a current capability.</a:t>
            </a:r>
          </a:p>
        </p:txBody>
      </p:sp>
      <p:sp>
        <p:nvSpPr>
          <p:cNvPr id="13" name="">
            <a:extLst xmlns:a="http://schemas.openxmlformats.org/drawingml/2006/main">
              <a:ext uri="{FF2B5EF4-FFF2-40B4-BE49-F238E27FC236}">
                <a16:creationId xmlns:a16="http://schemas.microsoft.com/office/drawing/2014/main" id="{E72E7AF6-075F-4CE7-8442-9800EB085A7B}"/>
              </a:ext>
            </a:extLst>
          </p:cNvPr>
          <p:cNvSpPr>
            <a:spLocks xmlns:a="http://schemas.openxmlformats.org/drawingml/2006/main" noGrp="1"/>
          </p:cNvSpPr>
          <p:nvPr/>
        </p:nvSpPr>
        <p:spPr>
          <a:xfrm xmlns:a="http://schemas.openxmlformats.org/drawingml/2006/main">
            <a:off x="514350" y="3905250"/>
            <a:ext cx="10439400" cy="1200150"/>
          </a:xfrm>
          <a:prstGeom xmlns:a="http://schemas.openxmlformats.org/drawingml/2006/main" prst="roundRect">
            <a:avLst>
              <a:gd name="adj" fmla="val 4762"/>
            </a:avLst>
          </a:prstGeom>
          <a:solidFill xmlns:a="http://schemas.openxmlformats.org/drawingml/2006/main">
            <a:srgbClr val="E2F4F6"/>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E81F4FDF-7690-4DF2-807A-BB874CA8A4FD}"/>
              </a:ext>
            </a:extLst>
          </p:cNvPr>
          <p:cNvSpPr>
            <a:spLocks xmlns:a="http://schemas.openxmlformats.org/drawingml/2006/main" noGrp="1"/>
          </p:cNvSpPr>
          <p:nvPr/>
        </p:nvSpPr>
        <p:spPr>
          <a:xfrm xmlns:a="http://schemas.openxmlformats.org/drawingml/2006/main">
            <a:off x="704850" y="4057650"/>
            <a:ext cx="2095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8039"/>
          </a:bodyPr>
          <a:lstStyle xmlns:a="http://schemas.openxmlformats.org/drawingml/2006/main"/>
          <a:p xmlns:a="http://schemas.openxmlformats.org/drawingml/2006/main">
            <a:pPr algn="l">
              <a:defRPr sz="1275" b="1" i="0">
                <a:solidFill>
                  <a:srgbClr val="1B2B45"/>
                </a:solidFill>
                <a:latin typeface="Calibri"/>
                <a:ea typeface="Calibri"/>
                <a:cs typeface="Calibri"/>
              </a:defRPr>
            </a:pPr>
            <a:r>
              <a:rPr sz="1275" b="1" i="0">
                <a:solidFill>
                  <a:srgbClr val="1B2B45"/>
                </a:solidFill>
                <a:latin typeface="Calibri"/>
                <a:ea typeface="Calibri"/>
                <a:cs typeface="Calibri"/>
              </a:rPr>
              <a:t>Product implication</a:t>
            </a:r>
          </a:p>
        </p:txBody>
      </p:sp>
      <p:sp>
        <p:nvSpPr>
          <p:cNvPr id="15" name="">
            <a:extLst xmlns:a="http://schemas.openxmlformats.org/drawingml/2006/main">
              <a:ext uri="{FF2B5EF4-FFF2-40B4-BE49-F238E27FC236}">
                <a16:creationId xmlns:a16="http://schemas.microsoft.com/office/drawing/2014/main" id="{CBD6D67F-FD56-417D-8B3B-7CF6B8CB9EB1}"/>
              </a:ext>
            </a:extLst>
          </p:cNvPr>
          <p:cNvSpPr>
            <a:spLocks xmlns:a="http://schemas.openxmlformats.org/drawingml/2006/main" noGrp="1"/>
          </p:cNvSpPr>
          <p:nvPr/>
        </p:nvSpPr>
        <p:spPr>
          <a:xfrm xmlns:a="http://schemas.openxmlformats.org/drawingml/2006/main">
            <a:off x="704850" y="4400550"/>
            <a:ext cx="99822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0580"/>
          </a:bodyPr>
          <a:lstStyle xmlns:a="http://schemas.openxmlformats.org/drawingml/2006/main"/>
          <a:p xmlns:a="http://schemas.openxmlformats.org/drawingml/2006/main">
            <a:pPr algn="l">
              <a:defRPr sz="1725" b="1" i="0">
                <a:solidFill>
                  <a:srgbClr val="1B2B45"/>
                </a:solidFill>
                <a:latin typeface="Calibri"/>
                <a:ea typeface="Calibri"/>
                <a:cs typeface="Calibri"/>
              </a:defRPr>
            </a:pPr>
            <a:r>
              <a:rPr sz="1725" b="1" i="0">
                <a:solidFill>
                  <a:srgbClr val="1B2B45"/>
                </a:solidFill>
                <a:latin typeface="Calibri"/>
                <a:ea typeface="Calibri"/>
                <a:cs typeface="Calibri"/>
              </a:rPr>
              <a:t>Test a reusable coordination layer for complex places: valid stopping context, concise handoff information, and one visible recovery step when coordination stalls.</a:t>
            </a:r>
          </a:p>
        </p:txBody>
      </p:sp>
      <p:sp>
        <p:nvSpPr>
          <p:cNvPr id="16" name="">
            <a:extLst xmlns:a="http://schemas.openxmlformats.org/drawingml/2006/main">
              <a:ext uri="{FF2B5EF4-FFF2-40B4-BE49-F238E27FC236}">
                <a16:creationId xmlns:a16="http://schemas.microsoft.com/office/drawing/2014/main" id="{094979FD-7C5D-41C6-B090-32833EFB1A5B}"/>
              </a:ext>
            </a:extLst>
          </p:cNvPr>
          <p:cNvSpPr>
            <a:spLocks xmlns:a="http://schemas.openxmlformats.org/drawingml/2006/main" noGrp="1"/>
          </p:cNvSpPr>
          <p:nvPr/>
        </p:nvSpPr>
        <p:spPr>
          <a:xfrm xmlns:a="http://schemas.openxmlformats.org/drawingml/2006/main">
            <a:off x="514350" y="5314950"/>
            <a:ext cx="10439400" cy="685800"/>
          </a:xfrm>
          <a:prstGeom xmlns:a="http://schemas.openxmlformats.org/drawingml/2006/main" prst="roundRect">
            <a:avLst>
              <a:gd name="adj" fmla="val 8333"/>
            </a:avLst>
          </a:prstGeom>
          <a:solidFill xmlns:a="http://schemas.openxmlformats.org/drawingml/2006/main">
            <a:srgbClr val="FBE7D8"/>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7F96414F-8CCE-4E7D-96C5-68DA0B19F185}"/>
              </a:ext>
            </a:extLst>
          </p:cNvPr>
          <p:cNvSpPr>
            <a:spLocks xmlns:a="http://schemas.openxmlformats.org/drawingml/2006/main" noGrp="1"/>
          </p:cNvSpPr>
          <p:nvPr/>
        </p:nvSpPr>
        <p:spPr>
          <a:xfrm xmlns:a="http://schemas.openxmlformats.org/drawingml/2006/main">
            <a:off x="704850" y="5467350"/>
            <a:ext cx="10048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275" b="0" i="0">
                <a:solidFill>
                  <a:srgbClr val="233248"/>
                </a:solidFill>
                <a:latin typeface="Calibri"/>
                <a:ea typeface="Calibri"/>
                <a:cs typeface="Calibri"/>
              </a:defRPr>
            </a:pPr>
            <a:r>
              <a:rPr sz="1275" b="0" i="0">
                <a:solidFill>
                  <a:srgbClr val="233248"/>
                </a:solidFill>
                <a:latin typeface="Calibri"/>
                <a:ea typeface="Calibri"/>
                <a:cs typeface="Calibri"/>
              </a:rPr>
              <a:t>Restrictions to design around: no-stopping and access rules, venue operations, accessibility, privacy, and data minimization. Exact local rules require venue-level validation.</a:t>
            </a:r>
          </a:p>
        </p:txBody>
      </p:sp>
      <p:sp>
        <p:nvSpPr>
          <p:cNvPr id="18" name="">
            <a:extLst xmlns:a="http://schemas.openxmlformats.org/drawingml/2006/main">
              <a:ext uri="{FF2B5EF4-FFF2-40B4-BE49-F238E27FC236}">
                <a16:creationId xmlns:a16="http://schemas.microsoft.com/office/drawing/2014/main" id="{927A87B1-36A7-4A51-A595-9F60AF6304EE}"/>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a:t>
            </a:r>
          </a:p>
        </p:txBody>
      </p:sp>
      <p:sp>
        <p:nvSpPr>
          <p:cNvPr id="19" name="">
            <a:extLst xmlns:a="http://schemas.openxmlformats.org/drawingml/2006/main">
              <a:ext uri="{FF2B5EF4-FFF2-40B4-BE49-F238E27FC236}">
                <a16:creationId xmlns:a16="http://schemas.microsoft.com/office/drawing/2014/main" id="{F6CFBC87-F478-4857-8354-25D200EE7C02}"/>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3</a:t>
            </a:r>
          </a:p>
        </p:txBody>
      </p:sp>
    </p:spTree>
    <p:extLst>
      <p:ext uri="{BB962C8B-B14F-4D97-AF65-F5344CB8AC3E}">
        <p14:creationId xmlns:p14="http://schemas.microsoft.com/office/powerpoint/2010/main" val="827218491"/>
      </p:ext>
    </p:extLst>
  </p:cSld>
</p:sld>
</file>

<file path=ppt/slides/slide4.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04BF9A40-DE7E-478A-B1D7-ED1896E4D19D}"/>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MARKET, SEGMENTS AND TRENDS</a:t>
            </a:r>
          </a:p>
        </p:txBody>
      </p:sp>
      <p:sp>
        <p:nvSpPr>
          <p:cNvPr id="2" name="">
            <a:extLst xmlns:a="http://schemas.openxmlformats.org/drawingml/2006/main">
              <a:ext uri="{FF2B5EF4-FFF2-40B4-BE49-F238E27FC236}">
                <a16:creationId xmlns:a16="http://schemas.microsoft.com/office/drawing/2014/main" id="{E7C50240-91F7-48D1-B1BD-3B980DAB5C43}"/>
              </a:ext>
            </a:extLst>
          </p:cNvPr>
          <p:cNvSpPr>
            <a:spLocks xmlns:a="http://schemas.openxmlformats.org/drawingml/2006/main" noGrp="1"/>
          </p:cNvSpPr>
          <p:nvPr/>
        </p:nvSpPr>
        <p:spPr>
          <a:xfrm xmlns:a="http://schemas.openxmlformats.org/drawingml/2006/main">
            <a:off x="514350" y="571500"/>
            <a:ext cx="11144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A sizing model with a named missing denominator</a:t>
            </a:r>
          </a:p>
        </p:txBody>
      </p:sp>
      <p:sp>
        <p:nvSpPr>
          <p:cNvPr id="3" name="">
            <a:extLst xmlns:a="http://schemas.openxmlformats.org/drawingml/2006/main">
              <a:ext uri="{FF2B5EF4-FFF2-40B4-BE49-F238E27FC236}">
                <a16:creationId xmlns:a16="http://schemas.microsoft.com/office/drawing/2014/main" id="{B9245F57-06E4-49CE-A8A7-03A615D144C0}"/>
              </a:ext>
            </a:extLst>
          </p:cNvPr>
          <p:cNvSpPr>
            <a:spLocks xmlns:a="http://schemas.openxmlformats.org/drawingml/2006/main" noGrp="1"/>
          </p:cNvSpPr>
          <p:nvPr/>
        </p:nvSpPr>
        <p:spPr>
          <a:xfrm xmlns:a="http://schemas.openxmlformats.org/drawingml/2006/main">
            <a:off x="514350" y="1057275"/>
            <a:ext cx="1085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350" b="0" i="0">
                <a:solidFill>
                  <a:srgbClr val="687489"/>
                </a:solidFill>
                <a:latin typeface="Calibri"/>
                <a:ea typeface="Calibri"/>
                <a:cs typeface="Calibri"/>
              </a:defRPr>
            </a:pPr>
            <a:r>
              <a:rPr sz="1350" b="0" i="0">
                <a:solidFill>
                  <a:srgbClr val="687489"/>
                </a:solidFill>
                <a:latin typeface="Calibri"/>
                <a:ea typeface="Calibri"/>
                <a:cs typeface="Calibri"/>
              </a:rPr>
              <a:t>Refusing a fabricated TAM is the finding — not an omission.</a:t>
            </a:r>
          </a:p>
        </p:txBody>
      </p:sp>
      <p:sp>
        <p:nvSpPr>
          <p:cNvPr id="4" name="">
            <a:extLst xmlns:a="http://schemas.openxmlformats.org/drawingml/2006/main">
              <a:ext uri="{FF2B5EF4-FFF2-40B4-BE49-F238E27FC236}">
                <a16:creationId xmlns:a16="http://schemas.microsoft.com/office/drawing/2014/main" id="{C9D37900-B636-4DB5-83E5-D741C8DBAE71}"/>
              </a:ext>
            </a:extLst>
          </p:cNvPr>
          <p:cNvSpPr>
            <a:spLocks xmlns:a="http://schemas.openxmlformats.org/drawingml/2006/main" noGrp="1"/>
          </p:cNvSpPr>
          <p:nvPr/>
        </p:nvSpPr>
        <p:spPr>
          <a:xfrm xmlns:a="http://schemas.openxmlformats.org/drawingml/2006/main">
            <a:off x="514350" y="1657350"/>
            <a:ext cx="3333750" cy="1905000"/>
          </a:xfrm>
          <a:prstGeom xmlns:a="http://schemas.openxmlformats.org/drawingml/2006/main" prst="roundRect">
            <a:avLst>
              <a:gd name="adj" fmla="val 3000"/>
            </a:avLst>
          </a:prstGeom>
          <a:solidFill xmlns:a="http://schemas.openxmlformats.org/drawingml/2006/main">
            <a:srgbClr val="FFFFFF"/>
          </a:solidFill>
          <a:ln xmlns:a="http://schemas.openxmlformats.org/drawingml/2006/main" w="9525">
            <a:solidFill>
              <a:srgbClr val="E8ECF1"/>
            </a:solidFill>
            <a:prstDash val="solid"/>
          </a:ln>
        </p:spPr>
      </p:sp>
      <p:sp>
        <p:nvSpPr>
          <p:cNvPr id="5" name="">
            <a:extLst xmlns:a="http://schemas.openxmlformats.org/drawingml/2006/main">
              <a:ext uri="{FF2B5EF4-FFF2-40B4-BE49-F238E27FC236}">
                <a16:creationId xmlns:a16="http://schemas.microsoft.com/office/drawing/2014/main" id="{BEF0A78F-FB53-4E5C-8806-3D539444F96C}"/>
              </a:ext>
            </a:extLst>
          </p:cNvPr>
          <p:cNvSpPr>
            <a:spLocks xmlns:a="http://schemas.openxmlformats.org/drawingml/2006/main" noGrp="1"/>
          </p:cNvSpPr>
          <p:nvPr/>
        </p:nvSpPr>
        <p:spPr>
          <a:xfrm xmlns:a="http://schemas.openxmlformats.org/drawingml/2006/main">
            <a:off x="666750" y="1771650"/>
            <a:ext cx="3028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F47A22"/>
                </a:solidFill>
                <a:latin typeface="Calibri"/>
                <a:ea typeface="Calibri"/>
                <a:cs typeface="Calibri"/>
              </a:defRPr>
            </a:pPr>
            <a:r>
              <a:rPr sz="1275" b="1" i="0">
                <a:solidFill>
                  <a:srgbClr val="F47A22"/>
                </a:solidFill>
                <a:latin typeface="Calibri"/>
                <a:ea typeface="Calibri"/>
                <a:cs typeface="Calibri"/>
              </a:rPr>
              <a:t>SIZING MODEL</a:t>
            </a:r>
          </a:p>
        </p:txBody>
      </p:sp>
      <p:sp>
        <p:nvSpPr>
          <p:cNvPr id="6" name="">
            <a:extLst xmlns:a="http://schemas.openxmlformats.org/drawingml/2006/main">
              <a:ext uri="{FF2B5EF4-FFF2-40B4-BE49-F238E27FC236}">
                <a16:creationId xmlns:a16="http://schemas.microsoft.com/office/drawing/2014/main" id="{C63A9FBF-397D-4F34-B69B-11A1B0381D59}"/>
              </a:ext>
            </a:extLst>
          </p:cNvPr>
          <p:cNvSpPr>
            <a:spLocks xmlns:a="http://schemas.openxmlformats.org/drawingml/2006/main" noGrp="1"/>
          </p:cNvSpPr>
          <p:nvPr/>
        </p:nvSpPr>
        <p:spPr>
          <a:xfrm xmlns:a="http://schemas.openxmlformats.org/drawingml/2006/main">
            <a:off x="666750" y="2105025"/>
            <a:ext cx="302895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0" i="0">
                <a:solidFill>
                  <a:srgbClr val="233248"/>
                </a:solidFill>
                <a:latin typeface="Calibri"/>
                <a:ea typeface="Calibri"/>
                <a:cs typeface="Calibri"/>
              </a:defRPr>
            </a:pPr>
            <a:r>
              <a:rPr sz="1275" b="0" i="0">
                <a:solidFill>
                  <a:srgbClr val="233248"/>
                </a:solidFill>
                <a:latin typeface="Calibri"/>
                <a:ea typeface="Calibri"/>
                <a:cs typeface="Calibri"/>
              </a:rPr>
              <a:t>Annual affected pickups = Hyderabad Uber four-wheel pickups × share beginning at complex locations × share hitting material difficulty. None of the three inputs exists in a reliable public source, so no TAM is claimed.</a:t>
            </a:r>
          </a:p>
        </p:txBody>
      </p:sp>
      <p:sp>
        <p:nvSpPr>
          <p:cNvPr id="7" name="">
            <a:extLst xmlns:a="http://schemas.openxmlformats.org/drawingml/2006/main">
              <a:ext uri="{FF2B5EF4-FFF2-40B4-BE49-F238E27FC236}">
                <a16:creationId xmlns:a16="http://schemas.microsoft.com/office/drawing/2014/main" id="{F66CCBA9-E674-4A48-A878-C5AF4C025A97}"/>
              </a:ext>
            </a:extLst>
          </p:cNvPr>
          <p:cNvSpPr>
            <a:spLocks xmlns:a="http://schemas.openxmlformats.org/drawingml/2006/main" noGrp="1"/>
          </p:cNvSpPr>
          <p:nvPr/>
        </p:nvSpPr>
        <p:spPr>
          <a:xfrm xmlns:a="http://schemas.openxmlformats.org/drawingml/2006/main">
            <a:off x="4067175" y="1657350"/>
            <a:ext cx="3333750" cy="1905000"/>
          </a:xfrm>
          <a:prstGeom xmlns:a="http://schemas.openxmlformats.org/drawingml/2006/main" prst="roundRect">
            <a:avLst>
              <a:gd name="adj" fmla="val 3000"/>
            </a:avLst>
          </a:prstGeom>
          <a:solidFill xmlns:a="http://schemas.openxmlformats.org/drawingml/2006/main">
            <a:srgbClr val="FFFFFF"/>
          </a:solidFill>
          <a:ln xmlns:a="http://schemas.openxmlformats.org/drawingml/2006/main" w="9525">
            <a:solidFill>
              <a:srgbClr val="E8ECF1"/>
            </a:solidFill>
            <a:prstDash val="solid"/>
          </a:ln>
        </p:spPr>
      </p:sp>
      <p:sp>
        <p:nvSpPr>
          <p:cNvPr id="8" name="">
            <a:extLst xmlns:a="http://schemas.openxmlformats.org/drawingml/2006/main">
              <a:ext uri="{FF2B5EF4-FFF2-40B4-BE49-F238E27FC236}">
                <a16:creationId xmlns:a16="http://schemas.microsoft.com/office/drawing/2014/main" id="{4777A556-41AE-4D9D-B5BD-873030338698}"/>
              </a:ext>
            </a:extLst>
          </p:cNvPr>
          <p:cNvSpPr>
            <a:spLocks xmlns:a="http://schemas.openxmlformats.org/drawingml/2006/main" noGrp="1"/>
          </p:cNvSpPr>
          <p:nvPr/>
        </p:nvSpPr>
        <p:spPr>
          <a:xfrm xmlns:a="http://schemas.openxmlformats.org/drawingml/2006/main">
            <a:off x="4219575" y="1771650"/>
            <a:ext cx="3028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7574"/>
          </a:bodyPr>
          <a:lstStyle xmlns:a="http://schemas.openxmlformats.org/drawingml/2006/main"/>
          <a:p xmlns:a="http://schemas.openxmlformats.org/drawingml/2006/main">
            <a:pPr algn="l">
              <a:defRPr sz="1275" b="1" i="0">
                <a:solidFill>
                  <a:srgbClr val="1BB5C8"/>
                </a:solidFill>
                <a:latin typeface="Calibri"/>
                <a:ea typeface="Calibri"/>
                <a:cs typeface="Calibri"/>
              </a:defRPr>
            </a:pPr>
            <a:r>
              <a:rPr sz="1275" b="1" i="0">
                <a:solidFill>
                  <a:srgbClr val="1BB5C8"/>
                </a:solidFill>
                <a:latin typeface="Calibri"/>
                <a:ea typeface="Calibri"/>
                <a:cs typeface="Calibri"/>
              </a:rPr>
              <a:t>EXPOSURE POOLS — NOT THE PROBLEM</a:t>
            </a:r>
          </a:p>
        </p:txBody>
      </p:sp>
      <p:sp>
        <p:nvSpPr>
          <p:cNvPr id="9" name="">
            <a:extLst xmlns:a="http://schemas.openxmlformats.org/drawingml/2006/main">
              <a:ext uri="{FF2B5EF4-FFF2-40B4-BE49-F238E27FC236}">
                <a16:creationId xmlns:a16="http://schemas.microsoft.com/office/drawing/2014/main" id="{43E959CC-E2FB-402E-93F9-C53F8ED9B968}"/>
              </a:ext>
            </a:extLst>
          </p:cNvPr>
          <p:cNvSpPr>
            <a:spLocks xmlns:a="http://schemas.openxmlformats.org/drawingml/2006/main" noGrp="1"/>
          </p:cNvSpPr>
          <p:nvPr/>
        </p:nvSpPr>
        <p:spPr>
          <a:xfrm xmlns:a="http://schemas.openxmlformats.org/drawingml/2006/main">
            <a:off x="4219575" y="2105025"/>
            <a:ext cx="302895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0" i="0">
                <a:solidFill>
                  <a:srgbClr val="233248"/>
                </a:solidFill>
                <a:latin typeface="Calibri"/>
                <a:ea typeface="Calibri"/>
                <a:cs typeface="Calibri"/>
              </a:defRPr>
            </a:pPr>
            <a:r>
              <a:rPr sz="1275" b="0" i="0">
                <a:solidFill>
                  <a:srgbClr val="233248"/>
                </a:solidFill>
                <a:latin typeface="Calibri"/>
                <a:ea typeface="Calibri"/>
                <a:cs typeface="Calibri"/>
              </a:rPr>
              <a:t>Hyderabad Airport: 30M+ passengers FY2025-26. Hyderabad Metro: 4.75 lakh+ average daily riders across 57 stations. Secunderabad station: ~1.30 lakh per normal day, 2 lakh+ during festivals.</a:t>
            </a:r>
          </a:p>
        </p:txBody>
      </p:sp>
      <p:sp>
        <p:nvSpPr>
          <p:cNvPr id="10" name="">
            <a:extLst xmlns:a="http://schemas.openxmlformats.org/drawingml/2006/main">
              <a:ext uri="{FF2B5EF4-FFF2-40B4-BE49-F238E27FC236}">
                <a16:creationId xmlns:a16="http://schemas.microsoft.com/office/drawing/2014/main" id="{497F1104-92FF-44C9-9E14-6780CA903A68}"/>
              </a:ext>
            </a:extLst>
          </p:cNvPr>
          <p:cNvSpPr>
            <a:spLocks xmlns:a="http://schemas.openxmlformats.org/drawingml/2006/main" noGrp="1"/>
          </p:cNvSpPr>
          <p:nvPr/>
        </p:nvSpPr>
        <p:spPr>
          <a:xfrm xmlns:a="http://schemas.openxmlformats.org/drawingml/2006/main">
            <a:off x="7620000" y="1657350"/>
            <a:ext cx="3333750" cy="1905000"/>
          </a:xfrm>
          <a:prstGeom xmlns:a="http://schemas.openxmlformats.org/drawingml/2006/main" prst="roundRect">
            <a:avLst>
              <a:gd name="adj" fmla="val 3000"/>
            </a:avLst>
          </a:prstGeom>
          <a:solidFill xmlns:a="http://schemas.openxmlformats.org/drawingml/2006/main">
            <a:srgbClr val="FFFFFF"/>
          </a:solidFill>
          <a:ln xmlns:a="http://schemas.openxmlformats.org/drawingml/2006/main" w="9525">
            <a:solidFill>
              <a:srgbClr val="E8ECF1"/>
            </a:solidFill>
            <a:prstDash val="solid"/>
          </a:ln>
        </p:spPr>
      </p:sp>
      <p:sp>
        <p:nvSpPr>
          <p:cNvPr id="11" name="">
            <a:extLst xmlns:a="http://schemas.openxmlformats.org/drawingml/2006/main">
              <a:ext uri="{FF2B5EF4-FFF2-40B4-BE49-F238E27FC236}">
                <a16:creationId xmlns:a16="http://schemas.microsoft.com/office/drawing/2014/main" id="{1B747419-6FD1-4C0A-A1AD-037A5BE9CBE1}"/>
              </a:ext>
            </a:extLst>
          </p:cNvPr>
          <p:cNvSpPr>
            <a:spLocks xmlns:a="http://schemas.openxmlformats.org/drawingml/2006/main" noGrp="1"/>
          </p:cNvSpPr>
          <p:nvPr/>
        </p:nvSpPr>
        <p:spPr>
          <a:xfrm xmlns:a="http://schemas.openxmlformats.org/drawingml/2006/main">
            <a:off x="7772400" y="1771650"/>
            <a:ext cx="3028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2D4672"/>
                </a:solidFill>
                <a:latin typeface="Calibri"/>
                <a:ea typeface="Calibri"/>
                <a:cs typeface="Calibri"/>
              </a:defRPr>
            </a:pPr>
            <a:r>
              <a:rPr sz="1275" b="1" i="0">
                <a:solidFill>
                  <a:srgbClr val="2D4672"/>
                </a:solidFill>
                <a:latin typeface="Calibri"/>
                <a:ea typeface="Calibri"/>
                <a:cs typeface="Calibri"/>
              </a:rPr>
              <a:t>WHERE DEMAND CONCENTRATES</a:t>
            </a:r>
          </a:p>
        </p:txBody>
      </p:sp>
      <p:sp>
        <p:nvSpPr>
          <p:cNvPr id="12" name="">
            <a:extLst xmlns:a="http://schemas.openxmlformats.org/drawingml/2006/main">
              <a:ext uri="{FF2B5EF4-FFF2-40B4-BE49-F238E27FC236}">
                <a16:creationId xmlns:a16="http://schemas.microsoft.com/office/drawing/2014/main" id="{4ABB651F-2C71-4F25-9D18-81313E0C9DDF}"/>
              </a:ext>
            </a:extLst>
          </p:cNvPr>
          <p:cNvSpPr>
            <a:spLocks xmlns:a="http://schemas.openxmlformats.org/drawingml/2006/main" noGrp="1"/>
          </p:cNvSpPr>
          <p:nvPr/>
        </p:nvSpPr>
        <p:spPr>
          <a:xfrm xmlns:a="http://schemas.openxmlformats.org/drawingml/2006/main">
            <a:off x="7772400" y="2105025"/>
            <a:ext cx="302895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0" i="0">
                <a:solidFill>
                  <a:srgbClr val="233248"/>
                </a:solidFill>
                <a:latin typeface="Calibri"/>
                <a:ea typeface="Calibri"/>
                <a:cs typeface="Calibri"/>
              </a:defRPr>
            </a:pPr>
            <a:r>
              <a:rPr sz="1275" b="0" i="0">
                <a:solidFill>
                  <a:srgbClr val="233248"/>
                </a:solidFill>
                <a:latin typeface="Calibri"/>
                <a:ea typeface="Calibri"/>
                <a:cs typeface="Calibri"/>
              </a:rPr>
              <a:t>Segment by location type, not demographics. Among 28 issue cases: airport 10, gated residential 7, mall 6, office 6, metro/rail 5, street 3, hotel 2, hospital 1.</a:t>
            </a:r>
          </a:p>
        </p:txBody>
      </p:sp>
      <p:sp>
        <p:nvSpPr>
          <p:cNvPr id="13" name="">
            <a:extLst xmlns:a="http://schemas.openxmlformats.org/drawingml/2006/main">
              <a:ext uri="{FF2B5EF4-FFF2-40B4-BE49-F238E27FC236}">
                <a16:creationId xmlns:a16="http://schemas.microsoft.com/office/drawing/2014/main" id="{EA81209A-BE6A-40D4-8E9E-1F83E3253B9E}"/>
              </a:ext>
            </a:extLst>
          </p:cNvPr>
          <p:cNvSpPr>
            <a:spLocks xmlns:a="http://schemas.openxmlformats.org/drawingml/2006/main" noGrp="1"/>
          </p:cNvSpPr>
          <p:nvPr/>
        </p:nvSpPr>
        <p:spPr>
          <a:xfrm xmlns:a="http://schemas.openxmlformats.org/drawingml/2006/main">
            <a:off x="514350" y="3733800"/>
            <a:ext cx="10439400" cy="1428750"/>
          </a:xfrm>
          <a:prstGeom xmlns:a="http://schemas.openxmlformats.org/drawingml/2006/main" prst="roundRect">
            <a:avLst>
              <a:gd name="adj" fmla="val 4000"/>
            </a:avLst>
          </a:prstGeom>
          <a:solidFill xmlns:a="http://schemas.openxmlformats.org/drawingml/2006/main">
            <a:srgbClr val="E2F4F6"/>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7D34B17D-DBD6-48E3-A153-DC6280CB6037}"/>
              </a:ext>
            </a:extLst>
          </p:cNvPr>
          <p:cNvSpPr>
            <a:spLocks xmlns:a="http://schemas.openxmlformats.org/drawingml/2006/main" noGrp="1"/>
          </p:cNvSpPr>
          <p:nvPr/>
        </p:nvSpPr>
        <p:spPr>
          <a:xfrm xmlns:a="http://schemas.openxmlformats.org/drawingml/2006/main">
            <a:off x="704850" y="3848100"/>
            <a:ext cx="2476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8235"/>
          </a:bodyPr>
          <a:lstStyle xmlns:a="http://schemas.openxmlformats.org/drawingml/2006/main"/>
          <a:p xmlns:a="http://schemas.openxmlformats.org/drawingml/2006/main">
            <a:pPr algn="l">
              <a:defRPr sz="1275" b="1" i="0">
                <a:solidFill>
                  <a:srgbClr val="1B2B45"/>
                </a:solidFill>
                <a:latin typeface="Calibri"/>
                <a:ea typeface="Calibri"/>
                <a:cs typeface="Calibri"/>
              </a:defRPr>
            </a:pPr>
            <a:r>
              <a:rPr sz="1275" b="1" i="0">
                <a:solidFill>
                  <a:srgbClr val="1B2B45"/>
                </a:solidFill>
                <a:latin typeface="Calibri"/>
                <a:ea typeface="Calibri"/>
                <a:cs typeface="Calibri"/>
              </a:rPr>
              <a:t>Market trends</a:t>
            </a:r>
          </a:p>
        </p:txBody>
      </p:sp>
      <p:sp>
        <p:nvSpPr>
          <p:cNvPr id="15" name="">
            <a:extLst xmlns:a="http://schemas.openxmlformats.org/drawingml/2006/main">
              <a:ext uri="{FF2B5EF4-FFF2-40B4-BE49-F238E27FC236}">
                <a16:creationId xmlns:a16="http://schemas.microsoft.com/office/drawing/2014/main" id="{1BD47A26-DE64-4D4E-8CEF-A5C3978B906F}"/>
              </a:ext>
            </a:extLst>
          </p:cNvPr>
          <p:cNvSpPr>
            <a:spLocks xmlns:a="http://schemas.openxmlformats.org/drawingml/2006/main" noGrp="1"/>
          </p:cNvSpPr>
          <p:nvPr/>
        </p:nvSpPr>
        <p:spPr>
          <a:xfrm xmlns:a="http://schemas.openxmlformats.org/drawingml/2006/main">
            <a:off x="704850" y="4114800"/>
            <a:ext cx="100203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00" b="0" i="0">
                <a:solidFill>
                  <a:srgbClr val="1B2B45"/>
                </a:solidFill>
                <a:latin typeface="Calibri"/>
                <a:ea typeface="Calibri"/>
                <a:cs typeface="Calibri"/>
              </a:defRPr>
            </a:pPr>
            <a:r>
              <a:rPr sz="1200" b="0" i="0">
                <a:solidFill>
                  <a:srgbClr val="1B2B45"/>
                </a:solidFill>
                <a:latin typeface="Calibri"/>
                <a:ea typeface="Calibri"/>
                <a:cs typeface="Calibri"/>
              </a:rPr>
              <a:t>Regulatory tailwind — MV Aggregator Guidelines 2025 mandate in-journey location sharing, accessibility features and language support.</a:t>
            </a:r>
          </a:p>
          <a:p xmlns:a="http://schemas.openxmlformats.org/drawingml/2006/main">
            <a:pPr algn="l">
              <a:defRPr sz="1200" b="0" i="0">
                <a:solidFill>
                  <a:srgbClr val="1B2B45"/>
                </a:solidFill>
                <a:latin typeface="Calibri"/>
                <a:ea typeface="Calibri"/>
                <a:cs typeface="Calibri"/>
              </a:defRPr>
            </a:pPr>
            <a:r>
              <a:rPr sz="1200" b="0" i="0">
                <a:solidFill>
                  <a:srgbClr val="1B2B45"/>
                </a:solidFill>
                <a:latin typeface="Calibri"/>
                <a:ea typeface="Calibri"/>
                <a:cs typeface="Calibri"/>
              </a:rPr>
              <a:t>Category maturing — Uber already ships HYD airport guidance; Lyft ships pickup notes; Grab ships venue meeting points.</a:t>
            </a:r>
          </a:p>
          <a:p xmlns:a="http://schemas.openxmlformats.org/drawingml/2006/main">
            <a:pPr algn="l">
              <a:defRPr sz="1200" b="0" i="0">
                <a:solidFill>
                  <a:srgbClr val="1B2B45"/>
                </a:solidFill>
                <a:latin typeface="Calibri"/>
                <a:ea typeface="Calibri"/>
                <a:cs typeface="Calibri"/>
              </a:defRPr>
            </a:pPr>
            <a:r>
              <a:rPr sz="1200" b="0" i="0">
                <a:solidFill>
                  <a:srgbClr val="1B2B45"/>
                </a:solidFill>
                <a:latin typeface="Calibri"/>
                <a:ea typeface="Calibri"/>
                <a:cs typeface="Calibri"/>
              </a:rPr>
              <a:t>Curb space tightening — access-control windows now appear at Indian transport hubs, such as Secunderabad's 15-minute pickup/drop rule.</a:t>
            </a:r>
          </a:p>
          <a:p xmlns:a="http://schemas.openxmlformats.org/drawingml/2006/main">
            <a:pPr algn="l">
              <a:defRPr sz="1200" b="0" i="0">
                <a:solidFill>
                  <a:srgbClr val="1B2B45"/>
                </a:solidFill>
                <a:latin typeface="Calibri"/>
                <a:ea typeface="Calibri"/>
                <a:cs typeface="Calibri"/>
              </a:defRPr>
            </a:pPr>
            <a:r>
              <a:rPr sz="1200" b="0" i="0">
                <a:solidFill>
                  <a:srgbClr val="1B2B45"/>
                </a:solidFill>
                <a:latin typeface="Calibri"/>
                <a:ea typeface="Calibri"/>
                <a:cs typeface="Calibri"/>
              </a:rPr>
              <a:t>Privacy bar rising — the DPDP Act 2023 constrains how venue and location data can be collected and retained.</a:t>
            </a:r>
          </a:p>
        </p:txBody>
      </p:sp>
      <p:sp>
        <p:nvSpPr>
          <p:cNvPr id="16" name="">
            <a:extLst xmlns:a="http://schemas.openxmlformats.org/drawingml/2006/main">
              <a:ext uri="{FF2B5EF4-FFF2-40B4-BE49-F238E27FC236}">
                <a16:creationId xmlns:a16="http://schemas.microsoft.com/office/drawing/2014/main" id="{FDED9EC0-D8B0-4748-B82C-8F2F8CDA24BF}"/>
              </a:ext>
            </a:extLst>
          </p:cNvPr>
          <p:cNvSpPr>
            <a:spLocks xmlns:a="http://schemas.openxmlformats.org/drawingml/2006/main" noGrp="1"/>
          </p:cNvSpPr>
          <p:nvPr/>
        </p:nvSpPr>
        <p:spPr>
          <a:xfrm xmlns:a="http://schemas.openxmlformats.org/drawingml/2006/main">
            <a:off x="514350" y="5295900"/>
            <a:ext cx="10439400" cy="666750"/>
          </a:xfrm>
          <a:prstGeom xmlns:a="http://schemas.openxmlformats.org/drawingml/2006/main" prst="roundRect">
            <a:avLst>
              <a:gd name="adj" fmla="val 8571"/>
            </a:avLst>
          </a:prstGeom>
          <a:solidFill xmlns:a="http://schemas.openxmlformats.org/drawingml/2006/main">
            <a:srgbClr val="FBE7D8"/>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F5E545FE-C2CF-4CCD-BC7B-7F50A24E8022}"/>
              </a:ext>
            </a:extLst>
          </p:cNvPr>
          <p:cNvSpPr>
            <a:spLocks xmlns:a="http://schemas.openxmlformats.org/drawingml/2006/main" noGrp="1"/>
          </p:cNvSpPr>
          <p:nvPr/>
        </p:nvSpPr>
        <p:spPr>
          <a:xfrm xmlns:a="http://schemas.openxmlformats.org/drawingml/2006/main">
            <a:off x="704850" y="5448300"/>
            <a:ext cx="10048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275" b="0" i="0">
                <a:solidFill>
                  <a:srgbClr val="233248"/>
                </a:solidFill>
                <a:latin typeface="Calibri"/>
                <a:ea typeface="Calibri"/>
                <a:cs typeface="Calibri"/>
              </a:defRPr>
            </a:pPr>
            <a:r>
              <a:rPr sz="1275" b="0" i="0">
                <a:solidFill>
                  <a:srgbClr val="233248"/>
                </a:solidFill>
                <a:latin typeface="Calibri"/>
                <a:ea typeface="Calibri"/>
                <a:cs typeface="Calibri"/>
              </a:rPr>
              <a:t>Telangana's adoption of the 2025 central guidelines and venue-level stopping rules both require legal and on-site verification. This is product research, not legal advice.</a:t>
            </a:r>
          </a:p>
        </p:txBody>
      </p:sp>
      <p:sp>
        <p:nvSpPr>
          <p:cNvPr id="18" name="">
            <a:extLst xmlns:a="http://schemas.openxmlformats.org/drawingml/2006/main">
              <a:ext uri="{FF2B5EF4-FFF2-40B4-BE49-F238E27FC236}">
                <a16:creationId xmlns:a16="http://schemas.microsoft.com/office/drawing/2014/main" id="{A662ED0C-0784-4A82-95BE-23DF126AC7A6}"/>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a:t>
            </a:r>
          </a:p>
        </p:txBody>
      </p:sp>
      <p:sp>
        <p:nvSpPr>
          <p:cNvPr id="19" name="">
            <a:extLst xmlns:a="http://schemas.openxmlformats.org/drawingml/2006/main">
              <a:ext uri="{FF2B5EF4-FFF2-40B4-BE49-F238E27FC236}">
                <a16:creationId xmlns:a16="http://schemas.microsoft.com/office/drawing/2014/main" id="{63D40C28-C7E1-448D-9439-808BCAC10C80}"/>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4</a:t>
            </a:r>
          </a:p>
        </p:txBody>
      </p:sp>
    </p:spTree>
    <p:extLst>
      <p:ext uri="{BB962C8B-B14F-4D97-AF65-F5344CB8AC3E}">
        <p14:creationId xmlns:p14="http://schemas.microsoft.com/office/powerpoint/2010/main" val="758965332"/>
      </p:ext>
    </p:extLst>
  </p:cSld>
</p:sld>
</file>

<file path=ppt/slides/slide5.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15AC654E-0501-4753-B985-E193AD786E05}"/>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1 · RESEARCH GOAL</a:t>
            </a:r>
          </a:p>
        </p:txBody>
      </p:sp>
      <p:sp>
        <p:nvSpPr>
          <p:cNvPr id="2" name="">
            <a:extLst xmlns:a="http://schemas.openxmlformats.org/drawingml/2006/main">
              <a:ext uri="{FF2B5EF4-FFF2-40B4-BE49-F238E27FC236}">
                <a16:creationId xmlns:a16="http://schemas.microsoft.com/office/drawing/2014/main" id="{F1B38546-41EE-4C7E-A454-DAD4234C0C59}"/>
              </a:ext>
            </a:extLst>
          </p:cNvPr>
          <p:cNvSpPr>
            <a:spLocks xmlns:a="http://schemas.openxmlformats.org/drawingml/2006/main" noGrp="1"/>
          </p:cNvSpPr>
          <p:nvPr/>
        </p:nvSpPr>
        <p:spPr>
          <a:xfrm xmlns:a="http://schemas.openxmlformats.org/drawingml/2006/main">
            <a:off x="514350" y="571500"/>
            <a:ext cx="11144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One research question grounded in a clear problem frame</a:t>
            </a:r>
          </a:p>
        </p:txBody>
      </p:sp>
      <p:sp>
        <p:nvSpPr>
          <p:cNvPr id="3" name="">
            <a:extLst xmlns:a="http://schemas.openxmlformats.org/drawingml/2006/main">
              <a:ext uri="{FF2B5EF4-FFF2-40B4-BE49-F238E27FC236}">
                <a16:creationId xmlns:a16="http://schemas.microsoft.com/office/drawing/2014/main" id="{AF175B26-A119-43C4-BD79-751AE1F5EEC8}"/>
              </a:ext>
            </a:extLst>
          </p:cNvPr>
          <p:cNvSpPr>
            <a:spLocks xmlns:a="http://schemas.openxmlformats.org/drawingml/2006/main" noGrp="1"/>
          </p:cNvSpPr>
          <p:nvPr/>
        </p:nvSpPr>
        <p:spPr>
          <a:xfrm xmlns:a="http://schemas.openxmlformats.org/drawingml/2006/main">
            <a:off x="514350" y="1057275"/>
            <a:ext cx="1085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350" b="0" i="0">
                <a:solidFill>
                  <a:srgbClr val="687489"/>
                </a:solidFill>
                <a:latin typeface="Calibri"/>
                <a:ea typeface="Calibri"/>
                <a:cs typeface="Calibri"/>
              </a:defRPr>
            </a:pPr>
            <a:r>
              <a:rPr sz="1350" b="0" i="0">
                <a:solidFill>
                  <a:srgbClr val="687489"/>
                </a:solidFill>
                <a:latin typeface="Calibri"/>
                <a:ea typeface="Calibri"/>
                <a:cs typeface="Calibri"/>
              </a:rPr>
              <a:t>Primary: Hyderabad four-wheel riders at complex pickups. Connected stakeholder: the driver.</a:t>
            </a:r>
          </a:p>
        </p:txBody>
      </p:sp>
      <p:sp>
        <p:nvSpPr>
          <p:cNvPr id="4" name="">
            <a:extLst xmlns:a="http://schemas.openxmlformats.org/drawingml/2006/main">
              <a:ext uri="{FF2B5EF4-FFF2-40B4-BE49-F238E27FC236}">
                <a16:creationId xmlns:a16="http://schemas.microsoft.com/office/drawing/2014/main" id="{00350EE9-22E2-46C9-88DA-E16E87EA7100}"/>
              </a:ext>
            </a:extLst>
          </p:cNvPr>
          <p:cNvSpPr>
            <a:spLocks xmlns:a="http://schemas.openxmlformats.org/drawingml/2006/main" noGrp="1"/>
          </p:cNvSpPr>
          <p:nvPr/>
        </p:nvSpPr>
        <p:spPr>
          <a:xfrm xmlns:a="http://schemas.openxmlformats.org/drawingml/2006/main">
            <a:off x="514350" y="1600200"/>
            <a:ext cx="10439400" cy="990600"/>
          </a:xfrm>
          <a:prstGeom xmlns:a="http://schemas.openxmlformats.org/drawingml/2006/main" prst="roundRect">
            <a:avLst>
              <a:gd name="adj" fmla="val 5769"/>
            </a:avLst>
          </a:prstGeom>
          <a:solidFill xmlns:a="http://schemas.openxmlformats.org/drawingml/2006/main">
            <a:srgbClr val="1B2B45"/>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47200D03-138D-401B-9AF5-FC6537FCF2C0}"/>
              </a:ext>
            </a:extLst>
          </p:cNvPr>
          <p:cNvSpPr>
            <a:spLocks xmlns:a="http://schemas.openxmlformats.org/drawingml/2006/main" noGrp="1"/>
          </p:cNvSpPr>
          <p:nvPr/>
        </p:nvSpPr>
        <p:spPr>
          <a:xfrm xmlns:a="http://schemas.openxmlformats.org/drawingml/2006/main">
            <a:off x="781050" y="1790700"/>
            <a:ext cx="9906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86420"/>
          </a:bodyPr>
          <a:lstStyle xmlns:a="http://schemas.openxmlformats.org/drawingml/2006/main"/>
          <a:p xmlns:a="http://schemas.openxmlformats.org/drawingml/2006/main">
            <a:pPr algn="ctr">
              <a:defRPr sz="2025" b="1" i="0">
                <a:solidFill>
                  <a:srgbClr val="FFFFFF"/>
                </a:solidFill>
                <a:latin typeface="Calibri"/>
                <a:ea typeface="Calibri"/>
                <a:cs typeface="Calibri"/>
              </a:defRPr>
            </a:pPr>
            <a:r>
              <a:rPr sz="2025" b="1" i="0">
                <a:solidFill>
                  <a:srgbClr val="FFFFFF"/>
                </a:solidFill>
                <a:latin typeface="Calibri"/>
                <a:ea typeface="Calibri"/>
                <a:cs typeface="Calibri"/>
              </a:rPr>
              <a:t>When a pickup becomes difficult, what breaks, and what do riders and drivers do to recover?</a:t>
            </a:r>
          </a:p>
        </p:txBody>
      </p:sp>
      <p:sp>
        <p:nvSpPr>
          <p:cNvPr id="6" name="">
            <a:extLst xmlns:a="http://schemas.openxmlformats.org/drawingml/2006/main">
              <a:ext uri="{FF2B5EF4-FFF2-40B4-BE49-F238E27FC236}">
                <a16:creationId xmlns:a16="http://schemas.microsoft.com/office/drawing/2014/main" id="{A912FEC3-F1C2-487C-A8AE-5F2022B8D959}"/>
              </a:ext>
            </a:extLst>
          </p:cNvPr>
          <p:cNvSpPr>
            <a:spLocks xmlns:a="http://schemas.openxmlformats.org/drawingml/2006/main" noGrp="1"/>
          </p:cNvSpPr>
          <p:nvPr/>
        </p:nvSpPr>
        <p:spPr>
          <a:xfrm xmlns:a="http://schemas.openxmlformats.org/drawingml/2006/main">
            <a:off x="514350" y="2895600"/>
            <a:ext cx="5048250" cy="2057400"/>
          </a:xfrm>
          <a:prstGeom xmlns:a="http://schemas.openxmlformats.org/drawingml/2006/main" prst="roundRect">
            <a:avLst>
              <a:gd name="adj" fmla="val 2778"/>
            </a:avLst>
          </a:prstGeom>
          <a:solidFill xmlns:a="http://schemas.openxmlformats.org/drawingml/2006/main">
            <a:srgbClr val="FFFFFF"/>
          </a:solidFill>
          <a:ln xmlns:a="http://schemas.openxmlformats.org/drawingml/2006/main" w="9525">
            <a:solidFill>
              <a:srgbClr val="E8ECF1"/>
            </a:solidFill>
            <a:prstDash val="solid"/>
          </a:ln>
        </p:spPr>
      </p:sp>
      <p:sp>
        <p:nvSpPr>
          <p:cNvPr id="7" name="">
            <a:extLst xmlns:a="http://schemas.openxmlformats.org/drawingml/2006/main">
              <a:ext uri="{FF2B5EF4-FFF2-40B4-BE49-F238E27FC236}">
                <a16:creationId xmlns:a16="http://schemas.microsoft.com/office/drawing/2014/main" id="{14D51A04-D7EB-45C8-BDFE-4823737F48E5}"/>
              </a:ext>
            </a:extLst>
          </p:cNvPr>
          <p:cNvSpPr>
            <a:spLocks xmlns:a="http://schemas.openxmlformats.org/drawingml/2006/main" noGrp="1"/>
          </p:cNvSpPr>
          <p:nvPr/>
        </p:nvSpPr>
        <p:spPr>
          <a:xfrm xmlns:a="http://schemas.openxmlformats.org/drawingml/2006/main">
            <a:off x="666750" y="3009900"/>
            <a:ext cx="4743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1BB5C8"/>
                </a:solidFill>
                <a:latin typeface="Calibri"/>
                <a:ea typeface="Calibri"/>
                <a:cs typeface="Calibri"/>
              </a:defRPr>
            </a:pPr>
            <a:r>
              <a:rPr sz="1275" b="1" i="0">
                <a:solidFill>
                  <a:srgbClr val="1BB5C8"/>
                </a:solidFill>
                <a:latin typeface="Calibri"/>
                <a:ea typeface="Calibri"/>
                <a:cs typeface="Calibri"/>
              </a:rPr>
              <a:t>EVIDENCE-BASED PROBLEM</a:t>
            </a:r>
          </a:p>
        </p:txBody>
      </p:sp>
      <p:sp>
        <p:nvSpPr>
          <p:cNvPr id="8" name="">
            <a:extLst xmlns:a="http://schemas.openxmlformats.org/drawingml/2006/main">
              <a:ext uri="{FF2B5EF4-FFF2-40B4-BE49-F238E27FC236}">
                <a16:creationId xmlns:a16="http://schemas.microsoft.com/office/drawing/2014/main" id="{11B17C8E-1B1D-4BAE-B2D1-FEC9FD7D7937}"/>
              </a:ext>
            </a:extLst>
          </p:cNvPr>
          <p:cNvSpPr>
            <a:spLocks xmlns:a="http://schemas.openxmlformats.org/drawingml/2006/main" noGrp="1"/>
          </p:cNvSpPr>
          <p:nvPr/>
        </p:nvSpPr>
        <p:spPr>
          <a:xfrm xmlns:a="http://schemas.openxmlformats.org/drawingml/2006/main">
            <a:off x="666750" y="3343275"/>
            <a:ext cx="4743450" cy="1504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500" b="0" i="0">
                <a:solidFill>
                  <a:srgbClr val="233248"/>
                </a:solidFill>
                <a:latin typeface="Calibri"/>
                <a:ea typeface="Calibri"/>
                <a:cs typeface="Calibri"/>
              </a:defRPr>
            </a:pPr>
            <a:r>
              <a:rPr sz="1500" b="0" i="0">
                <a:solidFill>
                  <a:srgbClr val="233248"/>
                </a:solidFill>
                <a:latin typeface="Calibri"/>
                <a:ea typeface="Calibri"/>
                <a:cs typeface="Calibri"/>
              </a:rPr>
              <a:t>At complex pickup locations, an app pin may identify the area without giving rider and driver a shared, workable meeting point. Observed impact: extra calls, waiting, movement, and delay.</a:t>
            </a:r>
          </a:p>
        </p:txBody>
      </p:sp>
      <p:sp>
        <p:nvSpPr>
          <p:cNvPr id="9" name="">
            <a:extLst xmlns:a="http://schemas.openxmlformats.org/drawingml/2006/main">
              <a:ext uri="{FF2B5EF4-FFF2-40B4-BE49-F238E27FC236}">
                <a16:creationId xmlns:a16="http://schemas.microsoft.com/office/drawing/2014/main" id="{5F25496F-8433-4D54-AD5B-FD9E2BDED8C6}"/>
              </a:ext>
            </a:extLst>
          </p:cNvPr>
          <p:cNvSpPr>
            <a:spLocks xmlns:a="http://schemas.openxmlformats.org/drawingml/2006/main" noGrp="1"/>
          </p:cNvSpPr>
          <p:nvPr/>
        </p:nvSpPr>
        <p:spPr>
          <a:xfrm xmlns:a="http://schemas.openxmlformats.org/drawingml/2006/main">
            <a:off x="5905500" y="2895600"/>
            <a:ext cx="5048250" cy="2057400"/>
          </a:xfrm>
          <a:prstGeom xmlns:a="http://schemas.openxmlformats.org/drawingml/2006/main" prst="roundRect">
            <a:avLst>
              <a:gd name="adj" fmla="val 2778"/>
            </a:avLst>
          </a:prstGeom>
          <a:solidFill xmlns:a="http://schemas.openxmlformats.org/drawingml/2006/main">
            <a:srgbClr val="E2F4F6"/>
          </a:solidFill>
          <a:ln xmlns:a="http://schemas.openxmlformats.org/drawingml/2006/main" w="9525">
            <a:solidFill>
              <a:srgbClr val="E8ECF1"/>
            </a:solidFill>
            <a:prstDash val="solid"/>
          </a:ln>
        </p:spPr>
      </p:sp>
      <p:sp>
        <p:nvSpPr>
          <p:cNvPr id="10" name="">
            <a:extLst xmlns:a="http://schemas.openxmlformats.org/drawingml/2006/main">
              <a:ext uri="{FF2B5EF4-FFF2-40B4-BE49-F238E27FC236}">
                <a16:creationId xmlns:a16="http://schemas.microsoft.com/office/drawing/2014/main" id="{A5870937-B32A-483A-A5A6-3FAF0131A3DF}"/>
              </a:ext>
            </a:extLst>
          </p:cNvPr>
          <p:cNvSpPr>
            <a:spLocks xmlns:a="http://schemas.openxmlformats.org/drawingml/2006/main" noGrp="1"/>
          </p:cNvSpPr>
          <p:nvPr/>
        </p:nvSpPr>
        <p:spPr>
          <a:xfrm xmlns:a="http://schemas.openxmlformats.org/drawingml/2006/main">
            <a:off x="6057900" y="3009900"/>
            <a:ext cx="4743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2D4672"/>
                </a:solidFill>
                <a:latin typeface="Calibri"/>
                <a:ea typeface="Calibri"/>
                <a:cs typeface="Calibri"/>
              </a:defRPr>
            </a:pPr>
            <a:r>
              <a:rPr sz="1275" b="1" i="0">
                <a:solidFill>
                  <a:srgbClr val="2D4672"/>
                </a:solidFill>
                <a:latin typeface="Calibri"/>
                <a:ea typeface="Calibri"/>
                <a:cs typeface="Calibri"/>
              </a:rPr>
              <a:t>WORKING JTBD · ASSUMPTION</a:t>
            </a:r>
          </a:p>
        </p:txBody>
      </p:sp>
      <p:sp>
        <p:nvSpPr>
          <p:cNvPr id="11" name="">
            <a:extLst xmlns:a="http://schemas.openxmlformats.org/drawingml/2006/main">
              <a:ext uri="{FF2B5EF4-FFF2-40B4-BE49-F238E27FC236}">
                <a16:creationId xmlns:a16="http://schemas.microsoft.com/office/drawing/2014/main" id="{EB6122D9-93C0-44D3-A258-917C0DDD20F5}"/>
              </a:ext>
            </a:extLst>
          </p:cNvPr>
          <p:cNvSpPr>
            <a:spLocks xmlns:a="http://schemas.openxmlformats.org/drawingml/2006/main" noGrp="1"/>
          </p:cNvSpPr>
          <p:nvPr/>
        </p:nvSpPr>
        <p:spPr>
          <a:xfrm xmlns:a="http://schemas.openxmlformats.org/drawingml/2006/main">
            <a:off x="6057900" y="3343275"/>
            <a:ext cx="4743450" cy="1504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500" b="0" i="0">
                <a:solidFill>
                  <a:srgbClr val="233248"/>
                </a:solidFill>
                <a:latin typeface="Calibri"/>
                <a:ea typeface="Calibri"/>
                <a:cs typeface="Calibri"/>
              </a:defRPr>
            </a:pPr>
            <a:r>
              <a:rPr sz="1500" b="0" i="0">
                <a:solidFill>
                  <a:srgbClr val="233248"/>
                </a:solidFill>
                <a:latin typeface="Calibri"/>
                <a:ea typeface="Calibri"/>
                <a:cs typeface="Calibri"/>
              </a:rPr>
              <a:t>When I am waiting at a complex pickup, help my driver and me agree on a legal, easy-to-recognize meeting point so the trip can start with less recovery effort.</a:t>
            </a:r>
          </a:p>
        </p:txBody>
      </p:sp>
      <p:sp>
        <p:nvSpPr>
          <p:cNvPr id="12" name="">
            <a:extLst xmlns:a="http://schemas.openxmlformats.org/drawingml/2006/main">
              <a:ext uri="{FF2B5EF4-FFF2-40B4-BE49-F238E27FC236}">
                <a16:creationId xmlns:a16="http://schemas.microsoft.com/office/drawing/2014/main" id="{7396272A-278A-4DB9-BC27-840E7FB69FE9}"/>
              </a:ext>
            </a:extLst>
          </p:cNvPr>
          <p:cNvSpPr>
            <a:spLocks xmlns:a="http://schemas.openxmlformats.org/drawingml/2006/main" noGrp="1"/>
          </p:cNvSpPr>
          <p:nvPr/>
        </p:nvSpPr>
        <p:spPr>
          <a:xfrm xmlns:a="http://schemas.openxmlformats.org/drawingml/2006/main">
            <a:off x="514350" y="5219700"/>
            <a:ext cx="10439400" cy="685800"/>
          </a:xfrm>
          <a:prstGeom xmlns:a="http://schemas.openxmlformats.org/drawingml/2006/main" prst="roundRect">
            <a:avLst>
              <a:gd name="adj" fmla="val 8333"/>
            </a:avLst>
          </a:prstGeom>
          <a:solidFill xmlns:a="http://schemas.openxmlformats.org/drawingml/2006/main">
            <a:srgbClr val="FBE7D8"/>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B2BC18B6-82E3-4B2B-B0AD-E42120B97C4D}"/>
              </a:ext>
            </a:extLst>
          </p:cNvPr>
          <p:cNvSpPr>
            <a:spLocks xmlns:a="http://schemas.openxmlformats.org/drawingml/2006/main" noGrp="1"/>
          </p:cNvSpPr>
          <p:nvPr/>
        </p:nvSpPr>
        <p:spPr>
          <a:xfrm xmlns:a="http://schemas.openxmlformats.org/drawingml/2006/main">
            <a:off x="704850" y="5372100"/>
            <a:ext cx="10058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0469"/>
          </a:bodyPr>
          <a:lstStyle xmlns:a="http://schemas.openxmlformats.org/drawingml/2006/main"/>
          <a:p xmlns:a="http://schemas.openxmlformats.org/drawingml/2006/main">
            <a:pPr algn="ctr">
              <a:defRPr sz="1350" b="1" i="0">
                <a:solidFill>
                  <a:srgbClr val="1B2B45"/>
                </a:solidFill>
                <a:latin typeface="Calibri"/>
                <a:ea typeface="Calibri"/>
                <a:cs typeface="Calibri"/>
              </a:defRPr>
            </a:pPr>
            <a:r>
              <a:rPr sz="1350" b="1" i="0">
                <a:solidFill>
                  <a:srgbClr val="1B2B45"/>
                </a:solidFill>
                <a:latin typeface="Calibri"/>
                <a:ea typeface="Calibri"/>
                <a:cs typeface="Calibri"/>
              </a:rPr>
              <a:t>Success direction: fewer reactive contacts and lower arrived-to-trip-start dwell. Driver and marketplace impact still requires validation.</a:t>
            </a:r>
          </a:p>
        </p:txBody>
      </p:sp>
      <p:sp>
        <p:nvSpPr>
          <p:cNvPr id="14" name="">
            <a:extLst xmlns:a="http://schemas.openxmlformats.org/drawingml/2006/main">
              <a:ext uri="{FF2B5EF4-FFF2-40B4-BE49-F238E27FC236}">
                <a16:creationId xmlns:a16="http://schemas.microsoft.com/office/drawing/2014/main" id="{172066C0-4946-4300-B9FB-9DE89AC89ED4}"/>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a:t>
            </a:r>
          </a:p>
        </p:txBody>
      </p:sp>
      <p:sp>
        <p:nvSpPr>
          <p:cNvPr id="15" name="">
            <a:extLst xmlns:a="http://schemas.openxmlformats.org/drawingml/2006/main">
              <a:ext uri="{FF2B5EF4-FFF2-40B4-BE49-F238E27FC236}">
                <a16:creationId xmlns:a16="http://schemas.microsoft.com/office/drawing/2014/main" id="{8C35E845-0F5D-4BD4-A149-91F8530518C5}"/>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5</a:t>
            </a:r>
          </a:p>
        </p:txBody>
      </p:sp>
    </p:spTree>
    <p:extLst>
      <p:ext uri="{BB962C8B-B14F-4D97-AF65-F5344CB8AC3E}">
        <p14:creationId xmlns:p14="http://schemas.microsoft.com/office/powerpoint/2010/main" val="2075291854"/>
      </p:ext>
    </p:extLst>
  </p:cSld>
</p:sld>
</file>

<file path=ppt/slides/slide6.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BD1F972-3103-41A1-B211-94C8930ADDB7}"/>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1.1 · KEY INTERVIEW QUESTIONS</a:t>
            </a:r>
          </a:p>
        </p:txBody>
      </p:sp>
      <p:sp>
        <p:nvSpPr>
          <p:cNvPr id="2" name="">
            <a:extLst xmlns:a="http://schemas.openxmlformats.org/drawingml/2006/main">
              <a:ext uri="{FF2B5EF4-FFF2-40B4-BE49-F238E27FC236}">
                <a16:creationId xmlns:a16="http://schemas.microsoft.com/office/drawing/2014/main" id="{02BC4A42-82E6-4592-8232-13CC11070C9B}"/>
              </a:ext>
            </a:extLst>
          </p:cNvPr>
          <p:cNvSpPr>
            <a:spLocks xmlns:a="http://schemas.openxmlformats.org/drawingml/2006/main" noGrp="1"/>
          </p:cNvSpPr>
          <p:nvPr/>
        </p:nvSpPr>
        <p:spPr>
          <a:xfrm xmlns:a="http://schemas.openxmlformats.org/drawingml/2006/main">
            <a:off x="514350" y="571500"/>
            <a:ext cx="11144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Ten questions adapted for the online instrument</a:t>
            </a:r>
          </a:p>
        </p:txBody>
      </p:sp>
      <p:sp>
        <p:nvSpPr>
          <p:cNvPr id="3" name="">
            <a:extLst xmlns:a="http://schemas.openxmlformats.org/drawingml/2006/main">
              <a:ext uri="{FF2B5EF4-FFF2-40B4-BE49-F238E27FC236}">
                <a16:creationId xmlns:a16="http://schemas.microsoft.com/office/drawing/2014/main" id="{65384DB4-B97B-4440-A7A3-7F9CD800E2C2}"/>
              </a:ext>
            </a:extLst>
          </p:cNvPr>
          <p:cNvSpPr>
            <a:spLocks xmlns:a="http://schemas.openxmlformats.org/drawingml/2006/main" noGrp="1"/>
          </p:cNvSpPr>
          <p:nvPr/>
        </p:nvSpPr>
        <p:spPr>
          <a:xfrm xmlns:a="http://schemas.openxmlformats.org/drawingml/2006/main">
            <a:off x="514350" y="1057275"/>
            <a:ext cx="1085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350" b="0" i="0">
                <a:solidFill>
                  <a:srgbClr val="687489"/>
                </a:solidFill>
                <a:latin typeface="Calibri"/>
                <a:ea typeface="Calibri"/>
                <a:cs typeface="Calibri"/>
              </a:defRPr>
            </a:pPr>
            <a:r>
              <a:rPr sz="1350" b="0" i="0">
                <a:solidFill>
                  <a:srgbClr val="687489"/>
                </a:solidFill>
                <a:latin typeface="Calibri"/>
                <a:ea typeface="Calibri"/>
                <a:cs typeface="Calibri"/>
              </a:rPr>
              <a:t>Required interview prompts used asynchronously; no live follow-up or probing.</a:t>
            </a:r>
          </a:p>
        </p:txBody>
      </p:sp>
      <p:sp>
        <p:nvSpPr>
          <p:cNvPr id="4" name="">
            <a:extLst xmlns:a="http://schemas.openxmlformats.org/drawingml/2006/main">
              <a:ext uri="{FF2B5EF4-FFF2-40B4-BE49-F238E27FC236}">
                <a16:creationId xmlns:a16="http://schemas.microsoft.com/office/drawing/2014/main" id="{09D4D540-B374-4825-9358-BB0B6AEB9BA2}"/>
              </a:ext>
            </a:extLst>
          </p:cNvPr>
          <p:cNvSpPr>
            <a:spLocks xmlns:a="http://schemas.openxmlformats.org/drawingml/2006/main" noGrp="1"/>
          </p:cNvSpPr>
          <p:nvPr/>
        </p:nvSpPr>
        <p:spPr>
          <a:xfrm xmlns:a="http://schemas.openxmlformats.org/drawingml/2006/main">
            <a:off x="514350" y="1676400"/>
            <a:ext cx="10439400" cy="3771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38100" rIns="38100" bIns="38100">
            <a:normAutofit fontScale="100000"/>
          </a:bodyPr>
          <a:lstStyle xmlns:a="http://schemas.openxmlformats.org/drawingml/2006/main"/>
          <a:p xmlns:a="http://schemas.openxmlformats.org/drawingml/2006/main">
            <a:pPr marL="228600" indent="-114300">
              <a:spcAft>
                <a:spcPts val="500"/>
              </a:spcAft>
              <a:buChar char="•"/>
              <a:defRPr sz="1275">
                <a:solidFill>
                  <a:srgbClr val="233248"/>
                </a:solidFill>
                <a:latin typeface="Calibri"/>
                <a:ea typeface="Calibri"/>
                <a:cs typeface="Calibri"/>
              </a:defRPr>
            </a:pPr>
            <a:r>
              <a:rPr sz="1275">
                <a:solidFill>
                  <a:srgbClr val="233248"/>
                </a:solidFill>
                <a:latin typeface="Calibri"/>
                <a:ea typeface="Calibri"/>
                <a:cs typeface="Calibri"/>
              </a:rPr>
              <a:t>Tell me about the last time you had difficulty finding your ride after booking it.</a:t>
            </a:r>
          </a:p>
          <a:p xmlns:a="http://schemas.openxmlformats.org/drawingml/2006/main">
            <a:pPr marL="228600" indent="-114300">
              <a:spcAft>
                <a:spcPts val="500"/>
              </a:spcAft>
              <a:buChar char="•"/>
              <a:defRPr sz="1275">
                <a:solidFill>
                  <a:srgbClr val="233248"/>
                </a:solidFill>
                <a:latin typeface="Calibri"/>
                <a:ea typeface="Calibri"/>
                <a:cs typeface="Calibri"/>
              </a:defRPr>
            </a:pPr>
            <a:r>
              <a:rPr sz="1275">
                <a:solidFill>
                  <a:srgbClr val="233248"/>
                </a:solidFill>
                <a:latin typeface="Calibri"/>
                <a:ea typeface="Calibri"/>
                <a:cs typeface="Calibri"/>
              </a:rPr>
              <a:t>Where were you, and what did the app tell you?</a:t>
            </a:r>
          </a:p>
          <a:p xmlns:a="http://schemas.openxmlformats.org/drawingml/2006/main">
            <a:pPr marL="228600" indent="-114300">
              <a:spcAft>
                <a:spcPts val="500"/>
              </a:spcAft>
              <a:buChar char="•"/>
              <a:defRPr sz="1275">
                <a:solidFill>
                  <a:srgbClr val="233248"/>
                </a:solidFill>
                <a:latin typeface="Calibri"/>
                <a:ea typeface="Calibri"/>
                <a:cs typeface="Calibri"/>
              </a:defRPr>
            </a:pPr>
            <a:r>
              <a:rPr sz="1275">
                <a:solidFill>
                  <a:srgbClr val="233248"/>
                </a:solidFill>
                <a:latin typeface="Calibri"/>
                <a:ea typeface="Calibri"/>
                <a:cs typeface="Calibri"/>
              </a:rPr>
              <a:t>When did you first realize the pickup might not work as expected?</a:t>
            </a:r>
          </a:p>
          <a:p xmlns:a="http://schemas.openxmlformats.org/drawingml/2006/main">
            <a:pPr marL="228600" indent="-114300">
              <a:spcAft>
                <a:spcPts val="500"/>
              </a:spcAft>
              <a:buChar char="•"/>
              <a:defRPr sz="1275">
                <a:solidFill>
                  <a:srgbClr val="233248"/>
                </a:solidFill>
                <a:latin typeface="Calibri"/>
                <a:ea typeface="Calibri"/>
                <a:cs typeface="Calibri"/>
              </a:defRPr>
            </a:pPr>
            <a:r>
              <a:rPr sz="1275">
                <a:solidFill>
                  <a:srgbClr val="233248"/>
                </a:solidFill>
                <a:latin typeface="Calibri"/>
                <a:ea typeface="Calibri"/>
                <a:cs typeface="Calibri"/>
              </a:rPr>
              <a:t>What made the rider and driver difficult to locate or identify?</a:t>
            </a:r>
          </a:p>
          <a:p xmlns:a="http://schemas.openxmlformats.org/drawingml/2006/main">
            <a:pPr marL="228600" indent="-114300">
              <a:spcAft>
                <a:spcPts val="500"/>
              </a:spcAft>
              <a:buChar char="•"/>
              <a:defRPr sz="1275">
                <a:solidFill>
                  <a:srgbClr val="233248"/>
                </a:solidFill>
                <a:latin typeface="Calibri"/>
                <a:ea typeface="Calibri"/>
                <a:cs typeface="Calibri"/>
              </a:defRPr>
            </a:pPr>
            <a:r>
              <a:rPr sz="1275">
                <a:solidFill>
                  <a:srgbClr val="233248"/>
                </a:solidFill>
                <a:latin typeface="Calibri"/>
                <a:ea typeface="Calibri"/>
                <a:cs typeface="Calibri"/>
              </a:rPr>
              <a:t>What did you do next: call, message, move, wait, cancel, or seek help?</a:t>
            </a:r>
          </a:p>
          <a:p xmlns:a="http://schemas.openxmlformats.org/drawingml/2006/main">
            <a:pPr marL="228600" indent="-114300">
              <a:spcAft>
                <a:spcPts val="500"/>
              </a:spcAft>
              <a:buChar char="•"/>
              <a:defRPr sz="1275">
                <a:solidFill>
                  <a:srgbClr val="233248"/>
                </a:solidFill>
                <a:latin typeface="Calibri"/>
                <a:ea typeface="Calibri"/>
                <a:cs typeface="Calibri"/>
              </a:defRPr>
            </a:pPr>
            <a:r>
              <a:rPr sz="1275">
                <a:solidFill>
                  <a:srgbClr val="233248"/>
                </a:solidFill>
                <a:latin typeface="Calibri"/>
                <a:ea typeface="Calibri"/>
                <a:cs typeface="Calibri"/>
              </a:rPr>
              <a:t>How much extra time or effort did the situation require?</a:t>
            </a:r>
          </a:p>
          <a:p xmlns:a="http://schemas.openxmlformats.org/drawingml/2006/main">
            <a:pPr marL="228600" indent="-114300">
              <a:spcAft>
                <a:spcPts val="500"/>
              </a:spcAft>
              <a:buChar char="•"/>
              <a:defRPr sz="1275">
                <a:solidFill>
                  <a:srgbClr val="233248"/>
                </a:solidFill>
                <a:latin typeface="Calibri"/>
                <a:ea typeface="Calibri"/>
                <a:cs typeface="Calibri"/>
              </a:defRPr>
            </a:pPr>
            <a:r>
              <a:rPr sz="1275">
                <a:solidFill>
                  <a:srgbClr val="233248"/>
                </a:solidFill>
                <a:latin typeface="Calibri"/>
                <a:ea typeface="Calibri"/>
                <a:cs typeface="Calibri"/>
              </a:rPr>
              <a:t>What finally helped, if anything?</a:t>
            </a:r>
          </a:p>
          <a:p xmlns:a="http://schemas.openxmlformats.org/drawingml/2006/main">
            <a:pPr marL="228600" indent="-114300">
              <a:spcAft>
                <a:spcPts val="500"/>
              </a:spcAft>
              <a:buChar char="•"/>
              <a:defRPr sz="1275">
                <a:solidFill>
                  <a:srgbClr val="233248"/>
                </a:solidFill>
                <a:latin typeface="Calibri"/>
                <a:ea typeface="Calibri"/>
                <a:cs typeface="Calibri"/>
              </a:defRPr>
            </a:pPr>
            <a:r>
              <a:rPr sz="1275">
                <a:solidFill>
                  <a:srgbClr val="233248"/>
                </a:solidFill>
                <a:latin typeface="Calibri"/>
                <a:ea typeface="Calibri"/>
                <a:cs typeface="Calibri"/>
              </a:rPr>
              <a:t>Has the same problem happened at other locations?</a:t>
            </a:r>
          </a:p>
          <a:p xmlns:a="http://schemas.openxmlformats.org/drawingml/2006/main">
            <a:pPr marL="228600" indent="-114300">
              <a:spcAft>
                <a:spcPts val="500"/>
              </a:spcAft>
              <a:buChar char="•"/>
              <a:defRPr sz="1275">
                <a:solidFill>
                  <a:srgbClr val="233248"/>
                </a:solidFill>
                <a:latin typeface="Calibri"/>
                <a:ea typeface="Calibri"/>
                <a:cs typeface="Calibri"/>
              </a:defRPr>
            </a:pPr>
            <a:r>
              <a:rPr sz="1275">
                <a:solidFill>
                  <a:srgbClr val="233248"/>
                </a:solidFill>
                <a:latin typeface="Calibri"/>
                <a:ea typeface="Calibri"/>
                <a:cs typeface="Calibri"/>
              </a:rPr>
              <a:t>What information or support was missing at the most frustrating moment?</a:t>
            </a:r>
          </a:p>
          <a:p xmlns:a="http://schemas.openxmlformats.org/drawingml/2006/main">
            <a:pPr marL="228600" indent="-114300">
              <a:spcAft>
                <a:spcPts val="500"/>
              </a:spcAft>
              <a:buChar char="•"/>
              <a:defRPr sz="1275">
                <a:solidFill>
                  <a:srgbClr val="233248"/>
                </a:solidFill>
                <a:latin typeface="Calibri"/>
                <a:ea typeface="Calibri"/>
                <a:cs typeface="Calibri"/>
              </a:defRPr>
            </a:pPr>
            <a:r>
              <a:rPr sz="1275">
                <a:solidFill>
                  <a:srgbClr val="233248"/>
                </a:solidFill>
                <a:latin typeface="Calibri"/>
                <a:ea typeface="Calibri"/>
                <a:cs typeface="Calibri"/>
              </a:rPr>
              <a:t>For drivers: what prevented you from reaching the pin or identifying the rider?</a:t>
            </a:r>
          </a:p>
        </p:txBody>
      </p:sp>
      <p:sp>
        <p:nvSpPr>
          <p:cNvPr id="5" name="">
            <a:extLst xmlns:a="http://schemas.openxmlformats.org/drawingml/2006/main">
              <a:ext uri="{FF2B5EF4-FFF2-40B4-BE49-F238E27FC236}">
                <a16:creationId xmlns:a16="http://schemas.microsoft.com/office/drawing/2014/main" id="{964D2287-D958-492C-9750-9A1C981E2B52}"/>
              </a:ext>
            </a:extLst>
          </p:cNvPr>
          <p:cNvSpPr>
            <a:spLocks xmlns:a="http://schemas.openxmlformats.org/drawingml/2006/main" noGrp="1"/>
          </p:cNvSpPr>
          <p:nvPr/>
        </p:nvSpPr>
        <p:spPr>
          <a:xfrm xmlns:a="http://schemas.openxmlformats.org/drawingml/2006/main">
            <a:off x="514350" y="5524500"/>
            <a:ext cx="10439400" cy="590550"/>
          </a:xfrm>
          <a:prstGeom xmlns:a="http://schemas.openxmlformats.org/drawingml/2006/main" prst="roundRect">
            <a:avLst>
              <a:gd name="adj" fmla="val 9677"/>
            </a:avLst>
          </a:prstGeom>
          <a:solidFill xmlns:a="http://schemas.openxmlformats.org/drawingml/2006/main">
            <a:srgbClr val="FBE7D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A9F437A6-F044-4FF5-95EE-CDE1BB335AAB}"/>
              </a:ext>
            </a:extLst>
          </p:cNvPr>
          <p:cNvSpPr>
            <a:spLocks xmlns:a="http://schemas.openxmlformats.org/drawingml/2006/main" noGrp="1"/>
          </p:cNvSpPr>
          <p:nvPr/>
        </p:nvSpPr>
        <p:spPr>
          <a:xfrm xmlns:a="http://schemas.openxmlformats.org/drawingml/2006/main">
            <a:off x="704850" y="5657850"/>
            <a:ext cx="10048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ctr">
              <a:defRPr sz="1275" b="0" i="0">
                <a:solidFill>
                  <a:srgbClr val="233248"/>
                </a:solidFill>
                <a:latin typeface="Calibri"/>
                <a:ea typeface="Calibri"/>
                <a:cs typeface="Calibri"/>
              </a:defRPr>
            </a:pPr>
            <a:r>
              <a:rPr sz="1275" b="0" i="0">
                <a:solidFill>
                  <a:srgbClr val="233248"/>
                </a:solidFill>
                <a:latin typeface="Calibri"/>
                <a:ea typeface="Calibri"/>
                <a:cs typeface="Calibri"/>
              </a:rPr>
              <a:t>Method boundary: the form could not probe vague answers or ask a live follow-up.</a:t>
            </a:r>
          </a:p>
        </p:txBody>
      </p:sp>
      <p:sp>
        <p:nvSpPr>
          <p:cNvPr id="7" name="">
            <a:extLst xmlns:a="http://schemas.openxmlformats.org/drawingml/2006/main">
              <a:ext uri="{FF2B5EF4-FFF2-40B4-BE49-F238E27FC236}">
                <a16:creationId xmlns:a16="http://schemas.microsoft.com/office/drawing/2014/main" id="{E2AD1F6F-7340-40A6-92FE-E0F60819BB1E}"/>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a:t>
            </a:r>
          </a:p>
        </p:txBody>
      </p:sp>
      <p:sp>
        <p:nvSpPr>
          <p:cNvPr id="8" name="">
            <a:extLst xmlns:a="http://schemas.openxmlformats.org/drawingml/2006/main">
              <a:ext uri="{FF2B5EF4-FFF2-40B4-BE49-F238E27FC236}">
                <a16:creationId xmlns:a16="http://schemas.microsoft.com/office/drawing/2014/main" id="{D29D767E-6A4E-4994-92CB-B9A30E403B54}"/>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6</a:t>
            </a:r>
          </a:p>
        </p:txBody>
      </p:sp>
    </p:spTree>
    <p:extLst>
      <p:ext uri="{BB962C8B-B14F-4D97-AF65-F5344CB8AC3E}">
        <p14:creationId xmlns:p14="http://schemas.microsoft.com/office/powerpoint/2010/main" val="325642891"/>
      </p:ext>
    </p:extLst>
  </p:cSld>
</p:sld>
</file>

<file path=ppt/slides/slide7.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43F54C5B-EC07-40B6-BB82-9991E6201D08}"/>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2 · TOP 10 MOST RELEVANT INSIGHTS</a:t>
            </a:r>
          </a:p>
        </p:txBody>
      </p:sp>
      <p:sp>
        <p:nvSpPr>
          <p:cNvPr id="2" name="">
            <a:extLst xmlns:a="http://schemas.openxmlformats.org/drawingml/2006/main">
              <a:ext uri="{FF2B5EF4-FFF2-40B4-BE49-F238E27FC236}">
                <a16:creationId xmlns:a16="http://schemas.microsoft.com/office/drawing/2014/main" id="{8BE4EF4D-F780-4BA4-AAC4-538CA32002C6}"/>
              </a:ext>
            </a:extLst>
          </p:cNvPr>
          <p:cNvSpPr>
            <a:spLocks xmlns:a="http://schemas.openxmlformats.org/drawingml/2006/main" noGrp="1"/>
          </p:cNvSpPr>
          <p:nvPr/>
        </p:nvSpPr>
        <p:spPr>
          <a:xfrm xmlns:a="http://schemas.openxmlformats.org/drawingml/2006/main">
            <a:off x="514350" y="571500"/>
            <a:ext cx="11144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551"/>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Not everyone's problem — but a real, recurring one for affected respondents</a:t>
            </a:r>
          </a:p>
        </p:txBody>
      </p:sp>
      <p:sp>
        <p:nvSpPr>
          <p:cNvPr id="3" name="">
            <a:extLst xmlns:a="http://schemas.openxmlformats.org/drawingml/2006/main">
              <a:ext uri="{FF2B5EF4-FFF2-40B4-BE49-F238E27FC236}">
                <a16:creationId xmlns:a16="http://schemas.microsoft.com/office/drawing/2014/main" id="{92F12F77-EF9A-49EA-B034-CAC0D15A52A8}"/>
              </a:ext>
            </a:extLst>
          </p:cNvPr>
          <p:cNvSpPr>
            <a:spLocks xmlns:a="http://schemas.openxmlformats.org/drawingml/2006/main" noGrp="1"/>
          </p:cNvSpPr>
          <p:nvPr/>
        </p:nvSpPr>
        <p:spPr>
          <a:xfrm xmlns:a="http://schemas.openxmlformats.org/drawingml/2006/main">
            <a:off x="514350" y="1057275"/>
            <a:ext cx="1085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350" b="0" i="0">
                <a:solidFill>
                  <a:srgbClr val="687489"/>
                </a:solidFill>
                <a:latin typeface="Calibri"/>
                <a:ea typeface="Calibri"/>
                <a:cs typeface="Calibri"/>
              </a:defRPr>
            </a:pPr>
            <a:r>
              <a:rPr sz="1350" b="0" i="0">
                <a:solidFill>
                  <a:srgbClr val="687489"/>
                </a:solidFill>
                <a:latin typeface="Calibri"/>
                <a:ea typeface="Calibri"/>
                <a:cs typeface="Calibri"/>
              </a:rPr>
              <a:t>Headline signals and a direct quote; the complete ten insights appear in the appendix.</a:t>
            </a:r>
          </a:p>
        </p:txBody>
      </p:sp>
      <p:sp>
        <p:nvSpPr>
          <p:cNvPr id="4" name="">
            <a:extLst xmlns:a="http://schemas.openxmlformats.org/drawingml/2006/main">
              <a:ext uri="{FF2B5EF4-FFF2-40B4-BE49-F238E27FC236}">
                <a16:creationId xmlns:a16="http://schemas.microsoft.com/office/drawing/2014/main" id="{6BD27624-81B5-4EF2-8806-796E838A061F}"/>
              </a:ext>
            </a:extLst>
          </p:cNvPr>
          <p:cNvSpPr>
            <a:spLocks xmlns:a="http://schemas.openxmlformats.org/drawingml/2006/main" noGrp="1"/>
          </p:cNvSpPr>
          <p:nvPr/>
        </p:nvSpPr>
        <p:spPr>
          <a:xfrm xmlns:a="http://schemas.openxmlformats.org/drawingml/2006/main">
            <a:off x="514350" y="1657350"/>
            <a:ext cx="2362200" cy="1123950"/>
          </a:xfrm>
          <a:prstGeom xmlns:a="http://schemas.openxmlformats.org/drawingml/2006/main" prst="roundRect">
            <a:avLst>
              <a:gd name="adj" fmla="val 6780"/>
            </a:avLst>
          </a:prstGeom>
          <a:solidFill xmlns:a="http://schemas.openxmlformats.org/drawingml/2006/main">
            <a:srgbClr val="2D4672"/>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05F529D6-4626-4C1C-96B3-4E432935C5CE}"/>
              </a:ext>
            </a:extLst>
          </p:cNvPr>
          <p:cNvSpPr>
            <a:spLocks xmlns:a="http://schemas.openxmlformats.org/drawingml/2006/main" noGrp="1"/>
          </p:cNvSpPr>
          <p:nvPr/>
        </p:nvSpPr>
        <p:spPr>
          <a:xfrm xmlns:a="http://schemas.openxmlformats.org/drawingml/2006/main">
            <a:off x="666750" y="1790700"/>
            <a:ext cx="2057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475" b="1" i="0">
                <a:solidFill>
                  <a:srgbClr val="FFFFFF"/>
                </a:solidFill>
                <a:latin typeface="Calibri"/>
                <a:ea typeface="Calibri"/>
                <a:cs typeface="Calibri"/>
              </a:defRPr>
            </a:pPr>
            <a:r>
              <a:rPr sz="2475" b="1" i="0">
                <a:solidFill>
                  <a:srgbClr val="FFFFFF"/>
                </a:solidFill>
                <a:latin typeface="Calibri"/>
                <a:ea typeface="Calibri"/>
                <a:cs typeface="Calibri"/>
              </a:rPr>
              <a:t>47.1%</a:t>
            </a:r>
          </a:p>
        </p:txBody>
      </p:sp>
      <p:sp>
        <p:nvSpPr>
          <p:cNvPr id="6" name="">
            <a:extLst xmlns:a="http://schemas.openxmlformats.org/drawingml/2006/main">
              <a:ext uri="{FF2B5EF4-FFF2-40B4-BE49-F238E27FC236}">
                <a16:creationId xmlns:a16="http://schemas.microsoft.com/office/drawing/2014/main" id="{0645E4D6-1E15-43B7-BEB8-A72CB22B323E}"/>
              </a:ext>
            </a:extLst>
          </p:cNvPr>
          <p:cNvSpPr>
            <a:spLocks xmlns:a="http://schemas.openxmlformats.org/drawingml/2006/main" noGrp="1"/>
          </p:cNvSpPr>
          <p:nvPr/>
        </p:nvSpPr>
        <p:spPr>
          <a:xfrm xmlns:a="http://schemas.openxmlformats.org/drawingml/2006/main">
            <a:off x="666750" y="2305050"/>
            <a:ext cx="2057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72917"/>
          </a:bodyPr>
          <a:lstStyle xmlns:a="http://schemas.openxmlformats.org/drawingml/2006/main"/>
          <a:p xmlns:a="http://schemas.openxmlformats.org/drawingml/2006/main">
            <a:pPr algn="l">
              <a:defRPr sz="1200" b="0" i="0">
                <a:solidFill>
                  <a:srgbClr val="FFFFFF"/>
                </a:solidFill>
                <a:latin typeface="Calibri"/>
                <a:ea typeface="Calibri"/>
                <a:cs typeface="Calibri"/>
              </a:defRPr>
            </a:pPr>
            <a:r>
              <a:rPr sz="1200" b="0" i="0">
                <a:solidFill>
                  <a:srgbClr val="FFFFFF"/>
                </a:solidFill>
                <a:latin typeface="Calibri"/>
                <a:ea typeface="Calibri"/>
                <a:cs typeface="Calibri"/>
              </a:rPr>
              <a:t>24 of 51 recent users reported difficulty or uncertainty</a:t>
            </a:r>
          </a:p>
        </p:txBody>
      </p:sp>
      <p:sp>
        <p:nvSpPr>
          <p:cNvPr id="7" name="">
            <a:extLst xmlns:a="http://schemas.openxmlformats.org/drawingml/2006/main">
              <a:ext uri="{FF2B5EF4-FFF2-40B4-BE49-F238E27FC236}">
                <a16:creationId xmlns:a16="http://schemas.microsoft.com/office/drawing/2014/main" id="{CD19FC30-1E54-48D9-A73F-868A308E3259}"/>
              </a:ext>
            </a:extLst>
          </p:cNvPr>
          <p:cNvSpPr>
            <a:spLocks xmlns:a="http://schemas.openxmlformats.org/drawingml/2006/main" noGrp="1"/>
          </p:cNvSpPr>
          <p:nvPr/>
        </p:nvSpPr>
        <p:spPr>
          <a:xfrm xmlns:a="http://schemas.openxmlformats.org/drawingml/2006/main">
            <a:off x="3067050" y="1657350"/>
            <a:ext cx="2362200" cy="1123950"/>
          </a:xfrm>
          <a:prstGeom xmlns:a="http://schemas.openxmlformats.org/drawingml/2006/main" prst="roundRect">
            <a:avLst>
              <a:gd name="adj" fmla="val 6780"/>
            </a:avLst>
          </a:prstGeom>
          <a:solidFill xmlns:a="http://schemas.openxmlformats.org/drawingml/2006/main">
            <a:srgbClr val="1BB5C8"/>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C3B887D5-6716-4ABE-9C60-3D97D980D779}"/>
              </a:ext>
            </a:extLst>
          </p:cNvPr>
          <p:cNvSpPr>
            <a:spLocks xmlns:a="http://schemas.openxmlformats.org/drawingml/2006/main" noGrp="1"/>
          </p:cNvSpPr>
          <p:nvPr/>
        </p:nvSpPr>
        <p:spPr>
          <a:xfrm xmlns:a="http://schemas.openxmlformats.org/drawingml/2006/main">
            <a:off x="3219450" y="1790700"/>
            <a:ext cx="2057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475" b="1" i="0">
                <a:solidFill>
                  <a:srgbClr val="FFFFFF"/>
                </a:solidFill>
                <a:latin typeface="Calibri"/>
                <a:ea typeface="Calibri"/>
                <a:cs typeface="Calibri"/>
              </a:defRPr>
            </a:pPr>
            <a:r>
              <a:rPr sz="2475" b="1" i="0">
                <a:solidFill>
                  <a:srgbClr val="FFFFFF"/>
                </a:solidFill>
                <a:latin typeface="Calibri"/>
                <a:ea typeface="Calibri"/>
                <a:cs typeface="Calibri"/>
              </a:rPr>
              <a:t>82.1%</a:t>
            </a:r>
          </a:p>
        </p:txBody>
      </p:sp>
      <p:sp>
        <p:nvSpPr>
          <p:cNvPr id="9" name="">
            <a:extLst xmlns:a="http://schemas.openxmlformats.org/drawingml/2006/main">
              <a:ext uri="{FF2B5EF4-FFF2-40B4-BE49-F238E27FC236}">
                <a16:creationId xmlns:a16="http://schemas.microsoft.com/office/drawing/2014/main" id="{D3C536A2-2206-49A2-87E9-D97ACA206AB2}"/>
              </a:ext>
            </a:extLst>
          </p:cNvPr>
          <p:cNvSpPr>
            <a:spLocks xmlns:a="http://schemas.openxmlformats.org/drawingml/2006/main" noGrp="1"/>
          </p:cNvSpPr>
          <p:nvPr/>
        </p:nvSpPr>
        <p:spPr>
          <a:xfrm xmlns:a="http://schemas.openxmlformats.org/drawingml/2006/main">
            <a:off x="3219450" y="2305050"/>
            <a:ext cx="2057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72917"/>
          </a:bodyPr>
          <a:lstStyle xmlns:a="http://schemas.openxmlformats.org/drawingml/2006/main"/>
          <a:p xmlns:a="http://schemas.openxmlformats.org/drawingml/2006/main">
            <a:pPr algn="l">
              <a:defRPr sz="1200" b="0" i="0">
                <a:solidFill>
                  <a:srgbClr val="FFFFFF"/>
                </a:solidFill>
                <a:latin typeface="Calibri"/>
                <a:ea typeface="Calibri"/>
                <a:cs typeface="Calibri"/>
              </a:defRPr>
            </a:pPr>
            <a:r>
              <a:rPr sz="1200" b="0" i="0">
                <a:solidFill>
                  <a:srgbClr val="FFFFFF"/>
                </a:solidFill>
                <a:latin typeface="Calibri"/>
                <a:ea typeface="Calibri"/>
                <a:cs typeface="Calibri"/>
              </a:rPr>
              <a:t>23 of 28 issue cases said it happened before</a:t>
            </a:r>
          </a:p>
        </p:txBody>
      </p:sp>
      <p:sp>
        <p:nvSpPr>
          <p:cNvPr id="10" name="">
            <a:extLst xmlns:a="http://schemas.openxmlformats.org/drawingml/2006/main">
              <a:ext uri="{FF2B5EF4-FFF2-40B4-BE49-F238E27FC236}">
                <a16:creationId xmlns:a16="http://schemas.microsoft.com/office/drawing/2014/main" id="{CABD1A65-5DFE-4FAD-9A3E-7A5FCB5FF86A}"/>
              </a:ext>
            </a:extLst>
          </p:cNvPr>
          <p:cNvSpPr>
            <a:spLocks xmlns:a="http://schemas.openxmlformats.org/drawingml/2006/main" noGrp="1"/>
          </p:cNvSpPr>
          <p:nvPr/>
        </p:nvSpPr>
        <p:spPr>
          <a:xfrm xmlns:a="http://schemas.openxmlformats.org/drawingml/2006/main">
            <a:off x="5619750" y="1657350"/>
            <a:ext cx="2362200" cy="1123950"/>
          </a:xfrm>
          <a:prstGeom xmlns:a="http://schemas.openxmlformats.org/drawingml/2006/main" prst="roundRect">
            <a:avLst>
              <a:gd name="adj" fmla="val 6780"/>
            </a:avLst>
          </a:prstGeom>
          <a:solidFill xmlns:a="http://schemas.openxmlformats.org/drawingml/2006/main">
            <a:srgbClr val="2D4672"/>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B74301F8-DA82-41E1-886A-A02E4E80BF38}"/>
              </a:ext>
            </a:extLst>
          </p:cNvPr>
          <p:cNvSpPr>
            <a:spLocks xmlns:a="http://schemas.openxmlformats.org/drawingml/2006/main" noGrp="1"/>
          </p:cNvSpPr>
          <p:nvPr/>
        </p:nvSpPr>
        <p:spPr>
          <a:xfrm xmlns:a="http://schemas.openxmlformats.org/drawingml/2006/main">
            <a:off x="5772150" y="1790700"/>
            <a:ext cx="2057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475" b="1" i="0">
                <a:solidFill>
                  <a:srgbClr val="FFFFFF"/>
                </a:solidFill>
                <a:latin typeface="Calibri"/>
                <a:ea typeface="Calibri"/>
                <a:cs typeface="Calibri"/>
              </a:defRPr>
            </a:pPr>
            <a:r>
              <a:rPr sz="2475" b="1" i="0">
                <a:solidFill>
                  <a:srgbClr val="FFFFFF"/>
                </a:solidFill>
                <a:latin typeface="Calibri"/>
                <a:ea typeface="Calibri"/>
                <a:cs typeface="Calibri"/>
              </a:rPr>
              <a:t>20 / 28</a:t>
            </a:r>
          </a:p>
        </p:txBody>
      </p:sp>
      <p:sp>
        <p:nvSpPr>
          <p:cNvPr id="12" name="">
            <a:extLst xmlns:a="http://schemas.openxmlformats.org/drawingml/2006/main">
              <a:ext uri="{FF2B5EF4-FFF2-40B4-BE49-F238E27FC236}">
                <a16:creationId xmlns:a16="http://schemas.microsoft.com/office/drawing/2014/main" id="{76CDBC53-D54A-40F7-BC37-C402A7C631CB}"/>
              </a:ext>
            </a:extLst>
          </p:cNvPr>
          <p:cNvSpPr>
            <a:spLocks xmlns:a="http://schemas.openxmlformats.org/drawingml/2006/main" noGrp="1"/>
          </p:cNvSpPr>
          <p:nvPr/>
        </p:nvSpPr>
        <p:spPr>
          <a:xfrm xmlns:a="http://schemas.openxmlformats.org/drawingml/2006/main">
            <a:off x="5772150" y="2305050"/>
            <a:ext cx="2057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6903"/>
          </a:bodyPr>
          <a:lstStyle xmlns:a="http://schemas.openxmlformats.org/drawingml/2006/main"/>
          <a:p xmlns:a="http://schemas.openxmlformats.org/drawingml/2006/main">
            <a:pPr algn="l">
              <a:defRPr sz="1200" b="0" i="0">
                <a:solidFill>
                  <a:srgbClr val="FFFFFF"/>
                </a:solidFill>
                <a:latin typeface="Calibri"/>
                <a:ea typeface="Calibri"/>
                <a:cs typeface="Calibri"/>
              </a:defRPr>
            </a:pPr>
            <a:r>
              <a:rPr sz="1200" b="0" i="0">
                <a:solidFill>
                  <a:srgbClr val="FFFFFF"/>
                </a:solidFill>
                <a:latin typeface="Calibri"/>
                <a:ea typeface="Calibri"/>
                <a:cs typeface="Calibri"/>
              </a:rPr>
              <a:t>said calling or messaging helped</a:t>
            </a:r>
          </a:p>
        </p:txBody>
      </p:sp>
      <p:sp>
        <p:nvSpPr>
          <p:cNvPr id="13" name="">
            <a:extLst xmlns:a="http://schemas.openxmlformats.org/drawingml/2006/main">
              <a:ext uri="{FF2B5EF4-FFF2-40B4-BE49-F238E27FC236}">
                <a16:creationId xmlns:a16="http://schemas.microsoft.com/office/drawing/2014/main" id="{2F9B31DE-3C30-4839-A179-C4C804BD970F}"/>
              </a:ext>
            </a:extLst>
          </p:cNvPr>
          <p:cNvSpPr>
            <a:spLocks xmlns:a="http://schemas.openxmlformats.org/drawingml/2006/main" noGrp="1"/>
          </p:cNvSpPr>
          <p:nvPr/>
        </p:nvSpPr>
        <p:spPr>
          <a:xfrm xmlns:a="http://schemas.openxmlformats.org/drawingml/2006/main">
            <a:off x="8172450" y="1657350"/>
            <a:ext cx="2362200" cy="1123950"/>
          </a:xfrm>
          <a:prstGeom xmlns:a="http://schemas.openxmlformats.org/drawingml/2006/main" prst="roundRect">
            <a:avLst>
              <a:gd name="adj" fmla="val 6780"/>
            </a:avLst>
          </a:prstGeom>
          <a:solidFill xmlns:a="http://schemas.openxmlformats.org/drawingml/2006/main">
            <a:srgbClr val="F47A22"/>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E4B7EFEF-C339-4C30-9CA0-C2B070C563BE}"/>
              </a:ext>
            </a:extLst>
          </p:cNvPr>
          <p:cNvSpPr>
            <a:spLocks xmlns:a="http://schemas.openxmlformats.org/drawingml/2006/main" noGrp="1"/>
          </p:cNvSpPr>
          <p:nvPr/>
        </p:nvSpPr>
        <p:spPr>
          <a:xfrm xmlns:a="http://schemas.openxmlformats.org/drawingml/2006/main">
            <a:off x="8324850" y="1790700"/>
            <a:ext cx="2057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475" b="1" i="0">
                <a:solidFill>
                  <a:srgbClr val="FFFFFF"/>
                </a:solidFill>
                <a:latin typeface="Calibri"/>
                <a:ea typeface="Calibri"/>
                <a:cs typeface="Calibri"/>
              </a:defRPr>
            </a:pPr>
            <a:r>
              <a:rPr sz="2475" b="1" i="0">
                <a:solidFill>
                  <a:srgbClr val="FFFFFF"/>
                </a:solidFill>
                <a:latin typeface="Calibri"/>
                <a:ea typeface="Calibri"/>
                <a:cs typeface="Calibri"/>
              </a:rPr>
              <a:t>6 / 28</a:t>
            </a:r>
          </a:p>
        </p:txBody>
      </p:sp>
      <p:sp>
        <p:nvSpPr>
          <p:cNvPr id="15" name="">
            <a:extLst xmlns:a="http://schemas.openxmlformats.org/drawingml/2006/main">
              <a:ext uri="{FF2B5EF4-FFF2-40B4-BE49-F238E27FC236}">
                <a16:creationId xmlns:a16="http://schemas.microsoft.com/office/drawing/2014/main" id="{DC5B48B8-FA8C-4A27-99A2-CC016E7D137A}"/>
              </a:ext>
            </a:extLst>
          </p:cNvPr>
          <p:cNvSpPr>
            <a:spLocks xmlns:a="http://schemas.openxmlformats.org/drawingml/2006/main" noGrp="1"/>
          </p:cNvSpPr>
          <p:nvPr/>
        </p:nvSpPr>
        <p:spPr>
          <a:xfrm xmlns:a="http://schemas.openxmlformats.org/drawingml/2006/main">
            <a:off x="8324850" y="2305050"/>
            <a:ext cx="2057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00" b="0" i="0">
                <a:solidFill>
                  <a:srgbClr val="FFFFFF"/>
                </a:solidFill>
                <a:latin typeface="Calibri"/>
                <a:ea typeface="Calibri"/>
                <a:cs typeface="Calibri"/>
              </a:defRPr>
            </a:pPr>
            <a:r>
              <a:rPr sz="1200" b="0" i="0">
                <a:solidFill>
                  <a:srgbClr val="FFFFFF"/>
                </a:solidFill>
                <a:latin typeface="Calibri"/>
                <a:ea typeface="Calibri"/>
                <a:cs typeface="Calibri"/>
              </a:rPr>
              <a:t>said nothing helped</a:t>
            </a:r>
          </a:p>
        </p:txBody>
      </p:sp>
      <p:sp>
        <p:nvSpPr>
          <p:cNvPr id="16" name="">
            <a:extLst xmlns:a="http://schemas.openxmlformats.org/drawingml/2006/main">
              <a:ext uri="{FF2B5EF4-FFF2-40B4-BE49-F238E27FC236}">
                <a16:creationId xmlns:a16="http://schemas.microsoft.com/office/drawing/2014/main" id="{0CCAB1DC-A914-49A4-B55A-6EEC614FAFFD}"/>
              </a:ext>
            </a:extLst>
          </p:cNvPr>
          <p:cNvSpPr>
            <a:spLocks xmlns:a="http://schemas.openxmlformats.org/drawingml/2006/main" noGrp="1"/>
          </p:cNvSpPr>
          <p:nvPr/>
        </p:nvSpPr>
        <p:spPr>
          <a:xfrm xmlns:a="http://schemas.openxmlformats.org/drawingml/2006/main">
            <a:off x="514350" y="3105150"/>
            <a:ext cx="10439400" cy="1562100"/>
          </a:xfrm>
          <a:prstGeom xmlns:a="http://schemas.openxmlformats.org/drawingml/2006/main" prst="roundRect">
            <a:avLst>
              <a:gd name="adj" fmla="val 3659"/>
            </a:avLst>
          </a:prstGeom>
          <a:solidFill xmlns:a="http://schemas.openxmlformats.org/drawingml/2006/main">
            <a:srgbClr val="1B2B45"/>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A5DEA832-2A6B-463A-AA09-F0EA5F81852B}"/>
              </a:ext>
            </a:extLst>
          </p:cNvPr>
          <p:cNvSpPr>
            <a:spLocks xmlns:a="http://schemas.openxmlformats.org/drawingml/2006/main" noGrp="1"/>
          </p:cNvSpPr>
          <p:nvPr/>
        </p:nvSpPr>
        <p:spPr>
          <a:xfrm xmlns:a="http://schemas.openxmlformats.org/drawingml/2006/main">
            <a:off x="800100" y="3352800"/>
            <a:ext cx="98679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2175" b="0" i="1">
                <a:solidFill>
                  <a:srgbClr val="FFFFFF"/>
                </a:solidFill>
                <a:latin typeface="Calibri"/>
                <a:ea typeface="Calibri"/>
                <a:cs typeface="Calibri"/>
              </a:defRPr>
            </a:pPr>
            <a:r>
              <a:rPr sz="2175" b="0" i="1">
                <a:solidFill>
                  <a:srgbClr val="FFFFFF"/>
                </a:solidFill>
                <a:latin typeface="Calibri"/>
                <a:ea typeface="Calibri"/>
                <a:cs typeface="Calibri"/>
              </a:rPr>
              <a:t>“The app says he has arrived, but almost 10 minutes to locate each other.”</a:t>
            </a:r>
          </a:p>
        </p:txBody>
      </p:sp>
      <p:sp>
        <p:nvSpPr>
          <p:cNvPr id="18" name="">
            <a:extLst xmlns:a="http://schemas.openxmlformats.org/drawingml/2006/main">
              <a:ext uri="{FF2B5EF4-FFF2-40B4-BE49-F238E27FC236}">
                <a16:creationId xmlns:a16="http://schemas.microsoft.com/office/drawing/2014/main" id="{602C04C3-7C9E-4435-BD00-F18E182108E3}"/>
              </a:ext>
            </a:extLst>
          </p:cNvPr>
          <p:cNvSpPr>
            <a:spLocks xmlns:a="http://schemas.openxmlformats.org/drawingml/2006/main" noGrp="1"/>
          </p:cNvSpPr>
          <p:nvPr/>
        </p:nvSpPr>
        <p:spPr>
          <a:xfrm xmlns:a="http://schemas.openxmlformats.org/drawingml/2006/main">
            <a:off x="800100" y="4210050"/>
            <a:ext cx="98679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ctr">
              <a:defRPr sz="1125" b="0" i="0">
                <a:solidFill>
                  <a:srgbClr val="C9D3E2"/>
                </a:solidFill>
                <a:latin typeface="Calibri"/>
                <a:ea typeface="Calibri"/>
                <a:cs typeface="Calibri"/>
              </a:defRPr>
            </a:pPr>
            <a:r>
              <a:rPr sz="1125" b="0" i="0">
                <a:solidFill>
                  <a:srgbClr val="C9D3E2"/>
                </a:solidFill>
                <a:latin typeface="Calibri"/>
                <a:ea typeface="Calibri"/>
                <a:cs typeface="Calibri"/>
              </a:rPr>
              <a:t>R067 · rider · anonymized response</a:t>
            </a:r>
          </a:p>
        </p:txBody>
      </p:sp>
      <p:sp>
        <p:nvSpPr>
          <p:cNvPr id="19" name="">
            <a:extLst xmlns:a="http://schemas.openxmlformats.org/drawingml/2006/main">
              <a:ext uri="{FF2B5EF4-FFF2-40B4-BE49-F238E27FC236}">
                <a16:creationId xmlns:a16="http://schemas.microsoft.com/office/drawing/2014/main" id="{FD9965F2-B934-4EE8-BBFE-16C8AED0F1EB}"/>
              </a:ext>
            </a:extLst>
          </p:cNvPr>
          <p:cNvSpPr>
            <a:spLocks xmlns:a="http://schemas.openxmlformats.org/drawingml/2006/main" noGrp="1"/>
          </p:cNvSpPr>
          <p:nvPr/>
        </p:nvSpPr>
        <p:spPr>
          <a:xfrm xmlns:a="http://schemas.openxmlformats.org/drawingml/2006/main">
            <a:off x="514350" y="4953000"/>
            <a:ext cx="10439400" cy="876300"/>
          </a:xfrm>
          <a:prstGeom xmlns:a="http://schemas.openxmlformats.org/drawingml/2006/main" prst="roundRect">
            <a:avLst>
              <a:gd name="adj" fmla="val 6522"/>
            </a:avLst>
          </a:prstGeom>
          <a:solidFill xmlns:a="http://schemas.openxmlformats.org/drawingml/2006/main">
            <a:srgbClr val="FBE7D8"/>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DACEC882-6381-4B11-AC9F-D1F31ECBE654}"/>
              </a:ext>
            </a:extLst>
          </p:cNvPr>
          <p:cNvSpPr>
            <a:spLocks xmlns:a="http://schemas.openxmlformats.org/drawingml/2006/main" noGrp="1"/>
          </p:cNvSpPr>
          <p:nvPr/>
        </p:nvSpPr>
        <p:spPr>
          <a:xfrm xmlns:a="http://schemas.openxmlformats.org/drawingml/2006/main">
            <a:off x="704850" y="5076825"/>
            <a:ext cx="10058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Interpretation boundary: 23 of 28 means the issue occurred before; it does not prove recurrence at the same venue. These sample percentages are not Hyderabad prevalence. The 28 issue cases are the 24 recent four-wheel users plus 3 respondents with no recent four-wheel trip and 1 unsure, all of whom reported a pickup issue.</a:t>
            </a:r>
          </a:p>
        </p:txBody>
      </p:sp>
      <p:sp>
        <p:nvSpPr>
          <p:cNvPr id="21" name="">
            <a:extLst xmlns:a="http://schemas.openxmlformats.org/drawingml/2006/main">
              <a:ext uri="{FF2B5EF4-FFF2-40B4-BE49-F238E27FC236}">
                <a16:creationId xmlns:a16="http://schemas.microsoft.com/office/drawing/2014/main" id="{530CA43D-F0EE-47F1-885E-8E5238C5ACEB}"/>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a:t>
            </a:r>
          </a:p>
        </p:txBody>
      </p:sp>
      <p:sp>
        <p:nvSpPr>
          <p:cNvPr id="22" name="">
            <a:extLst xmlns:a="http://schemas.openxmlformats.org/drawingml/2006/main">
              <a:ext uri="{FF2B5EF4-FFF2-40B4-BE49-F238E27FC236}">
                <a16:creationId xmlns:a16="http://schemas.microsoft.com/office/drawing/2014/main" id="{864A16B7-672E-4F61-997E-0E3B6DD5B2CC}"/>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7</a:t>
            </a:r>
          </a:p>
        </p:txBody>
      </p:sp>
    </p:spTree>
    <p:extLst>
      <p:ext uri="{BB962C8B-B14F-4D97-AF65-F5344CB8AC3E}">
        <p14:creationId xmlns:p14="http://schemas.microsoft.com/office/powerpoint/2010/main" val="55061975"/>
      </p:ext>
    </p:extLst>
  </p:cSld>
</p:sld>
</file>

<file path=ppt/slides/slide8.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58" name="">
            <a:extLst xmlns:a="http://schemas.openxmlformats.org/drawingml/2006/main">
              <a:ext uri="{FF2B5EF4-FFF2-40B4-BE49-F238E27FC236}">
                <a16:creationId xmlns:a16="http://schemas.microsoft.com/office/drawing/2014/main" id="{7EAC48C3-22D7-4E34-A7C1-D7E8091BF15C}"/>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2 · TOP 10 MOST RELEVANT INSIGHTS</a:t>
            </a:r>
          </a:p>
        </p:txBody>
      </p:sp>
      <p:sp>
        <p:nvSpPr>
          <p:cNvPr id="2" name="">
            <a:extLst xmlns:a="http://schemas.openxmlformats.org/drawingml/2006/main">
              <a:ext uri="{FF2B5EF4-FFF2-40B4-BE49-F238E27FC236}">
                <a16:creationId xmlns:a16="http://schemas.microsoft.com/office/drawing/2014/main" id="{34EFA279-2AB4-4FE4-AF13-A6497A961B70}"/>
              </a:ext>
            </a:extLst>
          </p:cNvPr>
          <p:cNvSpPr>
            <a:spLocks xmlns:a="http://schemas.openxmlformats.org/drawingml/2006/main" noGrp="1"/>
          </p:cNvSpPr>
          <p:nvPr/>
        </p:nvSpPr>
        <p:spPr>
          <a:xfrm xmlns:a="http://schemas.openxmlformats.org/drawingml/2006/main">
            <a:off x="514350" y="571500"/>
            <a:ext cx="11144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Where coordination breaks — and how people recover</a:t>
            </a:r>
          </a:p>
        </p:txBody>
      </p:sp>
      <p:sp>
        <p:nvSpPr>
          <p:cNvPr id="3" name="">
            <a:extLst xmlns:a="http://schemas.openxmlformats.org/drawingml/2006/main">
              <a:ext uri="{FF2B5EF4-FFF2-40B4-BE49-F238E27FC236}">
                <a16:creationId xmlns:a16="http://schemas.microsoft.com/office/drawing/2014/main" id="{C04934E4-F12B-44BC-B1E6-8FBDAE4BE058}"/>
              </a:ext>
            </a:extLst>
          </p:cNvPr>
          <p:cNvSpPr>
            <a:spLocks xmlns:a="http://schemas.openxmlformats.org/drawingml/2006/main" noGrp="1"/>
          </p:cNvSpPr>
          <p:nvPr/>
        </p:nvSpPr>
        <p:spPr>
          <a:xfrm xmlns:a="http://schemas.openxmlformats.org/drawingml/2006/main">
            <a:off x="514350" y="1057275"/>
            <a:ext cx="1085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350" b="0" i="0">
                <a:solidFill>
                  <a:srgbClr val="687489"/>
                </a:solidFill>
                <a:latin typeface="Calibri"/>
                <a:ea typeface="Calibri"/>
                <a:cs typeface="Calibri"/>
              </a:defRPr>
            </a:pPr>
            <a:r>
              <a:rPr sz="1350" b="0" i="0">
                <a:solidFill>
                  <a:srgbClr val="687489"/>
                </a:solidFill>
                <a:latin typeface="Calibri"/>
                <a:ea typeface="Calibri"/>
                <a:cs typeface="Calibri"/>
              </a:rPr>
              <a:t>Supporting visual for the location and recovery insights.</a:t>
            </a:r>
          </a:p>
        </p:txBody>
      </p:sp>
      <p:sp>
        <p:nvSpPr>
          <p:cNvPr id="4" name="">
            <a:extLst xmlns:a="http://schemas.openxmlformats.org/drawingml/2006/main">
              <a:ext uri="{FF2B5EF4-FFF2-40B4-BE49-F238E27FC236}">
                <a16:creationId xmlns:a16="http://schemas.microsoft.com/office/drawing/2014/main" id="{EB851BFC-00F3-467C-8F51-F76BBAA0A428}"/>
              </a:ext>
            </a:extLst>
          </p:cNvPr>
          <p:cNvSpPr>
            <a:spLocks xmlns:a="http://schemas.openxmlformats.org/drawingml/2006/main" noGrp="1"/>
          </p:cNvSpPr>
          <p:nvPr/>
        </p:nvSpPr>
        <p:spPr>
          <a:xfrm xmlns:a="http://schemas.openxmlformats.org/drawingml/2006/main">
            <a:off x="514350" y="1581150"/>
            <a:ext cx="4953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5021"/>
          </a:bodyPr>
          <a:lstStyle xmlns:a="http://schemas.openxmlformats.org/drawingml/2006/main"/>
          <a:p xmlns:a="http://schemas.openxmlformats.org/drawingml/2006/main">
            <a:pPr algn="l">
              <a:defRPr sz="1575" b="1" i="0">
                <a:solidFill>
                  <a:srgbClr val="1B2B45"/>
                </a:solidFill>
                <a:latin typeface="Calibri"/>
                <a:ea typeface="Calibri"/>
                <a:cs typeface="Calibri"/>
              </a:defRPr>
            </a:pPr>
            <a:r>
              <a:rPr sz="1575" b="1" i="0">
                <a:solidFill>
                  <a:srgbClr val="1B2B45"/>
                </a:solidFill>
                <a:latin typeface="Calibri"/>
                <a:ea typeface="Calibri"/>
                <a:cs typeface="Calibri"/>
              </a:rPr>
              <a:t>Problem locations among 28 issue cases — top 6 of 8 types</a:t>
            </a:r>
          </a:p>
        </p:txBody>
      </p:sp>
      <p:sp>
        <p:nvSpPr>
          <p:cNvPr id="5" name="">
            <a:extLst xmlns:a="http://schemas.openxmlformats.org/drawingml/2006/main">
              <a:ext uri="{FF2B5EF4-FFF2-40B4-BE49-F238E27FC236}">
                <a16:creationId xmlns:a16="http://schemas.microsoft.com/office/drawing/2014/main" id="{BBE9DAF4-1B01-4449-9110-BE9403C6135E}"/>
              </a:ext>
            </a:extLst>
          </p:cNvPr>
          <p:cNvSpPr>
            <a:spLocks xmlns:a="http://schemas.openxmlformats.org/drawingml/2006/main" noGrp="1"/>
          </p:cNvSpPr>
          <p:nvPr/>
        </p:nvSpPr>
        <p:spPr>
          <a:xfrm xmlns:a="http://schemas.openxmlformats.org/drawingml/2006/main">
            <a:off x="514350" y="2000250"/>
            <a:ext cx="200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Airport</a:t>
            </a:r>
          </a:p>
        </p:txBody>
      </p:sp>
      <p:sp>
        <p:nvSpPr>
          <p:cNvPr id="6" name="">
            <a:extLst xmlns:a="http://schemas.openxmlformats.org/drawingml/2006/main">
              <a:ext uri="{FF2B5EF4-FFF2-40B4-BE49-F238E27FC236}">
                <a16:creationId xmlns:a16="http://schemas.microsoft.com/office/drawing/2014/main" id="{88610166-5BEB-422E-A720-B1C73B4A603A}"/>
              </a:ext>
            </a:extLst>
          </p:cNvPr>
          <p:cNvSpPr>
            <a:spLocks xmlns:a="http://schemas.openxmlformats.org/drawingml/2006/main" noGrp="1"/>
          </p:cNvSpPr>
          <p:nvPr/>
        </p:nvSpPr>
        <p:spPr>
          <a:xfrm xmlns:a="http://schemas.openxmlformats.org/drawingml/2006/main">
            <a:off x="2590800" y="2038350"/>
            <a:ext cx="2495550" cy="161925"/>
          </a:xfrm>
          <a:prstGeom xmlns:a="http://schemas.openxmlformats.org/drawingml/2006/main" prst="roundRect">
            <a:avLst>
              <a:gd name="adj" fmla="val 23529"/>
            </a:avLst>
          </a:prstGeom>
          <a:solidFill xmlns:a="http://schemas.openxmlformats.org/drawingml/2006/main">
            <a:srgbClr val="E8ECF1"/>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6446C2AB-7116-4DC4-856D-8989C0C1C5E5}"/>
              </a:ext>
            </a:extLst>
          </p:cNvPr>
          <p:cNvSpPr>
            <a:spLocks xmlns:a="http://schemas.openxmlformats.org/drawingml/2006/main" noGrp="1"/>
          </p:cNvSpPr>
          <p:nvPr/>
        </p:nvSpPr>
        <p:spPr>
          <a:xfrm xmlns:a="http://schemas.openxmlformats.org/drawingml/2006/main">
            <a:off x="2590800" y="2038350"/>
            <a:ext cx="2495550" cy="161925"/>
          </a:xfrm>
          <a:prstGeom xmlns:a="http://schemas.openxmlformats.org/drawingml/2006/main" prst="roundRect">
            <a:avLst>
              <a:gd name="adj" fmla="val 23529"/>
            </a:avLst>
          </a:prstGeom>
          <a:solidFill xmlns:a="http://schemas.openxmlformats.org/drawingml/2006/main">
            <a:srgbClr val="1BB5C8"/>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A7B74511-CDF6-48D1-9097-CF5FC43679C4}"/>
              </a:ext>
            </a:extLst>
          </p:cNvPr>
          <p:cNvSpPr>
            <a:spLocks xmlns:a="http://schemas.openxmlformats.org/drawingml/2006/main" noGrp="1"/>
          </p:cNvSpPr>
          <p:nvPr/>
        </p:nvSpPr>
        <p:spPr>
          <a:xfrm xmlns:a="http://schemas.openxmlformats.org/drawingml/2006/main">
            <a:off x="5143500" y="1981200"/>
            <a:ext cx="323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r">
              <a:defRPr sz="1200" b="1" i="0">
                <a:solidFill>
                  <a:srgbClr val="233248"/>
                </a:solidFill>
                <a:latin typeface="Calibri"/>
                <a:ea typeface="Calibri"/>
                <a:cs typeface="Calibri"/>
              </a:defRPr>
            </a:pPr>
            <a:r>
              <a:rPr sz="1200" b="1" i="0">
                <a:solidFill>
                  <a:srgbClr val="233248"/>
                </a:solidFill>
                <a:latin typeface="Calibri"/>
                <a:ea typeface="Calibri"/>
                <a:cs typeface="Calibri"/>
              </a:rPr>
              <a:t>10</a:t>
            </a:r>
          </a:p>
        </p:txBody>
      </p:sp>
      <p:sp>
        <p:nvSpPr>
          <p:cNvPr id="9" name="">
            <a:extLst xmlns:a="http://schemas.openxmlformats.org/drawingml/2006/main">
              <a:ext uri="{FF2B5EF4-FFF2-40B4-BE49-F238E27FC236}">
                <a16:creationId xmlns:a16="http://schemas.microsoft.com/office/drawing/2014/main" id="{C31CACA4-DB8B-4523-884C-18FE6B2C60EE}"/>
              </a:ext>
            </a:extLst>
          </p:cNvPr>
          <p:cNvSpPr>
            <a:spLocks xmlns:a="http://schemas.openxmlformats.org/drawingml/2006/main" noGrp="1"/>
          </p:cNvSpPr>
          <p:nvPr/>
        </p:nvSpPr>
        <p:spPr>
          <a:xfrm xmlns:a="http://schemas.openxmlformats.org/drawingml/2006/main">
            <a:off x="514350" y="2447925"/>
            <a:ext cx="200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Residential / gated</a:t>
            </a:r>
          </a:p>
        </p:txBody>
      </p:sp>
      <p:sp>
        <p:nvSpPr>
          <p:cNvPr id="10" name="">
            <a:extLst xmlns:a="http://schemas.openxmlformats.org/drawingml/2006/main">
              <a:ext uri="{FF2B5EF4-FFF2-40B4-BE49-F238E27FC236}">
                <a16:creationId xmlns:a16="http://schemas.microsoft.com/office/drawing/2014/main" id="{67D1A2D3-E1C1-4A02-9F3A-6E040CEA2BF4}"/>
              </a:ext>
            </a:extLst>
          </p:cNvPr>
          <p:cNvSpPr>
            <a:spLocks xmlns:a="http://schemas.openxmlformats.org/drawingml/2006/main" noGrp="1"/>
          </p:cNvSpPr>
          <p:nvPr/>
        </p:nvSpPr>
        <p:spPr>
          <a:xfrm xmlns:a="http://schemas.openxmlformats.org/drawingml/2006/main">
            <a:off x="2590800" y="2486025"/>
            <a:ext cx="2495550" cy="161925"/>
          </a:xfrm>
          <a:prstGeom xmlns:a="http://schemas.openxmlformats.org/drawingml/2006/main" prst="roundRect">
            <a:avLst>
              <a:gd name="adj" fmla="val 23529"/>
            </a:avLst>
          </a:prstGeom>
          <a:solidFill xmlns:a="http://schemas.openxmlformats.org/drawingml/2006/main">
            <a:srgbClr val="E8ECF1"/>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BF1B37B4-7684-416C-A27C-61779D7D79DE}"/>
              </a:ext>
            </a:extLst>
          </p:cNvPr>
          <p:cNvSpPr>
            <a:spLocks xmlns:a="http://schemas.openxmlformats.org/drawingml/2006/main" noGrp="1"/>
          </p:cNvSpPr>
          <p:nvPr/>
        </p:nvSpPr>
        <p:spPr>
          <a:xfrm xmlns:a="http://schemas.openxmlformats.org/drawingml/2006/main">
            <a:off x="2590800" y="2486025"/>
            <a:ext cx="1746885" cy="161925"/>
          </a:xfrm>
          <a:prstGeom xmlns:a="http://schemas.openxmlformats.org/drawingml/2006/main" prst="roundRect">
            <a:avLst>
              <a:gd name="adj" fmla="val 23529"/>
            </a:avLst>
          </a:prstGeom>
          <a:solidFill xmlns:a="http://schemas.openxmlformats.org/drawingml/2006/main">
            <a:srgbClr val="1BB5C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73DFBBD1-4A5D-4822-BEE8-31B7229814F6}"/>
              </a:ext>
            </a:extLst>
          </p:cNvPr>
          <p:cNvSpPr>
            <a:spLocks xmlns:a="http://schemas.openxmlformats.org/drawingml/2006/main" noGrp="1"/>
          </p:cNvSpPr>
          <p:nvPr/>
        </p:nvSpPr>
        <p:spPr>
          <a:xfrm xmlns:a="http://schemas.openxmlformats.org/drawingml/2006/main">
            <a:off x="5143500" y="2428875"/>
            <a:ext cx="323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r">
              <a:defRPr sz="1200" b="1" i="0">
                <a:solidFill>
                  <a:srgbClr val="233248"/>
                </a:solidFill>
                <a:latin typeface="Calibri"/>
                <a:ea typeface="Calibri"/>
                <a:cs typeface="Calibri"/>
              </a:defRPr>
            </a:pPr>
            <a:r>
              <a:rPr sz="1200" b="1" i="0">
                <a:solidFill>
                  <a:srgbClr val="233248"/>
                </a:solidFill>
                <a:latin typeface="Calibri"/>
                <a:ea typeface="Calibri"/>
                <a:cs typeface="Calibri"/>
              </a:rPr>
              <a:t>7</a:t>
            </a:r>
          </a:p>
        </p:txBody>
      </p:sp>
      <p:sp>
        <p:nvSpPr>
          <p:cNvPr id="13" name="">
            <a:extLst xmlns:a="http://schemas.openxmlformats.org/drawingml/2006/main">
              <a:ext uri="{FF2B5EF4-FFF2-40B4-BE49-F238E27FC236}">
                <a16:creationId xmlns:a16="http://schemas.microsoft.com/office/drawing/2014/main" id="{23D5F5E1-6FE4-4968-A5B9-9B571611CEE6}"/>
              </a:ext>
            </a:extLst>
          </p:cNvPr>
          <p:cNvSpPr>
            <a:spLocks xmlns:a="http://schemas.openxmlformats.org/drawingml/2006/main" noGrp="1"/>
          </p:cNvSpPr>
          <p:nvPr/>
        </p:nvSpPr>
        <p:spPr>
          <a:xfrm xmlns:a="http://schemas.openxmlformats.org/drawingml/2006/main">
            <a:off x="514350" y="2895600"/>
            <a:ext cx="200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Shopping mall</a:t>
            </a:r>
          </a:p>
        </p:txBody>
      </p:sp>
      <p:sp>
        <p:nvSpPr>
          <p:cNvPr id="14" name="">
            <a:extLst xmlns:a="http://schemas.openxmlformats.org/drawingml/2006/main">
              <a:ext uri="{FF2B5EF4-FFF2-40B4-BE49-F238E27FC236}">
                <a16:creationId xmlns:a16="http://schemas.microsoft.com/office/drawing/2014/main" id="{BAE92C3F-FC43-4FFA-B6F8-F4877110DCA4}"/>
              </a:ext>
            </a:extLst>
          </p:cNvPr>
          <p:cNvSpPr>
            <a:spLocks xmlns:a="http://schemas.openxmlformats.org/drawingml/2006/main" noGrp="1"/>
          </p:cNvSpPr>
          <p:nvPr/>
        </p:nvSpPr>
        <p:spPr>
          <a:xfrm xmlns:a="http://schemas.openxmlformats.org/drawingml/2006/main">
            <a:off x="2590800" y="2933700"/>
            <a:ext cx="2495550" cy="161925"/>
          </a:xfrm>
          <a:prstGeom xmlns:a="http://schemas.openxmlformats.org/drawingml/2006/main" prst="roundRect">
            <a:avLst>
              <a:gd name="adj" fmla="val 23529"/>
            </a:avLst>
          </a:prstGeom>
          <a:solidFill xmlns:a="http://schemas.openxmlformats.org/drawingml/2006/main">
            <a:srgbClr val="E8ECF1"/>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FE0DF74C-754C-4287-A862-96DF204AB4C5}"/>
              </a:ext>
            </a:extLst>
          </p:cNvPr>
          <p:cNvSpPr>
            <a:spLocks xmlns:a="http://schemas.openxmlformats.org/drawingml/2006/main" noGrp="1"/>
          </p:cNvSpPr>
          <p:nvPr/>
        </p:nvSpPr>
        <p:spPr>
          <a:xfrm xmlns:a="http://schemas.openxmlformats.org/drawingml/2006/main">
            <a:off x="2590800" y="2933700"/>
            <a:ext cx="1497330" cy="161925"/>
          </a:xfrm>
          <a:prstGeom xmlns:a="http://schemas.openxmlformats.org/drawingml/2006/main" prst="roundRect">
            <a:avLst>
              <a:gd name="adj" fmla="val 23529"/>
            </a:avLst>
          </a:prstGeom>
          <a:solidFill xmlns:a="http://schemas.openxmlformats.org/drawingml/2006/main">
            <a:srgbClr val="1BB5C8"/>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C7D8C19C-D7A1-41EB-A2D4-BE22BC624EA3}"/>
              </a:ext>
            </a:extLst>
          </p:cNvPr>
          <p:cNvSpPr>
            <a:spLocks xmlns:a="http://schemas.openxmlformats.org/drawingml/2006/main" noGrp="1"/>
          </p:cNvSpPr>
          <p:nvPr/>
        </p:nvSpPr>
        <p:spPr>
          <a:xfrm xmlns:a="http://schemas.openxmlformats.org/drawingml/2006/main">
            <a:off x="5143500" y="2876550"/>
            <a:ext cx="323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r">
              <a:defRPr sz="1200" b="1" i="0">
                <a:solidFill>
                  <a:srgbClr val="233248"/>
                </a:solidFill>
                <a:latin typeface="Calibri"/>
                <a:ea typeface="Calibri"/>
                <a:cs typeface="Calibri"/>
              </a:defRPr>
            </a:pPr>
            <a:r>
              <a:rPr sz="1200" b="1" i="0">
                <a:solidFill>
                  <a:srgbClr val="233248"/>
                </a:solidFill>
                <a:latin typeface="Calibri"/>
                <a:ea typeface="Calibri"/>
                <a:cs typeface="Calibri"/>
              </a:rPr>
              <a:t>6</a:t>
            </a:r>
          </a:p>
        </p:txBody>
      </p:sp>
      <p:sp>
        <p:nvSpPr>
          <p:cNvPr id="17" name="">
            <a:extLst xmlns:a="http://schemas.openxmlformats.org/drawingml/2006/main">
              <a:ext uri="{FF2B5EF4-FFF2-40B4-BE49-F238E27FC236}">
                <a16:creationId xmlns:a16="http://schemas.microsoft.com/office/drawing/2014/main" id="{EB76E4BE-A91F-481C-8F48-FA7C02FA16F2}"/>
              </a:ext>
            </a:extLst>
          </p:cNvPr>
          <p:cNvSpPr>
            <a:spLocks xmlns:a="http://schemas.openxmlformats.org/drawingml/2006/main" noGrp="1"/>
          </p:cNvSpPr>
          <p:nvPr/>
        </p:nvSpPr>
        <p:spPr>
          <a:xfrm xmlns:a="http://schemas.openxmlformats.org/drawingml/2006/main">
            <a:off x="514350" y="3343275"/>
            <a:ext cx="200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Office / tech campus</a:t>
            </a:r>
          </a:p>
        </p:txBody>
      </p:sp>
      <p:sp>
        <p:nvSpPr>
          <p:cNvPr id="18" name="">
            <a:extLst xmlns:a="http://schemas.openxmlformats.org/drawingml/2006/main">
              <a:ext uri="{FF2B5EF4-FFF2-40B4-BE49-F238E27FC236}">
                <a16:creationId xmlns:a16="http://schemas.microsoft.com/office/drawing/2014/main" id="{E9FAB34F-D493-4205-A0EA-0740F2A5BBD6}"/>
              </a:ext>
            </a:extLst>
          </p:cNvPr>
          <p:cNvSpPr>
            <a:spLocks xmlns:a="http://schemas.openxmlformats.org/drawingml/2006/main" noGrp="1"/>
          </p:cNvSpPr>
          <p:nvPr/>
        </p:nvSpPr>
        <p:spPr>
          <a:xfrm xmlns:a="http://schemas.openxmlformats.org/drawingml/2006/main">
            <a:off x="2590800" y="3381375"/>
            <a:ext cx="2495550" cy="161925"/>
          </a:xfrm>
          <a:prstGeom xmlns:a="http://schemas.openxmlformats.org/drawingml/2006/main" prst="roundRect">
            <a:avLst>
              <a:gd name="adj" fmla="val 23529"/>
            </a:avLst>
          </a:prstGeom>
          <a:solidFill xmlns:a="http://schemas.openxmlformats.org/drawingml/2006/main">
            <a:srgbClr val="E8ECF1"/>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31BC1A81-4B42-47BD-86EC-9FE23A3044FE}"/>
              </a:ext>
            </a:extLst>
          </p:cNvPr>
          <p:cNvSpPr>
            <a:spLocks xmlns:a="http://schemas.openxmlformats.org/drawingml/2006/main" noGrp="1"/>
          </p:cNvSpPr>
          <p:nvPr/>
        </p:nvSpPr>
        <p:spPr>
          <a:xfrm xmlns:a="http://schemas.openxmlformats.org/drawingml/2006/main">
            <a:off x="2590800" y="3381375"/>
            <a:ext cx="1497330" cy="161925"/>
          </a:xfrm>
          <a:prstGeom xmlns:a="http://schemas.openxmlformats.org/drawingml/2006/main" prst="roundRect">
            <a:avLst>
              <a:gd name="adj" fmla="val 23529"/>
            </a:avLst>
          </a:prstGeom>
          <a:solidFill xmlns:a="http://schemas.openxmlformats.org/drawingml/2006/main">
            <a:srgbClr val="1BB5C8"/>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530EC877-2B43-42A3-B6C7-52FE4F0B67B5}"/>
              </a:ext>
            </a:extLst>
          </p:cNvPr>
          <p:cNvSpPr>
            <a:spLocks xmlns:a="http://schemas.openxmlformats.org/drawingml/2006/main" noGrp="1"/>
          </p:cNvSpPr>
          <p:nvPr/>
        </p:nvSpPr>
        <p:spPr>
          <a:xfrm xmlns:a="http://schemas.openxmlformats.org/drawingml/2006/main">
            <a:off x="5143500" y="3324225"/>
            <a:ext cx="323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r">
              <a:defRPr sz="1200" b="1" i="0">
                <a:solidFill>
                  <a:srgbClr val="233248"/>
                </a:solidFill>
                <a:latin typeface="Calibri"/>
                <a:ea typeface="Calibri"/>
                <a:cs typeface="Calibri"/>
              </a:defRPr>
            </a:pPr>
            <a:r>
              <a:rPr sz="1200" b="1" i="0">
                <a:solidFill>
                  <a:srgbClr val="233248"/>
                </a:solidFill>
                <a:latin typeface="Calibri"/>
                <a:ea typeface="Calibri"/>
                <a:cs typeface="Calibri"/>
              </a:rPr>
              <a:t>6</a:t>
            </a:r>
          </a:p>
        </p:txBody>
      </p:sp>
      <p:sp>
        <p:nvSpPr>
          <p:cNvPr id="21" name="">
            <a:extLst xmlns:a="http://schemas.openxmlformats.org/drawingml/2006/main">
              <a:ext uri="{FF2B5EF4-FFF2-40B4-BE49-F238E27FC236}">
                <a16:creationId xmlns:a16="http://schemas.microsoft.com/office/drawing/2014/main" id="{9A2ECBF0-52F1-44F0-853C-F61FC7991DB8}"/>
              </a:ext>
            </a:extLst>
          </p:cNvPr>
          <p:cNvSpPr>
            <a:spLocks xmlns:a="http://schemas.openxmlformats.org/drawingml/2006/main" noGrp="1"/>
          </p:cNvSpPr>
          <p:nvPr/>
        </p:nvSpPr>
        <p:spPr>
          <a:xfrm xmlns:a="http://schemas.openxmlformats.org/drawingml/2006/main">
            <a:off x="514350" y="3790950"/>
            <a:ext cx="200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Metro / railway</a:t>
            </a:r>
          </a:p>
        </p:txBody>
      </p:sp>
      <p:sp>
        <p:nvSpPr>
          <p:cNvPr id="22" name="">
            <a:extLst xmlns:a="http://schemas.openxmlformats.org/drawingml/2006/main">
              <a:ext uri="{FF2B5EF4-FFF2-40B4-BE49-F238E27FC236}">
                <a16:creationId xmlns:a16="http://schemas.microsoft.com/office/drawing/2014/main" id="{AC5AF10C-B801-476D-A315-347DEA3206A3}"/>
              </a:ext>
            </a:extLst>
          </p:cNvPr>
          <p:cNvSpPr>
            <a:spLocks xmlns:a="http://schemas.openxmlformats.org/drawingml/2006/main" noGrp="1"/>
          </p:cNvSpPr>
          <p:nvPr/>
        </p:nvSpPr>
        <p:spPr>
          <a:xfrm xmlns:a="http://schemas.openxmlformats.org/drawingml/2006/main">
            <a:off x="2590800" y="3829050"/>
            <a:ext cx="2495550" cy="161925"/>
          </a:xfrm>
          <a:prstGeom xmlns:a="http://schemas.openxmlformats.org/drawingml/2006/main" prst="roundRect">
            <a:avLst>
              <a:gd name="adj" fmla="val 23529"/>
            </a:avLst>
          </a:prstGeom>
          <a:solidFill xmlns:a="http://schemas.openxmlformats.org/drawingml/2006/main">
            <a:srgbClr val="E8ECF1"/>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296534FF-E330-409C-AC62-841185834680}"/>
              </a:ext>
            </a:extLst>
          </p:cNvPr>
          <p:cNvSpPr>
            <a:spLocks xmlns:a="http://schemas.openxmlformats.org/drawingml/2006/main" noGrp="1"/>
          </p:cNvSpPr>
          <p:nvPr/>
        </p:nvSpPr>
        <p:spPr>
          <a:xfrm xmlns:a="http://schemas.openxmlformats.org/drawingml/2006/main">
            <a:off x="2590800" y="3829050"/>
            <a:ext cx="1247775" cy="161925"/>
          </a:xfrm>
          <a:prstGeom xmlns:a="http://schemas.openxmlformats.org/drawingml/2006/main" prst="roundRect">
            <a:avLst>
              <a:gd name="adj" fmla="val 23529"/>
            </a:avLst>
          </a:prstGeom>
          <a:solidFill xmlns:a="http://schemas.openxmlformats.org/drawingml/2006/main">
            <a:srgbClr val="1BB5C8"/>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5E2A5D59-C374-4A11-9FA5-94733C29269F}"/>
              </a:ext>
            </a:extLst>
          </p:cNvPr>
          <p:cNvSpPr>
            <a:spLocks xmlns:a="http://schemas.openxmlformats.org/drawingml/2006/main" noGrp="1"/>
          </p:cNvSpPr>
          <p:nvPr/>
        </p:nvSpPr>
        <p:spPr>
          <a:xfrm xmlns:a="http://schemas.openxmlformats.org/drawingml/2006/main">
            <a:off x="5143500" y="3771900"/>
            <a:ext cx="323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r">
              <a:defRPr sz="1200" b="1" i="0">
                <a:solidFill>
                  <a:srgbClr val="233248"/>
                </a:solidFill>
                <a:latin typeface="Calibri"/>
                <a:ea typeface="Calibri"/>
                <a:cs typeface="Calibri"/>
              </a:defRPr>
            </a:pPr>
            <a:r>
              <a:rPr sz="1200" b="1" i="0">
                <a:solidFill>
                  <a:srgbClr val="233248"/>
                </a:solidFill>
                <a:latin typeface="Calibri"/>
                <a:ea typeface="Calibri"/>
                <a:cs typeface="Calibri"/>
              </a:rPr>
              <a:t>5</a:t>
            </a:r>
          </a:p>
        </p:txBody>
      </p:sp>
      <p:sp>
        <p:nvSpPr>
          <p:cNvPr id="25" name="">
            <a:extLst xmlns:a="http://schemas.openxmlformats.org/drawingml/2006/main">
              <a:ext uri="{FF2B5EF4-FFF2-40B4-BE49-F238E27FC236}">
                <a16:creationId xmlns:a16="http://schemas.microsoft.com/office/drawing/2014/main" id="{8CD893F5-26FF-4397-97E9-47437D3121FC}"/>
              </a:ext>
            </a:extLst>
          </p:cNvPr>
          <p:cNvSpPr>
            <a:spLocks xmlns:a="http://schemas.openxmlformats.org/drawingml/2006/main" noGrp="1"/>
          </p:cNvSpPr>
          <p:nvPr/>
        </p:nvSpPr>
        <p:spPr>
          <a:xfrm xmlns:a="http://schemas.openxmlformats.org/drawingml/2006/main">
            <a:off x="514350" y="4238625"/>
            <a:ext cx="200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Busy street</a:t>
            </a:r>
          </a:p>
        </p:txBody>
      </p:sp>
      <p:sp>
        <p:nvSpPr>
          <p:cNvPr id="26" name="">
            <a:extLst xmlns:a="http://schemas.openxmlformats.org/drawingml/2006/main">
              <a:ext uri="{FF2B5EF4-FFF2-40B4-BE49-F238E27FC236}">
                <a16:creationId xmlns:a16="http://schemas.microsoft.com/office/drawing/2014/main" id="{861E265D-7AD9-46FB-9A75-3497D46F9D20}"/>
              </a:ext>
            </a:extLst>
          </p:cNvPr>
          <p:cNvSpPr>
            <a:spLocks xmlns:a="http://schemas.openxmlformats.org/drawingml/2006/main" noGrp="1"/>
          </p:cNvSpPr>
          <p:nvPr/>
        </p:nvSpPr>
        <p:spPr>
          <a:xfrm xmlns:a="http://schemas.openxmlformats.org/drawingml/2006/main">
            <a:off x="2590800" y="4276725"/>
            <a:ext cx="2495550" cy="161925"/>
          </a:xfrm>
          <a:prstGeom xmlns:a="http://schemas.openxmlformats.org/drawingml/2006/main" prst="roundRect">
            <a:avLst>
              <a:gd name="adj" fmla="val 23529"/>
            </a:avLst>
          </a:prstGeom>
          <a:solidFill xmlns:a="http://schemas.openxmlformats.org/drawingml/2006/main">
            <a:srgbClr val="E8ECF1"/>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0D07192E-27F4-4934-942B-E087400FAF2E}"/>
              </a:ext>
            </a:extLst>
          </p:cNvPr>
          <p:cNvSpPr>
            <a:spLocks xmlns:a="http://schemas.openxmlformats.org/drawingml/2006/main" noGrp="1"/>
          </p:cNvSpPr>
          <p:nvPr/>
        </p:nvSpPr>
        <p:spPr>
          <a:xfrm xmlns:a="http://schemas.openxmlformats.org/drawingml/2006/main">
            <a:off x="2590800" y="4276725"/>
            <a:ext cx="748665" cy="161925"/>
          </a:xfrm>
          <a:prstGeom xmlns:a="http://schemas.openxmlformats.org/drawingml/2006/main" prst="roundRect">
            <a:avLst>
              <a:gd name="adj" fmla="val 23529"/>
            </a:avLst>
          </a:prstGeom>
          <a:solidFill xmlns:a="http://schemas.openxmlformats.org/drawingml/2006/main">
            <a:srgbClr val="1BB5C8"/>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39A5B971-A8EA-408F-B161-6C86783D9DC4}"/>
              </a:ext>
            </a:extLst>
          </p:cNvPr>
          <p:cNvSpPr>
            <a:spLocks xmlns:a="http://schemas.openxmlformats.org/drawingml/2006/main" noGrp="1"/>
          </p:cNvSpPr>
          <p:nvPr/>
        </p:nvSpPr>
        <p:spPr>
          <a:xfrm xmlns:a="http://schemas.openxmlformats.org/drawingml/2006/main">
            <a:off x="5143500" y="4219575"/>
            <a:ext cx="323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r">
              <a:defRPr sz="1200" b="1" i="0">
                <a:solidFill>
                  <a:srgbClr val="233248"/>
                </a:solidFill>
                <a:latin typeface="Calibri"/>
                <a:ea typeface="Calibri"/>
                <a:cs typeface="Calibri"/>
              </a:defRPr>
            </a:pPr>
            <a:r>
              <a:rPr sz="1200" b="1" i="0">
                <a:solidFill>
                  <a:srgbClr val="233248"/>
                </a:solidFill>
                <a:latin typeface="Calibri"/>
                <a:ea typeface="Calibri"/>
                <a:cs typeface="Calibri"/>
              </a:rPr>
              <a:t>3</a:t>
            </a:r>
          </a:p>
        </p:txBody>
      </p:sp>
      <p:sp>
        <p:nvSpPr>
          <p:cNvPr id="29" name="">
            <a:extLst xmlns:a="http://schemas.openxmlformats.org/drawingml/2006/main">
              <a:ext uri="{FF2B5EF4-FFF2-40B4-BE49-F238E27FC236}">
                <a16:creationId xmlns:a16="http://schemas.microsoft.com/office/drawing/2014/main" id="{97062D20-7836-4874-B8A0-A344229D0695}"/>
              </a:ext>
            </a:extLst>
          </p:cNvPr>
          <p:cNvSpPr>
            <a:spLocks xmlns:a="http://schemas.openxmlformats.org/drawingml/2006/main" noGrp="1"/>
          </p:cNvSpPr>
          <p:nvPr/>
        </p:nvSpPr>
        <p:spPr>
          <a:xfrm xmlns:a="http://schemas.openxmlformats.org/drawingml/2006/main">
            <a:off x="6191250" y="1581150"/>
            <a:ext cx="4762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5238"/>
          </a:bodyPr>
          <a:lstStyle xmlns:a="http://schemas.openxmlformats.org/drawingml/2006/main"/>
          <a:p xmlns:a="http://schemas.openxmlformats.org/drawingml/2006/main">
            <a:pPr algn="l">
              <a:defRPr sz="1575" b="1" i="0">
                <a:solidFill>
                  <a:srgbClr val="1B2B45"/>
                </a:solidFill>
                <a:latin typeface="Calibri"/>
                <a:ea typeface="Calibri"/>
                <a:cs typeface="Calibri"/>
              </a:defRPr>
            </a:pPr>
            <a:r>
              <a:rPr sz="1575" b="1" i="0">
                <a:solidFill>
                  <a:srgbClr val="1B2B45"/>
                </a:solidFill>
                <a:latin typeface="Calibri"/>
                <a:ea typeface="Calibri"/>
                <a:cs typeface="Calibri"/>
              </a:rPr>
              <a:t>Recovery actions</a:t>
            </a:r>
          </a:p>
        </p:txBody>
      </p:sp>
      <p:sp>
        <p:nvSpPr>
          <p:cNvPr id="30" name="">
            <a:extLst xmlns:a="http://schemas.openxmlformats.org/drawingml/2006/main">
              <a:ext uri="{FF2B5EF4-FFF2-40B4-BE49-F238E27FC236}">
                <a16:creationId xmlns:a16="http://schemas.microsoft.com/office/drawing/2014/main" id="{AE91CE0A-1824-4D6C-840A-AD19729DD576}"/>
              </a:ext>
            </a:extLst>
          </p:cNvPr>
          <p:cNvSpPr>
            <a:spLocks xmlns:a="http://schemas.openxmlformats.org/drawingml/2006/main" noGrp="1"/>
          </p:cNvSpPr>
          <p:nvPr/>
        </p:nvSpPr>
        <p:spPr>
          <a:xfrm xmlns:a="http://schemas.openxmlformats.org/drawingml/2006/main">
            <a:off x="6191250" y="2000250"/>
            <a:ext cx="200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Called</a:t>
            </a:r>
          </a:p>
        </p:txBody>
      </p:sp>
      <p:sp>
        <p:nvSpPr>
          <p:cNvPr id="31" name="">
            <a:extLst xmlns:a="http://schemas.openxmlformats.org/drawingml/2006/main">
              <a:ext uri="{FF2B5EF4-FFF2-40B4-BE49-F238E27FC236}">
                <a16:creationId xmlns:a16="http://schemas.microsoft.com/office/drawing/2014/main" id="{8C3E346A-B357-4550-8FB1-036D03CD2CEB}"/>
              </a:ext>
            </a:extLst>
          </p:cNvPr>
          <p:cNvSpPr>
            <a:spLocks xmlns:a="http://schemas.openxmlformats.org/drawingml/2006/main" noGrp="1"/>
          </p:cNvSpPr>
          <p:nvPr/>
        </p:nvSpPr>
        <p:spPr>
          <a:xfrm xmlns:a="http://schemas.openxmlformats.org/drawingml/2006/main">
            <a:off x="8267700" y="2038350"/>
            <a:ext cx="2305050" cy="161925"/>
          </a:xfrm>
          <a:prstGeom xmlns:a="http://schemas.openxmlformats.org/drawingml/2006/main" prst="roundRect">
            <a:avLst>
              <a:gd name="adj" fmla="val 23529"/>
            </a:avLst>
          </a:prstGeom>
          <a:solidFill xmlns:a="http://schemas.openxmlformats.org/drawingml/2006/main">
            <a:srgbClr val="E8ECF1"/>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33BA9E4E-835B-4FC8-BDC4-64780CC6B97A}"/>
              </a:ext>
            </a:extLst>
          </p:cNvPr>
          <p:cNvSpPr>
            <a:spLocks xmlns:a="http://schemas.openxmlformats.org/drawingml/2006/main" noGrp="1"/>
          </p:cNvSpPr>
          <p:nvPr/>
        </p:nvSpPr>
        <p:spPr>
          <a:xfrm xmlns:a="http://schemas.openxmlformats.org/drawingml/2006/main">
            <a:off x="8267700" y="2038350"/>
            <a:ext cx="2305050" cy="161925"/>
          </a:xfrm>
          <a:prstGeom xmlns:a="http://schemas.openxmlformats.org/drawingml/2006/main" prst="roundRect">
            <a:avLst>
              <a:gd name="adj" fmla="val 23529"/>
            </a:avLst>
          </a:prstGeom>
          <a:solidFill xmlns:a="http://schemas.openxmlformats.org/drawingml/2006/main">
            <a:srgbClr val="F47A22"/>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36DC9CC4-3F4C-4DB2-9F7B-04CF00AB33E5}"/>
              </a:ext>
            </a:extLst>
          </p:cNvPr>
          <p:cNvSpPr>
            <a:spLocks xmlns:a="http://schemas.openxmlformats.org/drawingml/2006/main" noGrp="1"/>
          </p:cNvSpPr>
          <p:nvPr/>
        </p:nvSpPr>
        <p:spPr>
          <a:xfrm xmlns:a="http://schemas.openxmlformats.org/drawingml/2006/main">
            <a:off x="10629900" y="1981200"/>
            <a:ext cx="323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r">
              <a:defRPr sz="1200" b="1" i="0">
                <a:solidFill>
                  <a:srgbClr val="233248"/>
                </a:solidFill>
                <a:latin typeface="Calibri"/>
                <a:ea typeface="Calibri"/>
                <a:cs typeface="Calibri"/>
              </a:defRPr>
            </a:pPr>
            <a:r>
              <a:rPr sz="1200" b="1" i="0">
                <a:solidFill>
                  <a:srgbClr val="233248"/>
                </a:solidFill>
                <a:latin typeface="Calibri"/>
                <a:ea typeface="Calibri"/>
                <a:cs typeface="Calibri"/>
              </a:rPr>
              <a:t>17</a:t>
            </a:r>
          </a:p>
        </p:txBody>
      </p:sp>
      <p:sp>
        <p:nvSpPr>
          <p:cNvPr id="34" name="">
            <a:extLst xmlns:a="http://schemas.openxmlformats.org/drawingml/2006/main">
              <a:ext uri="{FF2B5EF4-FFF2-40B4-BE49-F238E27FC236}">
                <a16:creationId xmlns:a16="http://schemas.microsoft.com/office/drawing/2014/main" id="{DF19198E-2FD2-4D44-BEFA-29D694D3C511}"/>
              </a:ext>
            </a:extLst>
          </p:cNvPr>
          <p:cNvSpPr>
            <a:spLocks xmlns:a="http://schemas.openxmlformats.org/drawingml/2006/main" noGrp="1"/>
          </p:cNvSpPr>
          <p:nvPr/>
        </p:nvSpPr>
        <p:spPr>
          <a:xfrm xmlns:a="http://schemas.openxmlformats.org/drawingml/2006/main">
            <a:off x="6191250" y="2447925"/>
            <a:ext cx="200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Waited</a:t>
            </a:r>
          </a:p>
        </p:txBody>
      </p:sp>
      <p:sp>
        <p:nvSpPr>
          <p:cNvPr id="35" name="">
            <a:extLst xmlns:a="http://schemas.openxmlformats.org/drawingml/2006/main">
              <a:ext uri="{FF2B5EF4-FFF2-40B4-BE49-F238E27FC236}">
                <a16:creationId xmlns:a16="http://schemas.microsoft.com/office/drawing/2014/main" id="{F0889DF6-D2A6-412E-952E-993686AD6DA0}"/>
              </a:ext>
            </a:extLst>
          </p:cNvPr>
          <p:cNvSpPr>
            <a:spLocks xmlns:a="http://schemas.openxmlformats.org/drawingml/2006/main" noGrp="1"/>
          </p:cNvSpPr>
          <p:nvPr/>
        </p:nvSpPr>
        <p:spPr>
          <a:xfrm xmlns:a="http://schemas.openxmlformats.org/drawingml/2006/main">
            <a:off x="8267700" y="2486025"/>
            <a:ext cx="2305050" cy="161925"/>
          </a:xfrm>
          <a:prstGeom xmlns:a="http://schemas.openxmlformats.org/drawingml/2006/main" prst="roundRect">
            <a:avLst>
              <a:gd name="adj" fmla="val 23529"/>
            </a:avLst>
          </a:prstGeom>
          <a:solidFill xmlns:a="http://schemas.openxmlformats.org/drawingml/2006/main">
            <a:srgbClr val="E8ECF1"/>
          </a:solidFill>
          <a:ln xmlns:a="http://schemas.openxmlformats.org/drawingml/2006/main" w="0">
            <a:noFill/>
            <a:prstDash val="solid"/>
          </a:ln>
        </p:spPr>
      </p:sp>
      <p:sp>
        <p:nvSpPr>
          <p:cNvPr id="36" name="">
            <a:extLst xmlns:a="http://schemas.openxmlformats.org/drawingml/2006/main">
              <a:ext uri="{FF2B5EF4-FFF2-40B4-BE49-F238E27FC236}">
                <a16:creationId xmlns:a16="http://schemas.microsoft.com/office/drawing/2014/main" id="{A0C97F40-B5F5-4A59-9047-196DD506358E}"/>
              </a:ext>
            </a:extLst>
          </p:cNvPr>
          <p:cNvSpPr>
            <a:spLocks xmlns:a="http://schemas.openxmlformats.org/drawingml/2006/main" noGrp="1"/>
          </p:cNvSpPr>
          <p:nvPr/>
        </p:nvSpPr>
        <p:spPr>
          <a:xfrm xmlns:a="http://schemas.openxmlformats.org/drawingml/2006/main">
            <a:off x="8267700" y="2486025"/>
            <a:ext cx="1220321" cy="161925"/>
          </a:xfrm>
          <a:prstGeom xmlns:a="http://schemas.openxmlformats.org/drawingml/2006/main" prst="roundRect">
            <a:avLst>
              <a:gd name="adj" fmla="val 23529"/>
            </a:avLst>
          </a:prstGeom>
          <a:solidFill xmlns:a="http://schemas.openxmlformats.org/drawingml/2006/main">
            <a:srgbClr val="F47A22"/>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3E9AD0AD-CF8E-4377-89B6-06F484DE001C}"/>
              </a:ext>
            </a:extLst>
          </p:cNvPr>
          <p:cNvSpPr>
            <a:spLocks xmlns:a="http://schemas.openxmlformats.org/drawingml/2006/main" noGrp="1"/>
          </p:cNvSpPr>
          <p:nvPr/>
        </p:nvSpPr>
        <p:spPr>
          <a:xfrm xmlns:a="http://schemas.openxmlformats.org/drawingml/2006/main">
            <a:off x="10629900" y="2428875"/>
            <a:ext cx="323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r">
              <a:defRPr sz="1200" b="1" i="0">
                <a:solidFill>
                  <a:srgbClr val="233248"/>
                </a:solidFill>
                <a:latin typeface="Calibri"/>
                <a:ea typeface="Calibri"/>
                <a:cs typeface="Calibri"/>
              </a:defRPr>
            </a:pPr>
            <a:r>
              <a:rPr sz="1200" b="1" i="0">
                <a:solidFill>
                  <a:srgbClr val="233248"/>
                </a:solidFill>
                <a:latin typeface="Calibri"/>
                <a:ea typeface="Calibri"/>
                <a:cs typeface="Calibri"/>
              </a:rPr>
              <a:t>9</a:t>
            </a:r>
          </a:p>
        </p:txBody>
      </p:sp>
      <p:sp>
        <p:nvSpPr>
          <p:cNvPr id="38" name="">
            <a:extLst xmlns:a="http://schemas.openxmlformats.org/drawingml/2006/main">
              <a:ext uri="{FF2B5EF4-FFF2-40B4-BE49-F238E27FC236}">
                <a16:creationId xmlns:a16="http://schemas.microsoft.com/office/drawing/2014/main" id="{3A6A6E22-F2A6-470E-A4F7-C5B7748D80A9}"/>
              </a:ext>
            </a:extLst>
          </p:cNvPr>
          <p:cNvSpPr>
            <a:spLocks xmlns:a="http://schemas.openxmlformats.org/drawingml/2006/main" noGrp="1"/>
          </p:cNvSpPr>
          <p:nvPr/>
        </p:nvSpPr>
        <p:spPr>
          <a:xfrm xmlns:a="http://schemas.openxmlformats.org/drawingml/2006/main">
            <a:off x="6191250" y="2895600"/>
            <a:ext cx="200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Moved</a:t>
            </a:r>
          </a:p>
        </p:txBody>
      </p:sp>
      <p:sp>
        <p:nvSpPr>
          <p:cNvPr id="39" name="">
            <a:extLst xmlns:a="http://schemas.openxmlformats.org/drawingml/2006/main">
              <a:ext uri="{FF2B5EF4-FFF2-40B4-BE49-F238E27FC236}">
                <a16:creationId xmlns:a16="http://schemas.microsoft.com/office/drawing/2014/main" id="{F6FFC0D4-CAC8-4770-8EDF-0C9D08486CD0}"/>
              </a:ext>
            </a:extLst>
          </p:cNvPr>
          <p:cNvSpPr>
            <a:spLocks xmlns:a="http://schemas.openxmlformats.org/drawingml/2006/main" noGrp="1"/>
          </p:cNvSpPr>
          <p:nvPr/>
        </p:nvSpPr>
        <p:spPr>
          <a:xfrm xmlns:a="http://schemas.openxmlformats.org/drawingml/2006/main">
            <a:off x="8267700" y="2933700"/>
            <a:ext cx="2305050" cy="161925"/>
          </a:xfrm>
          <a:prstGeom xmlns:a="http://schemas.openxmlformats.org/drawingml/2006/main" prst="roundRect">
            <a:avLst>
              <a:gd name="adj" fmla="val 23529"/>
            </a:avLst>
          </a:prstGeom>
          <a:solidFill xmlns:a="http://schemas.openxmlformats.org/drawingml/2006/main">
            <a:srgbClr val="E8ECF1"/>
          </a:solidFill>
          <a:ln xmlns:a="http://schemas.openxmlformats.org/drawingml/2006/main" w="0">
            <a:noFill/>
            <a:prstDash val="solid"/>
          </a:ln>
        </p:spPr>
      </p:sp>
      <p:sp>
        <p:nvSpPr>
          <p:cNvPr id="40" name="">
            <a:extLst xmlns:a="http://schemas.openxmlformats.org/drawingml/2006/main">
              <a:ext uri="{FF2B5EF4-FFF2-40B4-BE49-F238E27FC236}">
                <a16:creationId xmlns:a16="http://schemas.microsoft.com/office/drawing/2014/main" id="{DBC12323-58B3-43FC-9E3E-09FE6653285A}"/>
              </a:ext>
            </a:extLst>
          </p:cNvPr>
          <p:cNvSpPr>
            <a:spLocks xmlns:a="http://schemas.openxmlformats.org/drawingml/2006/main" noGrp="1"/>
          </p:cNvSpPr>
          <p:nvPr/>
        </p:nvSpPr>
        <p:spPr>
          <a:xfrm xmlns:a="http://schemas.openxmlformats.org/drawingml/2006/main">
            <a:off x="8267700" y="2933700"/>
            <a:ext cx="1084729" cy="161925"/>
          </a:xfrm>
          <a:prstGeom xmlns:a="http://schemas.openxmlformats.org/drawingml/2006/main" prst="roundRect">
            <a:avLst>
              <a:gd name="adj" fmla="val 23529"/>
            </a:avLst>
          </a:prstGeom>
          <a:solidFill xmlns:a="http://schemas.openxmlformats.org/drawingml/2006/main">
            <a:srgbClr val="F47A22"/>
          </a:solidFill>
          <a:ln xmlns:a="http://schemas.openxmlformats.org/drawingml/2006/main" w="0">
            <a:noFill/>
            <a:prstDash val="solid"/>
          </a:ln>
        </p:spPr>
      </p:sp>
      <p:sp>
        <p:nvSpPr>
          <p:cNvPr id="41" name="">
            <a:extLst xmlns:a="http://schemas.openxmlformats.org/drawingml/2006/main">
              <a:ext uri="{FF2B5EF4-FFF2-40B4-BE49-F238E27FC236}">
                <a16:creationId xmlns:a16="http://schemas.microsoft.com/office/drawing/2014/main" id="{22D64F0C-F5D0-42A3-95C5-553D572BDD9C}"/>
              </a:ext>
            </a:extLst>
          </p:cNvPr>
          <p:cNvSpPr>
            <a:spLocks xmlns:a="http://schemas.openxmlformats.org/drawingml/2006/main" noGrp="1"/>
          </p:cNvSpPr>
          <p:nvPr/>
        </p:nvSpPr>
        <p:spPr>
          <a:xfrm xmlns:a="http://schemas.openxmlformats.org/drawingml/2006/main">
            <a:off x="10629900" y="2876550"/>
            <a:ext cx="323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r">
              <a:defRPr sz="1200" b="1" i="0">
                <a:solidFill>
                  <a:srgbClr val="233248"/>
                </a:solidFill>
                <a:latin typeface="Calibri"/>
                <a:ea typeface="Calibri"/>
                <a:cs typeface="Calibri"/>
              </a:defRPr>
            </a:pPr>
            <a:r>
              <a:rPr sz="1200" b="1" i="0">
                <a:solidFill>
                  <a:srgbClr val="233248"/>
                </a:solidFill>
                <a:latin typeface="Calibri"/>
                <a:ea typeface="Calibri"/>
                <a:cs typeface="Calibri"/>
              </a:rPr>
              <a:t>8</a:t>
            </a:r>
          </a:p>
        </p:txBody>
      </p:sp>
      <p:sp>
        <p:nvSpPr>
          <p:cNvPr id="42" name="">
            <a:extLst xmlns:a="http://schemas.openxmlformats.org/drawingml/2006/main">
              <a:ext uri="{FF2B5EF4-FFF2-40B4-BE49-F238E27FC236}">
                <a16:creationId xmlns:a16="http://schemas.microsoft.com/office/drawing/2014/main" id="{64F939F1-FFE1-4304-BA3F-E6EF122B63BE}"/>
              </a:ext>
            </a:extLst>
          </p:cNvPr>
          <p:cNvSpPr>
            <a:spLocks xmlns:a="http://schemas.openxmlformats.org/drawingml/2006/main" noGrp="1"/>
          </p:cNvSpPr>
          <p:nvPr/>
        </p:nvSpPr>
        <p:spPr>
          <a:xfrm xmlns:a="http://schemas.openxmlformats.org/drawingml/2006/main">
            <a:off x="6191250" y="3343275"/>
            <a:ext cx="200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Messaged</a:t>
            </a:r>
          </a:p>
        </p:txBody>
      </p:sp>
      <p:sp>
        <p:nvSpPr>
          <p:cNvPr id="43" name="">
            <a:extLst xmlns:a="http://schemas.openxmlformats.org/drawingml/2006/main">
              <a:ext uri="{FF2B5EF4-FFF2-40B4-BE49-F238E27FC236}">
                <a16:creationId xmlns:a16="http://schemas.microsoft.com/office/drawing/2014/main" id="{590971F7-63F8-4C23-8292-EF91910290A7}"/>
              </a:ext>
            </a:extLst>
          </p:cNvPr>
          <p:cNvSpPr>
            <a:spLocks xmlns:a="http://schemas.openxmlformats.org/drawingml/2006/main" noGrp="1"/>
          </p:cNvSpPr>
          <p:nvPr/>
        </p:nvSpPr>
        <p:spPr>
          <a:xfrm xmlns:a="http://schemas.openxmlformats.org/drawingml/2006/main">
            <a:off x="8267700" y="3381375"/>
            <a:ext cx="2305050" cy="161925"/>
          </a:xfrm>
          <a:prstGeom xmlns:a="http://schemas.openxmlformats.org/drawingml/2006/main" prst="roundRect">
            <a:avLst>
              <a:gd name="adj" fmla="val 23529"/>
            </a:avLst>
          </a:prstGeom>
          <a:solidFill xmlns:a="http://schemas.openxmlformats.org/drawingml/2006/main">
            <a:srgbClr val="E8ECF1"/>
          </a:solidFill>
          <a:ln xmlns:a="http://schemas.openxmlformats.org/drawingml/2006/main" w="0">
            <a:noFill/>
            <a:prstDash val="solid"/>
          </a:ln>
        </p:spPr>
      </p:sp>
      <p:sp>
        <p:nvSpPr>
          <p:cNvPr id="44" name="">
            <a:extLst xmlns:a="http://schemas.openxmlformats.org/drawingml/2006/main">
              <a:ext uri="{FF2B5EF4-FFF2-40B4-BE49-F238E27FC236}">
                <a16:creationId xmlns:a16="http://schemas.microsoft.com/office/drawing/2014/main" id="{7256CE94-D45F-488C-86B8-7F53191B9CE5}"/>
              </a:ext>
            </a:extLst>
          </p:cNvPr>
          <p:cNvSpPr>
            <a:spLocks xmlns:a="http://schemas.openxmlformats.org/drawingml/2006/main" noGrp="1"/>
          </p:cNvSpPr>
          <p:nvPr/>
        </p:nvSpPr>
        <p:spPr>
          <a:xfrm xmlns:a="http://schemas.openxmlformats.org/drawingml/2006/main">
            <a:off x="8267700" y="3381375"/>
            <a:ext cx="677956" cy="161925"/>
          </a:xfrm>
          <a:prstGeom xmlns:a="http://schemas.openxmlformats.org/drawingml/2006/main" prst="roundRect">
            <a:avLst>
              <a:gd name="adj" fmla="val 23529"/>
            </a:avLst>
          </a:prstGeom>
          <a:solidFill xmlns:a="http://schemas.openxmlformats.org/drawingml/2006/main">
            <a:srgbClr val="F47A22"/>
          </a:solidFill>
          <a:ln xmlns:a="http://schemas.openxmlformats.org/drawingml/2006/main" w="0">
            <a:noFill/>
            <a:prstDash val="solid"/>
          </a:ln>
        </p:spPr>
      </p:sp>
      <p:sp>
        <p:nvSpPr>
          <p:cNvPr id="45" name="">
            <a:extLst xmlns:a="http://schemas.openxmlformats.org/drawingml/2006/main">
              <a:ext uri="{FF2B5EF4-FFF2-40B4-BE49-F238E27FC236}">
                <a16:creationId xmlns:a16="http://schemas.microsoft.com/office/drawing/2014/main" id="{B14E2928-C505-494C-8274-A710AFE3136F}"/>
              </a:ext>
            </a:extLst>
          </p:cNvPr>
          <p:cNvSpPr>
            <a:spLocks xmlns:a="http://schemas.openxmlformats.org/drawingml/2006/main" noGrp="1"/>
          </p:cNvSpPr>
          <p:nvPr/>
        </p:nvSpPr>
        <p:spPr>
          <a:xfrm xmlns:a="http://schemas.openxmlformats.org/drawingml/2006/main">
            <a:off x="10629900" y="3324225"/>
            <a:ext cx="323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r">
              <a:defRPr sz="1200" b="1" i="0">
                <a:solidFill>
                  <a:srgbClr val="233248"/>
                </a:solidFill>
                <a:latin typeface="Calibri"/>
                <a:ea typeface="Calibri"/>
                <a:cs typeface="Calibri"/>
              </a:defRPr>
            </a:pPr>
            <a:r>
              <a:rPr sz="1200" b="1" i="0">
                <a:solidFill>
                  <a:srgbClr val="233248"/>
                </a:solidFill>
                <a:latin typeface="Calibri"/>
                <a:ea typeface="Calibri"/>
                <a:cs typeface="Calibri"/>
              </a:rPr>
              <a:t>5</a:t>
            </a:r>
          </a:p>
        </p:txBody>
      </p:sp>
      <p:sp>
        <p:nvSpPr>
          <p:cNvPr id="46" name="">
            <a:extLst xmlns:a="http://schemas.openxmlformats.org/drawingml/2006/main">
              <a:ext uri="{FF2B5EF4-FFF2-40B4-BE49-F238E27FC236}">
                <a16:creationId xmlns:a16="http://schemas.microsoft.com/office/drawing/2014/main" id="{85D5B3B1-EE30-449B-BD9D-713A70ABC653}"/>
              </a:ext>
            </a:extLst>
          </p:cNvPr>
          <p:cNvSpPr>
            <a:spLocks xmlns:a="http://schemas.openxmlformats.org/drawingml/2006/main" noGrp="1"/>
          </p:cNvSpPr>
          <p:nvPr/>
        </p:nvSpPr>
        <p:spPr>
          <a:xfrm xmlns:a="http://schemas.openxmlformats.org/drawingml/2006/main">
            <a:off x="6191250" y="3790950"/>
            <a:ext cx="200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Cancelled</a:t>
            </a:r>
          </a:p>
        </p:txBody>
      </p:sp>
      <p:sp>
        <p:nvSpPr>
          <p:cNvPr id="47" name="">
            <a:extLst xmlns:a="http://schemas.openxmlformats.org/drawingml/2006/main">
              <a:ext uri="{FF2B5EF4-FFF2-40B4-BE49-F238E27FC236}">
                <a16:creationId xmlns:a16="http://schemas.microsoft.com/office/drawing/2014/main" id="{CBBA43CD-05E1-4420-8D5C-F1C5357BF211}"/>
              </a:ext>
            </a:extLst>
          </p:cNvPr>
          <p:cNvSpPr>
            <a:spLocks xmlns:a="http://schemas.openxmlformats.org/drawingml/2006/main" noGrp="1"/>
          </p:cNvSpPr>
          <p:nvPr/>
        </p:nvSpPr>
        <p:spPr>
          <a:xfrm xmlns:a="http://schemas.openxmlformats.org/drawingml/2006/main">
            <a:off x="8267700" y="3829050"/>
            <a:ext cx="2305050" cy="161925"/>
          </a:xfrm>
          <a:prstGeom xmlns:a="http://schemas.openxmlformats.org/drawingml/2006/main" prst="roundRect">
            <a:avLst>
              <a:gd name="adj" fmla="val 23529"/>
            </a:avLst>
          </a:prstGeom>
          <a:solidFill xmlns:a="http://schemas.openxmlformats.org/drawingml/2006/main">
            <a:srgbClr val="E8ECF1"/>
          </a:solidFill>
          <a:ln xmlns:a="http://schemas.openxmlformats.org/drawingml/2006/main" w="0">
            <a:noFill/>
            <a:prstDash val="solid"/>
          </a:ln>
        </p:spPr>
      </p:sp>
      <p:sp>
        <p:nvSpPr>
          <p:cNvPr id="48" name="">
            <a:extLst xmlns:a="http://schemas.openxmlformats.org/drawingml/2006/main">
              <a:ext uri="{FF2B5EF4-FFF2-40B4-BE49-F238E27FC236}">
                <a16:creationId xmlns:a16="http://schemas.microsoft.com/office/drawing/2014/main" id="{412EA52E-184D-499A-8D33-7BD453625E0D}"/>
              </a:ext>
            </a:extLst>
          </p:cNvPr>
          <p:cNvSpPr>
            <a:spLocks xmlns:a="http://schemas.openxmlformats.org/drawingml/2006/main" noGrp="1"/>
          </p:cNvSpPr>
          <p:nvPr/>
        </p:nvSpPr>
        <p:spPr>
          <a:xfrm xmlns:a="http://schemas.openxmlformats.org/drawingml/2006/main">
            <a:off x="8267700" y="3829050"/>
            <a:ext cx="542365" cy="161925"/>
          </a:xfrm>
          <a:prstGeom xmlns:a="http://schemas.openxmlformats.org/drawingml/2006/main" prst="roundRect">
            <a:avLst>
              <a:gd name="adj" fmla="val 23529"/>
            </a:avLst>
          </a:prstGeom>
          <a:solidFill xmlns:a="http://schemas.openxmlformats.org/drawingml/2006/main">
            <a:srgbClr val="F47A22"/>
          </a:solidFill>
          <a:ln xmlns:a="http://schemas.openxmlformats.org/drawingml/2006/main" w="0">
            <a:noFill/>
            <a:prstDash val="solid"/>
          </a:ln>
        </p:spPr>
      </p:sp>
      <p:sp>
        <p:nvSpPr>
          <p:cNvPr id="49" name="">
            <a:extLst xmlns:a="http://schemas.openxmlformats.org/drawingml/2006/main">
              <a:ext uri="{FF2B5EF4-FFF2-40B4-BE49-F238E27FC236}">
                <a16:creationId xmlns:a16="http://schemas.microsoft.com/office/drawing/2014/main" id="{A043EADA-7DB9-4613-B694-20C13A96BF5B}"/>
              </a:ext>
            </a:extLst>
          </p:cNvPr>
          <p:cNvSpPr>
            <a:spLocks xmlns:a="http://schemas.openxmlformats.org/drawingml/2006/main" noGrp="1"/>
          </p:cNvSpPr>
          <p:nvPr/>
        </p:nvSpPr>
        <p:spPr>
          <a:xfrm xmlns:a="http://schemas.openxmlformats.org/drawingml/2006/main">
            <a:off x="10629900" y="3771900"/>
            <a:ext cx="323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r">
              <a:defRPr sz="1200" b="1" i="0">
                <a:solidFill>
                  <a:srgbClr val="233248"/>
                </a:solidFill>
                <a:latin typeface="Calibri"/>
                <a:ea typeface="Calibri"/>
                <a:cs typeface="Calibri"/>
              </a:defRPr>
            </a:pPr>
            <a:r>
              <a:rPr sz="1200" b="1" i="0">
                <a:solidFill>
                  <a:srgbClr val="233248"/>
                </a:solidFill>
                <a:latin typeface="Calibri"/>
                <a:ea typeface="Calibri"/>
                <a:cs typeface="Calibri"/>
              </a:rPr>
              <a:t>4</a:t>
            </a:r>
          </a:p>
        </p:txBody>
      </p:sp>
      <p:sp>
        <p:nvSpPr>
          <p:cNvPr id="50" name="">
            <a:extLst xmlns:a="http://schemas.openxmlformats.org/drawingml/2006/main">
              <a:ext uri="{FF2B5EF4-FFF2-40B4-BE49-F238E27FC236}">
                <a16:creationId xmlns:a16="http://schemas.microsoft.com/office/drawing/2014/main" id="{5F1D2E91-948A-4C41-BCFC-377EEA12AB03}"/>
              </a:ext>
            </a:extLst>
          </p:cNvPr>
          <p:cNvSpPr>
            <a:spLocks xmlns:a="http://schemas.openxmlformats.org/drawingml/2006/main" noGrp="1"/>
          </p:cNvSpPr>
          <p:nvPr/>
        </p:nvSpPr>
        <p:spPr>
          <a:xfrm xmlns:a="http://schemas.openxmlformats.org/drawingml/2006/main">
            <a:off x="6191250" y="4238625"/>
            <a:ext cx="200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Other</a:t>
            </a:r>
          </a:p>
        </p:txBody>
      </p:sp>
      <p:sp>
        <p:nvSpPr>
          <p:cNvPr id="51" name="">
            <a:extLst xmlns:a="http://schemas.openxmlformats.org/drawingml/2006/main">
              <a:ext uri="{FF2B5EF4-FFF2-40B4-BE49-F238E27FC236}">
                <a16:creationId xmlns:a16="http://schemas.microsoft.com/office/drawing/2014/main" id="{300ADFE3-DDAB-46CC-B31A-48CD7C1D1B68}"/>
              </a:ext>
            </a:extLst>
          </p:cNvPr>
          <p:cNvSpPr>
            <a:spLocks xmlns:a="http://schemas.openxmlformats.org/drawingml/2006/main" noGrp="1"/>
          </p:cNvSpPr>
          <p:nvPr/>
        </p:nvSpPr>
        <p:spPr>
          <a:xfrm xmlns:a="http://schemas.openxmlformats.org/drawingml/2006/main">
            <a:off x="8267700" y="4276725"/>
            <a:ext cx="2305050" cy="161925"/>
          </a:xfrm>
          <a:prstGeom xmlns:a="http://schemas.openxmlformats.org/drawingml/2006/main" prst="roundRect">
            <a:avLst>
              <a:gd name="adj" fmla="val 23529"/>
            </a:avLst>
          </a:prstGeom>
          <a:solidFill xmlns:a="http://schemas.openxmlformats.org/drawingml/2006/main">
            <a:srgbClr val="E8ECF1"/>
          </a:solidFill>
          <a:ln xmlns:a="http://schemas.openxmlformats.org/drawingml/2006/main" w="0">
            <a:noFill/>
            <a:prstDash val="solid"/>
          </a:ln>
        </p:spPr>
      </p:sp>
      <p:sp>
        <p:nvSpPr>
          <p:cNvPr id="52" name="">
            <a:extLst xmlns:a="http://schemas.openxmlformats.org/drawingml/2006/main">
              <a:ext uri="{FF2B5EF4-FFF2-40B4-BE49-F238E27FC236}">
                <a16:creationId xmlns:a16="http://schemas.microsoft.com/office/drawing/2014/main" id="{F80C2112-DBBC-4B50-8363-49F7A7B1891A}"/>
              </a:ext>
            </a:extLst>
          </p:cNvPr>
          <p:cNvSpPr>
            <a:spLocks xmlns:a="http://schemas.openxmlformats.org/drawingml/2006/main" noGrp="1"/>
          </p:cNvSpPr>
          <p:nvPr/>
        </p:nvSpPr>
        <p:spPr>
          <a:xfrm xmlns:a="http://schemas.openxmlformats.org/drawingml/2006/main">
            <a:off x="8267700" y="4276725"/>
            <a:ext cx="135591" cy="161925"/>
          </a:xfrm>
          <a:prstGeom xmlns:a="http://schemas.openxmlformats.org/drawingml/2006/main" prst="roundRect">
            <a:avLst>
              <a:gd name="adj" fmla="val 28099"/>
            </a:avLst>
          </a:prstGeom>
          <a:solidFill xmlns:a="http://schemas.openxmlformats.org/drawingml/2006/main">
            <a:srgbClr val="F47A22"/>
          </a:solidFill>
          <a:ln xmlns:a="http://schemas.openxmlformats.org/drawingml/2006/main" w="0">
            <a:noFill/>
            <a:prstDash val="solid"/>
          </a:ln>
        </p:spPr>
      </p:sp>
      <p:sp>
        <p:nvSpPr>
          <p:cNvPr id="53" name="">
            <a:extLst xmlns:a="http://schemas.openxmlformats.org/drawingml/2006/main">
              <a:ext uri="{FF2B5EF4-FFF2-40B4-BE49-F238E27FC236}">
                <a16:creationId xmlns:a16="http://schemas.microsoft.com/office/drawing/2014/main" id="{D118A947-E7C4-425F-B2B1-D22679E2E94E}"/>
              </a:ext>
            </a:extLst>
          </p:cNvPr>
          <p:cNvSpPr>
            <a:spLocks xmlns:a="http://schemas.openxmlformats.org/drawingml/2006/main" noGrp="1"/>
          </p:cNvSpPr>
          <p:nvPr/>
        </p:nvSpPr>
        <p:spPr>
          <a:xfrm xmlns:a="http://schemas.openxmlformats.org/drawingml/2006/main">
            <a:off x="10629900" y="4219575"/>
            <a:ext cx="323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r">
              <a:defRPr sz="1200" b="1" i="0">
                <a:solidFill>
                  <a:srgbClr val="233248"/>
                </a:solidFill>
                <a:latin typeface="Calibri"/>
                <a:ea typeface="Calibri"/>
                <a:cs typeface="Calibri"/>
              </a:defRPr>
            </a:pPr>
            <a:r>
              <a:rPr sz="1200" b="1" i="0">
                <a:solidFill>
                  <a:srgbClr val="233248"/>
                </a:solidFill>
                <a:latin typeface="Calibri"/>
                <a:ea typeface="Calibri"/>
                <a:cs typeface="Calibri"/>
              </a:rPr>
              <a:t>1</a:t>
            </a:r>
          </a:p>
        </p:txBody>
      </p:sp>
      <p:sp>
        <p:nvSpPr>
          <p:cNvPr id="54" name="">
            <a:extLst xmlns:a="http://schemas.openxmlformats.org/drawingml/2006/main">
              <a:ext uri="{FF2B5EF4-FFF2-40B4-BE49-F238E27FC236}">
                <a16:creationId xmlns:a16="http://schemas.microsoft.com/office/drawing/2014/main" id="{2BA58793-E608-4BFC-91F2-CD61BA75B1ED}"/>
              </a:ext>
            </a:extLst>
          </p:cNvPr>
          <p:cNvSpPr>
            <a:spLocks xmlns:a="http://schemas.openxmlformats.org/drawingml/2006/main" noGrp="1"/>
          </p:cNvSpPr>
          <p:nvPr/>
        </p:nvSpPr>
        <p:spPr>
          <a:xfrm xmlns:a="http://schemas.openxmlformats.org/drawingml/2006/main">
            <a:off x="514350" y="4914900"/>
            <a:ext cx="10439400" cy="1009650"/>
          </a:xfrm>
          <a:prstGeom xmlns:a="http://schemas.openxmlformats.org/drawingml/2006/main" prst="roundRect">
            <a:avLst>
              <a:gd name="adj" fmla="val 5660"/>
            </a:avLst>
          </a:prstGeom>
          <a:solidFill xmlns:a="http://schemas.openxmlformats.org/drawingml/2006/main">
            <a:srgbClr val="1B2B45"/>
          </a:solidFill>
          <a:ln xmlns:a="http://schemas.openxmlformats.org/drawingml/2006/main" w="0">
            <a:noFill/>
            <a:prstDash val="solid"/>
          </a:ln>
        </p:spPr>
      </p:sp>
      <p:sp>
        <p:nvSpPr>
          <p:cNvPr id="55" name="">
            <a:extLst xmlns:a="http://schemas.openxmlformats.org/drawingml/2006/main">
              <a:ext uri="{FF2B5EF4-FFF2-40B4-BE49-F238E27FC236}">
                <a16:creationId xmlns:a16="http://schemas.microsoft.com/office/drawing/2014/main" id="{3321ADC1-3784-41D7-B25E-327C1E880962}"/>
              </a:ext>
            </a:extLst>
          </p:cNvPr>
          <p:cNvSpPr>
            <a:spLocks xmlns:a="http://schemas.openxmlformats.org/drawingml/2006/main" noGrp="1"/>
          </p:cNvSpPr>
          <p:nvPr/>
        </p:nvSpPr>
        <p:spPr>
          <a:xfrm xmlns:a="http://schemas.openxmlformats.org/drawingml/2006/main">
            <a:off x="742950" y="5133975"/>
            <a:ext cx="99822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1650" b="0" i="0">
                <a:solidFill>
                  <a:srgbClr val="FFFFFF"/>
                </a:solidFill>
                <a:latin typeface="Calibri"/>
                <a:ea typeface="Calibri"/>
                <a:cs typeface="Calibri"/>
              </a:defRPr>
            </a:pPr>
            <a:r>
              <a:rPr sz="1650" b="0" i="0">
                <a:solidFill>
                  <a:srgbClr val="FFFFFF"/>
                </a:solidFill>
                <a:latin typeface="Calibri"/>
                <a:ea typeface="Calibri"/>
                <a:cs typeface="Calibri"/>
              </a:rPr>
              <a:t>The app often hands the last physical coordination step back to the rider and driver. Calls work often — but they add effort and do not provide a reliable fallback when coordination still fails.</a:t>
            </a:r>
          </a:p>
        </p:txBody>
      </p:sp>
      <p:sp>
        <p:nvSpPr>
          <p:cNvPr id="56" name="">
            <a:extLst xmlns:a="http://schemas.openxmlformats.org/drawingml/2006/main">
              <a:ext uri="{FF2B5EF4-FFF2-40B4-BE49-F238E27FC236}">
                <a16:creationId xmlns:a16="http://schemas.microsoft.com/office/drawing/2014/main" id="{46323566-1381-478B-B178-68ADEAC9BCB0}"/>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a:t>
            </a:r>
          </a:p>
        </p:txBody>
      </p:sp>
      <p:sp>
        <p:nvSpPr>
          <p:cNvPr id="57" name="">
            <a:extLst xmlns:a="http://schemas.openxmlformats.org/drawingml/2006/main">
              <a:ext uri="{FF2B5EF4-FFF2-40B4-BE49-F238E27FC236}">
                <a16:creationId xmlns:a16="http://schemas.microsoft.com/office/drawing/2014/main" id="{53BDE53F-2FE5-4B00-9B54-EC70E8CD17A5}"/>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8</a:t>
            </a:r>
          </a:p>
        </p:txBody>
      </p:sp>
    </p:spTree>
    <p:extLst>
      <p:ext uri="{BB962C8B-B14F-4D97-AF65-F5344CB8AC3E}">
        <p14:creationId xmlns:p14="http://schemas.microsoft.com/office/powerpoint/2010/main" val="958181202"/>
      </p:ext>
    </p:extLst>
  </p:cSld>
</p:sld>
</file>

<file path=ppt/slides/slide9.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54BBE319-CFFF-4DBB-9BD8-0FDF5E818A30}"/>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3 · STRATEGY IMPLICATIONS</a:t>
            </a:r>
          </a:p>
        </p:txBody>
      </p:sp>
      <p:sp>
        <p:nvSpPr>
          <p:cNvPr id="2" name="">
            <a:extLst xmlns:a="http://schemas.openxmlformats.org/drawingml/2006/main">
              <a:ext uri="{FF2B5EF4-FFF2-40B4-BE49-F238E27FC236}">
                <a16:creationId xmlns:a16="http://schemas.microsoft.com/office/drawing/2014/main" id="{C79238A4-1816-4FA4-A61C-3FF406046BF3}"/>
              </a:ext>
            </a:extLst>
          </p:cNvPr>
          <p:cNvSpPr>
            <a:spLocks xmlns:a="http://schemas.openxmlformats.org/drawingml/2006/main" noGrp="1"/>
          </p:cNvSpPr>
          <p:nvPr/>
        </p:nvSpPr>
        <p:spPr>
          <a:xfrm xmlns:a="http://schemas.openxmlformats.org/drawingml/2006/main">
            <a:off x="514350" y="571500"/>
            <a:ext cx="1114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Make the fallback faster — not the map more complicated</a:t>
            </a:r>
          </a:p>
        </p:txBody>
      </p:sp>
      <p:sp>
        <p:nvSpPr>
          <p:cNvPr id="3" name="">
            <a:extLst xmlns:a="http://schemas.openxmlformats.org/drawingml/2006/main">
              <a:ext uri="{FF2B5EF4-FFF2-40B4-BE49-F238E27FC236}">
                <a16:creationId xmlns:a16="http://schemas.microsoft.com/office/drawing/2014/main" id="{F783015F-A9C9-4BCF-A45D-3B27E36E4CD4}"/>
              </a:ext>
            </a:extLst>
          </p:cNvPr>
          <p:cNvSpPr>
            <a:spLocks xmlns:a="http://schemas.openxmlformats.org/drawingml/2006/main" noGrp="1"/>
          </p:cNvSpPr>
          <p:nvPr/>
        </p:nvSpPr>
        <p:spPr>
          <a:xfrm xmlns:a="http://schemas.openxmlformats.org/drawingml/2006/main">
            <a:off x="514350" y="1619250"/>
            <a:ext cx="10439400" cy="1104900"/>
          </a:xfrm>
          <a:prstGeom xmlns:a="http://schemas.openxmlformats.org/drawingml/2006/main" prst="roundRect">
            <a:avLst>
              <a:gd name="adj" fmla="val 5172"/>
            </a:avLst>
          </a:prstGeom>
          <a:solidFill xmlns:a="http://schemas.openxmlformats.org/drawingml/2006/main">
            <a:srgbClr val="E2F4F6"/>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8609FA44-C510-4FA9-BED7-C380AC3A2E5A}"/>
              </a:ext>
            </a:extLst>
          </p:cNvPr>
          <p:cNvSpPr>
            <a:spLocks xmlns:a="http://schemas.openxmlformats.org/drawingml/2006/main" noGrp="1"/>
          </p:cNvSpPr>
          <p:nvPr/>
        </p:nvSpPr>
        <p:spPr>
          <a:xfrm xmlns:a="http://schemas.openxmlformats.org/drawingml/2006/main">
            <a:off x="704850" y="1771650"/>
            <a:ext cx="2476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8235"/>
          </a:bodyPr>
          <a:lstStyle xmlns:a="http://schemas.openxmlformats.org/drawingml/2006/main"/>
          <a:p xmlns:a="http://schemas.openxmlformats.org/drawingml/2006/main">
            <a:pPr algn="l">
              <a:defRPr sz="1275" b="1" i="0">
                <a:solidFill>
                  <a:srgbClr val="1BB5C8"/>
                </a:solidFill>
                <a:latin typeface="Calibri"/>
                <a:ea typeface="Calibri"/>
                <a:cs typeface="Calibri"/>
              </a:defRPr>
            </a:pPr>
            <a:r>
              <a:rPr sz="1275" b="1" i="0">
                <a:solidFill>
                  <a:srgbClr val="1BB5C8"/>
                </a:solidFill>
                <a:latin typeface="Calibri"/>
                <a:ea typeface="Calibri"/>
                <a:cs typeface="Calibri"/>
              </a:rPr>
              <a:t>Recommended direction</a:t>
            </a:r>
          </a:p>
        </p:txBody>
      </p:sp>
      <p:sp>
        <p:nvSpPr>
          <p:cNvPr id="5" name="">
            <a:extLst xmlns:a="http://schemas.openxmlformats.org/drawingml/2006/main">
              <a:ext uri="{FF2B5EF4-FFF2-40B4-BE49-F238E27FC236}">
                <a16:creationId xmlns:a16="http://schemas.microsoft.com/office/drawing/2014/main" id="{C81E3982-0B2B-483D-B80D-874861AAE3D0}"/>
              </a:ext>
            </a:extLst>
          </p:cNvPr>
          <p:cNvSpPr>
            <a:spLocks xmlns:a="http://schemas.openxmlformats.org/drawingml/2006/main" noGrp="1"/>
          </p:cNvSpPr>
          <p:nvPr/>
        </p:nvSpPr>
        <p:spPr>
          <a:xfrm xmlns:a="http://schemas.openxmlformats.org/drawingml/2006/main">
            <a:off x="704850" y="2114550"/>
            <a:ext cx="9982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77805"/>
          </a:bodyPr>
          <a:lstStyle xmlns:a="http://schemas.openxmlformats.org/drawingml/2006/main"/>
          <a:p xmlns:a="http://schemas.openxmlformats.org/drawingml/2006/main">
            <a:pPr algn="l">
              <a:defRPr sz="2025" b="1" i="0">
                <a:solidFill>
                  <a:srgbClr val="1B2B45"/>
                </a:solidFill>
                <a:latin typeface="Calibri"/>
                <a:ea typeface="Calibri"/>
                <a:cs typeface="Calibri"/>
              </a:defRPr>
            </a:pPr>
            <a:r>
              <a:rPr sz="2025" b="1" i="0">
                <a:solidFill>
                  <a:srgbClr val="1B2B45"/>
                </a:solidFill>
                <a:latin typeface="Calibri"/>
                <a:ea typeface="Calibri"/>
                <a:cs typeface="Calibri"/>
              </a:rPr>
              <a:t>Reduce the effort and uncertainty of manual pickup recovery at a defined set of complex location types.</a:t>
            </a:r>
          </a:p>
        </p:txBody>
      </p:sp>
      <p:sp>
        <p:nvSpPr>
          <p:cNvPr id="6" name="">
            <a:extLst xmlns:a="http://schemas.openxmlformats.org/drawingml/2006/main">
              <a:ext uri="{FF2B5EF4-FFF2-40B4-BE49-F238E27FC236}">
                <a16:creationId xmlns:a16="http://schemas.microsoft.com/office/drawing/2014/main" id="{482A805B-47B9-46A6-BB17-42DDF66FEBB6}"/>
              </a:ext>
            </a:extLst>
          </p:cNvPr>
          <p:cNvSpPr>
            <a:spLocks xmlns:a="http://schemas.openxmlformats.org/drawingml/2006/main" noGrp="1"/>
          </p:cNvSpPr>
          <p:nvPr/>
        </p:nvSpPr>
        <p:spPr>
          <a:xfrm xmlns:a="http://schemas.openxmlformats.org/drawingml/2006/main">
            <a:off x="514350" y="3009900"/>
            <a:ext cx="4953000" cy="2019300"/>
          </a:xfrm>
          <a:prstGeom xmlns:a="http://schemas.openxmlformats.org/drawingml/2006/main" prst="roundRect">
            <a:avLst>
              <a:gd name="adj" fmla="val 2830"/>
            </a:avLst>
          </a:prstGeom>
          <a:solidFill xmlns:a="http://schemas.openxmlformats.org/drawingml/2006/main">
            <a:srgbClr val="FFFFFF"/>
          </a:solidFill>
          <a:ln xmlns:a="http://schemas.openxmlformats.org/drawingml/2006/main" w="9525">
            <a:solidFill>
              <a:srgbClr val="E8ECF1"/>
            </a:solidFill>
            <a:prstDash val="solid"/>
          </a:ln>
        </p:spPr>
      </p:sp>
      <p:sp>
        <p:nvSpPr>
          <p:cNvPr id="7" name="">
            <a:extLst xmlns:a="http://schemas.openxmlformats.org/drawingml/2006/main">
              <a:ext uri="{FF2B5EF4-FFF2-40B4-BE49-F238E27FC236}">
                <a16:creationId xmlns:a16="http://schemas.microsoft.com/office/drawing/2014/main" id="{D46D4412-E659-49FF-AC4F-4DA39CDFDBBC}"/>
              </a:ext>
            </a:extLst>
          </p:cNvPr>
          <p:cNvSpPr>
            <a:spLocks xmlns:a="http://schemas.openxmlformats.org/drawingml/2006/main" noGrp="1"/>
          </p:cNvSpPr>
          <p:nvPr/>
        </p:nvSpPr>
        <p:spPr>
          <a:xfrm xmlns:a="http://schemas.openxmlformats.org/drawingml/2006/main">
            <a:off x="666750" y="3124200"/>
            <a:ext cx="4648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1BB5C8"/>
                </a:solidFill>
                <a:latin typeface="Calibri"/>
                <a:ea typeface="Calibri"/>
                <a:cs typeface="Calibri"/>
              </a:defRPr>
            </a:pPr>
            <a:r>
              <a:rPr sz="1275" b="1" i="0">
                <a:solidFill>
                  <a:srgbClr val="1BB5C8"/>
                </a:solidFill>
                <a:latin typeface="Calibri"/>
                <a:ea typeface="Calibri"/>
                <a:cs typeface="Calibri"/>
              </a:rPr>
              <a:t>TEST ORDER</a:t>
            </a:r>
          </a:p>
        </p:txBody>
      </p:sp>
      <p:sp>
        <p:nvSpPr>
          <p:cNvPr id="8" name="">
            <a:extLst xmlns:a="http://schemas.openxmlformats.org/drawingml/2006/main">
              <a:ext uri="{FF2B5EF4-FFF2-40B4-BE49-F238E27FC236}">
                <a16:creationId xmlns:a16="http://schemas.microsoft.com/office/drawing/2014/main" id="{FE3FE897-6658-4DB5-97B8-898A9CFDC51D}"/>
              </a:ext>
            </a:extLst>
          </p:cNvPr>
          <p:cNvSpPr>
            <a:spLocks xmlns:a="http://schemas.openxmlformats.org/drawingml/2006/main" noGrp="1"/>
          </p:cNvSpPr>
          <p:nvPr/>
        </p:nvSpPr>
        <p:spPr>
          <a:xfrm xmlns:a="http://schemas.openxmlformats.org/drawingml/2006/main">
            <a:off x="666750" y="3457575"/>
            <a:ext cx="4648200" cy="1466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650" b="0" i="0">
                <a:solidFill>
                  <a:srgbClr val="233248"/>
                </a:solidFill>
                <a:latin typeface="Calibri"/>
                <a:ea typeface="Calibri"/>
                <a:cs typeface="Calibri"/>
              </a:defRPr>
            </a:pPr>
            <a:r>
              <a:rPr sz="1650" b="0" i="0">
                <a:solidFill>
                  <a:srgbClr val="233248"/>
                </a:solidFill>
                <a:latin typeface="Calibri"/>
                <a:ea typeface="Calibri"/>
                <a:cs typeface="Calibri"/>
              </a:rPr>
              <a:t>P0 · Structured pre-arrival meeting note</a:t>
            </a:r>
          </a:p>
          <a:p xmlns:a="http://schemas.openxmlformats.org/drawingml/2006/main">
            <a:pPr algn="l">
              <a:defRPr sz="1650" b="0" i="0">
                <a:solidFill>
                  <a:srgbClr val="233248"/>
                </a:solidFill>
                <a:latin typeface="Calibri"/>
                <a:ea typeface="Calibri"/>
                <a:cs typeface="Calibri"/>
              </a:defRPr>
            </a:pPr>
            <a:r>
              <a:rPr sz="1650" b="0" i="0">
                <a:solidFill>
                  <a:srgbClr val="233248"/>
                </a:solidFill>
                <a:latin typeface="Calibri"/>
                <a:ea typeface="Calibri"/>
                <a:cs typeface="Calibri"/>
              </a:rPr>
              <a:t>P1 · Guided stalled-pickup recovery</a:t>
            </a:r>
          </a:p>
          <a:p xmlns:a="http://schemas.openxmlformats.org/drawingml/2006/main">
            <a:pPr algn="l">
              <a:defRPr sz="1650" b="0" i="0">
                <a:solidFill>
                  <a:srgbClr val="233248"/>
                </a:solidFill>
                <a:latin typeface="Calibri"/>
                <a:ea typeface="Calibri"/>
                <a:cs typeface="Calibri"/>
              </a:defRPr>
            </a:pPr>
            <a:r>
              <a:rPr sz="1650" b="0" i="0">
                <a:solidFill>
                  <a:srgbClr val="233248"/>
                </a:solidFill>
                <a:latin typeface="Calibri"/>
                <a:ea typeface="Calibri"/>
                <a:cs typeface="Calibri"/>
              </a:rPr>
              <a:t>P2 · Venue-specific coordination information</a:t>
            </a:r>
          </a:p>
        </p:txBody>
      </p:sp>
      <p:sp>
        <p:nvSpPr>
          <p:cNvPr id="9" name="">
            <a:extLst xmlns:a="http://schemas.openxmlformats.org/drawingml/2006/main">
              <a:ext uri="{FF2B5EF4-FFF2-40B4-BE49-F238E27FC236}">
                <a16:creationId xmlns:a16="http://schemas.microsoft.com/office/drawing/2014/main" id="{25BF7710-81A1-40CB-A639-A2F7884A41AF}"/>
              </a:ext>
            </a:extLst>
          </p:cNvPr>
          <p:cNvSpPr>
            <a:spLocks xmlns:a="http://schemas.openxmlformats.org/drawingml/2006/main" noGrp="1"/>
          </p:cNvSpPr>
          <p:nvPr/>
        </p:nvSpPr>
        <p:spPr>
          <a:xfrm xmlns:a="http://schemas.openxmlformats.org/drawingml/2006/main">
            <a:off x="5810250" y="3009900"/>
            <a:ext cx="5143500" cy="2019300"/>
          </a:xfrm>
          <a:prstGeom xmlns:a="http://schemas.openxmlformats.org/drawingml/2006/main" prst="roundRect">
            <a:avLst>
              <a:gd name="adj" fmla="val 2830"/>
            </a:avLst>
          </a:prstGeom>
          <a:solidFill xmlns:a="http://schemas.openxmlformats.org/drawingml/2006/main">
            <a:srgbClr val="FBE7D8"/>
          </a:solidFill>
          <a:ln xmlns:a="http://schemas.openxmlformats.org/drawingml/2006/main" w="9525">
            <a:solidFill>
              <a:srgbClr val="E8ECF1"/>
            </a:solidFill>
            <a:prstDash val="solid"/>
          </a:ln>
        </p:spPr>
      </p:sp>
      <p:sp>
        <p:nvSpPr>
          <p:cNvPr id="10" name="">
            <a:extLst xmlns:a="http://schemas.openxmlformats.org/drawingml/2006/main">
              <a:ext uri="{FF2B5EF4-FFF2-40B4-BE49-F238E27FC236}">
                <a16:creationId xmlns:a16="http://schemas.microsoft.com/office/drawing/2014/main" id="{1AA65C5A-671A-4376-A7F4-792C7B2331B7}"/>
              </a:ext>
            </a:extLst>
          </p:cNvPr>
          <p:cNvSpPr>
            <a:spLocks xmlns:a="http://schemas.openxmlformats.org/drawingml/2006/main" noGrp="1"/>
          </p:cNvSpPr>
          <p:nvPr/>
        </p:nvSpPr>
        <p:spPr>
          <a:xfrm xmlns:a="http://schemas.openxmlformats.org/drawingml/2006/main">
            <a:off x="5962650" y="3124200"/>
            <a:ext cx="4838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F47A22"/>
                </a:solidFill>
                <a:latin typeface="Calibri"/>
                <a:ea typeface="Calibri"/>
                <a:cs typeface="Calibri"/>
              </a:defRPr>
            </a:pPr>
            <a:r>
              <a:rPr sz="1275" b="1" i="0">
                <a:solidFill>
                  <a:srgbClr val="F47A22"/>
                </a:solidFill>
                <a:latin typeface="Calibri"/>
                <a:ea typeface="Calibri"/>
                <a:cs typeface="Calibri"/>
              </a:rPr>
              <a:t>DO NOT</a:t>
            </a:r>
          </a:p>
        </p:txBody>
      </p:sp>
      <p:sp>
        <p:nvSpPr>
          <p:cNvPr id="11" name="">
            <a:extLst xmlns:a="http://schemas.openxmlformats.org/drawingml/2006/main">
              <a:ext uri="{FF2B5EF4-FFF2-40B4-BE49-F238E27FC236}">
                <a16:creationId xmlns:a16="http://schemas.microsoft.com/office/drawing/2014/main" id="{AE796EB3-AE02-49B7-8473-27A280EE919E}"/>
              </a:ext>
            </a:extLst>
          </p:cNvPr>
          <p:cNvSpPr>
            <a:spLocks xmlns:a="http://schemas.openxmlformats.org/drawingml/2006/main" noGrp="1"/>
          </p:cNvSpPr>
          <p:nvPr/>
        </p:nvSpPr>
        <p:spPr>
          <a:xfrm xmlns:a="http://schemas.openxmlformats.org/drawingml/2006/main">
            <a:off x="5962650" y="3457575"/>
            <a:ext cx="4838700" cy="1466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725" b="0" i="0">
                <a:solidFill>
                  <a:srgbClr val="233248"/>
                </a:solidFill>
                <a:latin typeface="Calibri"/>
                <a:ea typeface="Calibri"/>
                <a:cs typeface="Calibri"/>
              </a:defRPr>
            </a:pPr>
            <a:r>
              <a:rPr sz="1725" b="0" i="0">
                <a:solidFill>
                  <a:srgbClr val="233248"/>
                </a:solidFill>
                <a:latin typeface="Calibri"/>
                <a:ea typeface="Calibri"/>
                <a:cs typeface="Calibri"/>
              </a:rPr>
              <a:t>Do not add friction to every ride, position this as an airport-only problem, or treat all cancellations as map failures.</a:t>
            </a:r>
          </a:p>
        </p:txBody>
      </p:sp>
      <p:sp>
        <p:nvSpPr>
          <p:cNvPr id="12" name="">
            <a:extLst xmlns:a="http://schemas.openxmlformats.org/drawingml/2006/main">
              <a:ext uri="{FF2B5EF4-FFF2-40B4-BE49-F238E27FC236}">
                <a16:creationId xmlns:a16="http://schemas.microsoft.com/office/drawing/2014/main" id="{6050D7E0-7A48-4F01-AD22-EB95F93AA59C}"/>
              </a:ext>
            </a:extLst>
          </p:cNvPr>
          <p:cNvSpPr>
            <a:spLocks xmlns:a="http://schemas.openxmlformats.org/drawingml/2006/main" noGrp="1"/>
          </p:cNvSpPr>
          <p:nvPr/>
        </p:nvSpPr>
        <p:spPr>
          <a:xfrm xmlns:a="http://schemas.openxmlformats.org/drawingml/2006/main">
            <a:off x="514350" y="5314950"/>
            <a:ext cx="10439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8882"/>
          </a:bodyPr>
          <a:lstStyle xmlns:a="http://schemas.openxmlformats.org/drawingml/2006/main"/>
          <a:p xmlns:a="http://schemas.openxmlformats.org/drawingml/2006/main">
            <a:pPr algn="ctr">
              <a:defRPr sz="1500" b="1" i="0">
                <a:solidFill>
                  <a:srgbClr val="1B2B45"/>
                </a:solidFill>
                <a:latin typeface="Calibri"/>
                <a:ea typeface="Calibri"/>
                <a:cs typeface="Calibri"/>
              </a:defRPr>
            </a:pPr>
            <a:r>
              <a:rPr sz="1500" b="1" i="0">
                <a:solidFill>
                  <a:srgbClr val="1B2B45"/>
                </a:solidFill>
                <a:latin typeface="Calibri"/>
                <a:ea typeface="Calibri"/>
                <a:cs typeface="Calibri"/>
              </a:rPr>
              <a:t>Biggest open risk: driver evidence and marketplace economics are too thin to support a two-sided rollout decision.</a:t>
            </a:r>
          </a:p>
        </p:txBody>
      </p:sp>
      <p:sp>
        <p:nvSpPr>
          <p:cNvPr id="13" name="">
            <a:extLst xmlns:a="http://schemas.openxmlformats.org/drawingml/2006/main">
              <a:ext uri="{FF2B5EF4-FFF2-40B4-BE49-F238E27FC236}">
                <a16:creationId xmlns:a16="http://schemas.microsoft.com/office/drawing/2014/main" id="{D5E8229B-E282-4BB3-B98A-A487B1DEE7D6}"/>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a:t>
            </a:r>
          </a:p>
        </p:txBody>
      </p:sp>
      <p:sp>
        <p:nvSpPr>
          <p:cNvPr id="14" name="">
            <a:extLst xmlns:a="http://schemas.openxmlformats.org/drawingml/2006/main">
              <a:ext uri="{FF2B5EF4-FFF2-40B4-BE49-F238E27FC236}">
                <a16:creationId xmlns:a16="http://schemas.microsoft.com/office/drawing/2014/main" id="{49219FF9-DCA5-4A4A-8A18-2FBBA4F718F5}"/>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9</a:t>
            </a:r>
          </a:p>
        </p:txBody>
      </p:sp>
    </p:spTree>
    <p:extLst>
      <p:ext uri="{BB962C8B-B14F-4D97-AF65-F5344CB8AC3E}">
        <p14:creationId xmlns:p14="http://schemas.microsoft.com/office/powerpoint/2010/main" val="1193206266"/>
      </p:ext>
    </p:extLst>
  </p:cSld>
</p:sld>
</file>

<file path=ppt/slides/slide10.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7F3351F6-BAC8-4527-A244-62E74DFC6388}"/>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4 · RESEARCH-LED PRODUCT IDEA · P0</a:t>
            </a:r>
          </a:p>
        </p:txBody>
      </p:sp>
      <p:sp>
        <p:nvSpPr>
          <p:cNvPr id="2" name="">
            <a:extLst xmlns:a="http://schemas.openxmlformats.org/drawingml/2006/main">
              <a:ext uri="{FF2B5EF4-FFF2-40B4-BE49-F238E27FC236}">
                <a16:creationId xmlns:a16="http://schemas.microsoft.com/office/drawing/2014/main" id="{EAB850D0-F88C-4BAF-A89D-A6CD83D80464}"/>
              </a:ext>
            </a:extLst>
          </p:cNvPr>
          <p:cNvSpPr>
            <a:spLocks xmlns:a="http://schemas.openxmlformats.org/drawingml/2006/main" noGrp="1"/>
          </p:cNvSpPr>
          <p:nvPr/>
        </p:nvSpPr>
        <p:spPr>
          <a:xfrm xmlns:a="http://schemas.openxmlformats.org/drawingml/2006/main">
            <a:off x="514350" y="571500"/>
            <a:ext cx="11144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Structured pre-arrival meeting note</a:t>
            </a:r>
          </a:p>
        </p:txBody>
      </p:sp>
      <p:sp>
        <p:nvSpPr>
          <p:cNvPr id="3" name="">
            <a:extLst xmlns:a="http://schemas.openxmlformats.org/drawingml/2006/main">
              <a:ext uri="{FF2B5EF4-FFF2-40B4-BE49-F238E27FC236}">
                <a16:creationId xmlns:a16="http://schemas.microsoft.com/office/drawing/2014/main" id="{C6E725EF-3332-4FC3-9827-B641A44804CA}"/>
              </a:ext>
            </a:extLst>
          </p:cNvPr>
          <p:cNvSpPr>
            <a:spLocks xmlns:a="http://schemas.openxmlformats.org/drawingml/2006/main" noGrp="1"/>
          </p:cNvSpPr>
          <p:nvPr/>
        </p:nvSpPr>
        <p:spPr>
          <a:xfrm xmlns:a="http://schemas.openxmlformats.org/drawingml/2006/main">
            <a:off x="514350" y="1057275"/>
            <a:ext cx="1085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350" b="0" i="0">
                <a:solidFill>
                  <a:srgbClr val="687489"/>
                </a:solidFill>
                <a:latin typeface="Calibri"/>
                <a:ea typeface="Calibri"/>
                <a:cs typeface="Calibri"/>
              </a:defRPr>
            </a:pPr>
            <a:r>
              <a:rPr sz="1350" b="0" i="0">
                <a:solidFill>
                  <a:srgbClr val="687489"/>
                </a:solidFill>
                <a:latin typeface="Calibri"/>
                <a:ea typeface="Calibri"/>
                <a:cs typeface="Calibri"/>
              </a:rPr>
              <a:t>Strongest first test because it formalizes an existing user-created workaround.</a:t>
            </a:r>
          </a:p>
        </p:txBody>
      </p:sp>
      <p:sp>
        <p:nvSpPr>
          <p:cNvPr id="4" name="">
            <a:extLst xmlns:a="http://schemas.openxmlformats.org/drawingml/2006/main">
              <a:ext uri="{FF2B5EF4-FFF2-40B4-BE49-F238E27FC236}">
                <a16:creationId xmlns:a16="http://schemas.microsoft.com/office/drawing/2014/main" id="{A08BD2A2-8DAC-467A-A6AE-27577DE6F28F}"/>
              </a:ext>
            </a:extLst>
          </p:cNvPr>
          <p:cNvSpPr>
            <a:spLocks xmlns:a="http://schemas.openxmlformats.org/drawingml/2006/main" noGrp="1"/>
          </p:cNvSpPr>
          <p:nvPr/>
        </p:nvSpPr>
        <p:spPr>
          <a:xfrm xmlns:a="http://schemas.openxmlformats.org/drawingml/2006/main">
            <a:off x="514350" y="1657350"/>
            <a:ext cx="4972050" cy="1428750"/>
          </a:xfrm>
          <a:prstGeom xmlns:a="http://schemas.openxmlformats.org/drawingml/2006/main" prst="roundRect">
            <a:avLst>
              <a:gd name="adj" fmla="val 4000"/>
            </a:avLst>
          </a:prstGeom>
          <a:solidFill xmlns:a="http://schemas.openxmlformats.org/drawingml/2006/main">
            <a:srgbClr val="FFFFFF"/>
          </a:solidFill>
          <a:ln xmlns:a="http://schemas.openxmlformats.org/drawingml/2006/main" w="9525">
            <a:solidFill>
              <a:srgbClr val="E8ECF1"/>
            </a:solidFill>
            <a:prstDash val="solid"/>
          </a:ln>
        </p:spPr>
      </p:sp>
      <p:sp>
        <p:nvSpPr>
          <p:cNvPr id="5" name="">
            <a:extLst xmlns:a="http://schemas.openxmlformats.org/drawingml/2006/main">
              <a:ext uri="{FF2B5EF4-FFF2-40B4-BE49-F238E27FC236}">
                <a16:creationId xmlns:a16="http://schemas.microsoft.com/office/drawing/2014/main" id="{90C79CD1-69EB-4432-8DB1-DD6425821BDD}"/>
              </a:ext>
            </a:extLst>
          </p:cNvPr>
          <p:cNvSpPr>
            <a:spLocks xmlns:a="http://schemas.openxmlformats.org/drawingml/2006/main" noGrp="1"/>
          </p:cNvSpPr>
          <p:nvPr/>
        </p:nvSpPr>
        <p:spPr>
          <a:xfrm xmlns:a="http://schemas.openxmlformats.org/drawingml/2006/main">
            <a:off x="666750" y="1771650"/>
            <a:ext cx="4667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F47A22"/>
                </a:solidFill>
                <a:latin typeface="Calibri"/>
                <a:ea typeface="Calibri"/>
                <a:cs typeface="Calibri"/>
              </a:defRPr>
            </a:pPr>
            <a:r>
              <a:rPr sz="1275" b="1" i="0">
                <a:solidFill>
                  <a:srgbClr val="F47A22"/>
                </a:solidFill>
                <a:latin typeface="Calibri"/>
                <a:ea typeface="Calibri"/>
                <a:cs typeface="Calibri"/>
              </a:rPr>
              <a:t>TRIGGER</a:t>
            </a:r>
          </a:p>
        </p:txBody>
      </p:sp>
      <p:sp>
        <p:nvSpPr>
          <p:cNvPr id="6" name="">
            <a:extLst xmlns:a="http://schemas.openxmlformats.org/drawingml/2006/main">
              <a:ext uri="{FF2B5EF4-FFF2-40B4-BE49-F238E27FC236}">
                <a16:creationId xmlns:a16="http://schemas.microsoft.com/office/drawing/2014/main" id="{C30CCA8E-DA41-491E-A466-C6F20C1C279B}"/>
              </a:ext>
            </a:extLst>
          </p:cNvPr>
          <p:cNvSpPr>
            <a:spLocks xmlns:a="http://schemas.openxmlformats.org/drawingml/2006/main" noGrp="1"/>
          </p:cNvSpPr>
          <p:nvPr/>
        </p:nvSpPr>
        <p:spPr>
          <a:xfrm xmlns:a="http://schemas.openxmlformats.org/drawingml/2006/main">
            <a:off x="666750" y="2105025"/>
            <a:ext cx="46672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650" b="0" i="0">
                <a:solidFill>
                  <a:srgbClr val="233248"/>
                </a:solidFill>
                <a:latin typeface="Calibri"/>
                <a:ea typeface="Calibri"/>
                <a:cs typeface="Calibri"/>
              </a:defRPr>
            </a:pPr>
            <a:r>
              <a:rPr sz="1650" b="0" i="0">
                <a:solidFill>
                  <a:srgbClr val="233248"/>
                </a:solidFill>
                <a:latin typeface="Calibri"/>
                <a:ea typeface="Calibri"/>
                <a:cs typeface="Calibri"/>
              </a:rPr>
              <a:t>Only at flagged complex pickup locations, a few minutes before driver arrival.</a:t>
            </a:r>
          </a:p>
        </p:txBody>
      </p:sp>
      <p:sp>
        <p:nvSpPr>
          <p:cNvPr id="7" name="">
            <a:extLst xmlns:a="http://schemas.openxmlformats.org/drawingml/2006/main">
              <a:ext uri="{FF2B5EF4-FFF2-40B4-BE49-F238E27FC236}">
                <a16:creationId xmlns:a16="http://schemas.microsoft.com/office/drawing/2014/main" id="{EA68B627-5E65-4EA0-8EB6-5ECF13993A86}"/>
              </a:ext>
            </a:extLst>
          </p:cNvPr>
          <p:cNvSpPr>
            <a:spLocks xmlns:a="http://schemas.openxmlformats.org/drawingml/2006/main" noGrp="1"/>
          </p:cNvSpPr>
          <p:nvPr/>
        </p:nvSpPr>
        <p:spPr>
          <a:xfrm xmlns:a="http://schemas.openxmlformats.org/drawingml/2006/main">
            <a:off x="514350" y="3238500"/>
            <a:ext cx="4972050" cy="1428750"/>
          </a:xfrm>
          <a:prstGeom xmlns:a="http://schemas.openxmlformats.org/drawingml/2006/main" prst="roundRect">
            <a:avLst>
              <a:gd name="adj" fmla="val 4000"/>
            </a:avLst>
          </a:prstGeom>
          <a:solidFill xmlns:a="http://schemas.openxmlformats.org/drawingml/2006/main">
            <a:srgbClr val="FFFFFF"/>
          </a:solidFill>
          <a:ln xmlns:a="http://schemas.openxmlformats.org/drawingml/2006/main" w="9525">
            <a:solidFill>
              <a:srgbClr val="E8ECF1"/>
            </a:solidFill>
            <a:prstDash val="solid"/>
          </a:ln>
        </p:spPr>
      </p:sp>
      <p:sp>
        <p:nvSpPr>
          <p:cNvPr id="8" name="">
            <a:extLst xmlns:a="http://schemas.openxmlformats.org/drawingml/2006/main">
              <a:ext uri="{FF2B5EF4-FFF2-40B4-BE49-F238E27FC236}">
                <a16:creationId xmlns:a16="http://schemas.microsoft.com/office/drawing/2014/main" id="{5AE0D001-7EBC-4732-B586-953E1EE543C3}"/>
              </a:ext>
            </a:extLst>
          </p:cNvPr>
          <p:cNvSpPr>
            <a:spLocks xmlns:a="http://schemas.openxmlformats.org/drawingml/2006/main" noGrp="1"/>
          </p:cNvSpPr>
          <p:nvPr/>
        </p:nvSpPr>
        <p:spPr>
          <a:xfrm xmlns:a="http://schemas.openxmlformats.org/drawingml/2006/main">
            <a:off x="666750" y="3352800"/>
            <a:ext cx="4667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F47A22"/>
                </a:solidFill>
                <a:latin typeface="Calibri"/>
                <a:ea typeface="Calibri"/>
                <a:cs typeface="Calibri"/>
              </a:defRPr>
            </a:pPr>
            <a:r>
              <a:rPr sz="1275" b="1" i="0">
                <a:solidFill>
                  <a:srgbClr val="F47A22"/>
                </a:solidFill>
                <a:latin typeface="Calibri"/>
                <a:ea typeface="Calibri"/>
                <a:cs typeface="Calibri"/>
              </a:rPr>
              <a:t>ACTION</a:t>
            </a:r>
          </a:p>
        </p:txBody>
      </p:sp>
      <p:sp>
        <p:nvSpPr>
          <p:cNvPr id="9" name="">
            <a:extLst xmlns:a="http://schemas.openxmlformats.org/drawingml/2006/main">
              <a:ext uri="{FF2B5EF4-FFF2-40B4-BE49-F238E27FC236}">
                <a16:creationId xmlns:a16="http://schemas.microsoft.com/office/drawing/2014/main" id="{E51C615B-659E-4837-8E39-BF4BCCA71E09}"/>
              </a:ext>
            </a:extLst>
          </p:cNvPr>
          <p:cNvSpPr>
            <a:spLocks xmlns:a="http://schemas.openxmlformats.org/drawingml/2006/main" noGrp="1"/>
          </p:cNvSpPr>
          <p:nvPr/>
        </p:nvSpPr>
        <p:spPr>
          <a:xfrm xmlns:a="http://schemas.openxmlformats.org/drawingml/2006/main">
            <a:off x="666750" y="3686175"/>
            <a:ext cx="46672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650" b="0" i="0">
                <a:solidFill>
                  <a:srgbClr val="233248"/>
                </a:solidFill>
                <a:latin typeface="Calibri"/>
                <a:ea typeface="Calibri"/>
                <a:cs typeface="Calibri"/>
              </a:defRPr>
            </a:pPr>
            <a:r>
              <a:rPr sz="1650" b="0" i="0">
                <a:solidFill>
                  <a:srgbClr val="233248"/>
                </a:solidFill>
                <a:latin typeface="Calibri"/>
                <a:ea typeface="Calibri"/>
                <a:cs typeface="Calibri"/>
              </a:rPr>
              <a:t>Prompt one concise handoff: gate or side, landmark, and waiting spot — reusable where appropriate.</a:t>
            </a:r>
          </a:p>
        </p:txBody>
      </p:sp>
      <p:sp>
        <p:nvSpPr>
          <p:cNvPr id="10" name="">
            <a:extLst xmlns:a="http://schemas.openxmlformats.org/drawingml/2006/main">
              <a:ext uri="{FF2B5EF4-FFF2-40B4-BE49-F238E27FC236}">
                <a16:creationId xmlns:a16="http://schemas.microsoft.com/office/drawing/2014/main" id="{3F93810A-BBD5-4530-BC7B-962F61C9046C}"/>
              </a:ext>
            </a:extLst>
          </p:cNvPr>
          <p:cNvSpPr>
            <a:spLocks xmlns:a="http://schemas.openxmlformats.org/drawingml/2006/main" noGrp="1"/>
          </p:cNvSpPr>
          <p:nvPr/>
        </p:nvSpPr>
        <p:spPr>
          <a:xfrm xmlns:a="http://schemas.openxmlformats.org/drawingml/2006/main">
            <a:off x="5829300" y="1657350"/>
            <a:ext cx="5124450" cy="1428750"/>
          </a:xfrm>
          <a:prstGeom xmlns:a="http://schemas.openxmlformats.org/drawingml/2006/main" prst="roundRect">
            <a:avLst>
              <a:gd name="adj" fmla="val 4000"/>
            </a:avLst>
          </a:prstGeom>
          <a:solidFill xmlns:a="http://schemas.openxmlformats.org/drawingml/2006/main">
            <a:srgbClr val="E2F4F6"/>
          </a:solidFill>
          <a:ln xmlns:a="http://schemas.openxmlformats.org/drawingml/2006/main" w="9525">
            <a:solidFill>
              <a:srgbClr val="E8ECF1"/>
            </a:solidFill>
            <a:prstDash val="solid"/>
          </a:ln>
        </p:spPr>
      </p:sp>
      <p:sp>
        <p:nvSpPr>
          <p:cNvPr id="11" name="">
            <a:extLst xmlns:a="http://schemas.openxmlformats.org/drawingml/2006/main">
              <a:ext uri="{FF2B5EF4-FFF2-40B4-BE49-F238E27FC236}">
                <a16:creationId xmlns:a16="http://schemas.microsoft.com/office/drawing/2014/main" id="{E2104225-CE1D-4B89-BF80-5797D7F7C6A1}"/>
              </a:ext>
            </a:extLst>
          </p:cNvPr>
          <p:cNvSpPr>
            <a:spLocks xmlns:a="http://schemas.openxmlformats.org/drawingml/2006/main" noGrp="1"/>
          </p:cNvSpPr>
          <p:nvPr/>
        </p:nvSpPr>
        <p:spPr>
          <a:xfrm xmlns:a="http://schemas.openxmlformats.org/drawingml/2006/main">
            <a:off x="5981700" y="1771650"/>
            <a:ext cx="4819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1BB5C8"/>
                </a:solidFill>
                <a:latin typeface="Calibri"/>
                <a:ea typeface="Calibri"/>
                <a:cs typeface="Calibri"/>
              </a:defRPr>
            </a:pPr>
            <a:r>
              <a:rPr sz="1275" b="1" i="0">
                <a:solidFill>
                  <a:srgbClr val="1BB5C8"/>
                </a:solidFill>
                <a:latin typeface="Calibri"/>
                <a:ea typeface="Calibri"/>
                <a:cs typeface="Calibri"/>
              </a:rPr>
              <a:t>WHY THIS FIRST</a:t>
            </a:r>
          </a:p>
        </p:txBody>
      </p:sp>
      <p:sp>
        <p:nvSpPr>
          <p:cNvPr id="12" name="">
            <a:extLst xmlns:a="http://schemas.openxmlformats.org/drawingml/2006/main">
              <a:ext uri="{FF2B5EF4-FFF2-40B4-BE49-F238E27FC236}">
                <a16:creationId xmlns:a16="http://schemas.microsoft.com/office/drawing/2014/main" id="{F7EDC4F0-31E1-4CC6-AF7E-CE18A7F3DB6A}"/>
              </a:ext>
            </a:extLst>
          </p:cNvPr>
          <p:cNvSpPr>
            <a:spLocks xmlns:a="http://schemas.openxmlformats.org/drawingml/2006/main" noGrp="1"/>
          </p:cNvSpPr>
          <p:nvPr/>
        </p:nvSpPr>
        <p:spPr>
          <a:xfrm xmlns:a="http://schemas.openxmlformats.org/drawingml/2006/main">
            <a:off x="5981700" y="2105025"/>
            <a:ext cx="48196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650" b="0" i="0">
                <a:solidFill>
                  <a:srgbClr val="233248"/>
                </a:solidFill>
                <a:latin typeface="Calibri"/>
                <a:ea typeface="Calibri"/>
                <a:cs typeface="Calibri"/>
              </a:defRPr>
            </a:pPr>
            <a:r>
              <a:rPr sz="1650" b="0" i="0">
                <a:solidFill>
                  <a:srgbClr val="233248"/>
                </a:solidFill>
                <a:latin typeface="Calibri"/>
                <a:ea typeface="Calibri"/>
                <a:cs typeface="Calibri"/>
              </a:rPr>
              <a:t>Calls/messages helped in 20 of 28 issue cases. R061 already sends these details manually — and reported no pickup difficulty.</a:t>
            </a:r>
          </a:p>
        </p:txBody>
      </p:sp>
      <p:sp>
        <p:nvSpPr>
          <p:cNvPr id="13" name="">
            <a:extLst xmlns:a="http://schemas.openxmlformats.org/drawingml/2006/main">
              <a:ext uri="{FF2B5EF4-FFF2-40B4-BE49-F238E27FC236}">
                <a16:creationId xmlns:a16="http://schemas.microsoft.com/office/drawing/2014/main" id="{F99E2288-BD9E-4480-94A9-7425C6EEC589}"/>
              </a:ext>
            </a:extLst>
          </p:cNvPr>
          <p:cNvSpPr>
            <a:spLocks xmlns:a="http://schemas.openxmlformats.org/drawingml/2006/main" noGrp="1"/>
          </p:cNvSpPr>
          <p:nvPr/>
        </p:nvSpPr>
        <p:spPr>
          <a:xfrm xmlns:a="http://schemas.openxmlformats.org/drawingml/2006/main">
            <a:off x="5829300" y="3238500"/>
            <a:ext cx="5124450" cy="1428750"/>
          </a:xfrm>
          <a:prstGeom xmlns:a="http://schemas.openxmlformats.org/drawingml/2006/main" prst="roundRect">
            <a:avLst>
              <a:gd name="adj" fmla="val 4000"/>
            </a:avLst>
          </a:prstGeom>
          <a:solidFill xmlns:a="http://schemas.openxmlformats.org/drawingml/2006/main">
            <a:srgbClr val="FBE7D8"/>
          </a:solidFill>
          <a:ln xmlns:a="http://schemas.openxmlformats.org/drawingml/2006/main" w="9525">
            <a:solidFill>
              <a:srgbClr val="E8ECF1"/>
            </a:solidFill>
            <a:prstDash val="solid"/>
          </a:ln>
        </p:spPr>
      </p:sp>
      <p:sp>
        <p:nvSpPr>
          <p:cNvPr id="14" name="">
            <a:extLst xmlns:a="http://schemas.openxmlformats.org/drawingml/2006/main">
              <a:ext uri="{FF2B5EF4-FFF2-40B4-BE49-F238E27FC236}">
                <a16:creationId xmlns:a16="http://schemas.microsoft.com/office/drawing/2014/main" id="{1F1B1D6A-7DF7-4750-BD1C-B223073C601D}"/>
              </a:ext>
            </a:extLst>
          </p:cNvPr>
          <p:cNvSpPr>
            <a:spLocks xmlns:a="http://schemas.openxmlformats.org/drawingml/2006/main" noGrp="1"/>
          </p:cNvSpPr>
          <p:nvPr/>
        </p:nvSpPr>
        <p:spPr>
          <a:xfrm xmlns:a="http://schemas.openxmlformats.org/drawingml/2006/main">
            <a:off x="5981700" y="3352800"/>
            <a:ext cx="4819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1B2B45"/>
                </a:solidFill>
                <a:latin typeface="Calibri"/>
                <a:ea typeface="Calibri"/>
                <a:cs typeface="Calibri"/>
              </a:defRPr>
            </a:pPr>
            <a:r>
              <a:rPr sz="1275" b="1" i="0">
                <a:solidFill>
                  <a:srgbClr val="1B2B45"/>
                </a:solidFill>
                <a:latin typeface="Calibri"/>
                <a:ea typeface="Calibri"/>
                <a:cs typeface="Calibri"/>
              </a:rPr>
              <a:t>TEST</a:t>
            </a:r>
          </a:p>
        </p:txBody>
      </p:sp>
      <p:sp>
        <p:nvSpPr>
          <p:cNvPr id="15" name="">
            <a:extLst xmlns:a="http://schemas.openxmlformats.org/drawingml/2006/main">
              <a:ext uri="{FF2B5EF4-FFF2-40B4-BE49-F238E27FC236}">
                <a16:creationId xmlns:a16="http://schemas.microsoft.com/office/drawing/2014/main" id="{5FB55134-01F5-4EC1-8E67-E30A86BA096A}"/>
              </a:ext>
            </a:extLst>
          </p:cNvPr>
          <p:cNvSpPr>
            <a:spLocks xmlns:a="http://schemas.openxmlformats.org/drawingml/2006/main" noGrp="1"/>
          </p:cNvSpPr>
          <p:nvPr/>
        </p:nvSpPr>
        <p:spPr>
          <a:xfrm xmlns:a="http://schemas.openxmlformats.org/drawingml/2006/main">
            <a:off x="5981700" y="3686175"/>
            <a:ext cx="48196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575" b="0" i="0">
                <a:solidFill>
                  <a:srgbClr val="233248"/>
                </a:solidFill>
                <a:latin typeface="Calibri"/>
                <a:ea typeface="Calibri"/>
                <a:cs typeface="Calibri"/>
              </a:defRPr>
            </a:pPr>
            <a:r>
              <a:rPr sz="1575" b="0" i="0">
                <a:solidFill>
                  <a:srgbClr val="233248"/>
                </a:solidFill>
                <a:latin typeface="Calibri"/>
                <a:ea typeface="Calibri"/>
                <a:cs typeface="Calibri"/>
              </a:rPr>
              <a:t>At comparable flagged locations, compare reactive call/message rate, arrived-to-trip-start dwell, location changes, and cancellations.</a:t>
            </a:r>
          </a:p>
        </p:txBody>
      </p:sp>
      <p:sp>
        <p:nvSpPr>
          <p:cNvPr id="16" name="">
            <a:extLst xmlns:a="http://schemas.openxmlformats.org/drawingml/2006/main">
              <a:ext uri="{FF2B5EF4-FFF2-40B4-BE49-F238E27FC236}">
                <a16:creationId xmlns:a16="http://schemas.microsoft.com/office/drawing/2014/main" id="{FD58FAAD-00D7-4F91-B0D6-1B0576AF54EA}"/>
              </a:ext>
            </a:extLst>
          </p:cNvPr>
          <p:cNvSpPr>
            <a:spLocks xmlns:a="http://schemas.openxmlformats.org/drawingml/2006/main" noGrp="1"/>
          </p:cNvSpPr>
          <p:nvPr/>
        </p:nvSpPr>
        <p:spPr>
          <a:xfrm xmlns:a="http://schemas.openxmlformats.org/drawingml/2006/main">
            <a:off x="514350" y="4972050"/>
            <a:ext cx="10439400" cy="876300"/>
          </a:xfrm>
          <a:prstGeom xmlns:a="http://schemas.openxmlformats.org/drawingml/2006/main" prst="roundRect">
            <a:avLst>
              <a:gd name="adj" fmla="val 6522"/>
            </a:avLst>
          </a:prstGeom>
          <a:solidFill xmlns:a="http://schemas.openxmlformats.org/drawingml/2006/main">
            <a:srgbClr val="1B2B45"/>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D78612D6-6319-4BE1-B434-430C776E9CB6}"/>
              </a:ext>
            </a:extLst>
          </p:cNvPr>
          <p:cNvSpPr>
            <a:spLocks xmlns:a="http://schemas.openxmlformats.org/drawingml/2006/main" noGrp="1"/>
          </p:cNvSpPr>
          <p:nvPr/>
        </p:nvSpPr>
        <p:spPr>
          <a:xfrm xmlns:a="http://schemas.openxmlformats.org/drawingml/2006/main">
            <a:off x="704850" y="5172075"/>
            <a:ext cx="100584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ctr">
              <a:defRPr sz="1800" b="0" i="1">
                <a:solidFill>
                  <a:srgbClr val="FFFFFF"/>
                </a:solidFill>
                <a:latin typeface="Calibri"/>
                <a:ea typeface="Calibri"/>
                <a:cs typeface="Calibri"/>
              </a:defRPr>
            </a:pPr>
            <a:r>
              <a:rPr sz="1800" b="0" i="1">
                <a:solidFill>
                  <a:srgbClr val="FFFFFF"/>
                </a:solidFill>
                <a:latin typeface="Calibri"/>
                <a:ea typeface="Calibri"/>
                <a:cs typeface="Calibri"/>
              </a:rPr>
              <a:t>“I always place a message on where I would stand with details.” — R061</a:t>
            </a:r>
          </a:p>
        </p:txBody>
      </p:sp>
      <p:sp>
        <p:nvSpPr>
          <p:cNvPr id="18" name="">
            <a:extLst xmlns:a="http://schemas.openxmlformats.org/drawingml/2006/main">
              <a:ext uri="{FF2B5EF4-FFF2-40B4-BE49-F238E27FC236}">
                <a16:creationId xmlns:a16="http://schemas.microsoft.com/office/drawing/2014/main" id="{14727A2B-B494-482E-A8C5-CB58698A832E}"/>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a:t>
            </a:r>
          </a:p>
        </p:txBody>
      </p:sp>
      <p:sp>
        <p:nvSpPr>
          <p:cNvPr id="19" name="">
            <a:extLst xmlns:a="http://schemas.openxmlformats.org/drawingml/2006/main">
              <a:ext uri="{FF2B5EF4-FFF2-40B4-BE49-F238E27FC236}">
                <a16:creationId xmlns:a16="http://schemas.microsoft.com/office/drawing/2014/main" id="{20DF1B68-A001-4E5D-895F-57DA90B2E8F4}"/>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10</a:t>
            </a:r>
          </a:p>
        </p:txBody>
      </p:sp>
    </p:spTree>
    <p:extLst>
      <p:ext uri="{BB962C8B-B14F-4D97-AF65-F5344CB8AC3E}">
        <p14:creationId xmlns:p14="http://schemas.microsoft.com/office/powerpoint/2010/main" val="490413510"/>
      </p:ext>
    </p:extLst>
  </p:cSld>
</p:sld>
</file>

<file path=ppt/slides/slide11.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B1CEA389-F438-4B1C-A3EA-3EFAADFBDDEC}"/>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4 · RESEARCH-LED PRODUCT IDEAS · P1 AND P2</a:t>
            </a:r>
          </a:p>
        </p:txBody>
      </p:sp>
      <p:sp>
        <p:nvSpPr>
          <p:cNvPr id="2" name="">
            <a:extLst xmlns:a="http://schemas.openxmlformats.org/drawingml/2006/main">
              <a:ext uri="{FF2B5EF4-FFF2-40B4-BE49-F238E27FC236}">
                <a16:creationId xmlns:a16="http://schemas.microsoft.com/office/drawing/2014/main" id="{8443B75A-D12A-47A3-A517-889EC393CEEA}"/>
              </a:ext>
            </a:extLst>
          </p:cNvPr>
          <p:cNvSpPr>
            <a:spLocks xmlns:a="http://schemas.openxmlformats.org/drawingml/2006/main" noGrp="1"/>
          </p:cNvSpPr>
          <p:nvPr/>
        </p:nvSpPr>
        <p:spPr>
          <a:xfrm xmlns:a="http://schemas.openxmlformats.org/drawingml/2006/main">
            <a:off x="514350" y="571500"/>
            <a:ext cx="1114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Recovery when coordination stalls — then reusable venue context</a:t>
            </a:r>
          </a:p>
        </p:txBody>
      </p:sp>
      <p:sp>
        <p:nvSpPr>
          <p:cNvPr id="3" name="">
            <a:extLst xmlns:a="http://schemas.openxmlformats.org/drawingml/2006/main">
              <a:ext uri="{FF2B5EF4-FFF2-40B4-BE49-F238E27FC236}">
                <a16:creationId xmlns:a16="http://schemas.microsoft.com/office/drawing/2014/main" id="{66480811-114D-4405-85A7-F692EF97EDC1}"/>
              </a:ext>
            </a:extLst>
          </p:cNvPr>
          <p:cNvSpPr>
            <a:spLocks xmlns:a="http://schemas.openxmlformats.org/drawingml/2006/main" noGrp="1"/>
          </p:cNvSpPr>
          <p:nvPr/>
        </p:nvSpPr>
        <p:spPr>
          <a:xfrm xmlns:a="http://schemas.openxmlformats.org/drawingml/2006/main">
            <a:off x="514350" y="1619250"/>
            <a:ext cx="5048250" cy="3276600"/>
          </a:xfrm>
          <a:prstGeom xmlns:a="http://schemas.openxmlformats.org/drawingml/2006/main" prst="roundRect">
            <a:avLst>
              <a:gd name="adj" fmla="val 1744"/>
            </a:avLst>
          </a:prstGeom>
          <a:solidFill xmlns:a="http://schemas.openxmlformats.org/drawingml/2006/main">
            <a:srgbClr val="FFFFFF"/>
          </a:solidFill>
          <a:ln xmlns:a="http://schemas.openxmlformats.org/drawingml/2006/main" w="9525">
            <a:solidFill>
              <a:srgbClr val="E8ECF1"/>
            </a:solidFill>
            <a:prstDash val="solid"/>
          </a:ln>
        </p:spPr>
      </p:sp>
      <p:sp>
        <p:nvSpPr>
          <p:cNvPr id="4" name="">
            <a:extLst xmlns:a="http://schemas.openxmlformats.org/drawingml/2006/main">
              <a:ext uri="{FF2B5EF4-FFF2-40B4-BE49-F238E27FC236}">
                <a16:creationId xmlns:a16="http://schemas.microsoft.com/office/drawing/2014/main" id="{C7A19105-6284-4245-B583-DE8E4B5D26BD}"/>
              </a:ext>
            </a:extLst>
          </p:cNvPr>
          <p:cNvSpPr>
            <a:spLocks xmlns:a="http://schemas.openxmlformats.org/drawingml/2006/main" noGrp="1"/>
          </p:cNvSpPr>
          <p:nvPr/>
        </p:nvSpPr>
        <p:spPr>
          <a:xfrm xmlns:a="http://schemas.openxmlformats.org/drawingml/2006/main">
            <a:off x="666750" y="1733550"/>
            <a:ext cx="4743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F47A22"/>
                </a:solidFill>
                <a:latin typeface="Calibri"/>
                <a:ea typeface="Calibri"/>
                <a:cs typeface="Calibri"/>
              </a:defRPr>
            </a:pPr>
            <a:r>
              <a:rPr sz="1275" b="1" i="0">
                <a:solidFill>
                  <a:srgbClr val="F47A22"/>
                </a:solidFill>
                <a:latin typeface="Calibri"/>
                <a:ea typeface="Calibri"/>
                <a:cs typeface="Calibri"/>
              </a:rPr>
              <a:t>P1 · GUIDED STALLED-PICKUP RECOVERY</a:t>
            </a:r>
          </a:p>
        </p:txBody>
      </p:sp>
      <p:sp>
        <p:nvSpPr>
          <p:cNvPr id="5" name="">
            <a:extLst xmlns:a="http://schemas.openxmlformats.org/drawingml/2006/main">
              <a:ext uri="{FF2B5EF4-FFF2-40B4-BE49-F238E27FC236}">
                <a16:creationId xmlns:a16="http://schemas.microsoft.com/office/drawing/2014/main" id="{2C281311-8B1E-481A-B63E-D610358D760A}"/>
              </a:ext>
            </a:extLst>
          </p:cNvPr>
          <p:cNvSpPr>
            <a:spLocks xmlns:a="http://schemas.openxmlformats.org/drawingml/2006/main" noGrp="1"/>
          </p:cNvSpPr>
          <p:nvPr/>
        </p:nvSpPr>
        <p:spPr>
          <a:xfrm xmlns:a="http://schemas.openxmlformats.org/drawingml/2006/main">
            <a:off x="666750" y="2066925"/>
            <a:ext cx="4743450" cy="2724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650" b="0" i="0">
                <a:solidFill>
                  <a:srgbClr val="233248"/>
                </a:solidFill>
                <a:latin typeface="Calibri"/>
                <a:ea typeface="Calibri"/>
                <a:cs typeface="Calibri"/>
              </a:defRPr>
            </a:pPr>
            <a:r>
              <a:rPr sz="1650" b="0" i="0">
                <a:solidFill>
                  <a:srgbClr val="233248"/>
                </a:solidFill>
                <a:latin typeface="Calibri"/>
                <a:ea typeface="Calibri"/>
                <a:cs typeface="Calibri"/>
              </a:rPr>
              <a:t>Trigger after an arrived state remains unresolved past a defined threshold. First guide reconnect actions: share live location, confirm a meeting cue, and retry contact. Test reassignment only for unresolved cases, because it carries marketplace and compensation risk.</a:t>
            </a:r>
          </a:p>
        </p:txBody>
      </p:sp>
      <p:sp>
        <p:nvSpPr>
          <p:cNvPr id="6" name="">
            <a:extLst xmlns:a="http://schemas.openxmlformats.org/drawingml/2006/main">
              <a:ext uri="{FF2B5EF4-FFF2-40B4-BE49-F238E27FC236}">
                <a16:creationId xmlns:a16="http://schemas.microsoft.com/office/drawing/2014/main" id="{219101A8-021A-403D-998B-902349A790EC}"/>
              </a:ext>
            </a:extLst>
          </p:cNvPr>
          <p:cNvSpPr>
            <a:spLocks xmlns:a="http://schemas.openxmlformats.org/drawingml/2006/main" noGrp="1"/>
          </p:cNvSpPr>
          <p:nvPr/>
        </p:nvSpPr>
        <p:spPr>
          <a:xfrm xmlns:a="http://schemas.openxmlformats.org/drawingml/2006/main">
            <a:off x="5905500" y="1619250"/>
            <a:ext cx="5048250" cy="3276600"/>
          </a:xfrm>
          <a:prstGeom xmlns:a="http://schemas.openxmlformats.org/drawingml/2006/main" prst="roundRect">
            <a:avLst>
              <a:gd name="adj" fmla="val 1744"/>
            </a:avLst>
          </a:prstGeom>
          <a:solidFill xmlns:a="http://schemas.openxmlformats.org/drawingml/2006/main">
            <a:srgbClr val="E2F4F6"/>
          </a:solidFill>
          <a:ln xmlns:a="http://schemas.openxmlformats.org/drawingml/2006/main" w="9525">
            <a:solidFill>
              <a:srgbClr val="E8ECF1"/>
            </a:solidFill>
            <a:prstDash val="solid"/>
          </a:ln>
        </p:spPr>
      </p:sp>
      <p:sp>
        <p:nvSpPr>
          <p:cNvPr id="7" name="">
            <a:extLst xmlns:a="http://schemas.openxmlformats.org/drawingml/2006/main">
              <a:ext uri="{FF2B5EF4-FFF2-40B4-BE49-F238E27FC236}">
                <a16:creationId xmlns:a16="http://schemas.microsoft.com/office/drawing/2014/main" id="{8D714514-6564-4848-86F4-58BF7EEF3F63}"/>
              </a:ext>
            </a:extLst>
          </p:cNvPr>
          <p:cNvSpPr>
            <a:spLocks xmlns:a="http://schemas.openxmlformats.org/drawingml/2006/main" noGrp="1"/>
          </p:cNvSpPr>
          <p:nvPr/>
        </p:nvSpPr>
        <p:spPr>
          <a:xfrm xmlns:a="http://schemas.openxmlformats.org/drawingml/2006/main">
            <a:off x="6057900" y="1733550"/>
            <a:ext cx="4743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1BB5C8"/>
                </a:solidFill>
                <a:latin typeface="Calibri"/>
                <a:ea typeface="Calibri"/>
                <a:cs typeface="Calibri"/>
              </a:defRPr>
            </a:pPr>
            <a:r>
              <a:rPr sz="1275" b="1" i="0">
                <a:solidFill>
                  <a:srgbClr val="1BB5C8"/>
                </a:solidFill>
                <a:latin typeface="Calibri"/>
                <a:ea typeface="Calibri"/>
                <a:cs typeface="Calibri"/>
              </a:rPr>
              <a:t>P2 · VENUE-SPECIFIC COORDINATION INFORMATION</a:t>
            </a:r>
          </a:p>
        </p:txBody>
      </p:sp>
      <p:sp>
        <p:nvSpPr>
          <p:cNvPr id="8" name="">
            <a:extLst xmlns:a="http://schemas.openxmlformats.org/drawingml/2006/main">
              <a:ext uri="{FF2B5EF4-FFF2-40B4-BE49-F238E27FC236}">
                <a16:creationId xmlns:a16="http://schemas.microsoft.com/office/drawing/2014/main" id="{0CEA72CA-C0B0-4338-9DE1-D553D9640249}"/>
              </a:ext>
            </a:extLst>
          </p:cNvPr>
          <p:cNvSpPr>
            <a:spLocks xmlns:a="http://schemas.openxmlformats.org/drawingml/2006/main" noGrp="1"/>
          </p:cNvSpPr>
          <p:nvPr/>
        </p:nvSpPr>
        <p:spPr>
          <a:xfrm xmlns:a="http://schemas.openxmlformats.org/drawingml/2006/main">
            <a:off x="6057900" y="2066925"/>
            <a:ext cx="4743450" cy="2724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650" b="0" i="0">
                <a:solidFill>
                  <a:srgbClr val="233248"/>
                </a:solidFill>
                <a:latin typeface="Calibri"/>
                <a:ea typeface="Calibri"/>
                <a:cs typeface="Calibri"/>
              </a:defRPr>
            </a:pPr>
            <a:r>
              <a:rPr sz="1650" b="0" i="0">
                <a:solidFill>
                  <a:srgbClr val="233248"/>
                </a:solidFill>
                <a:latin typeface="Calibri"/>
                <a:ea typeface="Calibri"/>
                <a:cs typeface="Calibri"/>
              </a:rPr>
              <a:t>Pilot at 2–3 validated venues. Show accessible gate or side, legal stopping point, expected walk, and access constraints. Treat repeat-issue evidence as a problem signal — not proof that the same venue failed repeatedly.</a:t>
            </a:r>
          </a:p>
        </p:txBody>
      </p:sp>
      <p:sp>
        <p:nvSpPr>
          <p:cNvPr id="9" name="">
            <a:extLst xmlns:a="http://schemas.openxmlformats.org/drawingml/2006/main">
              <a:ext uri="{FF2B5EF4-FFF2-40B4-BE49-F238E27FC236}">
                <a16:creationId xmlns:a16="http://schemas.microsoft.com/office/drawing/2014/main" id="{C59452FD-4BE0-450E-AFA7-784F50A278CF}"/>
              </a:ext>
            </a:extLst>
          </p:cNvPr>
          <p:cNvSpPr>
            <a:spLocks xmlns:a="http://schemas.openxmlformats.org/drawingml/2006/main" noGrp="1"/>
          </p:cNvSpPr>
          <p:nvPr/>
        </p:nvSpPr>
        <p:spPr>
          <a:xfrm xmlns:a="http://schemas.openxmlformats.org/drawingml/2006/main">
            <a:off x="514350" y="5143500"/>
            <a:ext cx="10439400" cy="800100"/>
          </a:xfrm>
          <a:prstGeom xmlns:a="http://schemas.openxmlformats.org/drawingml/2006/main" prst="roundRect">
            <a:avLst>
              <a:gd name="adj" fmla="val 7143"/>
            </a:avLst>
          </a:prstGeom>
          <a:solidFill xmlns:a="http://schemas.openxmlformats.org/drawingml/2006/main">
            <a:srgbClr val="FBE7D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DE4DCADC-9860-453D-9767-C4ACAB2CCF34}"/>
              </a:ext>
            </a:extLst>
          </p:cNvPr>
          <p:cNvSpPr>
            <a:spLocks xmlns:a="http://schemas.openxmlformats.org/drawingml/2006/main" noGrp="1"/>
          </p:cNvSpPr>
          <p:nvPr/>
        </p:nvSpPr>
        <p:spPr>
          <a:xfrm xmlns:a="http://schemas.openxmlformats.org/drawingml/2006/main">
            <a:off x="704850" y="5334000"/>
            <a:ext cx="10058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2222"/>
          </a:bodyPr>
          <a:lstStyle xmlns:a="http://schemas.openxmlformats.org/drawingml/2006/main"/>
          <a:p xmlns:a="http://schemas.openxmlformats.org/drawingml/2006/main">
            <a:pPr algn="ctr">
              <a:defRPr sz="1500" b="1" i="0">
                <a:solidFill>
                  <a:srgbClr val="1B2B45"/>
                </a:solidFill>
                <a:latin typeface="Calibri"/>
                <a:ea typeface="Calibri"/>
                <a:cs typeface="Calibri"/>
              </a:defRPr>
            </a:pPr>
            <a:r>
              <a:rPr sz="1500" b="1" i="0">
                <a:solidFill>
                  <a:srgbClr val="1B2B45"/>
                </a:solidFill>
                <a:latin typeface="Calibri"/>
                <a:ea typeface="Calibri"/>
                <a:cs typeface="Calibri"/>
              </a:rPr>
              <a:t>Guardrails: trigger only on genuine coordination stalls; assign venue-data ownership and expiry; validate driver impact before scaling.</a:t>
            </a:r>
          </a:p>
        </p:txBody>
      </p:sp>
      <p:sp>
        <p:nvSpPr>
          <p:cNvPr id="11" name="">
            <a:extLst xmlns:a="http://schemas.openxmlformats.org/drawingml/2006/main">
              <a:ext uri="{FF2B5EF4-FFF2-40B4-BE49-F238E27FC236}">
                <a16:creationId xmlns:a16="http://schemas.microsoft.com/office/drawing/2014/main" id="{20ECED49-85A4-460F-9C3F-B8B5F5F1DF91}"/>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a:t>
            </a:r>
          </a:p>
        </p:txBody>
      </p:sp>
      <p:sp>
        <p:nvSpPr>
          <p:cNvPr id="12" name="">
            <a:extLst xmlns:a="http://schemas.openxmlformats.org/drawingml/2006/main">
              <a:ext uri="{FF2B5EF4-FFF2-40B4-BE49-F238E27FC236}">
                <a16:creationId xmlns:a16="http://schemas.microsoft.com/office/drawing/2014/main" id="{9C0F14A8-63E1-43EF-B7EC-2C56C4ECC0A3}"/>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11</a:t>
            </a:r>
          </a:p>
        </p:txBody>
      </p:sp>
    </p:spTree>
    <p:extLst>
      <p:ext uri="{BB962C8B-B14F-4D97-AF65-F5344CB8AC3E}">
        <p14:creationId xmlns:p14="http://schemas.microsoft.com/office/powerpoint/2010/main" val="675023587"/>
      </p:ext>
    </p:extLst>
  </p:cSld>
</p:sld>
</file>

<file path=ppt/slides/slide12.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C409FF72-9E92-45C3-A4CB-B1C4432E0F89}"/>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DECISION AND NEXT EVIDENCE</a:t>
            </a:r>
          </a:p>
        </p:txBody>
      </p:sp>
      <p:sp>
        <p:nvSpPr>
          <p:cNvPr id="2" name="">
            <a:extLst xmlns:a="http://schemas.openxmlformats.org/drawingml/2006/main">
              <a:ext uri="{FF2B5EF4-FFF2-40B4-BE49-F238E27FC236}">
                <a16:creationId xmlns:a16="http://schemas.microsoft.com/office/drawing/2014/main" id="{D038B932-2CC5-4EE9-8137-2AAC6354729F}"/>
              </a:ext>
            </a:extLst>
          </p:cNvPr>
          <p:cNvSpPr>
            <a:spLocks xmlns:a="http://schemas.openxmlformats.org/drawingml/2006/main" noGrp="1"/>
          </p:cNvSpPr>
          <p:nvPr/>
        </p:nvSpPr>
        <p:spPr>
          <a:xfrm xmlns:a="http://schemas.openxmlformats.org/drawingml/2006/main">
            <a:off x="514350" y="571500"/>
            <a:ext cx="1114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A defensible direction — not a “build it” recommendation</a:t>
            </a:r>
          </a:p>
        </p:txBody>
      </p:sp>
      <p:sp>
        <p:nvSpPr>
          <p:cNvPr id="3" name="">
            <a:extLst xmlns:a="http://schemas.openxmlformats.org/drawingml/2006/main">
              <a:ext uri="{FF2B5EF4-FFF2-40B4-BE49-F238E27FC236}">
                <a16:creationId xmlns:a16="http://schemas.microsoft.com/office/drawing/2014/main" id="{15E83212-247D-49FF-BCB1-263CC0DE359C}"/>
              </a:ext>
            </a:extLst>
          </p:cNvPr>
          <p:cNvSpPr>
            <a:spLocks xmlns:a="http://schemas.openxmlformats.org/drawingml/2006/main" noGrp="1"/>
          </p:cNvSpPr>
          <p:nvPr/>
        </p:nvSpPr>
        <p:spPr>
          <a:xfrm xmlns:a="http://schemas.openxmlformats.org/drawingml/2006/main">
            <a:off x="514350" y="1619250"/>
            <a:ext cx="10439400" cy="1085850"/>
          </a:xfrm>
          <a:prstGeom xmlns:a="http://schemas.openxmlformats.org/drawingml/2006/main" prst="roundRect">
            <a:avLst>
              <a:gd name="adj" fmla="val 5263"/>
            </a:avLst>
          </a:prstGeom>
          <a:solidFill xmlns:a="http://schemas.openxmlformats.org/drawingml/2006/main">
            <a:srgbClr val="1B2B45"/>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84D11A21-616B-4345-B199-E8B14AFBE822}"/>
              </a:ext>
            </a:extLst>
          </p:cNvPr>
          <p:cNvSpPr>
            <a:spLocks xmlns:a="http://schemas.openxmlformats.org/drawingml/2006/main" noGrp="1"/>
          </p:cNvSpPr>
          <p:nvPr/>
        </p:nvSpPr>
        <p:spPr>
          <a:xfrm xmlns:a="http://schemas.openxmlformats.org/drawingml/2006/main">
            <a:off x="742950" y="1828800"/>
            <a:ext cx="99822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95679"/>
          </a:bodyPr>
          <a:lstStyle xmlns:a="http://schemas.openxmlformats.org/drawingml/2006/main"/>
          <a:p xmlns:a="http://schemas.openxmlformats.org/drawingml/2006/main">
            <a:pPr algn="ctr">
              <a:defRPr sz="2025" b="1" i="0">
                <a:solidFill>
                  <a:srgbClr val="FFFFFF"/>
                </a:solidFill>
                <a:latin typeface="Calibri"/>
                <a:ea typeface="Calibri"/>
                <a:cs typeface="Calibri"/>
              </a:defRPr>
            </a:pPr>
            <a:r>
              <a:rPr sz="2025" b="1" i="0">
                <a:solidFill>
                  <a:srgbClr val="FFFFFF"/>
                </a:solidFill>
                <a:latin typeface="Calibri"/>
                <a:ea typeface="Calibri"/>
                <a:cs typeface="Calibri"/>
              </a:rPr>
              <a:t>Test the smallest coordination aid first: a structured note at flagged complex pickups. Move to recovery and venue data only if the evidence supports it.</a:t>
            </a:r>
          </a:p>
        </p:txBody>
      </p:sp>
      <p:sp>
        <p:nvSpPr>
          <p:cNvPr id="5" name="">
            <a:extLst xmlns:a="http://schemas.openxmlformats.org/drawingml/2006/main">
              <a:ext uri="{FF2B5EF4-FFF2-40B4-BE49-F238E27FC236}">
                <a16:creationId xmlns:a16="http://schemas.microsoft.com/office/drawing/2014/main" id="{79675FB6-2C52-47AF-9D5B-471C5761E5F4}"/>
              </a:ext>
            </a:extLst>
          </p:cNvPr>
          <p:cNvSpPr>
            <a:spLocks xmlns:a="http://schemas.openxmlformats.org/drawingml/2006/main" noGrp="1"/>
          </p:cNvSpPr>
          <p:nvPr/>
        </p:nvSpPr>
        <p:spPr>
          <a:xfrm xmlns:a="http://schemas.openxmlformats.org/drawingml/2006/main">
            <a:off x="514350" y="2990850"/>
            <a:ext cx="3286125" cy="2152650"/>
          </a:xfrm>
          <a:prstGeom xmlns:a="http://schemas.openxmlformats.org/drawingml/2006/main" prst="roundRect">
            <a:avLst>
              <a:gd name="adj" fmla="val 2655"/>
            </a:avLst>
          </a:prstGeom>
          <a:solidFill xmlns:a="http://schemas.openxmlformats.org/drawingml/2006/main">
            <a:srgbClr val="FBE7D8"/>
          </a:solidFill>
          <a:ln xmlns:a="http://schemas.openxmlformats.org/drawingml/2006/main" w="9525">
            <a:solidFill>
              <a:srgbClr val="E8ECF1"/>
            </a:solidFill>
            <a:prstDash val="solid"/>
          </a:ln>
        </p:spPr>
      </p:sp>
      <p:sp>
        <p:nvSpPr>
          <p:cNvPr id="6" name="">
            <a:extLst xmlns:a="http://schemas.openxmlformats.org/drawingml/2006/main">
              <a:ext uri="{FF2B5EF4-FFF2-40B4-BE49-F238E27FC236}">
                <a16:creationId xmlns:a16="http://schemas.microsoft.com/office/drawing/2014/main" id="{432F7D5A-6F1B-48FC-83B5-C1797579D0A9}"/>
              </a:ext>
            </a:extLst>
          </p:cNvPr>
          <p:cNvSpPr>
            <a:spLocks xmlns:a="http://schemas.openxmlformats.org/drawingml/2006/main" noGrp="1"/>
          </p:cNvSpPr>
          <p:nvPr/>
        </p:nvSpPr>
        <p:spPr>
          <a:xfrm xmlns:a="http://schemas.openxmlformats.org/drawingml/2006/main">
            <a:off x="666750" y="3105150"/>
            <a:ext cx="29813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1B2B45"/>
                </a:solidFill>
                <a:latin typeface="Calibri"/>
                <a:ea typeface="Calibri"/>
                <a:cs typeface="Calibri"/>
              </a:defRPr>
            </a:pPr>
            <a:r>
              <a:rPr sz="1275" b="1" i="0">
                <a:solidFill>
                  <a:srgbClr val="1B2B45"/>
                </a:solidFill>
                <a:latin typeface="Calibri"/>
                <a:ea typeface="Calibri"/>
                <a:cs typeface="Calibri"/>
              </a:rPr>
              <a:t>LIMITS</a:t>
            </a:r>
          </a:p>
        </p:txBody>
      </p:sp>
      <p:sp>
        <p:nvSpPr>
          <p:cNvPr id="7" name="">
            <a:extLst xmlns:a="http://schemas.openxmlformats.org/drawingml/2006/main">
              <a:ext uri="{FF2B5EF4-FFF2-40B4-BE49-F238E27FC236}">
                <a16:creationId xmlns:a16="http://schemas.microsoft.com/office/drawing/2014/main" id="{0E3BAF80-AF8B-45EE-8D79-73A055B4A56A}"/>
              </a:ext>
            </a:extLst>
          </p:cNvPr>
          <p:cNvSpPr>
            <a:spLocks xmlns:a="http://schemas.openxmlformats.org/drawingml/2006/main" noGrp="1"/>
          </p:cNvSpPr>
          <p:nvPr/>
        </p:nvSpPr>
        <p:spPr>
          <a:xfrm xmlns:a="http://schemas.openxmlformats.org/drawingml/2006/main">
            <a:off x="666750" y="3438525"/>
            <a:ext cx="2981325"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425" b="0" i="0">
                <a:solidFill>
                  <a:srgbClr val="233248"/>
                </a:solidFill>
                <a:latin typeface="Calibri"/>
                <a:ea typeface="Calibri"/>
                <a:cs typeface="Calibri"/>
              </a:defRPr>
            </a:pPr>
            <a:r>
              <a:rPr sz="1425" b="0" i="0">
                <a:solidFill>
                  <a:srgbClr val="233248"/>
                </a:solidFill>
                <a:latin typeface="Calibri"/>
                <a:ea typeface="Calibri"/>
                <a:cs typeface="Calibri"/>
              </a:rPr>
              <a:t>Convenience sample; interview requirement unmet; 4 drivers; optional open-text depth; 29 other-city responses; no reliable local market denominator.</a:t>
            </a:r>
          </a:p>
        </p:txBody>
      </p:sp>
      <p:sp>
        <p:nvSpPr>
          <p:cNvPr id="8" name="">
            <a:extLst xmlns:a="http://schemas.openxmlformats.org/drawingml/2006/main">
              <a:ext uri="{FF2B5EF4-FFF2-40B4-BE49-F238E27FC236}">
                <a16:creationId xmlns:a16="http://schemas.microsoft.com/office/drawing/2014/main" id="{0F85FD4F-6F24-4694-883B-946891482CA9}"/>
              </a:ext>
            </a:extLst>
          </p:cNvPr>
          <p:cNvSpPr>
            <a:spLocks xmlns:a="http://schemas.openxmlformats.org/drawingml/2006/main" noGrp="1"/>
          </p:cNvSpPr>
          <p:nvPr/>
        </p:nvSpPr>
        <p:spPr>
          <a:xfrm xmlns:a="http://schemas.openxmlformats.org/drawingml/2006/main">
            <a:off x="3990975" y="2990850"/>
            <a:ext cx="3286125" cy="2152650"/>
          </a:xfrm>
          <a:prstGeom xmlns:a="http://schemas.openxmlformats.org/drawingml/2006/main" prst="roundRect">
            <a:avLst>
              <a:gd name="adj" fmla="val 2655"/>
            </a:avLst>
          </a:prstGeom>
          <a:solidFill xmlns:a="http://schemas.openxmlformats.org/drawingml/2006/main">
            <a:srgbClr val="FFFFFF"/>
          </a:solidFill>
          <a:ln xmlns:a="http://schemas.openxmlformats.org/drawingml/2006/main" w="9525">
            <a:solidFill>
              <a:srgbClr val="E8ECF1"/>
            </a:solidFill>
            <a:prstDash val="solid"/>
          </a:ln>
        </p:spPr>
      </p:sp>
      <p:sp>
        <p:nvSpPr>
          <p:cNvPr id="9" name="">
            <a:extLst xmlns:a="http://schemas.openxmlformats.org/drawingml/2006/main">
              <a:ext uri="{FF2B5EF4-FFF2-40B4-BE49-F238E27FC236}">
                <a16:creationId xmlns:a16="http://schemas.microsoft.com/office/drawing/2014/main" id="{C5DE0C79-A8E9-4585-B882-D3AC1F17D6BB}"/>
              </a:ext>
            </a:extLst>
          </p:cNvPr>
          <p:cNvSpPr>
            <a:spLocks xmlns:a="http://schemas.openxmlformats.org/drawingml/2006/main" noGrp="1"/>
          </p:cNvSpPr>
          <p:nvPr/>
        </p:nvSpPr>
        <p:spPr>
          <a:xfrm xmlns:a="http://schemas.openxmlformats.org/drawingml/2006/main">
            <a:off x="4143375" y="3105150"/>
            <a:ext cx="29813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1BB5C8"/>
                </a:solidFill>
                <a:latin typeface="Calibri"/>
                <a:ea typeface="Calibri"/>
                <a:cs typeface="Calibri"/>
              </a:defRPr>
            </a:pPr>
            <a:r>
              <a:rPr sz="1275" b="1" i="0">
                <a:solidFill>
                  <a:srgbClr val="1BB5C8"/>
                </a:solidFill>
                <a:latin typeface="Calibri"/>
                <a:ea typeface="Calibri"/>
                <a:cs typeface="Calibri"/>
              </a:rPr>
              <a:t>NEXT RESEARCH</a:t>
            </a:r>
          </a:p>
        </p:txBody>
      </p:sp>
      <p:sp>
        <p:nvSpPr>
          <p:cNvPr id="10" name="">
            <a:extLst xmlns:a="http://schemas.openxmlformats.org/drawingml/2006/main">
              <a:ext uri="{FF2B5EF4-FFF2-40B4-BE49-F238E27FC236}">
                <a16:creationId xmlns:a16="http://schemas.microsoft.com/office/drawing/2014/main" id="{FE8FBA7B-E400-4696-9015-EB5AE8ADA8EF}"/>
              </a:ext>
            </a:extLst>
          </p:cNvPr>
          <p:cNvSpPr>
            <a:spLocks xmlns:a="http://schemas.openxmlformats.org/drawingml/2006/main" noGrp="1"/>
          </p:cNvSpPr>
          <p:nvPr/>
        </p:nvSpPr>
        <p:spPr>
          <a:xfrm xmlns:a="http://schemas.openxmlformats.org/drawingml/2006/main">
            <a:off x="4143375" y="3438525"/>
            <a:ext cx="2981325"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500" b="0" i="0">
                <a:solidFill>
                  <a:srgbClr val="233248"/>
                </a:solidFill>
                <a:latin typeface="Calibri"/>
                <a:ea typeface="Calibri"/>
                <a:cs typeface="Calibri"/>
              </a:defRPr>
            </a:pPr>
            <a:r>
              <a:rPr sz="1500" b="0" i="0">
                <a:solidFill>
                  <a:srgbClr val="233248"/>
                </a:solidFill>
                <a:latin typeface="Calibri"/>
                <a:ea typeface="Calibri"/>
                <a:cs typeface="Calibri"/>
              </a:rPr>
              <a:t>Run 6 moderated rider and 4 driver interviews if feasible; include accessibility and venue-operations perspectives.</a:t>
            </a:r>
          </a:p>
        </p:txBody>
      </p:sp>
      <p:sp>
        <p:nvSpPr>
          <p:cNvPr id="11" name="">
            <a:extLst xmlns:a="http://schemas.openxmlformats.org/drawingml/2006/main">
              <a:ext uri="{FF2B5EF4-FFF2-40B4-BE49-F238E27FC236}">
                <a16:creationId xmlns:a16="http://schemas.microsoft.com/office/drawing/2014/main" id="{83DC5B17-4FA3-426C-8BDB-3BDA7E0714C6}"/>
              </a:ext>
            </a:extLst>
          </p:cNvPr>
          <p:cNvSpPr>
            <a:spLocks xmlns:a="http://schemas.openxmlformats.org/drawingml/2006/main" noGrp="1"/>
          </p:cNvSpPr>
          <p:nvPr/>
        </p:nvSpPr>
        <p:spPr>
          <a:xfrm xmlns:a="http://schemas.openxmlformats.org/drawingml/2006/main">
            <a:off x="7467600" y="2990850"/>
            <a:ext cx="3486150" cy="2152650"/>
          </a:xfrm>
          <a:prstGeom xmlns:a="http://schemas.openxmlformats.org/drawingml/2006/main" prst="roundRect">
            <a:avLst>
              <a:gd name="adj" fmla="val 2655"/>
            </a:avLst>
          </a:prstGeom>
          <a:solidFill xmlns:a="http://schemas.openxmlformats.org/drawingml/2006/main">
            <a:srgbClr val="FFFFFF"/>
          </a:solidFill>
          <a:ln xmlns:a="http://schemas.openxmlformats.org/drawingml/2006/main" w="9525">
            <a:solidFill>
              <a:srgbClr val="E8ECF1"/>
            </a:solidFill>
            <a:prstDash val="solid"/>
          </a:ln>
        </p:spPr>
      </p:sp>
      <p:sp>
        <p:nvSpPr>
          <p:cNvPr id="12" name="">
            <a:extLst xmlns:a="http://schemas.openxmlformats.org/drawingml/2006/main">
              <a:ext uri="{FF2B5EF4-FFF2-40B4-BE49-F238E27FC236}">
                <a16:creationId xmlns:a16="http://schemas.microsoft.com/office/drawing/2014/main" id="{209C411E-E365-44C8-8653-540D8FEEF879}"/>
              </a:ext>
            </a:extLst>
          </p:cNvPr>
          <p:cNvSpPr>
            <a:spLocks xmlns:a="http://schemas.openxmlformats.org/drawingml/2006/main" noGrp="1"/>
          </p:cNvSpPr>
          <p:nvPr/>
        </p:nvSpPr>
        <p:spPr>
          <a:xfrm xmlns:a="http://schemas.openxmlformats.org/drawingml/2006/main">
            <a:off x="7620000" y="3105150"/>
            <a:ext cx="31813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F47A22"/>
                </a:solidFill>
                <a:latin typeface="Calibri"/>
                <a:ea typeface="Calibri"/>
                <a:cs typeface="Calibri"/>
              </a:defRPr>
            </a:pPr>
            <a:r>
              <a:rPr sz="1275" b="1" i="0">
                <a:solidFill>
                  <a:srgbClr val="F47A22"/>
                </a:solidFill>
                <a:latin typeface="Calibri"/>
                <a:ea typeface="Calibri"/>
                <a:cs typeface="Calibri"/>
              </a:rPr>
              <a:t>NEXT DATA</a:t>
            </a:r>
          </a:p>
        </p:txBody>
      </p:sp>
      <p:sp>
        <p:nvSpPr>
          <p:cNvPr id="13" name="">
            <a:extLst xmlns:a="http://schemas.openxmlformats.org/drawingml/2006/main">
              <a:ext uri="{FF2B5EF4-FFF2-40B4-BE49-F238E27FC236}">
                <a16:creationId xmlns:a16="http://schemas.microsoft.com/office/drawing/2014/main" id="{AE6C9FD4-F824-4A4C-920E-48AD5FC497CC}"/>
              </a:ext>
            </a:extLst>
          </p:cNvPr>
          <p:cNvSpPr>
            <a:spLocks xmlns:a="http://schemas.openxmlformats.org/drawingml/2006/main" noGrp="1"/>
          </p:cNvSpPr>
          <p:nvPr/>
        </p:nvSpPr>
        <p:spPr>
          <a:xfrm xmlns:a="http://schemas.openxmlformats.org/drawingml/2006/main">
            <a:off x="7620000" y="3438525"/>
            <a:ext cx="318135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500" b="0" i="0">
                <a:solidFill>
                  <a:srgbClr val="233248"/>
                </a:solidFill>
                <a:latin typeface="Calibri"/>
                <a:ea typeface="Calibri"/>
                <a:cs typeface="Calibri"/>
              </a:defRPr>
            </a:pPr>
            <a:r>
              <a:rPr sz="1500" b="0" i="0">
                <a:solidFill>
                  <a:srgbClr val="233248"/>
                </a:solidFill>
                <a:latin typeface="Calibri"/>
                <a:ea typeface="Calibri"/>
                <a:cs typeface="Calibri"/>
              </a:rPr>
              <a:t>If event logs are trustworthy, baseline arrived-to-trip-start dwell, contacts, location changes, and cancellations at selected venues.</a:t>
            </a:r>
          </a:p>
        </p:txBody>
      </p:sp>
      <p:sp>
        <p:nvSpPr>
          <p:cNvPr id="14" name="">
            <a:extLst xmlns:a="http://schemas.openxmlformats.org/drawingml/2006/main">
              <a:ext uri="{FF2B5EF4-FFF2-40B4-BE49-F238E27FC236}">
                <a16:creationId xmlns:a16="http://schemas.microsoft.com/office/drawing/2014/main" id="{C20CCC95-F742-4E9E-B063-F4C38322B5AE}"/>
              </a:ext>
            </a:extLst>
          </p:cNvPr>
          <p:cNvSpPr>
            <a:spLocks xmlns:a="http://schemas.openxmlformats.org/drawingml/2006/main" noGrp="1"/>
          </p:cNvSpPr>
          <p:nvPr/>
        </p:nvSpPr>
        <p:spPr>
          <a:xfrm xmlns:a="http://schemas.openxmlformats.org/drawingml/2006/main">
            <a:off x="514350" y="5429250"/>
            <a:ext cx="10439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ctr">
              <a:defRPr sz="1350" b="0" i="1">
                <a:solidFill>
                  <a:srgbClr val="687489"/>
                </a:solidFill>
                <a:latin typeface="Calibri"/>
                <a:ea typeface="Calibri"/>
                <a:cs typeface="Calibri"/>
              </a:defRPr>
            </a:pPr>
            <a:r>
              <a:rPr sz="1350" b="0" i="1">
                <a:solidFill>
                  <a:srgbClr val="687489"/>
                </a:solidFill>
                <a:latin typeface="Calibri"/>
                <a:ea typeface="Calibri"/>
                <a:cs typeface="Calibri"/>
              </a:rPr>
              <a:t>Appendix: full method, framing check, top 10 insights, competitor patterns, idea tests, limitations, and source traceability.</a:t>
            </a:r>
          </a:p>
        </p:txBody>
      </p:sp>
      <p:sp>
        <p:nvSpPr>
          <p:cNvPr id="15" name="">
            <a:extLst xmlns:a="http://schemas.openxmlformats.org/drawingml/2006/main">
              <a:ext uri="{FF2B5EF4-FFF2-40B4-BE49-F238E27FC236}">
                <a16:creationId xmlns:a16="http://schemas.microsoft.com/office/drawing/2014/main" id="{713030CD-4922-49C0-8043-BC86490FA34C}"/>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a:t>
            </a:r>
          </a:p>
        </p:txBody>
      </p:sp>
      <p:sp>
        <p:nvSpPr>
          <p:cNvPr id="16" name="">
            <a:extLst xmlns:a="http://schemas.openxmlformats.org/drawingml/2006/main">
              <a:ext uri="{FF2B5EF4-FFF2-40B4-BE49-F238E27FC236}">
                <a16:creationId xmlns:a16="http://schemas.microsoft.com/office/drawing/2014/main" id="{B9F64CEB-E61E-4C16-97F2-615954CEA1C9}"/>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12</a:t>
            </a:r>
          </a:p>
        </p:txBody>
      </p:sp>
    </p:spTree>
    <p:extLst>
      <p:ext uri="{BB962C8B-B14F-4D97-AF65-F5344CB8AC3E}">
        <p14:creationId xmlns:p14="http://schemas.microsoft.com/office/powerpoint/2010/main" val="1849577909"/>
      </p:ext>
    </p:extLst>
  </p:cSld>
</p:sld>
</file>

<file path=ppt/slides/slide13.xml><?xml version="1.0" encoding="utf-8"?>
<p:sld xmlns:p="http://schemas.openxmlformats.org/presentationml/2006/main">
  <p:cSld>
    <p:bg>
      <p:bgPr>
        <a:solidFill xmlns:a="http://schemas.openxmlformats.org/drawingml/2006/main">
          <a:srgbClr val="1B2B45"/>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98EA105-2415-4493-AF80-5A30E4F61A61}"/>
              </a:ext>
            </a:extLst>
          </p:cNvPr>
          <p:cNvSpPr>
            <a:spLocks xmlns:a="http://schemas.openxmlformats.org/drawingml/2006/main" noGrp="1"/>
          </p:cNvSpPr>
          <p:nvPr/>
        </p:nvSpPr>
        <p:spPr>
          <a:xfrm xmlns:a="http://schemas.openxmlformats.org/drawingml/2006/main">
            <a:off x="514350" y="1619250"/>
            <a:ext cx="4762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350" b="1" i="0">
                <a:solidFill>
                  <a:srgbClr val="F47A22"/>
                </a:solidFill>
                <a:latin typeface="Calibri"/>
                <a:ea typeface="Calibri"/>
                <a:cs typeface="Calibri"/>
              </a:defRPr>
            </a:pPr>
            <a:r>
              <a:rPr sz="1350" b="1" i="0">
                <a:solidFill>
                  <a:srgbClr val="F47A22"/>
                </a:solidFill>
                <a:latin typeface="Calibri"/>
                <a:ea typeface="Calibri"/>
                <a:cs typeface="Calibri"/>
              </a:rPr>
              <a:t>APPENDIX</a:t>
            </a:r>
          </a:p>
        </p:txBody>
      </p:sp>
      <p:sp>
        <p:nvSpPr>
          <p:cNvPr id="2" name="">
            <a:extLst xmlns:a="http://schemas.openxmlformats.org/drawingml/2006/main">
              <a:ext uri="{FF2B5EF4-FFF2-40B4-BE49-F238E27FC236}">
                <a16:creationId xmlns:a16="http://schemas.microsoft.com/office/drawing/2014/main" id="{14DD786C-FA3F-42B3-8C32-0CE5FB55F2D3}"/>
              </a:ext>
            </a:extLst>
          </p:cNvPr>
          <p:cNvSpPr>
            <a:spLocks xmlns:a="http://schemas.openxmlformats.org/drawingml/2006/main" noGrp="1"/>
          </p:cNvSpPr>
          <p:nvPr/>
        </p:nvSpPr>
        <p:spPr>
          <a:xfrm xmlns:a="http://schemas.openxmlformats.org/drawingml/2006/main">
            <a:off x="514350" y="2152650"/>
            <a:ext cx="9334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3300" b="1" i="0">
                <a:solidFill>
                  <a:srgbClr val="FFFFFF"/>
                </a:solidFill>
                <a:latin typeface="Calibri"/>
                <a:ea typeface="Calibri"/>
                <a:cs typeface="Calibri"/>
              </a:defRPr>
            </a:pPr>
            <a:r>
              <a:rPr sz="3300" b="1" i="0">
                <a:solidFill>
                  <a:srgbClr val="FFFFFF"/>
                </a:solidFill>
                <a:latin typeface="Calibri"/>
                <a:ea typeface="Calibri"/>
                <a:cs typeface="Calibri"/>
              </a:rPr>
              <a:t>The evidence behind every claim</a:t>
            </a:r>
          </a:p>
        </p:txBody>
      </p:sp>
      <p:sp>
        <p:nvSpPr>
          <p:cNvPr id="3" name="">
            <a:extLst xmlns:a="http://schemas.openxmlformats.org/drawingml/2006/main">
              <a:ext uri="{FF2B5EF4-FFF2-40B4-BE49-F238E27FC236}">
                <a16:creationId xmlns:a16="http://schemas.microsoft.com/office/drawing/2014/main" id="{6CFD2D3C-864D-479B-A4C7-C8A66326E670}"/>
              </a:ext>
            </a:extLst>
          </p:cNvPr>
          <p:cNvSpPr>
            <a:spLocks xmlns:a="http://schemas.openxmlformats.org/drawingml/2006/main" noGrp="1"/>
          </p:cNvSpPr>
          <p:nvPr/>
        </p:nvSpPr>
        <p:spPr>
          <a:xfrm xmlns:a="http://schemas.openxmlformats.org/drawingml/2006/main">
            <a:off x="514350" y="3067050"/>
            <a:ext cx="10287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725" b="0" i="0">
                <a:solidFill>
                  <a:srgbClr val="CDD6E3"/>
                </a:solidFill>
                <a:latin typeface="Calibri"/>
                <a:ea typeface="Calibri"/>
                <a:cs typeface="Calibri"/>
              </a:defRPr>
            </a:pPr>
            <a:r>
              <a:rPr sz="1725" b="0" i="0">
                <a:solidFill>
                  <a:srgbClr val="CDD6E3"/>
                </a:solidFill>
                <a:latin typeface="Calibri"/>
                <a:ea typeface="Calibri"/>
                <a:cs typeface="Calibri"/>
              </a:rPr>
              <a:t>Methodology · Problem-framing check · Top 10 insights · Market and competitor patterns · Strategy reconciliation · Product tests · Limitations · Sources</a:t>
            </a:r>
          </a:p>
        </p:txBody>
      </p:sp>
      <p:sp>
        <p:nvSpPr>
          <p:cNvPr id="4" name="">
            <a:extLst xmlns:a="http://schemas.openxmlformats.org/drawingml/2006/main">
              <a:ext uri="{FF2B5EF4-FFF2-40B4-BE49-F238E27FC236}">
                <a16:creationId xmlns:a16="http://schemas.microsoft.com/office/drawing/2014/main" id="{7183A7A2-06C5-4E0D-A3D0-84B5B0C7FDFC}"/>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 · Appendix</a:t>
            </a:r>
          </a:p>
        </p:txBody>
      </p:sp>
      <p:sp>
        <p:nvSpPr>
          <p:cNvPr id="5" name="">
            <a:extLst xmlns:a="http://schemas.openxmlformats.org/drawingml/2006/main">
              <a:ext uri="{FF2B5EF4-FFF2-40B4-BE49-F238E27FC236}">
                <a16:creationId xmlns:a16="http://schemas.microsoft.com/office/drawing/2014/main" id="{2540A424-5BAF-4277-8289-8398D6EB5EF5}"/>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13</a:t>
            </a:r>
          </a:p>
        </p:txBody>
      </p:sp>
    </p:spTree>
    <p:extLst>
      <p:ext uri="{BB962C8B-B14F-4D97-AF65-F5344CB8AC3E}">
        <p14:creationId xmlns:p14="http://schemas.microsoft.com/office/powerpoint/2010/main" val="254740370"/>
      </p:ext>
    </p:extLst>
  </p:cSld>
</p:sld>
</file>

<file path=ppt/slides/slide14.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6E434865-2727-4A7B-BC61-8031473AC4AE}"/>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APPENDIX · METHODOLOGY</a:t>
            </a:r>
          </a:p>
        </p:txBody>
      </p:sp>
      <p:sp>
        <p:nvSpPr>
          <p:cNvPr id="2" name="">
            <a:extLst xmlns:a="http://schemas.openxmlformats.org/drawingml/2006/main">
              <a:ext uri="{FF2B5EF4-FFF2-40B4-BE49-F238E27FC236}">
                <a16:creationId xmlns:a16="http://schemas.microsoft.com/office/drawing/2014/main" id="{E4E358DE-532C-446D-BD47-B78B267A7B20}"/>
              </a:ext>
            </a:extLst>
          </p:cNvPr>
          <p:cNvSpPr>
            <a:spLocks xmlns:a="http://schemas.openxmlformats.org/drawingml/2006/main" noGrp="1"/>
          </p:cNvSpPr>
          <p:nvPr/>
        </p:nvSpPr>
        <p:spPr>
          <a:xfrm xmlns:a="http://schemas.openxmlformats.org/drawingml/2006/main">
            <a:off x="514350" y="571500"/>
            <a:ext cx="1114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Online survey evidence and the exact requirement gap</a:t>
            </a:r>
          </a:p>
        </p:txBody>
      </p:sp>
      <p:sp>
        <p:nvSpPr>
          <p:cNvPr id="3" name="">
            <a:extLst xmlns:a="http://schemas.openxmlformats.org/drawingml/2006/main">
              <a:ext uri="{FF2B5EF4-FFF2-40B4-BE49-F238E27FC236}">
                <a16:creationId xmlns:a16="http://schemas.microsoft.com/office/drawing/2014/main" id="{02114584-B5B4-4E9C-8628-2185835C56F3}"/>
              </a:ext>
            </a:extLst>
          </p:cNvPr>
          <p:cNvSpPr>
            <a:spLocks xmlns:a="http://schemas.openxmlformats.org/drawingml/2006/main" noGrp="1"/>
          </p:cNvSpPr>
          <p:nvPr/>
        </p:nvSpPr>
        <p:spPr>
          <a:xfrm xmlns:a="http://schemas.openxmlformats.org/drawingml/2006/main">
            <a:off x="514350" y="1676400"/>
            <a:ext cx="6286500" cy="400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38100" rIns="38100" bIns="38100">
            <a:normAutofit fontScale="100000"/>
          </a:bodyPr>
          <a:lstStyle xmlns:a="http://schemas.openxmlformats.org/drawingml/2006/main"/>
          <a:p xmlns:a="http://schemas.openxmlformats.org/drawingml/2006/main">
            <a:pPr marL="228600" indent="-114300">
              <a:spcAft>
                <a:spcPts val="1000"/>
              </a:spcAft>
              <a:buChar char="•"/>
              <a:defRPr sz="1575">
                <a:solidFill>
                  <a:srgbClr val="233248"/>
                </a:solidFill>
                <a:latin typeface="Calibri"/>
                <a:ea typeface="Calibri"/>
                <a:cs typeface="Calibri"/>
              </a:defRPr>
            </a:pPr>
            <a:r>
              <a:rPr sz="1575">
                <a:solidFill>
                  <a:srgbClr val="233248"/>
                </a:solidFill>
                <a:latin typeface="Calibri"/>
                <a:ea typeface="Calibri"/>
                <a:cs typeface="Calibri"/>
              </a:rPr>
              <a:t>62 unique submissions after removing confirmed duplicate R032</a:t>
            </a:r>
          </a:p>
          <a:p xmlns:a="http://schemas.openxmlformats.org/drawingml/2006/main">
            <a:pPr marL="228600" indent="-114300">
              <a:spcAft>
                <a:spcPts val="1000"/>
              </a:spcAft>
              <a:buChar char="•"/>
              <a:defRPr sz="1575">
                <a:solidFill>
                  <a:srgbClr val="233248"/>
                </a:solidFill>
                <a:latin typeface="Calibri"/>
                <a:ea typeface="Calibri"/>
                <a:cs typeface="Calibri"/>
              </a:defRPr>
            </a:pPr>
            <a:r>
              <a:rPr sz="1575">
                <a:solidFill>
                  <a:srgbClr val="233248"/>
                </a:solidFill>
                <a:latin typeface="Calibri"/>
                <a:ea typeface="Calibri"/>
                <a:cs typeface="Calibri"/>
              </a:rPr>
              <a:t>58 riders and 4 drivers; driver conclusions remain open</a:t>
            </a:r>
          </a:p>
          <a:p xmlns:a="http://schemas.openxmlformats.org/drawingml/2006/main">
            <a:pPr marL="228600" indent="-114300">
              <a:spcAft>
                <a:spcPts val="1000"/>
              </a:spcAft>
              <a:buChar char="•"/>
              <a:defRPr sz="1575">
                <a:solidFill>
                  <a:srgbClr val="233248"/>
                </a:solidFill>
                <a:latin typeface="Calibri"/>
                <a:ea typeface="Calibri"/>
                <a:cs typeface="Calibri"/>
              </a:defRPr>
            </a:pPr>
            <a:r>
              <a:rPr sz="1575">
                <a:solidFill>
                  <a:srgbClr val="233248"/>
                </a:solidFill>
                <a:latin typeface="Calibri"/>
                <a:ea typeface="Calibri"/>
                <a:cs typeface="Calibri"/>
              </a:rPr>
              <a:t>33 Hyderabad and 29 other-city responses</a:t>
            </a:r>
          </a:p>
          <a:p xmlns:a="http://schemas.openxmlformats.org/drawingml/2006/main">
            <a:pPr marL="228600" indent="-114300">
              <a:spcAft>
                <a:spcPts val="1000"/>
              </a:spcAft>
              <a:buChar char="•"/>
              <a:defRPr sz="1575">
                <a:solidFill>
                  <a:srgbClr val="233248"/>
                </a:solidFill>
                <a:latin typeface="Calibri"/>
                <a:ea typeface="Calibri"/>
                <a:cs typeface="Calibri"/>
              </a:defRPr>
            </a:pPr>
            <a:r>
              <a:rPr sz="1575">
                <a:solidFill>
                  <a:srgbClr val="233248"/>
                </a:solidFill>
                <a:latin typeface="Calibri"/>
                <a:ea typeface="Calibri"/>
                <a:cs typeface="Calibri"/>
              </a:rPr>
              <a:t>Self-serve, asynchronous, consent-gated interface in English, Telugu, and Hindi</a:t>
            </a:r>
          </a:p>
          <a:p xmlns:a="http://schemas.openxmlformats.org/drawingml/2006/main">
            <a:pPr marL="228600" indent="-114300">
              <a:spcAft>
                <a:spcPts val="1000"/>
              </a:spcAft>
              <a:buChar char="•"/>
              <a:defRPr sz="1575">
                <a:solidFill>
                  <a:srgbClr val="233248"/>
                </a:solidFill>
                <a:latin typeface="Calibri"/>
                <a:ea typeface="Calibri"/>
                <a:cs typeface="Calibri"/>
              </a:defRPr>
            </a:pPr>
            <a:r>
              <a:rPr sz="1575">
                <a:solidFill>
                  <a:srgbClr val="233248"/>
                </a:solidFill>
                <a:latin typeface="Calibri"/>
                <a:ea typeface="Calibri"/>
                <a:cs typeface="Calibri"/>
              </a:rPr>
              <a:t>Four optional open-text or voice prompts plus structured tags</a:t>
            </a:r>
          </a:p>
          <a:p xmlns:a="http://schemas.openxmlformats.org/drawingml/2006/main">
            <a:pPr marL="228600" indent="-114300">
              <a:spcAft>
                <a:spcPts val="1000"/>
              </a:spcAft>
              <a:buChar char="•"/>
              <a:defRPr sz="1575">
                <a:solidFill>
                  <a:srgbClr val="233248"/>
                </a:solidFill>
                <a:latin typeface="Calibri"/>
                <a:ea typeface="Calibri"/>
                <a:cs typeface="Calibri"/>
              </a:defRPr>
            </a:pPr>
            <a:r>
              <a:rPr sz="1575">
                <a:solidFill>
                  <a:srgbClr val="233248"/>
                </a:solidFill>
                <a:latin typeface="Calibri"/>
                <a:ea typeface="Calibri"/>
                <a:cs typeface="Calibri"/>
              </a:rPr>
              <a:t>Contact details and raw payload excluded from the sanitized workbook</a:t>
            </a:r>
          </a:p>
          <a:p xmlns:a="http://schemas.openxmlformats.org/drawingml/2006/main">
            <a:pPr marL="228600" indent="-114300">
              <a:spcAft>
                <a:spcPts val="1000"/>
              </a:spcAft>
              <a:buChar char="•"/>
              <a:defRPr sz="1575">
                <a:solidFill>
                  <a:srgbClr val="233248"/>
                </a:solidFill>
                <a:latin typeface="Calibri"/>
                <a:ea typeface="Calibri"/>
                <a:cs typeface="Calibri"/>
              </a:defRPr>
            </a:pPr>
            <a:r>
              <a:rPr sz="1575">
                <a:solidFill>
                  <a:srgbClr val="233248"/>
                </a:solidFill>
                <a:latin typeface="Calibri"/>
                <a:ea typeface="Calibri"/>
                <a:cs typeface="Calibri"/>
              </a:rPr>
              <a:t>Asynchronous online research, not synchronous in-depth interviews: 30 respondents answered open-ended prompts, but no answer could be probed live</a:t>
            </a:r>
          </a:p>
        </p:txBody>
      </p:sp>
      <p:sp>
        <p:nvSpPr>
          <p:cNvPr id="4" name="">
            <a:extLst xmlns:a="http://schemas.openxmlformats.org/drawingml/2006/main">
              <a:ext uri="{FF2B5EF4-FFF2-40B4-BE49-F238E27FC236}">
                <a16:creationId xmlns:a16="http://schemas.microsoft.com/office/drawing/2014/main" id="{47AE9DA2-73D2-47F2-B541-053B630E2B2D}"/>
              </a:ext>
            </a:extLst>
          </p:cNvPr>
          <p:cNvSpPr>
            <a:spLocks xmlns:a="http://schemas.openxmlformats.org/drawingml/2006/main" noGrp="1"/>
          </p:cNvSpPr>
          <p:nvPr/>
        </p:nvSpPr>
        <p:spPr>
          <a:xfrm xmlns:a="http://schemas.openxmlformats.org/drawingml/2006/main">
            <a:off x="7239000" y="1600200"/>
            <a:ext cx="1790700" cy="3638550"/>
          </a:xfrm>
          <a:prstGeom xmlns:a="http://schemas.openxmlformats.org/drawingml/2006/main" prst="roundRect">
            <a:avLst>
              <a:gd name="adj" fmla="val 3191"/>
            </a:avLst>
          </a:prstGeom>
          <a:solidFill xmlns:a="http://schemas.openxmlformats.org/drawingml/2006/main">
            <a:srgbClr val="FFFFFF"/>
          </a:solidFill>
          <a:ln xmlns:a="http://schemas.openxmlformats.org/drawingml/2006/main" w="19050">
            <a:solidFill>
              <a:srgbClr val="1B2B45"/>
            </a:solidFill>
            <a:prstDash val="solid"/>
          </a:ln>
        </p:spPr>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cc7f9edd96534495"/>
          <a:stretch xmlns:a="http://schemas.openxmlformats.org/drawingml/2006/main"/>
        </p:blipFill>
        <p:spPr>
          <a:xfrm xmlns:a="http://schemas.openxmlformats.org/drawingml/2006/main">
            <a:off x="7464069" y="1695450"/>
            <a:ext cx="1340562" cy="34480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F52B6829-20E3-4C11-8ADB-37C3868D7DC5}"/>
              </a:ext>
            </a:extLst>
          </p:cNvPr>
          <p:cNvSpPr>
            <a:spLocks xmlns:a="http://schemas.openxmlformats.org/drawingml/2006/main" noGrp="1"/>
          </p:cNvSpPr>
          <p:nvPr/>
        </p:nvSpPr>
        <p:spPr>
          <a:xfrm xmlns:a="http://schemas.openxmlformats.org/drawingml/2006/main">
            <a:off x="9277350" y="1600200"/>
            <a:ext cx="1790700" cy="3638550"/>
          </a:xfrm>
          <a:prstGeom xmlns:a="http://schemas.openxmlformats.org/drawingml/2006/main" prst="roundRect">
            <a:avLst>
              <a:gd name="adj" fmla="val 3191"/>
            </a:avLst>
          </a:prstGeom>
          <a:solidFill xmlns:a="http://schemas.openxmlformats.org/drawingml/2006/main">
            <a:srgbClr val="FFFFFF"/>
          </a:solidFill>
          <a:ln xmlns:a="http://schemas.openxmlformats.org/drawingml/2006/main" w="19050">
            <a:solidFill>
              <a:srgbClr val="1B2B45"/>
            </a:solidFill>
            <a:prstDash val="solid"/>
          </a:ln>
        </p:spPr>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88c0ab6e0b1244b1"/>
          <a:stretch xmlns:a="http://schemas.openxmlformats.org/drawingml/2006/main"/>
        </p:blipFill>
        <p:spPr>
          <a:xfrm xmlns:a="http://schemas.openxmlformats.org/drawingml/2006/main">
            <a:off x="9377281" y="1695450"/>
            <a:ext cx="1590839" cy="344805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BCF9B843-1D90-487C-8E53-EE8CB868A429}"/>
              </a:ext>
            </a:extLst>
          </p:cNvPr>
          <p:cNvSpPr>
            <a:spLocks xmlns:a="http://schemas.openxmlformats.org/drawingml/2006/main" noGrp="1"/>
          </p:cNvSpPr>
          <p:nvPr/>
        </p:nvSpPr>
        <p:spPr>
          <a:xfrm xmlns:a="http://schemas.openxmlformats.org/drawingml/2006/main">
            <a:off x="7239000" y="5391150"/>
            <a:ext cx="3829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8235"/>
          </a:bodyPr>
          <a:lstStyle xmlns:a="http://schemas.openxmlformats.org/drawingml/2006/main"/>
          <a:p xmlns:a="http://schemas.openxmlformats.org/drawingml/2006/main">
            <a:pPr algn="ctr">
              <a:defRPr sz="1275" b="0" i="0">
                <a:solidFill>
                  <a:srgbClr val="687489"/>
                </a:solidFill>
                <a:latin typeface="Calibri"/>
                <a:ea typeface="Calibri"/>
                <a:cs typeface="Calibri"/>
              </a:defRPr>
            </a:pPr>
            <a:r>
              <a:rPr sz="1275" b="0" i="0">
                <a:solidFill>
                  <a:srgbClr val="687489"/>
                </a:solidFill>
                <a:latin typeface="Calibri"/>
                <a:ea typeface="Calibri"/>
                <a:cs typeface="Calibri"/>
              </a:rPr>
              <a:t>Live app and full-size screenshots are included in the evidence ZIP.</a:t>
            </a:r>
          </a:p>
        </p:txBody>
      </p:sp>
      <p:sp>
        <p:nvSpPr>
          <p:cNvPr id="9" name="">
            <a:extLst xmlns:a="http://schemas.openxmlformats.org/drawingml/2006/main">
              <a:ext uri="{FF2B5EF4-FFF2-40B4-BE49-F238E27FC236}">
                <a16:creationId xmlns:a16="http://schemas.microsoft.com/office/drawing/2014/main" id="{4C4AC823-A82E-4361-A4E7-E111DC8DACD1}"/>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 · Appendix</a:t>
            </a:r>
          </a:p>
        </p:txBody>
      </p:sp>
      <p:sp>
        <p:nvSpPr>
          <p:cNvPr id="10" name="">
            <a:extLst xmlns:a="http://schemas.openxmlformats.org/drawingml/2006/main">
              <a:ext uri="{FF2B5EF4-FFF2-40B4-BE49-F238E27FC236}">
                <a16:creationId xmlns:a16="http://schemas.microsoft.com/office/drawing/2014/main" id="{15DA06F6-5FB0-461C-A439-18BF2BE0BE53}"/>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14</a:t>
            </a:r>
          </a:p>
        </p:txBody>
      </p:sp>
    </p:spTree>
    <p:extLst>
      <p:ext uri="{BB962C8B-B14F-4D97-AF65-F5344CB8AC3E}">
        <p14:creationId xmlns:p14="http://schemas.microsoft.com/office/powerpoint/2010/main" val="1175432781"/>
      </p:ext>
    </p:extLst>
  </p:cSld>
</p:sld>
</file>

<file path=ppt/slides/slide15.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43" name="">
            <a:extLst xmlns:a="http://schemas.openxmlformats.org/drawingml/2006/main">
              <a:ext uri="{FF2B5EF4-FFF2-40B4-BE49-F238E27FC236}">
                <a16:creationId xmlns:a16="http://schemas.microsoft.com/office/drawing/2014/main" id="{AD24C6D3-186F-483A-8A23-5E6CD7C6FF89}"/>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APPENDIX · PROBLEM FRAMING</a:t>
            </a:r>
          </a:p>
        </p:txBody>
      </p:sp>
      <p:sp>
        <p:nvSpPr>
          <p:cNvPr id="2" name="">
            <a:extLst xmlns:a="http://schemas.openxmlformats.org/drawingml/2006/main">
              <a:ext uri="{FF2B5EF4-FFF2-40B4-BE49-F238E27FC236}">
                <a16:creationId xmlns:a16="http://schemas.microsoft.com/office/drawing/2014/main" id="{6B5146A6-9421-429B-B166-6E113C1D3394}"/>
              </a:ext>
            </a:extLst>
          </p:cNvPr>
          <p:cNvSpPr>
            <a:spLocks xmlns:a="http://schemas.openxmlformats.org/drawingml/2006/main" noGrp="1"/>
          </p:cNvSpPr>
          <p:nvPr/>
        </p:nvSpPr>
        <p:spPr>
          <a:xfrm xmlns:a="http://schemas.openxmlformats.org/drawingml/2006/main">
            <a:off x="514350" y="571500"/>
            <a:ext cx="1114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Current problem frame and validation status</a:t>
            </a:r>
          </a:p>
        </p:txBody>
      </p:sp>
      <p:sp>
        <p:nvSpPr>
          <p:cNvPr id="3" name="">
            <a:extLst xmlns:a="http://schemas.openxmlformats.org/drawingml/2006/main">
              <a:ext uri="{FF2B5EF4-FFF2-40B4-BE49-F238E27FC236}">
                <a16:creationId xmlns:a16="http://schemas.microsoft.com/office/drawing/2014/main" id="{568DC1D9-AC0E-4E76-B828-C220335B5327}"/>
              </a:ext>
            </a:extLst>
          </p:cNvPr>
          <p:cNvSpPr>
            <a:spLocks xmlns:a="http://schemas.openxmlformats.org/drawingml/2006/main" noGrp="1"/>
          </p:cNvSpPr>
          <p:nvPr/>
        </p:nvSpPr>
        <p:spPr>
          <a:xfrm xmlns:a="http://schemas.openxmlformats.org/drawingml/2006/main">
            <a:off x="895350" y="1790700"/>
            <a:ext cx="2381250" cy="1600200"/>
          </a:xfrm>
          <a:prstGeom xmlns:a="http://schemas.openxmlformats.org/drawingml/2006/main" prst="rect">
            <a:avLst/>
          </a:prstGeom>
          <a:solidFill xmlns:a="http://schemas.openxmlformats.org/drawingml/2006/main">
            <a:srgbClr val="F6F8FB"/>
          </a:solidFill>
          <a:ln xmlns:a="http://schemas.openxmlformats.org/drawingml/2006/main" w="9525">
            <a:solidFill>
              <a:srgbClr val="E8ECF1"/>
            </a:solidFill>
            <a:prstDash val="solid"/>
          </a:ln>
        </p:spPr>
      </p:sp>
      <p:sp>
        <p:nvSpPr>
          <p:cNvPr id="4" name="">
            <a:extLst xmlns:a="http://schemas.openxmlformats.org/drawingml/2006/main">
              <a:ext uri="{FF2B5EF4-FFF2-40B4-BE49-F238E27FC236}">
                <a16:creationId xmlns:a16="http://schemas.microsoft.com/office/drawing/2014/main" id="{E272DF20-FB15-41B6-A246-2A550FCB8D24}"/>
              </a:ext>
            </a:extLst>
          </p:cNvPr>
          <p:cNvSpPr>
            <a:spLocks xmlns:a="http://schemas.openxmlformats.org/drawingml/2006/main" noGrp="1"/>
          </p:cNvSpPr>
          <p:nvPr/>
        </p:nvSpPr>
        <p:spPr>
          <a:xfrm xmlns:a="http://schemas.openxmlformats.org/drawingml/2006/main">
            <a:off x="3276600" y="1790700"/>
            <a:ext cx="2381250" cy="1600200"/>
          </a:xfrm>
          <a:prstGeom xmlns:a="http://schemas.openxmlformats.org/drawingml/2006/main" prst="rect">
            <a:avLst/>
          </a:prstGeom>
          <a:solidFill xmlns:a="http://schemas.openxmlformats.org/drawingml/2006/main">
            <a:srgbClr val="E2F4F6"/>
          </a:solidFill>
          <a:ln xmlns:a="http://schemas.openxmlformats.org/drawingml/2006/main" w="9525">
            <a:solidFill>
              <a:srgbClr val="E8ECF1"/>
            </a:solidFill>
            <a:prstDash val="solid"/>
          </a:ln>
        </p:spPr>
      </p:sp>
      <p:sp>
        <p:nvSpPr>
          <p:cNvPr id="5" name="">
            <a:extLst xmlns:a="http://schemas.openxmlformats.org/drawingml/2006/main">
              <a:ext uri="{FF2B5EF4-FFF2-40B4-BE49-F238E27FC236}">
                <a16:creationId xmlns:a16="http://schemas.microsoft.com/office/drawing/2014/main" id="{D606406F-88C0-46D0-B731-295085A254F4}"/>
              </a:ext>
            </a:extLst>
          </p:cNvPr>
          <p:cNvSpPr>
            <a:spLocks xmlns:a="http://schemas.openxmlformats.org/drawingml/2006/main" noGrp="1"/>
          </p:cNvSpPr>
          <p:nvPr/>
        </p:nvSpPr>
        <p:spPr>
          <a:xfrm xmlns:a="http://schemas.openxmlformats.org/drawingml/2006/main">
            <a:off x="895350" y="3390900"/>
            <a:ext cx="2381250" cy="1600200"/>
          </a:xfrm>
          <a:prstGeom xmlns:a="http://schemas.openxmlformats.org/drawingml/2006/main" prst="rect">
            <a:avLst/>
          </a:prstGeom>
          <a:solidFill xmlns:a="http://schemas.openxmlformats.org/drawingml/2006/main">
            <a:srgbClr val="F7F7F8"/>
          </a:solidFill>
          <a:ln xmlns:a="http://schemas.openxmlformats.org/drawingml/2006/main" w="9525">
            <a:solidFill>
              <a:srgbClr val="E8ECF1"/>
            </a:solidFill>
            <a:prstDash val="solid"/>
          </a:ln>
        </p:spPr>
      </p:sp>
      <p:sp>
        <p:nvSpPr>
          <p:cNvPr id="6" name="">
            <a:extLst xmlns:a="http://schemas.openxmlformats.org/drawingml/2006/main">
              <a:ext uri="{FF2B5EF4-FFF2-40B4-BE49-F238E27FC236}">
                <a16:creationId xmlns:a16="http://schemas.microsoft.com/office/drawing/2014/main" id="{14DFF938-8AF8-4C7B-9C92-6305C2E915D7}"/>
              </a:ext>
            </a:extLst>
          </p:cNvPr>
          <p:cNvSpPr>
            <a:spLocks xmlns:a="http://schemas.openxmlformats.org/drawingml/2006/main" noGrp="1"/>
          </p:cNvSpPr>
          <p:nvPr/>
        </p:nvSpPr>
        <p:spPr>
          <a:xfrm xmlns:a="http://schemas.openxmlformats.org/drawingml/2006/main">
            <a:off x="3276600" y="3390900"/>
            <a:ext cx="2381250" cy="1600200"/>
          </a:xfrm>
          <a:prstGeom xmlns:a="http://schemas.openxmlformats.org/drawingml/2006/main" prst="rect">
            <a:avLst/>
          </a:prstGeom>
          <a:solidFill xmlns:a="http://schemas.openxmlformats.org/drawingml/2006/main">
            <a:srgbClr val="FBE7D8"/>
          </a:solidFill>
          <a:ln xmlns:a="http://schemas.openxmlformats.org/drawingml/2006/main" w="9525">
            <a:solidFill>
              <a:srgbClr val="E8ECF1"/>
            </a:solidFill>
            <a:prstDash val="solid"/>
          </a:ln>
        </p:spPr>
      </p:sp>
      <p:sp>
        <p:nvSpPr>
          <p:cNvPr id="7" name="">
            <a:extLst xmlns:a="http://schemas.openxmlformats.org/drawingml/2006/main">
              <a:ext uri="{FF2B5EF4-FFF2-40B4-BE49-F238E27FC236}">
                <a16:creationId xmlns:a16="http://schemas.microsoft.com/office/drawing/2014/main" id="{CDB1DA92-D78B-4D29-B6F9-AFF8D5B4F995}"/>
              </a:ext>
            </a:extLst>
          </p:cNvPr>
          <p:cNvSpPr>
            <a:spLocks xmlns:a="http://schemas.openxmlformats.org/drawingml/2006/main" noGrp="1"/>
          </p:cNvSpPr>
          <p:nvPr/>
        </p:nvSpPr>
        <p:spPr>
          <a:xfrm xmlns:a="http://schemas.openxmlformats.org/drawingml/2006/main">
            <a:off x="3257550" y="1790700"/>
            <a:ext cx="38100" cy="3200400"/>
          </a:xfrm>
          <a:prstGeom xmlns:a="http://schemas.openxmlformats.org/drawingml/2006/main" prst="rect">
            <a:avLst/>
          </a:prstGeom>
          <a:solidFill xmlns:a="http://schemas.openxmlformats.org/drawingml/2006/main">
            <a:srgbClr val="1B2B45"/>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394A5983-5FC2-4C91-B5AE-C93057F9B6B9}"/>
              </a:ext>
            </a:extLst>
          </p:cNvPr>
          <p:cNvSpPr>
            <a:spLocks xmlns:a="http://schemas.openxmlformats.org/drawingml/2006/main" noGrp="1"/>
          </p:cNvSpPr>
          <p:nvPr/>
        </p:nvSpPr>
        <p:spPr>
          <a:xfrm xmlns:a="http://schemas.openxmlformats.org/drawingml/2006/main">
            <a:off x="895350" y="3371850"/>
            <a:ext cx="4762500" cy="38100"/>
          </a:xfrm>
          <a:prstGeom xmlns:a="http://schemas.openxmlformats.org/drawingml/2006/main" prst="rect">
            <a:avLst/>
          </a:prstGeom>
          <a:solidFill xmlns:a="http://schemas.openxmlformats.org/drawingml/2006/main">
            <a:srgbClr val="1B2B45"/>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5E92B101-9D4D-4E41-B190-44671A58849F}"/>
              </a:ext>
            </a:extLst>
          </p:cNvPr>
          <p:cNvSpPr>
            <a:spLocks xmlns:a="http://schemas.openxmlformats.org/drawingml/2006/main" noGrp="1"/>
          </p:cNvSpPr>
          <p:nvPr/>
        </p:nvSpPr>
        <p:spPr>
          <a:xfrm xmlns:a="http://schemas.openxmlformats.org/drawingml/2006/main">
            <a:off x="1066800" y="2095500"/>
            <a:ext cx="20383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9644"/>
          </a:bodyPr>
          <a:lstStyle xmlns:a="http://schemas.openxmlformats.org/drawingml/2006/main"/>
          <a:p xmlns:a="http://schemas.openxmlformats.org/drawingml/2006/main">
            <a:pPr algn="ctr">
              <a:defRPr sz="1275" b="1" i="0">
                <a:solidFill>
                  <a:srgbClr val="1B2B45"/>
                </a:solidFill>
                <a:latin typeface="Calibri"/>
                <a:ea typeface="Calibri"/>
                <a:cs typeface="Calibri"/>
              </a:defRPr>
            </a:pPr>
            <a:r>
              <a:rPr sz="1275" b="1" i="0">
                <a:solidFill>
                  <a:srgbClr val="1B2B45"/>
                </a:solidFill>
                <a:latin typeface="Calibri"/>
                <a:ea typeface="Calibri"/>
                <a:cs typeface="Calibri"/>
              </a:rPr>
              <a:t>Clear frame, weak evidence</a:t>
            </a:r>
          </a:p>
        </p:txBody>
      </p:sp>
      <p:sp>
        <p:nvSpPr>
          <p:cNvPr id="10" name="">
            <a:extLst xmlns:a="http://schemas.openxmlformats.org/drawingml/2006/main">
              <a:ext uri="{FF2B5EF4-FFF2-40B4-BE49-F238E27FC236}">
                <a16:creationId xmlns:a16="http://schemas.microsoft.com/office/drawing/2014/main" id="{17976693-4EB7-4363-9AC3-AE58BAB8C6D8}"/>
              </a:ext>
            </a:extLst>
          </p:cNvPr>
          <p:cNvSpPr>
            <a:spLocks xmlns:a="http://schemas.openxmlformats.org/drawingml/2006/main" noGrp="1"/>
          </p:cNvSpPr>
          <p:nvPr/>
        </p:nvSpPr>
        <p:spPr>
          <a:xfrm xmlns:a="http://schemas.openxmlformats.org/drawingml/2006/main">
            <a:off x="1143000" y="2476500"/>
            <a:ext cx="18859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ctr">
              <a:defRPr sz="1050" b="0" i="0">
                <a:solidFill>
                  <a:srgbClr val="687489"/>
                </a:solidFill>
                <a:latin typeface="Calibri"/>
                <a:ea typeface="Calibri"/>
                <a:cs typeface="Calibri"/>
              </a:defRPr>
            </a:pPr>
            <a:r>
              <a:rPr sz="1050" b="0" i="0">
                <a:solidFill>
                  <a:srgbClr val="687489"/>
                </a:solidFill>
                <a:latin typeface="Calibri"/>
                <a:ea typeface="Calibri"/>
                <a:cs typeface="Calibri"/>
              </a:rPr>
              <a:t>Specific problem, limited user proof</a:t>
            </a:r>
          </a:p>
        </p:txBody>
      </p:sp>
      <p:sp>
        <p:nvSpPr>
          <p:cNvPr id="11" name="">
            <a:extLst xmlns:a="http://schemas.openxmlformats.org/drawingml/2006/main">
              <a:ext uri="{FF2B5EF4-FFF2-40B4-BE49-F238E27FC236}">
                <a16:creationId xmlns:a16="http://schemas.microsoft.com/office/drawing/2014/main" id="{3C47A360-A7E8-4D66-A16C-25D135CA7DBE}"/>
              </a:ext>
            </a:extLst>
          </p:cNvPr>
          <p:cNvSpPr>
            <a:spLocks xmlns:a="http://schemas.openxmlformats.org/drawingml/2006/main" noGrp="1"/>
          </p:cNvSpPr>
          <p:nvPr/>
        </p:nvSpPr>
        <p:spPr>
          <a:xfrm xmlns:a="http://schemas.openxmlformats.org/drawingml/2006/main">
            <a:off x="3448050" y="2095500"/>
            <a:ext cx="20383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ctr">
              <a:defRPr sz="1275" b="1" i="0">
                <a:solidFill>
                  <a:srgbClr val="1B2B45"/>
                </a:solidFill>
                <a:latin typeface="Calibri"/>
                <a:ea typeface="Calibri"/>
                <a:cs typeface="Calibri"/>
              </a:defRPr>
            </a:pPr>
            <a:r>
              <a:rPr sz="1275" b="1" i="0">
                <a:solidFill>
                  <a:srgbClr val="1B2B45"/>
                </a:solidFill>
                <a:latin typeface="Calibri"/>
                <a:ea typeface="Calibri"/>
                <a:cs typeface="Calibri"/>
              </a:rPr>
              <a:t>Evidence-led frame</a:t>
            </a:r>
          </a:p>
        </p:txBody>
      </p:sp>
      <p:sp>
        <p:nvSpPr>
          <p:cNvPr id="12" name="">
            <a:extLst xmlns:a="http://schemas.openxmlformats.org/drawingml/2006/main">
              <a:ext uri="{FF2B5EF4-FFF2-40B4-BE49-F238E27FC236}">
                <a16:creationId xmlns:a16="http://schemas.microsoft.com/office/drawing/2014/main" id="{FF4CAA81-10B7-44AE-BA7E-C4828481E1E9}"/>
              </a:ext>
            </a:extLst>
          </p:cNvPr>
          <p:cNvSpPr>
            <a:spLocks xmlns:a="http://schemas.openxmlformats.org/drawingml/2006/main" noGrp="1"/>
          </p:cNvSpPr>
          <p:nvPr/>
        </p:nvSpPr>
        <p:spPr>
          <a:xfrm xmlns:a="http://schemas.openxmlformats.org/drawingml/2006/main">
            <a:off x="3524250" y="2476500"/>
            <a:ext cx="18859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ctr">
              <a:defRPr sz="1050" b="0" i="0">
                <a:solidFill>
                  <a:srgbClr val="687489"/>
                </a:solidFill>
                <a:latin typeface="Calibri"/>
                <a:ea typeface="Calibri"/>
                <a:cs typeface="Calibri"/>
              </a:defRPr>
            </a:pPr>
            <a:r>
              <a:rPr sz="1050" b="0" i="0">
                <a:solidFill>
                  <a:srgbClr val="687489"/>
                </a:solidFill>
                <a:latin typeface="Calibri"/>
                <a:ea typeface="Calibri"/>
                <a:cs typeface="Calibri"/>
              </a:rPr>
              <a:t>Connects user pain, impact, and success</a:t>
            </a:r>
          </a:p>
        </p:txBody>
      </p:sp>
      <p:sp>
        <p:nvSpPr>
          <p:cNvPr id="13" name="">
            <a:extLst xmlns:a="http://schemas.openxmlformats.org/drawingml/2006/main">
              <a:ext uri="{FF2B5EF4-FFF2-40B4-BE49-F238E27FC236}">
                <a16:creationId xmlns:a16="http://schemas.microsoft.com/office/drawing/2014/main" id="{4F0F158F-02B1-439A-8BAF-BFCD089774B2}"/>
              </a:ext>
            </a:extLst>
          </p:cNvPr>
          <p:cNvSpPr>
            <a:spLocks xmlns:a="http://schemas.openxmlformats.org/drawingml/2006/main" noGrp="1"/>
          </p:cNvSpPr>
          <p:nvPr/>
        </p:nvSpPr>
        <p:spPr>
          <a:xfrm xmlns:a="http://schemas.openxmlformats.org/drawingml/2006/main">
            <a:off x="1066800" y="3790950"/>
            <a:ext cx="20383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ctr">
              <a:defRPr sz="1275" b="1" i="0">
                <a:solidFill>
                  <a:srgbClr val="1B2B45"/>
                </a:solidFill>
                <a:latin typeface="Calibri"/>
                <a:ea typeface="Calibri"/>
                <a:cs typeface="Calibri"/>
              </a:defRPr>
            </a:pPr>
            <a:r>
              <a:rPr sz="1275" b="1" i="0">
                <a:solidFill>
                  <a:srgbClr val="1B2B45"/>
                </a:solidFill>
                <a:latin typeface="Calibri"/>
                <a:ea typeface="Calibri"/>
                <a:cs typeface="Calibri"/>
              </a:rPr>
              <a:t>Internal assumption</a:t>
            </a:r>
          </a:p>
        </p:txBody>
      </p:sp>
      <p:sp>
        <p:nvSpPr>
          <p:cNvPr id="14" name="">
            <a:extLst xmlns:a="http://schemas.openxmlformats.org/drawingml/2006/main">
              <a:ext uri="{FF2B5EF4-FFF2-40B4-BE49-F238E27FC236}">
                <a16:creationId xmlns:a16="http://schemas.microsoft.com/office/drawing/2014/main" id="{5AA93F6B-6FF0-4708-881C-626C690EDFA3}"/>
              </a:ext>
            </a:extLst>
          </p:cNvPr>
          <p:cNvSpPr>
            <a:spLocks xmlns:a="http://schemas.openxmlformats.org/drawingml/2006/main" noGrp="1"/>
          </p:cNvSpPr>
          <p:nvPr/>
        </p:nvSpPr>
        <p:spPr>
          <a:xfrm xmlns:a="http://schemas.openxmlformats.org/drawingml/2006/main">
            <a:off x="1143000" y="4171950"/>
            <a:ext cx="18859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ctr">
              <a:defRPr sz="1050" b="0" i="0">
                <a:solidFill>
                  <a:srgbClr val="687489"/>
                </a:solidFill>
                <a:latin typeface="Calibri"/>
                <a:ea typeface="Calibri"/>
                <a:cs typeface="Calibri"/>
              </a:defRPr>
            </a:pPr>
            <a:r>
              <a:rPr sz="1050" b="0" i="0">
                <a:solidFill>
                  <a:srgbClr val="687489"/>
                </a:solidFill>
                <a:latin typeface="Calibri"/>
                <a:ea typeface="Calibri"/>
                <a:cs typeface="Calibri"/>
              </a:rPr>
              <a:t>Feature chosen before the problem is understood</a:t>
            </a:r>
          </a:p>
        </p:txBody>
      </p:sp>
      <p:sp>
        <p:nvSpPr>
          <p:cNvPr id="15" name="">
            <a:extLst xmlns:a="http://schemas.openxmlformats.org/drawingml/2006/main">
              <a:ext uri="{FF2B5EF4-FFF2-40B4-BE49-F238E27FC236}">
                <a16:creationId xmlns:a16="http://schemas.microsoft.com/office/drawing/2014/main" id="{58B16888-EC11-4C59-A2B2-0752C8EA7B06}"/>
              </a:ext>
            </a:extLst>
          </p:cNvPr>
          <p:cNvSpPr>
            <a:spLocks xmlns:a="http://schemas.openxmlformats.org/drawingml/2006/main" noGrp="1"/>
          </p:cNvSpPr>
          <p:nvPr/>
        </p:nvSpPr>
        <p:spPr>
          <a:xfrm xmlns:a="http://schemas.openxmlformats.org/drawingml/2006/main">
            <a:off x="3448050" y="3790950"/>
            <a:ext cx="20383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ctr">
              <a:defRPr sz="1275" b="1" i="0">
                <a:solidFill>
                  <a:srgbClr val="1B2B45"/>
                </a:solidFill>
                <a:latin typeface="Calibri"/>
                <a:ea typeface="Calibri"/>
                <a:cs typeface="Calibri"/>
              </a:defRPr>
            </a:pPr>
            <a:r>
              <a:rPr sz="1275" b="1" i="0">
                <a:solidFill>
                  <a:srgbClr val="1B2B45"/>
                </a:solidFill>
                <a:latin typeface="Calibri"/>
                <a:ea typeface="Calibri"/>
                <a:cs typeface="Calibri"/>
              </a:rPr>
              <a:t>User pain, solution jump</a:t>
            </a:r>
          </a:p>
        </p:txBody>
      </p:sp>
      <p:sp>
        <p:nvSpPr>
          <p:cNvPr id="16" name="">
            <a:extLst xmlns:a="http://schemas.openxmlformats.org/drawingml/2006/main">
              <a:ext uri="{FF2B5EF4-FFF2-40B4-BE49-F238E27FC236}">
                <a16:creationId xmlns:a16="http://schemas.microsoft.com/office/drawing/2014/main" id="{82CE339C-AA2F-41EB-A1A8-7C92BB46CA71}"/>
              </a:ext>
            </a:extLst>
          </p:cNvPr>
          <p:cNvSpPr>
            <a:spLocks xmlns:a="http://schemas.openxmlformats.org/drawingml/2006/main" noGrp="1"/>
          </p:cNvSpPr>
          <p:nvPr/>
        </p:nvSpPr>
        <p:spPr>
          <a:xfrm xmlns:a="http://schemas.openxmlformats.org/drawingml/2006/main">
            <a:off x="3524250" y="4171950"/>
            <a:ext cx="18859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ctr">
              <a:defRPr sz="1050" b="0" i="0">
                <a:solidFill>
                  <a:srgbClr val="687489"/>
                </a:solidFill>
                <a:latin typeface="Calibri"/>
                <a:ea typeface="Calibri"/>
                <a:cs typeface="Calibri"/>
              </a:defRPr>
            </a:pPr>
            <a:r>
              <a:rPr sz="1050" b="0" i="0">
                <a:solidFill>
                  <a:srgbClr val="687489"/>
                </a:solidFill>
                <a:latin typeface="Calibri"/>
                <a:ea typeface="Calibri"/>
                <a:cs typeface="Calibri"/>
              </a:rPr>
              <a:t>Real pain, but constraints and feasibility are missed</a:t>
            </a:r>
          </a:p>
        </p:txBody>
      </p:sp>
      <p:sp>
        <p:nvSpPr>
          <p:cNvPr id="17" name="">
            <a:extLst xmlns:a="http://schemas.openxmlformats.org/drawingml/2006/main">
              <a:ext uri="{FF2B5EF4-FFF2-40B4-BE49-F238E27FC236}">
                <a16:creationId xmlns:a16="http://schemas.microsoft.com/office/drawing/2014/main" id="{E4729B04-AD47-46BF-9BCE-569BAB0CF7C6}"/>
              </a:ext>
            </a:extLst>
          </p:cNvPr>
          <p:cNvSpPr>
            <a:spLocks xmlns:a="http://schemas.openxmlformats.org/drawingml/2006/main" noGrp="1"/>
          </p:cNvSpPr>
          <p:nvPr/>
        </p:nvSpPr>
        <p:spPr>
          <a:xfrm xmlns:a="http://schemas.openxmlformats.org/drawingml/2006/main">
            <a:off x="2247900" y="1485900"/>
            <a:ext cx="2057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5238"/>
          </a:bodyPr>
          <a:lstStyle xmlns:a="http://schemas.openxmlformats.org/drawingml/2006/main"/>
          <a:p xmlns:a="http://schemas.openxmlformats.org/drawingml/2006/main">
            <a:pPr algn="ctr">
              <a:defRPr sz="1050" b="1" i="0">
                <a:solidFill>
                  <a:srgbClr val="F47A22"/>
                </a:solidFill>
                <a:latin typeface="Calibri"/>
                <a:ea typeface="Calibri"/>
                <a:cs typeface="Calibri"/>
              </a:defRPr>
            </a:pPr>
            <a:r>
              <a:rPr sz="1050" b="1" i="0">
                <a:solidFill>
                  <a:srgbClr val="F47A22"/>
                </a:solidFill>
                <a:latin typeface="Calibri"/>
                <a:ea typeface="Calibri"/>
                <a:cs typeface="Calibri"/>
              </a:rPr>
              <a:t>PROBLEM FIRST</a:t>
            </a:r>
          </a:p>
        </p:txBody>
      </p:sp>
      <p:sp>
        <p:nvSpPr>
          <p:cNvPr id="18" name="">
            <a:extLst xmlns:a="http://schemas.openxmlformats.org/drawingml/2006/main">
              <a:ext uri="{FF2B5EF4-FFF2-40B4-BE49-F238E27FC236}">
                <a16:creationId xmlns:a16="http://schemas.microsoft.com/office/drawing/2014/main" id="{1E8F57A7-2D1B-42C1-B08C-6E2D9B4E0422}"/>
              </a:ext>
            </a:extLst>
          </p:cNvPr>
          <p:cNvSpPr>
            <a:spLocks xmlns:a="http://schemas.openxmlformats.org/drawingml/2006/main" noGrp="1"/>
          </p:cNvSpPr>
          <p:nvPr/>
        </p:nvSpPr>
        <p:spPr>
          <a:xfrm xmlns:a="http://schemas.openxmlformats.org/drawingml/2006/main">
            <a:off x="2247900" y="5067300"/>
            <a:ext cx="2057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5238"/>
          </a:bodyPr>
          <a:lstStyle xmlns:a="http://schemas.openxmlformats.org/drawingml/2006/main"/>
          <a:p xmlns:a="http://schemas.openxmlformats.org/drawingml/2006/main">
            <a:pPr algn="ctr">
              <a:defRPr sz="1050" b="1" i="0">
                <a:solidFill>
                  <a:srgbClr val="687489"/>
                </a:solidFill>
                <a:latin typeface="Calibri"/>
                <a:ea typeface="Calibri"/>
                <a:cs typeface="Calibri"/>
              </a:defRPr>
            </a:pPr>
            <a:r>
              <a:rPr sz="1050" b="1" i="0">
                <a:solidFill>
                  <a:srgbClr val="687489"/>
                </a:solidFill>
                <a:latin typeface="Calibri"/>
                <a:ea typeface="Calibri"/>
                <a:cs typeface="Calibri"/>
              </a:rPr>
              <a:t>SOLUTION FIRST</a:t>
            </a:r>
          </a:p>
        </p:txBody>
      </p:sp>
      <p:sp>
        <p:nvSpPr>
          <p:cNvPr id="19" name="">
            <a:extLst xmlns:a="http://schemas.openxmlformats.org/drawingml/2006/main">
              <a:ext uri="{FF2B5EF4-FFF2-40B4-BE49-F238E27FC236}">
                <a16:creationId xmlns:a16="http://schemas.microsoft.com/office/drawing/2014/main" id="{C1B52139-47BD-492E-9432-C9417E92243B}"/>
              </a:ext>
            </a:extLst>
          </p:cNvPr>
          <p:cNvSpPr>
            <a:spLocks xmlns:a="http://schemas.openxmlformats.org/drawingml/2006/main" noGrp="1"/>
          </p:cNvSpPr>
          <p:nvPr/>
        </p:nvSpPr>
        <p:spPr>
          <a:xfrm xmlns:a="http://schemas.openxmlformats.org/drawingml/2006/main">
            <a:off x="19050" y="3200400"/>
            <a:ext cx="838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93032"/>
          </a:bodyPr>
          <a:lstStyle xmlns:a="http://schemas.openxmlformats.org/drawingml/2006/main"/>
          <a:p xmlns:a="http://schemas.openxmlformats.org/drawingml/2006/main">
            <a:pPr algn="ctr">
              <a:defRPr sz="825" b="1" i="0">
                <a:solidFill>
                  <a:srgbClr val="687489"/>
                </a:solidFill>
                <a:latin typeface="Calibri"/>
                <a:ea typeface="Calibri"/>
                <a:cs typeface="Calibri"/>
              </a:defRPr>
            </a:pPr>
            <a:r>
              <a:rPr sz="825" b="1" i="0">
                <a:solidFill>
                  <a:srgbClr val="687489"/>
                </a:solidFill>
                <a:latin typeface="Calibri"/>
                <a:ea typeface="Calibri"/>
                <a:cs typeface="Calibri"/>
              </a:rPr>
              <a:t>STAKEHOLDER</a:t>
            </a:r>
          </a:p>
          <a:p xmlns:a="http://schemas.openxmlformats.org/drawingml/2006/main">
            <a:pPr algn="ctr">
              <a:defRPr sz="825" b="1" i="0">
                <a:solidFill>
                  <a:srgbClr val="687489"/>
                </a:solidFill>
                <a:latin typeface="Calibri"/>
                <a:ea typeface="Calibri"/>
                <a:cs typeface="Calibri"/>
              </a:defRPr>
            </a:pPr>
            <a:r>
              <a:rPr sz="825" b="1" i="0">
                <a:solidFill>
                  <a:srgbClr val="687489"/>
                </a:solidFill>
                <a:latin typeface="Calibri"/>
                <a:ea typeface="Calibri"/>
                <a:cs typeface="Calibri"/>
              </a:rPr>
              <a:t>ASSUMPTION</a:t>
            </a:r>
          </a:p>
        </p:txBody>
      </p:sp>
      <p:sp>
        <p:nvSpPr>
          <p:cNvPr id="20" name="">
            <a:extLst xmlns:a="http://schemas.openxmlformats.org/drawingml/2006/main">
              <a:ext uri="{FF2B5EF4-FFF2-40B4-BE49-F238E27FC236}">
                <a16:creationId xmlns:a16="http://schemas.microsoft.com/office/drawing/2014/main" id="{F97B7150-B882-4424-B874-A63B05CECC00}"/>
              </a:ext>
            </a:extLst>
          </p:cNvPr>
          <p:cNvSpPr>
            <a:spLocks xmlns:a="http://schemas.openxmlformats.org/drawingml/2006/main" noGrp="1"/>
          </p:cNvSpPr>
          <p:nvPr/>
        </p:nvSpPr>
        <p:spPr>
          <a:xfrm xmlns:a="http://schemas.openxmlformats.org/drawingml/2006/main">
            <a:off x="5695950" y="3200400"/>
            <a:ext cx="685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825" b="1" i="0">
                <a:solidFill>
                  <a:srgbClr val="1BB5C8"/>
                </a:solidFill>
                <a:latin typeface="Calibri"/>
                <a:ea typeface="Calibri"/>
                <a:cs typeface="Calibri"/>
              </a:defRPr>
            </a:pPr>
            <a:r>
              <a:rPr sz="825" b="1" i="0">
                <a:solidFill>
                  <a:srgbClr val="1BB5C8"/>
                </a:solidFill>
                <a:latin typeface="Calibri"/>
                <a:ea typeface="Calibri"/>
                <a:cs typeface="Calibri"/>
              </a:rPr>
              <a:t>USER</a:t>
            </a:r>
          </a:p>
          <a:p xmlns:a="http://schemas.openxmlformats.org/drawingml/2006/main">
            <a:pPr algn="ctr">
              <a:defRPr sz="825" b="1" i="0">
                <a:solidFill>
                  <a:srgbClr val="1BB5C8"/>
                </a:solidFill>
                <a:latin typeface="Calibri"/>
                <a:ea typeface="Calibri"/>
                <a:cs typeface="Calibri"/>
              </a:defRPr>
            </a:pPr>
            <a:r>
              <a:rPr sz="825" b="1" i="0">
                <a:solidFill>
                  <a:srgbClr val="1BB5C8"/>
                </a:solidFill>
                <a:latin typeface="Calibri"/>
                <a:ea typeface="Calibri"/>
                <a:cs typeface="Calibri"/>
              </a:rPr>
              <a:t>EVIDENCE</a:t>
            </a:r>
          </a:p>
        </p:txBody>
      </p:sp>
      <p:sp>
        <p:nvSpPr>
          <p:cNvPr id="21" name="">
            <a:extLst xmlns:a="http://schemas.openxmlformats.org/drawingml/2006/main">
              <a:ext uri="{FF2B5EF4-FFF2-40B4-BE49-F238E27FC236}">
                <a16:creationId xmlns:a16="http://schemas.microsoft.com/office/drawing/2014/main" id="{C4BC9785-1077-419E-BDB1-5CBFBF3EA171}"/>
              </a:ext>
            </a:extLst>
          </p:cNvPr>
          <p:cNvSpPr>
            <a:spLocks xmlns:a="http://schemas.openxmlformats.org/drawingml/2006/main" noGrp="1"/>
          </p:cNvSpPr>
          <p:nvPr/>
        </p:nvSpPr>
        <p:spPr>
          <a:xfrm xmlns:a="http://schemas.openxmlformats.org/drawingml/2006/main">
            <a:off x="4457700" y="2571750"/>
            <a:ext cx="228600" cy="228600"/>
          </a:xfrm>
          <a:prstGeom xmlns:a="http://schemas.openxmlformats.org/drawingml/2006/main" prst="ellipse">
            <a:avLst/>
          </a:prstGeom>
          <a:solidFill xmlns:a="http://schemas.openxmlformats.org/drawingml/2006/main">
            <a:srgbClr val="F47A22"/>
          </a:solidFill>
          <a:ln xmlns:a="http://schemas.openxmlformats.org/drawingml/2006/main" w="19050">
            <a:solidFill>
              <a:srgbClr val="FFFFFF"/>
            </a:solidFill>
          </a:ln>
        </p:spPr>
      </p:sp>
      <p:sp>
        <p:nvSpPr>
          <p:cNvPr id="22" name="">
            <a:extLst xmlns:a="http://schemas.openxmlformats.org/drawingml/2006/main">
              <a:ext uri="{FF2B5EF4-FFF2-40B4-BE49-F238E27FC236}">
                <a16:creationId xmlns:a16="http://schemas.microsoft.com/office/drawing/2014/main" id="{6FAC7F46-5EE1-473B-BAFA-846BDC69A408}"/>
              </a:ext>
            </a:extLst>
          </p:cNvPr>
          <p:cNvSpPr>
            <a:spLocks xmlns:a="http://schemas.openxmlformats.org/drawingml/2006/main" noGrp="1"/>
          </p:cNvSpPr>
          <p:nvPr/>
        </p:nvSpPr>
        <p:spPr>
          <a:xfrm xmlns:a="http://schemas.openxmlformats.org/drawingml/2006/main">
            <a:off x="3962400" y="2819400"/>
            <a:ext cx="1219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5637"/>
          </a:bodyPr>
          <a:lstStyle xmlns:a="http://schemas.openxmlformats.org/drawingml/2006/main"/>
          <a:p xmlns:a="http://schemas.openxmlformats.org/drawingml/2006/main">
            <a:pPr algn="ctr">
              <a:defRPr sz="900" b="1" i="0">
                <a:solidFill>
                  <a:srgbClr val="1B2B45"/>
                </a:solidFill>
                <a:latin typeface="Calibri"/>
                <a:ea typeface="Calibri"/>
                <a:cs typeface="Calibri"/>
              </a:defRPr>
            </a:pPr>
            <a:r>
              <a:rPr sz="900" b="1" i="0">
                <a:solidFill>
                  <a:srgbClr val="1B2B45"/>
                </a:solidFill>
                <a:latin typeface="Calibri"/>
                <a:ea typeface="Calibri"/>
                <a:cs typeface="Calibri"/>
              </a:rPr>
              <a:t>CURRENT FRAME</a:t>
            </a:r>
          </a:p>
          <a:p xmlns:a="http://schemas.openxmlformats.org/drawingml/2006/main">
            <a:pPr algn="ctr">
              <a:defRPr sz="900" b="1" i="0">
                <a:solidFill>
                  <a:srgbClr val="1B2B45"/>
                </a:solidFill>
                <a:latin typeface="Calibri"/>
                <a:ea typeface="Calibri"/>
                <a:cs typeface="Calibri"/>
              </a:defRPr>
            </a:pPr>
            <a:r>
              <a:rPr sz="900" b="1" i="0">
                <a:solidFill>
                  <a:srgbClr val="1B2B45"/>
                </a:solidFill>
                <a:latin typeface="Calibri"/>
                <a:ea typeface="Calibri"/>
                <a:cs typeface="Calibri"/>
              </a:rPr>
              <a:t>Strong definition</a:t>
            </a:r>
          </a:p>
          <a:p xmlns:a="http://schemas.openxmlformats.org/drawingml/2006/main">
            <a:pPr algn="ctr">
              <a:defRPr sz="900" b="1" i="0">
                <a:solidFill>
                  <a:srgbClr val="1B2B45"/>
                </a:solidFill>
                <a:latin typeface="Calibri"/>
                <a:ea typeface="Calibri"/>
                <a:cs typeface="Calibri"/>
              </a:defRPr>
            </a:pPr>
            <a:r>
              <a:rPr sz="900" b="1" i="0">
                <a:solidFill>
                  <a:srgbClr val="1B2B45"/>
                </a:solidFill>
                <a:latin typeface="Calibri"/>
                <a:ea typeface="Calibri"/>
                <a:cs typeface="Calibri"/>
              </a:rPr>
              <a:t>Directional validation</a:t>
            </a:r>
          </a:p>
        </p:txBody>
      </p:sp>
      <p:sp>
        <p:nvSpPr>
          <p:cNvPr id="23" name="">
            <a:extLst xmlns:a="http://schemas.openxmlformats.org/drawingml/2006/main">
              <a:ext uri="{FF2B5EF4-FFF2-40B4-BE49-F238E27FC236}">
                <a16:creationId xmlns:a16="http://schemas.microsoft.com/office/drawing/2014/main" id="{862B4AE2-1B45-4149-AACE-CEBB1016FE2E}"/>
              </a:ext>
            </a:extLst>
          </p:cNvPr>
          <p:cNvSpPr>
            <a:spLocks xmlns:a="http://schemas.openxmlformats.org/drawingml/2006/main" noGrp="1"/>
          </p:cNvSpPr>
          <p:nvPr/>
        </p:nvSpPr>
        <p:spPr>
          <a:xfrm xmlns:a="http://schemas.openxmlformats.org/drawingml/2006/main">
            <a:off x="6515100" y="1581150"/>
            <a:ext cx="5048250" cy="4038600"/>
          </a:xfrm>
          <a:prstGeom xmlns:a="http://schemas.openxmlformats.org/drawingml/2006/main" prst="roundRect">
            <a:avLst>
              <a:gd name="adj" fmla="val 943"/>
            </a:avLst>
          </a:prstGeom>
          <a:solidFill xmlns:a="http://schemas.openxmlformats.org/drawingml/2006/main">
            <a:srgbClr val="FFFFFF"/>
          </a:solidFill>
          <a:ln xmlns:a="http://schemas.openxmlformats.org/drawingml/2006/main" w="9525">
            <a:solidFill>
              <a:srgbClr val="E8ECF1"/>
            </a:solidFill>
            <a:prstDash val="solid"/>
          </a:ln>
        </p:spPr>
      </p:sp>
      <p:sp>
        <p:nvSpPr>
          <p:cNvPr id="24" name="">
            <a:extLst xmlns:a="http://schemas.openxmlformats.org/drawingml/2006/main">
              <a:ext uri="{FF2B5EF4-FFF2-40B4-BE49-F238E27FC236}">
                <a16:creationId xmlns:a16="http://schemas.microsoft.com/office/drawing/2014/main" id="{5A020CD2-EEDF-495E-BD7C-903578FF2DC7}"/>
              </a:ext>
            </a:extLst>
          </p:cNvPr>
          <p:cNvSpPr>
            <a:spLocks xmlns:a="http://schemas.openxmlformats.org/drawingml/2006/main" noGrp="1"/>
          </p:cNvSpPr>
          <p:nvPr/>
        </p:nvSpPr>
        <p:spPr>
          <a:xfrm xmlns:a="http://schemas.openxmlformats.org/drawingml/2006/main">
            <a:off x="6743700" y="1733550"/>
            <a:ext cx="45148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5238"/>
          </a:bodyPr>
          <a:lstStyle xmlns:a="http://schemas.openxmlformats.org/drawingml/2006/main"/>
          <a:p xmlns:a="http://schemas.openxmlformats.org/drawingml/2006/main">
            <a:pPr algn="l">
              <a:defRPr sz="1050" b="1" i="0">
                <a:solidFill>
                  <a:srgbClr val="F47A22"/>
                </a:solidFill>
                <a:latin typeface="Calibri"/>
                <a:ea typeface="Calibri"/>
                <a:cs typeface="Calibri"/>
              </a:defRPr>
            </a:pPr>
            <a:r>
              <a:rPr sz="1050" b="1" i="0">
                <a:solidFill>
                  <a:srgbClr val="F47A22"/>
                </a:solidFill>
                <a:latin typeface="Calibri"/>
                <a:ea typeface="Calibri"/>
                <a:cs typeface="Calibri"/>
              </a:rPr>
              <a:t>CURRENT CONTEXT</a:t>
            </a:r>
          </a:p>
        </p:txBody>
      </p:sp>
      <p:sp>
        <p:nvSpPr>
          <p:cNvPr id="25" name="">
            <a:extLst xmlns:a="http://schemas.openxmlformats.org/drawingml/2006/main">
              <a:ext uri="{FF2B5EF4-FFF2-40B4-BE49-F238E27FC236}">
                <a16:creationId xmlns:a16="http://schemas.microsoft.com/office/drawing/2014/main" id="{9FA61700-548B-46E9-A176-172274DC0E9D}"/>
              </a:ext>
            </a:extLst>
          </p:cNvPr>
          <p:cNvSpPr>
            <a:spLocks xmlns:a="http://schemas.openxmlformats.org/drawingml/2006/main" noGrp="1"/>
          </p:cNvSpPr>
          <p:nvPr/>
        </p:nvSpPr>
        <p:spPr>
          <a:xfrm xmlns:a="http://schemas.openxmlformats.org/drawingml/2006/main">
            <a:off x="6743700" y="2152650"/>
            <a:ext cx="1219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00" b="1" i="0">
                <a:solidFill>
                  <a:srgbClr val="1BB5C8"/>
                </a:solidFill>
                <a:latin typeface="Calibri"/>
                <a:ea typeface="Calibri"/>
                <a:cs typeface="Calibri"/>
              </a:defRPr>
            </a:pPr>
            <a:r>
              <a:rPr sz="900" b="1" i="0">
                <a:solidFill>
                  <a:srgbClr val="1BB5C8"/>
                </a:solidFill>
                <a:latin typeface="Calibri"/>
                <a:ea typeface="Calibri"/>
                <a:cs typeface="Calibri"/>
              </a:rPr>
              <a:t>USER AND SETTING</a:t>
            </a:r>
          </a:p>
        </p:txBody>
      </p:sp>
      <p:sp>
        <p:nvSpPr>
          <p:cNvPr id="26" name="">
            <a:extLst xmlns:a="http://schemas.openxmlformats.org/drawingml/2006/main">
              <a:ext uri="{FF2B5EF4-FFF2-40B4-BE49-F238E27FC236}">
                <a16:creationId xmlns:a16="http://schemas.microsoft.com/office/drawing/2014/main" id="{86AC3C02-1C83-4DA9-8D37-02DF1D9DFC2F}"/>
              </a:ext>
            </a:extLst>
          </p:cNvPr>
          <p:cNvSpPr>
            <a:spLocks xmlns:a="http://schemas.openxmlformats.org/drawingml/2006/main" noGrp="1"/>
          </p:cNvSpPr>
          <p:nvPr/>
        </p:nvSpPr>
        <p:spPr>
          <a:xfrm xmlns:a="http://schemas.openxmlformats.org/drawingml/2006/main">
            <a:off x="8020050" y="2133600"/>
            <a:ext cx="32575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1325"/>
          </a:bodyPr>
          <a:lstStyle xmlns:a="http://schemas.openxmlformats.org/drawingml/2006/main"/>
          <a:p xmlns:a="http://schemas.openxmlformats.org/drawingml/2006/main">
            <a:pPr algn="l">
              <a:defRPr sz="1050" b="0" i="0">
                <a:solidFill>
                  <a:srgbClr val="233248"/>
                </a:solidFill>
                <a:latin typeface="Calibri"/>
                <a:ea typeface="Calibri"/>
                <a:cs typeface="Calibri"/>
              </a:defRPr>
            </a:pPr>
            <a:r>
              <a:rPr sz="1050" b="0" i="0">
                <a:solidFill>
                  <a:srgbClr val="233248"/>
                </a:solidFill>
                <a:latin typeface="Calibri"/>
                <a:ea typeface="Calibri"/>
                <a:cs typeface="Calibri"/>
              </a:rPr>
              <a:t>Four-wheel riders starting from airports, gated residences, malls, offices, or stations. Drivers are directly affected.</a:t>
            </a:r>
          </a:p>
        </p:txBody>
      </p:sp>
      <p:sp>
        <p:nvSpPr>
          <p:cNvPr id="27" name="">
            <a:extLst xmlns:a="http://schemas.openxmlformats.org/drawingml/2006/main">
              <a:ext uri="{FF2B5EF4-FFF2-40B4-BE49-F238E27FC236}">
                <a16:creationId xmlns:a16="http://schemas.microsoft.com/office/drawing/2014/main" id="{21945E48-E83C-4517-8755-AA7358043118}"/>
              </a:ext>
            </a:extLst>
          </p:cNvPr>
          <p:cNvSpPr>
            <a:spLocks xmlns:a="http://schemas.openxmlformats.org/drawingml/2006/main" noGrp="1"/>
          </p:cNvSpPr>
          <p:nvPr/>
        </p:nvSpPr>
        <p:spPr>
          <a:xfrm xmlns:a="http://schemas.openxmlformats.org/drawingml/2006/main">
            <a:off x="6724650" y="2686050"/>
            <a:ext cx="4629150" cy="9525"/>
          </a:xfrm>
          <a:prstGeom xmlns:a="http://schemas.openxmlformats.org/drawingml/2006/main" prst="rect">
            <a:avLst/>
          </a:prstGeom>
          <a:solidFill xmlns:a="http://schemas.openxmlformats.org/drawingml/2006/main">
            <a:srgbClr val="E8ECF1"/>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19C08FA8-D9E5-4408-AB84-18C3EEAA206E}"/>
              </a:ext>
            </a:extLst>
          </p:cNvPr>
          <p:cNvSpPr>
            <a:spLocks xmlns:a="http://schemas.openxmlformats.org/drawingml/2006/main" noGrp="1"/>
          </p:cNvSpPr>
          <p:nvPr/>
        </p:nvSpPr>
        <p:spPr>
          <a:xfrm xmlns:a="http://schemas.openxmlformats.org/drawingml/2006/main">
            <a:off x="6743700" y="2781300"/>
            <a:ext cx="12192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00" b="1" i="0">
                <a:solidFill>
                  <a:srgbClr val="1BB5C8"/>
                </a:solidFill>
                <a:latin typeface="Calibri"/>
                <a:ea typeface="Calibri"/>
                <a:cs typeface="Calibri"/>
              </a:defRPr>
            </a:pPr>
            <a:r>
              <a:rPr sz="900" b="1" i="0">
                <a:solidFill>
                  <a:srgbClr val="1BB5C8"/>
                </a:solidFill>
                <a:latin typeface="Calibri"/>
                <a:ea typeface="Calibri"/>
                <a:cs typeface="Calibri"/>
              </a:rPr>
              <a:t>OBSERVED PROBLEM</a:t>
            </a:r>
          </a:p>
        </p:txBody>
      </p:sp>
      <p:sp>
        <p:nvSpPr>
          <p:cNvPr id="29" name="">
            <a:extLst xmlns:a="http://schemas.openxmlformats.org/drawingml/2006/main">
              <a:ext uri="{FF2B5EF4-FFF2-40B4-BE49-F238E27FC236}">
                <a16:creationId xmlns:a16="http://schemas.microsoft.com/office/drawing/2014/main" id="{A4132177-678E-42CC-AADC-3DB6A7D65512}"/>
              </a:ext>
            </a:extLst>
          </p:cNvPr>
          <p:cNvSpPr>
            <a:spLocks xmlns:a="http://schemas.openxmlformats.org/drawingml/2006/main" noGrp="1"/>
          </p:cNvSpPr>
          <p:nvPr/>
        </p:nvSpPr>
        <p:spPr>
          <a:xfrm xmlns:a="http://schemas.openxmlformats.org/drawingml/2006/main">
            <a:off x="8020050" y="2762250"/>
            <a:ext cx="32575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050" b="0" i="0">
                <a:solidFill>
                  <a:srgbClr val="233248"/>
                </a:solidFill>
                <a:latin typeface="Calibri"/>
                <a:ea typeface="Calibri"/>
                <a:cs typeface="Calibri"/>
              </a:defRPr>
            </a:pPr>
            <a:r>
              <a:rPr sz="1050" b="0" i="0">
                <a:solidFill>
                  <a:srgbClr val="233248"/>
                </a:solidFill>
                <a:latin typeface="Calibri"/>
                <a:ea typeface="Calibri"/>
                <a:cs typeface="Calibri"/>
              </a:rPr>
              <a:t>The pin may show the area, but both sides still lack one clear and workable meeting point. Calls, waiting, or movement follow.</a:t>
            </a:r>
          </a:p>
        </p:txBody>
      </p:sp>
      <p:sp>
        <p:nvSpPr>
          <p:cNvPr id="30" name="">
            <a:extLst xmlns:a="http://schemas.openxmlformats.org/drawingml/2006/main">
              <a:ext uri="{FF2B5EF4-FFF2-40B4-BE49-F238E27FC236}">
                <a16:creationId xmlns:a16="http://schemas.microsoft.com/office/drawing/2014/main" id="{602F87C0-47F1-4BC1-AB8B-E36E2E24A42B}"/>
              </a:ext>
            </a:extLst>
          </p:cNvPr>
          <p:cNvSpPr>
            <a:spLocks xmlns:a="http://schemas.openxmlformats.org/drawingml/2006/main" noGrp="1"/>
          </p:cNvSpPr>
          <p:nvPr/>
        </p:nvSpPr>
        <p:spPr>
          <a:xfrm xmlns:a="http://schemas.openxmlformats.org/drawingml/2006/main">
            <a:off x="6724650" y="3467100"/>
            <a:ext cx="4629150" cy="9525"/>
          </a:xfrm>
          <a:prstGeom xmlns:a="http://schemas.openxmlformats.org/drawingml/2006/main" prst="rect">
            <a:avLst/>
          </a:prstGeom>
          <a:solidFill xmlns:a="http://schemas.openxmlformats.org/drawingml/2006/main">
            <a:srgbClr val="E8ECF1"/>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4197FB94-0D14-496B-B175-7DD3D43DC2EB}"/>
              </a:ext>
            </a:extLst>
          </p:cNvPr>
          <p:cNvSpPr>
            <a:spLocks xmlns:a="http://schemas.openxmlformats.org/drawingml/2006/main" noGrp="1"/>
          </p:cNvSpPr>
          <p:nvPr/>
        </p:nvSpPr>
        <p:spPr>
          <a:xfrm xmlns:a="http://schemas.openxmlformats.org/drawingml/2006/main">
            <a:off x="6743700" y="3562350"/>
            <a:ext cx="12192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00" b="1" i="0">
                <a:solidFill>
                  <a:srgbClr val="1BB5C8"/>
                </a:solidFill>
                <a:latin typeface="Calibri"/>
                <a:ea typeface="Calibri"/>
                <a:cs typeface="Calibri"/>
              </a:defRPr>
            </a:pPr>
            <a:r>
              <a:rPr sz="900" b="1" i="0">
                <a:solidFill>
                  <a:srgbClr val="1BB5C8"/>
                </a:solidFill>
                <a:latin typeface="Calibri"/>
                <a:ea typeface="Calibri"/>
                <a:cs typeface="Calibri"/>
              </a:rPr>
              <a:t>CURRENT EVIDENCE</a:t>
            </a:r>
          </a:p>
        </p:txBody>
      </p:sp>
      <p:sp>
        <p:nvSpPr>
          <p:cNvPr id="32" name="">
            <a:extLst xmlns:a="http://schemas.openxmlformats.org/drawingml/2006/main">
              <a:ext uri="{FF2B5EF4-FFF2-40B4-BE49-F238E27FC236}">
                <a16:creationId xmlns:a16="http://schemas.microsoft.com/office/drawing/2014/main" id="{C930E816-F3C0-482E-BACD-DC4C60321C6C}"/>
              </a:ext>
            </a:extLst>
          </p:cNvPr>
          <p:cNvSpPr>
            <a:spLocks xmlns:a="http://schemas.openxmlformats.org/drawingml/2006/main" noGrp="1"/>
          </p:cNvSpPr>
          <p:nvPr/>
        </p:nvSpPr>
        <p:spPr>
          <a:xfrm xmlns:a="http://schemas.openxmlformats.org/drawingml/2006/main">
            <a:off x="8020050" y="3543300"/>
            <a:ext cx="32575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050" b="0" i="0">
                <a:solidFill>
                  <a:srgbClr val="233248"/>
                </a:solidFill>
                <a:latin typeface="Calibri"/>
                <a:ea typeface="Calibri"/>
                <a:cs typeface="Calibri"/>
              </a:defRPr>
            </a:pPr>
            <a:r>
              <a:rPr sz="1050" b="0" i="0">
                <a:solidFill>
                  <a:srgbClr val="233248"/>
                </a:solidFill>
                <a:latin typeface="Calibri"/>
                <a:ea typeface="Calibri"/>
                <a:cs typeface="Calibri"/>
              </a:rPr>
              <a:t>62 unique responses. 24 of 51 recent users reported difficulty or uncertainty. 30 gave open-ended answers. Only 4 drivers responded.</a:t>
            </a:r>
          </a:p>
        </p:txBody>
      </p:sp>
      <p:sp>
        <p:nvSpPr>
          <p:cNvPr id="33" name="">
            <a:extLst xmlns:a="http://schemas.openxmlformats.org/drawingml/2006/main">
              <a:ext uri="{FF2B5EF4-FFF2-40B4-BE49-F238E27FC236}">
                <a16:creationId xmlns:a16="http://schemas.microsoft.com/office/drawing/2014/main" id="{EEFE8232-913C-4C67-9B64-F3FFF169F113}"/>
              </a:ext>
            </a:extLst>
          </p:cNvPr>
          <p:cNvSpPr>
            <a:spLocks xmlns:a="http://schemas.openxmlformats.org/drawingml/2006/main" noGrp="1"/>
          </p:cNvSpPr>
          <p:nvPr/>
        </p:nvSpPr>
        <p:spPr>
          <a:xfrm xmlns:a="http://schemas.openxmlformats.org/drawingml/2006/main">
            <a:off x="6724650" y="4248150"/>
            <a:ext cx="4629150" cy="9525"/>
          </a:xfrm>
          <a:prstGeom xmlns:a="http://schemas.openxmlformats.org/drawingml/2006/main" prst="rect">
            <a:avLst/>
          </a:prstGeom>
          <a:solidFill xmlns:a="http://schemas.openxmlformats.org/drawingml/2006/main">
            <a:srgbClr val="E8ECF1"/>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E96BCCC5-F584-43B7-B989-C797F383557E}"/>
              </a:ext>
            </a:extLst>
          </p:cNvPr>
          <p:cNvSpPr>
            <a:spLocks xmlns:a="http://schemas.openxmlformats.org/drawingml/2006/main" noGrp="1"/>
          </p:cNvSpPr>
          <p:nvPr/>
        </p:nvSpPr>
        <p:spPr>
          <a:xfrm xmlns:a="http://schemas.openxmlformats.org/drawingml/2006/main">
            <a:off x="6743700" y="4343400"/>
            <a:ext cx="12192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00" b="1" i="0">
                <a:solidFill>
                  <a:srgbClr val="1BB5C8"/>
                </a:solidFill>
                <a:latin typeface="Calibri"/>
                <a:ea typeface="Calibri"/>
                <a:cs typeface="Calibri"/>
              </a:defRPr>
            </a:pPr>
            <a:r>
              <a:rPr sz="900" b="1" i="0">
                <a:solidFill>
                  <a:srgbClr val="1BB5C8"/>
                </a:solidFill>
                <a:latin typeface="Calibri"/>
                <a:ea typeface="Calibri"/>
                <a:cs typeface="Calibri"/>
              </a:rPr>
              <a:t>SUCCESS SIGNAL</a:t>
            </a:r>
          </a:p>
        </p:txBody>
      </p:sp>
      <p:sp>
        <p:nvSpPr>
          <p:cNvPr id="35" name="">
            <a:extLst xmlns:a="http://schemas.openxmlformats.org/drawingml/2006/main">
              <a:ext uri="{FF2B5EF4-FFF2-40B4-BE49-F238E27FC236}">
                <a16:creationId xmlns:a16="http://schemas.microsoft.com/office/drawing/2014/main" id="{B5BB2BB8-09D6-48E9-A1D0-128E9A4CD1EE}"/>
              </a:ext>
            </a:extLst>
          </p:cNvPr>
          <p:cNvSpPr>
            <a:spLocks xmlns:a="http://schemas.openxmlformats.org/drawingml/2006/main" noGrp="1"/>
          </p:cNvSpPr>
          <p:nvPr/>
        </p:nvSpPr>
        <p:spPr>
          <a:xfrm xmlns:a="http://schemas.openxmlformats.org/drawingml/2006/main">
            <a:off x="8020050" y="4324350"/>
            <a:ext cx="32575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050" b="0" i="0">
                <a:solidFill>
                  <a:srgbClr val="233248"/>
                </a:solidFill>
                <a:latin typeface="Calibri"/>
                <a:ea typeface="Calibri"/>
                <a:cs typeface="Calibri"/>
              </a:defRPr>
            </a:pPr>
            <a:r>
              <a:rPr sz="1050" b="0" i="0">
                <a:solidFill>
                  <a:srgbClr val="233248"/>
                </a:solidFill>
                <a:latin typeface="Calibri"/>
                <a:ea typeface="Calibri"/>
                <a:cs typeface="Calibri"/>
              </a:rPr>
              <a:t>Fewer reactive calls or messages and less time between driver arrival and trip start.</a:t>
            </a:r>
          </a:p>
        </p:txBody>
      </p:sp>
      <p:sp>
        <p:nvSpPr>
          <p:cNvPr id="36" name="">
            <a:extLst xmlns:a="http://schemas.openxmlformats.org/drawingml/2006/main">
              <a:ext uri="{FF2B5EF4-FFF2-40B4-BE49-F238E27FC236}">
                <a16:creationId xmlns:a16="http://schemas.microsoft.com/office/drawing/2014/main" id="{7150C8DC-F1A7-498D-A3D9-B26D6D31D75D}"/>
              </a:ext>
            </a:extLst>
          </p:cNvPr>
          <p:cNvSpPr>
            <a:spLocks xmlns:a="http://schemas.openxmlformats.org/drawingml/2006/main" noGrp="1"/>
          </p:cNvSpPr>
          <p:nvPr/>
        </p:nvSpPr>
        <p:spPr>
          <a:xfrm xmlns:a="http://schemas.openxmlformats.org/drawingml/2006/main">
            <a:off x="6724650" y="4819650"/>
            <a:ext cx="4629150" cy="9525"/>
          </a:xfrm>
          <a:prstGeom xmlns:a="http://schemas.openxmlformats.org/drawingml/2006/main" prst="rect">
            <a:avLst/>
          </a:prstGeom>
          <a:solidFill xmlns:a="http://schemas.openxmlformats.org/drawingml/2006/main">
            <a:srgbClr val="E8ECF1"/>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E4E65E88-FF49-4FCD-99F3-15622D26E88B}"/>
              </a:ext>
            </a:extLst>
          </p:cNvPr>
          <p:cNvSpPr>
            <a:spLocks xmlns:a="http://schemas.openxmlformats.org/drawingml/2006/main" noGrp="1"/>
          </p:cNvSpPr>
          <p:nvPr/>
        </p:nvSpPr>
        <p:spPr>
          <a:xfrm xmlns:a="http://schemas.openxmlformats.org/drawingml/2006/main">
            <a:off x="6743700" y="4914900"/>
            <a:ext cx="12192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00" b="1" i="0">
                <a:solidFill>
                  <a:srgbClr val="F47A22"/>
                </a:solidFill>
                <a:latin typeface="Calibri"/>
                <a:ea typeface="Calibri"/>
                <a:cs typeface="Calibri"/>
              </a:defRPr>
            </a:pPr>
            <a:r>
              <a:rPr sz="900" b="1" i="0">
                <a:solidFill>
                  <a:srgbClr val="F47A22"/>
                </a:solidFill>
                <a:latin typeface="Calibri"/>
                <a:ea typeface="Calibri"/>
                <a:cs typeface="Calibri"/>
              </a:rPr>
              <a:t>REMAINING GAPS</a:t>
            </a:r>
          </a:p>
        </p:txBody>
      </p:sp>
      <p:sp>
        <p:nvSpPr>
          <p:cNvPr id="38" name="">
            <a:extLst xmlns:a="http://schemas.openxmlformats.org/drawingml/2006/main">
              <a:ext uri="{FF2B5EF4-FFF2-40B4-BE49-F238E27FC236}">
                <a16:creationId xmlns:a16="http://schemas.microsoft.com/office/drawing/2014/main" id="{262CD477-67FE-4F97-9F4A-752054838A97}"/>
              </a:ext>
            </a:extLst>
          </p:cNvPr>
          <p:cNvSpPr>
            <a:spLocks xmlns:a="http://schemas.openxmlformats.org/drawingml/2006/main" noGrp="1"/>
          </p:cNvSpPr>
          <p:nvPr/>
        </p:nvSpPr>
        <p:spPr>
          <a:xfrm xmlns:a="http://schemas.openxmlformats.org/drawingml/2006/main">
            <a:off x="8020050" y="4895850"/>
            <a:ext cx="32575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050" b="0" i="0">
                <a:solidFill>
                  <a:srgbClr val="233248"/>
                </a:solidFill>
                <a:latin typeface="Calibri"/>
                <a:ea typeface="Calibri"/>
                <a:cs typeface="Calibri"/>
              </a:defRPr>
            </a:pPr>
            <a:r>
              <a:rPr sz="1050" b="0" i="0">
                <a:solidFill>
                  <a:srgbClr val="233248"/>
                </a:solidFill>
                <a:latin typeface="Calibri"/>
                <a:ea typeface="Calibri"/>
                <a:cs typeface="Calibri"/>
              </a:rPr>
              <a:t>No moderated interviews. Driver evidence is thin. The sample is not representative. Validate with rider and driver interviews plus pickup event data.</a:t>
            </a:r>
          </a:p>
        </p:txBody>
      </p:sp>
      <p:sp>
        <p:nvSpPr>
          <p:cNvPr id="39" name="">
            <a:extLst xmlns:a="http://schemas.openxmlformats.org/drawingml/2006/main">
              <a:ext uri="{FF2B5EF4-FFF2-40B4-BE49-F238E27FC236}">
                <a16:creationId xmlns:a16="http://schemas.microsoft.com/office/drawing/2014/main" id="{90F3A45E-B0B3-4502-AEFB-F8166AD9CA0A}"/>
              </a:ext>
            </a:extLst>
          </p:cNvPr>
          <p:cNvSpPr>
            <a:spLocks xmlns:a="http://schemas.openxmlformats.org/drawingml/2006/main" noGrp="1"/>
          </p:cNvSpPr>
          <p:nvPr/>
        </p:nvSpPr>
        <p:spPr>
          <a:xfrm xmlns:a="http://schemas.openxmlformats.org/drawingml/2006/main">
            <a:off x="514350" y="5810250"/>
            <a:ext cx="11049000" cy="476250"/>
          </a:xfrm>
          <a:prstGeom xmlns:a="http://schemas.openxmlformats.org/drawingml/2006/main" prst="roundRect">
            <a:avLst>
              <a:gd name="adj" fmla="val 8000"/>
            </a:avLst>
          </a:prstGeom>
          <a:solidFill xmlns:a="http://schemas.openxmlformats.org/drawingml/2006/main">
            <a:srgbClr val="E2F4F6"/>
          </a:solidFill>
          <a:ln xmlns:a="http://schemas.openxmlformats.org/drawingml/2006/main" w="0">
            <a:noFill/>
            <a:prstDash val="solid"/>
          </a:ln>
        </p:spPr>
      </p:sp>
      <p:sp>
        <p:nvSpPr>
          <p:cNvPr id="40" name="">
            <a:extLst xmlns:a="http://schemas.openxmlformats.org/drawingml/2006/main">
              <a:ext uri="{FF2B5EF4-FFF2-40B4-BE49-F238E27FC236}">
                <a16:creationId xmlns:a16="http://schemas.microsoft.com/office/drawing/2014/main" id="{5133312C-E75C-4B11-A8FB-AF84B5332FC7}"/>
              </a:ext>
            </a:extLst>
          </p:cNvPr>
          <p:cNvSpPr>
            <a:spLocks xmlns:a="http://schemas.openxmlformats.org/drawingml/2006/main" noGrp="1"/>
          </p:cNvSpPr>
          <p:nvPr/>
        </p:nvSpPr>
        <p:spPr>
          <a:xfrm xmlns:a="http://schemas.openxmlformats.org/drawingml/2006/main">
            <a:off x="723900" y="5905500"/>
            <a:ext cx="10629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ctr">
              <a:defRPr sz="1350" b="1" i="0">
                <a:solidFill>
                  <a:srgbClr val="1B2B45"/>
                </a:solidFill>
                <a:latin typeface="Calibri"/>
                <a:ea typeface="Calibri"/>
                <a:cs typeface="Calibri"/>
              </a:defRPr>
            </a:pPr>
            <a:r>
              <a:rPr sz="1350" b="1" i="0">
                <a:solidFill>
                  <a:srgbClr val="1B2B45"/>
                </a:solidFill>
                <a:latin typeface="Calibri"/>
                <a:ea typeface="Calibri"/>
                <a:cs typeface="Calibri"/>
              </a:rPr>
              <a:t>Assessment: strong problem framing with directional validation. Test the smallest idea while gathering stronger evidence.</a:t>
            </a:r>
          </a:p>
        </p:txBody>
      </p:sp>
      <p:sp>
        <p:nvSpPr>
          <p:cNvPr id="41" name="">
            <a:extLst xmlns:a="http://schemas.openxmlformats.org/drawingml/2006/main">
              <a:ext uri="{FF2B5EF4-FFF2-40B4-BE49-F238E27FC236}">
                <a16:creationId xmlns:a16="http://schemas.microsoft.com/office/drawing/2014/main" id="{B61AE147-32C6-4C53-A97C-534ED9925E12}"/>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 · Appendix</a:t>
            </a:r>
          </a:p>
        </p:txBody>
      </p:sp>
      <p:sp>
        <p:nvSpPr>
          <p:cNvPr id="42" name="">
            <a:extLst xmlns:a="http://schemas.openxmlformats.org/drawingml/2006/main">
              <a:ext uri="{FF2B5EF4-FFF2-40B4-BE49-F238E27FC236}">
                <a16:creationId xmlns:a16="http://schemas.microsoft.com/office/drawing/2014/main" id="{2BEDA85A-8CBB-4B72-8047-D4F76235A79D}"/>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15</a:t>
            </a:r>
          </a:p>
        </p:txBody>
      </p:sp>
    </p:spTree>
    <p:extLst>
      <p:ext uri="{BB962C8B-B14F-4D97-AF65-F5344CB8AC3E}">
        <p14:creationId xmlns:p14="http://schemas.microsoft.com/office/powerpoint/2010/main" val="716552390"/>
      </p:ext>
    </p:extLst>
  </p:cSld>
</p:sld>
</file>

<file path=ppt/slides/slide16.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BB8D3413-7A01-4971-9BC2-9F546AB58F06}"/>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APPENDIX · 2 · TOP 10 MOST RELEVANT INSIGHTS</a:t>
            </a:r>
          </a:p>
        </p:txBody>
      </p:sp>
      <p:sp>
        <p:nvSpPr>
          <p:cNvPr id="2" name="">
            <a:extLst xmlns:a="http://schemas.openxmlformats.org/drawingml/2006/main">
              <a:ext uri="{FF2B5EF4-FFF2-40B4-BE49-F238E27FC236}">
                <a16:creationId xmlns:a16="http://schemas.microsoft.com/office/drawing/2014/main" id="{A1A0F5ED-B466-4124-B159-12703C9316C8}"/>
              </a:ext>
            </a:extLst>
          </p:cNvPr>
          <p:cNvSpPr>
            <a:spLocks xmlns:a="http://schemas.openxmlformats.org/drawingml/2006/main" noGrp="1"/>
          </p:cNvSpPr>
          <p:nvPr/>
        </p:nvSpPr>
        <p:spPr>
          <a:xfrm xmlns:a="http://schemas.openxmlformats.org/drawingml/2006/main">
            <a:off x="514350" y="571500"/>
            <a:ext cx="1114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7778"/>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Insights 1–5: prevalence, recurrence, location, arrived state, and recovery</a:t>
            </a:r>
          </a:p>
        </p:txBody>
      </p:sp>
      <p:sp>
        <p:nvSpPr>
          <p:cNvPr id="3" name="">
            <a:extLst xmlns:a="http://schemas.openxmlformats.org/drawingml/2006/main">
              <a:ext uri="{FF2B5EF4-FFF2-40B4-BE49-F238E27FC236}">
                <a16:creationId xmlns:a16="http://schemas.microsoft.com/office/drawing/2014/main" id="{78147B0A-7C52-48B0-9DD3-8592ED34C753}"/>
              </a:ext>
            </a:extLst>
          </p:cNvPr>
          <p:cNvSpPr>
            <a:spLocks xmlns:a="http://schemas.openxmlformats.org/drawingml/2006/main" noGrp="1"/>
          </p:cNvSpPr>
          <p:nvPr/>
        </p:nvSpPr>
        <p:spPr>
          <a:xfrm xmlns:a="http://schemas.openxmlformats.org/drawingml/2006/main">
            <a:off x="514350" y="1619250"/>
            <a:ext cx="10439400" cy="723900"/>
          </a:xfrm>
          <a:prstGeom xmlns:a="http://schemas.openxmlformats.org/drawingml/2006/main" prst="roundRect">
            <a:avLst>
              <a:gd name="adj" fmla="val 5263"/>
            </a:avLst>
          </a:prstGeom>
          <a:solidFill xmlns:a="http://schemas.openxmlformats.org/drawingml/2006/main">
            <a:srgbClr val="FFFFFF"/>
          </a:solidFill>
          <a:ln xmlns:a="http://schemas.openxmlformats.org/drawingml/2006/main" w="9525">
            <a:solidFill>
              <a:srgbClr val="E8ECF1"/>
            </a:solidFill>
            <a:prstDash val="solid"/>
          </a:ln>
        </p:spPr>
      </p:sp>
      <p:sp>
        <p:nvSpPr>
          <p:cNvPr id="4" name="">
            <a:extLst xmlns:a="http://schemas.openxmlformats.org/drawingml/2006/main">
              <a:ext uri="{FF2B5EF4-FFF2-40B4-BE49-F238E27FC236}">
                <a16:creationId xmlns:a16="http://schemas.microsoft.com/office/drawing/2014/main" id="{BAF63AD0-2E2F-4E81-ACE9-68F39DF7E859}"/>
              </a:ext>
            </a:extLst>
          </p:cNvPr>
          <p:cNvSpPr>
            <a:spLocks xmlns:a="http://schemas.openxmlformats.org/drawingml/2006/main" noGrp="1"/>
          </p:cNvSpPr>
          <p:nvPr/>
        </p:nvSpPr>
        <p:spPr>
          <a:xfrm xmlns:a="http://schemas.openxmlformats.org/drawingml/2006/main">
            <a:off x="647700" y="1743075"/>
            <a:ext cx="400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1950" b="1" i="0">
                <a:solidFill>
                  <a:srgbClr val="F47A22"/>
                </a:solidFill>
                <a:latin typeface="Calibri"/>
                <a:ea typeface="Calibri"/>
                <a:cs typeface="Calibri"/>
              </a:defRPr>
            </a:pPr>
            <a:r>
              <a:rPr sz="1950" b="1" i="0">
                <a:solidFill>
                  <a:srgbClr val="F47A22"/>
                </a:solidFill>
                <a:latin typeface="Calibri"/>
                <a:ea typeface="Calibri"/>
                <a:cs typeface="Calibri"/>
              </a:rPr>
              <a:t>1</a:t>
            </a:r>
          </a:p>
        </p:txBody>
      </p:sp>
      <p:sp>
        <p:nvSpPr>
          <p:cNvPr id="5" name="">
            <a:extLst xmlns:a="http://schemas.openxmlformats.org/drawingml/2006/main">
              <a:ext uri="{FF2B5EF4-FFF2-40B4-BE49-F238E27FC236}">
                <a16:creationId xmlns:a16="http://schemas.microsoft.com/office/drawing/2014/main" id="{EAEA3C06-E4CF-475D-B735-069E6367D9E1}"/>
              </a:ext>
            </a:extLst>
          </p:cNvPr>
          <p:cNvSpPr>
            <a:spLocks xmlns:a="http://schemas.openxmlformats.org/drawingml/2006/main" noGrp="1"/>
          </p:cNvSpPr>
          <p:nvPr/>
        </p:nvSpPr>
        <p:spPr>
          <a:xfrm xmlns:a="http://schemas.openxmlformats.org/drawingml/2006/main">
            <a:off x="1200150" y="1714500"/>
            <a:ext cx="523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500" b="1" i="0">
                <a:solidFill>
                  <a:srgbClr val="1B2B45"/>
                </a:solidFill>
                <a:latin typeface="Calibri"/>
                <a:ea typeface="Calibri"/>
                <a:cs typeface="Calibri"/>
              </a:defRPr>
            </a:pPr>
            <a:r>
              <a:rPr sz="1500" b="1" i="0">
                <a:solidFill>
                  <a:srgbClr val="1B2B45"/>
                </a:solidFill>
                <a:latin typeface="Calibri"/>
                <a:ea typeface="Calibri"/>
                <a:cs typeface="Calibri"/>
              </a:rPr>
              <a:t>Difficulty is meaningful, not universal</a:t>
            </a:r>
          </a:p>
        </p:txBody>
      </p:sp>
      <p:sp>
        <p:nvSpPr>
          <p:cNvPr id="6" name="">
            <a:extLst xmlns:a="http://schemas.openxmlformats.org/drawingml/2006/main">
              <a:ext uri="{FF2B5EF4-FFF2-40B4-BE49-F238E27FC236}">
                <a16:creationId xmlns:a16="http://schemas.microsoft.com/office/drawing/2014/main" id="{02B78DB6-BA1B-4CC1-8DC1-D28369A3B35C}"/>
              </a:ext>
            </a:extLst>
          </p:cNvPr>
          <p:cNvSpPr>
            <a:spLocks xmlns:a="http://schemas.openxmlformats.org/drawingml/2006/main" noGrp="1"/>
          </p:cNvSpPr>
          <p:nvPr/>
        </p:nvSpPr>
        <p:spPr>
          <a:xfrm xmlns:a="http://schemas.openxmlformats.org/drawingml/2006/main">
            <a:off x="1200150" y="2000250"/>
            <a:ext cx="685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200" b="0" i="0">
                <a:solidFill>
                  <a:srgbClr val="687489"/>
                </a:solidFill>
                <a:latin typeface="Calibri"/>
                <a:ea typeface="Calibri"/>
                <a:cs typeface="Calibri"/>
              </a:defRPr>
            </a:pPr>
            <a:r>
              <a:rPr sz="1200" b="0" i="0">
                <a:solidFill>
                  <a:srgbClr val="687489"/>
                </a:solidFill>
                <a:latin typeface="Calibri"/>
                <a:ea typeface="Calibri"/>
                <a:cs typeface="Calibri"/>
              </a:rPr>
              <a:t>24/51 reported difficulty or uncertainty; 34/62 no issue</a:t>
            </a:r>
          </a:p>
        </p:txBody>
      </p:sp>
      <p:sp>
        <p:nvSpPr>
          <p:cNvPr id="7" name="">
            <a:extLst xmlns:a="http://schemas.openxmlformats.org/drawingml/2006/main">
              <a:ext uri="{FF2B5EF4-FFF2-40B4-BE49-F238E27FC236}">
                <a16:creationId xmlns:a16="http://schemas.microsoft.com/office/drawing/2014/main" id="{AD0CF752-63FC-4AB2-9A04-DFC99EF96FF0}"/>
              </a:ext>
            </a:extLst>
          </p:cNvPr>
          <p:cNvSpPr>
            <a:spLocks xmlns:a="http://schemas.openxmlformats.org/drawingml/2006/main" noGrp="1"/>
          </p:cNvSpPr>
          <p:nvPr/>
        </p:nvSpPr>
        <p:spPr>
          <a:xfrm xmlns:a="http://schemas.openxmlformats.org/drawingml/2006/main">
            <a:off x="9220200" y="1809750"/>
            <a:ext cx="1428750" cy="323850"/>
          </a:xfrm>
          <a:prstGeom xmlns:a="http://schemas.openxmlformats.org/drawingml/2006/main" prst="roundRect">
            <a:avLst>
              <a:gd name="adj" fmla="val 47059"/>
            </a:avLst>
          </a:prstGeom>
          <a:solidFill xmlns:a="http://schemas.openxmlformats.org/drawingml/2006/main">
            <a:srgbClr val="E2F4F6"/>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0CB744A9-41F7-439A-B0C2-04329D3DDCB7}"/>
              </a:ext>
            </a:extLst>
          </p:cNvPr>
          <p:cNvSpPr>
            <a:spLocks xmlns:a="http://schemas.openxmlformats.org/drawingml/2006/main" noGrp="1"/>
          </p:cNvSpPr>
          <p:nvPr/>
        </p:nvSpPr>
        <p:spPr>
          <a:xfrm xmlns:a="http://schemas.openxmlformats.org/drawingml/2006/main">
            <a:off x="9315450" y="184785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8889"/>
          </a:bodyPr>
          <a:lstStyle xmlns:a="http://schemas.openxmlformats.org/drawingml/2006/main"/>
          <a:p xmlns:a="http://schemas.openxmlformats.org/drawingml/2006/main">
            <a:pPr algn="ctr">
              <a:defRPr sz="1125" b="1" i="0">
                <a:solidFill>
                  <a:srgbClr val="1B2B45"/>
                </a:solidFill>
                <a:latin typeface="Calibri"/>
                <a:ea typeface="Calibri"/>
                <a:cs typeface="Calibri"/>
              </a:defRPr>
            </a:pPr>
            <a:r>
              <a:rPr sz="1125" b="1" i="0">
                <a:solidFill>
                  <a:srgbClr val="1B2B45"/>
                </a:solidFill>
                <a:latin typeface="Calibri"/>
                <a:ea typeface="Calibri"/>
                <a:cs typeface="Calibri"/>
              </a:rPr>
              <a:t>Strong</a:t>
            </a:r>
          </a:p>
        </p:txBody>
      </p:sp>
      <p:sp>
        <p:nvSpPr>
          <p:cNvPr id="9" name="">
            <a:extLst xmlns:a="http://schemas.openxmlformats.org/drawingml/2006/main">
              <a:ext uri="{FF2B5EF4-FFF2-40B4-BE49-F238E27FC236}">
                <a16:creationId xmlns:a16="http://schemas.microsoft.com/office/drawing/2014/main" id="{8D495DD3-3136-42F8-8EA4-5B0472E251BD}"/>
              </a:ext>
            </a:extLst>
          </p:cNvPr>
          <p:cNvSpPr>
            <a:spLocks xmlns:a="http://schemas.openxmlformats.org/drawingml/2006/main" noGrp="1"/>
          </p:cNvSpPr>
          <p:nvPr/>
        </p:nvSpPr>
        <p:spPr>
          <a:xfrm xmlns:a="http://schemas.openxmlformats.org/drawingml/2006/main">
            <a:off x="514350" y="2486025"/>
            <a:ext cx="10439400" cy="723900"/>
          </a:xfrm>
          <a:prstGeom xmlns:a="http://schemas.openxmlformats.org/drawingml/2006/main" prst="roundRect">
            <a:avLst>
              <a:gd name="adj" fmla="val 5263"/>
            </a:avLst>
          </a:prstGeom>
          <a:solidFill xmlns:a="http://schemas.openxmlformats.org/drawingml/2006/main">
            <a:srgbClr val="FFFFFF"/>
          </a:solidFill>
          <a:ln xmlns:a="http://schemas.openxmlformats.org/drawingml/2006/main" w="9525">
            <a:solidFill>
              <a:srgbClr val="E8ECF1"/>
            </a:solidFill>
            <a:prstDash val="solid"/>
          </a:ln>
        </p:spPr>
      </p:sp>
      <p:sp>
        <p:nvSpPr>
          <p:cNvPr id="10" name="">
            <a:extLst xmlns:a="http://schemas.openxmlformats.org/drawingml/2006/main">
              <a:ext uri="{FF2B5EF4-FFF2-40B4-BE49-F238E27FC236}">
                <a16:creationId xmlns:a16="http://schemas.microsoft.com/office/drawing/2014/main" id="{5FE45665-18AD-46BD-A5B7-5B13E9071DE9}"/>
              </a:ext>
            </a:extLst>
          </p:cNvPr>
          <p:cNvSpPr>
            <a:spLocks xmlns:a="http://schemas.openxmlformats.org/drawingml/2006/main" noGrp="1"/>
          </p:cNvSpPr>
          <p:nvPr/>
        </p:nvSpPr>
        <p:spPr>
          <a:xfrm xmlns:a="http://schemas.openxmlformats.org/drawingml/2006/main">
            <a:off x="647700" y="2609850"/>
            <a:ext cx="400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1950" b="1" i="0">
                <a:solidFill>
                  <a:srgbClr val="F47A22"/>
                </a:solidFill>
                <a:latin typeface="Calibri"/>
                <a:ea typeface="Calibri"/>
                <a:cs typeface="Calibri"/>
              </a:defRPr>
            </a:pPr>
            <a:r>
              <a:rPr sz="1950" b="1" i="0">
                <a:solidFill>
                  <a:srgbClr val="F47A22"/>
                </a:solidFill>
                <a:latin typeface="Calibri"/>
                <a:ea typeface="Calibri"/>
                <a:cs typeface="Calibri"/>
              </a:rPr>
              <a:t>2</a:t>
            </a:r>
          </a:p>
        </p:txBody>
      </p:sp>
      <p:sp>
        <p:nvSpPr>
          <p:cNvPr id="11" name="">
            <a:extLst xmlns:a="http://schemas.openxmlformats.org/drawingml/2006/main">
              <a:ext uri="{FF2B5EF4-FFF2-40B4-BE49-F238E27FC236}">
                <a16:creationId xmlns:a16="http://schemas.microsoft.com/office/drawing/2014/main" id="{69F5F983-B3A7-4F47-8A8D-FC6F4CB2D854}"/>
              </a:ext>
            </a:extLst>
          </p:cNvPr>
          <p:cNvSpPr>
            <a:spLocks xmlns:a="http://schemas.openxmlformats.org/drawingml/2006/main" noGrp="1"/>
          </p:cNvSpPr>
          <p:nvPr/>
        </p:nvSpPr>
        <p:spPr>
          <a:xfrm xmlns:a="http://schemas.openxmlformats.org/drawingml/2006/main">
            <a:off x="1200150" y="2581275"/>
            <a:ext cx="523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500" b="1" i="0">
                <a:solidFill>
                  <a:srgbClr val="1B2B45"/>
                </a:solidFill>
                <a:latin typeface="Calibri"/>
                <a:ea typeface="Calibri"/>
                <a:cs typeface="Calibri"/>
              </a:defRPr>
            </a:pPr>
            <a:r>
              <a:rPr sz="1500" b="1" i="0">
                <a:solidFill>
                  <a:srgbClr val="1B2B45"/>
                </a:solidFill>
                <a:latin typeface="Calibri"/>
                <a:ea typeface="Calibri"/>
                <a:cs typeface="Calibri"/>
              </a:rPr>
              <a:t>For affected respondents, the issue often recurs</a:t>
            </a:r>
          </a:p>
        </p:txBody>
      </p:sp>
      <p:sp>
        <p:nvSpPr>
          <p:cNvPr id="12" name="">
            <a:extLst xmlns:a="http://schemas.openxmlformats.org/drawingml/2006/main">
              <a:ext uri="{FF2B5EF4-FFF2-40B4-BE49-F238E27FC236}">
                <a16:creationId xmlns:a16="http://schemas.microsoft.com/office/drawing/2014/main" id="{5B39D737-EF92-401A-BFD7-05E4499A558B}"/>
              </a:ext>
            </a:extLst>
          </p:cNvPr>
          <p:cNvSpPr>
            <a:spLocks xmlns:a="http://schemas.openxmlformats.org/drawingml/2006/main" noGrp="1"/>
          </p:cNvSpPr>
          <p:nvPr/>
        </p:nvSpPr>
        <p:spPr>
          <a:xfrm xmlns:a="http://schemas.openxmlformats.org/drawingml/2006/main">
            <a:off x="1200150" y="2867025"/>
            <a:ext cx="685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200" b="0" i="0">
                <a:solidFill>
                  <a:srgbClr val="687489"/>
                </a:solidFill>
                <a:latin typeface="Calibri"/>
                <a:ea typeface="Calibri"/>
                <a:cs typeface="Calibri"/>
              </a:defRPr>
            </a:pPr>
            <a:r>
              <a:rPr sz="1200" b="0" i="0">
                <a:solidFill>
                  <a:srgbClr val="687489"/>
                </a:solidFill>
                <a:latin typeface="Calibri"/>
                <a:ea typeface="Calibri"/>
                <a:cs typeface="Calibri"/>
              </a:rPr>
              <a:t>23/28 said it happened before — not necessarily same venue</a:t>
            </a:r>
          </a:p>
        </p:txBody>
      </p:sp>
      <p:sp>
        <p:nvSpPr>
          <p:cNvPr id="13" name="">
            <a:extLst xmlns:a="http://schemas.openxmlformats.org/drawingml/2006/main">
              <a:ext uri="{FF2B5EF4-FFF2-40B4-BE49-F238E27FC236}">
                <a16:creationId xmlns:a16="http://schemas.microsoft.com/office/drawing/2014/main" id="{966C634E-F8E2-4A78-A05D-96A808418BDE}"/>
              </a:ext>
            </a:extLst>
          </p:cNvPr>
          <p:cNvSpPr>
            <a:spLocks xmlns:a="http://schemas.openxmlformats.org/drawingml/2006/main" noGrp="1"/>
          </p:cNvSpPr>
          <p:nvPr/>
        </p:nvSpPr>
        <p:spPr>
          <a:xfrm xmlns:a="http://schemas.openxmlformats.org/drawingml/2006/main">
            <a:off x="9220200" y="2676525"/>
            <a:ext cx="1428750" cy="323850"/>
          </a:xfrm>
          <a:prstGeom xmlns:a="http://schemas.openxmlformats.org/drawingml/2006/main" prst="roundRect">
            <a:avLst>
              <a:gd name="adj" fmla="val 47059"/>
            </a:avLst>
          </a:prstGeom>
          <a:solidFill xmlns:a="http://schemas.openxmlformats.org/drawingml/2006/main">
            <a:srgbClr val="E2F4F6"/>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5E52E018-DB9E-4564-88E5-ABA34DAA2EDD}"/>
              </a:ext>
            </a:extLst>
          </p:cNvPr>
          <p:cNvSpPr>
            <a:spLocks xmlns:a="http://schemas.openxmlformats.org/drawingml/2006/main" noGrp="1"/>
          </p:cNvSpPr>
          <p:nvPr/>
        </p:nvSpPr>
        <p:spPr>
          <a:xfrm xmlns:a="http://schemas.openxmlformats.org/drawingml/2006/main">
            <a:off x="9315450" y="2714625"/>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8889"/>
          </a:bodyPr>
          <a:lstStyle xmlns:a="http://schemas.openxmlformats.org/drawingml/2006/main"/>
          <a:p xmlns:a="http://schemas.openxmlformats.org/drawingml/2006/main">
            <a:pPr algn="ctr">
              <a:defRPr sz="1125" b="1" i="0">
                <a:solidFill>
                  <a:srgbClr val="1B2B45"/>
                </a:solidFill>
                <a:latin typeface="Calibri"/>
                <a:ea typeface="Calibri"/>
                <a:cs typeface="Calibri"/>
              </a:defRPr>
            </a:pPr>
            <a:r>
              <a:rPr sz="1125" b="1" i="0">
                <a:solidFill>
                  <a:srgbClr val="1B2B45"/>
                </a:solidFill>
                <a:latin typeface="Calibri"/>
                <a:ea typeface="Calibri"/>
                <a:cs typeface="Calibri"/>
              </a:rPr>
              <a:t>Strong</a:t>
            </a:r>
          </a:p>
        </p:txBody>
      </p:sp>
      <p:sp>
        <p:nvSpPr>
          <p:cNvPr id="15" name="">
            <a:extLst xmlns:a="http://schemas.openxmlformats.org/drawingml/2006/main">
              <a:ext uri="{FF2B5EF4-FFF2-40B4-BE49-F238E27FC236}">
                <a16:creationId xmlns:a16="http://schemas.microsoft.com/office/drawing/2014/main" id="{3BB8A09F-7EA8-4532-BFB7-309D8D360267}"/>
              </a:ext>
            </a:extLst>
          </p:cNvPr>
          <p:cNvSpPr>
            <a:spLocks xmlns:a="http://schemas.openxmlformats.org/drawingml/2006/main" noGrp="1"/>
          </p:cNvSpPr>
          <p:nvPr/>
        </p:nvSpPr>
        <p:spPr>
          <a:xfrm xmlns:a="http://schemas.openxmlformats.org/drawingml/2006/main">
            <a:off x="514350" y="3352800"/>
            <a:ext cx="10439400" cy="723900"/>
          </a:xfrm>
          <a:prstGeom xmlns:a="http://schemas.openxmlformats.org/drawingml/2006/main" prst="roundRect">
            <a:avLst>
              <a:gd name="adj" fmla="val 5263"/>
            </a:avLst>
          </a:prstGeom>
          <a:solidFill xmlns:a="http://schemas.openxmlformats.org/drawingml/2006/main">
            <a:srgbClr val="FFFFFF"/>
          </a:solidFill>
          <a:ln xmlns:a="http://schemas.openxmlformats.org/drawingml/2006/main" w="9525">
            <a:solidFill>
              <a:srgbClr val="E8ECF1"/>
            </a:solidFill>
            <a:prstDash val="solid"/>
          </a:ln>
        </p:spPr>
      </p:sp>
      <p:sp>
        <p:nvSpPr>
          <p:cNvPr id="16" name="">
            <a:extLst xmlns:a="http://schemas.openxmlformats.org/drawingml/2006/main">
              <a:ext uri="{FF2B5EF4-FFF2-40B4-BE49-F238E27FC236}">
                <a16:creationId xmlns:a16="http://schemas.microsoft.com/office/drawing/2014/main" id="{5EF5608A-F10E-4FE8-82BD-159B9C8CDD4A}"/>
              </a:ext>
            </a:extLst>
          </p:cNvPr>
          <p:cNvSpPr>
            <a:spLocks xmlns:a="http://schemas.openxmlformats.org/drawingml/2006/main" noGrp="1"/>
          </p:cNvSpPr>
          <p:nvPr/>
        </p:nvSpPr>
        <p:spPr>
          <a:xfrm xmlns:a="http://schemas.openxmlformats.org/drawingml/2006/main">
            <a:off x="647700" y="3476625"/>
            <a:ext cx="400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1950" b="1" i="0">
                <a:solidFill>
                  <a:srgbClr val="F47A22"/>
                </a:solidFill>
                <a:latin typeface="Calibri"/>
                <a:ea typeface="Calibri"/>
                <a:cs typeface="Calibri"/>
              </a:defRPr>
            </a:pPr>
            <a:r>
              <a:rPr sz="1950" b="1" i="0">
                <a:solidFill>
                  <a:srgbClr val="F47A22"/>
                </a:solidFill>
                <a:latin typeface="Calibri"/>
                <a:ea typeface="Calibri"/>
                <a:cs typeface="Calibri"/>
              </a:rPr>
              <a:t>3</a:t>
            </a:r>
          </a:p>
        </p:txBody>
      </p:sp>
      <p:sp>
        <p:nvSpPr>
          <p:cNvPr id="17" name="">
            <a:extLst xmlns:a="http://schemas.openxmlformats.org/drawingml/2006/main">
              <a:ext uri="{FF2B5EF4-FFF2-40B4-BE49-F238E27FC236}">
                <a16:creationId xmlns:a16="http://schemas.microsoft.com/office/drawing/2014/main" id="{16C8679B-E328-4FF9-86B5-BCF8D76C741C}"/>
              </a:ext>
            </a:extLst>
          </p:cNvPr>
          <p:cNvSpPr>
            <a:spLocks xmlns:a="http://schemas.openxmlformats.org/drawingml/2006/main" noGrp="1"/>
          </p:cNvSpPr>
          <p:nvPr/>
        </p:nvSpPr>
        <p:spPr>
          <a:xfrm xmlns:a="http://schemas.openxmlformats.org/drawingml/2006/main">
            <a:off x="1200150" y="3448050"/>
            <a:ext cx="523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500" b="1" i="0">
                <a:solidFill>
                  <a:srgbClr val="1B2B45"/>
                </a:solidFill>
                <a:latin typeface="Calibri"/>
                <a:ea typeface="Calibri"/>
                <a:cs typeface="Calibri"/>
              </a:defRPr>
            </a:pPr>
            <a:r>
              <a:rPr sz="1500" b="1" i="0">
                <a:solidFill>
                  <a:srgbClr val="1B2B45"/>
                </a:solidFill>
                <a:latin typeface="Calibri"/>
                <a:ea typeface="Calibri"/>
                <a:cs typeface="Calibri"/>
              </a:rPr>
              <a:t>Complex environments concentrate coordination failures</a:t>
            </a:r>
          </a:p>
        </p:txBody>
      </p:sp>
      <p:sp>
        <p:nvSpPr>
          <p:cNvPr id="18" name="">
            <a:extLst xmlns:a="http://schemas.openxmlformats.org/drawingml/2006/main">
              <a:ext uri="{FF2B5EF4-FFF2-40B4-BE49-F238E27FC236}">
                <a16:creationId xmlns:a16="http://schemas.microsoft.com/office/drawing/2014/main" id="{88404D84-EF18-43EB-96DE-56647EDA3D3A}"/>
              </a:ext>
            </a:extLst>
          </p:cNvPr>
          <p:cNvSpPr>
            <a:spLocks xmlns:a="http://schemas.openxmlformats.org/drawingml/2006/main" noGrp="1"/>
          </p:cNvSpPr>
          <p:nvPr/>
        </p:nvSpPr>
        <p:spPr>
          <a:xfrm xmlns:a="http://schemas.openxmlformats.org/drawingml/2006/main">
            <a:off x="1200150" y="3733800"/>
            <a:ext cx="685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200" b="0" i="0">
                <a:solidFill>
                  <a:srgbClr val="687489"/>
                </a:solidFill>
                <a:latin typeface="Calibri"/>
                <a:ea typeface="Calibri"/>
                <a:cs typeface="Calibri"/>
              </a:defRPr>
            </a:pPr>
            <a:r>
              <a:rPr sz="1200" b="0" i="0">
                <a:solidFill>
                  <a:srgbClr val="687489"/>
                </a:solidFill>
                <a:latin typeface="Calibri"/>
                <a:ea typeface="Calibri"/>
                <a:cs typeface="Calibri"/>
              </a:rPr>
              <a:t>Airport 10; residential 7; mall 6; office 6</a:t>
            </a:r>
          </a:p>
        </p:txBody>
      </p:sp>
      <p:sp>
        <p:nvSpPr>
          <p:cNvPr id="19" name="">
            <a:extLst xmlns:a="http://schemas.openxmlformats.org/drawingml/2006/main">
              <a:ext uri="{FF2B5EF4-FFF2-40B4-BE49-F238E27FC236}">
                <a16:creationId xmlns:a16="http://schemas.microsoft.com/office/drawing/2014/main" id="{1477BC86-04DE-44F7-9875-9114460EE1CE}"/>
              </a:ext>
            </a:extLst>
          </p:cNvPr>
          <p:cNvSpPr>
            <a:spLocks xmlns:a="http://schemas.openxmlformats.org/drawingml/2006/main" noGrp="1"/>
          </p:cNvSpPr>
          <p:nvPr/>
        </p:nvSpPr>
        <p:spPr>
          <a:xfrm xmlns:a="http://schemas.openxmlformats.org/drawingml/2006/main">
            <a:off x="9220200" y="3543300"/>
            <a:ext cx="1428750" cy="323850"/>
          </a:xfrm>
          <a:prstGeom xmlns:a="http://schemas.openxmlformats.org/drawingml/2006/main" prst="roundRect">
            <a:avLst>
              <a:gd name="adj" fmla="val 47059"/>
            </a:avLst>
          </a:prstGeom>
          <a:solidFill xmlns:a="http://schemas.openxmlformats.org/drawingml/2006/main">
            <a:srgbClr val="E2F4F6"/>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DD1D36A0-36F7-4E3B-A97B-ECCCE9F240F3}"/>
              </a:ext>
            </a:extLst>
          </p:cNvPr>
          <p:cNvSpPr>
            <a:spLocks xmlns:a="http://schemas.openxmlformats.org/drawingml/2006/main" noGrp="1"/>
          </p:cNvSpPr>
          <p:nvPr/>
        </p:nvSpPr>
        <p:spPr>
          <a:xfrm xmlns:a="http://schemas.openxmlformats.org/drawingml/2006/main">
            <a:off x="9315450" y="3581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8889"/>
          </a:bodyPr>
          <a:lstStyle xmlns:a="http://schemas.openxmlformats.org/drawingml/2006/main"/>
          <a:p xmlns:a="http://schemas.openxmlformats.org/drawingml/2006/main">
            <a:pPr algn="ctr">
              <a:defRPr sz="1125" b="1" i="0">
                <a:solidFill>
                  <a:srgbClr val="1B2B45"/>
                </a:solidFill>
                <a:latin typeface="Calibri"/>
                <a:ea typeface="Calibri"/>
                <a:cs typeface="Calibri"/>
              </a:defRPr>
            </a:pPr>
            <a:r>
              <a:rPr sz="1125" b="1" i="0">
                <a:solidFill>
                  <a:srgbClr val="1B2B45"/>
                </a:solidFill>
                <a:latin typeface="Calibri"/>
                <a:ea typeface="Calibri"/>
                <a:cs typeface="Calibri"/>
              </a:rPr>
              <a:t>Strong</a:t>
            </a:r>
          </a:p>
        </p:txBody>
      </p:sp>
      <p:sp>
        <p:nvSpPr>
          <p:cNvPr id="21" name="">
            <a:extLst xmlns:a="http://schemas.openxmlformats.org/drawingml/2006/main">
              <a:ext uri="{FF2B5EF4-FFF2-40B4-BE49-F238E27FC236}">
                <a16:creationId xmlns:a16="http://schemas.microsoft.com/office/drawing/2014/main" id="{BDA3CA51-B673-41F2-9AB5-2CAE56E28194}"/>
              </a:ext>
            </a:extLst>
          </p:cNvPr>
          <p:cNvSpPr>
            <a:spLocks xmlns:a="http://schemas.openxmlformats.org/drawingml/2006/main" noGrp="1"/>
          </p:cNvSpPr>
          <p:nvPr/>
        </p:nvSpPr>
        <p:spPr>
          <a:xfrm xmlns:a="http://schemas.openxmlformats.org/drawingml/2006/main">
            <a:off x="514350" y="4219575"/>
            <a:ext cx="10439400" cy="723900"/>
          </a:xfrm>
          <a:prstGeom xmlns:a="http://schemas.openxmlformats.org/drawingml/2006/main" prst="roundRect">
            <a:avLst>
              <a:gd name="adj" fmla="val 5263"/>
            </a:avLst>
          </a:prstGeom>
          <a:solidFill xmlns:a="http://schemas.openxmlformats.org/drawingml/2006/main">
            <a:srgbClr val="FFFFFF"/>
          </a:solidFill>
          <a:ln xmlns:a="http://schemas.openxmlformats.org/drawingml/2006/main" w="9525">
            <a:solidFill>
              <a:srgbClr val="E8ECF1"/>
            </a:solidFill>
            <a:prstDash val="solid"/>
          </a:ln>
        </p:spPr>
      </p:sp>
      <p:sp>
        <p:nvSpPr>
          <p:cNvPr id="22" name="">
            <a:extLst xmlns:a="http://schemas.openxmlformats.org/drawingml/2006/main">
              <a:ext uri="{FF2B5EF4-FFF2-40B4-BE49-F238E27FC236}">
                <a16:creationId xmlns:a16="http://schemas.microsoft.com/office/drawing/2014/main" id="{152B0713-0202-4F2B-95E7-736CBE4DCF9E}"/>
              </a:ext>
            </a:extLst>
          </p:cNvPr>
          <p:cNvSpPr>
            <a:spLocks xmlns:a="http://schemas.openxmlformats.org/drawingml/2006/main" noGrp="1"/>
          </p:cNvSpPr>
          <p:nvPr/>
        </p:nvSpPr>
        <p:spPr>
          <a:xfrm xmlns:a="http://schemas.openxmlformats.org/drawingml/2006/main">
            <a:off x="647700" y="4343400"/>
            <a:ext cx="400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1950" b="1" i="0">
                <a:solidFill>
                  <a:srgbClr val="F47A22"/>
                </a:solidFill>
                <a:latin typeface="Calibri"/>
                <a:ea typeface="Calibri"/>
                <a:cs typeface="Calibri"/>
              </a:defRPr>
            </a:pPr>
            <a:r>
              <a:rPr sz="1950" b="1" i="0">
                <a:solidFill>
                  <a:srgbClr val="F47A22"/>
                </a:solidFill>
                <a:latin typeface="Calibri"/>
                <a:ea typeface="Calibri"/>
                <a:cs typeface="Calibri"/>
              </a:rPr>
              <a:t>4</a:t>
            </a:r>
          </a:p>
        </p:txBody>
      </p:sp>
      <p:sp>
        <p:nvSpPr>
          <p:cNvPr id="23" name="">
            <a:extLst xmlns:a="http://schemas.openxmlformats.org/drawingml/2006/main">
              <a:ext uri="{FF2B5EF4-FFF2-40B4-BE49-F238E27FC236}">
                <a16:creationId xmlns:a16="http://schemas.microsoft.com/office/drawing/2014/main" id="{8C843BBB-C027-43CC-8C0A-5F23084BCCA9}"/>
              </a:ext>
            </a:extLst>
          </p:cNvPr>
          <p:cNvSpPr>
            <a:spLocks xmlns:a="http://schemas.openxmlformats.org/drawingml/2006/main" noGrp="1"/>
          </p:cNvSpPr>
          <p:nvPr/>
        </p:nvSpPr>
        <p:spPr>
          <a:xfrm xmlns:a="http://schemas.openxmlformats.org/drawingml/2006/main">
            <a:off x="1200150" y="4314825"/>
            <a:ext cx="523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500" b="1" i="0">
                <a:solidFill>
                  <a:srgbClr val="1B2B45"/>
                </a:solidFill>
                <a:latin typeface="Calibri"/>
                <a:ea typeface="Calibri"/>
                <a:cs typeface="Calibri"/>
              </a:defRPr>
            </a:pPr>
            <a:r>
              <a:rPr sz="1500" b="1" i="0">
                <a:solidFill>
                  <a:srgbClr val="1B2B45"/>
                </a:solidFill>
                <a:latin typeface="Calibri"/>
                <a:ea typeface="Calibri"/>
                <a:cs typeface="Calibri"/>
              </a:rPr>
              <a:t>Arrived does not mean the rider and driver can meet</a:t>
            </a:r>
          </a:p>
        </p:txBody>
      </p:sp>
      <p:sp>
        <p:nvSpPr>
          <p:cNvPr id="24" name="">
            <a:extLst xmlns:a="http://schemas.openxmlformats.org/drawingml/2006/main">
              <a:ext uri="{FF2B5EF4-FFF2-40B4-BE49-F238E27FC236}">
                <a16:creationId xmlns:a16="http://schemas.microsoft.com/office/drawing/2014/main" id="{AD690098-E72E-4601-9C32-9B2D3109A341}"/>
              </a:ext>
            </a:extLst>
          </p:cNvPr>
          <p:cNvSpPr>
            <a:spLocks xmlns:a="http://schemas.openxmlformats.org/drawingml/2006/main" noGrp="1"/>
          </p:cNvSpPr>
          <p:nvPr/>
        </p:nvSpPr>
        <p:spPr>
          <a:xfrm xmlns:a="http://schemas.openxmlformats.org/drawingml/2006/main">
            <a:off x="1200150" y="4600575"/>
            <a:ext cx="685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200" b="0" i="0">
                <a:solidFill>
                  <a:srgbClr val="687489"/>
                </a:solidFill>
                <a:latin typeface="Calibri"/>
                <a:ea typeface="Calibri"/>
                <a:cs typeface="Calibri"/>
              </a:defRPr>
            </a:pPr>
            <a:r>
              <a:rPr sz="1200" b="0" i="0">
                <a:solidFill>
                  <a:srgbClr val="687489"/>
                </a:solidFill>
                <a:latin typeface="Calibri"/>
                <a:ea typeface="Calibri"/>
                <a:cs typeface="Calibri"/>
              </a:rPr>
              <a:t>Wrong pin, similar gates, cross-road case</a:t>
            </a:r>
          </a:p>
        </p:txBody>
      </p:sp>
      <p:sp>
        <p:nvSpPr>
          <p:cNvPr id="25" name="">
            <a:extLst xmlns:a="http://schemas.openxmlformats.org/drawingml/2006/main">
              <a:ext uri="{FF2B5EF4-FFF2-40B4-BE49-F238E27FC236}">
                <a16:creationId xmlns:a16="http://schemas.microsoft.com/office/drawing/2014/main" id="{BDC529D4-8429-4C00-841E-D3CCA36998B4}"/>
              </a:ext>
            </a:extLst>
          </p:cNvPr>
          <p:cNvSpPr>
            <a:spLocks xmlns:a="http://schemas.openxmlformats.org/drawingml/2006/main" noGrp="1"/>
          </p:cNvSpPr>
          <p:nvPr/>
        </p:nvSpPr>
        <p:spPr>
          <a:xfrm xmlns:a="http://schemas.openxmlformats.org/drawingml/2006/main">
            <a:off x="9220200" y="4410075"/>
            <a:ext cx="1428750" cy="323850"/>
          </a:xfrm>
          <a:prstGeom xmlns:a="http://schemas.openxmlformats.org/drawingml/2006/main" prst="roundRect">
            <a:avLst>
              <a:gd name="adj" fmla="val 47059"/>
            </a:avLst>
          </a:prstGeom>
          <a:solidFill xmlns:a="http://schemas.openxmlformats.org/drawingml/2006/main">
            <a:srgbClr val="FBE7D8"/>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21D3DD5D-C5EF-482A-BCB2-085504174E76}"/>
              </a:ext>
            </a:extLst>
          </p:cNvPr>
          <p:cNvSpPr>
            <a:spLocks xmlns:a="http://schemas.openxmlformats.org/drawingml/2006/main" noGrp="1"/>
          </p:cNvSpPr>
          <p:nvPr/>
        </p:nvSpPr>
        <p:spPr>
          <a:xfrm xmlns:a="http://schemas.openxmlformats.org/drawingml/2006/main">
            <a:off x="9315450" y="4448175"/>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8889"/>
          </a:bodyPr>
          <a:lstStyle xmlns:a="http://schemas.openxmlformats.org/drawingml/2006/main"/>
          <a:p xmlns:a="http://schemas.openxmlformats.org/drawingml/2006/main">
            <a:pPr algn="ctr">
              <a:defRPr sz="1125" b="1" i="0">
                <a:solidFill>
                  <a:srgbClr val="1B2B45"/>
                </a:solidFill>
                <a:latin typeface="Calibri"/>
                <a:ea typeface="Calibri"/>
                <a:cs typeface="Calibri"/>
              </a:defRPr>
            </a:pPr>
            <a:r>
              <a:rPr sz="1125" b="1" i="0">
                <a:solidFill>
                  <a:srgbClr val="1B2B45"/>
                </a:solidFill>
                <a:latin typeface="Calibri"/>
                <a:ea typeface="Calibri"/>
                <a:cs typeface="Calibri"/>
              </a:rPr>
              <a:t>Moderate</a:t>
            </a:r>
          </a:p>
        </p:txBody>
      </p:sp>
      <p:sp>
        <p:nvSpPr>
          <p:cNvPr id="27" name="">
            <a:extLst xmlns:a="http://schemas.openxmlformats.org/drawingml/2006/main">
              <a:ext uri="{FF2B5EF4-FFF2-40B4-BE49-F238E27FC236}">
                <a16:creationId xmlns:a16="http://schemas.microsoft.com/office/drawing/2014/main" id="{58DC01EC-A9E3-4EC1-AB38-B42A67262AF7}"/>
              </a:ext>
            </a:extLst>
          </p:cNvPr>
          <p:cNvSpPr>
            <a:spLocks xmlns:a="http://schemas.openxmlformats.org/drawingml/2006/main" noGrp="1"/>
          </p:cNvSpPr>
          <p:nvPr/>
        </p:nvSpPr>
        <p:spPr>
          <a:xfrm xmlns:a="http://schemas.openxmlformats.org/drawingml/2006/main">
            <a:off x="514350" y="5086350"/>
            <a:ext cx="10439400" cy="723900"/>
          </a:xfrm>
          <a:prstGeom xmlns:a="http://schemas.openxmlformats.org/drawingml/2006/main" prst="roundRect">
            <a:avLst>
              <a:gd name="adj" fmla="val 5263"/>
            </a:avLst>
          </a:prstGeom>
          <a:solidFill xmlns:a="http://schemas.openxmlformats.org/drawingml/2006/main">
            <a:srgbClr val="FFFFFF"/>
          </a:solidFill>
          <a:ln xmlns:a="http://schemas.openxmlformats.org/drawingml/2006/main" w="9525">
            <a:solidFill>
              <a:srgbClr val="E8ECF1"/>
            </a:solidFill>
            <a:prstDash val="solid"/>
          </a:ln>
        </p:spPr>
      </p:sp>
      <p:sp>
        <p:nvSpPr>
          <p:cNvPr id="28" name="">
            <a:extLst xmlns:a="http://schemas.openxmlformats.org/drawingml/2006/main">
              <a:ext uri="{FF2B5EF4-FFF2-40B4-BE49-F238E27FC236}">
                <a16:creationId xmlns:a16="http://schemas.microsoft.com/office/drawing/2014/main" id="{181AAFE1-C11E-48CD-A425-852049E01271}"/>
              </a:ext>
            </a:extLst>
          </p:cNvPr>
          <p:cNvSpPr>
            <a:spLocks xmlns:a="http://schemas.openxmlformats.org/drawingml/2006/main" noGrp="1"/>
          </p:cNvSpPr>
          <p:nvPr/>
        </p:nvSpPr>
        <p:spPr>
          <a:xfrm xmlns:a="http://schemas.openxmlformats.org/drawingml/2006/main">
            <a:off x="647700" y="5210175"/>
            <a:ext cx="400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1950" b="1" i="0">
                <a:solidFill>
                  <a:srgbClr val="F47A22"/>
                </a:solidFill>
                <a:latin typeface="Calibri"/>
                <a:ea typeface="Calibri"/>
                <a:cs typeface="Calibri"/>
              </a:defRPr>
            </a:pPr>
            <a:r>
              <a:rPr sz="1950" b="1" i="0">
                <a:solidFill>
                  <a:srgbClr val="F47A22"/>
                </a:solidFill>
                <a:latin typeface="Calibri"/>
                <a:ea typeface="Calibri"/>
                <a:cs typeface="Calibri"/>
              </a:rPr>
              <a:t>5</a:t>
            </a:r>
          </a:p>
        </p:txBody>
      </p:sp>
      <p:sp>
        <p:nvSpPr>
          <p:cNvPr id="29" name="">
            <a:extLst xmlns:a="http://schemas.openxmlformats.org/drawingml/2006/main">
              <a:ext uri="{FF2B5EF4-FFF2-40B4-BE49-F238E27FC236}">
                <a16:creationId xmlns:a16="http://schemas.microsoft.com/office/drawing/2014/main" id="{61527CA8-D520-4A61-95AF-DACF480DA9B9}"/>
              </a:ext>
            </a:extLst>
          </p:cNvPr>
          <p:cNvSpPr>
            <a:spLocks xmlns:a="http://schemas.openxmlformats.org/drawingml/2006/main" noGrp="1"/>
          </p:cNvSpPr>
          <p:nvPr/>
        </p:nvSpPr>
        <p:spPr>
          <a:xfrm xmlns:a="http://schemas.openxmlformats.org/drawingml/2006/main">
            <a:off x="1200150" y="5181600"/>
            <a:ext cx="523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500" b="1" i="0">
                <a:solidFill>
                  <a:srgbClr val="1B2B45"/>
                </a:solidFill>
                <a:latin typeface="Calibri"/>
                <a:ea typeface="Calibri"/>
                <a:cs typeface="Calibri"/>
              </a:defRPr>
            </a:pPr>
            <a:r>
              <a:rPr sz="1500" b="1" i="0">
                <a:solidFill>
                  <a:srgbClr val="1B2B45"/>
                </a:solidFill>
                <a:latin typeface="Calibri"/>
                <a:ea typeface="Calibri"/>
                <a:cs typeface="Calibri"/>
              </a:rPr>
              <a:t>Calling and messaging are the main recovery layer</a:t>
            </a:r>
          </a:p>
        </p:txBody>
      </p:sp>
      <p:sp>
        <p:nvSpPr>
          <p:cNvPr id="30" name="">
            <a:extLst xmlns:a="http://schemas.openxmlformats.org/drawingml/2006/main">
              <a:ext uri="{FF2B5EF4-FFF2-40B4-BE49-F238E27FC236}">
                <a16:creationId xmlns:a16="http://schemas.microsoft.com/office/drawing/2014/main" id="{6BCD784F-6054-4502-BB40-63D7B6E3AC31}"/>
              </a:ext>
            </a:extLst>
          </p:cNvPr>
          <p:cNvSpPr>
            <a:spLocks xmlns:a="http://schemas.openxmlformats.org/drawingml/2006/main" noGrp="1"/>
          </p:cNvSpPr>
          <p:nvPr/>
        </p:nvSpPr>
        <p:spPr>
          <a:xfrm xmlns:a="http://schemas.openxmlformats.org/drawingml/2006/main">
            <a:off x="1200150" y="5467350"/>
            <a:ext cx="685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200" b="0" i="0">
                <a:solidFill>
                  <a:srgbClr val="687489"/>
                </a:solidFill>
                <a:latin typeface="Calibri"/>
                <a:ea typeface="Calibri"/>
                <a:cs typeface="Calibri"/>
              </a:defRPr>
            </a:pPr>
            <a:r>
              <a:rPr sz="1200" b="0" i="0">
                <a:solidFill>
                  <a:srgbClr val="687489"/>
                </a:solidFill>
                <a:latin typeface="Calibri"/>
                <a:ea typeface="Calibri"/>
                <a:cs typeface="Calibri"/>
              </a:rPr>
              <a:t>20/28 said calling or messaging helped</a:t>
            </a:r>
          </a:p>
        </p:txBody>
      </p:sp>
      <p:sp>
        <p:nvSpPr>
          <p:cNvPr id="31" name="">
            <a:extLst xmlns:a="http://schemas.openxmlformats.org/drawingml/2006/main">
              <a:ext uri="{FF2B5EF4-FFF2-40B4-BE49-F238E27FC236}">
                <a16:creationId xmlns:a16="http://schemas.microsoft.com/office/drawing/2014/main" id="{AF32EAA9-A7CA-4363-81E8-11CE94A613DA}"/>
              </a:ext>
            </a:extLst>
          </p:cNvPr>
          <p:cNvSpPr>
            <a:spLocks xmlns:a="http://schemas.openxmlformats.org/drawingml/2006/main" noGrp="1"/>
          </p:cNvSpPr>
          <p:nvPr/>
        </p:nvSpPr>
        <p:spPr>
          <a:xfrm xmlns:a="http://schemas.openxmlformats.org/drawingml/2006/main">
            <a:off x="9220200" y="5276850"/>
            <a:ext cx="1428750" cy="323850"/>
          </a:xfrm>
          <a:prstGeom xmlns:a="http://schemas.openxmlformats.org/drawingml/2006/main" prst="roundRect">
            <a:avLst>
              <a:gd name="adj" fmla="val 47059"/>
            </a:avLst>
          </a:prstGeom>
          <a:solidFill xmlns:a="http://schemas.openxmlformats.org/drawingml/2006/main">
            <a:srgbClr val="E2F4F6"/>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43D66FE2-F21C-4642-8293-176D748337CE}"/>
              </a:ext>
            </a:extLst>
          </p:cNvPr>
          <p:cNvSpPr>
            <a:spLocks xmlns:a="http://schemas.openxmlformats.org/drawingml/2006/main" noGrp="1"/>
          </p:cNvSpPr>
          <p:nvPr/>
        </p:nvSpPr>
        <p:spPr>
          <a:xfrm xmlns:a="http://schemas.openxmlformats.org/drawingml/2006/main">
            <a:off x="9315450" y="531495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8889"/>
          </a:bodyPr>
          <a:lstStyle xmlns:a="http://schemas.openxmlformats.org/drawingml/2006/main"/>
          <a:p xmlns:a="http://schemas.openxmlformats.org/drawingml/2006/main">
            <a:pPr algn="ctr">
              <a:defRPr sz="1125" b="1" i="0">
                <a:solidFill>
                  <a:srgbClr val="1B2B45"/>
                </a:solidFill>
                <a:latin typeface="Calibri"/>
                <a:ea typeface="Calibri"/>
                <a:cs typeface="Calibri"/>
              </a:defRPr>
            </a:pPr>
            <a:r>
              <a:rPr sz="1125" b="1" i="0">
                <a:solidFill>
                  <a:srgbClr val="1B2B45"/>
                </a:solidFill>
                <a:latin typeface="Calibri"/>
                <a:ea typeface="Calibri"/>
                <a:cs typeface="Calibri"/>
              </a:rPr>
              <a:t>Strong</a:t>
            </a:r>
          </a:p>
        </p:txBody>
      </p:sp>
      <p:sp>
        <p:nvSpPr>
          <p:cNvPr id="33" name="">
            <a:extLst xmlns:a="http://schemas.openxmlformats.org/drawingml/2006/main">
              <a:ext uri="{FF2B5EF4-FFF2-40B4-BE49-F238E27FC236}">
                <a16:creationId xmlns:a16="http://schemas.microsoft.com/office/drawing/2014/main" id="{80F1ACA3-577C-421F-AA03-1327359D4270}"/>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 · Appendix</a:t>
            </a:r>
          </a:p>
        </p:txBody>
      </p:sp>
      <p:sp>
        <p:nvSpPr>
          <p:cNvPr id="34" name="">
            <a:extLst xmlns:a="http://schemas.openxmlformats.org/drawingml/2006/main">
              <a:ext uri="{FF2B5EF4-FFF2-40B4-BE49-F238E27FC236}">
                <a16:creationId xmlns:a16="http://schemas.microsoft.com/office/drawing/2014/main" id="{DB464F52-A89E-43AC-923A-FBB4341635EE}"/>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16</a:t>
            </a:r>
          </a:p>
        </p:txBody>
      </p:sp>
    </p:spTree>
    <p:extLst>
      <p:ext uri="{BB962C8B-B14F-4D97-AF65-F5344CB8AC3E}">
        <p14:creationId xmlns:p14="http://schemas.microsoft.com/office/powerpoint/2010/main" val="2110520119"/>
      </p:ext>
    </p:extLst>
  </p:cSld>
</p:sld>
</file>

<file path=ppt/slides/slide17.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BD26F853-1389-4AC6-AD76-0363FBBA4C99}"/>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APPENDIX · 2 · TOP 10 MOST RELEVANT INSIGHTS</a:t>
            </a:r>
          </a:p>
        </p:txBody>
      </p:sp>
      <p:sp>
        <p:nvSpPr>
          <p:cNvPr id="2" name="">
            <a:extLst xmlns:a="http://schemas.openxmlformats.org/drawingml/2006/main">
              <a:ext uri="{FF2B5EF4-FFF2-40B4-BE49-F238E27FC236}">
                <a16:creationId xmlns:a16="http://schemas.microsoft.com/office/drawing/2014/main" id="{5C415CF9-F4B2-4F21-B61F-1DC02D186B2D}"/>
              </a:ext>
            </a:extLst>
          </p:cNvPr>
          <p:cNvSpPr>
            <a:spLocks xmlns:a="http://schemas.openxmlformats.org/drawingml/2006/main" noGrp="1"/>
          </p:cNvSpPr>
          <p:nvPr/>
        </p:nvSpPr>
        <p:spPr>
          <a:xfrm xmlns:a="http://schemas.openxmlformats.org/drawingml/2006/main">
            <a:off x="514350" y="571500"/>
            <a:ext cx="1114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2140"/>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Insights 6–10: recovery burden, delay, cancellation, support, and identification</a:t>
            </a:r>
          </a:p>
        </p:txBody>
      </p:sp>
      <p:sp>
        <p:nvSpPr>
          <p:cNvPr id="3" name="">
            <a:extLst xmlns:a="http://schemas.openxmlformats.org/drawingml/2006/main">
              <a:ext uri="{FF2B5EF4-FFF2-40B4-BE49-F238E27FC236}">
                <a16:creationId xmlns:a16="http://schemas.microsoft.com/office/drawing/2014/main" id="{22FB1CD1-75F9-4358-9F9C-5D0CDE78999A}"/>
              </a:ext>
            </a:extLst>
          </p:cNvPr>
          <p:cNvSpPr>
            <a:spLocks xmlns:a="http://schemas.openxmlformats.org/drawingml/2006/main" noGrp="1"/>
          </p:cNvSpPr>
          <p:nvPr/>
        </p:nvSpPr>
        <p:spPr>
          <a:xfrm xmlns:a="http://schemas.openxmlformats.org/drawingml/2006/main">
            <a:off x="514350" y="1619250"/>
            <a:ext cx="10439400" cy="723900"/>
          </a:xfrm>
          <a:prstGeom xmlns:a="http://schemas.openxmlformats.org/drawingml/2006/main" prst="roundRect">
            <a:avLst>
              <a:gd name="adj" fmla="val 5263"/>
            </a:avLst>
          </a:prstGeom>
          <a:solidFill xmlns:a="http://schemas.openxmlformats.org/drawingml/2006/main">
            <a:srgbClr val="FFFFFF"/>
          </a:solidFill>
          <a:ln xmlns:a="http://schemas.openxmlformats.org/drawingml/2006/main" w="9525">
            <a:solidFill>
              <a:srgbClr val="E8ECF1"/>
            </a:solidFill>
            <a:prstDash val="solid"/>
          </a:ln>
        </p:spPr>
      </p:sp>
      <p:sp>
        <p:nvSpPr>
          <p:cNvPr id="4" name="">
            <a:extLst xmlns:a="http://schemas.openxmlformats.org/drawingml/2006/main">
              <a:ext uri="{FF2B5EF4-FFF2-40B4-BE49-F238E27FC236}">
                <a16:creationId xmlns:a16="http://schemas.microsoft.com/office/drawing/2014/main" id="{D625C026-B5DB-4AF7-80D5-E4DFD306F7AB}"/>
              </a:ext>
            </a:extLst>
          </p:cNvPr>
          <p:cNvSpPr>
            <a:spLocks xmlns:a="http://schemas.openxmlformats.org/drawingml/2006/main" noGrp="1"/>
          </p:cNvSpPr>
          <p:nvPr/>
        </p:nvSpPr>
        <p:spPr>
          <a:xfrm xmlns:a="http://schemas.openxmlformats.org/drawingml/2006/main">
            <a:off x="647700" y="1743075"/>
            <a:ext cx="400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1950" b="1" i="0">
                <a:solidFill>
                  <a:srgbClr val="F47A22"/>
                </a:solidFill>
                <a:latin typeface="Calibri"/>
                <a:ea typeface="Calibri"/>
                <a:cs typeface="Calibri"/>
              </a:defRPr>
            </a:pPr>
            <a:r>
              <a:rPr sz="1950" b="1" i="0">
                <a:solidFill>
                  <a:srgbClr val="F47A22"/>
                </a:solidFill>
                <a:latin typeface="Calibri"/>
                <a:ea typeface="Calibri"/>
                <a:cs typeface="Calibri"/>
              </a:rPr>
              <a:t>6</a:t>
            </a:r>
          </a:p>
        </p:txBody>
      </p:sp>
      <p:sp>
        <p:nvSpPr>
          <p:cNvPr id="5" name="">
            <a:extLst xmlns:a="http://schemas.openxmlformats.org/drawingml/2006/main">
              <a:ext uri="{FF2B5EF4-FFF2-40B4-BE49-F238E27FC236}">
                <a16:creationId xmlns:a16="http://schemas.microsoft.com/office/drawing/2014/main" id="{122BE436-A375-492A-A0DA-245F9DBF6013}"/>
              </a:ext>
            </a:extLst>
          </p:cNvPr>
          <p:cNvSpPr>
            <a:spLocks xmlns:a="http://schemas.openxmlformats.org/drawingml/2006/main" noGrp="1"/>
          </p:cNvSpPr>
          <p:nvPr/>
        </p:nvSpPr>
        <p:spPr>
          <a:xfrm xmlns:a="http://schemas.openxmlformats.org/drawingml/2006/main">
            <a:off x="1200150" y="1714500"/>
            <a:ext cx="523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500" b="1" i="0">
                <a:solidFill>
                  <a:srgbClr val="1B2B45"/>
                </a:solidFill>
                <a:latin typeface="Calibri"/>
                <a:ea typeface="Calibri"/>
                <a:cs typeface="Calibri"/>
              </a:defRPr>
            </a:pPr>
            <a:r>
              <a:rPr sz="1500" b="1" i="0">
                <a:solidFill>
                  <a:srgbClr val="1B2B45"/>
                </a:solidFill>
                <a:latin typeface="Calibri"/>
                <a:ea typeface="Calibri"/>
                <a:cs typeface="Calibri"/>
              </a:rPr>
              <a:t>The rider often absorbs the recovery effort</a:t>
            </a:r>
          </a:p>
        </p:txBody>
      </p:sp>
      <p:sp>
        <p:nvSpPr>
          <p:cNvPr id="6" name="">
            <a:extLst xmlns:a="http://schemas.openxmlformats.org/drawingml/2006/main">
              <a:ext uri="{FF2B5EF4-FFF2-40B4-BE49-F238E27FC236}">
                <a16:creationId xmlns:a16="http://schemas.microsoft.com/office/drawing/2014/main" id="{659A127C-5330-4CD7-8FFB-0892EE5BC238}"/>
              </a:ext>
            </a:extLst>
          </p:cNvPr>
          <p:cNvSpPr>
            <a:spLocks xmlns:a="http://schemas.openxmlformats.org/drawingml/2006/main" noGrp="1"/>
          </p:cNvSpPr>
          <p:nvPr/>
        </p:nvSpPr>
        <p:spPr>
          <a:xfrm xmlns:a="http://schemas.openxmlformats.org/drawingml/2006/main">
            <a:off x="1200150" y="2000250"/>
            <a:ext cx="685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200" b="0" i="0">
                <a:solidFill>
                  <a:srgbClr val="687489"/>
                </a:solidFill>
                <a:latin typeface="Calibri"/>
                <a:ea typeface="Calibri"/>
                <a:cs typeface="Calibri"/>
              </a:defRPr>
            </a:pPr>
            <a:r>
              <a:rPr sz="1200" b="0" i="0">
                <a:solidFill>
                  <a:srgbClr val="687489"/>
                </a:solidFill>
                <a:latin typeface="Calibri"/>
                <a:ea typeface="Calibri"/>
                <a:cs typeface="Calibri"/>
              </a:rPr>
              <a:t>Waited 9; moved 8; driver moved helped 3</a:t>
            </a:r>
          </a:p>
        </p:txBody>
      </p:sp>
      <p:sp>
        <p:nvSpPr>
          <p:cNvPr id="7" name="">
            <a:extLst xmlns:a="http://schemas.openxmlformats.org/drawingml/2006/main">
              <a:ext uri="{FF2B5EF4-FFF2-40B4-BE49-F238E27FC236}">
                <a16:creationId xmlns:a16="http://schemas.microsoft.com/office/drawing/2014/main" id="{D137EF7B-B3A2-43CB-9FFE-ED7D0A72C443}"/>
              </a:ext>
            </a:extLst>
          </p:cNvPr>
          <p:cNvSpPr>
            <a:spLocks xmlns:a="http://schemas.openxmlformats.org/drawingml/2006/main" noGrp="1"/>
          </p:cNvSpPr>
          <p:nvPr/>
        </p:nvSpPr>
        <p:spPr>
          <a:xfrm xmlns:a="http://schemas.openxmlformats.org/drawingml/2006/main">
            <a:off x="9220200" y="1809750"/>
            <a:ext cx="1428750" cy="323850"/>
          </a:xfrm>
          <a:prstGeom xmlns:a="http://schemas.openxmlformats.org/drawingml/2006/main" prst="roundRect">
            <a:avLst>
              <a:gd name="adj" fmla="val 47059"/>
            </a:avLst>
          </a:prstGeom>
          <a:solidFill xmlns:a="http://schemas.openxmlformats.org/drawingml/2006/main">
            <a:srgbClr val="FBE7D8"/>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69340225-9259-4719-95B3-23CEA5135278}"/>
              </a:ext>
            </a:extLst>
          </p:cNvPr>
          <p:cNvSpPr>
            <a:spLocks xmlns:a="http://schemas.openxmlformats.org/drawingml/2006/main" noGrp="1"/>
          </p:cNvSpPr>
          <p:nvPr/>
        </p:nvSpPr>
        <p:spPr>
          <a:xfrm xmlns:a="http://schemas.openxmlformats.org/drawingml/2006/main">
            <a:off x="9315450" y="184785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8889"/>
          </a:bodyPr>
          <a:lstStyle xmlns:a="http://schemas.openxmlformats.org/drawingml/2006/main"/>
          <a:p xmlns:a="http://schemas.openxmlformats.org/drawingml/2006/main">
            <a:pPr algn="ctr">
              <a:defRPr sz="1125" b="1" i="0">
                <a:solidFill>
                  <a:srgbClr val="1B2B45"/>
                </a:solidFill>
                <a:latin typeface="Calibri"/>
                <a:ea typeface="Calibri"/>
                <a:cs typeface="Calibri"/>
              </a:defRPr>
            </a:pPr>
            <a:r>
              <a:rPr sz="1125" b="1" i="0">
                <a:solidFill>
                  <a:srgbClr val="1B2B45"/>
                </a:solidFill>
                <a:latin typeface="Calibri"/>
                <a:ea typeface="Calibri"/>
                <a:cs typeface="Calibri"/>
              </a:rPr>
              <a:t>Moderate</a:t>
            </a:r>
          </a:p>
        </p:txBody>
      </p:sp>
      <p:sp>
        <p:nvSpPr>
          <p:cNvPr id="9" name="">
            <a:extLst xmlns:a="http://schemas.openxmlformats.org/drawingml/2006/main">
              <a:ext uri="{FF2B5EF4-FFF2-40B4-BE49-F238E27FC236}">
                <a16:creationId xmlns:a16="http://schemas.microsoft.com/office/drawing/2014/main" id="{622A2A2F-C114-4528-A6F9-E289B33EB69E}"/>
              </a:ext>
            </a:extLst>
          </p:cNvPr>
          <p:cNvSpPr>
            <a:spLocks xmlns:a="http://schemas.openxmlformats.org/drawingml/2006/main" noGrp="1"/>
          </p:cNvSpPr>
          <p:nvPr/>
        </p:nvSpPr>
        <p:spPr>
          <a:xfrm xmlns:a="http://schemas.openxmlformats.org/drawingml/2006/main">
            <a:off x="514350" y="2486025"/>
            <a:ext cx="10439400" cy="723900"/>
          </a:xfrm>
          <a:prstGeom xmlns:a="http://schemas.openxmlformats.org/drawingml/2006/main" prst="roundRect">
            <a:avLst>
              <a:gd name="adj" fmla="val 5263"/>
            </a:avLst>
          </a:prstGeom>
          <a:solidFill xmlns:a="http://schemas.openxmlformats.org/drawingml/2006/main">
            <a:srgbClr val="FFFFFF"/>
          </a:solidFill>
          <a:ln xmlns:a="http://schemas.openxmlformats.org/drawingml/2006/main" w="9525">
            <a:solidFill>
              <a:srgbClr val="E8ECF1"/>
            </a:solidFill>
            <a:prstDash val="solid"/>
          </a:ln>
        </p:spPr>
      </p:sp>
      <p:sp>
        <p:nvSpPr>
          <p:cNvPr id="10" name="">
            <a:extLst xmlns:a="http://schemas.openxmlformats.org/drawingml/2006/main">
              <a:ext uri="{FF2B5EF4-FFF2-40B4-BE49-F238E27FC236}">
                <a16:creationId xmlns:a16="http://schemas.microsoft.com/office/drawing/2014/main" id="{87E1A464-AA5B-40A0-A7B5-21C8B285C943}"/>
              </a:ext>
            </a:extLst>
          </p:cNvPr>
          <p:cNvSpPr>
            <a:spLocks xmlns:a="http://schemas.openxmlformats.org/drawingml/2006/main" noGrp="1"/>
          </p:cNvSpPr>
          <p:nvPr/>
        </p:nvSpPr>
        <p:spPr>
          <a:xfrm xmlns:a="http://schemas.openxmlformats.org/drawingml/2006/main">
            <a:off x="647700" y="2609850"/>
            <a:ext cx="400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1950" b="1" i="0">
                <a:solidFill>
                  <a:srgbClr val="F47A22"/>
                </a:solidFill>
                <a:latin typeface="Calibri"/>
                <a:ea typeface="Calibri"/>
                <a:cs typeface="Calibri"/>
              </a:defRPr>
            </a:pPr>
            <a:r>
              <a:rPr sz="1950" b="1" i="0">
                <a:solidFill>
                  <a:srgbClr val="F47A22"/>
                </a:solidFill>
                <a:latin typeface="Calibri"/>
                <a:ea typeface="Calibri"/>
                <a:cs typeface="Calibri"/>
              </a:rPr>
              <a:t>7</a:t>
            </a:r>
          </a:p>
        </p:txBody>
      </p:sp>
      <p:sp>
        <p:nvSpPr>
          <p:cNvPr id="11" name="">
            <a:extLst xmlns:a="http://schemas.openxmlformats.org/drawingml/2006/main">
              <a:ext uri="{FF2B5EF4-FFF2-40B4-BE49-F238E27FC236}">
                <a16:creationId xmlns:a16="http://schemas.microsoft.com/office/drawing/2014/main" id="{7603E523-D756-4CB7-B17C-C4ACECFAAE44}"/>
              </a:ext>
            </a:extLst>
          </p:cNvPr>
          <p:cNvSpPr>
            <a:spLocks xmlns:a="http://schemas.openxmlformats.org/drawingml/2006/main" noGrp="1"/>
          </p:cNvSpPr>
          <p:nvPr/>
        </p:nvSpPr>
        <p:spPr>
          <a:xfrm xmlns:a="http://schemas.openxmlformats.org/drawingml/2006/main">
            <a:off x="1200150" y="2581275"/>
            <a:ext cx="523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500" b="1" i="0">
                <a:solidFill>
                  <a:srgbClr val="1B2B45"/>
                </a:solidFill>
                <a:latin typeface="Calibri"/>
                <a:ea typeface="Calibri"/>
                <a:cs typeface="Calibri"/>
              </a:defRPr>
            </a:pPr>
            <a:r>
              <a:rPr sz="1500" b="1" i="0">
                <a:solidFill>
                  <a:srgbClr val="1B2B45"/>
                </a:solidFill>
                <a:latin typeface="Calibri"/>
                <a:ea typeface="Calibri"/>
                <a:cs typeface="Calibri"/>
              </a:rPr>
              <a:t>Pickup failures can create material delay</a:t>
            </a:r>
          </a:p>
        </p:txBody>
      </p:sp>
      <p:sp>
        <p:nvSpPr>
          <p:cNvPr id="12" name="">
            <a:extLst xmlns:a="http://schemas.openxmlformats.org/drawingml/2006/main">
              <a:ext uri="{FF2B5EF4-FFF2-40B4-BE49-F238E27FC236}">
                <a16:creationId xmlns:a16="http://schemas.microsoft.com/office/drawing/2014/main" id="{50EC9BAA-9FFC-459F-ADB1-D0F4D41C3B5A}"/>
              </a:ext>
            </a:extLst>
          </p:cNvPr>
          <p:cNvSpPr>
            <a:spLocks xmlns:a="http://schemas.openxmlformats.org/drawingml/2006/main" noGrp="1"/>
          </p:cNvSpPr>
          <p:nvPr/>
        </p:nvSpPr>
        <p:spPr>
          <a:xfrm xmlns:a="http://schemas.openxmlformats.org/drawingml/2006/main">
            <a:off x="1200150" y="2867025"/>
            <a:ext cx="685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200" b="0" i="0">
                <a:solidFill>
                  <a:srgbClr val="687489"/>
                </a:solidFill>
                <a:latin typeface="Calibri"/>
                <a:ea typeface="Calibri"/>
                <a:cs typeface="Calibri"/>
              </a:defRPr>
            </a:pPr>
            <a:r>
              <a:rPr sz="1200" b="0" i="0">
                <a:solidFill>
                  <a:srgbClr val="687489"/>
                </a:solidFill>
                <a:latin typeface="Calibri"/>
                <a:ea typeface="Calibri"/>
                <a:cs typeface="Calibri"/>
              </a:rPr>
              <a:t>7/10 time-tagged cases exceeded five minutes</a:t>
            </a:r>
          </a:p>
        </p:txBody>
      </p:sp>
      <p:sp>
        <p:nvSpPr>
          <p:cNvPr id="13" name="">
            <a:extLst xmlns:a="http://schemas.openxmlformats.org/drawingml/2006/main">
              <a:ext uri="{FF2B5EF4-FFF2-40B4-BE49-F238E27FC236}">
                <a16:creationId xmlns:a16="http://schemas.microsoft.com/office/drawing/2014/main" id="{F38642E7-FDF9-4FAF-9C3C-BF12253A311D}"/>
              </a:ext>
            </a:extLst>
          </p:cNvPr>
          <p:cNvSpPr>
            <a:spLocks xmlns:a="http://schemas.openxmlformats.org/drawingml/2006/main" noGrp="1"/>
          </p:cNvSpPr>
          <p:nvPr/>
        </p:nvSpPr>
        <p:spPr>
          <a:xfrm xmlns:a="http://schemas.openxmlformats.org/drawingml/2006/main">
            <a:off x="9220200" y="2676525"/>
            <a:ext cx="1428750" cy="323850"/>
          </a:xfrm>
          <a:prstGeom xmlns:a="http://schemas.openxmlformats.org/drawingml/2006/main" prst="roundRect">
            <a:avLst>
              <a:gd name="adj" fmla="val 47059"/>
            </a:avLst>
          </a:prstGeom>
          <a:solidFill xmlns:a="http://schemas.openxmlformats.org/drawingml/2006/main">
            <a:srgbClr val="FBE7D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03E88340-6CB9-418A-93E9-13E9918AA667}"/>
              </a:ext>
            </a:extLst>
          </p:cNvPr>
          <p:cNvSpPr>
            <a:spLocks xmlns:a="http://schemas.openxmlformats.org/drawingml/2006/main" noGrp="1"/>
          </p:cNvSpPr>
          <p:nvPr/>
        </p:nvSpPr>
        <p:spPr>
          <a:xfrm xmlns:a="http://schemas.openxmlformats.org/drawingml/2006/main">
            <a:off x="9315450" y="2714625"/>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8889"/>
          </a:bodyPr>
          <a:lstStyle xmlns:a="http://schemas.openxmlformats.org/drawingml/2006/main"/>
          <a:p xmlns:a="http://schemas.openxmlformats.org/drawingml/2006/main">
            <a:pPr algn="ctr">
              <a:defRPr sz="1125" b="1" i="0">
                <a:solidFill>
                  <a:srgbClr val="1B2B45"/>
                </a:solidFill>
                <a:latin typeface="Calibri"/>
                <a:ea typeface="Calibri"/>
                <a:cs typeface="Calibri"/>
              </a:defRPr>
            </a:pPr>
            <a:r>
              <a:rPr sz="1125" b="1" i="0">
                <a:solidFill>
                  <a:srgbClr val="1B2B45"/>
                </a:solidFill>
                <a:latin typeface="Calibri"/>
                <a:ea typeface="Calibri"/>
                <a:cs typeface="Calibri"/>
              </a:rPr>
              <a:t>Moderate</a:t>
            </a:r>
          </a:p>
        </p:txBody>
      </p:sp>
      <p:sp>
        <p:nvSpPr>
          <p:cNvPr id="15" name="">
            <a:extLst xmlns:a="http://schemas.openxmlformats.org/drawingml/2006/main">
              <a:ext uri="{FF2B5EF4-FFF2-40B4-BE49-F238E27FC236}">
                <a16:creationId xmlns:a16="http://schemas.microsoft.com/office/drawing/2014/main" id="{69AC7D7E-6AD7-4190-94CC-914100CBEC39}"/>
              </a:ext>
            </a:extLst>
          </p:cNvPr>
          <p:cNvSpPr>
            <a:spLocks xmlns:a="http://schemas.openxmlformats.org/drawingml/2006/main" noGrp="1"/>
          </p:cNvSpPr>
          <p:nvPr/>
        </p:nvSpPr>
        <p:spPr>
          <a:xfrm xmlns:a="http://schemas.openxmlformats.org/drawingml/2006/main">
            <a:off x="514350" y="3352800"/>
            <a:ext cx="10439400" cy="723900"/>
          </a:xfrm>
          <a:prstGeom xmlns:a="http://schemas.openxmlformats.org/drawingml/2006/main" prst="roundRect">
            <a:avLst>
              <a:gd name="adj" fmla="val 5263"/>
            </a:avLst>
          </a:prstGeom>
          <a:solidFill xmlns:a="http://schemas.openxmlformats.org/drawingml/2006/main">
            <a:srgbClr val="FFFFFF"/>
          </a:solidFill>
          <a:ln xmlns:a="http://schemas.openxmlformats.org/drawingml/2006/main" w="9525">
            <a:solidFill>
              <a:srgbClr val="E8ECF1"/>
            </a:solidFill>
            <a:prstDash val="solid"/>
          </a:ln>
        </p:spPr>
      </p:sp>
      <p:sp>
        <p:nvSpPr>
          <p:cNvPr id="16" name="">
            <a:extLst xmlns:a="http://schemas.openxmlformats.org/drawingml/2006/main">
              <a:ext uri="{FF2B5EF4-FFF2-40B4-BE49-F238E27FC236}">
                <a16:creationId xmlns:a16="http://schemas.microsoft.com/office/drawing/2014/main" id="{7655F032-62D7-45A5-96B4-998256A66724}"/>
              </a:ext>
            </a:extLst>
          </p:cNvPr>
          <p:cNvSpPr>
            <a:spLocks xmlns:a="http://schemas.openxmlformats.org/drawingml/2006/main" noGrp="1"/>
          </p:cNvSpPr>
          <p:nvPr/>
        </p:nvSpPr>
        <p:spPr>
          <a:xfrm xmlns:a="http://schemas.openxmlformats.org/drawingml/2006/main">
            <a:off x="647700" y="3476625"/>
            <a:ext cx="400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1950" b="1" i="0">
                <a:solidFill>
                  <a:srgbClr val="F47A22"/>
                </a:solidFill>
                <a:latin typeface="Calibri"/>
                <a:ea typeface="Calibri"/>
                <a:cs typeface="Calibri"/>
              </a:defRPr>
            </a:pPr>
            <a:r>
              <a:rPr sz="1950" b="1" i="0">
                <a:solidFill>
                  <a:srgbClr val="F47A22"/>
                </a:solidFill>
                <a:latin typeface="Calibri"/>
                <a:ea typeface="Calibri"/>
                <a:cs typeface="Calibri"/>
              </a:rPr>
              <a:t>8</a:t>
            </a:r>
          </a:p>
        </p:txBody>
      </p:sp>
      <p:sp>
        <p:nvSpPr>
          <p:cNvPr id="17" name="">
            <a:extLst xmlns:a="http://schemas.openxmlformats.org/drawingml/2006/main">
              <a:ext uri="{FF2B5EF4-FFF2-40B4-BE49-F238E27FC236}">
                <a16:creationId xmlns:a16="http://schemas.microsoft.com/office/drawing/2014/main" id="{9CF2101B-7BF2-4185-A83E-AE1B70890E2D}"/>
              </a:ext>
            </a:extLst>
          </p:cNvPr>
          <p:cNvSpPr>
            <a:spLocks xmlns:a="http://schemas.openxmlformats.org/drawingml/2006/main" noGrp="1"/>
          </p:cNvSpPr>
          <p:nvPr/>
        </p:nvSpPr>
        <p:spPr>
          <a:xfrm xmlns:a="http://schemas.openxmlformats.org/drawingml/2006/main">
            <a:off x="1200150" y="3448050"/>
            <a:ext cx="523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500" b="1" i="0">
                <a:solidFill>
                  <a:srgbClr val="1B2B45"/>
                </a:solidFill>
                <a:latin typeface="Calibri"/>
                <a:ea typeface="Calibri"/>
                <a:cs typeface="Calibri"/>
              </a:defRPr>
            </a:pPr>
            <a:r>
              <a:rPr sz="1500" b="1" i="0">
                <a:solidFill>
                  <a:srgbClr val="1B2B45"/>
                </a:solidFill>
                <a:latin typeface="Calibri"/>
                <a:ea typeface="Calibri"/>
                <a:cs typeface="Calibri"/>
              </a:rPr>
              <a:t>Cancellation is related but multi-causal</a:t>
            </a:r>
          </a:p>
        </p:txBody>
      </p:sp>
      <p:sp>
        <p:nvSpPr>
          <p:cNvPr id="18" name="">
            <a:extLst xmlns:a="http://schemas.openxmlformats.org/drawingml/2006/main">
              <a:ext uri="{FF2B5EF4-FFF2-40B4-BE49-F238E27FC236}">
                <a16:creationId xmlns:a16="http://schemas.microsoft.com/office/drawing/2014/main" id="{E3D1815D-036B-4B39-A6C1-9798386E23EB}"/>
              </a:ext>
            </a:extLst>
          </p:cNvPr>
          <p:cNvSpPr>
            <a:spLocks xmlns:a="http://schemas.openxmlformats.org/drawingml/2006/main" noGrp="1"/>
          </p:cNvSpPr>
          <p:nvPr/>
        </p:nvSpPr>
        <p:spPr>
          <a:xfrm xmlns:a="http://schemas.openxmlformats.org/drawingml/2006/main">
            <a:off x="1200150" y="3733800"/>
            <a:ext cx="685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200" b="0" i="0">
                <a:solidFill>
                  <a:srgbClr val="687489"/>
                </a:solidFill>
                <a:latin typeface="Calibri"/>
                <a:ea typeface="Calibri"/>
                <a:cs typeface="Calibri"/>
              </a:defRPr>
            </a:pPr>
            <a:r>
              <a:rPr sz="1200" b="0" i="0">
                <a:solidFill>
                  <a:srgbClr val="687489"/>
                </a:solidFill>
                <a:latin typeface="Calibri"/>
                <a:ea typeface="Calibri"/>
                <a:cs typeface="Calibri"/>
              </a:rPr>
              <a:t>Location overlaps with destination, fare, payment, and rain</a:t>
            </a:r>
          </a:p>
        </p:txBody>
      </p:sp>
      <p:sp>
        <p:nvSpPr>
          <p:cNvPr id="19" name="">
            <a:extLst xmlns:a="http://schemas.openxmlformats.org/drawingml/2006/main">
              <a:ext uri="{FF2B5EF4-FFF2-40B4-BE49-F238E27FC236}">
                <a16:creationId xmlns:a16="http://schemas.microsoft.com/office/drawing/2014/main" id="{E872E551-96B8-4D4A-84C7-B6C6A980B4B0}"/>
              </a:ext>
            </a:extLst>
          </p:cNvPr>
          <p:cNvSpPr>
            <a:spLocks xmlns:a="http://schemas.openxmlformats.org/drawingml/2006/main" noGrp="1"/>
          </p:cNvSpPr>
          <p:nvPr/>
        </p:nvSpPr>
        <p:spPr>
          <a:xfrm xmlns:a="http://schemas.openxmlformats.org/drawingml/2006/main">
            <a:off x="9220200" y="3543300"/>
            <a:ext cx="1428750" cy="323850"/>
          </a:xfrm>
          <a:prstGeom xmlns:a="http://schemas.openxmlformats.org/drawingml/2006/main" prst="roundRect">
            <a:avLst>
              <a:gd name="adj" fmla="val 47059"/>
            </a:avLst>
          </a:prstGeom>
          <a:solidFill xmlns:a="http://schemas.openxmlformats.org/drawingml/2006/main">
            <a:srgbClr val="FBE7D8"/>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7D0519C5-5A79-4736-A006-38CF2069ABF1}"/>
              </a:ext>
            </a:extLst>
          </p:cNvPr>
          <p:cNvSpPr>
            <a:spLocks xmlns:a="http://schemas.openxmlformats.org/drawingml/2006/main" noGrp="1"/>
          </p:cNvSpPr>
          <p:nvPr/>
        </p:nvSpPr>
        <p:spPr>
          <a:xfrm xmlns:a="http://schemas.openxmlformats.org/drawingml/2006/main">
            <a:off x="9315450" y="3581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8889"/>
          </a:bodyPr>
          <a:lstStyle xmlns:a="http://schemas.openxmlformats.org/drawingml/2006/main"/>
          <a:p xmlns:a="http://schemas.openxmlformats.org/drawingml/2006/main">
            <a:pPr algn="ctr">
              <a:defRPr sz="1125" b="1" i="0">
                <a:solidFill>
                  <a:srgbClr val="1B2B45"/>
                </a:solidFill>
                <a:latin typeface="Calibri"/>
                <a:ea typeface="Calibri"/>
                <a:cs typeface="Calibri"/>
              </a:defRPr>
            </a:pPr>
            <a:r>
              <a:rPr sz="1125" b="1" i="0">
                <a:solidFill>
                  <a:srgbClr val="1B2B45"/>
                </a:solidFill>
                <a:latin typeface="Calibri"/>
                <a:ea typeface="Calibri"/>
                <a:cs typeface="Calibri"/>
              </a:rPr>
              <a:t>Moderate</a:t>
            </a:r>
          </a:p>
        </p:txBody>
      </p:sp>
      <p:sp>
        <p:nvSpPr>
          <p:cNvPr id="21" name="">
            <a:extLst xmlns:a="http://schemas.openxmlformats.org/drawingml/2006/main">
              <a:ext uri="{FF2B5EF4-FFF2-40B4-BE49-F238E27FC236}">
                <a16:creationId xmlns:a16="http://schemas.microsoft.com/office/drawing/2014/main" id="{3048BB98-FA5C-43BB-BECA-4681792EE7AB}"/>
              </a:ext>
            </a:extLst>
          </p:cNvPr>
          <p:cNvSpPr>
            <a:spLocks xmlns:a="http://schemas.openxmlformats.org/drawingml/2006/main" noGrp="1"/>
          </p:cNvSpPr>
          <p:nvPr/>
        </p:nvSpPr>
        <p:spPr>
          <a:xfrm xmlns:a="http://schemas.openxmlformats.org/drawingml/2006/main">
            <a:off x="514350" y="4219575"/>
            <a:ext cx="10439400" cy="723900"/>
          </a:xfrm>
          <a:prstGeom xmlns:a="http://schemas.openxmlformats.org/drawingml/2006/main" prst="roundRect">
            <a:avLst>
              <a:gd name="adj" fmla="val 5263"/>
            </a:avLst>
          </a:prstGeom>
          <a:solidFill xmlns:a="http://schemas.openxmlformats.org/drawingml/2006/main">
            <a:srgbClr val="FFFFFF"/>
          </a:solidFill>
          <a:ln xmlns:a="http://schemas.openxmlformats.org/drawingml/2006/main" w="9525">
            <a:solidFill>
              <a:srgbClr val="E8ECF1"/>
            </a:solidFill>
            <a:prstDash val="solid"/>
          </a:ln>
        </p:spPr>
      </p:sp>
      <p:sp>
        <p:nvSpPr>
          <p:cNvPr id="22" name="">
            <a:extLst xmlns:a="http://schemas.openxmlformats.org/drawingml/2006/main">
              <a:ext uri="{FF2B5EF4-FFF2-40B4-BE49-F238E27FC236}">
                <a16:creationId xmlns:a16="http://schemas.microsoft.com/office/drawing/2014/main" id="{8A7A8D97-768F-49B8-9F3E-8EEF0404148D}"/>
              </a:ext>
            </a:extLst>
          </p:cNvPr>
          <p:cNvSpPr>
            <a:spLocks xmlns:a="http://schemas.openxmlformats.org/drawingml/2006/main" noGrp="1"/>
          </p:cNvSpPr>
          <p:nvPr/>
        </p:nvSpPr>
        <p:spPr>
          <a:xfrm xmlns:a="http://schemas.openxmlformats.org/drawingml/2006/main">
            <a:off x="647700" y="4343400"/>
            <a:ext cx="400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1950" b="1" i="0">
                <a:solidFill>
                  <a:srgbClr val="F47A22"/>
                </a:solidFill>
                <a:latin typeface="Calibri"/>
                <a:ea typeface="Calibri"/>
                <a:cs typeface="Calibri"/>
              </a:defRPr>
            </a:pPr>
            <a:r>
              <a:rPr sz="1950" b="1" i="0">
                <a:solidFill>
                  <a:srgbClr val="F47A22"/>
                </a:solidFill>
                <a:latin typeface="Calibri"/>
                <a:ea typeface="Calibri"/>
                <a:cs typeface="Calibri"/>
              </a:rPr>
              <a:t>9</a:t>
            </a:r>
          </a:p>
        </p:txBody>
      </p:sp>
      <p:sp>
        <p:nvSpPr>
          <p:cNvPr id="23" name="">
            <a:extLst xmlns:a="http://schemas.openxmlformats.org/drawingml/2006/main">
              <a:ext uri="{FF2B5EF4-FFF2-40B4-BE49-F238E27FC236}">
                <a16:creationId xmlns:a16="http://schemas.microsoft.com/office/drawing/2014/main" id="{3B7960B9-9E40-4A3D-A2A6-65C551AD9E12}"/>
              </a:ext>
            </a:extLst>
          </p:cNvPr>
          <p:cNvSpPr>
            <a:spLocks xmlns:a="http://schemas.openxmlformats.org/drawingml/2006/main" noGrp="1"/>
          </p:cNvSpPr>
          <p:nvPr/>
        </p:nvSpPr>
        <p:spPr>
          <a:xfrm xmlns:a="http://schemas.openxmlformats.org/drawingml/2006/main">
            <a:off x="1200150" y="4314825"/>
            <a:ext cx="523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500" b="1" i="0">
                <a:solidFill>
                  <a:srgbClr val="1B2B45"/>
                </a:solidFill>
                <a:latin typeface="Calibri"/>
                <a:ea typeface="Calibri"/>
                <a:cs typeface="Calibri"/>
              </a:defRPr>
            </a:pPr>
            <a:r>
              <a:rPr sz="1500" b="1" i="0">
                <a:solidFill>
                  <a:srgbClr val="1B2B45"/>
                </a:solidFill>
                <a:latin typeface="Calibri"/>
                <a:ea typeface="Calibri"/>
                <a:cs typeface="Calibri"/>
              </a:rPr>
              <a:t>Some respondents found no effective recovery</a:t>
            </a:r>
          </a:p>
        </p:txBody>
      </p:sp>
      <p:sp>
        <p:nvSpPr>
          <p:cNvPr id="24" name="">
            <a:extLst xmlns:a="http://schemas.openxmlformats.org/drawingml/2006/main">
              <a:ext uri="{FF2B5EF4-FFF2-40B4-BE49-F238E27FC236}">
                <a16:creationId xmlns:a16="http://schemas.microsoft.com/office/drawing/2014/main" id="{BCE7D6F5-F570-485E-B78B-E198230C8262}"/>
              </a:ext>
            </a:extLst>
          </p:cNvPr>
          <p:cNvSpPr>
            <a:spLocks xmlns:a="http://schemas.openxmlformats.org/drawingml/2006/main" noGrp="1"/>
          </p:cNvSpPr>
          <p:nvPr/>
        </p:nvSpPr>
        <p:spPr>
          <a:xfrm xmlns:a="http://schemas.openxmlformats.org/drawingml/2006/main">
            <a:off x="1200150" y="4600575"/>
            <a:ext cx="685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200" b="0" i="0">
                <a:solidFill>
                  <a:srgbClr val="687489"/>
                </a:solidFill>
                <a:latin typeface="Calibri"/>
                <a:ea typeface="Calibri"/>
                <a:cs typeface="Calibri"/>
              </a:defRPr>
            </a:pPr>
            <a:r>
              <a:rPr sz="1200" b="0" i="0">
                <a:solidFill>
                  <a:srgbClr val="687489"/>
                </a:solidFill>
                <a:latin typeface="Calibri"/>
                <a:ea typeface="Calibri"/>
                <a:cs typeface="Calibri"/>
              </a:rPr>
              <a:t>6/28 selected nothing helped</a:t>
            </a:r>
          </a:p>
        </p:txBody>
      </p:sp>
      <p:sp>
        <p:nvSpPr>
          <p:cNvPr id="25" name="">
            <a:extLst xmlns:a="http://schemas.openxmlformats.org/drawingml/2006/main">
              <a:ext uri="{FF2B5EF4-FFF2-40B4-BE49-F238E27FC236}">
                <a16:creationId xmlns:a16="http://schemas.microsoft.com/office/drawing/2014/main" id="{DEEAA722-3FBC-4165-AFD5-9883FC3836C0}"/>
              </a:ext>
            </a:extLst>
          </p:cNvPr>
          <p:cNvSpPr>
            <a:spLocks xmlns:a="http://schemas.openxmlformats.org/drawingml/2006/main" noGrp="1"/>
          </p:cNvSpPr>
          <p:nvPr/>
        </p:nvSpPr>
        <p:spPr>
          <a:xfrm xmlns:a="http://schemas.openxmlformats.org/drawingml/2006/main">
            <a:off x="9220200" y="4410075"/>
            <a:ext cx="1428750" cy="323850"/>
          </a:xfrm>
          <a:prstGeom xmlns:a="http://schemas.openxmlformats.org/drawingml/2006/main" prst="roundRect">
            <a:avLst>
              <a:gd name="adj" fmla="val 47059"/>
            </a:avLst>
          </a:prstGeom>
          <a:solidFill xmlns:a="http://schemas.openxmlformats.org/drawingml/2006/main">
            <a:srgbClr val="FBE7D8"/>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8785BC60-E7E0-43D5-B6B4-EA2EE4417633}"/>
              </a:ext>
            </a:extLst>
          </p:cNvPr>
          <p:cNvSpPr>
            <a:spLocks xmlns:a="http://schemas.openxmlformats.org/drawingml/2006/main" noGrp="1"/>
          </p:cNvSpPr>
          <p:nvPr/>
        </p:nvSpPr>
        <p:spPr>
          <a:xfrm xmlns:a="http://schemas.openxmlformats.org/drawingml/2006/main">
            <a:off x="9315450" y="4448175"/>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8889"/>
          </a:bodyPr>
          <a:lstStyle xmlns:a="http://schemas.openxmlformats.org/drawingml/2006/main"/>
          <a:p xmlns:a="http://schemas.openxmlformats.org/drawingml/2006/main">
            <a:pPr algn="ctr">
              <a:defRPr sz="1125" b="1" i="0">
                <a:solidFill>
                  <a:srgbClr val="1B2B45"/>
                </a:solidFill>
                <a:latin typeface="Calibri"/>
                <a:ea typeface="Calibri"/>
                <a:cs typeface="Calibri"/>
              </a:defRPr>
            </a:pPr>
            <a:r>
              <a:rPr sz="1125" b="1" i="0">
                <a:solidFill>
                  <a:srgbClr val="1B2B45"/>
                </a:solidFill>
                <a:latin typeface="Calibri"/>
                <a:ea typeface="Calibri"/>
                <a:cs typeface="Calibri"/>
              </a:rPr>
              <a:t>Moderate</a:t>
            </a:r>
          </a:p>
        </p:txBody>
      </p:sp>
      <p:sp>
        <p:nvSpPr>
          <p:cNvPr id="27" name="">
            <a:extLst xmlns:a="http://schemas.openxmlformats.org/drawingml/2006/main">
              <a:ext uri="{FF2B5EF4-FFF2-40B4-BE49-F238E27FC236}">
                <a16:creationId xmlns:a16="http://schemas.microsoft.com/office/drawing/2014/main" id="{EA684330-7AB6-4446-9D4F-F96DE533A045}"/>
              </a:ext>
            </a:extLst>
          </p:cNvPr>
          <p:cNvSpPr>
            <a:spLocks xmlns:a="http://schemas.openxmlformats.org/drawingml/2006/main" noGrp="1"/>
          </p:cNvSpPr>
          <p:nvPr/>
        </p:nvSpPr>
        <p:spPr>
          <a:xfrm xmlns:a="http://schemas.openxmlformats.org/drawingml/2006/main">
            <a:off x="514350" y="5086350"/>
            <a:ext cx="10439400" cy="723900"/>
          </a:xfrm>
          <a:prstGeom xmlns:a="http://schemas.openxmlformats.org/drawingml/2006/main" prst="roundRect">
            <a:avLst>
              <a:gd name="adj" fmla="val 5263"/>
            </a:avLst>
          </a:prstGeom>
          <a:solidFill xmlns:a="http://schemas.openxmlformats.org/drawingml/2006/main">
            <a:srgbClr val="FFFFFF"/>
          </a:solidFill>
          <a:ln xmlns:a="http://schemas.openxmlformats.org/drawingml/2006/main" w="9525">
            <a:solidFill>
              <a:srgbClr val="E8ECF1"/>
            </a:solidFill>
            <a:prstDash val="solid"/>
          </a:ln>
        </p:spPr>
      </p:sp>
      <p:sp>
        <p:nvSpPr>
          <p:cNvPr id="28" name="">
            <a:extLst xmlns:a="http://schemas.openxmlformats.org/drawingml/2006/main">
              <a:ext uri="{FF2B5EF4-FFF2-40B4-BE49-F238E27FC236}">
                <a16:creationId xmlns:a16="http://schemas.microsoft.com/office/drawing/2014/main" id="{EE378B29-9526-4046-B4BD-622119F47C18}"/>
              </a:ext>
            </a:extLst>
          </p:cNvPr>
          <p:cNvSpPr>
            <a:spLocks xmlns:a="http://schemas.openxmlformats.org/drawingml/2006/main" noGrp="1"/>
          </p:cNvSpPr>
          <p:nvPr/>
        </p:nvSpPr>
        <p:spPr>
          <a:xfrm xmlns:a="http://schemas.openxmlformats.org/drawingml/2006/main">
            <a:off x="647700" y="5210175"/>
            <a:ext cx="400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1950" b="1" i="0">
                <a:solidFill>
                  <a:srgbClr val="F47A22"/>
                </a:solidFill>
                <a:latin typeface="Calibri"/>
                <a:ea typeface="Calibri"/>
                <a:cs typeface="Calibri"/>
              </a:defRPr>
            </a:pPr>
            <a:r>
              <a:rPr sz="1950" b="1" i="0">
                <a:solidFill>
                  <a:srgbClr val="F47A22"/>
                </a:solidFill>
                <a:latin typeface="Calibri"/>
                <a:ea typeface="Calibri"/>
                <a:cs typeface="Calibri"/>
              </a:rPr>
              <a:t>10</a:t>
            </a:r>
          </a:p>
        </p:txBody>
      </p:sp>
      <p:sp>
        <p:nvSpPr>
          <p:cNvPr id="29" name="">
            <a:extLst xmlns:a="http://schemas.openxmlformats.org/drawingml/2006/main">
              <a:ext uri="{FF2B5EF4-FFF2-40B4-BE49-F238E27FC236}">
                <a16:creationId xmlns:a16="http://schemas.microsoft.com/office/drawing/2014/main" id="{9ECBB5F8-1A60-4593-9A18-AD4F4CB216E8}"/>
              </a:ext>
            </a:extLst>
          </p:cNvPr>
          <p:cNvSpPr>
            <a:spLocks xmlns:a="http://schemas.openxmlformats.org/drawingml/2006/main" noGrp="1"/>
          </p:cNvSpPr>
          <p:nvPr/>
        </p:nvSpPr>
        <p:spPr>
          <a:xfrm xmlns:a="http://schemas.openxmlformats.org/drawingml/2006/main">
            <a:off x="1200150" y="5181600"/>
            <a:ext cx="523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500" b="1" i="0">
                <a:solidFill>
                  <a:srgbClr val="1B2B45"/>
                </a:solidFill>
                <a:latin typeface="Calibri"/>
                <a:ea typeface="Calibri"/>
                <a:cs typeface="Calibri"/>
              </a:defRPr>
            </a:pPr>
            <a:r>
              <a:rPr sz="1500" b="1" i="0">
                <a:solidFill>
                  <a:srgbClr val="1B2B45"/>
                </a:solidFill>
                <a:latin typeface="Calibri"/>
                <a:ea typeface="Calibri"/>
                <a:cs typeface="Calibri"/>
              </a:rPr>
              <a:t>Finding the ride includes vehicle identification</a:t>
            </a:r>
          </a:p>
        </p:txBody>
      </p:sp>
      <p:sp>
        <p:nvSpPr>
          <p:cNvPr id="30" name="">
            <a:extLst xmlns:a="http://schemas.openxmlformats.org/drawingml/2006/main">
              <a:ext uri="{FF2B5EF4-FFF2-40B4-BE49-F238E27FC236}">
                <a16:creationId xmlns:a16="http://schemas.microsoft.com/office/drawing/2014/main" id="{34585F83-492C-4800-A6A8-0F687270CE81}"/>
              </a:ext>
            </a:extLst>
          </p:cNvPr>
          <p:cNvSpPr>
            <a:spLocks xmlns:a="http://schemas.openxmlformats.org/drawingml/2006/main" noGrp="1"/>
          </p:cNvSpPr>
          <p:nvPr/>
        </p:nvSpPr>
        <p:spPr>
          <a:xfrm xmlns:a="http://schemas.openxmlformats.org/drawingml/2006/main">
            <a:off x="1200150" y="5467350"/>
            <a:ext cx="685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200" b="0" i="0">
                <a:solidFill>
                  <a:srgbClr val="687489"/>
                </a:solidFill>
                <a:latin typeface="Calibri"/>
                <a:ea typeface="Calibri"/>
                <a:cs typeface="Calibri"/>
              </a:defRPr>
            </a:pPr>
            <a:r>
              <a:rPr sz="1200" b="0" i="0">
                <a:solidFill>
                  <a:srgbClr val="687489"/>
                </a:solidFill>
                <a:latin typeface="Calibri"/>
                <a:ea typeface="Calibri"/>
                <a:cs typeface="Calibri"/>
              </a:rPr>
              <a:t>One vehicle-number mismatch report</a:t>
            </a:r>
          </a:p>
        </p:txBody>
      </p:sp>
      <p:sp>
        <p:nvSpPr>
          <p:cNvPr id="31" name="">
            <a:extLst xmlns:a="http://schemas.openxmlformats.org/drawingml/2006/main">
              <a:ext uri="{FF2B5EF4-FFF2-40B4-BE49-F238E27FC236}">
                <a16:creationId xmlns:a16="http://schemas.microsoft.com/office/drawing/2014/main" id="{ECF33DBE-FEB3-4037-8637-CDEC70B3EF6F}"/>
              </a:ext>
            </a:extLst>
          </p:cNvPr>
          <p:cNvSpPr>
            <a:spLocks xmlns:a="http://schemas.openxmlformats.org/drawingml/2006/main" noGrp="1"/>
          </p:cNvSpPr>
          <p:nvPr/>
        </p:nvSpPr>
        <p:spPr>
          <a:xfrm xmlns:a="http://schemas.openxmlformats.org/drawingml/2006/main">
            <a:off x="9220200" y="5276850"/>
            <a:ext cx="1428750" cy="323850"/>
          </a:xfrm>
          <a:prstGeom xmlns:a="http://schemas.openxmlformats.org/drawingml/2006/main" prst="roundRect">
            <a:avLst>
              <a:gd name="adj" fmla="val 47059"/>
            </a:avLst>
          </a:prstGeom>
          <a:solidFill xmlns:a="http://schemas.openxmlformats.org/drawingml/2006/main">
            <a:srgbClr val="FBE7D8"/>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F16E02A0-AAB0-44AC-8E84-F8ABA6CC9645}"/>
              </a:ext>
            </a:extLst>
          </p:cNvPr>
          <p:cNvSpPr>
            <a:spLocks xmlns:a="http://schemas.openxmlformats.org/drawingml/2006/main" noGrp="1"/>
          </p:cNvSpPr>
          <p:nvPr/>
        </p:nvSpPr>
        <p:spPr>
          <a:xfrm xmlns:a="http://schemas.openxmlformats.org/drawingml/2006/main">
            <a:off x="9315450" y="531495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8889"/>
          </a:bodyPr>
          <a:lstStyle xmlns:a="http://schemas.openxmlformats.org/drawingml/2006/main"/>
          <a:p xmlns:a="http://schemas.openxmlformats.org/drawingml/2006/main">
            <a:pPr algn="ctr">
              <a:defRPr sz="1125" b="1" i="0">
                <a:solidFill>
                  <a:srgbClr val="1B2B45"/>
                </a:solidFill>
                <a:latin typeface="Calibri"/>
                <a:ea typeface="Calibri"/>
                <a:cs typeface="Calibri"/>
              </a:defRPr>
            </a:pPr>
            <a:r>
              <a:rPr sz="1125" b="1" i="0">
                <a:solidFill>
                  <a:srgbClr val="1B2B45"/>
                </a:solidFill>
                <a:latin typeface="Calibri"/>
                <a:ea typeface="Calibri"/>
                <a:cs typeface="Calibri"/>
              </a:rPr>
              <a:t>Weak</a:t>
            </a:r>
          </a:p>
        </p:txBody>
      </p:sp>
      <p:sp>
        <p:nvSpPr>
          <p:cNvPr id="33" name="">
            <a:extLst xmlns:a="http://schemas.openxmlformats.org/drawingml/2006/main">
              <a:ext uri="{FF2B5EF4-FFF2-40B4-BE49-F238E27FC236}">
                <a16:creationId xmlns:a16="http://schemas.microsoft.com/office/drawing/2014/main" id="{01781CB7-2933-4711-9306-832AF53EF779}"/>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 · Appendix</a:t>
            </a:r>
          </a:p>
        </p:txBody>
      </p:sp>
      <p:sp>
        <p:nvSpPr>
          <p:cNvPr id="34" name="">
            <a:extLst xmlns:a="http://schemas.openxmlformats.org/drawingml/2006/main">
              <a:ext uri="{FF2B5EF4-FFF2-40B4-BE49-F238E27FC236}">
                <a16:creationId xmlns:a16="http://schemas.microsoft.com/office/drawing/2014/main" id="{E723DCA2-4B4C-444E-B11C-696DB2BD3AE8}"/>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17</a:t>
            </a:r>
          </a:p>
        </p:txBody>
      </p:sp>
    </p:spTree>
    <p:extLst>
      <p:ext uri="{BB962C8B-B14F-4D97-AF65-F5344CB8AC3E}">
        <p14:creationId xmlns:p14="http://schemas.microsoft.com/office/powerpoint/2010/main" val="280342848"/>
      </p:ext>
    </p:extLst>
  </p:cSld>
</p:sld>
</file>

<file path=ppt/slides/slide18.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53" name="">
            <a:extLst xmlns:a="http://schemas.openxmlformats.org/drawingml/2006/main">
              <a:ext uri="{FF2B5EF4-FFF2-40B4-BE49-F238E27FC236}">
                <a16:creationId xmlns:a16="http://schemas.microsoft.com/office/drawing/2014/main" id="{418B6C61-70D5-48B7-84D8-852EED018CAA}"/>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APPENDIX · MARKET AND COMPETITOR EVIDENCE</a:t>
            </a:r>
          </a:p>
        </p:txBody>
      </p:sp>
      <p:sp>
        <p:nvSpPr>
          <p:cNvPr id="2" name="">
            <a:extLst xmlns:a="http://schemas.openxmlformats.org/drawingml/2006/main">
              <a:ext uri="{FF2B5EF4-FFF2-40B4-BE49-F238E27FC236}">
                <a16:creationId xmlns:a16="http://schemas.microsoft.com/office/drawing/2014/main" id="{40705BC7-7714-4216-A7B7-6FBC8A98551E}"/>
              </a:ext>
            </a:extLst>
          </p:cNvPr>
          <p:cNvSpPr>
            <a:spLocks xmlns:a="http://schemas.openxmlformats.org/drawingml/2006/main" noGrp="1"/>
          </p:cNvSpPr>
          <p:nvPr/>
        </p:nvSpPr>
        <p:spPr>
          <a:xfrm xmlns:a="http://schemas.openxmlformats.org/drawingml/2006/main">
            <a:off x="514350" y="571500"/>
            <a:ext cx="1114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Design patterns — with transferability limits</a:t>
            </a:r>
          </a:p>
        </p:txBody>
      </p:sp>
      <p:sp>
        <p:nvSpPr>
          <p:cNvPr id="3" name="">
            <a:extLst xmlns:a="http://schemas.openxmlformats.org/drawingml/2006/main">
              <a:ext uri="{FF2B5EF4-FFF2-40B4-BE49-F238E27FC236}">
                <a16:creationId xmlns:a16="http://schemas.microsoft.com/office/drawing/2014/main" id="{6FD28D48-A361-4DC0-B7B3-2DCDA016B799}"/>
              </a:ext>
            </a:extLst>
          </p:cNvPr>
          <p:cNvSpPr>
            <a:spLocks xmlns:a="http://schemas.openxmlformats.org/drawingml/2006/main" noGrp="1"/>
          </p:cNvSpPr>
          <p:nvPr/>
        </p:nvSpPr>
        <p:spPr>
          <a:xfrm xmlns:a="http://schemas.openxmlformats.org/drawingml/2006/main">
            <a:off x="514350" y="1619250"/>
            <a:ext cx="1657350" cy="495300"/>
          </a:xfrm>
          <a:prstGeom xmlns:a="http://schemas.openxmlformats.org/drawingml/2006/main" prst="rect">
            <a:avLst/>
          </a:prstGeom>
          <a:solidFill xmlns:a="http://schemas.openxmlformats.org/drawingml/2006/main">
            <a:srgbClr val="1B2B45"/>
          </a:solidFill>
          <a:ln xmlns:a="http://schemas.openxmlformats.org/drawingml/2006/main" w="9525">
            <a:solidFill>
              <a:srgbClr val="FFFFFF"/>
            </a:solidFill>
            <a:prstDash val="solid"/>
          </a:ln>
        </p:spPr>
      </p:sp>
      <p:sp>
        <p:nvSpPr>
          <p:cNvPr id="4" name="">
            <a:extLst xmlns:a="http://schemas.openxmlformats.org/drawingml/2006/main">
              <a:ext uri="{FF2B5EF4-FFF2-40B4-BE49-F238E27FC236}">
                <a16:creationId xmlns:a16="http://schemas.microsoft.com/office/drawing/2014/main" id="{B430B087-1912-42FF-979F-455C8AD4B911}"/>
              </a:ext>
            </a:extLst>
          </p:cNvPr>
          <p:cNvSpPr>
            <a:spLocks xmlns:a="http://schemas.openxmlformats.org/drawingml/2006/main" noGrp="1"/>
          </p:cNvSpPr>
          <p:nvPr/>
        </p:nvSpPr>
        <p:spPr>
          <a:xfrm xmlns:a="http://schemas.openxmlformats.org/drawingml/2006/main">
            <a:off x="590550" y="1733550"/>
            <a:ext cx="15049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8039"/>
          </a:bodyPr>
          <a:lstStyle xmlns:a="http://schemas.openxmlformats.org/drawingml/2006/main"/>
          <a:p xmlns:a="http://schemas.openxmlformats.org/drawingml/2006/main">
            <a:pPr algn="ctr">
              <a:defRPr sz="1275" b="1" i="0">
                <a:solidFill>
                  <a:srgbClr val="FFFFFF"/>
                </a:solidFill>
                <a:latin typeface="Calibri"/>
                <a:ea typeface="Calibri"/>
                <a:cs typeface="Calibri"/>
              </a:defRPr>
            </a:pPr>
            <a:r>
              <a:rPr sz="1275" b="1" i="0">
                <a:solidFill>
                  <a:srgbClr val="FFFFFF"/>
                </a:solidFill>
                <a:latin typeface="Calibri"/>
                <a:ea typeface="Calibri"/>
                <a:cs typeface="Calibri"/>
              </a:rPr>
              <a:t>Reference</a:t>
            </a:r>
          </a:p>
        </p:txBody>
      </p:sp>
      <p:sp>
        <p:nvSpPr>
          <p:cNvPr id="5" name="">
            <a:extLst xmlns:a="http://schemas.openxmlformats.org/drawingml/2006/main">
              <a:ext uri="{FF2B5EF4-FFF2-40B4-BE49-F238E27FC236}">
                <a16:creationId xmlns:a16="http://schemas.microsoft.com/office/drawing/2014/main" id="{FE4A1870-1DC6-4440-9BF0-B9012B07E9A7}"/>
              </a:ext>
            </a:extLst>
          </p:cNvPr>
          <p:cNvSpPr>
            <a:spLocks xmlns:a="http://schemas.openxmlformats.org/drawingml/2006/main" noGrp="1"/>
          </p:cNvSpPr>
          <p:nvPr/>
        </p:nvSpPr>
        <p:spPr>
          <a:xfrm xmlns:a="http://schemas.openxmlformats.org/drawingml/2006/main">
            <a:off x="2171700" y="1619250"/>
            <a:ext cx="2781300" cy="495300"/>
          </a:xfrm>
          <a:prstGeom xmlns:a="http://schemas.openxmlformats.org/drawingml/2006/main" prst="rect">
            <a:avLst/>
          </a:prstGeom>
          <a:solidFill xmlns:a="http://schemas.openxmlformats.org/drawingml/2006/main">
            <a:srgbClr val="1B2B45"/>
          </a:solidFill>
          <a:ln xmlns:a="http://schemas.openxmlformats.org/drawingml/2006/main" w="9525">
            <a:solidFill>
              <a:srgbClr val="FFFFFF"/>
            </a:solidFill>
            <a:prstDash val="solid"/>
          </a:ln>
        </p:spPr>
      </p:sp>
      <p:sp>
        <p:nvSpPr>
          <p:cNvPr id="6" name="">
            <a:extLst xmlns:a="http://schemas.openxmlformats.org/drawingml/2006/main">
              <a:ext uri="{FF2B5EF4-FFF2-40B4-BE49-F238E27FC236}">
                <a16:creationId xmlns:a16="http://schemas.microsoft.com/office/drawing/2014/main" id="{BB697A87-0CCC-432E-AB97-7042156FF1F6}"/>
              </a:ext>
            </a:extLst>
          </p:cNvPr>
          <p:cNvSpPr>
            <a:spLocks xmlns:a="http://schemas.openxmlformats.org/drawingml/2006/main" noGrp="1"/>
          </p:cNvSpPr>
          <p:nvPr/>
        </p:nvSpPr>
        <p:spPr>
          <a:xfrm xmlns:a="http://schemas.openxmlformats.org/drawingml/2006/main">
            <a:off x="2247900" y="1733550"/>
            <a:ext cx="2628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8039"/>
          </a:bodyPr>
          <a:lstStyle xmlns:a="http://schemas.openxmlformats.org/drawingml/2006/main"/>
          <a:p xmlns:a="http://schemas.openxmlformats.org/drawingml/2006/main">
            <a:pPr algn="ctr">
              <a:defRPr sz="1275" b="1" i="0">
                <a:solidFill>
                  <a:srgbClr val="FFFFFF"/>
                </a:solidFill>
                <a:latin typeface="Calibri"/>
                <a:ea typeface="Calibri"/>
                <a:cs typeface="Calibri"/>
              </a:defRPr>
            </a:pPr>
            <a:r>
              <a:rPr sz="1275" b="1" i="0">
                <a:solidFill>
                  <a:srgbClr val="FFFFFF"/>
                </a:solidFill>
                <a:latin typeface="Calibri"/>
                <a:ea typeface="Calibri"/>
                <a:cs typeface="Calibri"/>
              </a:rPr>
              <a:t>Observed mechanism</a:t>
            </a:r>
          </a:p>
        </p:txBody>
      </p:sp>
      <p:sp>
        <p:nvSpPr>
          <p:cNvPr id="7" name="">
            <a:extLst xmlns:a="http://schemas.openxmlformats.org/drawingml/2006/main">
              <a:ext uri="{FF2B5EF4-FFF2-40B4-BE49-F238E27FC236}">
                <a16:creationId xmlns:a16="http://schemas.microsoft.com/office/drawing/2014/main" id="{18DBCEC2-DA65-4EDD-8DCE-13C9F1209CFA}"/>
              </a:ext>
            </a:extLst>
          </p:cNvPr>
          <p:cNvSpPr>
            <a:spLocks xmlns:a="http://schemas.openxmlformats.org/drawingml/2006/main" noGrp="1"/>
          </p:cNvSpPr>
          <p:nvPr/>
        </p:nvSpPr>
        <p:spPr>
          <a:xfrm xmlns:a="http://schemas.openxmlformats.org/drawingml/2006/main">
            <a:off x="4953000" y="1619250"/>
            <a:ext cx="3257550" cy="495300"/>
          </a:xfrm>
          <a:prstGeom xmlns:a="http://schemas.openxmlformats.org/drawingml/2006/main" prst="rect">
            <a:avLst/>
          </a:prstGeom>
          <a:solidFill xmlns:a="http://schemas.openxmlformats.org/drawingml/2006/main">
            <a:srgbClr val="1B2B45"/>
          </a:solidFill>
          <a:ln xmlns:a="http://schemas.openxmlformats.org/drawingml/2006/main" w="9525">
            <a:solidFill>
              <a:srgbClr val="FFFFFF"/>
            </a:solidFill>
            <a:prstDash val="solid"/>
          </a:ln>
        </p:spPr>
      </p:sp>
      <p:sp>
        <p:nvSpPr>
          <p:cNvPr id="8" name="">
            <a:extLst xmlns:a="http://schemas.openxmlformats.org/drawingml/2006/main">
              <a:ext uri="{FF2B5EF4-FFF2-40B4-BE49-F238E27FC236}">
                <a16:creationId xmlns:a16="http://schemas.microsoft.com/office/drawing/2014/main" id="{53F8ED6F-FF38-4C6B-9A53-EF19C937A0A7}"/>
              </a:ext>
            </a:extLst>
          </p:cNvPr>
          <p:cNvSpPr>
            <a:spLocks xmlns:a="http://schemas.openxmlformats.org/drawingml/2006/main" noGrp="1"/>
          </p:cNvSpPr>
          <p:nvPr/>
        </p:nvSpPr>
        <p:spPr>
          <a:xfrm xmlns:a="http://schemas.openxmlformats.org/drawingml/2006/main">
            <a:off x="5029200" y="1733550"/>
            <a:ext cx="3105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8039"/>
          </a:bodyPr>
          <a:lstStyle xmlns:a="http://schemas.openxmlformats.org/drawingml/2006/main"/>
          <a:p xmlns:a="http://schemas.openxmlformats.org/drawingml/2006/main">
            <a:pPr algn="ctr">
              <a:defRPr sz="1275" b="1" i="0">
                <a:solidFill>
                  <a:srgbClr val="FFFFFF"/>
                </a:solidFill>
                <a:latin typeface="Calibri"/>
                <a:ea typeface="Calibri"/>
                <a:cs typeface="Calibri"/>
              </a:defRPr>
            </a:pPr>
            <a:r>
              <a:rPr sz="1275" b="1" i="0">
                <a:solidFill>
                  <a:srgbClr val="FFFFFF"/>
                </a:solidFill>
                <a:latin typeface="Calibri"/>
                <a:ea typeface="Calibri"/>
                <a:cs typeface="Calibri"/>
              </a:rPr>
              <a:t>Lesson for this case</a:t>
            </a:r>
          </a:p>
        </p:txBody>
      </p:sp>
      <p:sp>
        <p:nvSpPr>
          <p:cNvPr id="9" name="">
            <a:extLst xmlns:a="http://schemas.openxmlformats.org/drawingml/2006/main">
              <a:ext uri="{FF2B5EF4-FFF2-40B4-BE49-F238E27FC236}">
                <a16:creationId xmlns:a16="http://schemas.microsoft.com/office/drawing/2014/main" id="{2D33E7A5-7CC3-4E70-A2A4-64EB015648DD}"/>
              </a:ext>
            </a:extLst>
          </p:cNvPr>
          <p:cNvSpPr>
            <a:spLocks xmlns:a="http://schemas.openxmlformats.org/drawingml/2006/main" noGrp="1"/>
          </p:cNvSpPr>
          <p:nvPr/>
        </p:nvSpPr>
        <p:spPr>
          <a:xfrm xmlns:a="http://schemas.openxmlformats.org/drawingml/2006/main">
            <a:off x="8210550" y="1619250"/>
            <a:ext cx="2743200" cy="495300"/>
          </a:xfrm>
          <a:prstGeom xmlns:a="http://schemas.openxmlformats.org/drawingml/2006/main" prst="rect">
            <a:avLst/>
          </a:prstGeom>
          <a:solidFill xmlns:a="http://schemas.openxmlformats.org/drawingml/2006/main">
            <a:srgbClr val="1B2B45"/>
          </a:solidFill>
          <a:ln xmlns:a="http://schemas.openxmlformats.org/drawingml/2006/main" w="9525">
            <a:solidFill>
              <a:srgbClr val="FFFFFF"/>
            </a:solidFill>
            <a:prstDash val="solid"/>
          </a:ln>
        </p:spPr>
      </p:sp>
      <p:sp>
        <p:nvSpPr>
          <p:cNvPr id="10" name="">
            <a:extLst xmlns:a="http://schemas.openxmlformats.org/drawingml/2006/main">
              <a:ext uri="{FF2B5EF4-FFF2-40B4-BE49-F238E27FC236}">
                <a16:creationId xmlns:a16="http://schemas.microsoft.com/office/drawing/2014/main" id="{11DC6578-952B-499F-95A0-1F9CE4D86F5D}"/>
              </a:ext>
            </a:extLst>
          </p:cNvPr>
          <p:cNvSpPr>
            <a:spLocks xmlns:a="http://schemas.openxmlformats.org/drawingml/2006/main" noGrp="1"/>
          </p:cNvSpPr>
          <p:nvPr/>
        </p:nvSpPr>
        <p:spPr>
          <a:xfrm xmlns:a="http://schemas.openxmlformats.org/drawingml/2006/main">
            <a:off x="8286750" y="1733550"/>
            <a:ext cx="2590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8039"/>
          </a:bodyPr>
          <a:lstStyle xmlns:a="http://schemas.openxmlformats.org/drawingml/2006/main"/>
          <a:p xmlns:a="http://schemas.openxmlformats.org/drawingml/2006/main">
            <a:pPr algn="ctr">
              <a:defRPr sz="1275" b="1" i="0">
                <a:solidFill>
                  <a:srgbClr val="FFFFFF"/>
                </a:solidFill>
                <a:latin typeface="Calibri"/>
                <a:ea typeface="Calibri"/>
                <a:cs typeface="Calibri"/>
              </a:defRPr>
            </a:pPr>
            <a:r>
              <a:rPr sz="1275" b="1" i="0">
                <a:solidFill>
                  <a:srgbClr val="FFFFFF"/>
                </a:solidFill>
                <a:latin typeface="Calibri"/>
                <a:ea typeface="Calibri"/>
                <a:cs typeface="Calibri"/>
              </a:rPr>
              <a:t>Boundary</a:t>
            </a:r>
          </a:p>
        </p:txBody>
      </p:sp>
      <p:sp>
        <p:nvSpPr>
          <p:cNvPr id="11" name="">
            <a:extLst xmlns:a="http://schemas.openxmlformats.org/drawingml/2006/main">
              <a:ext uri="{FF2B5EF4-FFF2-40B4-BE49-F238E27FC236}">
                <a16:creationId xmlns:a16="http://schemas.microsoft.com/office/drawing/2014/main" id="{5D8731E3-F9F2-4808-9FA7-30CDF1B51368}"/>
              </a:ext>
            </a:extLst>
          </p:cNvPr>
          <p:cNvSpPr>
            <a:spLocks xmlns:a="http://schemas.openxmlformats.org/drawingml/2006/main" noGrp="1"/>
          </p:cNvSpPr>
          <p:nvPr/>
        </p:nvSpPr>
        <p:spPr>
          <a:xfrm xmlns:a="http://schemas.openxmlformats.org/drawingml/2006/main">
            <a:off x="514350" y="2114550"/>
            <a:ext cx="165735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12" name="">
            <a:extLst xmlns:a="http://schemas.openxmlformats.org/drawingml/2006/main">
              <a:ext uri="{FF2B5EF4-FFF2-40B4-BE49-F238E27FC236}">
                <a16:creationId xmlns:a16="http://schemas.microsoft.com/office/drawing/2014/main" id="{E01848E5-3B0C-4A5A-BD83-6EDC7250C0C2}"/>
              </a:ext>
            </a:extLst>
          </p:cNvPr>
          <p:cNvSpPr>
            <a:spLocks xmlns:a="http://schemas.openxmlformats.org/drawingml/2006/main" noGrp="1"/>
          </p:cNvSpPr>
          <p:nvPr/>
        </p:nvSpPr>
        <p:spPr>
          <a:xfrm xmlns:a="http://schemas.openxmlformats.org/drawingml/2006/main">
            <a:off x="609600" y="2209800"/>
            <a:ext cx="14668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350" b="1" i="0">
                <a:solidFill>
                  <a:srgbClr val="1B2B45"/>
                </a:solidFill>
                <a:latin typeface="Calibri"/>
                <a:ea typeface="Calibri"/>
                <a:cs typeface="Calibri"/>
              </a:defRPr>
            </a:pPr>
            <a:r>
              <a:rPr sz="1350" b="1" i="0">
                <a:solidFill>
                  <a:srgbClr val="1B2B45"/>
                </a:solidFill>
                <a:latin typeface="Calibri"/>
                <a:ea typeface="Calibri"/>
                <a:cs typeface="Calibri"/>
              </a:rPr>
              <a:t>Uber HYD</a:t>
            </a:r>
          </a:p>
        </p:txBody>
      </p:sp>
      <p:sp>
        <p:nvSpPr>
          <p:cNvPr id="13" name="">
            <a:extLst xmlns:a="http://schemas.openxmlformats.org/drawingml/2006/main">
              <a:ext uri="{FF2B5EF4-FFF2-40B4-BE49-F238E27FC236}">
                <a16:creationId xmlns:a16="http://schemas.microsoft.com/office/drawing/2014/main" id="{003CB3B8-3706-4ECE-B45A-2AF2B78D5430}"/>
              </a:ext>
            </a:extLst>
          </p:cNvPr>
          <p:cNvSpPr>
            <a:spLocks xmlns:a="http://schemas.openxmlformats.org/drawingml/2006/main" noGrp="1"/>
          </p:cNvSpPr>
          <p:nvPr/>
        </p:nvSpPr>
        <p:spPr>
          <a:xfrm xmlns:a="http://schemas.openxmlformats.org/drawingml/2006/main">
            <a:off x="2171700" y="2114550"/>
            <a:ext cx="278130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14" name="">
            <a:extLst xmlns:a="http://schemas.openxmlformats.org/drawingml/2006/main">
              <a:ext uri="{FF2B5EF4-FFF2-40B4-BE49-F238E27FC236}">
                <a16:creationId xmlns:a16="http://schemas.microsoft.com/office/drawing/2014/main" id="{43090F40-F984-411C-8F7F-6CB64597EA9F}"/>
              </a:ext>
            </a:extLst>
          </p:cNvPr>
          <p:cNvSpPr>
            <a:spLocks xmlns:a="http://schemas.openxmlformats.org/drawingml/2006/main" noGrp="1"/>
          </p:cNvSpPr>
          <p:nvPr/>
        </p:nvSpPr>
        <p:spPr>
          <a:xfrm xmlns:a="http://schemas.openxmlformats.org/drawingml/2006/main">
            <a:off x="2266950" y="2209800"/>
            <a:ext cx="2590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In-app directions and D1 pickup zone</a:t>
            </a:r>
          </a:p>
        </p:txBody>
      </p:sp>
      <p:sp>
        <p:nvSpPr>
          <p:cNvPr id="15" name="">
            <a:extLst xmlns:a="http://schemas.openxmlformats.org/drawingml/2006/main">
              <a:ext uri="{FF2B5EF4-FFF2-40B4-BE49-F238E27FC236}">
                <a16:creationId xmlns:a16="http://schemas.microsoft.com/office/drawing/2014/main" id="{EC2584D5-3B7A-4BAE-A59F-93031CEFED23}"/>
              </a:ext>
            </a:extLst>
          </p:cNvPr>
          <p:cNvSpPr>
            <a:spLocks xmlns:a="http://schemas.openxmlformats.org/drawingml/2006/main" noGrp="1"/>
          </p:cNvSpPr>
          <p:nvPr/>
        </p:nvSpPr>
        <p:spPr>
          <a:xfrm xmlns:a="http://schemas.openxmlformats.org/drawingml/2006/main">
            <a:off x="4953000" y="2114550"/>
            <a:ext cx="325755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16" name="">
            <a:extLst xmlns:a="http://schemas.openxmlformats.org/drawingml/2006/main">
              <a:ext uri="{FF2B5EF4-FFF2-40B4-BE49-F238E27FC236}">
                <a16:creationId xmlns:a16="http://schemas.microsoft.com/office/drawing/2014/main" id="{40C86A21-E704-46D8-86C0-9F7A678BE81C}"/>
              </a:ext>
            </a:extLst>
          </p:cNvPr>
          <p:cNvSpPr>
            <a:spLocks xmlns:a="http://schemas.openxmlformats.org/drawingml/2006/main" noGrp="1"/>
          </p:cNvSpPr>
          <p:nvPr/>
        </p:nvSpPr>
        <p:spPr>
          <a:xfrm xmlns:a="http://schemas.openxmlformats.org/drawingml/2006/main">
            <a:off x="5048250" y="2209800"/>
            <a:ext cx="30670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Baseline exists; test coverage and failed coordination</a:t>
            </a:r>
          </a:p>
        </p:txBody>
      </p:sp>
      <p:sp>
        <p:nvSpPr>
          <p:cNvPr id="17" name="">
            <a:extLst xmlns:a="http://schemas.openxmlformats.org/drawingml/2006/main">
              <a:ext uri="{FF2B5EF4-FFF2-40B4-BE49-F238E27FC236}">
                <a16:creationId xmlns:a16="http://schemas.microsoft.com/office/drawing/2014/main" id="{31145977-238F-4DB1-B99E-D78B9D8715E2}"/>
              </a:ext>
            </a:extLst>
          </p:cNvPr>
          <p:cNvSpPr>
            <a:spLocks xmlns:a="http://schemas.openxmlformats.org/drawingml/2006/main" noGrp="1"/>
          </p:cNvSpPr>
          <p:nvPr/>
        </p:nvSpPr>
        <p:spPr>
          <a:xfrm xmlns:a="http://schemas.openxmlformats.org/drawingml/2006/main">
            <a:off x="8210550" y="2114550"/>
            <a:ext cx="274320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18" name="">
            <a:extLst xmlns:a="http://schemas.openxmlformats.org/drawingml/2006/main">
              <a:ext uri="{FF2B5EF4-FFF2-40B4-BE49-F238E27FC236}">
                <a16:creationId xmlns:a16="http://schemas.microsoft.com/office/drawing/2014/main" id="{B2F309A4-B856-4E55-A1C2-B2D34A7FD0B4}"/>
              </a:ext>
            </a:extLst>
          </p:cNvPr>
          <p:cNvSpPr>
            <a:spLocks xmlns:a="http://schemas.openxmlformats.org/drawingml/2006/main" noGrp="1"/>
          </p:cNvSpPr>
          <p:nvPr/>
        </p:nvSpPr>
        <p:spPr>
          <a:xfrm xmlns:a="http://schemas.openxmlformats.org/drawingml/2006/main">
            <a:off x="8305800" y="2209800"/>
            <a:ext cx="25527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Airport-only evidence</a:t>
            </a:r>
          </a:p>
        </p:txBody>
      </p:sp>
      <p:sp>
        <p:nvSpPr>
          <p:cNvPr id="19" name="">
            <a:extLst xmlns:a="http://schemas.openxmlformats.org/drawingml/2006/main">
              <a:ext uri="{FF2B5EF4-FFF2-40B4-BE49-F238E27FC236}">
                <a16:creationId xmlns:a16="http://schemas.microsoft.com/office/drawing/2014/main" id="{14B062EB-2420-4C01-AFFB-45198E591C15}"/>
              </a:ext>
            </a:extLst>
          </p:cNvPr>
          <p:cNvSpPr>
            <a:spLocks xmlns:a="http://schemas.openxmlformats.org/drawingml/2006/main" noGrp="1"/>
          </p:cNvSpPr>
          <p:nvPr/>
        </p:nvSpPr>
        <p:spPr>
          <a:xfrm xmlns:a="http://schemas.openxmlformats.org/drawingml/2006/main">
            <a:off x="514350" y="2857500"/>
            <a:ext cx="1657350" cy="742950"/>
          </a:xfrm>
          <a:prstGeom xmlns:a="http://schemas.openxmlformats.org/drawingml/2006/main" prst="rect">
            <a:avLst/>
          </a:prstGeom>
          <a:solidFill xmlns:a="http://schemas.openxmlformats.org/drawingml/2006/main">
            <a:srgbClr val="F8F9FB"/>
          </a:solidFill>
          <a:ln xmlns:a="http://schemas.openxmlformats.org/drawingml/2006/main" w="9525">
            <a:solidFill>
              <a:srgbClr val="E8ECF1"/>
            </a:solidFill>
            <a:prstDash val="solid"/>
          </a:ln>
        </p:spPr>
      </p:sp>
      <p:sp>
        <p:nvSpPr>
          <p:cNvPr id="20" name="">
            <a:extLst xmlns:a="http://schemas.openxmlformats.org/drawingml/2006/main">
              <a:ext uri="{FF2B5EF4-FFF2-40B4-BE49-F238E27FC236}">
                <a16:creationId xmlns:a16="http://schemas.microsoft.com/office/drawing/2014/main" id="{539A4496-A578-471F-B1E4-C34E43D61BB6}"/>
              </a:ext>
            </a:extLst>
          </p:cNvPr>
          <p:cNvSpPr>
            <a:spLocks xmlns:a="http://schemas.openxmlformats.org/drawingml/2006/main" noGrp="1"/>
          </p:cNvSpPr>
          <p:nvPr/>
        </p:nvSpPr>
        <p:spPr>
          <a:xfrm xmlns:a="http://schemas.openxmlformats.org/drawingml/2006/main">
            <a:off x="609600" y="2952750"/>
            <a:ext cx="14668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350" b="1" i="0">
                <a:solidFill>
                  <a:srgbClr val="1B2B45"/>
                </a:solidFill>
                <a:latin typeface="Calibri"/>
                <a:ea typeface="Calibri"/>
                <a:cs typeface="Calibri"/>
              </a:defRPr>
            </a:pPr>
            <a:r>
              <a:rPr sz="1350" b="1" i="0">
                <a:solidFill>
                  <a:srgbClr val="1B2B45"/>
                </a:solidFill>
                <a:latin typeface="Calibri"/>
                <a:ea typeface="Calibri"/>
                <a:cs typeface="Calibri"/>
              </a:rPr>
              <a:t>Grab</a:t>
            </a:r>
          </a:p>
        </p:txBody>
      </p:sp>
      <p:sp>
        <p:nvSpPr>
          <p:cNvPr id="21" name="">
            <a:extLst xmlns:a="http://schemas.openxmlformats.org/drawingml/2006/main">
              <a:ext uri="{FF2B5EF4-FFF2-40B4-BE49-F238E27FC236}">
                <a16:creationId xmlns:a16="http://schemas.microsoft.com/office/drawing/2014/main" id="{E254EA67-9231-49D2-9C11-9766028F4D96}"/>
              </a:ext>
            </a:extLst>
          </p:cNvPr>
          <p:cNvSpPr>
            <a:spLocks xmlns:a="http://schemas.openxmlformats.org/drawingml/2006/main" noGrp="1"/>
          </p:cNvSpPr>
          <p:nvPr/>
        </p:nvSpPr>
        <p:spPr>
          <a:xfrm xmlns:a="http://schemas.openxmlformats.org/drawingml/2006/main">
            <a:off x="2171700" y="2857500"/>
            <a:ext cx="2781300" cy="742950"/>
          </a:xfrm>
          <a:prstGeom xmlns:a="http://schemas.openxmlformats.org/drawingml/2006/main" prst="rect">
            <a:avLst/>
          </a:prstGeom>
          <a:solidFill xmlns:a="http://schemas.openxmlformats.org/drawingml/2006/main">
            <a:srgbClr val="F8F9FB"/>
          </a:solidFill>
          <a:ln xmlns:a="http://schemas.openxmlformats.org/drawingml/2006/main" w="9525">
            <a:solidFill>
              <a:srgbClr val="E8ECF1"/>
            </a:solidFill>
            <a:prstDash val="solid"/>
          </a:ln>
        </p:spPr>
      </p:sp>
      <p:sp>
        <p:nvSpPr>
          <p:cNvPr id="22" name="">
            <a:extLst xmlns:a="http://schemas.openxmlformats.org/drawingml/2006/main">
              <a:ext uri="{FF2B5EF4-FFF2-40B4-BE49-F238E27FC236}">
                <a16:creationId xmlns:a16="http://schemas.microsoft.com/office/drawing/2014/main" id="{01F137BE-2C3F-4E41-91CF-B8CD0EAF6C26}"/>
              </a:ext>
            </a:extLst>
          </p:cNvPr>
          <p:cNvSpPr>
            <a:spLocks xmlns:a="http://schemas.openxmlformats.org/drawingml/2006/main" noGrp="1"/>
          </p:cNvSpPr>
          <p:nvPr/>
        </p:nvSpPr>
        <p:spPr>
          <a:xfrm xmlns:a="http://schemas.openxmlformats.org/drawingml/2006/main">
            <a:off x="2266950" y="2952750"/>
            <a:ext cx="2590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Venue visuals and curated meeting points</a:t>
            </a:r>
          </a:p>
        </p:txBody>
      </p:sp>
      <p:sp>
        <p:nvSpPr>
          <p:cNvPr id="23" name="">
            <a:extLst xmlns:a="http://schemas.openxmlformats.org/drawingml/2006/main">
              <a:ext uri="{FF2B5EF4-FFF2-40B4-BE49-F238E27FC236}">
                <a16:creationId xmlns:a16="http://schemas.microsoft.com/office/drawing/2014/main" id="{89500761-5885-4A3B-B1FF-944681E6FE01}"/>
              </a:ext>
            </a:extLst>
          </p:cNvPr>
          <p:cNvSpPr>
            <a:spLocks xmlns:a="http://schemas.openxmlformats.org/drawingml/2006/main" noGrp="1"/>
          </p:cNvSpPr>
          <p:nvPr/>
        </p:nvSpPr>
        <p:spPr>
          <a:xfrm xmlns:a="http://schemas.openxmlformats.org/drawingml/2006/main">
            <a:off x="4953000" y="2857500"/>
            <a:ext cx="3257550" cy="742950"/>
          </a:xfrm>
          <a:prstGeom xmlns:a="http://schemas.openxmlformats.org/drawingml/2006/main" prst="rect">
            <a:avLst/>
          </a:prstGeom>
          <a:solidFill xmlns:a="http://schemas.openxmlformats.org/drawingml/2006/main">
            <a:srgbClr val="F8F9FB"/>
          </a:solidFill>
          <a:ln xmlns:a="http://schemas.openxmlformats.org/drawingml/2006/main" w="9525">
            <a:solidFill>
              <a:srgbClr val="E8ECF1"/>
            </a:solidFill>
            <a:prstDash val="solid"/>
          </a:ln>
        </p:spPr>
      </p:sp>
      <p:sp>
        <p:nvSpPr>
          <p:cNvPr id="24" name="">
            <a:extLst xmlns:a="http://schemas.openxmlformats.org/drawingml/2006/main">
              <a:ext uri="{FF2B5EF4-FFF2-40B4-BE49-F238E27FC236}">
                <a16:creationId xmlns:a16="http://schemas.microsoft.com/office/drawing/2014/main" id="{1B13105C-9CD0-45E1-B4DA-066C270B1BF2}"/>
              </a:ext>
            </a:extLst>
          </p:cNvPr>
          <p:cNvSpPr>
            <a:spLocks xmlns:a="http://schemas.openxmlformats.org/drawingml/2006/main" noGrp="1"/>
          </p:cNvSpPr>
          <p:nvPr/>
        </p:nvSpPr>
        <p:spPr>
          <a:xfrm xmlns:a="http://schemas.openxmlformats.org/drawingml/2006/main">
            <a:off x="5048250" y="2952750"/>
            <a:ext cx="30670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Make landmarks and paths concrete</a:t>
            </a:r>
          </a:p>
        </p:txBody>
      </p:sp>
      <p:sp>
        <p:nvSpPr>
          <p:cNvPr id="25" name="">
            <a:extLst xmlns:a="http://schemas.openxmlformats.org/drawingml/2006/main">
              <a:ext uri="{FF2B5EF4-FFF2-40B4-BE49-F238E27FC236}">
                <a16:creationId xmlns:a16="http://schemas.microsoft.com/office/drawing/2014/main" id="{2FB656DF-1279-44FC-9C6D-1344DFB4884B}"/>
              </a:ext>
            </a:extLst>
          </p:cNvPr>
          <p:cNvSpPr>
            <a:spLocks xmlns:a="http://schemas.openxmlformats.org/drawingml/2006/main" noGrp="1"/>
          </p:cNvSpPr>
          <p:nvPr/>
        </p:nvSpPr>
        <p:spPr>
          <a:xfrm xmlns:a="http://schemas.openxmlformats.org/drawingml/2006/main">
            <a:off x="8210550" y="2857500"/>
            <a:ext cx="2743200" cy="742950"/>
          </a:xfrm>
          <a:prstGeom xmlns:a="http://schemas.openxmlformats.org/drawingml/2006/main" prst="rect">
            <a:avLst/>
          </a:prstGeom>
          <a:solidFill xmlns:a="http://schemas.openxmlformats.org/drawingml/2006/main">
            <a:srgbClr val="F8F9FB"/>
          </a:solidFill>
          <a:ln xmlns:a="http://schemas.openxmlformats.org/drawingml/2006/main" w="9525">
            <a:solidFill>
              <a:srgbClr val="E8ECF1"/>
            </a:solidFill>
            <a:prstDash val="solid"/>
          </a:ln>
        </p:spPr>
      </p:sp>
      <p:sp>
        <p:nvSpPr>
          <p:cNvPr id="26" name="">
            <a:extLst xmlns:a="http://schemas.openxmlformats.org/drawingml/2006/main">
              <a:ext uri="{FF2B5EF4-FFF2-40B4-BE49-F238E27FC236}">
                <a16:creationId xmlns:a16="http://schemas.microsoft.com/office/drawing/2014/main" id="{8668D63A-6DB0-4A68-A365-50FE9723278F}"/>
              </a:ext>
            </a:extLst>
          </p:cNvPr>
          <p:cNvSpPr>
            <a:spLocks xmlns:a="http://schemas.openxmlformats.org/drawingml/2006/main" noGrp="1"/>
          </p:cNvSpPr>
          <p:nvPr/>
        </p:nvSpPr>
        <p:spPr>
          <a:xfrm xmlns:a="http://schemas.openxmlformats.org/drawingml/2006/main">
            <a:off x="8305800" y="2952750"/>
            <a:ext cx="25527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Global / experimental claims</a:t>
            </a:r>
          </a:p>
        </p:txBody>
      </p:sp>
      <p:sp>
        <p:nvSpPr>
          <p:cNvPr id="27" name="">
            <a:extLst xmlns:a="http://schemas.openxmlformats.org/drawingml/2006/main">
              <a:ext uri="{FF2B5EF4-FFF2-40B4-BE49-F238E27FC236}">
                <a16:creationId xmlns:a16="http://schemas.microsoft.com/office/drawing/2014/main" id="{19785D21-BC1A-47D7-91D7-5E745E46CC40}"/>
              </a:ext>
            </a:extLst>
          </p:cNvPr>
          <p:cNvSpPr>
            <a:spLocks xmlns:a="http://schemas.openxmlformats.org/drawingml/2006/main" noGrp="1"/>
          </p:cNvSpPr>
          <p:nvPr/>
        </p:nvSpPr>
        <p:spPr>
          <a:xfrm xmlns:a="http://schemas.openxmlformats.org/drawingml/2006/main">
            <a:off x="514350" y="3600450"/>
            <a:ext cx="165735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28" name="">
            <a:extLst xmlns:a="http://schemas.openxmlformats.org/drawingml/2006/main">
              <a:ext uri="{FF2B5EF4-FFF2-40B4-BE49-F238E27FC236}">
                <a16:creationId xmlns:a16="http://schemas.microsoft.com/office/drawing/2014/main" id="{0A18305E-08BE-4B4E-A5F7-884EAA9BAB95}"/>
              </a:ext>
            </a:extLst>
          </p:cNvPr>
          <p:cNvSpPr>
            <a:spLocks xmlns:a="http://schemas.openxmlformats.org/drawingml/2006/main" noGrp="1"/>
          </p:cNvSpPr>
          <p:nvPr/>
        </p:nvSpPr>
        <p:spPr>
          <a:xfrm xmlns:a="http://schemas.openxmlformats.org/drawingml/2006/main">
            <a:off x="609600" y="3695700"/>
            <a:ext cx="14668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350" b="1" i="0">
                <a:solidFill>
                  <a:srgbClr val="1B2B45"/>
                </a:solidFill>
                <a:latin typeface="Calibri"/>
                <a:ea typeface="Calibri"/>
                <a:cs typeface="Calibri"/>
              </a:defRPr>
            </a:pPr>
            <a:r>
              <a:rPr sz="1350" b="1" i="0">
                <a:solidFill>
                  <a:srgbClr val="1B2B45"/>
                </a:solidFill>
                <a:latin typeface="Calibri"/>
                <a:ea typeface="Calibri"/>
                <a:cs typeface="Calibri"/>
              </a:rPr>
              <a:t>Lyft</a:t>
            </a:r>
          </a:p>
        </p:txBody>
      </p:sp>
      <p:sp>
        <p:nvSpPr>
          <p:cNvPr id="29" name="">
            <a:extLst xmlns:a="http://schemas.openxmlformats.org/drawingml/2006/main">
              <a:ext uri="{FF2B5EF4-FFF2-40B4-BE49-F238E27FC236}">
                <a16:creationId xmlns:a16="http://schemas.microsoft.com/office/drawing/2014/main" id="{CEF17969-3788-40BF-8CF9-8837194DD741}"/>
              </a:ext>
            </a:extLst>
          </p:cNvPr>
          <p:cNvSpPr>
            <a:spLocks xmlns:a="http://schemas.openxmlformats.org/drawingml/2006/main" noGrp="1"/>
          </p:cNvSpPr>
          <p:nvPr/>
        </p:nvSpPr>
        <p:spPr>
          <a:xfrm xmlns:a="http://schemas.openxmlformats.org/drawingml/2006/main">
            <a:off x="2171700" y="3600450"/>
            <a:ext cx="278130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30" name="">
            <a:extLst xmlns:a="http://schemas.openxmlformats.org/drawingml/2006/main">
              <a:ext uri="{FF2B5EF4-FFF2-40B4-BE49-F238E27FC236}">
                <a16:creationId xmlns:a16="http://schemas.microsoft.com/office/drawing/2014/main" id="{44C045BC-3160-4D3D-BB23-FA8D14E59E04}"/>
              </a:ext>
            </a:extLst>
          </p:cNvPr>
          <p:cNvSpPr>
            <a:spLocks xmlns:a="http://schemas.openxmlformats.org/drawingml/2006/main" noGrp="1"/>
          </p:cNvSpPr>
          <p:nvPr/>
        </p:nvSpPr>
        <p:spPr>
          <a:xfrm xmlns:a="http://schemas.openxmlformats.org/drawingml/2006/main">
            <a:off x="2266950" y="3695700"/>
            <a:ext cx="2590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Pickup Notes and selective assisted rides</a:t>
            </a:r>
          </a:p>
        </p:txBody>
      </p:sp>
      <p:sp>
        <p:nvSpPr>
          <p:cNvPr id="31" name="">
            <a:extLst xmlns:a="http://schemas.openxmlformats.org/drawingml/2006/main">
              <a:ext uri="{FF2B5EF4-FFF2-40B4-BE49-F238E27FC236}">
                <a16:creationId xmlns:a16="http://schemas.microsoft.com/office/drawing/2014/main" id="{A4EB45EC-D448-4918-B170-CC61BAFEC263}"/>
              </a:ext>
            </a:extLst>
          </p:cNvPr>
          <p:cNvSpPr>
            <a:spLocks xmlns:a="http://schemas.openxmlformats.org/drawingml/2006/main" noGrp="1"/>
          </p:cNvSpPr>
          <p:nvPr/>
        </p:nvSpPr>
        <p:spPr>
          <a:xfrm xmlns:a="http://schemas.openxmlformats.org/drawingml/2006/main">
            <a:off x="4953000" y="3600450"/>
            <a:ext cx="325755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32" name="">
            <a:extLst xmlns:a="http://schemas.openxmlformats.org/drawingml/2006/main">
              <a:ext uri="{FF2B5EF4-FFF2-40B4-BE49-F238E27FC236}">
                <a16:creationId xmlns:a16="http://schemas.microsoft.com/office/drawing/2014/main" id="{DD090709-A80B-490D-AAC3-8C394D72C627}"/>
              </a:ext>
            </a:extLst>
          </p:cNvPr>
          <p:cNvSpPr>
            <a:spLocks xmlns:a="http://schemas.openxmlformats.org/drawingml/2006/main" noGrp="1"/>
          </p:cNvSpPr>
          <p:nvPr/>
        </p:nvSpPr>
        <p:spPr>
          <a:xfrm xmlns:a="http://schemas.openxmlformats.org/drawingml/2006/main">
            <a:off x="5048250" y="3695700"/>
            <a:ext cx="30670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Structured context and recovery precedent</a:t>
            </a:r>
          </a:p>
        </p:txBody>
      </p:sp>
      <p:sp>
        <p:nvSpPr>
          <p:cNvPr id="33" name="">
            <a:extLst xmlns:a="http://schemas.openxmlformats.org/drawingml/2006/main">
              <a:ext uri="{FF2B5EF4-FFF2-40B4-BE49-F238E27FC236}">
                <a16:creationId xmlns:a16="http://schemas.microsoft.com/office/drawing/2014/main" id="{909C698F-46B6-4925-A7EC-D34129B0F522}"/>
              </a:ext>
            </a:extLst>
          </p:cNvPr>
          <p:cNvSpPr>
            <a:spLocks xmlns:a="http://schemas.openxmlformats.org/drawingml/2006/main" noGrp="1"/>
          </p:cNvSpPr>
          <p:nvPr/>
        </p:nvSpPr>
        <p:spPr>
          <a:xfrm xmlns:a="http://schemas.openxmlformats.org/drawingml/2006/main">
            <a:off x="8210550" y="3600450"/>
            <a:ext cx="274320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34" name="">
            <a:extLst xmlns:a="http://schemas.openxmlformats.org/drawingml/2006/main">
              <a:ext uri="{FF2B5EF4-FFF2-40B4-BE49-F238E27FC236}">
                <a16:creationId xmlns:a16="http://schemas.microsoft.com/office/drawing/2014/main" id="{CD90C621-CAE1-4FED-843E-4241D750DED2}"/>
              </a:ext>
            </a:extLst>
          </p:cNvPr>
          <p:cNvSpPr>
            <a:spLocks xmlns:a="http://schemas.openxmlformats.org/drawingml/2006/main" noGrp="1"/>
          </p:cNvSpPr>
          <p:nvPr/>
        </p:nvSpPr>
        <p:spPr>
          <a:xfrm xmlns:a="http://schemas.openxmlformats.org/drawingml/2006/main">
            <a:off x="8305800" y="3695700"/>
            <a:ext cx="25527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US market</a:t>
            </a:r>
          </a:p>
        </p:txBody>
      </p:sp>
      <p:sp>
        <p:nvSpPr>
          <p:cNvPr id="35" name="">
            <a:extLst xmlns:a="http://schemas.openxmlformats.org/drawingml/2006/main">
              <a:ext uri="{FF2B5EF4-FFF2-40B4-BE49-F238E27FC236}">
                <a16:creationId xmlns:a16="http://schemas.microsoft.com/office/drawing/2014/main" id="{23DB21C4-AFE3-4179-A332-5A7481E7473F}"/>
              </a:ext>
            </a:extLst>
          </p:cNvPr>
          <p:cNvSpPr>
            <a:spLocks xmlns:a="http://schemas.openxmlformats.org/drawingml/2006/main" noGrp="1"/>
          </p:cNvSpPr>
          <p:nvPr/>
        </p:nvSpPr>
        <p:spPr>
          <a:xfrm xmlns:a="http://schemas.openxmlformats.org/drawingml/2006/main">
            <a:off x="514350" y="4343400"/>
            <a:ext cx="1657350" cy="742950"/>
          </a:xfrm>
          <a:prstGeom xmlns:a="http://schemas.openxmlformats.org/drawingml/2006/main" prst="rect">
            <a:avLst/>
          </a:prstGeom>
          <a:solidFill xmlns:a="http://schemas.openxmlformats.org/drawingml/2006/main">
            <a:srgbClr val="F8F9FB"/>
          </a:solidFill>
          <a:ln xmlns:a="http://schemas.openxmlformats.org/drawingml/2006/main" w="9525">
            <a:solidFill>
              <a:srgbClr val="E8ECF1"/>
            </a:solidFill>
            <a:prstDash val="solid"/>
          </a:ln>
        </p:spPr>
      </p:sp>
      <p:sp>
        <p:nvSpPr>
          <p:cNvPr id="36" name="">
            <a:extLst xmlns:a="http://schemas.openxmlformats.org/drawingml/2006/main">
              <a:ext uri="{FF2B5EF4-FFF2-40B4-BE49-F238E27FC236}">
                <a16:creationId xmlns:a16="http://schemas.microsoft.com/office/drawing/2014/main" id="{FEFC6F79-2568-4E18-BEF3-29CEFC08D4B8}"/>
              </a:ext>
            </a:extLst>
          </p:cNvPr>
          <p:cNvSpPr>
            <a:spLocks xmlns:a="http://schemas.openxmlformats.org/drawingml/2006/main" noGrp="1"/>
          </p:cNvSpPr>
          <p:nvPr/>
        </p:nvSpPr>
        <p:spPr>
          <a:xfrm xmlns:a="http://schemas.openxmlformats.org/drawingml/2006/main">
            <a:off x="609600" y="4438650"/>
            <a:ext cx="14668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350" b="1" i="0">
                <a:solidFill>
                  <a:srgbClr val="1B2B45"/>
                </a:solidFill>
                <a:latin typeface="Calibri"/>
                <a:ea typeface="Calibri"/>
                <a:cs typeface="Calibri"/>
              </a:defRPr>
            </a:pPr>
            <a:r>
              <a:rPr sz="1350" b="1" i="0">
                <a:solidFill>
                  <a:srgbClr val="1B2B45"/>
                </a:solidFill>
                <a:latin typeface="Calibri"/>
                <a:ea typeface="Calibri"/>
                <a:cs typeface="Calibri"/>
              </a:rPr>
              <a:t>Waymo</a:t>
            </a:r>
          </a:p>
        </p:txBody>
      </p:sp>
      <p:sp>
        <p:nvSpPr>
          <p:cNvPr id="37" name="">
            <a:extLst xmlns:a="http://schemas.openxmlformats.org/drawingml/2006/main">
              <a:ext uri="{FF2B5EF4-FFF2-40B4-BE49-F238E27FC236}">
                <a16:creationId xmlns:a16="http://schemas.microsoft.com/office/drawing/2014/main" id="{E6A26C45-131A-4F1F-8BB0-1B98504709C9}"/>
              </a:ext>
            </a:extLst>
          </p:cNvPr>
          <p:cNvSpPr>
            <a:spLocks xmlns:a="http://schemas.openxmlformats.org/drawingml/2006/main" noGrp="1"/>
          </p:cNvSpPr>
          <p:nvPr/>
        </p:nvSpPr>
        <p:spPr>
          <a:xfrm xmlns:a="http://schemas.openxmlformats.org/drawingml/2006/main">
            <a:off x="2171700" y="4343400"/>
            <a:ext cx="2781300" cy="742950"/>
          </a:xfrm>
          <a:prstGeom xmlns:a="http://schemas.openxmlformats.org/drawingml/2006/main" prst="rect">
            <a:avLst/>
          </a:prstGeom>
          <a:solidFill xmlns:a="http://schemas.openxmlformats.org/drawingml/2006/main">
            <a:srgbClr val="F8F9FB"/>
          </a:solidFill>
          <a:ln xmlns:a="http://schemas.openxmlformats.org/drawingml/2006/main" w="9525">
            <a:solidFill>
              <a:srgbClr val="E8ECF1"/>
            </a:solidFill>
            <a:prstDash val="solid"/>
          </a:ln>
        </p:spPr>
      </p:sp>
      <p:sp>
        <p:nvSpPr>
          <p:cNvPr id="38" name="">
            <a:extLst xmlns:a="http://schemas.openxmlformats.org/drawingml/2006/main">
              <a:ext uri="{FF2B5EF4-FFF2-40B4-BE49-F238E27FC236}">
                <a16:creationId xmlns:a16="http://schemas.microsoft.com/office/drawing/2014/main" id="{AED5D38F-61A0-4D98-9A17-63F8C2D1A926}"/>
              </a:ext>
            </a:extLst>
          </p:cNvPr>
          <p:cNvSpPr>
            <a:spLocks xmlns:a="http://schemas.openxmlformats.org/drawingml/2006/main" noGrp="1"/>
          </p:cNvSpPr>
          <p:nvPr/>
        </p:nvSpPr>
        <p:spPr>
          <a:xfrm xmlns:a="http://schemas.openxmlformats.org/drawingml/2006/main">
            <a:off x="2266950" y="4438650"/>
            <a:ext cx="2590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Navigable stops; walking preference</a:t>
            </a:r>
          </a:p>
        </p:txBody>
      </p:sp>
      <p:sp>
        <p:nvSpPr>
          <p:cNvPr id="39" name="">
            <a:extLst xmlns:a="http://schemas.openxmlformats.org/drawingml/2006/main">
              <a:ext uri="{FF2B5EF4-FFF2-40B4-BE49-F238E27FC236}">
                <a16:creationId xmlns:a16="http://schemas.microsoft.com/office/drawing/2014/main" id="{0753EB65-1683-451E-A9C7-0BD2763A57D0}"/>
              </a:ext>
            </a:extLst>
          </p:cNvPr>
          <p:cNvSpPr>
            <a:spLocks xmlns:a="http://schemas.openxmlformats.org/drawingml/2006/main" noGrp="1"/>
          </p:cNvSpPr>
          <p:nvPr/>
        </p:nvSpPr>
        <p:spPr>
          <a:xfrm xmlns:a="http://schemas.openxmlformats.org/drawingml/2006/main">
            <a:off x="4953000" y="4343400"/>
            <a:ext cx="3257550" cy="742950"/>
          </a:xfrm>
          <a:prstGeom xmlns:a="http://schemas.openxmlformats.org/drawingml/2006/main" prst="rect">
            <a:avLst/>
          </a:prstGeom>
          <a:solidFill xmlns:a="http://schemas.openxmlformats.org/drawingml/2006/main">
            <a:srgbClr val="F8F9FB"/>
          </a:solidFill>
          <a:ln xmlns:a="http://schemas.openxmlformats.org/drawingml/2006/main" w="9525">
            <a:solidFill>
              <a:srgbClr val="E8ECF1"/>
            </a:solidFill>
            <a:prstDash val="solid"/>
          </a:ln>
        </p:spPr>
      </p:sp>
      <p:sp>
        <p:nvSpPr>
          <p:cNvPr id="40" name="">
            <a:extLst xmlns:a="http://schemas.openxmlformats.org/drawingml/2006/main">
              <a:ext uri="{FF2B5EF4-FFF2-40B4-BE49-F238E27FC236}">
                <a16:creationId xmlns:a16="http://schemas.microsoft.com/office/drawing/2014/main" id="{5AA6D193-48A1-47E8-87DA-853E39C37B1A}"/>
              </a:ext>
            </a:extLst>
          </p:cNvPr>
          <p:cNvSpPr>
            <a:spLocks xmlns:a="http://schemas.openxmlformats.org/drawingml/2006/main" noGrp="1"/>
          </p:cNvSpPr>
          <p:nvPr/>
        </p:nvSpPr>
        <p:spPr>
          <a:xfrm xmlns:a="http://schemas.openxmlformats.org/drawingml/2006/main">
            <a:off x="5048250" y="4438650"/>
            <a:ext cx="30670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Explain vehicle-access vs walking trade-off</a:t>
            </a:r>
          </a:p>
        </p:txBody>
      </p:sp>
      <p:sp>
        <p:nvSpPr>
          <p:cNvPr id="41" name="">
            <a:extLst xmlns:a="http://schemas.openxmlformats.org/drawingml/2006/main">
              <a:ext uri="{FF2B5EF4-FFF2-40B4-BE49-F238E27FC236}">
                <a16:creationId xmlns:a16="http://schemas.microsoft.com/office/drawing/2014/main" id="{7EC7C389-B7E5-4507-A03E-536467C0EC8B}"/>
              </a:ext>
            </a:extLst>
          </p:cNvPr>
          <p:cNvSpPr>
            <a:spLocks xmlns:a="http://schemas.openxmlformats.org/drawingml/2006/main" noGrp="1"/>
          </p:cNvSpPr>
          <p:nvPr/>
        </p:nvSpPr>
        <p:spPr>
          <a:xfrm xmlns:a="http://schemas.openxmlformats.org/drawingml/2006/main">
            <a:off x="8210550" y="4343400"/>
            <a:ext cx="2743200" cy="742950"/>
          </a:xfrm>
          <a:prstGeom xmlns:a="http://schemas.openxmlformats.org/drawingml/2006/main" prst="rect">
            <a:avLst/>
          </a:prstGeom>
          <a:solidFill xmlns:a="http://schemas.openxmlformats.org/drawingml/2006/main">
            <a:srgbClr val="F8F9FB"/>
          </a:solidFill>
          <a:ln xmlns:a="http://schemas.openxmlformats.org/drawingml/2006/main" w="9525">
            <a:solidFill>
              <a:srgbClr val="E8ECF1"/>
            </a:solidFill>
            <a:prstDash val="solid"/>
          </a:ln>
        </p:spPr>
      </p:sp>
      <p:sp>
        <p:nvSpPr>
          <p:cNvPr id="42" name="">
            <a:extLst xmlns:a="http://schemas.openxmlformats.org/drawingml/2006/main">
              <a:ext uri="{FF2B5EF4-FFF2-40B4-BE49-F238E27FC236}">
                <a16:creationId xmlns:a16="http://schemas.microsoft.com/office/drawing/2014/main" id="{A9B61BC1-DBFE-487F-92EE-34AF697B1F6D}"/>
              </a:ext>
            </a:extLst>
          </p:cNvPr>
          <p:cNvSpPr>
            <a:spLocks xmlns:a="http://schemas.openxmlformats.org/drawingml/2006/main" noGrp="1"/>
          </p:cNvSpPr>
          <p:nvPr/>
        </p:nvSpPr>
        <p:spPr>
          <a:xfrm xmlns:a="http://schemas.openxmlformats.org/drawingml/2006/main">
            <a:off x="8305800" y="4438650"/>
            <a:ext cx="25527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US autonomous rides</a:t>
            </a:r>
          </a:p>
        </p:txBody>
      </p:sp>
      <p:sp>
        <p:nvSpPr>
          <p:cNvPr id="43" name="">
            <a:extLst xmlns:a="http://schemas.openxmlformats.org/drawingml/2006/main">
              <a:ext uri="{FF2B5EF4-FFF2-40B4-BE49-F238E27FC236}">
                <a16:creationId xmlns:a16="http://schemas.microsoft.com/office/drawing/2014/main" id="{99362980-CEBC-425F-8D38-349C48DFBA87}"/>
              </a:ext>
            </a:extLst>
          </p:cNvPr>
          <p:cNvSpPr>
            <a:spLocks xmlns:a="http://schemas.openxmlformats.org/drawingml/2006/main" noGrp="1"/>
          </p:cNvSpPr>
          <p:nvPr/>
        </p:nvSpPr>
        <p:spPr>
          <a:xfrm xmlns:a="http://schemas.openxmlformats.org/drawingml/2006/main">
            <a:off x="514350" y="5086350"/>
            <a:ext cx="165735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44" name="">
            <a:extLst xmlns:a="http://schemas.openxmlformats.org/drawingml/2006/main">
              <a:ext uri="{FF2B5EF4-FFF2-40B4-BE49-F238E27FC236}">
                <a16:creationId xmlns:a16="http://schemas.microsoft.com/office/drawing/2014/main" id="{D79A6961-3189-4DE6-85EF-D8320B09B107}"/>
              </a:ext>
            </a:extLst>
          </p:cNvPr>
          <p:cNvSpPr>
            <a:spLocks xmlns:a="http://schemas.openxmlformats.org/drawingml/2006/main" noGrp="1"/>
          </p:cNvSpPr>
          <p:nvPr/>
        </p:nvSpPr>
        <p:spPr>
          <a:xfrm xmlns:a="http://schemas.openxmlformats.org/drawingml/2006/main">
            <a:off x="609600" y="5181600"/>
            <a:ext cx="14668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350" b="1" i="0">
                <a:solidFill>
                  <a:srgbClr val="1B2B45"/>
                </a:solidFill>
                <a:latin typeface="Calibri"/>
                <a:ea typeface="Calibri"/>
                <a:cs typeface="Calibri"/>
              </a:defRPr>
            </a:pPr>
            <a:r>
              <a:rPr sz="1350" b="1" i="0">
                <a:solidFill>
                  <a:srgbClr val="1B2B45"/>
                </a:solidFill>
                <a:latin typeface="Calibri"/>
                <a:ea typeface="Calibri"/>
                <a:cs typeface="Calibri"/>
              </a:rPr>
              <a:t>MyGate</a:t>
            </a:r>
          </a:p>
        </p:txBody>
      </p:sp>
      <p:sp>
        <p:nvSpPr>
          <p:cNvPr id="45" name="">
            <a:extLst xmlns:a="http://schemas.openxmlformats.org/drawingml/2006/main">
              <a:ext uri="{FF2B5EF4-FFF2-40B4-BE49-F238E27FC236}">
                <a16:creationId xmlns:a16="http://schemas.microsoft.com/office/drawing/2014/main" id="{759BD2AA-4276-4BE9-8064-BE3D74248B4B}"/>
              </a:ext>
            </a:extLst>
          </p:cNvPr>
          <p:cNvSpPr>
            <a:spLocks xmlns:a="http://schemas.openxmlformats.org/drawingml/2006/main" noGrp="1"/>
          </p:cNvSpPr>
          <p:nvPr/>
        </p:nvSpPr>
        <p:spPr>
          <a:xfrm xmlns:a="http://schemas.openxmlformats.org/drawingml/2006/main">
            <a:off x="2171700" y="5086350"/>
            <a:ext cx="278130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46" name="">
            <a:extLst xmlns:a="http://schemas.openxmlformats.org/drawingml/2006/main">
              <a:ext uri="{FF2B5EF4-FFF2-40B4-BE49-F238E27FC236}">
                <a16:creationId xmlns:a16="http://schemas.microsoft.com/office/drawing/2014/main" id="{17A442C2-A879-445C-BDEF-EB1A9BE94E57}"/>
              </a:ext>
            </a:extLst>
          </p:cNvPr>
          <p:cNvSpPr>
            <a:spLocks xmlns:a="http://schemas.openxmlformats.org/drawingml/2006/main" noGrp="1"/>
          </p:cNvSpPr>
          <p:nvPr/>
        </p:nvSpPr>
        <p:spPr>
          <a:xfrm xmlns:a="http://schemas.openxmlformats.org/drawingml/2006/main">
            <a:off x="2266950" y="5181600"/>
            <a:ext cx="2590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Privacy-aware gate handoff</a:t>
            </a:r>
          </a:p>
        </p:txBody>
      </p:sp>
      <p:sp>
        <p:nvSpPr>
          <p:cNvPr id="47" name="">
            <a:extLst xmlns:a="http://schemas.openxmlformats.org/drawingml/2006/main">
              <a:ext uri="{FF2B5EF4-FFF2-40B4-BE49-F238E27FC236}">
                <a16:creationId xmlns:a16="http://schemas.microsoft.com/office/drawing/2014/main" id="{D99B2A3B-48B8-4A3B-B9DC-6089C07B557D}"/>
              </a:ext>
            </a:extLst>
          </p:cNvPr>
          <p:cNvSpPr>
            <a:spLocks xmlns:a="http://schemas.openxmlformats.org/drawingml/2006/main" noGrp="1"/>
          </p:cNvSpPr>
          <p:nvPr/>
        </p:nvSpPr>
        <p:spPr>
          <a:xfrm xmlns:a="http://schemas.openxmlformats.org/drawingml/2006/main">
            <a:off x="4953000" y="5086350"/>
            <a:ext cx="325755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48" name="">
            <a:extLst xmlns:a="http://schemas.openxmlformats.org/drawingml/2006/main">
              <a:ext uri="{FF2B5EF4-FFF2-40B4-BE49-F238E27FC236}">
                <a16:creationId xmlns:a16="http://schemas.microsoft.com/office/drawing/2014/main" id="{9D7A2733-469F-42FA-8F93-9AD266719DD8}"/>
              </a:ext>
            </a:extLst>
          </p:cNvPr>
          <p:cNvSpPr>
            <a:spLocks xmlns:a="http://schemas.openxmlformats.org/drawingml/2006/main" noGrp="1"/>
          </p:cNvSpPr>
          <p:nvPr/>
        </p:nvSpPr>
        <p:spPr>
          <a:xfrm xmlns:a="http://schemas.openxmlformats.org/drawingml/2006/main">
            <a:off x="5048250" y="5181600"/>
            <a:ext cx="30670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Access-aware residential coordination</a:t>
            </a:r>
          </a:p>
        </p:txBody>
      </p:sp>
      <p:sp>
        <p:nvSpPr>
          <p:cNvPr id="49" name="">
            <a:extLst xmlns:a="http://schemas.openxmlformats.org/drawingml/2006/main">
              <a:ext uri="{FF2B5EF4-FFF2-40B4-BE49-F238E27FC236}">
                <a16:creationId xmlns:a16="http://schemas.microsoft.com/office/drawing/2014/main" id="{F46EE583-B796-4B07-85ED-F8F760187BD3}"/>
              </a:ext>
            </a:extLst>
          </p:cNvPr>
          <p:cNvSpPr>
            <a:spLocks xmlns:a="http://schemas.openxmlformats.org/drawingml/2006/main" noGrp="1"/>
          </p:cNvSpPr>
          <p:nvPr/>
        </p:nvSpPr>
        <p:spPr>
          <a:xfrm xmlns:a="http://schemas.openxmlformats.org/drawingml/2006/main">
            <a:off x="8210550" y="5086350"/>
            <a:ext cx="274320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50" name="">
            <a:extLst xmlns:a="http://schemas.openxmlformats.org/drawingml/2006/main">
              <a:ext uri="{FF2B5EF4-FFF2-40B4-BE49-F238E27FC236}">
                <a16:creationId xmlns:a16="http://schemas.microsoft.com/office/drawing/2014/main" id="{0519EEBF-7C6B-4DB2-948C-94CF3E0F7B80}"/>
              </a:ext>
            </a:extLst>
          </p:cNvPr>
          <p:cNvSpPr>
            <a:spLocks xmlns:a="http://schemas.openxmlformats.org/drawingml/2006/main" noGrp="1"/>
          </p:cNvSpPr>
          <p:nvPr/>
        </p:nvSpPr>
        <p:spPr>
          <a:xfrm xmlns:a="http://schemas.openxmlformats.org/drawingml/2006/main">
            <a:off x="8305800" y="5181600"/>
            <a:ext cx="25527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Adjacent Indian product</a:t>
            </a:r>
          </a:p>
        </p:txBody>
      </p:sp>
      <p:sp>
        <p:nvSpPr>
          <p:cNvPr id="51" name="">
            <a:extLst xmlns:a="http://schemas.openxmlformats.org/drawingml/2006/main">
              <a:ext uri="{FF2B5EF4-FFF2-40B4-BE49-F238E27FC236}">
                <a16:creationId xmlns:a16="http://schemas.microsoft.com/office/drawing/2014/main" id="{0A58544D-0C70-441E-8223-D86ED326ABDE}"/>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 · Appendix</a:t>
            </a:r>
          </a:p>
        </p:txBody>
      </p:sp>
      <p:sp>
        <p:nvSpPr>
          <p:cNvPr id="52" name="">
            <a:extLst xmlns:a="http://schemas.openxmlformats.org/drawingml/2006/main">
              <a:ext uri="{FF2B5EF4-FFF2-40B4-BE49-F238E27FC236}">
                <a16:creationId xmlns:a16="http://schemas.microsoft.com/office/drawing/2014/main" id="{D657618A-C0C0-490D-8926-AA62B1806116}"/>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18</a:t>
            </a:r>
          </a:p>
        </p:txBody>
      </p:sp>
    </p:spTree>
    <p:extLst>
      <p:ext uri="{BB962C8B-B14F-4D97-AF65-F5344CB8AC3E}">
        <p14:creationId xmlns:p14="http://schemas.microsoft.com/office/powerpoint/2010/main" val="1106317912"/>
      </p:ext>
    </p:extLst>
  </p:cSld>
</p:sld>
</file>

<file path=ppt/slides/slide19.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7D3A7A13-A622-4AEF-88C0-E7DAB5D87D74}"/>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APPENDIX · 3 · STRATEGY IMPLICATIONS</a:t>
            </a:r>
          </a:p>
        </p:txBody>
      </p:sp>
      <p:sp>
        <p:nvSpPr>
          <p:cNvPr id="2" name="">
            <a:extLst xmlns:a="http://schemas.openxmlformats.org/drawingml/2006/main">
              <a:ext uri="{FF2B5EF4-FFF2-40B4-BE49-F238E27FC236}">
                <a16:creationId xmlns:a16="http://schemas.microsoft.com/office/drawing/2014/main" id="{F419A5B7-3EE6-42B3-B3CF-AF1C2F741487}"/>
              </a:ext>
            </a:extLst>
          </p:cNvPr>
          <p:cNvSpPr>
            <a:spLocks xmlns:a="http://schemas.openxmlformats.org/drawingml/2006/main" noGrp="1"/>
          </p:cNvSpPr>
          <p:nvPr/>
        </p:nvSpPr>
        <p:spPr>
          <a:xfrm xmlns:a="http://schemas.openxmlformats.org/drawingml/2006/main">
            <a:off x="514350" y="571500"/>
            <a:ext cx="1114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What the evidence changes — and what it does not support</a:t>
            </a:r>
          </a:p>
        </p:txBody>
      </p:sp>
      <p:sp>
        <p:nvSpPr>
          <p:cNvPr id="3" name="">
            <a:extLst xmlns:a="http://schemas.openxmlformats.org/drawingml/2006/main">
              <a:ext uri="{FF2B5EF4-FFF2-40B4-BE49-F238E27FC236}">
                <a16:creationId xmlns:a16="http://schemas.microsoft.com/office/drawing/2014/main" id="{D8F19E80-4B92-4F21-A4BB-386B0CF0379C}"/>
              </a:ext>
            </a:extLst>
          </p:cNvPr>
          <p:cNvSpPr>
            <a:spLocks xmlns:a="http://schemas.openxmlformats.org/drawingml/2006/main" noGrp="1"/>
          </p:cNvSpPr>
          <p:nvPr/>
        </p:nvSpPr>
        <p:spPr>
          <a:xfrm xmlns:a="http://schemas.openxmlformats.org/drawingml/2006/main">
            <a:off x="514350" y="1619250"/>
            <a:ext cx="4953000" cy="1181100"/>
          </a:xfrm>
          <a:prstGeom xmlns:a="http://schemas.openxmlformats.org/drawingml/2006/main" prst="roundRect">
            <a:avLst>
              <a:gd name="adj" fmla="val 4839"/>
            </a:avLst>
          </a:prstGeom>
          <a:solidFill xmlns:a="http://schemas.openxmlformats.org/drawingml/2006/main">
            <a:srgbClr val="FFFFFF"/>
          </a:solidFill>
          <a:ln xmlns:a="http://schemas.openxmlformats.org/drawingml/2006/main" w="9525">
            <a:solidFill>
              <a:srgbClr val="E8ECF1"/>
            </a:solidFill>
            <a:prstDash val="solid"/>
          </a:ln>
        </p:spPr>
      </p:sp>
      <p:sp>
        <p:nvSpPr>
          <p:cNvPr id="4" name="">
            <a:extLst xmlns:a="http://schemas.openxmlformats.org/drawingml/2006/main">
              <a:ext uri="{FF2B5EF4-FFF2-40B4-BE49-F238E27FC236}">
                <a16:creationId xmlns:a16="http://schemas.microsoft.com/office/drawing/2014/main" id="{33D0A3E3-B01E-4AE1-AC15-1FAA231BBB1C}"/>
              </a:ext>
            </a:extLst>
          </p:cNvPr>
          <p:cNvSpPr>
            <a:spLocks xmlns:a="http://schemas.openxmlformats.org/drawingml/2006/main" noGrp="1"/>
          </p:cNvSpPr>
          <p:nvPr/>
        </p:nvSpPr>
        <p:spPr>
          <a:xfrm xmlns:a="http://schemas.openxmlformats.org/drawingml/2006/main">
            <a:off x="666750" y="1733550"/>
            <a:ext cx="4648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F47A22"/>
                </a:solidFill>
                <a:latin typeface="Calibri"/>
                <a:ea typeface="Calibri"/>
                <a:cs typeface="Calibri"/>
              </a:defRPr>
            </a:pPr>
            <a:r>
              <a:rPr sz="1275" b="1" i="0">
                <a:solidFill>
                  <a:srgbClr val="F47A22"/>
                </a:solidFill>
                <a:latin typeface="Calibri"/>
                <a:ea typeface="Calibri"/>
                <a:cs typeface="Calibri"/>
              </a:rPr>
              <a:t>PARTIALLY SUPPORTED</a:t>
            </a:r>
          </a:p>
        </p:txBody>
      </p:sp>
      <p:sp>
        <p:nvSpPr>
          <p:cNvPr id="5" name="">
            <a:extLst xmlns:a="http://schemas.openxmlformats.org/drawingml/2006/main">
              <a:ext uri="{FF2B5EF4-FFF2-40B4-BE49-F238E27FC236}">
                <a16:creationId xmlns:a16="http://schemas.microsoft.com/office/drawing/2014/main" id="{707FEF8A-B470-43E1-9D6A-6B0CFA10AAAB}"/>
              </a:ext>
            </a:extLst>
          </p:cNvPr>
          <p:cNvSpPr>
            <a:spLocks xmlns:a="http://schemas.openxmlformats.org/drawingml/2006/main" noGrp="1"/>
          </p:cNvSpPr>
          <p:nvPr/>
        </p:nvSpPr>
        <p:spPr>
          <a:xfrm xmlns:a="http://schemas.openxmlformats.org/drawingml/2006/main">
            <a:off x="666750" y="2066925"/>
            <a:ext cx="4648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9506"/>
          </a:bodyPr>
          <a:lstStyle xmlns:a="http://schemas.openxmlformats.org/drawingml/2006/main"/>
          <a:p xmlns:a="http://schemas.openxmlformats.org/drawingml/2006/main">
            <a:pPr algn="l">
              <a:defRPr sz="1350" b="0" i="0">
                <a:solidFill>
                  <a:srgbClr val="233248"/>
                </a:solidFill>
                <a:latin typeface="Calibri"/>
                <a:ea typeface="Calibri"/>
                <a:cs typeface="Calibri"/>
              </a:defRPr>
            </a:pPr>
            <a:r>
              <a:rPr sz="1350" b="0" i="0">
                <a:solidFill>
                  <a:srgbClr val="233248"/>
                </a:solidFill>
                <a:latin typeface="Calibri"/>
                <a:ea typeface="Calibri"/>
                <a:cs typeface="Calibri"/>
              </a:rPr>
              <a:t>Indoor-to-outdoor navigation matters, but gated residences, offices, and streets show a broader shared-reference-point problem.</a:t>
            </a:r>
          </a:p>
        </p:txBody>
      </p:sp>
      <p:sp>
        <p:nvSpPr>
          <p:cNvPr id="6" name="">
            <a:extLst xmlns:a="http://schemas.openxmlformats.org/drawingml/2006/main">
              <a:ext uri="{FF2B5EF4-FFF2-40B4-BE49-F238E27FC236}">
                <a16:creationId xmlns:a16="http://schemas.microsoft.com/office/drawing/2014/main" id="{64CE0E1C-501E-4E9C-82E3-6DB7B2DD04D2}"/>
              </a:ext>
            </a:extLst>
          </p:cNvPr>
          <p:cNvSpPr>
            <a:spLocks xmlns:a="http://schemas.openxmlformats.org/drawingml/2006/main" noGrp="1"/>
          </p:cNvSpPr>
          <p:nvPr/>
        </p:nvSpPr>
        <p:spPr>
          <a:xfrm xmlns:a="http://schemas.openxmlformats.org/drawingml/2006/main">
            <a:off x="5810250" y="1619250"/>
            <a:ext cx="5143500" cy="1181100"/>
          </a:xfrm>
          <a:prstGeom xmlns:a="http://schemas.openxmlformats.org/drawingml/2006/main" prst="roundRect">
            <a:avLst>
              <a:gd name="adj" fmla="val 4839"/>
            </a:avLst>
          </a:prstGeom>
          <a:solidFill xmlns:a="http://schemas.openxmlformats.org/drawingml/2006/main">
            <a:srgbClr val="FFFFFF"/>
          </a:solidFill>
          <a:ln xmlns:a="http://schemas.openxmlformats.org/drawingml/2006/main" w="9525">
            <a:solidFill>
              <a:srgbClr val="E8ECF1"/>
            </a:solidFill>
            <a:prstDash val="solid"/>
          </a:ln>
        </p:spPr>
      </p:sp>
      <p:sp>
        <p:nvSpPr>
          <p:cNvPr id="7" name="">
            <a:extLst xmlns:a="http://schemas.openxmlformats.org/drawingml/2006/main">
              <a:ext uri="{FF2B5EF4-FFF2-40B4-BE49-F238E27FC236}">
                <a16:creationId xmlns:a16="http://schemas.microsoft.com/office/drawing/2014/main" id="{2196B0A4-4AA7-42E4-A249-F6E2E97CE354}"/>
              </a:ext>
            </a:extLst>
          </p:cNvPr>
          <p:cNvSpPr>
            <a:spLocks xmlns:a="http://schemas.openxmlformats.org/drawingml/2006/main" noGrp="1"/>
          </p:cNvSpPr>
          <p:nvPr/>
        </p:nvSpPr>
        <p:spPr>
          <a:xfrm xmlns:a="http://schemas.openxmlformats.org/drawingml/2006/main">
            <a:off x="5962650" y="1733550"/>
            <a:ext cx="4838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F47A22"/>
                </a:solidFill>
                <a:latin typeface="Calibri"/>
                <a:ea typeface="Calibri"/>
                <a:cs typeface="Calibri"/>
              </a:defRPr>
            </a:pPr>
            <a:r>
              <a:rPr sz="1275" b="1" i="0">
                <a:solidFill>
                  <a:srgbClr val="F47A22"/>
                </a:solidFill>
                <a:latin typeface="Calibri"/>
                <a:ea typeface="Calibri"/>
                <a:cs typeface="Calibri"/>
              </a:rPr>
              <a:t>SUPPORTED, THIN</a:t>
            </a:r>
          </a:p>
        </p:txBody>
      </p:sp>
      <p:sp>
        <p:nvSpPr>
          <p:cNvPr id="8" name="">
            <a:extLst xmlns:a="http://schemas.openxmlformats.org/drawingml/2006/main">
              <a:ext uri="{FF2B5EF4-FFF2-40B4-BE49-F238E27FC236}">
                <a16:creationId xmlns:a16="http://schemas.microsoft.com/office/drawing/2014/main" id="{164CCDFD-DB44-4876-895A-485A4E708EF1}"/>
              </a:ext>
            </a:extLst>
          </p:cNvPr>
          <p:cNvSpPr>
            <a:spLocks xmlns:a="http://schemas.openxmlformats.org/drawingml/2006/main" noGrp="1"/>
          </p:cNvSpPr>
          <p:nvPr/>
        </p:nvSpPr>
        <p:spPr>
          <a:xfrm xmlns:a="http://schemas.openxmlformats.org/drawingml/2006/main">
            <a:off x="5962650" y="2066925"/>
            <a:ext cx="48387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7414"/>
          </a:bodyPr>
          <a:lstStyle xmlns:a="http://schemas.openxmlformats.org/drawingml/2006/main"/>
          <a:p xmlns:a="http://schemas.openxmlformats.org/drawingml/2006/main">
            <a:pPr algn="l">
              <a:defRPr sz="1350" b="0" i="0">
                <a:solidFill>
                  <a:srgbClr val="233248"/>
                </a:solidFill>
                <a:latin typeface="Calibri"/>
                <a:ea typeface="Calibri"/>
                <a:cs typeface="Calibri"/>
              </a:defRPr>
            </a:pPr>
            <a:r>
              <a:rPr sz="1350" b="0" i="0">
                <a:solidFill>
                  <a:srgbClr val="233248"/>
                </a:solidFill>
                <a:latin typeface="Calibri"/>
                <a:ea typeface="Calibri"/>
                <a:cs typeface="Calibri"/>
              </a:rPr>
              <a:t>Access and stopping constraints matter; driver evidence is only four responses, so desk research carries more weight here.</a:t>
            </a:r>
          </a:p>
        </p:txBody>
      </p:sp>
      <p:sp>
        <p:nvSpPr>
          <p:cNvPr id="9" name="">
            <a:extLst xmlns:a="http://schemas.openxmlformats.org/drawingml/2006/main">
              <a:ext uri="{FF2B5EF4-FFF2-40B4-BE49-F238E27FC236}">
                <a16:creationId xmlns:a16="http://schemas.microsoft.com/office/drawing/2014/main" id="{8F92AB01-3164-4408-8F65-79E21D1B5250}"/>
              </a:ext>
            </a:extLst>
          </p:cNvPr>
          <p:cNvSpPr>
            <a:spLocks xmlns:a="http://schemas.openxmlformats.org/drawingml/2006/main" noGrp="1"/>
          </p:cNvSpPr>
          <p:nvPr/>
        </p:nvSpPr>
        <p:spPr>
          <a:xfrm xmlns:a="http://schemas.openxmlformats.org/drawingml/2006/main">
            <a:off x="514350" y="2990850"/>
            <a:ext cx="4953000" cy="1181100"/>
          </a:xfrm>
          <a:prstGeom xmlns:a="http://schemas.openxmlformats.org/drawingml/2006/main" prst="roundRect">
            <a:avLst>
              <a:gd name="adj" fmla="val 4839"/>
            </a:avLst>
          </a:prstGeom>
          <a:solidFill xmlns:a="http://schemas.openxmlformats.org/drawingml/2006/main">
            <a:srgbClr val="E2F4F6"/>
          </a:solidFill>
          <a:ln xmlns:a="http://schemas.openxmlformats.org/drawingml/2006/main" w="9525">
            <a:solidFill>
              <a:srgbClr val="E8ECF1"/>
            </a:solidFill>
            <a:prstDash val="solid"/>
          </a:ln>
        </p:spPr>
      </p:sp>
      <p:sp>
        <p:nvSpPr>
          <p:cNvPr id="10" name="">
            <a:extLst xmlns:a="http://schemas.openxmlformats.org/drawingml/2006/main">
              <a:ext uri="{FF2B5EF4-FFF2-40B4-BE49-F238E27FC236}">
                <a16:creationId xmlns:a16="http://schemas.microsoft.com/office/drawing/2014/main" id="{3244DCD1-DB33-4C63-8248-4C3E469D74B5}"/>
              </a:ext>
            </a:extLst>
          </p:cNvPr>
          <p:cNvSpPr>
            <a:spLocks xmlns:a="http://schemas.openxmlformats.org/drawingml/2006/main" noGrp="1"/>
          </p:cNvSpPr>
          <p:nvPr/>
        </p:nvSpPr>
        <p:spPr>
          <a:xfrm xmlns:a="http://schemas.openxmlformats.org/drawingml/2006/main">
            <a:off x="666750" y="3105150"/>
            <a:ext cx="4648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1BB5C8"/>
                </a:solidFill>
                <a:latin typeface="Calibri"/>
                <a:ea typeface="Calibri"/>
                <a:cs typeface="Calibri"/>
              </a:defRPr>
            </a:pPr>
            <a:r>
              <a:rPr sz="1275" b="1" i="0">
                <a:solidFill>
                  <a:srgbClr val="1BB5C8"/>
                </a:solidFill>
                <a:latin typeface="Calibri"/>
                <a:ea typeface="Calibri"/>
                <a:cs typeface="Calibri"/>
              </a:rPr>
              <a:t>SUPPORTED</a:t>
            </a:r>
          </a:p>
        </p:txBody>
      </p:sp>
      <p:sp>
        <p:nvSpPr>
          <p:cNvPr id="11" name="">
            <a:extLst xmlns:a="http://schemas.openxmlformats.org/drawingml/2006/main">
              <a:ext uri="{FF2B5EF4-FFF2-40B4-BE49-F238E27FC236}">
                <a16:creationId xmlns:a16="http://schemas.microsoft.com/office/drawing/2014/main" id="{1588643F-9E19-40AE-AE9E-899E5BD6268D}"/>
              </a:ext>
            </a:extLst>
          </p:cNvPr>
          <p:cNvSpPr>
            <a:spLocks xmlns:a="http://schemas.openxmlformats.org/drawingml/2006/main" noGrp="1"/>
          </p:cNvSpPr>
          <p:nvPr/>
        </p:nvSpPr>
        <p:spPr>
          <a:xfrm xmlns:a="http://schemas.openxmlformats.org/drawingml/2006/main">
            <a:off x="666750" y="3438525"/>
            <a:ext cx="4648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7330"/>
          </a:bodyPr>
          <a:lstStyle xmlns:a="http://schemas.openxmlformats.org/drawingml/2006/main"/>
          <a:p xmlns:a="http://schemas.openxmlformats.org/drawingml/2006/main">
            <a:pPr algn="l">
              <a:defRPr sz="1350" b="0" i="0">
                <a:solidFill>
                  <a:srgbClr val="233248"/>
                </a:solidFill>
                <a:latin typeface="Calibri"/>
                <a:ea typeface="Calibri"/>
                <a:cs typeface="Calibri"/>
              </a:defRPr>
            </a:pPr>
            <a:r>
              <a:rPr sz="1350" b="0" i="0">
                <a:solidFill>
                  <a:srgbClr val="233248"/>
                </a:solidFill>
                <a:latin typeface="Calibri"/>
                <a:ea typeface="Calibri"/>
                <a:cs typeface="Calibri"/>
              </a:rPr>
              <a:t>“Pickup failure” combines location confusion, recovery effort, destination preference, fare, payment, and driver behavior.</a:t>
            </a:r>
          </a:p>
        </p:txBody>
      </p:sp>
      <p:sp>
        <p:nvSpPr>
          <p:cNvPr id="12" name="">
            <a:extLst xmlns:a="http://schemas.openxmlformats.org/drawingml/2006/main">
              <a:ext uri="{FF2B5EF4-FFF2-40B4-BE49-F238E27FC236}">
                <a16:creationId xmlns:a16="http://schemas.microsoft.com/office/drawing/2014/main" id="{6E054064-5940-4E13-B578-12432A9FC4DC}"/>
              </a:ext>
            </a:extLst>
          </p:cNvPr>
          <p:cNvSpPr>
            <a:spLocks xmlns:a="http://schemas.openxmlformats.org/drawingml/2006/main" noGrp="1"/>
          </p:cNvSpPr>
          <p:nvPr/>
        </p:nvSpPr>
        <p:spPr>
          <a:xfrm xmlns:a="http://schemas.openxmlformats.org/drawingml/2006/main">
            <a:off x="5810250" y="2990850"/>
            <a:ext cx="5143500" cy="1181100"/>
          </a:xfrm>
          <a:prstGeom xmlns:a="http://schemas.openxmlformats.org/drawingml/2006/main" prst="roundRect">
            <a:avLst>
              <a:gd name="adj" fmla="val 4839"/>
            </a:avLst>
          </a:prstGeom>
          <a:solidFill xmlns:a="http://schemas.openxmlformats.org/drawingml/2006/main">
            <a:srgbClr val="FBE7D8"/>
          </a:solidFill>
          <a:ln xmlns:a="http://schemas.openxmlformats.org/drawingml/2006/main" w="9525">
            <a:solidFill>
              <a:srgbClr val="E8ECF1"/>
            </a:solidFill>
            <a:prstDash val="solid"/>
          </a:ln>
        </p:spPr>
      </p:sp>
      <p:sp>
        <p:nvSpPr>
          <p:cNvPr id="13" name="">
            <a:extLst xmlns:a="http://schemas.openxmlformats.org/drawingml/2006/main">
              <a:ext uri="{FF2B5EF4-FFF2-40B4-BE49-F238E27FC236}">
                <a16:creationId xmlns:a16="http://schemas.microsoft.com/office/drawing/2014/main" id="{DD8214C5-5010-49E0-81CF-F831A14F839D}"/>
              </a:ext>
            </a:extLst>
          </p:cNvPr>
          <p:cNvSpPr>
            <a:spLocks xmlns:a="http://schemas.openxmlformats.org/drawingml/2006/main" noGrp="1"/>
          </p:cNvSpPr>
          <p:nvPr/>
        </p:nvSpPr>
        <p:spPr>
          <a:xfrm xmlns:a="http://schemas.openxmlformats.org/drawingml/2006/main">
            <a:off x="5962650" y="3105150"/>
            <a:ext cx="4838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1B2B45"/>
                </a:solidFill>
                <a:latin typeface="Calibri"/>
                <a:ea typeface="Calibri"/>
                <a:cs typeface="Calibri"/>
              </a:defRPr>
            </a:pPr>
            <a:r>
              <a:rPr sz="1275" b="1" i="0">
                <a:solidFill>
                  <a:srgbClr val="1B2B45"/>
                </a:solidFill>
                <a:latin typeface="Calibri"/>
                <a:ea typeface="Calibri"/>
                <a:cs typeface="Calibri"/>
              </a:rPr>
              <a:t>NOT SUPPORTED</a:t>
            </a:r>
          </a:p>
        </p:txBody>
      </p:sp>
      <p:sp>
        <p:nvSpPr>
          <p:cNvPr id="14" name="">
            <a:extLst xmlns:a="http://schemas.openxmlformats.org/drawingml/2006/main">
              <a:ext uri="{FF2B5EF4-FFF2-40B4-BE49-F238E27FC236}">
                <a16:creationId xmlns:a16="http://schemas.microsoft.com/office/drawing/2014/main" id="{45D584A0-BF96-4277-BC5E-E7C3635E4943}"/>
              </a:ext>
            </a:extLst>
          </p:cNvPr>
          <p:cNvSpPr>
            <a:spLocks xmlns:a="http://schemas.openxmlformats.org/drawingml/2006/main" noGrp="1"/>
          </p:cNvSpPr>
          <p:nvPr/>
        </p:nvSpPr>
        <p:spPr>
          <a:xfrm xmlns:a="http://schemas.openxmlformats.org/drawingml/2006/main">
            <a:off x="5962650" y="3438525"/>
            <a:ext cx="48387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9506"/>
          </a:bodyPr>
          <a:lstStyle xmlns:a="http://schemas.openxmlformats.org/drawingml/2006/main"/>
          <a:p xmlns:a="http://schemas.openxmlformats.org/drawingml/2006/main">
            <a:pPr algn="l">
              <a:defRPr sz="1350" b="0" i="0">
                <a:solidFill>
                  <a:srgbClr val="233248"/>
                </a:solidFill>
                <a:latin typeface="Calibri"/>
                <a:ea typeface="Calibri"/>
                <a:cs typeface="Calibri"/>
              </a:defRPr>
            </a:pPr>
            <a:r>
              <a:rPr sz="1350" b="0" i="0">
                <a:solidFill>
                  <a:srgbClr val="233248"/>
                </a:solidFill>
                <a:latin typeface="Calibri"/>
                <a:ea typeface="Calibri"/>
                <a:cs typeface="Calibri"/>
              </a:rPr>
              <a:t>A universal prompt, airport-only strategy, precise Hyderabad prevalence, or a driver-specific solution cannot be justified from this evidence.</a:t>
            </a:r>
          </a:p>
        </p:txBody>
      </p:sp>
      <p:sp>
        <p:nvSpPr>
          <p:cNvPr id="15" name="">
            <a:extLst xmlns:a="http://schemas.openxmlformats.org/drawingml/2006/main">
              <a:ext uri="{FF2B5EF4-FFF2-40B4-BE49-F238E27FC236}">
                <a16:creationId xmlns:a16="http://schemas.microsoft.com/office/drawing/2014/main" id="{23D8DC5F-4450-49F8-AB41-42B97D7FC9B6}"/>
              </a:ext>
            </a:extLst>
          </p:cNvPr>
          <p:cNvSpPr>
            <a:spLocks xmlns:a="http://schemas.openxmlformats.org/drawingml/2006/main" noGrp="1"/>
          </p:cNvSpPr>
          <p:nvPr/>
        </p:nvSpPr>
        <p:spPr>
          <a:xfrm xmlns:a="http://schemas.openxmlformats.org/drawingml/2006/main">
            <a:off x="514350" y="4362450"/>
            <a:ext cx="10439400" cy="1257300"/>
          </a:xfrm>
          <a:prstGeom xmlns:a="http://schemas.openxmlformats.org/drawingml/2006/main" prst="roundRect">
            <a:avLst>
              <a:gd name="adj" fmla="val 4545"/>
            </a:avLst>
          </a:prstGeom>
          <a:solidFill xmlns:a="http://schemas.openxmlformats.org/drawingml/2006/main">
            <a:srgbClr val="1B2B45"/>
          </a:solidFill>
          <a:ln xmlns:a="http://schemas.openxmlformats.org/drawingml/2006/main" w="9525">
            <a:solidFill>
              <a:srgbClr val="E8ECF1"/>
            </a:solidFill>
            <a:prstDash val="solid"/>
          </a:ln>
        </p:spPr>
      </p:sp>
      <p:sp>
        <p:nvSpPr>
          <p:cNvPr id="16" name="">
            <a:extLst xmlns:a="http://schemas.openxmlformats.org/drawingml/2006/main">
              <a:ext uri="{FF2B5EF4-FFF2-40B4-BE49-F238E27FC236}">
                <a16:creationId xmlns:a16="http://schemas.microsoft.com/office/drawing/2014/main" id="{C4F4BC4C-2A95-45E2-BD9F-FE2569ED79E9}"/>
              </a:ext>
            </a:extLst>
          </p:cNvPr>
          <p:cNvSpPr>
            <a:spLocks xmlns:a="http://schemas.openxmlformats.org/drawingml/2006/main" noGrp="1"/>
          </p:cNvSpPr>
          <p:nvPr/>
        </p:nvSpPr>
        <p:spPr>
          <a:xfrm xmlns:a="http://schemas.openxmlformats.org/drawingml/2006/main">
            <a:off x="666750" y="4476750"/>
            <a:ext cx="10134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F47A22"/>
                </a:solidFill>
                <a:latin typeface="Calibri"/>
                <a:ea typeface="Calibri"/>
                <a:cs typeface="Calibri"/>
              </a:defRPr>
            </a:pPr>
            <a:r>
              <a:rPr sz="1275" b="1" i="0">
                <a:solidFill>
                  <a:srgbClr val="F47A22"/>
                </a:solidFill>
                <a:latin typeface="Calibri"/>
                <a:ea typeface="Calibri"/>
                <a:cs typeface="Calibri"/>
              </a:rPr>
              <a:t>DECISION</a:t>
            </a:r>
          </a:p>
        </p:txBody>
      </p:sp>
      <p:sp>
        <p:nvSpPr>
          <p:cNvPr id="17" name="">
            <a:extLst xmlns:a="http://schemas.openxmlformats.org/drawingml/2006/main">
              <a:ext uri="{FF2B5EF4-FFF2-40B4-BE49-F238E27FC236}">
                <a16:creationId xmlns:a16="http://schemas.microsoft.com/office/drawing/2014/main" id="{9E28AA44-81D6-428B-AB95-5F29BFF5E004}"/>
              </a:ext>
            </a:extLst>
          </p:cNvPr>
          <p:cNvSpPr>
            <a:spLocks xmlns:a="http://schemas.openxmlformats.org/drawingml/2006/main" noGrp="1"/>
          </p:cNvSpPr>
          <p:nvPr/>
        </p:nvSpPr>
        <p:spPr>
          <a:xfrm xmlns:a="http://schemas.openxmlformats.org/drawingml/2006/main">
            <a:off x="666750" y="4810125"/>
            <a:ext cx="101346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725" b="0" i="0">
                <a:solidFill>
                  <a:srgbClr val="FFFFFF"/>
                </a:solidFill>
                <a:latin typeface="Calibri"/>
                <a:ea typeface="Calibri"/>
                <a:cs typeface="Calibri"/>
              </a:defRPr>
            </a:pPr>
            <a:r>
              <a:rPr sz="1725" b="0" i="0">
                <a:solidFill>
                  <a:srgbClr val="FFFFFF"/>
                </a:solidFill>
                <a:latin typeface="Calibri"/>
                <a:ea typeface="Calibri"/>
                <a:cs typeface="Calibri"/>
              </a:rPr>
              <a:t>Use location type and stall signals to target coordination help. Validate rider benefit and driver impact before building a broader venue data operation.</a:t>
            </a:r>
          </a:p>
        </p:txBody>
      </p:sp>
      <p:sp>
        <p:nvSpPr>
          <p:cNvPr id="18" name="">
            <a:extLst xmlns:a="http://schemas.openxmlformats.org/drawingml/2006/main">
              <a:ext uri="{FF2B5EF4-FFF2-40B4-BE49-F238E27FC236}">
                <a16:creationId xmlns:a16="http://schemas.microsoft.com/office/drawing/2014/main" id="{3B46C09A-9003-42E3-A3EC-B2EA38BAE329}"/>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 · Appendix</a:t>
            </a:r>
          </a:p>
        </p:txBody>
      </p:sp>
      <p:sp>
        <p:nvSpPr>
          <p:cNvPr id="19" name="">
            <a:extLst xmlns:a="http://schemas.openxmlformats.org/drawingml/2006/main">
              <a:ext uri="{FF2B5EF4-FFF2-40B4-BE49-F238E27FC236}">
                <a16:creationId xmlns:a16="http://schemas.microsoft.com/office/drawing/2014/main" id="{E9E2E80E-4CE3-40E1-8FEA-94F3D4D69265}"/>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19</a:t>
            </a:r>
          </a:p>
        </p:txBody>
      </p:sp>
    </p:spTree>
    <p:extLst>
      <p:ext uri="{BB962C8B-B14F-4D97-AF65-F5344CB8AC3E}">
        <p14:creationId xmlns:p14="http://schemas.microsoft.com/office/powerpoint/2010/main" val="1522737430"/>
      </p:ext>
    </p:extLst>
  </p:cSld>
</p:sld>
</file>

<file path=ppt/slides/slide20.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47" name="">
            <a:extLst xmlns:a="http://schemas.openxmlformats.org/drawingml/2006/main">
              <a:ext uri="{FF2B5EF4-FFF2-40B4-BE49-F238E27FC236}">
                <a16:creationId xmlns:a16="http://schemas.microsoft.com/office/drawing/2014/main" id="{54F08002-2A81-4116-8508-8067F5084C28}"/>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APPENDIX · 4 · RESEARCH-LED PRODUCT IDEAS</a:t>
            </a:r>
          </a:p>
        </p:txBody>
      </p:sp>
      <p:sp>
        <p:nvSpPr>
          <p:cNvPr id="2" name="">
            <a:extLst xmlns:a="http://schemas.openxmlformats.org/drawingml/2006/main">
              <a:ext uri="{FF2B5EF4-FFF2-40B4-BE49-F238E27FC236}">
                <a16:creationId xmlns:a16="http://schemas.microsoft.com/office/drawing/2014/main" id="{F3289611-8609-44DE-8873-822268CBF7D3}"/>
              </a:ext>
            </a:extLst>
          </p:cNvPr>
          <p:cNvSpPr>
            <a:spLocks xmlns:a="http://schemas.openxmlformats.org/drawingml/2006/main" noGrp="1"/>
          </p:cNvSpPr>
          <p:nvPr/>
        </p:nvSpPr>
        <p:spPr>
          <a:xfrm xmlns:a="http://schemas.openxmlformats.org/drawingml/2006/main">
            <a:off x="514350" y="571500"/>
            <a:ext cx="1114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Three ideas, sequenced by evidence strength and operating risk</a:t>
            </a:r>
          </a:p>
        </p:txBody>
      </p:sp>
      <p:sp>
        <p:nvSpPr>
          <p:cNvPr id="3" name="">
            <a:extLst xmlns:a="http://schemas.openxmlformats.org/drawingml/2006/main">
              <a:ext uri="{FF2B5EF4-FFF2-40B4-BE49-F238E27FC236}">
                <a16:creationId xmlns:a16="http://schemas.microsoft.com/office/drawing/2014/main" id="{F08B0BC6-4233-4E77-9D95-9BB883D07C93}"/>
              </a:ext>
            </a:extLst>
          </p:cNvPr>
          <p:cNvSpPr>
            <a:spLocks xmlns:a="http://schemas.openxmlformats.org/drawingml/2006/main" noGrp="1"/>
          </p:cNvSpPr>
          <p:nvPr/>
        </p:nvSpPr>
        <p:spPr>
          <a:xfrm xmlns:a="http://schemas.openxmlformats.org/drawingml/2006/main">
            <a:off x="514350" y="1657350"/>
            <a:ext cx="666750" cy="514350"/>
          </a:xfrm>
          <a:prstGeom xmlns:a="http://schemas.openxmlformats.org/drawingml/2006/main" prst="rect">
            <a:avLst/>
          </a:prstGeom>
          <a:solidFill xmlns:a="http://schemas.openxmlformats.org/drawingml/2006/main">
            <a:srgbClr val="1B2B45"/>
          </a:solidFill>
          <a:ln xmlns:a="http://schemas.openxmlformats.org/drawingml/2006/main" w="9525">
            <a:solidFill>
              <a:srgbClr val="FFFFFF"/>
            </a:solidFill>
            <a:prstDash val="solid"/>
          </a:ln>
        </p:spPr>
      </p:sp>
      <p:sp>
        <p:nvSpPr>
          <p:cNvPr id="4" name="">
            <a:extLst xmlns:a="http://schemas.openxmlformats.org/drawingml/2006/main">
              <a:ext uri="{FF2B5EF4-FFF2-40B4-BE49-F238E27FC236}">
                <a16:creationId xmlns:a16="http://schemas.microsoft.com/office/drawing/2014/main" id="{C17C27FD-A0C5-4641-B12B-C71AC7F7CF39}"/>
              </a:ext>
            </a:extLst>
          </p:cNvPr>
          <p:cNvSpPr>
            <a:spLocks xmlns:a="http://schemas.openxmlformats.org/drawingml/2006/main" noGrp="1"/>
          </p:cNvSpPr>
          <p:nvPr/>
        </p:nvSpPr>
        <p:spPr>
          <a:xfrm xmlns:a="http://schemas.openxmlformats.org/drawingml/2006/main">
            <a:off x="590550" y="1771650"/>
            <a:ext cx="5143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ctr">
              <a:defRPr sz="1275" b="1" i="0">
                <a:solidFill>
                  <a:srgbClr val="FFFFFF"/>
                </a:solidFill>
                <a:latin typeface="Calibri"/>
                <a:ea typeface="Calibri"/>
                <a:cs typeface="Calibri"/>
              </a:defRPr>
            </a:pPr>
            <a:r>
              <a:rPr sz="1275" b="1" i="0">
                <a:solidFill>
                  <a:srgbClr val="FFFFFF"/>
                </a:solidFill>
                <a:latin typeface="Calibri"/>
                <a:ea typeface="Calibri"/>
                <a:cs typeface="Calibri"/>
              </a:rPr>
              <a:t>#</a:t>
            </a:r>
          </a:p>
        </p:txBody>
      </p:sp>
      <p:sp>
        <p:nvSpPr>
          <p:cNvPr id="5" name="">
            <a:extLst xmlns:a="http://schemas.openxmlformats.org/drawingml/2006/main">
              <a:ext uri="{FF2B5EF4-FFF2-40B4-BE49-F238E27FC236}">
                <a16:creationId xmlns:a16="http://schemas.microsoft.com/office/drawing/2014/main" id="{ED541AFE-37EF-4123-AFA1-FA1254BB02F0}"/>
              </a:ext>
            </a:extLst>
          </p:cNvPr>
          <p:cNvSpPr>
            <a:spLocks xmlns:a="http://schemas.openxmlformats.org/drawingml/2006/main" noGrp="1"/>
          </p:cNvSpPr>
          <p:nvPr/>
        </p:nvSpPr>
        <p:spPr>
          <a:xfrm xmlns:a="http://schemas.openxmlformats.org/drawingml/2006/main">
            <a:off x="1181100" y="1657350"/>
            <a:ext cx="2724150" cy="514350"/>
          </a:xfrm>
          <a:prstGeom xmlns:a="http://schemas.openxmlformats.org/drawingml/2006/main" prst="rect">
            <a:avLst/>
          </a:prstGeom>
          <a:solidFill xmlns:a="http://schemas.openxmlformats.org/drawingml/2006/main">
            <a:srgbClr val="1B2B45"/>
          </a:solidFill>
          <a:ln xmlns:a="http://schemas.openxmlformats.org/drawingml/2006/main" w="9525">
            <a:solidFill>
              <a:srgbClr val="FFFFFF"/>
            </a:solidFill>
            <a:prstDash val="solid"/>
          </a:ln>
        </p:spPr>
      </p:sp>
      <p:sp>
        <p:nvSpPr>
          <p:cNvPr id="6" name="">
            <a:extLst xmlns:a="http://schemas.openxmlformats.org/drawingml/2006/main">
              <a:ext uri="{FF2B5EF4-FFF2-40B4-BE49-F238E27FC236}">
                <a16:creationId xmlns:a16="http://schemas.microsoft.com/office/drawing/2014/main" id="{48A560C4-317E-4119-B6E1-1771C866C876}"/>
              </a:ext>
            </a:extLst>
          </p:cNvPr>
          <p:cNvSpPr>
            <a:spLocks xmlns:a="http://schemas.openxmlformats.org/drawingml/2006/main" noGrp="1"/>
          </p:cNvSpPr>
          <p:nvPr/>
        </p:nvSpPr>
        <p:spPr>
          <a:xfrm xmlns:a="http://schemas.openxmlformats.org/drawingml/2006/main">
            <a:off x="1257300" y="1771650"/>
            <a:ext cx="2571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ctr">
              <a:defRPr sz="1275" b="1" i="0">
                <a:solidFill>
                  <a:srgbClr val="FFFFFF"/>
                </a:solidFill>
                <a:latin typeface="Calibri"/>
                <a:ea typeface="Calibri"/>
                <a:cs typeface="Calibri"/>
              </a:defRPr>
            </a:pPr>
            <a:r>
              <a:rPr sz="1275" b="1" i="0">
                <a:solidFill>
                  <a:srgbClr val="FFFFFF"/>
                </a:solidFill>
                <a:latin typeface="Calibri"/>
                <a:ea typeface="Calibri"/>
                <a:cs typeface="Calibri"/>
              </a:rPr>
              <a:t>Idea</a:t>
            </a:r>
          </a:p>
        </p:txBody>
      </p:sp>
      <p:sp>
        <p:nvSpPr>
          <p:cNvPr id="7" name="">
            <a:extLst xmlns:a="http://schemas.openxmlformats.org/drawingml/2006/main">
              <a:ext uri="{FF2B5EF4-FFF2-40B4-BE49-F238E27FC236}">
                <a16:creationId xmlns:a16="http://schemas.microsoft.com/office/drawing/2014/main" id="{2DDE138A-E52D-442A-B3D0-FD35AC0D6976}"/>
              </a:ext>
            </a:extLst>
          </p:cNvPr>
          <p:cNvSpPr>
            <a:spLocks xmlns:a="http://schemas.openxmlformats.org/drawingml/2006/main" noGrp="1"/>
          </p:cNvSpPr>
          <p:nvPr/>
        </p:nvSpPr>
        <p:spPr>
          <a:xfrm xmlns:a="http://schemas.openxmlformats.org/drawingml/2006/main">
            <a:off x="3905250" y="1657350"/>
            <a:ext cx="2952750" cy="514350"/>
          </a:xfrm>
          <a:prstGeom xmlns:a="http://schemas.openxmlformats.org/drawingml/2006/main" prst="rect">
            <a:avLst/>
          </a:prstGeom>
          <a:solidFill xmlns:a="http://schemas.openxmlformats.org/drawingml/2006/main">
            <a:srgbClr val="1B2B45"/>
          </a:solidFill>
          <a:ln xmlns:a="http://schemas.openxmlformats.org/drawingml/2006/main" w="9525">
            <a:solidFill>
              <a:srgbClr val="FFFFFF"/>
            </a:solidFill>
            <a:prstDash val="solid"/>
          </a:ln>
        </p:spPr>
      </p:sp>
      <p:sp>
        <p:nvSpPr>
          <p:cNvPr id="8" name="">
            <a:extLst xmlns:a="http://schemas.openxmlformats.org/drawingml/2006/main">
              <a:ext uri="{FF2B5EF4-FFF2-40B4-BE49-F238E27FC236}">
                <a16:creationId xmlns:a16="http://schemas.microsoft.com/office/drawing/2014/main" id="{8A2AAC12-8013-4D2D-9A21-5ADF6384B57F}"/>
              </a:ext>
            </a:extLst>
          </p:cNvPr>
          <p:cNvSpPr>
            <a:spLocks xmlns:a="http://schemas.openxmlformats.org/drawingml/2006/main" noGrp="1"/>
          </p:cNvSpPr>
          <p:nvPr/>
        </p:nvSpPr>
        <p:spPr>
          <a:xfrm xmlns:a="http://schemas.openxmlformats.org/drawingml/2006/main">
            <a:off x="3981450" y="1771650"/>
            <a:ext cx="28003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ctr">
              <a:defRPr sz="1275" b="1" i="0">
                <a:solidFill>
                  <a:srgbClr val="FFFFFF"/>
                </a:solidFill>
                <a:latin typeface="Calibri"/>
                <a:ea typeface="Calibri"/>
                <a:cs typeface="Calibri"/>
              </a:defRPr>
            </a:pPr>
            <a:r>
              <a:rPr sz="1275" b="1" i="0">
                <a:solidFill>
                  <a:srgbClr val="FFFFFF"/>
                </a:solidFill>
                <a:latin typeface="Calibri"/>
                <a:ea typeface="Calibri"/>
                <a:cs typeface="Calibri"/>
              </a:rPr>
              <a:t>Trigger / scope</a:t>
            </a:r>
          </a:p>
        </p:txBody>
      </p:sp>
      <p:sp>
        <p:nvSpPr>
          <p:cNvPr id="9" name="">
            <a:extLst xmlns:a="http://schemas.openxmlformats.org/drawingml/2006/main">
              <a:ext uri="{FF2B5EF4-FFF2-40B4-BE49-F238E27FC236}">
                <a16:creationId xmlns:a16="http://schemas.microsoft.com/office/drawing/2014/main" id="{7B796E02-F99B-4DED-BFC8-9265C202F271}"/>
              </a:ext>
            </a:extLst>
          </p:cNvPr>
          <p:cNvSpPr>
            <a:spLocks xmlns:a="http://schemas.openxmlformats.org/drawingml/2006/main" noGrp="1"/>
          </p:cNvSpPr>
          <p:nvPr/>
        </p:nvSpPr>
        <p:spPr>
          <a:xfrm xmlns:a="http://schemas.openxmlformats.org/drawingml/2006/main">
            <a:off x="6858000" y="1657350"/>
            <a:ext cx="2533650" cy="514350"/>
          </a:xfrm>
          <a:prstGeom xmlns:a="http://schemas.openxmlformats.org/drawingml/2006/main" prst="rect">
            <a:avLst/>
          </a:prstGeom>
          <a:solidFill xmlns:a="http://schemas.openxmlformats.org/drawingml/2006/main">
            <a:srgbClr val="1B2B45"/>
          </a:solidFill>
          <a:ln xmlns:a="http://schemas.openxmlformats.org/drawingml/2006/main" w="9525">
            <a:solidFill>
              <a:srgbClr val="FFFFFF"/>
            </a:solidFill>
            <a:prstDash val="solid"/>
          </a:ln>
        </p:spPr>
      </p:sp>
      <p:sp>
        <p:nvSpPr>
          <p:cNvPr id="10" name="">
            <a:extLst xmlns:a="http://schemas.openxmlformats.org/drawingml/2006/main">
              <a:ext uri="{FF2B5EF4-FFF2-40B4-BE49-F238E27FC236}">
                <a16:creationId xmlns:a16="http://schemas.microsoft.com/office/drawing/2014/main" id="{B0B9242C-7D16-46F1-BA73-D2E8447C686C}"/>
              </a:ext>
            </a:extLst>
          </p:cNvPr>
          <p:cNvSpPr>
            <a:spLocks xmlns:a="http://schemas.openxmlformats.org/drawingml/2006/main" noGrp="1"/>
          </p:cNvSpPr>
          <p:nvPr/>
        </p:nvSpPr>
        <p:spPr>
          <a:xfrm xmlns:a="http://schemas.openxmlformats.org/drawingml/2006/main">
            <a:off x="6934200" y="1771650"/>
            <a:ext cx="238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ctr">
              <a:defRPr sz="1275" b="1" i="0">
                <a:solidFill>
                  <a:srgbClr val="FFFFFF"/>
                </a:solidFill>
                <a:latin typeface="Calibri"/>
                <a:ea typeface="Calibri"/>
                <a:cs typeface="Calibri"/>
              </a:defRPr>
            </a:pPr>
            <a:r>
              <a:rPr sz="1275" b="1" i="0">
                <a:solidFill>
                  <a:srgbClr val="FFFFFF"/>
                </a:solidFill>
                <a:latin typeface="Calibri"/>
                <a:ea typeface="Calibri"/>
                <a:cs typeface="Calibri"/>
              </a:rPr>
              <a:t>Primary measures</a:t>
            </a:r>
          </a:p>
        </p:txBody>
      </p:sp>
      <p:sp>
        <p:nvSpPr>
          <p:cNvPr id="11" name="">
            <a:extLst xmlns:a="http://schemas.openxmlformats.org/drawingml/2006/main">
              <a:ext uri="{FF2B5EF4-FFF2-40B4-BE49-F238E27FC236}">
                <a16:creationId xmlns:a16="http://schemas.microsoft.com/office/drawing/2014/main" id="{3F7614D1-EC9E-4F96-98E9-A9076E772F5C}"/>
              </a:ext>
            </a:extLst>
          </p:cNvPr>
          <p:cNvSpPr>
            <a:spLocks xmlns:a="http://schemas.openxmlformats.org/drawingml/2006/main" noGrp="1"/>
          </p:cNvSpPr>
          <p:nvPr/>
        </p:nvSpPr>
        <p:spPr>
          <a:xfrm xmlns:a="http://schemas.openxmlformats.org/drawingml/2006/main">
            <a:off x="9391650" y="1657350"/>
            <a:ext cx="1562100" cy="514350"/>
          </a:xfrm>
          <a:prstGeom xmlns:a="http://schemas.openxmlformats.org/drawingml/2006/main" prst="rect">
            <a:avLst/>
          </a:prstGeom>
          <a:solidFill xmlns:a="http://schemas.openxmlformats.org/drawingml/2006/main">
            <a:srgbClr val="1B2B45"/>
          </a:solidFill>
          <a:ln xmlns:a="http://schemas.openxmlformats.org/drawingml/2006/main" w="9525">
            <a:solidFill>
              <a:srgbClr val="FFFFFF"/>
            </a:solidFill>
            <a:prstDash val="solid"/>
          </a:ln>
        </p:spPr>
      </p:sp>
      <p:sp>
        <p:nvSpPr>
          <p:cNvPr id="12" name="">
            <a:extLst xmlns:a="http://schemas.openxmlformats.org/drawingml/2006/main">
              <a:ext uri="{FF2B5EF4-FFF2-40B4-BE49-F238E27FC236}">
                <a16:creationId xmlns:a16="http://schemas.microsoft.com/office/drawing/2014/main" id="{D9BEBAA4-B854-4F65-827F-E94523406DCE}"/>
              </a:ext>
            </a:extLst>
          </p:cNvPr>
          <p:cNvSpPr>
            <a:spLocks xmlns:a="http://schemas.openxmlformats.org/drawingml/2006/main" noGrp="1"/>
          </p:cNvSpPr>
          <p:nvPr/>
        </p:nvSpPr>
        <p:spPr>
          <a:xfrm xmlns:a="http://schemas.openxmlformats.org/drawingml/2006/main">
            <a:off x="9467850" y="1771650"/>
            <a:ext cx="1409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ctr">
              <a:defRPr sz="1275" b="1" i="0">
                <a:solidFill>
                  <a:srgbClr val="FFFFFF"/>
                </a:solidFill>
                <a:latin typeface="Calibri"/>
                <a:ea typeface="Calibri"/>
                <a:cs typeface="Calibri"/>
              </a:defRPr>
            </a:pPr>
            <a:r>
              <a:rPr sz="1275" b="1" i="0">
                <a:solidFill>
                  <a:srgbClr val="FFFFFF"/>
                </a:solidFill>
                <a:latin typeface="Calibri"/>
                <a:ea typeface="Calibri"/>
                <a:cs typeface="Calibri"/>
              </a:rPr>
              <a:t>Main risk</a:t>
            </a:r>
          </a:p>
        </p:txBody>
      </p:sp>
      <p:sp>
        <p:nvSpPr>
          <p:cNvPr id="13" name="">
            <a:extLst xmlns:a="http://schemas.openxmlformats.org/drawingml/2006/main">
              <a:ext uri="{FF2B5EF4-FFF2-40B4-BE49-F238E27FC236}">
                <a16:creationId xmlns:a16="http://schemas.microsoft.com/office/drawing/2014/main" id="{1176C37B-AEAD-41E8-A364-4D6A73C26D45}"/>
              </a:ext>
            </a:extLst>
          </p:cNvPr>
          <p:cNvSpPr>
            <a:spLocks xmlns:a="http://schemas.openxmlformats.org/drawingml/2006/main" noGrp="1"/>
          </p:cNvSpPr>
          <p:nvPr/>
        </p:nvSpPr>
        <p:spPr>
          <a:xfrm xmlns:a="http://schemas.openxmlformats.org/drawingml/2006/main">
            <a:off x="514350" y="2171700"/>
            <a:ext cx="666750" cy="118110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14" name="">
            <a:extLst xmlns:a="http://schemas.openxmlformats.org/drawingml/2006/main">
              <a:ext uri="{FF2B5EF4-FFF2-40B4-BE49-F238E27FC236}">
                <a16:creationId xmlns:a16="http://schemas.microsoft.com/office/drawing/2014/main" id="{800F1719-9266-465F-8693-4E07E18A6186}"/>
              </a:ext>
            </a:extLst>
          </p:cNvPr>
          <p:cNvSpPr>
            <a:spLocks xmlns:a="http://schemas.openxmlformats.org/drawingml/2006/main" noGrp="1"/>
          </p:cNvSpPr>
          <p:nvPr/>
        </p:nvSpPr>
        <p:spPr>
          <a:xfrm xmlns:a="http://schemas.openxmlformats.org/drawingml/2006/main">
            <a:off x="609600" y="2305050"/>
            <a:ext cx="476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2100" b="1" i="0">
                <a:solidFill>
                  <a:srgbClr val="F47A22"/>
                </a:solidFill>
                <a:latin typeface="Calibri"/>
                <a:ea typeface="Calibri"/>
                <a:cs typeface="Calibri"/>
              </a:defRPr>
            </a:pPr>
            <a:r>
              <a:rPr sz="2100" b="1" i="0">
                <a:solidFill>
                  <a:srgbClr val="F47A22"/>
                </a:solidFill>
                <a:latin typeface="Calibri"/>
                <a:ea typeface="Calibri"/>
                <a:cs typeface="Calibri"/>
              </a:rPr>
              <a:t>P0</a:t>
            </a:r>
          </a:p>
        </p:txBody>
      </p:sp>
      <p:sp>
        <p:nvSpPr>
          <p:cNvPr id="15" name="">
            <a:extLst xmlns:a="http://schemas.openxmlformats.org/drawingml/2006/main">
              <a:ext uri="{FF2B5EF4-FFF2-40B4-BE49-F238E27FC236}">
                <a16:creationId xmlns:a16="http://schemas.microsoft.com/office/drawing/2014/main" id="{0FC8500D-6763-4D41-8082-CF3DFB0E9F9E}"/>
              </a:ext>
            </a:extLst>
          </p:cNvPr>
          <p:cNvSpPr>
            <a:spLocks xmlns:a="http://schemas.openxmlformats.org/drawingml/2006/main" noGrp="1"/>
          </p:cNvSpPr>
          <p:nvPr/>
        </p:nvSpPr>
        <p:spPr>
          <a:xfrm xmlns:a="http://schemas.openxmlformats.org/drawingml/2006/main">
            <a:off x="1181100" y="2171700"/>
            <a:ext cx="2724150" cy="118110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16" name="">
            <a:extLst xmlns:a="http://schemas.openxmlformats.org/drawingml/2006/main">
              <a:ext uri="{FF2B5EF4-FFF2-40B4-BE49-F238E27FC236}">
                <a16:creationId xmlns:a16="http://schemas.microsoft.com/office/drawing/2014/main" id="{31A8CBE5-64C5-418A-867F-97F2548407B5}"/>
              </a:ext>
            </a:extLst>
          </p:cNvPr>
          <p:cNvSpPr>
            <a:spLocks xmlns:a="http://schemas.openxmlformats.org/drawingml/2006/main" noGrp="1"/>
          </p:cNvSpPr>
          <p:nvPr/>
        </p:nvSpPr>
        <p:spPr>
          <a:xfrm xmlns:a="http://schemas.openxmlformats.org/drawingml/2006/main">
            <a:off x="1276350" y="2305050"/>
            <a:ext cx="25336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75" b="1" i="0">
                <a:solidFill>
                  <a:srgbClr val="233248"/>
                </a:solidFill>
                <a:latin typeface="Calibri"/>
                <a:ea typeface="Calibri"/>
                <a:cs typeface="Calibri"/>
              </a:defRPr>
            </a:pPr>
            <a:r>
              <a:rPr sz="1275" b="1" i="0">
                <a:solidFill>
                  <a:srgbClr val="233248"/>
                </a:solidFill>
                <a:latin typeface="Calibri"/>
                <a:ea typeface="Calibri"/>
                <a:cs typeface="Calibri"/>
              </a:rPr>
              <a:t>Pre-arrival meeting note</a:t>
            </a:r>
          </a:p>
        </p:txBody>
      </p:sp>
      <p:sp>
        <p:nvSpPr>
          <p:cNvPr id="17" name="">
            <a:extLst xmlns:a="http://schemas.openxmlformats.org/drawingml/2006/main">
              <a:ext uri="{FF2B5EF4-FFF2-40B4-BE49-F238E27FC236}">
                <a16:creationId xmlns:a16="http://schemas.microsoft.com/office/drawing/2014/main" id="{60193B94-7887-4941-BE86-BD8571C6CDD7}"/>
              </a:ext>
            </a:extLst>
          </p:cNvPr>
          <p:cNvSpPr>
            <a:spLocks xmlns:a="http://schemas.openxmlformats.org/drawingml/2006/main" noGrp="1"/>
          </p:cNvSpPr>
          <p:nvPr/>
        </p:nvSpPr>
        <p:spPr>
          <a:xfrm xmlns:a="http://schemas.openxmlformats.org/drawingml/2006/main">
            <a:off x="3905250" y="2171700"/>
            <a:ext cx="2952750" cy="118110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18" name="">
            <a:extLst xmlns:a="http://schemas.openxmlformats.org/drawingml/2006/main">
              <a:ext uri="{FF2B5EF4-FFF2-40B4-BE49-F238E27FC236}">
                <a16:creationId xmlns:a16="http://schemas.microsoft.com/office/drawing/2014/main" id="{82A09D32-F415-4D86-BCD3-781F7AAD341D}"/>
              </a:ext>
            </a:extLst>
          </p:cNvPr>
          <p:cNvSpPr>
            <a:spLocks xmlns:a="http://schemas.openxmlformats.org/drawingml/2006/main" noGrp="1"/>
          </p:cNvSpPr>
          <p:nvPr/>
        </p:nvSpPr>
        <p:spPr>
          <a:xfrm xmlns:a="http://schemas.openxmlformats.org/drawingml/2006/main">
            <a:off x="4000500" y="2305050"/>
            <a:ext cx="276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75" b="0" i="0">
                <a:solidFill>
                  <a:srgbClr val="233248"/>
                </a:solidFill>
                <a:latin typeface="Calibri"/>
                <a:ea typeface="Calibri"/>
                <a:cs typeface="Calibri"/>
              </a:defRPr>
            </a:pPr>
            <a:r>
              <a:rPr sz="1275" b="0" i="0">
                <a:solidFill>
                  <a:srgbClr val="233248"/>
                </a:solidFill>
                <a:latin typeface="Calibri"/>
                <a:ea typeface="Calibri"/>
                <a:cs typeface="Calibri"/>
              </a:rPr>
              <a:t>Flagged complex location; before arrival</a:t>
            </a:r>
          </a:p>
        </p:txBody>
      </p:sp>
      <p:sp>
        <p:nvSpPr>
          <p:cNvPr id="19" name="">
            <a:extLst xmlns:a="http://schemas.openxmlformats.org/drawingml/2006/main">
              <a:ext uri="{FF2B5EF4-FFF2-40B4-BE49-F238E27FC236}">
                <a16:creationId xmlns:a16="http://schemas.microsoft.com/office/drawing/2014/main" id="{4696B0BF-F68C-4024-859E-8538D71EDE64}"/>
              </a:ext>
            </a:extLst>
          </p:cNvPr>
          <p:cNvSpPr>
            <a:spLocks xmlns:a="http://schemas.openxmlformats.org/drawingml/2006/main" noGrp="1"/>
          </p:cNvSpPr>
          <p:nvPr/>
        </p:nvSpPr>
        <p:spPr>
          <a:xfrm xmlns:a="http://schemas.openxmlformats.org/drawingml/2006/main">
            <a:off x="6858000" y="2171700"/>
            <a:ext cx="2533650" cy="118110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20" name="">
            <a:extLst xmlns:a="http://schemas.openxmlformats.org/drawingml/2006/main">
              <a:ext uri="{FF2B5EF4-FFF2-40B4-BE49-F238E27FC236}">
                <a16:creationId xmlns:a16="http://schemas.microsoft.com/office/drawing/2014/main" id="{AA1F9DA0-58CA-4FC0-BDF9-920942E92BF4}"/>
              </a:ext>
            </a:extLst>
          </p:cNvPr>
          <p:cNvSpPr>
            <a:spLocks xmlns:a="http://schemas.openxmlformats.org/drawingml/2006/main" noGrp="1"/>
          </p:cNvSpPr>
          <p:nvPr/>
        </p:nvSpPr>
        <p:spPr>
          <a:xfrm xmlns:a="http://schemas.openxmlformats.org/drawingml/2006/main">
            <a:off x="6953250" y="2305050"/>
            <a:ext cx="23431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75" b="0" i="0">
                <a:solidFill>
                  <a:srgbClr val="233248"/>
                </a:solidFill>
                <a:latin typeface="Calibri"/>
                <a:ea typeface="Calibri"/>
                <a:cs typeface="Calibri"/>
              </a:defRPr>
            </a:pPr>
            <a:r>
              <a:rPr sz="1275" b="0" i="0">
                <a:solidFill>
                  <a:srgbClr val="233248"/>
                </a:solidFill>
                <a:latin typeface="Calibri"/>
                <a:ea typeface="Calibri"/>
                <a:cs typeface="Calibri"/>
              </a:rPr>
              <a:t>Calls/messages, dwell, location changes</a:t>
            </a:r>
          </a:p>
        </p:txBody>
      </p:sp>
      <p:sp>
        <p:nvSpPr>
          <p:cNvPr id="21" name="">
            <a:extLst xmlns:a="http://schemas.openxmlformats.org/drawingml/2006/main">
              <a:ext uri="{FF2B5EF4-FFF2-40B4-BE49-F238E27FC236}">
                <a16:creationId xmlns:a16="http://schemas.microsoft.com/office/drawing/2014/main" id="{2162DF66-2F54-482A-80BB-3F7C130AF361}"/>
              </a:ext>
            </a:extLst>
          </p:cNvPr>
          <p:cNvSpPr>
            <a:spLocks xmlns:a="http://schemas.openxmlformats.org/drawingml/2006/main" noGrp="1"/>
          </p:cNvSpPr>
          <p:nvPr/>
        </p:nvSpPr>
        <p:spPr>
          <a:xfrm xmlns:a="http://schemas.openxmlformats.org/drawingml/2006/main">
            <a:off x="9391650" y="2171700"/>
            <a:ext cx="1562100" cy="118110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22" name="">
            <a:extLst xmlns:a="http://schemas.openxmlformats.org/drawingml/2006/main">
              <a:ext uri="{FF2B5EF4-FFF2-40B4-BE49-F238E27FC236}">
                <a16:creationId xmlns:a16="http://schemas.microsoft.com/office/drawing/2014/main" id="{6AE2AFE8-6487-4F7F-B128-292D230A2BEA}"/>
              </a:ext>
            </a:extLst>
          </p:cNvPr>
          <p:cNvSpPr>
            <a:spLocks xmlns:a="http://schemas.openxmlformats.org/drawingml/2006/main" noGrp="1"/>
          </p:cNvSpPr>
          <p:nvPr/>
        </p:nvSpPr>
        <p:spPr>
          <a:xfrm xmlns:a="http://schemas.openxmlformats.org/drawingml/2006/main">
            <a:off x="9486900" y="2305050"/>
            <a:ext cx="13716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75" b="0" i="0">
                <a:solidFill>
                  <a:srgbClr val="233248"/>
                </a:solidFill>
                <a:latin typeface="Calibri"/>
                <a:ea typeface="Calibri"/>
                <a:cs typeface="Calibri"/>
              </a:defRPr>
            </a:pPr>
            <a:r>
              <a:rPr sz="1275" b="0" i="0">
                <a:solidFill>
                  <a:srgbClr val="233248"/>
                </a:solidFill>
                <a:latin typeface="Calibri"/>
                <a:ea typeface="Calibri"/>
                <a:cs typeface="Calibri"/>
              </a:rPr>
              <a:t>Added friction if over-triggered</a:t>
            </a:r>
          </a:p>
        </p:txBody>
      </p:sp>
      <p:sp>
        <p:nvSpPr>
          <p:cNvPr id="23" name="">
            <a:extLst xmlns:a="http://schemas.openxmlformats.org/drawingml/2006/main">
              <a:ext uri="{FF2B5EF4-FFF2-40B4-BE49-F238E27FC236}">
                <a16:creationId xmlns:a16="http://schemas.microsoft.com/office/drawing/2014/main" id="{EF3777EE-6D51-4065-8489-D2051266056D}"/>
              </a:ext>
            </a:extLst>
          </p:cNvPr>
          <p:cNvSpPr>
            <a:spLocks xmlns:a="http://schemas.openxmlformats.org/drawingml/2006/main" noGrp="1"/>
          </p:cNvSpPr>
          <p:nvPr/>
        </p:nvSpPr>
        <p:spPr>
          <a:xfrm xmlns:a="http://schemas.openxmlformats.org/drawingml/2006/main">
            <a:off x="514350" y="3352800"/>
            <a:ext cx="666750" cy="1181100"/>
          </a:xfrm>
          <a:prstGeom xmlns:a="http://schemas.openxmlformats.org/drawingml/2006/main" prst="rect">
            <a:avLst/>
          </a:prstGeom>
          <a:solidFill xmlns:a="http://schemas.openxmlformats.org/drawingml/2006/main">
            <a:srgbClr val="F8F9FB"/>
          </a:solidFill>
          <a:ln xmlns:a="http://schemas.openxmlformats.org/drawingml/2006/main" w="9525">
            <a:solidFill>
              <a:srgbClr val="E8ECF1"/>
            </a:solidFill>
            <a:prstDash val="solid"/>
          </a:ln>
        </p:spPr>
      </p:sp>
      <p:sp>
        <p:nvSpPr>
          <p:cNvPr id="24" name="">
            <a:extLst xmlns:a="http://schemas.openxmlformats.org/drawingml/2006/main">
              <a:ext uri="{FF2B5EF4-FFF2-40B4-BE49-F238E27FC236}">
                <a16:creationId xmlns:a16="http://schemas.microsoft.com/office/drawing/2014/main" id="{B080AB6C-02DD-4D31-8C63-0BF0E9271CFF}"/>
              </a:ext>
            </a:extLst>
          </p:cNvPr>
          <p:cNvSpPr>
            <a:spLocks xmlns:a="http://schemas.openxmlformats.org/drawingml/2006/main" noGrp="1"/>
          </p:cNvSpPr>
          <p:nvPr/>
        </p:nvSpPr>
        <p:spPr>
          <a:xfrm xmlns:a="http://schemas.openxmlformats.org/drawingml/2006/main">
            <a:off x="609600" y="3486150"/>
            <a:ext cx="476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2100" b="1" i="0">
                <a:solidFill>
                  <a:srgbClr val="F47A22"/>
                </a:solidFill>
                <a:latin typeface="Calibri"/>
                <a:ea typeface="Calibri"/>
                <a:cs typeface="Calibri"/>
              </a:defRPr>
            </a:pPr>
            <a:r>
              <a:rPr sz="2100" b="1" i="0">
                <a:solidFill>
                  <a:srgbClr val="F47A22"/>
                </a:solidFill>
                <a:latin typeface="Calibri"/>
                <a:ea typeface="Calibri"/>
                <a:cs typeface="Calibri"/>
              </a:rPr>
              <a:t>P1</a:t>
            </a:r>
          </a:p>
        </p:txBody>
      </p:sp>
      <p:sp>
        <p:nvSpPr>
          <p:cNvPr id="25" name="">
            <a:extLst xmlns:a="http://schemas.openxmlformats.org/drawingml/2006/main">
              <a:ext uri="{FF2B5EF4-FFF2-40B4-BE49-F238E27FC236}">
                <a16:creationId xmlns:a16="http://schemas.microsoft.com/office/drawing/2014/main" id="{06414562-C686-4654-BB40-36F55F51DCFC}"/>
              </a:ext>
            </a:extLst>
          </p:cNvPr>
          <p:cNvSpPr>
            <a:spLocks xmlns:a="http://schemas.openxmlformats.org/drawingml/2006/main" noGrp="1"/>
          </p:cNvSpPr>
          <p:nvPr/>
        </p:nvSpPr>
        <p:spPr>
          <a:xfrm xmlns:a="http://schemas.openxmlformats.org/drawingml/2006/main">
            <a:off x="1181100" y="3352800"/>
            <a:ext cx="2724150" cy="1181100"/>
          </a:xfrm>
          <a:prstGeom xmlns:a="http://schemas.openxmlformats.org/drawingml/2006/main" prst="rect">
            <a:avLst/>
          </a:prstGeom>
          <a:solidFill xmlns:a="http://schemas.openxmlformats.org/drawingml/2006/main">
            <a:srgbClr val="F8F9FB"/>
          </a:solidFill>
          <a:ln xmlns:a="http://schemas.openxmlformats.org/drawingml/2006/main" w="9525">
            <a:solidFill>
              <a:srgbClr val="E8ECF1"/>
            </a:solidFill>
            <a:prstDash val="solid"/>
          </a:ln>
        </p:spPr>
      </p:sp>
      <p:sp>
        <p:nvSpPr>
          <p:cNvPr id="26" name="">
            <a:extLst xmlns:a="http://schemas.openxmlformats.org/drawingml/2006/main">
              <a:ext uri="{FF2B5EF4-FFF2-40B4-BE49-F238E27FC236}">
                <a16:creationId xmlns:a16="http://schemas.microsoft.com/office/drawing/2014/main" id="{1D4974D3-C7E2-42A5-94D5-1FCAC184F56D}"/>
              </a:ext>
            </a:extLst>
          </p:cNvPr>
          <p:cNvSpPr>
            <a:spLocks xmlns:a="http://schemas.openxmlformats.org/drawingml/2006/main" noGrp="1"/>
          </p:cNvSpPr>
          <p:nvPr/>
        </p:nvSpPr>
        <p:spPr>
          <a:xfrm xmlns:a="http://schemas.openxmlformats.org/drawingml/2006/main">
            <a:off x="1276350" y="3486150"/>
            <a:ext cx="25336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75" b="1" i="0">
                <a:solidFill>
                  <a:srgbClr val="233248"/>
                </a:solidFill>
                <a:latin typeface="Calibri"/>
                <a:ea typeface="Calibri"/>
                <a:cs typeface="Calibri"/>
              </a:defRPr>
            </a:pPr>
            <a:r>
              <a:rPr sz="1275" b="1" i="0">
                <a:solidFill>
                  <a:srgbClr val="233248"/>
                </a:solidFill>
                <a:latin typeface="Calibri"/>
                <a:ea typeface="Calibri"/>
                <a:cs typeface="Calibri"/>
              </a:rPr>
              <a:t>Guided stalled-pickup recovery</a:t>
            </a:r>
          </a:p>
        </p:txBody>
      </p:sp>
      <p:sp>
        <p:nvSpPr>
          <p:cNvPr id="27" name="">
            <a:extLst xmlns:a="http://schemas.openxmlformats.org/drawingml/2006/main">
              <a:ext uri="{FF2B5EF4-FFF2-40B4-BE49-F238E27FC236}">
                <a16:creationId xmlns:a16="http://schemas.microsoft.com/office/drawing/2014/main" id="{DE8D0918-895C-4FBE-A0C7-C79D39536E16}"/>
              </a:ext>
            </a:extLst>
          </p:cNvPr>
          <p:cNvSpPr>
            <a:spLocks xmlns:a="http://schemas.openxmlformats.org/drawingml/2006/main" noGrp="1"/>
          </p:cNvSpPr>
          <p:nvPr/>
        </p:nvSpPr>
        <p:spPr>
          <a:xfrm xmlns:a="http://schemas.openxmlformats.org/drawingml/2006/main">
            <a:off x="3905250" y="3352800"/>
            <a:ext cx="2952750" cy="1181100"/>
          </a:xfrm>
          <a:prstGeom xmlns:a="http://schemas.openxmlformats.org/drawingml/2006/main" prst="rect">
            <a:avLst/>
          </a:prstGeom>
          <a:solidFill xmlns:a="http://schemas.openxmlformats.org/drawingml/2006/main">
            <a:srgbClr val="F8F9FB"/>
          </a:solidFill>
          <a:ln xmlns:a="http://schemas.openxmlformats.org/drawingml/2006/main" w="9525">
            <a:solidFill>
              <a:srgbClr val="E8ECF1"/>
            </a:solidFill>
            <a:prstDash val="solid"/>
          </a:ln>
        </p:spPr>
      </p:sp>
      <p:sp>
        <p:nvSpPr>
          <p:cNvPr id="28" name="">
            <a:extLst xmlns:a="http://schemas.openxmlformats.org/drawingml/2006/main">
              <a:ext uri="{FF2B5EF4-FFF2-40B4-BE49-F238E27FC236}">
                <a16:creationId xmlns:a16="http://schemas.microsoft.com/office/drawing/2014/main" id="{143A7E64-31A7-49F5-B325-5E99C1C95028}"/>
              </a:ext>
            </a:extLst>
          </p:cNvPr>
          <p:cNvSpPr>
            <a:spLocks xmlns:a="http://schemas.openxmlformats.org/drawingml/2006/main" noGrp="1"/>
          </p:cNvSpPr>
          <p:nvPr/>
        </p:nvSpPr>
        <p:spPr>
          <a:xfrm xmlns:a="http://schemas.openxmlformats.org/drawingml/2006/main">
            <a:off x="4000500" y="3486150"/>
            <a:ext cx="276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75" b="0" i="0">
                <a:solidFill>
                  <a:srgbClr val="233248"/>
                </a:solidFill>
                <a:latin typeface="Calibri"/>
                <a:ea typeface="Calibri"/>
                <a:cs typeface="Calibri"/>
              </a:defRPr>
            </a:pPr>
            <a:r>
              <a:rPr sz="1275" b="0" i="0">
                <a:solidFill>
                  <a:srgbClr val="233248"/>
                </a:solidFill>
                <a:latin typeface="Calibri"/>
                <a:ea typeface="Calibri"/>
                <a:cs typeface="Calibri"/>
              </a:rPr>
              <a:t>Arrived state unresolved past threshold</a:t>
            </a:r>
          </a:p>
        </p:txBody>
      </p:sp>
      <p:sp>
        <p:nvSpPr>
          <p:cNvPr id="29" name="">
            <a:extLst xmlns:a="http://schemas.openxmlformats.org/drawingml/2006/main">
              <a:ext uri="{FF2B5EF4-FFF2-40B4-BE49-F238E27FC236}">
                <a16:creationId xmlns:a16="http://schemas.microsoft.com/office/drawing/2014/main" id="{9C0E55C6-5208-4B3F-9B84-A33AA326948F}"/>
              </a:ext>
            </a:extLst>
          </p:cNvPr>
          <p:cNvSpPr>
            <a:spLocks xmlns:a="http://schemas.openxmlformats.org/drawingml/2006/main" noGrp="1"/>
          </p:cNvSpPr>
          <p:nvPr/>
        </p:nvSpPr>
        <p:spPr>
          <a:xfrm xmlns:a="http://schemas.openxmlformats.org/drawingml/2006/main">
            <a:off x="6858000" y="3352800"/>
            <a:ext cx="2533650" cy="1181100"/>
          </a:xfrm>
          <a:prstGeom xmlns:a="http://schemas.openxmlformats.org/drawingml/2006/main" prst="rect">
            <a:avLst/>
          </a:prstGeom>
          <a:solidFill xmlns:a="http://schemas.openxmlformats.org/drawingml/2006/main">
            <a:srgbClr val="F8F9FB"/>
          </a:solidFill>
          <a:ln xmlns:a="http://schemas.openxmlformats.org/drawingml/2006/main" w="9525">
            <a:solidFill>
              <a:srgbClr val="E8ECF1"/>
            </a:solidFill>
            <a:prstDash val="solid"/>
          </a:ln>
        </p:spPr>
      </p:sp>
      <p:sp>
        <p:nvSpPr>
          <p:cNvPr id="30" name="">
            <a:extLst xmlns:a="http://schemas.openxmlformats.org/drawingml/2006/main">
              <a:ext uri="{FF2B5EF4-FFF2-40B4-BE49-F238E27FC236}">
                <a16:creationId xmlns:a16="http://schemas.microsoft.com/office/drawing/2014/main" id="{358DD2BC-0098-47AD-A9CF-9204609DD82F}"/>
              </a:ext>
            </a:extLst>
          </p:cNvPr>
          <p:cNvSpPr>
            <a:spLocks xmlns:a="http://schemas.openxmlformats.org/drawingml/2006/main" noGrp="1"/>
          </p:cNvSpPr>
          <p:nvPr/>
        </p:nvSpPr>
        <p:spPr>
          <a:xfrm xmlns:a="http://schemas.openxmlformats.org/drawingml/2006/main">
            <a:off x="6953250" y="3486150"/>
            <a:ext cx="23431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75" b="0" i="0">
                <a:solidFill>
                  <a:srgbClr val="233248"/>
                </a:solidFill>
                <a:latin typeface="Calibri"/>
                <a:ea typeface="Calibri"/>
                <a:cs typeface="Calibri"/>
              </a:defRPr>
            </a:pPr>
            <a:r>
              <a:rPr sz="1275" b="0" i="0">
                <a:solidFill>
                  <a:srgbClr val="233248"/>
                </a:solidFill>
                <a:latin typeface="Calibri"/>
                <a:ea typeface="Calibri"/>
                <a:cs typeface="Calibri"/>
              </a:rPr>
              <a:t>Resolution and unresolved-cancellation rate</a:t>
            </a:r>
          </a:p>
        </p:txBody>
      </p:sp>
      <p:sp>
        <p:nvSpPr>
          <p:cNvPr id="31" name="">
            <a:extLst xmlns:a="http://schemas.openxmlformats.org/drawingml/2006/main">
              <a:ext uri="{FF2B5EF4-FFF2-40B4-BE49-F238E27FC236}">
                <a16:creationId xmlns:a16="http://schemas.microsoft.com/office/drawing/2014/main" id="{94B36E17-DE3B-41E4-993D-B3D5F83AE9CF}"/>
              </a:ext>
            </a:extLst>
          </p:cNvPr>
          <p:cNvSpPr>
            <a:spLocks xmlns:a="http://schemas.openxmlformats.org/drawingml/2006/main" noGrp="1"/>
          </p:cNvSpPr>
          <p:nvPr/>
        </p:nvSpPr>
        <p:spPr>
          <a:xfrm xmlns:a="http://schemas.openxmlformats.org/drawingml/2006/main">
            <a:off x="9391650" y="3352800"/>
            <a:ext cx="1562100" cy="1181100"/>
          </a:xfrm>
          <a:prstGeom xmlns:a="http://schemas.openxmlformats.org/drawingml/2006/main" prst="rect">
            <a:avLst/>
          </a:prstGeom>
          <a:solidFill xmlns:a="http://schemas.openxmlformats.org/drawingml/2006/main">
            <a:srgbClr val="F8F9FB"/>
          </a:solidFill>
          <a:ln xmlns:a="http://schemas.openxmlformats.org/drawingml/2006/main" w="9525">
            <a:solidFill>
              <a:srgbClr val="E8ECF1"/>
            </a:solidFill>
            <a:prstDash val="solid"/>
          </a:ln>
        </p:spPr>
      </p:sp>
      <p:sp>
        <p:nvSpPr>
          <p:cNvPr id="32" name="">
            <a:extLst xmlns:a="http://schemas.openxmlformats.org/drawingml/2006/main">
              <a:ext uri="{FF2B5EF4-FFF2-40B4-BE49-F238E27FC236}">
                <a16:creationId xmlns:a16="http://schemas.microsoft.com/office/drawing/2014/main" id="{8A250BB9-D4CD-4F1C-B94B-3FA01BEBD9EC}"/>
              </a:ext>
            </a:extLst>
          </p:cNvPr>
          <p:cNvSpPr>
            <a:spLocks xmlns:a="http://schemas.openxmlformats.org/drawingml/2006/main" noGrp="1"/>
          </p:cNvSpPr>
          <p:nvPr/>
        </p:nvSpPr>
        <p:spPr>
          <a:xfrm xmlns:a="http://schemas.openxmlformats.org/drawingml/2006/main">
            <a:off x="9486900" y="3486150"/>
            <a:ext cx="13716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75" b="0" i="0">
                <a:solidFill>
                  <a:srgbClr val="233248"/>
                </a:solidFill>
                <a:latin typeface="Calibri"/>
                <a:ea typeface="Calibri"/>
                <a:cs typeface="Calibri"/>
              </a:defRPr>
            </a:pPr>
            <a:r>
              <a:rPr sz="1275" b="0" i="0">
                <a:solidFill>
                  <a:srgbClr val="233248"/>
                </a:solidFill>
                <a:latin typeface="Calibri"/>
                <a:ea typeface="Calibri"/>
                <a:cs typeface="Calibri"/>
              </a:rPr>
              <a:t>False triggers; driver compensation</a:t>
            </a:r>
          </a:p>
        </p:txBody>
      </p:sp>
      <p:sp>
        <p:nvSpPr>
          <p:cNvPr id="33" name="">
            <a:extLst xmlns:a="http://schemas.openxmlformats.org/drawingml/2006/main">
              <a:ext uri="{FF2B5EF4-FFF2-40B4-BE49-F238E27FC236}">
                <a16:creationId xmlns:a16="http://schemas.microsoft.com/office/drawing/2014/main" id="{B17C4EB9-664C-4120-B9E0-3773D1A678BC}"/>
              </a:ext>
            </a:extLst>
          </p:cNvPr>
          <p:cNvSpPr>
            <a:spLocks xmlns:a="http://schemas.openxmlformats.org/drawingml/2006/main" noGrp="1"/>
          </p:cNvSpPr>
          <p:nvPr/>
        </p:nvSpPr>
        <p:spPr>
          <a:xfrm xmlns:a="http://schemas.openxmlformats.org/drawingml/2006/main">
            <a:off x="514350" y="4533900"/>
            <a:ext cx="666750" cy="118110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34" name="">
            <a:extLst xmlns:a="http://schemas.openxmlformats.org/drawingml/2006/main">
              <a:ext uri="{FF2B5EF4-FFF2-40B4-BE49-F238E27FC236}">
                <a16:creationId xmlns:a16="http://schemas.microsoft.com/office/drawing/2014/main" id="{1F690AA1-2D08-48BC-BEC6-FEB9BB1C75FC}"/>
              </a:ext>
            </a:extLst>
          </p:cNvPr>
          <p:cNvSpPr>
            <a:spLocks xmlns:a="http://schemas.openxmlformats.org/drawingml/2006/main" noGrp="1"/>
          </p:cNvSpPr>
          <p:nvPr/>
        </p:nvSpPr>
        <p:spPr>
          <a:xfrm xmlns:a="http://schemas.openxmlformats.org/drawingml/2006/main">
            <a:off x="609600" y="4667250"/>
            <a:ext cx="476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2100" b="1" i="0">
                <a:solidFill>
                  <a:srgbClr val="F47A22"/>
                </a:solidFill>
                <a:latin typeface="Calibri"/>
                <a:ea typeface="Calibri"/>
                <a:cs typeface="Calibri"/>
              </a:defRPr>
            </a:pPr>
            <a:r>
              <a:rPr sz="2100" b="1" i="0">
                <a:solidFill>
                  <a:srgbClr val="F47A22"/>
                </a:solidFill>
                <a:latin typeface="Calibri"/>
                <a:ea typeface="Calibri"/>
                <a:cs typeface="Calibri"/>
              </a:rPr>
              <a:t>P2</a:t>
            </a:r>
          </a:p>
        </p:txBody>
      </p:sp>
      <p:sp>
        <p:nvSpPr>
          <p:cNvPr id="35" name="">
            <a:extLst xmlns:a="http://schemas.openxmlformats.org/drawingml/2006/main">
              <a:ext uri="{FF2B5EF4-FFF2-40B4-BE49-F238E27FC236}">
                <a16:creationId xmlns:a16="http://schemas.microsoft.com/office/drawing/2014/main" id="{A4523587-46D5-43D0-8E06-AF83F17116F4}"/>
              </a:ext>
            </a:extLst>
          </p:cNvPr>
          <p:cNvSpPr>
            <a:spLocks xmlns:a="http://schemas.openxmlformats.org/drawingml/2006/main" noGrp="1"/>
          </p:cNvSpPr>
          <p:nvPr/>
        </p:nvSpPr>
        <p:spPr>
          <a:xfrm xmlns:a="http://schemas.openxmlformats.org/drawingml/2006/main">
            <a:off x="1181100" y="4533900"/>
            <a:ext cx="2724150" cy="118110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36" name="">
            <a:extLst xmlns:a="http://schemas.openxmlformats.org/drawingml/2006/main">
              <a:ext uri="{FF2B5EF4-FFF2-40B4-BE49-F238E27FC236}">
                <a16:creationId xmlns:a16="http://schemas.microsoft.com/office/drawing/2014/main" id="{8A632028-621F-4B80-A912-E56EC0F91D91}"/>
              </a:ext>
            </a:extLst>
          </p:cNvPr>
          <p:cNvSpPr>
            <a:spLocks xmlns:a="http://schemas.openxmlformats.org/drawingml/2006/main" noGrp="1"/>
          </p:cNvSpPr>
          <p:nvPr/>
        </p:nvSpPr>
        <p:spPr>
          <a:xfrm xmlns:a="http://schemas.openxmlformats.org/drawingml/2006/main">
            <a:off x="1276350" y="4667250"/>
            <a:ext cx="25336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75" b="1" i="0">
                <a:solidFill>
                  <a:srgbClr val="233248"/>
                </a:solidFill>
                <a:latin typeface="Calibri"/>
                <a:ea typeface="Calibri"/>
                <a:cs typeface="Calibri"/>
              </a:defRPr>
            </a:pPr>
            <a:r>
              <a:rPr sz="1275" b="1" i="0">
                <a:solidFill>
                  <a:srgbClr val="233248"/>
                </a:solidFill>
                <a:latin typeface="Calibri"/>
                <a:ea typeface="Calibri"/>
                <a:cs typeface="Calibri"/>
              </a:rPr>
              <a:t>Venue-specific coordination info</a:t>
            </a:r>
          </a:p>
        </p:txBody>
      </p:sp>
      <p:sp>
        <p:nvSpPr>
          <p:cNvPr id="37" name="">
            <a:extLst xmlns:a="http://schemas.openxmlformats.org/drawingml/2006/main">
              <a:ext uri="{FF2B5EF4-FFF2-40B4-BE49-F238E27FC236}">
                <a16:creationId xmlns:a16="http://schemas.microsoft.com/office/drawing/2014/main" id="{3F12ABB9-41AE-45D6-8A97-DB587CE53D20}"/>
              </a:ext>
            </a:extLst>
          </p:cNvPr>
          <p:cNvSpPr>
            <a:spLocks xmlns:a="http://schemas.openxmlformats.org/drawingml/2006/main" noGrp="1"/>
          </p:cNvSpPr>
          <p:nvPr/>
        </p:nvSpPr>
        <p:spPr>
          <a:xfrm xmlns:a="http://schemas.openxmlformats.org/drawingml/2006/main">
            <a:off x="3905250" y="4533900"/>
            <a:ext cx="2952750" cy="118110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38" name="">
            <a:extLst xmlns:a="http://schemas.openxmlformats.org/drawingml/2006/main">
              <a:ext uri="{FF2B5EF4-FFF2-40B4-BE49-F238E27FC236}">
                <a16:creationId xmlns:a16="http://schemas.microsoft.com/office/drawing/2014/main" id="{72885AA7-983C-48D1-8508-321A89BFF1B0}"/>
              </a:ext>
            </a:extLst>
          </p:cNvPr>
          <p:cNvSpPr>
            <a:spLocks xmlns:a="http://schemas.openxmlformats.org/drawingml/2006/main" noGrp="1"/>
          </p:cNvSpPr>
          <p:nvPr/>
        </p:nvSpPr>
        <p:spPr>
          <a:xfrm xmlns:a="http://schemas.openxmlformats.org/drawingml/2006/main">
            <a:off x="4000500" y="4667250"/>
            <a:ext cx="276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75" b="0" i="0">
                <a:solidFill>
                  <a:srgbClr val="233248"/>
                </a:solidFill>
                <a:latin typeface="Calibri"/>
                <a:ea typeface="Calibri"/>
                <a:cs typeface="Calibri"/>
              </a:defRPr>
            </a:pPr>
            <a:r>
              <a:rPr sz="1275" b="0" i="0">
                <a:solidFill>
                  <a:srgbClr val="233248"/>
                </a:solidFill>
                <a:latin typeface="Calibri"/>
                <a:ea typeface="Calibri"/>
                <a:cs typeface="Calibri"/>
              </a:rPr>
              <a:t>2–3 validated venues</a:t>
            </a:r>
          </a:p>
        </p:txBody>
      </p:sp>
      <p:sp>
        <p:nvSpPr>
          <p:cNvPr id="39" name="">
            <a:extLst xmlns:a="http://schemas.openxmlformats.org/drawingml/2006/main">
              <a:ext uri="{FF2B5EF4-FFF2-40B4-BE49-F238E27FC236}">
                <a16:creationId xmlns:a16="http://schemas.microsoft.com/office/drawing/2014/main" id="{24BBB3B2-B62E-4CFD-BE76-81030F73EF00}"/>
              </a:ext>
            </a:extLst>
          </p:cNvPr>
          <p:cNvSpPr>
            <a:spLocks xmlns:a="http://schemas.openxmlformats.org/drawingml/2006/main" noGrp="1"/>
          </p:cNvSpPr>
          <p:nvPr/>
        </p:nvSpPr>
        <p:spPr>
          <a:xfrm xmlns:a="http://schemas.openxmlformats.org/drawingml/2006/main">
            <a:off x="6858000" y="4533900"/>
            <a:ext cx="2533650" cy="118110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40" name="">
            <a:extLst xmlns:a="http://schemas.openxmlformats.org/drawingml/2006/main">
              <a:ext uri="{FF2B5EF4-FFF2-40B4-BE49-F238E27FC236}">
                <a16:creationId xmlns:a16="http://schemas.microsoft.com/office/drawing/2014/main" id="{3E51C347-B00E-4AD3-8578-2ED807478B61}"/>
              </a:ext>
            </a:extLst>
          </p:cNvPr>
          <p:cNvSpPr>
            <a:spLocks xmlns:a="http://schemas.openxmlformats.org/drawingml/2006/main" noGrp="1"/>
          </p:cNvSpPr>
          <p:nvPr/>
        </p:nvSpPr>
        <p:spPr>
          <a:xfrm xmlns:a="http://schemas.openxmlformats.org/drawingml/2006/main">
            <a:off x="6953250" y="4667250"/>
            <a:ext cx="23431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75" b="0" i="0">
                <a:solidFill>
                  <a:srgbClr val="233248"/>
                </a:solidFill>
                <a:latin typeface="Calibri"/>
                <a:ea typeface="Calibri"/>
                <a:cs typeface="Calibri"/>
              </a:defRPr>
            </a:pPr>
            <a:r>
              <a:rPr sz="1275" b="0" i="0">
                <a:solidFill>
                  <a:srgbClr val="233248"/>
                </a:solidFill>
                <a:latin typeface="Calibri"/>
                <a:ea typeface="Calibri"/>
                <a:cs typeface="Calibri"/>
              </a:rPr>
              <a:t>Calls/messages and dwell vs matched venues</a:t>
            </a:r>
          </a:p>
        </p:txBody>
      </p:sp>
      <p:sp>
        <p:nvSpPr>
          <p:cNvPr id="41" name="">
            <a:extLst xmlns:a="http://schemas.openxmlformats.org/drawingml/2006/main">
              <a:ext uri="{FF2B5EF4-FFF2-40B4-BE49-F238E27FC236}">
                <a16:creationId xmlns:a16="http://schemas.microsoft.com/office/drawing/2014/main" id="{CEA94780-EA75-437D-A69B-0D828963146D}"/>
              </a:ext>
            </a:extLst>
          </p:cNvPr>
          <p:cNvSpPr>
            <a:spLocks xmlns:a="http://schemas.openxmlformats.org/drawingml/2006/main" noGrp="1"/>
          </p:cNvSpPr>
          <p:nvPr/>
        </p:nvSpPr>
        <p:spPr>
          <a:xfrm xmlns:a="http://schemas.openxmlformats.org/drawingml/2006/main">
            <a:off x="9391650" y="4533900"/>
            <a:ext cx="1562100" cy="118110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42" name="">
            <a:extLst xmlns:a="http://schemas.openxmlformats.org/drawingml/2006/main">
              <a:ext uri="{FF2B5EF4-FFF2-40B4-BE49-F238E27FC236}">
                <a16:creationId xmlns:a16="http://schemas.microsoft.com/office/drawing/2014/main" id="{3AFE2B51-F3CC-4CCB-ABF7-D185C4AC76C2}"/>
              </a:ext>
            </a:extLst>
          </p:cNvPr>
          <p:cNvSpPr>
            <a:spLocks xmlns:a="http://schemas.openxmlformats.org/drawingml/2006/main" noGrp="1"/>
          </p:cNvSpPr>
          <p:nvPr/>
        </p:nvSpPr>
        <p:spPr>
          <a:xfrm xmlns:a="http://schemas.openxmlformats.org/drawingml/2006/main">
            <a:off x="9486900" y="4667250"/>
            <a:ext cx="13716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75" b="0" i="0">
                <a:solidFill>
                  <a:srgbClr val="233248"/>
                </a:solidFill>
                <a:latin typeface="Calibri"/>
                <a:ea typeface="Calibri"/>
                <a:cs typeface="Calibri"/>
              </a:defRPr>
            </a:pPr>
            <a:r>
              <a:rPr sz="1275" b="0" i="0">
                <a:solidFill>
                  <a:srgbClr val="233248"/>
                </a:solidFill>
                <a:latin typeface="Calibri"/>
                <a:ea typeface="Calibri"/>
                <a:cs typeface="Calibri"/>
              </a:rPr>
              <a:t>Stale rules; ownership cost</a:t>
            </a:r>
          </a:p>
        </p:txBody>
      </p:sp>
      <p:sp>
        <p:nvSpPr>
          <p:cNvPr id="43" name="">
            <a:extLst xmlns:a="http://schemas.openxmlformats.org/drawingml/2006/main">
              <a:ext uri="{FF2B5EF4-FFF2-40B4-BE49-F238E27FC236}">
                <a16:creationId xmlns:a16="http://schemas.microsoft.com/office/drawing/2014/main" id="{F0573DE9-D97D-4658-9605-1F94AAA0D07B}"/>
              </a:ext>
            </a:extLst>
          </p:cNvPr>
          <p:cNvSpPr>
            <a:spLocks xmlns:a="http://schemas.openxmlformats.org/drawingml/2006/main" noGrp="1"/>
          </p:cNvSpPr>
          <p:nvPr/>
        </p:nvSpPr>
        <p:spPr>
          <a:xfrm xmlns:a="http://schemas.openxmlformats.org/drawingml/2006/main">
            <a:off x="514350" y="5886450"/>
            <a:ext cx="10439400" cy="381000"/>
          </a:xfrm>
          <a:prstGeom xmlns:a="http://schemas.openxmlformats.org/drawingml/2006/main" prst="roundRect">
            <a:avLst>
              <a:gd name="adj" fmla="val 10000"/>
            </a:avLst>
          </a:prstGeom>
          <a:solidFill xmlns:a="http://schemas.openxmlformats.org/drawingml/2006/main">
            <a:srgbClr val="FBE7D8"/>
          </a:solidFill>
          <a:ln xmlns:a="http://schemas.openxmlformats.org/drawingml/2006/main" w="0">
            <a:noFill/>
            <a:prstDash val="solid"/>
          </a:ln>
        </p:spPr>
      </p:sp>
      <p:sp>
        <p:nvSpPr>
          <p:cNvPr id="44" name="">
            <a:extLst xmlns:a="http://schemas.openxmlformats.org/drawingml/2006/main">
              <a:ext uri="{FF2B5EF4-FFF2-40B4-BE49-F238E27FC236}">
                <a16:creationId xmlns:a16="http://schemas.microsoft.com/office/drawing/2014/main" id="{0B092D12-1452-4531-BB41-CA9433BBAF00}"/>
              </a:ext>
            </a:extLst>
          </p:cNvPr>
          <p:cNvSpPr>
            <a:spLocks xmlns:a="http://schemas.openxmlformats.org/drawingml/2006/main" noGrp="1"/>
          </p:cNvSpPr>
          <p:nvPr/>
        </p:nvSpPr>
        <p:spPr>
          <a:xfrm xmlns:a="http://schemas.openxmlformats.org/drawingml/2006/main">
            <a:off x="704850" y="5962650"/>
            <a:ext cx="10058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78431"/>
          </a:bodyPr>
          <a:lstStyle xmlns:a="http://schemas.openxmlformats.org/drawingml/2006/main"/>
          <a:p xmlns:a="http://schemas.openxmlformats.org/drawingml/2006/main">
            <a:pPr algn="ctr">
              <a:defRPr sz="1275" b="1" i="0">
                <a:solidFill>
                  <a:srgbClr val="1B2B45"/>
                </a:solidFill>
                <a:latin typeface="Calibri"/>
                <a:ea typeface="Calibri"/>
                <a:cs typeface="Calibri"/>
              </a:defRPr>
            </a:pPr>
            <a:r>
              <a:rPr sz="1275" b="1" i="0">
                <a:solidFill>
                  <a:srgbClr val="1B2B45"/>
                </a:solidFill>
                <a:latin typeface="Calibri"/>
                <a:ea typeface="Calibri"/>
                <a:cs typeface="Calibri"/>
              </a:rPr>
              <a:t>Sequence is a test order, not a committed build roadmap.</a:t>
            </a:r>
          </a:p>
        </p:txBody>
      </p:sp>
      <p:sp>
        <p:nvSpPr>
          <p:cNvPr id="45" name="">
            <a:extLst xmlns:a="http://schemas.openxmlformats.org/drawingml/2006/main">
              <a:ext uri="{FF2B5EF4-FFF2-40B4-BE49-F238E27FC236}">
                <a16:creationId xmlns:a16="http://schemas.microsoft.com/office/drawing/2014/main" id="{E09BAF67-2988-455B-B4D5-F78D7FD1B3BE}"/>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 · Appendix</a:t>
            </a:r>
          </a:p>
        </p:txBody>
      </p:sp>
      <p:sp>
        <p:nvSpPr>
          <p:cNvPr id="46" name="">
            <a:extLst xmlns:a="http://schemas.openxmlformats.org/drawingml/2006/main">
              <a:ext uri="{FF2B5EF4-FFF2-40B4-BE49-F238E27FC236}">
                <a16:creationId xmlns:a16="http://schemas.microsoft.com/office/drawing/2014/main" id="{D6E66244-D3AE-429B-937B-E3A9DD3AD45D}"/>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20</a:t>
            </a:r>
          </a:p>
        </p:txBody>
      </p:sp>
    </p:spTree>
    <p:extLst>
      <p:ext uri="{BB962C8B-B14F-4D97-AF65-F5344CB8AC3E}">
        <p14:creationId xmlns:p14="http://schemas.microsoft.com/office/powerpoint/2010/main" val="1311198889"/>
      </p:ext>
    </p:extLst>
  </p:cSld>
</p:sld>
</file>

<file path=ppt/slides/slide21.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74C52193-CEB4-4E26-A851-C859F0658C0A}"/>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APPENDIX · EVIDENCE BOUNDARY</a:t>
            </a:r>
          </a:p>
        </p:txBody>
      </p:sp>
      <p:sp>
        <p:nvSpPr>
          <p:cNvPr id="2" name="">
            <a:extLst xmlns:a="http://schemas.openxmlformats.org/drawingml/2006/main">
              <a:ext uri="{FF2B5EF4-FFF2-40B4-BE49-F238E27FC236}">
                <a16:creationId xmlns:a16="http://schemas.microsoft.com/office/drawing/2014/main" id="{69D4EFBA-564A-43D5-88AE-D7F7A9B25DA4}"/>
              </a:ext>
            </a:extLst>
          </p:cNvPr>
          <p:cNvSpPr>
            <a:spLocks xmlns:a="http://schemas.openxmlformats.org/drawingml/2006/main" noGrp="1"/>
          </p:cNvSpPr>
          <p:nvPr/>
        </p:nvSpPr>
        <p:spPr>
          <a:xfrm xmlns:a="http://schemas.openxmlformats.org/drawingml/2006/main">
            <a:off x="514350" y="571500"/>
            <a:ext cx="1114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What kind of evidence this is</a:t>
            </a:r>
          </a:p>
        </p:txBody>
      </p:sp>
      <p:sp>
        <p:nvSpPr>
          <p:cNvPr id="3" name="">
            <a:extLst xmlns:a="http://schemas.openxmlformats.org/drawingml/2006/main">
              <a:ext uri="{FF2B5EF4-FFF2-40B4-BE49-F238E27FC236}">
                <a16:creationId xmlns:a16="http://schemas.microsoft.com/office/drawing/2014/main" id="{92EB1AA4-ECEF-4751-847A-3EA25D29434E}"/>
              </a:ext>
            </a:extLst>
          </p:cNvPr>
          <p:cNvSpPr>
            <a:spLocks xmlns:a="http://schemas.openxmlformats.org/drawingml/2006/main" noGrp="1"/>
          </p:cNvSpPr>
          <p:nvPr/>
        </p:nvSpPr>
        <p:spPr>
          <a:xfrm xmlns:a="http://schemas.openxmlformats.org/drawingml/2006/main">
            <a:off x="685800" y="1619250"/>
            <a:ext cx="10287000" cy="432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38100" rIns="38100" bIns="38100">
            <a:normAutofit fontScale="100000"/>
          </a:bodyPr>
          <a:lstStyle xmlns:a="http://schemas.openxmlformats.org/drawingml/2006/main"/>
          <a:p xmlns:a="http://schemas.openxmlformats.org/drawingml/2006/main">
            <a:pPr marL="228600" indent="-114300">
              <a:spcAft>
                <a:spcPts val="800"/>
              </a:spcAft>
              <a:buChar char="•"/>
              <a:defRPr sz="1575">
                <a:solidFill>
                  <a:srgbClr val="233248"/>
                </a:solidFill>
                <a:latin typeface="Calibri"/>
                <a:ea typeface="Calibri"/>
                <a:cs typeface="Calibri"/>
              </a:defRPr>
            </a:pPr>
            <a:r>
              <a:rPr sz="1575">
                <a:solidFill>
                  <a:srgbClr val="233248"/>
                </a:solidFill>
                <a:latin typeface="Calibri"/>
                <a:ea typeface="Calibri"/>
                <a:cs typeface="Calibri"/>
              </a:rPr>
              <a:t>Convenience sample recruited through available networks; not representative of Hyderabad riders</a:t>
            </a:r>
          </a:p>
          <a:p xmlns:a="http://schemas.openxmlformats.org/drawingml/2006/main">
            <a:pPr marL="228600" indent="-114300">
              <a:spcAft>
                <a:spcPts val="800"/>
              </a:spcAft>
              <a:buChar char="•"/>
              <a:defRPr sz="1575">
                <a:solidFill>
                  <a:srgbClr val="233248"/>
                </a:solidFill>
                <a:latin typeface="Calibri"/>
                <a:ea typeface="Calibri"/>
                <a:cs typeface="Calibri"/>
              </a:defRPr>
            </a:pPr>
            <a:r>
              <a:rPr sz="1575">
                <a:solidFill>
                  <a:srgbClr val="233248"/>
                </a:solidFill>
                <a:latin typeface="Calibri"/>
                <a:ea typeface="Calibri"/>
                <a:cs typeface="Calibri"/>
              </a:rPr>
              <a:t>Online survey with interview-style prompts; 30 open-ended responses but no live probing, so qualitative depth is shallower than a moderated interview</a:t>
            </a:r>
          </a:p>
          <a:p xmlns:a="http://schemas.openxmlformats.org/drawingml/2006/main">
            <a:pPr marL="228600" indent="-114300">
              <a:spcAft>
                <a:spcPts val="800"/>
              </a:spcAft>
              <a:buChar char="•"/>
              <a:defRPr sz="1575">
                <a:solidFill>
                  <a:srgbClr val="233248"/>
                </a:solidFill>
                <a:latin typeface="Calibri"/>
                <a:ea typeface="Calibri"/>
                <a:cs typeface="Calibri"/>
              </a:defRPr>
            </a:pPr>
            <a:r>
              <a:rPr sz="1575">
                <a:solidFill>
                  <a:srgbClr val="233248"/>
                </a:solidFill>
                <a:latin typeface="Calibri"/>
                <a:ea typeface="Calibri"/>
                <a:cs typeface="Calibri"/>
              </a:rPr>
              <a:t>Four driver responses; two-sided product and marketplace conclusions remain premature</a:t>
            </a:r>
          </a:p>
          <a:p xmlns:a="http://schemas.openxmlformats.org/drawingml/2006/main">
            <a:pPr marL="228600" indent="-114300">
              <a:spcAft>
                <a:spcPts val="800"/>
              </a:spcAft>
              <a:buChar char="•"/>
              <a:defRPr sz="1575">
                <a:solidFill>
                  <a:srgbClr val="233248"/>
                </a:solidFill>
                <a:latin typeface="Calibri"/>
                <a:ea typeface="Calibri"/>
                <a:cs typeface="Calibri"/>
              </a:defRPr>
            </a:pPr>
            <a:r>
              <a:rPr sz="1575">
                <a:solidFill>
                  <a:srgbClr val="233248"/>
                </a:solidFill>
                <a:latin typeface="Calibri"/>
                <a:ea typeface="Calibri"/>
                <a:cs typeface="Calibri"/>
              </a:rPr>
              <a:t>Open prompts were optional and the schema changed during collection, so qualitative depth varies</a:t>
            </a:r>
          </a:p>
          <a:p xmlns:a="http://schemas.openxmlformats.org/drawingml/2006/main">
            <a:pPr marL="228600" indent="-114300">
              <a:spcAft>
                <a:spcPts val="800"/>
              </a:spcAft>
              <a:buChar char="•"/>
              <a:defRPr sz="1575">
                <a:solidFill>
                  <a:srgbClr val="233248"/>
                </a:solidFill>
                <a:latin typeface="Calibri"/>
                <a:ea typeface="Calibri"/>
                <a:cs typeface="Calibri"/>
              </a:defRPr>
            </a:pPr>
            <a:r>
              <a:rPr sz="1575">
                <a:solidFill>
                  <a:srgbClr val="233248"/>
                </a:solidFill>
                <a:latin typeface="Calibri"/>
                <a:ea typeface="Calibri"/>
                <a:cs typeface="Calibri"/>
              </a:rPr>
              <a:t>Twenty-nine of 62 responses came from other cities; they are comparison evidence, not a small side sample</a:t>
            </a:r>
          </a:p>
          <a:p xmlns:a="http://schemas.openxmlformats.org/drawingml/2006/main">
            <a:pPr marL="228600" indent="-114300">
              <a:spcAft>
                <a:spcPts val="800"/>
              </a:spcAft>
              <a:buChar char="•"/>
              <a:defRPr sz="1575">
                <a:solidFill>
                  <a:srgbClr val="233248"/>
                </a:solidFill>
                <a:latin typeface="Calibri"/>
                <a:ea typeface="Calibri"/>
                <a:cs typeface="Calibri"/>
              </a:defRPr>
            </a:pPr>
            <a:r>
              <a:rPr sz="1575">
                <a:solidFill>
                  <a:srgbClr val="233248"/>
                </a:solidFill>
                <a:latin typeface="Calibri"/>
                <a:ea typeface="Calibri"/>
                <a:cs typeface="Calibri"/>
              </a:rPr>
              <a:t>Consent was required in the interface but not stored as a separate backend field</a:t>
            </a:r>
          </a:p>
          <a:p xmlns:a="http://schemas.openxmlformats.org/drawingml/2006/main">
            <a:pPr marL="228600" indent="-114300">
              <a:spcAft>
                <a:spcPts val="800"/>
              </a:spcAft>
              <a:buChar char="•"/>
              <a:defRPr sz="1575">
                <a:solidFill>
                  <a:srgbClr val="233248"/>
                </a:solidFill>
                <a:latin typeface="Calibri"/>
                <a:ea typeface="Calibri"/>
                <a:cs typeface="Calibri"/>
              </a:defRPr>
            </a:pPr>
            <a:r>
              <a:rPr sz="1575">
                <a:solidFill>
                  <a:srgbClr val="233248"/>
                </a:solidFill>
                <a:latin typeface="Calibri"/>
                <a:ea typeface="Calibri"/>
                <a:cs typeface="Calibri"/>
              </a:rPr>
              <a:t>Multi-select location and action counts are mentions, not mutually exclusive people</a:t>
            </a:r>
          </a:p>
          <a:p xmlns:a="http://schemas.openxmlformats.org/drawingml/2006/main">
            <a:pPr marL="228600" indent="-114300">
              <a:spcAft>
                <a:spcPts val="800"/>
              </a:spcAft>
              <a:buChar char="•"/>
              <a:defRPr sz="1575">
                <a:solidFill>
                  <a:srgbClr val="233248"/>
                </a:solidFill>
                <a:latin typeface="Calibri"/>
                <a:ea typeface="Calibri"/>
                <a:cs typeface="Calibri"/>
              </a:defRPr>
            </a:pPr>
            <a:r>
              <a:rPr sz="1575">
                <a:solidFill>
                  <a:srgbClr val="233248"/>
                </a:solidFill>
                <a:latin typeface="Calibri"/>
                <a:ea typeface="Calibri"/>
                <a:cs typeface="Calibri"/>
              </a:rPr>
              <a:t>No reliable Hyderabad trip-volume or issue-rate denominator was found; no market-size figure is claimed</a:t>
            </a:r>
          </a:p>
        </p:txBody>
      </p:sp>
      <p:sp>
        <p:nvSpPr>
          <p:cNvPr id="4" name="">
            <a:extLst xmlns:a="http://schemas.openxmlformats.org/drawingml/2006/main">
              <a:ext uri="{FF2B5EF4-FFF2-40B4-BE49-F238E27FC236}">
                <a16:creationId xmlns:a16="http://schemas.microsoft.com/office/drawing/2014/main" id="{5B687B1B-EEC2-4DBC-AA96-702207DF4CCD}"/>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 · Appendix</a:t>
            </a:r>
          </a:p>
        </p:txBody>
      </p:sp>
      <p:sp>
        <p:nvSpPr>
          <p:cNvPr id="5" name="">
            <a:extLst xmlns:a="http://schemas.openxmlformats.org/drawingml/2006/main">
              <a:ext uri="{FF2B5EF4-FFF2-40B4-BE49-F238E27FC236}">
                <a16:creationId xmlns:a16="http://schemas.microsoft.com/office/drawing/2014/main" id="{3A68EC1D-88F5-471C-BB23-E55F16EF1A03}"/>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21</a:t>
            </a:r>
          </a:p>
        </p:txBody>
      </p:sp>
    </p:spTree>
    <p:extLst>
      <p:ext uri="{BB962C8B-B14F-4D97-AF65-F5344CB8AC3E}">
        <p14:creationId xmlns:p14="http://schemas.microsoft.com/office/powerpoint/2010/main" val="1747526136"/>
      </p:ext>
    </p:extLst>
  </p:cSld>
</p:sld>
</file>

<file path=ppt/slides/slide22.xml><?xml version="1.0" encoding="utf-8"?>
<p:sld xmlns:p="http://schemas.openxmlformats.org/presentationml/2006/main">
  <p:cSld>
    <p:bg>
      <p:bgPr>
        <a:solidFill xmlns:a="http://schemas.openxmlformats.org/drawingml/2006/main">
          <a:srgbClr val="1B2B45"/>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70CEEBCA-F64B-4A16-AA56-7BADBE25EF33}"/>
              </a:ext>
            </a:extLst>
          </p:cNvPr>
          <p:cNvSpPr>
            <a:spLocks xmlns:a="http://schemas.openxmlformats.org/drawingml/2006/main" noGrp="1"/>
          </p:cNvSpPr>
          <p:nvPr/>
        </p:nvSpPr>
        <p:spPr>
          <a:xfrm xmlns:a="http://schemas.openxmlformats.org/drawingml/2006/main">
            <a:off x="514350" y="266700"/>
            <a:ext cx="1104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APPENDIX · SOURCE TRACEABILITY</a:t>
            </a:r>
          </a:p>
        </p:txBody>
      </p:sp>
      <p:sp>
        <p:nvSpPr>
          <p:cNvPr id="2" name="">
            <a:extLst xmlns:a="http://schemas.openxmlformats.org/drawingml/2006/main">
              <a:ext uri="{FF2B5EF4-FFF2-40B4-BE49-F238E27FC236}">
                <a16:creationId xmlns:a16="http://schemas.microsoft.com/office/drawing/2014/main" id="{90205E83-5FA5-4CFE-A1A6-DB8B688DBF01}"/>
              </a:ext>
            </a:extLst>
          </p:cNvPr>
          <p:cNvSpPr>
            <a:spLocks xmlns:a="http://schemas.openxmlformats.org/drawingml/2006/main" noGrp="1"/>
          </p:cNvSpPr>
          <p:nvPr/>
        </p:nvSpPr>
        <p:spPr>
          <a:xfrm xmlns:a="http://schemas.openxmlformats.org/drawingml/2006/main">
            <a:off x="514350" y="628650"/>
            <a:ext cx="1047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550" b="1" i="0">
                <a:solidFill>
                  <a:srgbClr val="FFFFFF"/>
                </a:solidFill>
                <a:latin typeface="Calibri"/>
                <a:ea typeface="Calibri"/>
                <a:cs typeface="Calibri"/>
              </a:defRPr>
            </a:pPr>
            <a:r>
              <a:rPr sz="2550" b="1" i="0">
                <a:solidFill>
                  <a:srgbClr val="FFFFFF"/>
                </a:solidFill>
                <a:latin typeface="Calibri"/>
                <a:ea typeface="Calibri"/>
                <a:cs typeface="Calibri"/>
              </a:rPr>
              <a:t>Every claim traces to a source or an explicit limitation</a:t>
            </a:r>
          </a:p>
        </p:txBody>
      </p:sp>
      <p:sp>
        <p:nvSpPr>
          <p:cNvPr id="3" name="">
            <a:extLst xmlns:a="http://schemas.openxmlformats.org/drawingml/2006/main">
              <a:ext uri="{FF2B5EF4-FFF2-40B4-BE49-F238E27FC236}">
                <a16:creationId xmlns:a16="http://schemas.microsoft.com/office/drawing/2014/main" id="{BCF71E26-1BF5-4897-B369-A65749564474}"/>
              </a:ext>
            </a:extLst>
          </p:cNvPr>
          <p:cNvSpPr>
            <a:spLocks xmlns:a="http://schemas.openxmlformats.org/drawingml/2006/main" noGrp="1"/>
          </p:cNvSpPr>
          <p:nvPr/>
        </p:nvSpPr>
        <p:spPr>
          <a:xfrm xmlns:a="http://schemas.openxmlformats.org/drawingml/2006/main">
            <a:off x="514350" y="1466850"/>
            <a:ext cx="5143500" cy="1676400"/>
          </a:xfrm>
          <a:prstGeom xmlns:a="http://schemas.openxmlformats.org/drawingml/2006/main" prst="roundRect">
            <a:avLst>
              <a:gd name="adj" fmla="val 3409"/>
            </a:avLst>
          </a:prstGeom>
          <a:solidFill xmlns:a="http://schemas.openxmlformats.org/drawingml/2006/main">
            <a:srgbClr val="243A60"/>
          </a:solidFill>
          <a:ln xmlns:a="http://schemas.openxmlformats.org/drawingml/2006/main" w="9525">
            <a:solidFill>
              <a:srgbClr val="3B5686"/>
            </a:solidFill>
            <a:prstDash val="solid"/>
          </a:ln>
        </p:spPr>
      </p:sp>
      <p:sp>
        <p:nvSpPr>
          <p:cNvPr id="4" name="">
            <a:extLst xmlns:a="http://schemas.openxmlformats.org/drawingml/2006/main">
              <a:ext uri="{FF2B5EF4-FFF2-40B4-BE49-F238E27FC236}">
                <a16:creationId xmlns:a16="http://schemas.microsoft.com/office/drawing/2014/main" id="{5132798F-636E-4947-B185-86D42A944348}"/>
              </a:ext>
            </a:extLst>
          </p:cNvPr>
          <p:cNvSpPr>
            <a:spLocks xmlns:a="http://schemas.openxmlformats.org/drawingml/2006/main" noGrp="1"/>
          </p:cNvSpPr>
          <p:nvPr/>
        </p:nvSpPr>
        <p:spPr>
          <a:xfrm xmlns:a="http://schemas.openxmlformats.org/drawingml/2006/main">
            <a:off x="666750" y="1581150"/>
            <a:ext cx="4838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F47A22"/>
                </a:solidFill>
                <a:latin typeface="Calibri"/>
                <a:ea typeface="Calibri"/>
                <a:cs typeface="Calibri"/>
              </a:defRPr>
            </a:pPr>
            <a:r>
              <a:rPr sz="1275" b="1" i="0">
                <a:solidFill>
                  <a:srgbClr val="F47A22"/>
                </a:solidFill>
                <a:latin typeface="Calibri"/>
                <a:ea typeface="Calibri"/>
                <a:cs typeface="Calibri"/>
              </a:rPr>
              <a:t>PRIMARY EVIDENCE</a:t>
            </a:r>
          </a:p>
        </p:txBody>
      </p:sp>
      <p:sp>
        <p:nvSpPr>
          <p:cNvPr id="5" name="">
            <a:extLst xmlns:a="http://schemas.openxmlformats.org/drawingml/2006/main">
              <a:ext uri="{FF2B5EF4-FFF2-40B4-BE49-F238E27FC236}">
                <a16:creationId xmlns:a16="http://schemas.microsoft.com/office/drawing/2014/main" id="{FB9A7454-822F-4638-BE40-89D54F1667AE}"/>
              </a:ext>
            </a:extLst>
          </p:cNvPr>
          <p:cNvSpPr>
            <a:spLocks xmlns:a="http://schemas.openxmlformats.org/drawingml/2006/main" noGrp="1"/>
          </p:cNvSpPr>
          <p:nvPr/>
        </p:nvSpPr>
        <p:spPr>
          <a:xfrm xmlns:a="http://schemas.openxmlformats.org/drawingml/2006/main">
            <a:off x="666750" y="1914525"/>
            <a:ext cx="48387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500" b="0" i="0">
                <a:solidFill>
                  <a:srgbClr val="FFFFFF"/>
                </a:solidFill>
                <a:latin typeface="Calibri"/>
                <a:ea typeface="Calibri"/>
                <a:cs typeface="Calibri"/>
              </a:defRPr>
            </a:pPr>
            <a:r>
              <a:rPr sz="1500" b="0" i="0">
                <a:solidFill>
                  <a:srgbClr val="FFFFFF"/>
                </a:solidFill>
                <a:latin typeface="Calibri"/>
                <a:ea typeface="Calibri"/>
                <a:cs typeface="Calibri"/>
              </a:rPr>
              <a:t>Sanitized-Survey-Evidence.xlsx</a:t>
            </a:r>
          </a:p>
          <a:p xmlns:a="http://schemas.openxmlformats.org/drawingml/2006/main">
            <a:pPr algn="l">
              <a:defRPr sz="1500" b="0" i="0">
                <a:solidFill>
                  <a:srgbClr val="FFFFFF"/>
                </a:solidFill>
                <a:latin typeface="Calibri"/>
                <a:ea typeface="Calibri"/>
                <a:cs typeface="Calibri"/>
              </a:defRPr>
            </a:pPr>
            <a:r>
              <a:rPr sz="1500" b="0" i="0">
                <a:solidFill>
                  <a:srgbClr val="FFFFFF"/>
                </a:solidFill>
                <a:latin typeface="Calibri"/>
                <a:ea typeface="Calibri"/>
                <a:cs typeface="Calibri"/>
              </a:rPr>
              <a:t>Survey-Dashboard.png</a:t>
            </a:r>
          </a:p>
          <a:p xmlns:a="http://schemas.openxmlformats.org/drawingml/2006/main">
            <a:pPr algn="l">
              <a:defRPr sz="1500" b="0" i="0">
                <a:solidFill>
                  <a:srgbClr val="FFFFFF"/>
                </a:solidFill>
                <a:latin typeface="Calibri"/>
                <a:ea typeface="Calibri"/>
                <a:cs typeface="Calibri"/>
              </a:defRPr>
            </a:pPr>
            <a:r>
              <a:rPr sz="1500" b="0" i="0">
                <a:solidFill>
                  <a:srgbClr val="FFFFFF"/>
                </a:solidFill>
                <a:latin typeface="Calibri"/>
                <a:ea typeface="Calibri"/>
                <a:cs typeface="Calibri"/>
              </a:rPr>
              <a:t>Screenshots/</a:t>
            </a:r>
          </a:p>
          <a:p xmlns:a="http://schemas.openxmlformats.org/drawingml/2006/main">
            <a:pPr algn="l">
              <a:defRPr sz="1500" b="0" i="0">
                <a:solidFill>
                  <a:srgbClr val="FFFFFF"/>
                </a:solidFill>
                <a:latin typeface="Calibri"/>
                <a:ea typeface="Calibri"/>
                <a:cs typeface="Calibri"/>
              </a:defRPr>
            </a:pPr>
            <a:r>
              <a:rPr sz="1500" b="0" i="0">
                <a:solidFill>
                  <a:srgbClr val="FFFFFF"/>
                </a:solidFill>
                <a:latin typeface="Calibri"/>
                <a:ea typeface="Calibri"/>
                <a:cs typeface="Calibri"/>
              </a:rPr>
              <a:t>Live-URL.txt</a:t>
            </a:r>
          </a:p>
        </p:txBody>
      </p:sp>
      <p:sp>
        <p:nvSpPr>
          <p:cNvPr id="6" name="">
            <a:extLst xmlns:a="http://schemas.openxmlformats.org/drawingml/2006/main">
              <a:ext uri="{FF2B5EF4-FFF2-40B4-BE49-F238E27FC236}">
                <a16:creationId xmlns:a16="http://schemas.microsoft.com/office/drawing/2014/main" id="{463241D4-9485-44A8-B6E5-D27033ABC240}"/>
              </a:ext>
            </a:extLst>
          </p:cNvPr>
          <p:cNvSpPr>
            <a:spLocks xmlns:a="http://schemas.openxmlformats.org/drawingml/2006/main" noGrp="1"/>
          </p:cNvSpPr>
          <p:nvPr/>
        </p:nvSpPr>
        <p:spPr>
          <a:xfrm xmlns:a="http://schemas.openxmlformats.org/drawingml/2006/main">
            <a:off x="5810250" y="1466850"/>
            <a:ext cx="5143500" cy="1676400"/>
          </a:xfrm>
          <a:prstGeom xmlns:a="http://schemas.openxmlformats.org/drawingml/2006/main" prst="roundRect">
            <a:avLst>
              <a:gd name="adj" fmla="val 3409"/>
            </a:avLst>
          </a:prstGeom>
          <a:solidFill xmlns:a="http://schemas.openxmlformats.org/drawingml/2006/main">
            <a:srgbClr val="243A60"/>
          </a:solidFill>
          <a:ln xmlns:a="http://schemas.openxmlformats.org/drawingml/2006/main" w="9525">
            <a:solidFill>
              <a:srgbClr val="3B5686"/>
            </a:solidFill>
            <a:prstDash val="solid"/>
          </a:ln>
        </p:spPr>
      </p:sp>
      <p:sp>
        <p:nvSpPr>
          <p:cNvPr id="7" name="">
            <a:extLst xmlns:a="http://schemas.openxmlformats.org/drawingml/2006/main">
              <a:ext uri="{FF2B5EF4-FFF2-40B4-BE49-F238E27FC236}">
                <a16:creationId xmlns:a16="http://schemas.microsoft.com/office/drawing/2014/main" id="{8B2A04E6-A4D1-4A5B-8D1E-9981D930E71F}"/>
              </a:ext>
            </a:extLst>
          </p:cNvPr>
          <p:cNvSpPr>
            <a:spLocks xmlns:a="http://schemas.openxmlformats.org/drawingml/2006/main" noGrp="1"/>
          </p:cNvSpPr>
          <p:nvPr/>
        </p:nvSpPr>
        <p:spPr>
          <a:xfrm xmlns:a="http://schemas.openxmlformats.org/drawingml/2006/main">
            <a:off x="5962650" y="1581150"/>
            <a:ext cx="4838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1BB5C8"/>
                </a:solidFill>
                <a:latin typeface="Calibri"/>
                <a:ea typeface="Calibri"/>
                <a:cs typeface="Calibri"/>
              </a:defRPr>
            </a:pPr>
            <a:r>
              <a:rPr sz="1275" b="1" i="0">
                <a:solidFill>
                  <a:srgbClr val="1BB5C8"/>
                </a:solidFill>
                <a:latin typeface="Calibri"/>
                <a:ea typeface="Calibri"/>
                <a:cs typeface="Calibri"/>
              </a:rPr>
              <a:t>DESK AND COMPETITOR EVIDENCE</a:t>
            </a:r>
          </a:p>
        </p:txBody>
      </p:sp>
      <p:sp>
        <p:nvSpPr>
          <p:cNvPr id="8" name="">
            <a:extLst xmlns:a="http://schemas.openxmlformats.org/drawingml/2006/main">
              <a:ext uri="{FF2B5EF4-FFF2-40B4-BE49-F238E27FC236}">
                <a16:creationId xmlns:a16="http://schemas.microsoft.com/office/drawing/2014/main" id="{83D80EA1-4AB3-49E9-B5BE-C6CF343A9B51}"/>
              </a:ext>
            </a:extLst>
          </p:cNvPr>
          <p:cNvSpPr>
            <a:spLocks xmlns:a="http://schemas.openxmlformats.org/drawingml/2006/main" noGrp="1"/>
          </p:cNvSpPr>
          <p:nvPr/>
        </p:nvSpPr>
        <p:spPr>
          <a:xfrm xmlns:a="http://schemas.openxmlformats.org/drawingml/2006/main">
            <a:off x="5962650" y="1914525"/>
            <a:ext cx="48387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500" b="0" i="0">
                <a:solidFill>
                  <a:srgbClr val="FFFFFF"/>
                </a:solidFill>
                <a:latin typeface="Calibri"/>
                <a:ea typeface="Calibri"/>
                <a:cs typeface="Calibri"/>
              </a:defRPr>
            </a:pPr>
            <a:r>
              <a:rPr sz="1500" b="0" i="0">
                <a:solidFill>
                  <a:srgbClr val="FFFFFF"/>
                </a:solidFill>
                <a:latin typeface="Calibri"/>
                <a:ea typeface="Calibri"/>
                <a:cs typeface="Calibri"/>
              </a:rPr>
              <a:t>Competitor-Analysis.md</a:t>
            </a:r>
          </a:p>
          <a:p xmlns:a="http://schemas.openxmlformats.org/drawingml/2006/main">
            <a:pPr algn="l">
              <a:defRPr sz="1500" b="0" i="0">
                <a:solidFill>
                  <a:srgbClr val="FFFFFF"/>
                </a:solidFill>
                <a:latin typeface="Calibri"/>
                <a:ea typeface="Calibri"/>
                <a:cs typeface="Calibri"/>
              </a:defRPr>
            </a:pPr>
            <a:r>
              <a:rPr sz="1500" b="0" i="0">
                <a:solidFill>
                  <a:srgbClr val="FFFFFF"/>
                </a:solidFill>
                <a:latin typeface="Calibri"/>
                <a:ea typeface="Calibri"/>
                <a:cs typeface="Calibri"/>
              </a:rPr>
              <a:t>Desk-Research-Report.md</a:t>
            </a:r>
          </a:p>
          <a:p xmlns:a="http://schemas.openxmlformats.org/drawingml/2006/main">
            <a:pPr algn="l">
              <a:defRPr sz="1500" b="0" i="0">
                <a:solidFill>
                  <a:srgbClr val="FFFFFF"/>
                </a:solidFill>
                <a:latin typeface="Calibri"/>
                <a:ea typeface="Calibri"/>
                <a:cs typeface="Calibri"/>
              </a:defRPr>
            </a:pPr>
            <a:r>
              <a:rPr sz="1500" b="0" i="0">
                <a:solidFill>
                  <a:srgbClr val="FFFFFF"/>
                </a:solidFill>
                <a:latin typeface="Calibri"/>
                <a:ea typeface="Calibri"/>
                <a:cs typeface="Calibri"/>
              </a:rPr>
              <a:t>Source-Register.md</a:t>
            </a:r>
          </a:p>
          <a:p xmlns:a="http://schemas.openxmlformats.org/drawingml/2006/main">
            <a:pPr algn="l">
              <a:defRPr sz="1500" b="0" i="0">
                <a:solidFill>
                  <a:srgbClr val="FFFFFF"/>
                </a:solidFill>
                <a:latin typeface="Calibri"/>
                <a:ea typeface="Calibri"/>
                <a:cs typeface="Calibri"/>
              </a:defRPr>
            </a:pPr>
            <a:r>
              <a:rPr sz="1500" b="0" i="0">
                <a:solidFill>
                  <a:srgbClr val="FFFFFF"/>
                </a:solidFill>
                <a:latin typeface="Calibri"/>
                <a:ea typeface="Calibri"/>
                <a:cs typeface="Calibri"/>
              </a:rPr>
              <a:t>Raw internet workbook retained privately</a:t>
            </a:r>
          </a:p>
        </p:txBody>
      </p:sp>
      <p:sp>
        <p:nvSpPr>
          <p:cNvPr id="9" name="">
            <a:extLst xmlns:a="http://schemas.openxmlformats.org/drawingml/2006/main">
              <a:ext uri="{FF2B5EF4-FFF2-40B4-BE49-F238E27FC236}">
                <a16:creationId xmlns:a16="http://schemas.microsoft.com/office/drawing/2014/main" id="{F02C1FF2-5C74-44AF-9C67-F404408D5820}"/>
              </a:ext>
            </a:extLst>
          </p:cNvPr>
          <p:cNvSpPr>
            <a:spLocks xmlns:a="http://schemas.openxmlformats.org/drawingml/2006/main" noGrp="1"/>
          </p:cNvSpPr>
          <p:nvPr/>
        </p:nvSpPr>
        <p:spPr>
          <a:xfrm xmlns:a="http://schemas.openxmlformats.org/drawingml/2006/main">
            <a:off x="514350" y="3371850"/>
            <a:ext cx="5143500" cy="1485900"/>
          </a:xfrm>
          <a:prstGeom xmlns:a="http://schemas.openxmlformats.org/drawingml/2006/main" prst="roundRect">
            <a:avLst>
              <a:gd name="adj" fmla="val 3846"/>
            </a:avLst>
          </a:prstGeom>
          <a:solidFill xmlns:a="http://schemas.openxmlformats.org/drawingml/2006/main">
            <a:srgbClr val="243A60"/>
          </a:solidFill>
          <a:ln xmlns:a="http://schemas.openxmlformats.org/drawingml/2006/main" w="9525">
            <a:solidFill>
              <a:srgbClr val="3B5686"/>
            </a:solidFill>
            <a:prstDash val="solid"/>
          </a:ln>
        </p:spPr>
      </p:sp>
      <p:sp>
        <p:nvSpPr>
          <p:cNvPr id="10" name="">
            <a:extLst xmlns:a="http://schemas.openxmlformats.org/drawingml/2006/main">
              <a:ext uri="{FF2B5EF4-FFF2-40B4-BE49-F238E27FC236}">
                <a16:creationId xmlns:a16="http://schemas.microsoft.com/office/drawing/2014/main" id="{EDEEC8D6-F611-46A5-9DE0-F651C90FDA67}"/>
              </a:ext>
            </a:extLst>
          </p:cNvPr>
          <p:cNvSpPr>
            <a:spLocks xmlns:a="http://schemas.openxmlformats.org/drawingml/2006/main" noGrp="1"/>
          </p:cNvSpPr>
          <p:nvPr/>
        </p:nvSpPr>
        <p:spPr>
          <a:xfrm xmlns:a="http://schemas.openxmlformats.org/drawingml/2006/main">
            <a:off x="666750" y="3486150"/>
            <a:ext cx="4838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F47A22"/>
                </a:solidFill>
                <a:latin typeface="Calibri"/>
                <a:ea typeface="Calibri"/>
                <a:cs typeface="Calibri"/>
              </a:defRPr>
            </a:pPr>
            <a:r>
              <a:rPr sz="1275" b="1" i="0">
                <a:solidFill>
                  <a:srgbClr val="F47A22"/>
                </a:solidFill>
                <a:latin typeface="Calibri"/>
                <a:ea typeface="Calibri"/>
                <a:cs typeface="Calibri"/>
              </a:rPr>
              <a:t>SYNTHESIS</a:t>
            </a:r>
          </a:p>
        </p:txBody>
      </p:sp>
      <p:sp>
        <p:nvSpPr>
          <p:cNvPr id="11" name="">
            <a:extLst xmlns:a="http://schemas.openxmlformats.org/drawingml/2006/main">
              <a:ext uri="{FF2B5EF4-FFF2-40B4-BE49-F238E27FC236}">
                <a16:creationId xmlns:a16="http://schemas.microsoft.com/office/drawing/2014/main" id="{0B7243BC-324A-4A9A-8261-D7D3117FBF78}"/>
              </a:ext>
            </a:extLst>
          </p:cNvPr>
          <p:cNvSpPr>
            <a:spLocks xmlns:a="http://schemas.openxmlformats.org/drawingml/2006/main" noGrp="1"/>
          </p:cNvSpPr>
          <p:nvPr/>
        </p:nvSpPr>
        <p:spPr>
          <a:xfrm xmlns:a="http://schemas.openxmlformats.org/drawingml/2006/main">
            <a:off x="666750" y="3819525"/>
            <a:ext cx="48387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500" b="0" i="0">
                <a:solidFill>
                  <a:srgbClr val="FFFFFF"/>
                </a:solidFill>
                <a:latin typeface="Calibri"/>
                <a:ea typeface="Calibri"/>
                <a:cs typeface="Calibri"/>
              </a:defRPr>
            </a:pPr>
            <a:r>
              <a:rPr sz="1500" b="0" i="0">
                <a:solidFill>
                  <a:srgbClr val="FFFFFF"/>
                </a:solidFill>
                <a:latin typeface="Calibri"/>
                <a:ea typeface="Calibri"/>
                <a:cs typeface="Calibri"/>
              </a:rPr>
              <a:t>01-survey-insights.md</a:t>
            </a:r>
          </a:p>
          <a:p xmlns:a="http://schemas.openxmlformats.org/drawingml/2006/main">
            <a:pPr algn="l">
              <a:defRPr sz="1500" b="0" i="0">
                <a:solidFill>
                  <a:srgbClr val="FFFFFF"/>
                </a:solidFill>
                <a:latin typeface="Calibri"/>
                <a:ea typeface="Calibri"/>
                <a:cs typeface="Calibri"/>
              </a:defRPr>
            </a:pPr>
            <a:r>
              <a:rPr sz="1500" b="0" i="0">
                <a:solidFill>
                  <a:srgbClr val="FFFFFF"/>
                </a:solidFill>
                <a:latin typeface="Calibri"/>
                <a:ea typeface="Calibri"/>
                <a:cs typeface="Calibri"/>
              </a:rPr>
              <a:t>02-strategy-implications.md</a:t>
            </a:r>
          </a:p>
          <a:p xmlns:a="http://schemas.openxmlformats.org/drawingml/2006/main">
            <a:pPr algn="l">
              <a:defRPr sz="1500" b="0" i="0">
                <a:solidFill>
                  <a:srgbClr val="FFFFFF"/>
                </a:solidFill>
                <a:latin typeface="Calibri"/>
                <a:ea typeface="Calibri"/>
                <a:cs typeface="Calibri"/>
              </a:defRPr>
            </a:pPr>
            <a:r>
              <a:rPr sz="1500" b="0" i="0">
                <a:solidFill>
                  <a:srgbClr val="FFFFFF"/>
                </a:solidFill>
                <a:latin typeface="Calibri"/>
                <a:ea typeface="Calibri"/>
                <a:cs typeface="Calibri"/>
              </a:rPr>
              <a:t>04-product-ideas.md</a:t>
            </a:r>
          </a:p>
        </p:txBody>
      </p:sp>
      <p:sp>
        <p:nvSpPr>
          <p:cNvPr id="12" name="">
            <a:extLst xmlns:a="http://schemas.openxmlformats.org/drawingml/2006/main">
              <a:ext uri="{FF2B5EF4-FFF2-40B4-BE49-F238E27FC236}">
                <a16:creationId xmlns:a16="http://schemas.microsoft.com/office/drawing/2014/main" id="{3BFF8523-44D0-4C30-8691-C403FD4672F2}"/>
              </a:ext>
            </a:extLst>
          </p:cNvPr>
          <p:cNvSpPr>
            <a:spLocks xmlns:a="http://schemas.openxmlformats.org/drawingml/2006/main" noGrp="1"/>
          </p:cNvSpPr>
          <p:nvPr/>
        </p:nvSpPr>
        <p:spPr>
          <a:xfrm xmlns:a="http://schemas.openxmlformats.org/drawingml/2006/main">
            <a:off x="5810250" y="3371850"/>
            <a:ext cx="5143500" cy="1485900"/>
          </a:xfrm>
          <a:prstGeom xmlns:a="http://schemas.openxmlformats.org/drawingml/2006/main" prst="roundRect">
            <a:avLst>
              <a:gd name="adj" fmla="val 3846"/>
            </a:avLst>
          </a:prstGeom>
          <a:solidFill xmlns:a="http://schemas.openxmlformats.org/drawingml/2006/main">
            <a:srgbClr val="FBE7D8"/>
          </a:solidFill>
          <a:ln xmlns:a="http://schemas.openxmlformats.org/drawingml/2006/main" w="9525">
            <a:solidFill>
              <a:srgbClr val="FBE7D8"/>
            </a:solidFill>
            <a:prstDash val="solid"/>
          </a:ln>
        </p:spPr>
      </p:sp>
      <p:sp>
        <p:nvSpPr>
          <p:cNvPr id="13" name="">
            <a:extLst xmlns:a="http://schemas.openxmlformats.org/drawingml/2006/main">
              <a:ext uri="{FF2B5EF4-FFF2-40B4-BE49-F238E27FC236}">
                <a16:creationId xmlns:a16="http://schemas.microsoft.com/office/drawing/2014/main" id="{9ADB510A-D891-4B93-91C6-E88E705A8CD8}"/>
              </a:ext>
            </a:extLst>
          </p:cNvPr>
          <p:cNvSpPr>
            <a:spLocks xmlns:a="http://schemas.openxmlformats.org/drawingml/2006/main" noGrp="1"/>
          </p:cNvSpPr>
          <p:nvPr/>
        </p:nvSpPr>
        <p:spPr>
          <a:xfrm xmlns:a="http://schemas.openxmlformats.org/drawingml/2006/main">
            <a:off x="5962650" y="3486150"/>
            <a:ext cx="4838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1B2B45"/>
                </a:solidFill>
                <a:latin typeface="Calibri"/>
                <a:ea typeface="Calibri"/>
                <a:cs typeface="Calibri"/>
              </a:defRPr>
            </a:pPr>
            <a:r>
              <a:rPr sz="1275" b="1" i="0">
                <a:solidFill>
                  <a:srgbClr val="1B2B45"/>
                </a:solidFill>
                <a:latin typeface="Calibri"/>
                <a:ea typeface="Calibri"/>
                <a:cs typeface="Calibri"/>
              </a:rPr>
              <a:t>HARD SUBMISSION GATE</a:t>
            </a:r>
          </a:p>
        </p:txBody>
      </p:sp>
      <p:sp>
        <p:nvSpPr>
          <p:cNvPr id="14" name="">
            <a:extLst xmlns:a="http://schemas.openxmlformats.org/drawingml/2006/main">
              <a:ext uri="{FF2B5EF4-FFF2-40B4-BE49-F238E27FC236}">
                <a16:creationId xmlns:a16="http://schemas.microsoft.com/office/drawing/2014/main" id="{9CE8F3B6-C2ED-44CC-8927-98E6D5B646AD}"/>
              </a:ext>
            </a:extLst>
          </p:cNvPr>
          <p:cNvSpPr>
            <a:spLocks xmlns:a="http://schemas.openxmlformats.org/drawingml/2006/main" noGrp="1"/>
          </p:cNvSpPr>
          <p:nvPr/>
        </p:nvSpPr>
        <p:spPr>
          <a:xfrm xmlns:a="http://schemas.openxmlformats.org/drawingml/2006/main">
            <a:off x="5962650" y="3819525"/>
            <a:ext cx="48387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425" b="0" i="0">
                <a:solidFill>
                  <a:srgbClr val="1B2B45"/>
                </a:solidFill>
                <a:latin typeface="Calibri"/>
                <a:ea typeface="Calibri"/>
                <a:cs typeface="Calibri"/>
              </a:defRPr>
            </a:pPr>
            <a:r>
              <a:rPr sz="1425" b="0" i="0">
                <a:solidFill>
                  <a:srgbClr val="1B2B45"/>
                </a:solidFill>
                <a:latin typeface="Calibri"/>
                <a:ea typeface="Calibri"/>
                <a:cs typeface="Calibri"/>
              </a:rPr>
              <a:t>Video link is pending. Before submission: record presenter-visible video under 5 minutes, upload it, add the working link, and verify access.</a:t>
            </a:r>
          </a:p>
        </p:txBody>
      </p:sp>
      <p:sp>
        <p:nvSpPr>
          <p:cNvPr id="15" name="">
            <a:extLst xmlns:a="http://schemas.openxmlformats.org/drawingml/2006/main">
              <a:ext uri="{FF2B5EF4-FFF2-40B4-BE49-F238E27FC236}">
                <a16:creationId xmlns:a16="http://schemas.microsoft.com/office/drawing/2014/main" id="{F841540E-ACE9-4CF1-9675-910C1BCBBF4F}"/>
              </a:ext>
            </a:extLst>
          </p:cNvPr>
          <p:cNvSpPr>
            <a:spLocks xmlns:a="http://schemas.openxmlformats.org/drawingml/2006/main" noGrp="1"/>
          </p:cNvSpPr>
          <p:nvPr/>
        </p:nvSpPr>
        <p:spPr>
          <a:xfrm xmlns:a="http://schemas.openxmlformats.org/drawingml/2006/main">
            <a:off x="514350" y="5238750"/>
            <a:ext cx="10439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5781"/>
          </a:bodyPr>
          <a:lstStyle xmlns:a="http://schemas.openxmlformats.org/drawingml/2006/main"/>
          <a:p xmlns:a="http://schemas.openxmlformats.org/drawingml/2006/main">
            <a:pPr algn="ctr">
              <a:defRPr sz="1350" b="0" i="0">
                <a:solidFill>
                  <a:srgbClr val="CFD8E7"/>
                </a:solidFill>
                <a:latin typeface="Calibri"/>
                <a:ea typeface="Calibri"/>
                <a:cs typeface="Calibri"/>
              </a:defRPr>
            </a:pPr>
            <a:r>
              <a:rPr sz="1350" b="0" i="0">
                <a:solidFill>
                  <a:srgbClr val="CFD8E7"/>
                </a:solidFill>
                <a:latin typeface="Calibri"/>
                <a:ea typeface="Calibri"/>
                <a:cs typeface="Calibri"/>
              </a:rPr>
              <a:t>Evidence ZIP excludes participant contacts, raw API payloads, test rows, internal artifacts, and the raw internet workbook containing public creator contacts.</a:t>
            </a:r>
          </a:p>
        </p:txBody>
      </p:sp>
      <p:sp>
        <p:nvSpPr>
          <p:cNvPr id="16" name="">
            <a:extLst xmlns:a="http://schemas.openxmlformats.org/drawingml/2006/main">
              <a:ext uri="{FF2B5EF4-FFF2-40B4-BE49-F238E27FC236}">
                <a16:creationId xmlns:a16="http://schemas.microsoft.com/office/drawing/2014/main" id="{034DCA31-7264-4708-BBE4-D0699992D4CA}"/>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 · Appendix</a:t>
            </a:r>
          </a:p>
        </p:txBody>
      </p:sp>
      <p:sp>
        <p:nvSpPr>
          <p:cNvPr id="17" name="">
            <a:extLst xmlns:a="http://schemas.openxmlformats.org/drawingml/2006/main">
              <a:ext uri="{FF2B5EF4-FFF2-40B4-BE49-F238E27FC236}">
                <a16:creationId xmlns:a16="http://schemas.microsoft.com/office/drawing/2014/main" id="{CBB66252-B718-4450-8CBF-3E8A07016085}"/>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22</a:t>
            </a:r>
          </a:p>
        </p:txBody>
      </p:sp>
    </p:spTree>
    <p:extLst>
      <p:ext uri="{BB962C8B-B14F-4D97-AF65-F5344CB8AC3E}">
        <p14:creationId xmlns:p14="http://schemas.microsoft.com/office/powerpoint/2010/main" val="176353270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2026-09-19T07:00:36.6970000Z</dcterms:created>
  <dcterms:modified xsi:type="dcterms:W3CDTF">2026-09-19T07:00:36.6970000Z</dcterms:modified>
</coreProperties>
</file>