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b27e7d5f894cd7" /><Relationship Type="http://schemas.openxmlformats.org/officeDocument/2006/relationships/extended-properties" Target="/docProps/app.xml" Id="Rb9b344be51fd433d" /><Relationship Type="http://schemas.openxmlformats.org/officeDocument/2006/relationships/officeDocument" Target="/ppt/presentation.xml" Id="Rc7828eb38841408c" /></Relationships>
</file>

<file path=ppt/presentation.xml><?xml version="1.0" encoding="utf-8"?>
<p:presentation xmlns:p="http://schemas.openxmlformats.org/presentationml/2006/main">
  <p:sldMasterIdLst>
    <p:sldMasterId xmlns:r="http://schemas.openxmlformats.org/officeDocument/2006/relationships" id="2147483648" r:id="Rb9c8ebd9716840f8"/>
  </p:sldMasterIdLst>
  <p:notesMasterIdLst>
    <p:notesMasterId xmlns:r="http://schemas.openxmlformats.org/officeDocument/2006/relationships" r:id="R3f256bab52e849ef"/>
  </p:notesMasterIdLst>
  <p:sldIdLst>
    <p:sldId xmlns:r="http://schemas.openxmlformats.org/officeDocument/2006/relationships" id="256" r:id="R0de464961f594898"/>
    <p:sldId xmlns:r="http://schemas.openxmlformats.org/officeDocument/2006/relationships" id="257" r:id="R37e84bd58ece4d3b"/>
    <p:sldId xmlns:r="http://schemas.openxmlformats.org/officeDocument/2006/relationships" id="258" r:id="Rec37b75f4dc541a7"/>
    <p:sldId xmlns:r="http://schemas.openxmlformats.org/officeDocument/2006/relationships" id="259" r:id="R0bdb601650be48a6"/>
    <p:sldId xmlns:r="http://schemas.openxmlformats.org/officeDocument/2006/relationships" id="260" r:id="R50799cdaa1db4377"/>
    <p:sldId xmlns:r="http://schemas.openxmlformats.org/officeDocument/2006/relationships" id="261" r:id="R54e3fade80a24118"/>
    <p:sldId xmlns:r="http://schemas.openxmlformats.org/officeDocument/2006/relationships" id="262" r:id="Rb5eb5ad31fa64557"/>
    <p:sldId xmlns:r="http://schemas.openxmlformats.org/officeDocument/2006/relationships" id="263" r:id="Rc66e0d5e1405428b"/>
    <p:sldId xmlns:r="http://schemas.openxmlformats.org/officeDocument/2006/relationships" id="264" r:id="R50e1706c3ee54f74"/>
    <p:sldId xmlns:r="http://schemas.openxmlformats.org/officeDocument/2006/relationships" id="265" r:id="Rb74b595952504449"/>
    <p:sldId xmlns:r="http://schemas.openxmlformats.org/officeDocument/2006/relationships" id="266" r:id="R5be257d87713413b"/>
    <p:sldId xmlns:r="http://schemas.openxmlformats.org/officeDocument/2006/relationships" id="267" r:id="R9e33a32e40de41ff"/>
    <p:sldId xmlns:r="http://schemas.openxmlformats.org/officeDocument/2006/relationships" id="268" r:id="Raccaa7bd5f784485"/>
    <p:sldId xmlns:r="http://schemas.openxmlformats.org/officeDocument/2006/relationships" id="269" r:id="R069f0a41677c4d2a"/>
    <p:sldId xmlns:r="http://schemas.openxmlformats.org/officeDocument/2006/relationships" id="270" r:id="Rc076720125ed4a25"/>
    <p:sldId xmlns:r="http://schemas.openxmlformats.org/officeDocument/2006/relationships" id="271" r:id="Rac2762db94eb4a3f"/>
    <p:sldId xmlns:r="http://schemas.openxmlformats.org/officeDocument/2006/relationships" id="272" r:id="R0a267e1c11c24b34"/>
    <p:sldId xmlns:r="http://schemas.openxmlformats.org/officeDocument/2006/relationships" id="273" r:id="Rb423e4c3f5124c66"/>
    <p:sldId xmlns:r="http://schemas.openxmlformats.org/officeDocument/2006/relationships" id="274" r:id="Rdfcb6c8dc63d48c5"/>
    <p:sldId xmlns:r="http://schemas.openxmlformats.org/officeDocument/2006/relationships" id="275" r:id="R2c7e96b51a7f4487"/>
    <p:sldId xmlns:r="http://schemas.openxmlformats.org/officeDocument/2006/relationships" id="276" r:id="R12fbbac76a804cf1"/>
    <p:sldId xmlns:r="http://schemas.openxmlformats.org/officeDocument/2006/relationships" id="277" r:id="Rde91bba1ee924ad3"/>
    <p:sldId xmlns:r="http://schemas.openxmlformats.org/officeDocument/2006/relationships" id="278" r:id="R9d7c6151c1744211"/>
    <p:sldId xmlns:r="http://schemas.openxmlformats.org/officeDocument/2006/relationships" id="279" r:id="R6b59b62658e34242"/>
    <p:sldId xmlns:r="http://schemas.openxmlformats.org/officeDocument/2006/relationships" id="280" r:id="R42267e6132414957"/>
    <p:sldId xmlns:r="http://schemas.openxmlformats.org/officeDocument/2006/relationships" id="281" r:id="Rf461894d18da47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f81a59dc5c4754" /><Relationship Type="http://schemas.openxmlformats.org/officeDocument/2006/relationships/slideMaster" Target="/ppt/slideMasters/slideMaster1.xml" Id="Rb9c8ebd9716840f8" /><Relationship Type="http://schemas.openxmlformats.org/officeDocument/2006/relationships/notesMaster" Target="/ppt/notesMasters/notesMaster1.xml" Id="R3f256bab52e849ef" /><Relationship Type="http://schemas.openxmlformats.org/officeDocument/2006/relationships/presProps" Target="/ppt/presProps.xml" Id="R32455bc699c0420f" /><Relationship Type="http://schemas.openxmlformats.org/officeDocument/2006/relationships/tableStyles" Target="/ppt/tableStyles.xml" Id="R7d96dde76cd54dcf" /><Relationship Type="http://schemas.openxmlformats.org/officeDocument/2006/relationships/slide" Target="/ppt/slides/slide1.xml" Id="R0de464961f594898" /><Relationship Type="http://schemas.openxmlformats.org/officeDocument/2006/relationships/slide" Target="/ppt/slides/slide2.xml" Id="R37e84bd58ece4d3b" /><Relationship Type="http://schemas.openxmlformats.org/officeDocument/2006/relationships/slide" Target="/ppt/slides/slide3.xml" Id="Rec37b75f4dc541a7" /><Relationship Type="http://schemas.openxmlformats.org/officeDocument/2006/relationships/slide" Target="/ppt/slides/slide4.xml" Id="R0bdb601650be48a6" /><Relationship Type="http://schemas.openxmlformats.org/officeDocument/2006/relationships/slide" Target="/ppt/slides/slide5.xml" Id="R50799cdaa1db4377" /><Relationship Type="http://schemas.openxmlformats.org/officeDocument/2006/relationships/slide" Target="/ppt/slides/slide6.xml" Id="R54e3fade80a24118" /><Relationship Type="http://schemas.openxmlformats.org/officeDocument/2006/relationships/slide" Target="/ppt/slides/slide7.xml" Id="Rb5eb5ad31fa64557" /><Relationship Type="http://schemas.openxmlformats.org/officeDocument/2006/relationships/slide" Target="/ppt/slides/slide8.xml" Id="Rc66e0d5e1405428b" /><Relationship Type="http://schemas.openxmlformats.org/officeDocument/2006/relationships/slide" Target="/ppt/slides/slide9.xml" Id="R50e1706c3ee54f74" /><Relationship Type="http://schemas.openxmlformats.org/officeDocument/2006/relationships/slide" Target="/ppt/slides/slide10.xml" Id="Rb74b595952504449" /><Relationship Type="http://schemas.openxmlformats.org/officeDocument/2006/relationships/slide" Target="/ppt/slides/slide11.xml" Id="R5be257d87713413b" /><Relationship Type="http://schemas.openxmlformats.org/officeDocument/2006/relationships/slide" Target="/ppt/slides/slide12.xml" Id="R9e33a32e40de41ff" /><Relationship Type="http://schemas.openxmlformats.org/officeDocument/2006/relationships/slide" Target="/ppt/slides/slide13.xml" Id="Raccaa7bd5f784485" /><Relationship Type="http://schemas.openxmlformats.org/officeDocument/2006/relationships/slide" Target="/ppt/slides/slide14.xml" Id="R069f0a41677c4d2a" /><Relationship Type="http://schemas.openxmlformats.org/officeDocument/2006/relationships/slide" Target="/ppt/slides/slide15.xml" Id="Rc076720125ed4a25" /><Relationship Type="http://schemas.openxmlformats.org/officeDocument/2006/relationships/slide" Target="/ppt/slides/slide16.xml" Id="Rac2762db94eb4a3f" /><Relationship Type="http://schemas.openxmlformats.org/officeDocument/2006/relationships/slide" Target="/ppt/slides/slide17.xml" Id="R0a267e1c11c24b34" /><Relationship Type="http://schemas.openxmlformats.org/officeDocument/2006/relationships/slide" Target="/ppt/slides/slide18.xml" Id="Rb423e4c3f5124c66" /><Relationship Type="http://schemas.openxmlformats.org/officeDocument/2006/relationships/slide" Target="/ppt/slides/slide19.xml" Id="Rdfcb6c8dc63d48c5" /><Relationship Type="http://schemas.openxmlformats.org/officeDocument/2006/relationships/slide" Target="/ppt/slides/slide20.xml" Id="R2c7e96b51a7f4487" /><Relationship Type="http://schemas.openxmlformats.org/officeDocument/2006/relationships/slide" Target="/ppt/slides/slide21.xml" Id="R12fbbac76a804cf1" /><Relationship Type="http://schemas.openxmlformats.org/officeDocument/2006/relationships/slide" Target="/ppt/slides/slide22.xml" Id="Rde91bba1ee924ad3" /><Relationship Type="http://schemas.openxmlformats.org/officeDocument/2006/relationships/slide" Target="/ppt/slides/slide23.xml" Id="R9d7c6151c1744211" /><Relationship Type="http://schemas.openxmlformats.org/officeDocument/2006/relationships/slide" Target="/ppt/slides/slide24.xml" Id="R6b59b62658e34242" /><Relationship Type="http://schemas.openxmlformats.org/officeDocument/2006/relationships/slide" Target="/ppt/slides/slide25.xml" Id="R42267e6132414957" /><Relationship Type="http://schemas.openxmlformats.org/officeDocument/2006/relationships/slide" Target="/ppt/slides/slide26.xml" Id="Rf461894d18da47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abac43ce5843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d0f8f07ac042b8" /><Relationship Type="http://schemas.openxmlformats.org/officeDocument/2006/relationships/notesMaster" Target="/ppt/notesMasters/notesMaster1.xml" Id="R09a1c8ceae8544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045cb756d04ad4" /><Relationship Type="http://schemas.openxmlformats.org/officeDocument/2006/relationships/notesMaster" Target="/ppt/notesMasters/notesMaster1.xml" Id="Rf51c6e6c1e8748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1a88d7c2484157" /><Relationship Type="http://schemas.openxmlformats.org/officeDocument/2006/relationships/notesMaster" Target="/ppt/notesMasters/notesMaster1.xml" Id="Ra7aa532422bf4c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68b337d8924b89" /><Relationship Type="http://schemas.openxmlformats.org/officeDocument/2006/relationships/notesMaster" Target="/ppt/notesMasters/notesMaster1.xml" Id="R58ba1b90cf914d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022419197a4c91" /><Relationship Type="http://schemas.openxmlformats.org/officeDocument/2006/relationships/notesMaster" Target="/ppt/notesMasters/notesMaster1.xml" Id="Rc1c2b78df5a74a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b86aa29e554898" /><Relationship Type="http://schemas.openxmlformats.org/officeDocument/2006/relationships/notesMaster" Target="/ppt/notesMasters/notesMaster1.xml" Id="Rdeb9f45be19c4b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b757e35e0048b5" /><Relationship Type="http://schemas.openxmlformats.org/officeDocument/2006/relationships/notesMaster" Target="/ppt/notesMasters/notesMaster1.xml" Id="R7c3d31902f0d4e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3d44dfda154289" /><Relationship Type="http://schemas.openxmlformats.org/officeDocument/2006/relationships/notesMaster" Target="/ppt/notesMasters/notesMaster1.xml" Id="R343064c81ada40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9757533b274adb" /><Relationship Type="http://schemas.openxmlformats.org/officeDocument/2006/relationships/notesMaster" Target="/ppt/notesMasters/notesMaster1.xml" Id="R8ae3e0ed9e8844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60bdb0101e47de" /><Relationship Type="http://schemas.openxmlformats.org/officeDocument/2006/relationships/notesMaster" Target="/ppt/notesMasters/notesMaster1.xml" Id="R73d02ef67ec04f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32938393724677" /><Relationship Type="http://schemas.openxmlformats.org/officeDocument/2006/relationships/notesMaster" Target="/ppt/notesMasters/notesMaster1.xml" Id="R3de270e787d74a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3650d483a94070" /><Relationship Type="http://schemas.openxmlformats.org/officeDocument/2006/relationships/notesMaster" Target="/ppt/notesMasters/notesMaster1.xml" Id="R0b0ca3806afc43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453add78ce4ef8" /><Relationship Type="http://schemas.openxmlformats.org/officeDocument/2006/relationships/notesMaster" Target="/ppt/notesMasters/notesMaster1.xml" Id="R150e3127830642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11c1faa25948c1" /><Relationship Type="http://schemas.openxmlformats.org/officeDocument/2006/relationships/notesMaster" Target="/ppt/notesMasters/notesMaster1.xml" Id="Rbc0a3e6971d142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49b49d38b84d59" /><Relationship Type="http://schemas.openxmlformats.org/officeDocument/2006/relationships/notesMaster" Target="/ppt/notesMasters/notesMaster1.xml" Id="R540a975e8c9d43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1d109dc77d4461" /><Relationship Type="http://schemas.openxmlformats.org/officeDocument/2006/relationships/notesMaster" Target="/ppt/notesMasters/notesMaster1.xml" Id="R0a835c5cb6d749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5c3cfb30674ff3" /><Relationship Type="http://schemas.openxmlformats.org/officeDocument/2006/relationships/notesMaster" Target="/ppt/notesMasters/notesMaster1.xml" Id="R6c9ace74d5484b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eae50025c4d49f2" /><Relationship Type="http://schemas.openxmlformats.org/officeDocument/2006/relationships/notesMaster" Target="/ppt/notesMasters/notesMaster1.xml" Id="R1f2c1de79ce74a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e0c9bccc6d4086" /><Relationship Type="http://schemas.openxmlformats.org/officeDocument/2006/relationships/notesMaster" Target="/ppt/notesMasters/notesMaster1.xml" Id="R320fb957164745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e032943ddd4ec0" /><Relationship Type="http://schemas.openxmlformats.org/officeDocument/2006/relationships/notesMaster" Target="/ppt/notesMasters/notesMaster1.xml" Id="Rc2cbf49ed04641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7b4b567a554470" /><Relationship Type="http://schemas.openxmlformats.org/officeDocument/2006/relationships/notesMaster" Target="/ppt/notesMasters/notesMaster1.xml" Id="Rae1490c341cb4b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70aa13682a4559" /><Relationship Type="http://schemas.openxmlformats.org/officeDocument/2006/relationships/notesMaster" Target="/ppt/notesMasters/notesMaster1.xml" Id="R0d7b104125d94f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df3e7721d4248c1" /><Relationship Type="http://schemas.openxmlformats.org/officeDocument/2006/relationships/notesMaster" Target="/ppt/notesMasters/notesMaster1.xml" Id="R41d46fb599f442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f22979b90b494a" /><Relationship Type="http://schemas.openxmlformats.org/officeDocument/2006/relationships/notesMaster" Target="/ppt/notesMasters/notesMaster1.xml" Id="R7cd94572475d47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6e1b5d678134d38" /><Relationship Type="http://schemas.openxmlformats.org/officeDocument/2006/relationships/notesMaster" Target="/ppt/notesMasters/notesMaster1.xml" Id="Rf795323792ed442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e176acbbb34388" /><Relationship Type="http://schemas.openxmlformats.org/officeDocument/2006/relationships/notesMaster" Target="/ppt/notesMasters/notesMaster1.xml" Id="R5446a3be8ea34d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the stressful moment when a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English, Telugu, and Hindi, with separate rider and driver questions.</a:t>
            </a:r>
          </a:p>
          <a:p xmlns:a="http://schemas.openxmlformats.org/drawingml/2006/main">
            <a:r>
              <a:t/>
            </a:r>
          </a:p>
          <a:p xmlns:a="http://schemas.openxmlformats.org/drawingml/2006/main">
            <a:r>
              <a:t>After removing one duplicate, I had sixty-two responses: fifty-eight riders and four drivers. Thirty people wrote answers, and eleven shared detailed experiences. This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pictures, and access information. These are possible approaches, but they do not prove local demand. The opportunity is better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 The survey points to airports, gated communities, malls, offices, and stations.</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recover today. The rider is the main user, and the driver is also affected. Success means fewer calls and a faster trip start.</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Before writing the statement, I checked five questions. Who? A rider at a complex pickup, with the driver also affected. What? No shared meeting point. Where? Airports, gated homes, malls, offices, and stations. When? As the driver approaches or arrives. Why? The extra coordination creates waiting and delay.</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Framework adapted from the user-provided 5W problem-framing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final statement is this. At selected complex locations, a generally correct pin may still fail to create one shared meeting point. This causes calls, waiting, movement, and delay. It does not apply to every ride. The survey is directional, so interviews and stronger driver evidence are still needed.</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Format adapted from the user-provided What Makes a Good Problem Statement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it before. Twenty said calling or messaging helped, while six said nothing helped. These numbers describe this sample only, not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sizing evidence status.</a:t>
            </a:r>
          </a:p>
          <a:p xmlns:a="http://schemas.openxmlformats.org/drawingml/2006/main">
            <a:r>
              <a:t/>
            </a:r>
          </a:p>
          <a:p xmlns:a="http://schemas.openxmlformats.org/drawingml/2006/main">
            <a:r>
              <a:t>Sources:</a:t>
            </a:r>
          </a:p>
          <a:p xmlns:a="http://schemas.openxmlformats.org/drawingml/2006/main">
            <a:r>
              <a:t>Local evidence: research/desk-research-report.md, research/competitor-analysis.md, and Sanitized-Survey-Evidence.xlsx.</a:t>
            </a:r>
          </a:p>
          <a:p xmlns:a="http://schemas.openxmlformats.org/drawingml/2006/main">
            <a:r>
              <a:t>No numeric TAM, SAM, SOM, CAGR, willingness-to-pay, or saturation claim is made without supporting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readiness and signals.</a:t>
            </a:r>
          </a:p>
          <a:p xmlns:a="http://schemas.openxmlformats.org/drawingml/2006/main">
            <a:r>
              <a:t/>
            </a:r>
          </a:p>
          <a:p xmlns:a="http://schemas.openxmlformats.org/drawingml/2006/main">
            <a:r>
              <a:t>Sources:</a:t>
            </a:r>
          </a:p>
          <a:p xmlns:a="http://schemas.openxmlformats.org/drawingml/2006/main">
            <a:r>
              <a:t>Local evidence: synthesis/02-strategy-implications.md and synthesis/04-product-ideas.md.</a:t>
            </a:r>
          </a:p>
          <a:p xmlns:a="http://schemas.openxmlformats.org/drawingml/2006/main">
            <a:r>
              <a:t>No A/B sample size is claimed because the required baseline, effect-size, confidence, power, and traffic inputs are not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d533d9257b4b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867b5bdd1d4b0b" /><Relationship Type="http://schemas.openxmlformats.org/officeDocument/2006/relationships/slideLayout" Target="/ppt/slideLayouts/slideLayout1.xml" Id="Rb44f2b8b9c8c47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f2b8b9c8c47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f1256251b24fe5" /><Relationship Type="http://schemas.openxmlformats.org/officeDocument/2006/relationships/notesSlide" Target="/ppt/notesSlides/notesSlide1.xml" Id="R568e462b1b9c40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3923683a3be40ee" /><Relationship Type="http://schemas.openxmlformats.org/officeDocument/2006/relationships/image" Target="/ppt/media/image.png" Id="R4f790138d43e443e" /><Relationship Type="http://schemas.openxmlformats.org/officeDocument/2006/relationships/hyperlink" Target="https://praveenveera.github.io/uber-pickup-survey/" TargetMode="External" Id="Rdbb748b3aaf34745" /><Relationship Type="http://schemas.openxmlformats.org/officeDocument/2006/relationships/notesSlide" Target="/ppt/notesSlides/notesSlide2.xml" Id="Rd70d4d872e8145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266c5d75624298" /><Relationship Type="http://schemas.openxmlformats.org/officeDocument/2006/relationships/notesSlide" Target="/ppt/notesSlides/notesSlide3.xml" Id="R471a53a61d7940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78f1211d7f45ff" /><Relationship Type="http://schemas.openxmlformats.org/officeDocument/2006/relationships/notesSlide" Target="/ppt/notesSlides/notesSlide4.xml" Id="R42a9c31ce2f34f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4f5c731feb4520" /><Relationship Type="http://schemas.openxmlformats.org/officeDocument/2006/relationships/notesSlide" Target="/ppt/notesSlides/notesSlide5.xml" Id="R0e13528bf79548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f0f40f2ec74fe2" /><Relationship Type="http://schemas.openxmlformats.org/officeDocument/2006/relationships/notesSlide" Target="/ppt/notesSlides/notesSlide6.xml" Id="Rf5a9b1b7a7da43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980512a4864645" /><Relationship Type="http://schemas.openxmlformats.org/officeDocument/2006/relationships/notesSlide" Target="/ppt/notesSlides/notesSlide7.xml" Id="Rb4d06df5de0e4b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9058e8141c4808" /><Relationship Type="http://schemas.openxmlformats.org/officeDocument/2006/relationships/notesSlide" Target="/ppt/notesSlides/notesSlide8.xml" Id="R129b09a352a24f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841a733491403e" /><Relationship Type="http://schemas.openxmlformats.org/officeDocument/2006/relationships/notesSlide" Target="/ppt/notesSlides/notesSlide9.xml" Id="R2e7ef14b824b4e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4b9818745a4868" /><Relationship Type="http://schemas.openxmlformats.org/officeDocument/2006/relationships/notesSlide" Target="/ppt/notesSlides/notesSlide10.xml" Id="Rf83b5ad8456047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3bf46b772141f8" /><Relationship Type="http://schemas.openxmlformats.org/officeDocument/2006/relationships/notesSlide" Target="/ppt/notesSlides/notesSlide11.xml" Id="R08b0fa9a99104c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870482bbf64e3b" /><Relationship Type="http://schemas.openxmlformats.org/officeDocument/2006/relationships/notesSlide" Target="/ppt/notesSlides/notesSlide12.xml" Id="Rd913d87464294f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ff271ccecb543de" /><Relationship Type="http://schemas.openxmlformats.org/officeDocument/2006/relationships/notesSlide" Target="/ppt/notesSlides/notesSlide13.xml" Id="Rc394cb1a650a48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88d611182f48b9" /><Relationship Type="http://schemas.openxmlformats.org/officeDocument/2006/relationships/notesSlide" Target="/ppt/notesSlides/notesSlide14.xml" Id="Rfc18d1a5a7744f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94e05997c74e3c" /><Relationship Type="http://schemas.openxmlformats.org/officeDocument/2006/relationships/notesSlide" Target="/ppt/notesSlides/notesSlide15.xml" Id="Re68302bc65e741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3c9d04032a4ea6" /><Relationship Type="http://schemas.openxmlformats.org/officeDocument/2006/relationships/image" Target="/ppt/media/image2.png" Id="Rdec1f11b717e4be3" /><Relationship Type="http://schemas.openxmlformats.org/officeDocument/2006/relationships/image" Target="/ppt/media/image3.png" Id="Rd27c36995d3f405e" /><Relationship Type="http://schemas.openxmlformats.org/officeDocument/2006/relationships/notesSlide" Target="/ppt/notesSlides/notesSlide16.xml" Id="Rdfb5b0944b6a47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471e3f80b1b4f25" /><Relationship Type="http://schemas.openxmlformats.org/officeDocument/2006/relationships/notesSlide" Target="/ppt/notesSlides/notesSlide17.xml" Id="R25b0b8a5eeb14f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56f8e2b0a64990" /><Relationship Type="http://schemas.openxmlformats.org/officeDocument/2006/relationships/notesSlide" Target="/ppt/notesSlides/notesSlide18.xml" Id="R0f1cff0bbbd141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31cacc8e21498f" /><Relationship Type="http://schemas.openxmlformats.org/officeDocument/2006/relationships/notesSlide" Target="/ppt/notesSlides/notesSlide19.xml" Id="Rf14d3b1aa8bc4b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30b163b160945f4" /><Relationship Type="http://schemas.openxmlformats.org/officeDocument/2006/relationships/notesSlide" Target="/ppt/notesSlides/notesSlide20.xml" Id="R957900d8a24c442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ac9c9ae2b545cc" /><Relationship Type="http://schemas.openxmlformats.org/officeDocument/2006/relationships/notesSlide" Target="/ppt/notesSlides/notesSlide21.xml" Id="Ra907f368435c4b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34a9ae3e5ef402a" /><Relationship Type="http://schemas.openxmlformats.org/officeDocument/2006/relationships/notesSlide" Target="/ppt/notesSlides/notesSlide22.xml" Id="Rb70aaae0a60c4c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d1b68cc2c1c48f7" /><Relationship Type="http://schemas.openxmlformats.org/officeDocument/2006/relationships/notesSlide" Target="/ppt/notesSlides/notesSlide23.xml" Id="R1563afcf08e847d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2eaad1a7c9e40b5" /><Relationship Type="http://schemas.openxmlformats.org/officeDocument/2006/relationships/notesSlide" Target="/ppt/notesSlides/notesSlide24.xml" Id="R2e984220a8c146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5626c6aa7ff4010" /><Relationship Type="http://schemas.openxmlformats.org/officeDocument/2006/relationships/notesSlide" Target="/ppt/notesSlides/notesSlide25.xml" Id="R2ee6e0396bc84eb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c44b03314f246e0" /><Relationship Type="http://schemas.openxmlformats.org/officeDocument/2006/relationships/notesSlide" Target="/ppt/notesSlides/notesSlide26.xml" Id="Rd4f0c2c9b0044f15"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9D48A1A-FB3B-49B6-8BB8-4D1258040EEF}"/>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71B23EEC-567A-4856-8BEA-4CDA21965DCF}"/>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529140CC-FD12-41BF-9290-66CA2166ACA5}"/>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8EF27A3D-05BB-49A0-A16A-CF94B11DDA77}"/>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1E17EE-0DA5-4592-8D06-287C9354774B}"/>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9B52467B-3BED-411F-B921-B02BC554098B}"/>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3CA9B61B-E816-4864-A42A-6DE1F78F5792}"/>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E88FBD-23DC-41F6-90F9-2995FE2B23BE}"/>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502C2FF9-7313-4806-BE87-326F9329AB09}"/>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F3A27EF5-55C6-41A1-B8AE-C1E2D08FD3CD}"/>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513E89-F9C1-48AE-8FEA-B3B756128167}"/>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B3D006A4-AEB2-442A-AB96-5E5F44174606}"/>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352EF320-D688-484A-9C7E-E90A4F222B2A}"/>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E0891E-9F6B-4A4A-9635-7A090BF3D9C7}"/>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5C467213-2803-4D07-AB6D-202FEFA3F08A}"/>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1DAC434F-01D5-4487-A272-BF25BD14E84B}"/>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043782108"/>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77C5A6-073D-4F45-86B9-F9293D9A2BC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04812AA3-7BC8-42CD-AD2A-A6FE3937439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F9648E97-5A55-46D0-9BF7-176C86CC55A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8C8CB59E-6E2D-461E-AD5F-B54594EF2B28}"/>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742BBFC6-3AD0-49FB-99FE-59FDBE12697D}"/>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3F491254-7181-4568-9535-1ED05F2B2592}"/>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575EC74C-2B99-4C19-A333-C3B8BD5AAB80}"/>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DD923DCF-D801-432C-AC1B-BBDB12DEAD84}"/>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67658E6B-133B-40DA-B567-AD13140DD4F6}"/>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2ED67A11-FF7E-42F0-BC78-15001EF508BA}"/>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ED58017-1DE8-418B-90D4-2D2E2E51EDA0}"/>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7A05D3A4-9FBF-4F0F-8D15-640521ECD0B3}"/>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704118CB-B519-45C0-8A7B-60A32532E9D3}"/>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F469199E-3D2B-4B32-856B-858C89889937}"/>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f790138d43e443e"/>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88F1885-3EC3-4508-B583-F0E63C70603A}"/>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dbb748b3aaf34745"/>
              </a:rPr>
              <a:t>https://praveenveera.github.io/uber-pickup-survey/</a:t>
            </a:r>
          </a:p>
        </p:txBody>
      </p:sp>
      <p:sp>
        <p:nvSpPr>
          <p:cNvPr id="17" name="">
            <a:extLst xmlns:a="http://schemas.openxmlformats.org/drawingml/2006/main">
              <a:ext uri="{FF2B5EF4-FFF2-40B4-BE49-F238E27FC236}">
                <a16:creationId xmlns:a16="http://schemas.microsoft.com/office/drawing/2014/main" id="{5EF20309-1FCE-43D0-BA3A-F4EC0819CA6C}"/>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24E0C5FE-2150-4537-B341-AE7008C59E78}"/>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0D41A8B0-C53F-46B9-BCB8-4930F7359D0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49B0328B-6930-4E45-9EDC-DD0622253CC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12895091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FD4D8FE-2D62-4024-9DE9-EBA0C9F6353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A5E2A3CE-DF5B-41EB-A0B1-52031DFE36E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10AE95E3-F4B4-4DC3-84E8-0C8F9D49FCC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3AAA5E43-22D5-4328-8DEA-41B7E75D1DFA}"/>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719E5AB5-7C80-4A60-8777-72ECB988C885}"/>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EED3114F-ABF9-4B31-AC0E-299D7BA6EBB8}"/>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38DA5318-607B-423C-893B-5A7D61807CCE}"/>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BED76A67-D7A1-45B7-92E0-46FA576A4382}"/>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50B00364-8117-407C-A019-FE3E036338CE}"/>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ECC0F23E-4F34-461A-9D62-3AEB8EB53E8E}"/>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A20EF050-B975-4A3E-ADF4-1B5AEE190026}"/>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2014A419-8FE7-4CA2-A3E2-2ACFF4D74D52}"/>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BF3D6AF9-D4AC-4000-973B-5E3842D0BA7C}"/>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75BC9C3-F67E-477B-AD2B-15D60A61B781}"/>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CA9BE84C-0AF6-4C12-92B6-3CAB153FCB1E}"/>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BDD830F5-E8C7-4329-A804-476989579233}"/>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F773551-AFE3-4D7B-AE97-A75F7D69D9FF}"/>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132F1D2D-33C4-4DE2-BD13-86104BB807E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D47C9BA7-EEC9-4F1C-8163-40A40BEF40C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261969515"/>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8CD966-189E-4D48-8EFA-9BE32A7C46C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D7DCFF52-3524-469B-A849-B94CA6CA1C5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57B2CF92-F0B2-4EFF-AF65-801A2D8812A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FE24409E-7FD9-4793-B45D-5C33C739F721}"/>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5BEBB2F-D585-4597-92E6-6A00EF2112DD}"/>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53892F25-A45E-4330-85F8-EEC3FC9553DB}"/>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7AAC6164-1412-4BAE-AF80-3AA5A1E9244D}"/>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E40F4285-8C45-4002-B315-283D215CFBFE}"/>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EB78B34D-2033-4FB0-B08F-46BBA187D26C}"/>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2EAC5087-00A6-4BBE-A2F7-2D6A79F15450}"/>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DE4CEB9-9E76-4760-88F1-E975E7BFAE4B}"/>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E8A16693-997C-4E5B-8ECD-9FA732BD397F}"/>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F28DFC1F-4032-4249-BAC5-90F74B6DAF85}"/>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9C7B3C5-5D37-440A-AD29-70019F39CEBA}"/>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9D1B0DB6-1ADE-482C-8137-A611177572F2}"/>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201DA75B-C2DB-4ADA-A11A-62A1693A09D9}"/>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117066-5B86-4C5D-BDEC-15885CEC822E}"/>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C5F63144-BA0E-4FC5-835A-14CCC175D1C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5EFF4A6-427E-4A29-9EFF-2185CBB13F2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51219222"/>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F3E773-AC50-4A06-87CE-5CF46FD3F4C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08E98FCA-C40A-4CA6-9530-36D3FA68B2E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E0DA6781-7C9E-4F37-A7F1-B43654D2422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EC85C58F-4260-4CFA-BEC0-250A521E0F10}"/>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588BF3-2438-4C43-92E2-DB0480540845}"/>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1C260AD8-5C43-4DED-8CC7-4BC39D3B0FA0}"/>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031B6321-AB09-4167-8311-64E853DB1BE6}"/>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DE521B88-DE29-4448-B903-B5FA41A21060}"/>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3C9CD9EF-1E42-4294-9AB7-235E28624B35}"/>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92965C42-10DD-49B3-BF47-3A892D4F4365}"/>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53FFCD01-4655-4ADD-9F30-9DCCEA4CDE19}"/>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A635FEF5-FC53-47F9-8309-693ECEF49BE3}"/>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3FE5FA-A99D-4C7D-BBD9-10CC55BA8C15}"/>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B763B77E-5D39-4941-BF20-9E9AB7B8E12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0E47B34B-B757-4582-AE03-6BF6C5F8E44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622789712"/>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A3EE1B4-A2EE-48B2-9005-8ED69DA287B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FRAMING</a:t>
            </a:r>
          </a:p>
        </p:txBody>
      </p:sp>
      <p:sp>
        <p:nvSpPr>
          <p:cNvPr id="2" name="">
            <a:extLst xmlns:a="http://schemas.openxmlformats.org/drawingml/2006/main">
              <a:ext uri="{FF2B5EF4-FFF2-40B4-BE49-F238E27FC236}">
                <a16:creationId xmlns:a16="http://schemas.microsoft.com/office/drawing/2014/main" id="{DF8A7889-1212-45F4-9952-93B3CBF119BD}"/>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Five questions before writing the problem statement</a:t>
            </a:r>
          </a:p>
        </p:txBody>
      </p:sp>
      <p:sp>
        <p:nvSpPr>
          <p:cNvPr id="3" name="">
            <a:extLst xmlns:a="http://schemas.openxmlformats.org/drawingml/2006/main">
              <a:ext uri="{FF2B5EF4-FFF2-40B4-BE49-F238E27FC236}">
                <a16:creationId xmlns:a16="http://schemas.microsoft.com/office/drawing/2014/main" id="{D9F47ECA-ECA0-47ED-95D2-0CCD57E8927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5Ws define the context and impact without jumping to a feature.</a:t>
            </a:r>
          </a:p>
        </p:txBody>
      </p:sp>
      <p:sp>
        <p:nvSpPr>
          <p:cNvPr id="4" name="">
            <a:extLst xmlns:a="http://schemas.openxmlformats.org/drawingml/2006/main">
              <a:ext uri="{FF2B5EF4-FFF2-40B4-BE49-F238E27FC236}">
                <a16:creationId xmlns:a16="http://schemas.microsoft.com/office/drawing/2014/main" id="{1714CE79-41D0-42EC-BBD7-A5EA0FFAAA95}"/>
              </a:ext>
            </a:extLst>
          </p:cNvPr>
          <p:cNvSpPr>
            <a:spLocks xmlns:a="http://schemas.openxmlformats.org/drawingml/2006/main" noGrp="1"/>
          </p:cNvSpPr>
          <p:nvPr/>
        </p:nvSpPr>
        <p:spPr>
          <a:xfrm xmlns:a="http://schemas.openxmlformats.org/drawingml/2006/main">
            <a:off x="514350" y="1619250"/>
            <a:ext cx="104394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C5F61A1-79CE-46CF-93D6-F470E7223F04}"/>
              </a:ext>
            </a:extLst>
          </p:cNvPr>
          <p:cNvSpPr>
            <a:spLocks xmlns:a="http://schemas.openxmlformats.org/drawingml/2006/main" noGrp="1"/>
          </p:cNvSpPr>
          <p:nvPr/>
        </p:nvSpPr>
        <p:spPr>
          <a:xfrm xmlns:a="http://schemas.openxmlformats.org/drawingml/2006/main">
            <a:off x="1247775" y="1924050"/>
            <a:ext cx="628650" cy="6286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0A5333-ACD4-4E2C-B684-3F25B949CCBA}"/>
              </a:ext>
            </a:extLst>
          </p:cNvPr>
          <p:cNvSpPr>
            <a:spLocks xmlns:a="http://schemas.openxmlformats.org/drawingml/2006/main" noGrp="1"/>
          </p:cNvSpPr>
          <p:nvPr/>
        </p:nvSpPr>
        <p:spPr>
          <a:xfrm xmlns:a="http://schemas.openxmlformats.org/drawingml/2006/main">
            <a:off x="131445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5FFE4AAC-277E-4CF0-BBF6-9377FEBF6647}"/>
              </a:ext>
            </a:extLst>
          </p:cNvPr>
          <p:cNvSpPr>
            <a:spLocks xmlns:a="http://schemas.openxmlformats.org/drawingml/2006/main" noGrp="1"/>
          </p:cNvSpPr>
          <p:nvPr/>
        </p:nvSpPr>
        <p:spPr>
          <a:xfrm xmlns:a="http://schemas.openxmlformats.org/drawingml/2006/main">
            <a:off x="77152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WHO</a:t>
            </a:r>
          </a:p>
        </p:txBody>
      </p:sp>
      <p:sp>
        <p:nvSpPr>
          <p:cNvPr id="8" name="">
            <a:extLst xmlns:a="http://schemas.openxmlformats.org/drawingml/2006/main">
              <a:ext uri="{FF2B5EF4-FFF2-40B4-BE49-F238E27FC236}">
                <a16:creationId xmlns:a16="http://schemas.microsoft.com/office/drawing/2014/main" id="{8C727946-CF45-41B3-A46A-BF3C5FAE10D1}"/>
              </a:ext>
            </a:extLst>
          </p:cNvPr>
          <p:cNvSpPr>
            <a:spLocks xmlns:a="http://schemas.openxmlformats.org/drawingml/2006/main" noGrp="1"/>
          </p:cNvSpPr>
          <p:nvPr/>
        </p:nvSpPr>
        <p:spPr>
          <a:xfrm xmlns:a="http://schemas.openxmlformats.org/drawingml/2006/main">
            <a:off x="72390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four-wheel riders</a:t>
            </a:r>
          </a:p>
          <a:p xmlns:a="http://schemas.openxmlformats.org/drawingml/2006/main">
            <a:r>
              <a:t/>
            </a:r>
          </a:p>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The driver is the connected stakeholder.</a:t>
            </a:r>
          </a:p>
        </p:txBody>
      </p:sp>
      <p:sp>
        <p:nvSpPr>
          <p:cNvPr id="9" name="">
            <a:extLst xmlns:a="http://schemas.openxmlformats.org/drawingml/2006/main">
              <a:ext uri="{FF2B5EF4-FFF2-40B4-BE49-F238E27FC236}">
                <a16:creationId xmlns:a16="http://schemas.microsoft.com/office/drawing/2014/main" id="{56428C57-3473-462A-A994-8E324D111432}"/>
              </a:ext>
            </a:extLst>
          </p:cNvPr>
          <p:cNvSpPr>
            <a:spLocks xmlns:a="http://schemas.openxmlformats.org/drawingml/2006/main" noGrp="1"/>
          </p:cNvSpPr>
          <p:nvPr/>
        </p:nvSpPr>
        <p:spPr>
          <a:xfrm xmlns:a="http://schemas.openxmlformats.org/drawingml/2006/main">
            <a:off x="260223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A83BEA-9E31-4A65-95C1-4D19DB33A677}"/>
              </a:ext>
            </a:extLst>
          </p:cNvPr>
          <p:cNvSpPr>
            <a:spLocks xmlns:a="http://schemas.openxmlformats.org/drawingml/2006/main" noGrp="1"/>
          </p:cNvSpPr>
          <p:nvPr/>
        </p:nvSpPr>
        <p:spPr>
          <a:xfrm xmlns:a="http://schemas.openxmlformats.org/drawingml/2006/main">
            <a:off x="333565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CA90EF-FCF6-452B-B6FB-B19570CEC643}"/>
              </a:ext>
            </a:extLst>
          </p:cNvPr>
          <p:cNvSpPr>
            <a:spLocks xmlns:a="http://schemas.openxmlformats.org/drawingml/2006/main" noGrp="1"/>
          </p:cNvSpPr>
          <p:nvPr/>
        </p:nvSpPr>
        <p:spPr>
          <a:xfrm xmlns:a="http://schemas.openxmlformats.org/drawingml/2006/main">
            <a:off x="340233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5D773E17-4290-4447-937B-45D07E8FFE56}"/>
              </a:ext>
            </a:extLst>
          </p:cNvPr>
          <p:cNvSpPr>
            <a:spLocks xmlns:a="http://schemas.openxmlformats.org/drawingml/2006/main" noGrp="1"/>
          </p:cNvSpPr>
          <p:nvPr/>
        </p:nvSpPr>
        <p:spPr>
          <a:xfrm xmlns:a="http://schemas.openxmlformats.org/drawingml/2006/main">
            <a:off x="285940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WHAT</a:t>
            </a:r>
          </a:p>
        </p:txBody>
      </p:sp>
      <p:sp>
        <p:nvSpPr>
          <p:cNvPr id="13" name="">
            <a:extLst xmlns:a="http://schemas.openxmlformats.org/drawingml/2006/main">
              <a:ext uri="{FF2B5EF4-FFF2-40B4-BE49-F238E27FC236}">
                <a16:creationId xmlns:a16="http://schemas.microsoft.com/office/drawing/2014/main" id="{726E416D-97C3-4A59-9C19-7C3960A86DA0}"/>
              </a:ext>
            </a:extLst>
          </p:cNvPr>
          <p:cNvSpPr>
            <a:spLocks xmlns:a="http://schemas.openxmlformats.org/drawingml/2006/main" noGrp="1"/>
          </p:cNvSpPr>
          <p:nvPr/>
        </p:nvSpPr>
        <p:spPr>
          <a:xfrm xmlns:a="http://schemas.openxmlformats.org/drawingml/2006/main">
            <a:off x="281178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 generally correct pin may still fail to create one shared, workable meeting point.</a:t>
            </a:r>
          </a:p>
        </p:txBody>
      </p:sp>
      <p:sp>
        <p:nvSpPr>
          <p:cNvPr id="14" name="">
            <a:extLst xmlns:a="http://schemas.openxmlformats.org/drawingml/2006/main">
              <a:ext uri="{FF2B5EF4-FFF2-40B4-BE49-F238E27FC236}">
                <a16:creationId xmlns:a16="http://schemas.microsoft.com/office/drawing/2014/main" id="{07E20E39-9652-4AA9-BE59-9557BFAF1E2D}"/>
              </a:ext>
            </a:extLst>
          </p:cNvPr>
          <p:cNvSpPr>
            <a:spLocks xmlns:a="http://schemas.openxmlformats.org/drawingml/2006/main" noGrp="1"/>
          </p:cNvSpPr>
          <p:nvPr/>
        </p:nvSpPr>
        <p:spPr>
          <a:xfrm xmlns:a="http://schemas.openxmlformats.org/drawingml/2006/main">
            <a:off x="469011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0947D8-090F-40D5-A37E-F2158745DCC8}"/>
              </a:ext>
            </a:extLst>
          </p:cNvPr>
          <p:cNvSpPr>
            <a:spLocks xmlns:a="http://schemas.openxmlformats.org/drawingml/2006/main" noGrp="1"/>
          </p:cNvSpPr>
          <p:nvPr/>
        </p:nvSpPr>
        <p:spPr>
          <a:xfrm xmlns:a="http://schemas.openxmlformats.org/drawingml/2006/main">
            <a:off x="542353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C26B600-BAC0-42B1-BF2C-7C507EE5B892}"/>
              </a:ext>
            </a:extLst>
          </p:cNvPr>
          <p:cNvSpPr>
            <a:spLocks xmlns:a="http://schemas.openxmlformats.org/drawingml/2006/main" noGrp="1"/>
          </p:cNvSpPr>
          <p:nvPr/>
        </p:nvSpPr>
        <p:spPr>
          <a:xfrm xmlns:a="http://schemas.openxmlformats.org/drawingml/2006/main">
            <a:off x="549021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6E23BDC2-0491-4D1B-A27F-09F20827FCDA}"/>
              </a:ext>
            </a:extLst>
          </p:cNvPr>
          <p:cNvSpPr>
            <a:spLocks xmlns:a="http://schemas.openxmlformats.org/drawingml/2006/main" noGrp="1"/>
          </p:cNvSpPr>
          <p:nvPr/>
        </p:nvSpPr>
        <p:spPr>
          <a:xfrm xmlns:a="http://schemas.openxmlformats.org/drawingml/2006/main">
            <a:off x="494728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WHERE</a:t>
            </a:r>
          </a:p>
        </p:txBody>
      </p:sp>
      <p:sp>
        <p:nvSpPr>
          <p:cNvPr id="18" name="">
            <a:extLst xmlns:a="http://schemas.openxmlformats.org/drawingml/2006/main">
              <a:ext uri="{FF2B5EF4-FFF2-40B4-BE49-F238E27FC236}">
                <a16:creationId xmlns:a16="http://schemas.microsoft.com/office/drawing/2014/main" id="{DB9CAFA3-E05F-4B97-83E6-18D12E1CF480}"/>
              </a:ext>
            </a:extLst>
          </p:cNvPr>
          <p:cNvSpPr>
            <a:spLocks xmlns:a="http://schemas.openxmlformats.org/drawingml/2006/main" noGrp="1"/>
          </p:cNvSpPr>
          <p:nvPr/>
        </p:nvSpPr>
        <p:spPr>
          <a:xfrm xmlns:a="http://schemas.openxmlformats.org/drawingml/2006/main">
            <a:off x="489966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Airports, gated homes, malls, offices, and metro or railway stations.</a:t>
            </a:r>
          </a:p>
        </p:txBody>
      </p:sp>
      <p:sp>
        <p:nvSpPr>
          <p:cNvPr id="19" name="">
            <a:extLst xmlns:a="http://schemas.openxmlformats.org/drawingml/2006/main">
              <a:ext uri="{FF2B5EF4-FFF2-40B4-BE49-F238E27FC236}">
                <a16:creationId xmlns:a16="http://schemas.microsoft.com/office/drawing/2014/main" id="{1B377D78-1758-4136-ACBE-85BF3BF0C56E}"/>
              </a:ext>
            </a:extLst>
          </p:cNvPr>
          <p:cNvSpPr>
            <a:spLocks xmlns:a="http://schemas.openxmlformats.org/drawingml/2006/main" noGrp="1"/>
          </p:cNvSpPr>
          <p:nvPr/>
        </p:nvSpPr>
        <p:spPr>
          <a:xfrm xmlns:a="http://schemas.openxmlformats.org/drawingml/2006/main">
            <a:off x="677799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38BF29-9D8F-4573-A05C-CDC3272E5A97}"/>
              </a:ext>
            </a:extLst>
          </p:cNvPr>
          <p:cNvSpPr>
            <a:spLocks xmlns:a="http://schemas.openxmlformats.org/drawingml/2006/main" noGrp="1"/>
          </p:cNvSpPr>
          <p:nvPr/>
        </p:nvSpPr>
        <p:spPr>
          <a:xfrm xmlns:a="http://schemas.openxmlformats.org/drawingml/2006/main">
            <a:off x="751141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1A728A-00DF-4B8A-95B5-16EC94E97148}"/>
              </a:ext>
            </a:extLst>
          </p:cNvPr>
          <p:cNvSpPr>
            <a:spLocks xmlns:a="http://schemas.openxmlformats.org/drawingml/2006/main" noGrp="1"/>
          </p:cNvSpPr>
          <p:nvPr/>
        </p:nvSpPr>
        <p:spPr>
          <a:xfrm xmlns:a="http://schemas.openxmlformats.org/drawingml/2006/main">
            <a:off x="757809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04</a:t>
            </a:r>
          </a:p>
        </p:txBody>
      </p:sp>
      <p:sp>
        <p:nvSpPr>
          <p:cNvPr id="22" name="">
            <a:extLst xmlns:a="http://schemas.openxmlformats.org/drawingml/2006/main">
              <a:ext uri="{FF2B5EF4-FFF2-40B4-BE49-F238E27FC236}">
                <a16:creationId xmlns:a16="http://schemas.microsoft.com/office/drawing/2014/main" id="{E5BC8E40-BF1C-4D1A-92C7-5290E9C79FEF}"/>
              </a:ext>
            </a:extLst>
          </p:cNvPr>
          <p:cNvSpPr>
            <a:spLocks xmlns:a="http://schemas.openxmlformats.org/drawingml/2006/main" noGrp="1"/>
          </p:cNvSpPr>
          <p:nvPr/>
        </p:nvSpPr>
        <p:spPr>
          <a:xfrm xmlns:a="http://schemas.openxmlformats.org/drawingml/2006/main">
            <a:off x="703516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WHEN</a:t>
            </a:r>
          </a:p>
        </p:txBody>
      </p:sp>
      <p:sp>
        <p:nvSpPr>
          <p:cNvPr id="23" name="">
            <a:extLst xmlns:a="http://schemas.openxmlformats.org/drawingml/2006/main">
              <a:ext uri="{FF2B5EF4-FFF2-40B4-BE49-F238E27FC236}">
                <a16:creationId xmlns:a16="http://schemas.microsoft.com/office/drawing/2014/main" id="{B12A5015-C89A-4FAF-B08F-07BB4698D182}"/>
              </a:ext>
            </a:extLst>
          </p:cNvPr>
          <p:cNvSpPr>
            <a:spLocks xmlns:a="http://schemas.openxmlformats.org/drawingml/2006/main" noGrp="1"/>
          </p:cNvSpPr>
          <p:nvPr/>
        </p:nvSpPr>
        <p:spPr>
          <a:xfrm xmlns:a="http://schemas.openxmlformats.org/drawingml/2006/main">
            <a:off x="698754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After booking, mainly as the driver approaches or is marked arrived.</a:t>
            </a:r>
          </a:p>
        </p:txBody>
      </p:sp>
      <p:sp>
        <p:nvSpPr>
          <p:cNvPr id="24" name="">
            <a:extLst xmlns:a="http://schemas.openxmlformats.org/drawingml/2006/main">
              <a:ext uri="{FF2B5EF4-FFF2-40B4-BE49-F238E27FC236}">
                <a16:creationId xmlns:a16="http://schemas.microsoft.com/office/drawing/2014/main" id="{3065E860-FD06-47A9-918E-58AD5E755097}"/>
              </a:ext>
            </a:extLst>
          </p:cNvPr>
          <p:cNvSpPr>
            <a:spLocks xmlns:a="http://schemas.openxmlformats.org/drawingml/2006/main" noGrp="1"/>
          </p:cNvSpPr>
          <p:nvPr/>
        </p:nvSpPr>
        <p:spPr>
          <a:xfrm xmlns:a="http://schemas.openxmlformats.org/drawingml/2006/main">
            <a:off x="886587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BC1EA0B-E589-4963-8AAE-67C1E27941DA}"/>
              </a:ext>
            </a:extLst>
          </p:cNvPr>
          <p:cNvSpPr>
            <a:spLocks xmlns:a="http://schemas.openxmlformats.org/drawingml/2006/main" noGrp="1"/>
          </p:cNvSpPr>
          <p:nvPr/>
        </p:nvSpPr>
        <p:spPr>
          <a:xfrm xmlns:a="http://schemas.openxmlformats.org/drawingml/2006/main">
            <a:off x="959929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1E493B-D19A-4E82-9F0D-5553F67499A6}"/>
              </a:ext>
            </a:extLst>
          </p:cNvPr>
          <p:cNvSpPr>
            <a:spLocks xmlns:a="http://schemas.openxmlformats.org/drawingml/2006/main" noGrp="1"/>
          </p:cNvSpPr>
          <p:nvPr/>
        </p:nvSpPr>
        <p:spPr>
          <a:xfrm xmlns:a="http://schemas.openxmlformats.org/drawingml/2006/main">
            <a:off x="966597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05</a:t>
            </a:r>
          </a:p>
        </p:txBody>
      </p:sp>
      <p:sp>
        <p:nvSpPr>
          <p:cNvPr id="27" name="">
            <a:extLst xmlns:a="http://schemas.openxmlformats.org/drawingml/2006/main">
              <a:ext uri="{FF2B5EF4-FFF2-40B4-BE49-F238E27FC236}">
                <a16:creationId xmlns:a16="http://schemas.microsoft.com/office/drawing/2014/main" id="{9E514852-FECC-44D3-9B51-EBFBD9EB3923}"/>
              </a:ext>
            </a:extLst>
          </p:cNvPr>
          <p:cNvSpPr>
            <a:spLocks xmlns:a="http://schemas.openxmlformats.org/drawingml/2006/main" noGrp="1"/>
          </p:cNvSpPr>
          <p:nvPr/>
        </p:nvSpPr>
        <p:spPr>
          <a:xfrm xmlns:a="http://schemas.openxmlformats.org/drawingml/2006/main">
            <a:off x="912304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WHY</a:t>
            </a:r>
          </a:p>
        </p:txBody>
      </p:sp>
      <p:sp>
        <p:nvSpPr>
          <p:cNvPr id="28" name="">
            <a:extLst xmlns:a="http://schemas.openxmlformats.org/drawingml/2006/main">
              <a:ext uri="{FF2B5EF4-FFF2-40B4-BE49-F238E27FC236}">
                <a16:creationId xmlns:a16="http://schemas.microsoft.com/office/drawing/2014/main" id="{3FE046F6-5BE1-4A94-9A74-95DF457D393E}"/>
              </a:ext>
            </a:extLst>
          </p:cNvPr>
          <p:cNvSpPr>
            <a:spLocks xmlns:a="http://schemas.openxmlformats.org/drawingml/2006/main" noGrp="1"/>
          </p:cNvSpPr>
          <p:nvPr/>
        </p:nvSpPr>
        <p:spPr>
          <a:xfrm xmlns:a="http://schemas.openxmlformats.org/drawingml/2006/main">
            <a:off x="907542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Extra calls, waiting, movement, and delayed trip starts reduce pickup reliability.</a:t>
            </a:r>
          </a:p>
        </p:txBody>
      </p:sp>
      <p:sp>
        <p:nvSpPr>
          <p:cNvPr id="29" name="">
            <a:extLst xmlns:a="http://schemas.openxmlformats.org/drawingml/2006/main">
              <a:ext uri="{FF2B5EF4-FFF2-40B4-BE49-F238E27FC236}">
                <a16:creationId xmlns:a16="http://schemas.microsoft.com/office/drawing/2014/main" id="{50A38E68-5807-4DBE-8A68-E4AF8A9024F8}"/>
              </a:ext>
            </a:extLst>
          </p:cNvPr>
          <p:cNvSpPr>
            <a:spLocks xmlns:a="http://schemas.openxmlformats.org/drawingml/2006/main" noGrp="1"/>
          </p:cNvSpPr>
          <p:nvPr/>
        </p:nvSpPr>
        <p:spPr>
          <a:xfrm xmlns:a="http://schemas.openxmlformats.org/drawingml/2006/main">
            <a:off x="514350" y="5219700"/>
            <a:ext cx="10439400" cy="74295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265C019-CF9E-49CB-A3EE-B3FD00FAEF1D}"/>
              </a:ext>
            </a:extLst>
          </p:cNvPr>
          <p:cNvSpPr>
            <a:spLocks xmlns:a="http://schemas.openxmlformats.org/drawingml/2006/main" noGrp="1"/>
          </p:cNvSpPr>
          <p:nvPr/>
        </p:nvSpPr>
        <p:spPr>
          <a:xfrm xmlns:a="http://schemas.openxmlformats.org/drawingml/2006/main">
            <a:off x="742950" y="5381625"/>
            <a:ext cx="998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7963"/>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Evidence check: the survey supports the direction, but root causes, driver impact, and venue constraints still need moderated and field validation.</a:t>
            </a:r>
          </a:p>
        </p:txBody>
      </p:sp>
      <p:sp>
        <p:nvSpPr>
          <p:cNvPr id="31" name="">
            <a:extLst xmlns:a="http://schemas.openxmlformats.org/drawingml/2006/main">
              <a:ext uri="{FF2B5EF4-FFF2-40B4-BE49-F238E27FC236}">
                <a16:creationId xmlns:a16="http://schemas.microsoft.com/office/drawing/2014/main" id="{792E6AEB-264B-4B64-85E1-66BB42F8516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32" name="">
            <a:extLst xmlns:a="http://schemas.openxmlformats.org/drawingml/2006/main">
              <a:ext uri="{FF2B5EF4-FFF2-40B4-BE49-F238E27FC236}">
                <a16:creationId xmlns:a16="http://schemas.microsoft.com/office/drawing/2014/main" id="{C6B05BC3-9EDC-4139-BD48-5ED0CB327EE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81513938"/>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55ABA67-49F0-4542-8541-59B78895978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STATEMENT</a:t>
            </a:r>
          </a:p>
        </p:txBody>
      </p:sp>
      <p:sp>
        <p:nvSpPr>
          <p:cNvPr id="2" name="">
            <a:extLst xmlns:a="http://schemas.openxmlformats.org/drawingml/2006/main">
              <a:ext uri="{FF2B5EF4-FFF2-40B4-BE49-F238E27FC236}">
                <a16:creationId xmlns:a16="http://schemas.microsoft.com/office/drawing/2014/main" id="{AC384D8C-BDBE-424E-8D2F-DCFA9A7921E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specific, evidence-based, and focused statement</a:t>
            </a:r>
          </a:p>
        </p:txBody>
      </p:sp>
      <p:sp>
        <p:nvSpPr>
          <p:cNvPr id="3" name="">
            <a:extLst xmlns:a="http://schemas.openxmlformats.org/drawingml/2006/main">
              <a:ext uri="{FF2B5EF4-FFF2-40B4-BE49-F238E27FC236}">
                <a16:creationId xmlns:a16="http://schemas.microsoft.com/office/drawing/2014/main" id="{2B29B079-7BDE-46A2-BBED-774FBC1AA23A}"/>
              </a:ext>
            </a:extLst>
          </p:cNvPr>
          <p:cNvSpPr>
            <a:spLocks xmlns:a="http://schemas.openxmlformats.org/drawingml/2006/main" noGrp="1"/>
          </p:cNvSpPr>
          <p:nvPr/>
        </p:nvSpPr>
        <p:spPr>
          <a:xfrm xmlns:a="http://schemas.openxmlformats.org/drawingml/2006/main">
            <a:off x="514350" y="1657350"/>
            <a:ext cx="400050" cy="4000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854672-27F7-480C-A6D8-E65ABEE76794}"/>
              </a:ext>
            </a:extLst>
          </p:cNvPr>
          <p:cNvSpPr>
            <a:spLocks xmlns:a="http://schemas.openxmlformats.org/drawingml/2006/main" noGrp="1"/>
          </p:cNvSpPr>
          <p:nvPr/>
        </p:nvSpPr>
        <p:spPr>
          <a:xfrm xmlns:a="http://schemas.openxmlformats.org/drawingml/2006/main">
            <a:off x="571500" y="17145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6B00937-E659-4A51-BFFC-FDE456498F43}"/>
              </a:ext>
            </a:extLst>
          </p:cNvPr>
          <p:cNvSpPr>
            <a:spLocks xmlns:a="http://schemas.openxmlformats.org/drawingml/2006/main" noGrp="1"/>
          </p:cNvSpPr>
          <p:nvPr/>
        </p:nvSpPr>
        <p:spPr>
          <a:xfrm xmlns:a="http://schemas.openxmlformats.org/drawingml/2006/main">
            <a:off x="1104900" y="1619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SPECIFIC USER</a:t>
            </a:r>
          </a:p>
        </p:txBody>
      </p:sp>
      <p:sp>
        <p:nvSpPr>
          <p:cNvPr id="6" name="">
            <a:extLst xmlns:a="http://schemas.openxmlformats.org/drawingml/2006/main">
              <a:ext uri="{FF2B5EF4-FFF2-40B4-BE49-F238E27FC236}">
                <a16:creationId xmlns:a16="http://schemas.microsoft.com/office/drawing/2014/main" id="{199DF540-A85F-44A9-B3FB-EB21F1E41B77}"/>
              </a:ext>
            </a:extLst>
          </p:cNvPr>
          <p:cNvSpPr>
            <a:spLocks xmlns:a="http://schemas.openxmlformats.org/drawingml/2006/main" noGrp="1"/>
          </p:cNvSpPr>
          <p:nvPr/>
        </p:nvSpPr>
        <p:spPr>
          <a:xfrm xmlns:a="http://schemas.openxmlformats.org/drawingml/2006/main">
            <a:off x="1104900" y="1943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Hyderabad four-wheel riders starting from complex pickup locations.</a:t>
            </a:r>
          </a:p>
        </p:txBody>
      </p:sp>
      <p:sp>
        <p:nvSpPr>
          <p:cNvPr id="7" name="">
            <a:extLst xmlns:a="http://schemas.openxmlformats.org/drawingml/2006/main">
              <a:ext uri="{FF2B5EF4-FFF2-40B4-BE49-F238E27FC236}">
                <a16:creationId xmlns:a16="http://schemas.microsoft.com/office/drawing/2014/main" id="{960412B5-E530-4E9F-AB82-7E2617E4E286}"/>
              </a:ext>
            </a:extLst>
          </p:cNvPr>
          <p:cNvSpPr>
            <a:spLocks xmlns:a="http://schemas.openxmlformats.org/drawingml/2006/main" noGrp="1"/>
          </p:cNvSpPr>
          <p:nvPr/>
        </p:nvSpPr>
        <p:spPr>
          <a:xfrm xmlns:a="http://schemas.openxmlformats.org/drawingml/2006/main">
            <a:off x="514350" y="24955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53B8EB-358D-4578-98FA-22C564ED8094}"/>
              </a:ext>
            </a:extLst>
          </p:cNvPr>
          <p:cNvSpPr>
            <a:spLocks xmlns:a="http://schemas.openxmlformats.org/drawingml/2006/main" noGrp="1"/>
          </p:cNvSpPr>
          <p:nvPr/>
        </p:nvSpPr>
        <p:spPr>
          <a:xfrm xmlns:a="http://schemas.openxmlformats.org/drawingml/2006/main">
            <a:off x="514350" y="26670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0ADAE6-2EF2-4339-9B8D-DED6B3FB1208}"/>
              </a:ext>
            </a:extLst>
          </p:cNvPr>
          <p:cNvSpPr>
            <a:spLocks xmlns:a="http://schemas.openxmlformats.org/drawingml/2006/main" noGrp="1"/>
          </p:cNvSpPr>
          <p:nvPr/>
        </p:nvSpPr>
        <p:spPr>
          <a:xfrm xmlns:a="http://schemas.openxmlformats.org/drawingml/2006/main">
            <a:off x="571500" y="27241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6A655DFD-311D-4953-8864-06AF3DD8D925}"/>
              </a:ext>
            </a:extLst>
          </p:cNvPr>
          <p:cNvSpPr>
            <a:spLocks xmlns:a="http://schemas.openxmlformats.org/drawingml/2006/main" noGrp="1"/>
          </p:cNvSpPr>
          <p:nvPr/>
        </p:nvSpPr>
        <p:spPr>
          <a:xfrm xmlns:a="http://schemas.openxmlformats.org/drawingml/2006/main">
            <a:off x="1104900" y="2628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CLEAR PAIN</a:t>
            </a:r>
          </a:p>
        </p:txBody>
      </p:sp>
      <p:sp>
        <p:nvSpPr>
          <p:cNvPr id="11" name="">
            <a:extLst xmlns:a="http://schemas.openxmlformats.org/drawingml/2006/main">
              <a:ext uri="{FF2B5EF4-FFF2-40B4-BE49-F238E27FC236}">
                <a16:creationId xmlns:a16="http://schemas.microsoft.com/office/drawing/2014/main" id="{F8586DD1-E41D-4586-B175-0043A943FDB7}"/>
              </a:ext>
            </a:extLst>
          </p:cNvPr>
          <p:cNvSpPr>
            <a:spLocks xmlns:a="http://schemas.openxmlformats.org/drawingml/2006/main" noGrp="1"/>
          </p:cNvSpPr>
          <p:nvPr/>
        </p:nvSpPr>
        <p:spPr>
          <a:xfrm xmlns:a="http://schemas.openxmlformats.org/drawingml/2006/main">
            <a:off x="1104900" y="29527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The rider and driver lack one shared, workable meeting point.</a:t>
            </a:r>
          </a:p>
        </p:txBody>
      </p:sp>
      <p:sp>
        <p:nvSpPr>
          <p:cNvPr id="12" name="">
            <a:extLst xmlns:a="http://schemas.openxmlformats.org/drawingml/2006/main">
              <a:ext uri="{FF2B5EF4-FFF2-40B4-BE49-F238E27FC236}">
                <a16:creationId xmlns:a16="http://schemas.microsoft.com/office/drawing/2014/main" id="{04D4D40B-808B-4B3A-BC80-645F974947FA}"/>
              </a:ext>
            </a:extLst>
          </p:cNvPr>
          <p:cNvSpPr>
            <a:spLocks xmlns:a="http://schemas.openxmlformats.org/drawingml/2006/main" noGrp="1"/>
          </p:cNvSpPr>
          <p:nvPr/>
        </p:nvSpPr>
        <p:spPr>
          <a:xfrm xmlns:a="http://schemas.openxmlformats.org/drawingml/2006/main">
            <a:off x="514350" y="350520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775D40C-DB73-49F2-AEE3-B4CBF3D90517}"/>
              </a:ext>
            </a:extLst>
          </p:cNvPr>
          <p:cNvSpPr>
            <a:spLocks xmlns:a="http://schemas.openxmlformats.org/drawingml/2006/main" noGrp="1"/>
          </p:cNvSpPr>
          <p:nvPr/>
        </p:nvSpPr>
        <p:spPr>
          <a:xfrm xmlns:a="http://schemas.openxmlformats.org/drawingml/2006/main">
            <a:off x="514350" y="367665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F5573E-9A0E-4E8A-B38F-9E4A436038D2}"/>
              </a:ext>
            </a:extLst>
          </p:cNvPr>
          <p:cNvSpPr>
            <a:spLocks xmlns:a="http://schemas.openxmlformats.org/drawingml/2006/main" noGrp="1"/>
          </p:cNvSpPr>
          <p:nvPr/>
        </p:nvSpPr>
        <p:spPr>
          <a:xfrm xmlns:a="http://schemas.openxmlformats.org/drawingml/2006/main">
            <a:off x="571500" y="37338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64707952-CB51-4409-BECE-55C2687F673B}"/>
              </a:ext>
            </a:extLst>
          </p:cNvPr>
          <p:cNvSpPr>
            <a:spLocks xmlns:a="http://schemas.openxmlformats.org/drawingml/2006/main" noGrp="1"/>
          </p:cNvSpPr>
          <p:nvPr/>
        </p:nvSpPr>
        <p:spPr>
          <a:xfrm xmlns:a="http://schemas.openxmlformats.org/drawingml/2006/main">
            <a:off x="1104900" y="36385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VISIBLE IMPACT</a:t>
            </a:r>
          </a:p>
        </p:txBody>
      </p:sp>
      <p:sp>
        <p:nvSpPr>
          <p:cNvPr id="16" name="">
            <a:extLst xmlns:a="http://schemas.openxmlformats.org/drawingml/2006/main">
              <a:ext uri="{FF2B5EF4-FFF2-40B4-BE49-F238E27FC236}">
                <a16:creationId xmlns:a16="http://schemas.microsoft.com/office/drawing/2014/main" id="{45E4FAAF-52FA-4E42-82AC-1380A7B67681}"/>
              </a:ext>
            </a:extLst>
          </p:cNvPr>
          <p:cNvSpPr>
            <a:spLocks xmlns:a="http://schemas.openxmlformats.org/drawingml/2006/main" noGrp="1"/>
          </p:cNvSpPr>
          <p:nvPr/>
        </p:nvSpPr>
        <p:spPr>
          <a:xfrm xmlns:a="http://schemas.openxmlformats.org/drawingml/2006/main">
            <a:off x="1104900" y="39624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Extra calls, waiting, movement, and delayed trip starts.</a:t>
            </a:r>
          </a:p>
        </p:txBody>
      </p:sp>
      <p:sp>
        <p:nvSpPr>
          <p:cNvPr id="17" name="">
            <a:extLst xmlns:a="http://schemas.openxmlformats.org/drawingml/2006/main">
              <a:ext uri="{FF2B5EF4-FFF2-40B4-BE49-F238E27FC236}">
                <a16:creationId xmlns:a16="http://schemas.microsoft.com/office/drawing/2014/main" id="{9C7C0394-73E1-4010-9170-4EDBC74480DC}"/>
              </a:ext>
            </a:extLst>
          </p:cNvPr>
          <p:cNvSpPr>
            <a:spLocks xmlns:a="http://schemas.openxmlformats.org/drawingml/2006/main" noGrp="1"/>
          </p:cNvSpPr>
          <p:nvPr/>
        </p:nvSpPr>
        <p:spPr>
          <a:xfrm xmlns:a="http://schemas.openxmlformats.org/drawingml/2006/main">
            <a:off x="514350" y="45148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67EB0A-CCA4-44C7-B489-801C3BA2ADE0}"/>
              </a:ext>
            </a:extLst>
          </p:cNvPr>
          <p:cNvSpPr>
            <a:spLocks xmlns:a="http://schemas.openxmlformats.org/drawingml/2006/main" noGrp="1"/>
          </p:cNvSpPr>
          <p:nvPr/>
        </p:nvSpPr>
        <p:spPr>
          <a:xfrm xmlns:a="http://schemas.openxmlformats.org/drawingml/2006/main">
            <a:off x="514350" y="46863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D306518-C55C-4234-BAB2-8B649FCAA78E}"/>
              </a:ext>
            </a:extLst>
          </p:cNvPr>
          <p:cNvSpPr>
            <a:spLocks xmlns:a="http://schemas.openxmlformats.org/drawingml/2006/main" noGrp="1"/>
          </p:cNvSpPr>
          <p:nvPr/>
        </p:nvSpPr>
        <p:spPr>
          <a:xfrm xmlns:a="http://schemas.openxmlformats.org/drawingml/2006/main">
            <a:off x="571500" y="47434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4</a:t>
            </a:r>
          </a:p>
        </p:txBody>
      </p:sp>
      <p:sp>
        <p:nvSpPr>
          <p:cNvPr id="20" name="">
            <a:extLst xmlns:a="http://schemas.openxmlformats.org/drawingml/2006/main">
              <a:ext uri="{FF2B5EF4-FFF2-40B4-BE49-F238E27FC236}">
                <a16:creationId xmlns:a16="http://schemas.microsoft.com/office/drawing/2014/main" id="{A80F9ABD-D564-486A-B9DE-0BA0186BDE4E}"/>
              </a:ext>
            </a:extLst>
          </p:cNvPr>
          <p:cNvSpPr>
            <a:spLocks xmlns:a="http://schemas.openxmlformats.org/drawingml/2006/main" noGrp="1"/>
          </p:cNvSpPr>
          <p:nvPr/>
        </p:nvSpPr>
        <p:spPr>
          <a:xfrm xmlns:a="http://schemas.openxmlformats.org/drawingml/2006/main">
            <a:off x="1104900" y="46482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DEFINED SCOPE</a:t>
            </a:r>
          </a:p>
        </p:txBody>
      </p:sp>
      <p:sp>
        <p:nvSpPr>
          <p:cNvPr id="21" name="">
            <a:extLst xmlns:a="http://schemas.openxmlformats.org/drawingml/2006/main">
              <a:ext uri="{FF2B5EF4-FFF2-40B4-BE49-F238E27FC236}">
                <a16:creationId xmlns:a16="http://schemas.microsoft.com/office/drawing/2014/main" id="{E6A37F8E-C0FD-4619-A868-A8BEE3A16DE9}"/>
              </a:ext>
            </a:extLst>
          </p:cNvPr>
          <p:cNvSpPr>
            <a:spLocks xmlns:a="http://schemas.openxmlformats.org/drawingml/2006/main" noGrp="1"/>
          </p:cNvSpPr>
          <p:nvPr/>
        </p:nvSpPr>
        <p:spPr>
          <a:xfrm xmlns:a="http://schemas.openxmlformats.org/drawingml/2006/main">
            <a:off x="1104900" y="49720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Airports, gated residences, malls, offices, and stations. Not every ride.</a:t>
            </a:r>
          </a:p>
        </p:txBody>
      </p:sp>
      <p:sp>
        <p:nvSpPr>
          <p:cNvPr id="22" name="">
            <a:extLst xmlns:a="http://schemas.openxmlformats.org/drawingml/2006/main">
              <a:ext uri="{FF2B5EF4-FFF2-40B4-BE49-F238E27FC236}">
                <a16:creationId xmlns:a16="http://schemas.microsoft.com/office/drawing/2014/main" id="{2339592F-3259-4B04-B0F9-DF8E5B02C07E}"/>
              </a:ext>
            </a:extLst>
          </p:cNvPr>
          <p:cNvSpPr>
            <a:spLocks xmlns:a="http://schemas.openxmlformats.org/drawingml/2006/main" noGrp="1"/>
          </p:cNvSpPr>
          <p:nvPr/>
        </p:nvSpPr>
        <p:spPr>
          <a:xfrm xmlns:a="http://schemas.openxmlformats.org/drawingml/2006/main">
            <a:off x="5238750" y="1619250"/>
            <a:ext cx="5715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E8ECF1"/>
            </a:solidFill>
            <a:prstDash val="solid"/>
          </a:ln>
        </p:spPr>
      </p:sp>
      <p:sp>
        <p:nvSpPr>
          <p:cNvPr id="23" name="">
            <a:extLst xmlns:a="http://schemas.openxmlformats.org/drawingml/2006/main">
              <a:ext uri="{FF2B5EF4-FFF2-40B4-BE49-F238E27FC236}">
                <a16:creationId xmlns:a16="http://schemas.microsoft.com/office/drawing/2014/main" id="{BB42F64A-5A29-4B37-96AF-597ABB4C7512}"/>
              </a:ext>
            </a:extLst>
          </p:cNvPr>
          <p:cNvSpPr>
            <a:spLocks xmlns:a="http://schemas.openxmlformats.org/drawingml/2006/main" noGrp="1"/>
          </p:cNvSpPr>
          <p:nvPr/>
        </p:nvSpPr>
        <p:spPr>
          <a:xfrm xmlns:a="http://schemas.openxmlformats.org/drawingml/2006/main">
            <a:off x="5562600" y="18859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FINAL PROBLEM STATEMENT</a:t>
            </a:r>
          </a:p>
        </p:txBody>
      </p:sp>
      <p:sp>
        <p:nvSpPr>
          <p:cNvPr id="24" name="">
            <a:extLst xmlns:a="http://schemas.openxmlformats.org/drawingml/2006/main">
              <a:ext uri="{FF2B5EF4-FFF2-40B4-BE49-F238E27FC236}">
                <a16:creationId xmlns:a16="http://schemas.microsoft.com/office/drawing/2014/main" id="{90796C9C-4BC0-4729-B522-B15AC87553AD}"/>
              </a:ext>
            </a:extLst>
          </p:cNvPr>
          <p:cNvSpPr>
            <a:spLocks xmlns:a="http://schemas.openxmlformats.org/drawingml/2006/main" noGrp="1"/>
          </p:cNvSpPr>
          <p:nvPr/>
        </p:nvSpPr>
        <p:spPr>
          <a:xfrm xmlns:a="http://schemas.openxmlformats.org/drawingml/2006/main">
            <a:off x="5562600" y="2305050"/>
            <a:ext cx="5067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For Hyderabad four-wheel riders starting from complex locations, the pickup pin may show the correct general area but still fail to give the rider and driver one shared, workable meeting point.</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This causes extra calls, waiting, movement, and delayed trip starts.</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Uber should solve this to reduce recovery effort and improve pickup reliability, while respecting driver access and stopping constraints.</a:t>
            </a:r>
          </a:p>
        </p:txBody>
      </p:sp>
      <p:sp>
        <p:nvSpPr>
          <p:cNvPr id="25" name="">
            <a:extLst xmlns:a="http://schemas.openxmlformats.org/drawingml/2006/main">
              <a:ext uri="{FF2B5EF4-FFF2-40B4-BE49-F238E27FC236}">
                <a16:creationId xmlns:a16="http://schemas.microsoft.com/office/drawing/2014/main" id="{812DB9DB-F963-47B7-B45C-F08355A19B19}"/>
              </a:ext>
            </a:extLst>
          </p:cNvPr>
          <p:cNvSpPr>
            <a:spLocks xmlns:a="http://schemas.openxmlformats.org/drawingml/2006/main" noGrp="1"/>
          </p:cNvSpPr>
          <p:nvPr/>
        </p:nvSpPr>
        <p:spPr>
          <a:xfrm xmlns:a="http://schemas.openxmlformats.org/drawingml/2006/main">
            <a:off x="5238750" y="5276850"/>
            <a:ext cx="57150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79F088D-29F6-4762-93BB-BC1AF2E7A96C}"/>
              </a:ext>
            </a:extLst>
          </p:cNvPr>
          <p:cNvSpPr>
            <a:spLocks xmlns:a="http://schemas.openxmlformats.org/drawingml/2006/main" noGrp="1"/>
          </p:cNvSpPr>
          <p:nvPr/>
        </p:nvSpPr>
        <p:spPr>
          <a:xfrm xmlns:a="http://schemas.openxmlformats.org/drawingml/2006/main">
            <a:off x="5486400" y="54292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Evidence boundary: directional survey evidence. Moderated interviews and stronger driver validation are still pending.</a:t>
            </a:r>
          </a:p>
        </p:txBody>
      </p:sp>
      <p:sp>
        <p:nvSpPr>
          <p:cNvPr id="27" name="">
            <a:extLst xmlns:a="http://schemas.openxmlformats.org/drawingml/2006/main">
              <a:ext uri="{FF2B5EF4-FFF2-40B4-BE49-F238E27FC236}">
                <a16:creationId xmlns:a16="http://schemas.microsoft.com/office/drawing/2014/main" id="{E385232B-9E10-4B64-B15F-D22B44F3BF9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8" name="">
            <a:extLst xmlns:a="http://schemas.openxmlformats.org/drawingml/2006/main">
              <a:ext uri="{FF2B5EF4-FFF2-40B4-BE49-F238E27FC236}">
                <a16:creationId xmlns:a16="http://schemas.microsoft.com/office/drawing/2014/main" id="{C6877B66-7105-4644-B25F-C67CC85B9BC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199298137"/>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491AA7-446D-4820-8F22-C5F83CA2484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625DFCF8-D75A-4107-B0F7-1023D1BDF85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8800E620-1963-4561-B134-6119477E182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CB47CCD1-A1FB-4965-9E69-2A7C8FB4610A}"/>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F4CA63B2-0DF9-4ED5-9172-3FD6D46DBCF4}"/>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1A3D16-85A3-4305-AC9C-EC9683D1E3C9}"/>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AC1528B4-516C-4FF6-B12F-72237FA44D9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D3005BE1-84CE-4492-A1B4-752A54FC083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367576119"/>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EDFFDE3-2C98-4913-95F6-C9865FE9D20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EE3724C4-5B9E-4860-8A5D-320695174D5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37D05CBE-C0BA-4A1A-A765-D059D696E56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4C331DBE-DB4B-44DD-9CD5-542291698740}"/>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2A938E-D4B5-4AE3-8BA1-A84036FB0F9A}"/>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FD90C3B6-5EA4-48A3-A0F6-20480851A3B7}"/>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C36709B7-9D29-4A3E-A553-794468292639}"/>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D56C68-B572-4C7D-943E-AFCD7740BC10}"/>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62D3171E-5FD2-47EB-A9CA-F5C06A0ABB44}"/>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7B232DCE-411F-4B3D-B93C-ED6C8FBBC0B6}"/>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21CB6ED-0490-4986-8D02-198E8ECE6AA6}"/>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CEEF15BC-0F67-40BE-9D64-E52D5C087A46}"/>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8E489B75-2586-4077-AB13-A115EC2F1044}"/>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97D0F2-57E1-4600-8729-4E93E4EA59D5}"/>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19CB5EE4-0E98-4A13-9347-13475A0C86D2}"/>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C5E82611-0BC2-4ED4-9ACE-7C624C102C5E}"/>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8DB7A34-FD74-4EC0-AA89-2BB82E086206}"/>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0C47C57B-AA2A-42CB-9A0A-1FDD89C4AF8D}"/>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677F57DB-9349-435F-A414-3C0D5E76B9E6}"/>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5523BB7-3A49-42BA-9561-2690AF0409A9}"/>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36180028-E884-4CD2-8436-5AE1B3D1A91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E1C75A13-899D-4AF9-BC50-4CC34CFBEF0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2051642328"/>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3A83E579-AA41-4CB9-9585-0045D8F80B3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271B973C-CCFD-445F-9FC1-5EDBABA6BDC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53253B0F-D955-4EC1-8C4D-8A8F22E4549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3464A231-6979-4605-8B14-7AB19B38B8C7}"/>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BC9D6157-FC48-403B-A355-2379A494B3C5}"/>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57D01F76-BB18-4A01-9E7E-C66F12B50E3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10F625-F0C8-42FE-9F63-3BC718202025}"/>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F0FECD-7DE3-4990-970A-C8FD44B63B73}"/>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1CABFB3B-7135-4E93-AC71-4FBDF22B375D}"/>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C242AB69-6FDC-4F26-84E9-A696EBA8B561}"/>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E383C2-C4AF-4F91-88DA-58C2F71CC0B5}"/>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34BBC3-8E07-4A99-9DDB-C743187956B5}"/>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51ACE3F1-7A73-4D95-B4DA-8CE23808B92B}"/>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E50F9693-37A9-4901-ACEB-046116C7DC13}"/>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179D87-C799-4352-BB06-CD2E99F39687}"/>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A0266BF-A44A-4465-A488-7FE95A7D83B7}"/>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5CFE184A-F0F2-4274-9AA1-7631245D061E}"/>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677574E4-CE1D-4BE4-A569-737C8DE84196}"/>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BBBC84-0F3D-4BA1-9A70-99ED19C55D26}"/>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790768A-B60A-46BC-9C43-D935960528E1}"/>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FF6A87C7-962B-4C85-84B5-175F0F1DA669}"/>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E8C01A11-898C-4C2A-A394-801C2BCBB804}"/>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9785A9-3798-4390-A5BA-DD80076EC2D3}"/>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955AC08-3426-4D63-8BFC-A02B87641F7B}"/>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C533B192-0C29-4E5E-9D4F-2A5CDE0D85CC}"/>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FF21AE7D-F807-4E8A-81C1-AF61C266B40C}"/>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F37093A-E47F-43AC-A28C-E4082C964579}"/>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FBC5D1A-4495-4BC3-BD47-9912BAE6501E}"/>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22409692-B547-4056-8AFD-57ED58DC25E7}"/>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3D6B5A24-D261-41A2-B32B-66E1F8B87DF2}"/>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C613B273-EED9-4DD0-BA08-171D72A6BF60}"/>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969061F-B8E3-4246-B97C-6779D6856495}"/>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768CA5E-68D1-4EEF-A7F2-AD5D427A28CA}"/>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F990AEF0-29F4-469D-87E2-D7049A41614C}"/>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4CC263C2-84D0-4FE6-991A-C7B1D0E4DA58}"/>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42BF29FF-E638-474D-8B29-A029C8F560CB}"/>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DAAF771-FD35-48E7-A087-A3F08A4A61D6}"/>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95D1E2F1-1560-4D10-BEC4-967B5B08B3CD}"/>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2E655BB2-3447-44FB-A75B-109CA3624401}"/>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3A12E74-BECD-476E-8338-CEF4D6677C6B}"/>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D18C5CF-4007-41D2-9700-D324B547099C}"/>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B243EF67-2612-45F0-90C6-A8EB89052BEC}"/>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4FA8A537-A99A-4A92-BDA7-52FDB227AACF}"/>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2BFF4B3-E3A4-4237-9B23-4D245D3C96E2}"/>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4A9B93A-0E62-4EC4-95FF-05CD7D2971D8}"/>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4F7F6ABB-F2B1-4287-B0FE-CEDDFE512522}"/>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A3AD503D-25CB-4221-9677-E4238FFDC6DC}"/>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C3731E7-89AB-4FE4-B4BE-44941B60C598}"/>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1B4BDB5-1B10-4550-8964-B7FB190B2EF4}"/>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E22F6D51-375E-40EA-81A2-ACD8C3204A50}"/>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57E142B9-49A1-4869-8A5C-9138ABEBDB03}"/>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EFA8240-3B92-4413-A57A-3D603FE84F98}"/>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9B61FC7-ADC4-4938-AB0A-CFD4D8D5339A}"/>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04B57375-F812-4993-99BB-6A12ABA5875F}"/>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29E02D1-67F5-4CC5-89CD-CEE449557090}"/>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1DA3C6FB-8C74-437D-8F4D-0C86BD5598E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EB7FE8F1-3EF8-4881-8A77-5A9732BEC22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474893422"/>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ED23E9-336A-428B-AB3C-7480F692329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79DB4C17-E7F8-4A2D-85FD-7888C0B3595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52F5D172-C010-4A67-8BF7-B95600D3B899}"/>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321BF4-A0A0-401E-BC83-C900C3FC02D8}"/>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3EA78799-385B-4071-9F5D-DD779EAD8194}"/>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C031B3C9-683B-4075-9F7E-20160DAD0808}"/>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E73C60A5-1E22-477C-A116-3E62328563A1}"/>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22B58DBB-A93B-4254-AB1E-16AEC7E87481}"/>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6AC2D3AA-64D6-4993-B9BA-7378BF68008A}"/>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972F990A-69E2-4846-BE91-C4CA7E273EC1}"/>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958FE9CF-EFE4-41B1-A181-15DE96551D7A}"/>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77003F1B-52EE-457A-88BF-83409E88008D}"/>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C267DC34-9578-4ECF-8453-BCBD3702927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45AF8859-CB8A-4265-B2EF-102536E66A1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2064657721"/>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400476A-038C-4DAA-86F2-CDCB0889391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F0C829A8-2EEF-4E68-BEA3-A8E3BFC5B2B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BAACA564-3A59-4D44-8A98-4B66E7169F41}"/>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973AAD6F-86F4-43EB-B43C-A1AB991D2145}"/>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97F4530-3CCC-4DC0-9CED-53E55BAA1754}"/>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B981DD6B-D688-4A8A-8077-059D9EC972EF}"/>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B2BFF1E7-B6F5-4996-877D-B94DFBBC87A5}"/>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824F0781-E3BC-4582-A4E0-16204387E2EF}"/>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D1D4F3A3-C3F9-41FF-AD72-AEECB6C69FD6}"/>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5777F065-8991-4EF3-A5F8-16676DB0F5F7}"/>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FCE61C3A-BBF0-48D1-B46D-5B2870C6F4E3}"/>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008860C2-20E8-4CAB-AC76-AEBA2A0D8451}"/>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7245A020-EDFF-41A7-88F7-36553C2B701C}"/>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3D6295B-8AF6-4A69-96E1-FF4C7CC31F1C}"/>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3467E7C7-1CCC-4FAB-AD16-8910C6F8B5E8}"/>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99BC44A4-C8E3-416B-B41A-01DBD1AC3BD1}"/>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7941DC-8555-467E-AFFC-405D3014E352}"/>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96D2FDF5-E4E4-40F0-9045-9B43885CA03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833C8197-3369-4BDE-A6C4-44CFEEB86FD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558893963"/>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CB3BED-1E7D-4E46-9CB8-91572A05389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CEC36ED6-CE6D-4033-A4CC-D6099FF2FC5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27B59548-9DEF-4A30-BD35-B53A9B5EF1F3}"/>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545EE33-86B7-4ED2-AF71-C4C147C03732}"/>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D492A1F3-699B-4CED-9404-7D6FF9D48EDE}"/>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EE5A015F-A5E8-422A-880B-CA2A4CBC7528}"/>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BBA96F3-7EED-4DFC-B66F-E8D6DE767B01}"/>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F956E0DB-F0C3-4AD6-8597-23D6A641A9E6}"/>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E98AB83C-E8A9-4A81-8924-172021D18E92}"/>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E6E492-6395-44B0-A2FE-EB10814FC79B}"/>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6776B62B-E730-443F-866B-2463CA026CD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DD8B7E25-151E-481A-9C23-2EEF3DC5F81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299169175"/>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D9E576-ED5C-4D6A-8243-CAA8D9424D1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A8DF0D20-7318-4114-AACC-CC2841A5A05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4F7B7600-CB84-4166-9155-E33FF1B3C05A}"/>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03966F-4599-456F-B84E-00E79A530684}"/>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48D1CB7F-3B76-4CA8-AEC7-D329F97C17F0}"/>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F28456A9-9ACF-4FF3-9169-CC2D5D1ED173}"/>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8DD60BC5-4EDD-4079-ADEF-E8E2A4FAB893}"/>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F7827F8B-10F4-4210-80FF-6FF5729C8192}"/>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0337FC53-7A38-4031-B951-0BA173FA5DCD}"/>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59178C7D-CC88-4187-A60F-FCBFEA14AC8E}"/>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D69DD6E4-5456-4FB9-8BD5-276C317D0970}"/>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34B15F95-78A4-465B-BA66-0634A2754A7E}"/>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17F981A4-1BB7-43CA-9D35-10DDD86B24B5}"/>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C34C3A86-AAAE-4989-AEF8-408CB688202B}"/>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30476F9F-F1B7-4E43-A52B-73D91C7A218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C2C25361-9080-4358-82A7-14CE6ACBD3C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372227777"/>
      </p:ext>
    </p:extLst>
  </p:cSld>
</p:sld>
</file>

<file path=ppt/slides/slide15.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B4846E-B333-42D9-BC53-65B8B797922C}"/>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83143391-499B-4DCC-BF21-B92837A451EF}"/>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32AEBBBD-BC6C-44E3-AAEB-56159A46ADF1}"/>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evidence · Product tests · Experiment readiness · Limitations · Sources</a:t>
            </a:r>
          </a:p>
        </p:txBody>
      </p:sp>
      <p:sp>
        <p:nvSpPr>
          <p:cNvPr id="4" name="">
            <a:extLst xmlns:a="http://schemas.openxmlformats.org/drawingml/2006/main">
              <a:ext uri="{FF2B5EF4-FFF2-40B4-BE49-F238E27FC236}">
                <a16:creationId xmlns:a16="http://schemas.microsoft.com/office/drawing/2014/main" id="{537B2664-15EC-447C-8576-F0208D0DF97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EEF263C5-DAD8-4A41-B8C2-F28ED01F294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2098581369"/>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D306B2-BAF1-4A40-87C2-0E52A3800B6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ADA30901-93F9-4D5A-9A59-E2AD9CDF99A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795695AB-E67D-46EE-8296-655191A3BCBE}"/>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2D0FDB87-100D-4BD8-92EF-67FE399AAD50}"/>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c1f11b717e4be3"/>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26F3A62-FB8B-42BF-85D0-51B43D8076CF}"/>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27c36995d3f405e"/>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71C5256-EC9E-4C55-8CBA-8D8E6513F10B}"/>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A7607096-2A12-4A86-8F69-4DB6ABB8192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1850C004-BF12-4361-B454-4C9FCBF4696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757924441"/>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8CCECCB-7057-4ED4-9E34-D312C8216A6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9C987F57-D4AF-4A82-A426-F11D0A2300E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AEF0CB64-E3D4-49CB-BA43-8CD219418300}"/>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B539D4B-0863-4871-B735-6096920BAF36}"/>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2F3C035A-8F7C-47E5-A87B-4240167CEAEA}"/>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51AEE507-FE4C-43FD-A98F-0FCB18500B59}"/>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75A3E88-0FB9-4958-BA59-2C55771568A5}"/>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7A3529-AE1C-42EA-A94C-584A1FF41B4F}"/>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2304A9B-7231-409F-8210-A55F2FFB9109}"/>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707C086E-299D-41D3-8F4D-BF18A6565271}"/>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071708F6-148D-4A0E-A218-3EED1107B019}"/>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6478E44D-2850-452D-A051-0CE5A6EB463A}"/>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CC77808D-CD30-46F1-B678-8253DA02245A}"/>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E08F3AF2-BA33-40A7-806A-B72451FB69B8}"/>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EC62C8A9-89C7-49F1-8E02-1248EC5490FD}"/>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B6FE0E65-F6AD-411F-A03F-0CBA2B2413D9}"/>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63D4162E-0171-4309-92AD-2C5530F03DCB}"/>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7B15057F-F1D4-4144-8C34-987FB80A2082}"/>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30796B15-8AC5-4C94-BFF1-0E44A1FBE614}"/>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9F84CAA0-46C6-4E34-BE4A-04F2B00E2B1E}"/>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F1B453C4-455F-4FE0-8FA8-A0F69EBE360B}"/>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613DFFC2-CEEE-43F9-B954-F9749F9DF28A}"/>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D74F26AE-36C1-4115-995A-5E8D8116F8A9}"/>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FE6AFD1A-FC0F-43EF-BC0C-C960FCE5CDF2}"/>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395F0607-839D-4354-BFFA-ADA67BCF3A13}"/>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EE98DE14-0675-4DDF-AFEF-5AFD6A7FDE75}"/>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B1F44976-B23E-450F-8F10-B7BFB5A75627}"/>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5935AE-9A71-481A-BCA8-3A27C24F9B1A}"/>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6EC461A1-6735-4BA5-A583-CD3AC8FC3F22}"/>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910CCD55-2624-4D8D-AABF-A55F06070A8D}"/>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F407A62-CC46-444B-8809-8BF2931BC1D5}"/>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EE95126E-214B-4AFE-91B1-B5740725A6F5}"/>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993D2F86-793F-42D9-85DD-7248AA363748}"/>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56CEDE0-BE33-43A9-9DB0-D26C8BE584C9}"/>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A9F77108-D426-4C40-AB2E-7896500C36AB}"/>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D9994D71-A5EB-4450-BAB5-1F1AE2225AA4}"/>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F5340E5-6D37-4913-8FCA-47E6E390F577}"/>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61A7BEA6-0E81-4D17-A92B-FFEF88ED9589}"/>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83FD4A03-E0CB-43EF-BE3F-7695D47366D6}"/>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E02C9C4-E9C7-4E85-9D63-15FF4673F0B4}"/>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09FA0744-76A6-4CEF-B426-1ACBF884BF6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8DFA6B64-2976-424D-8775-B3539E1EDFE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021319183"/>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99CF971-7CA2-4E63-A29C-D69CC244403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67D147C0-FD3A-4BBC-A93D-922212806E3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8404BCE9-3270-43ED-83B2-C15CADA1A238}"/>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8F88A6B7-548C-48B1-9A3A-4A3FB36ED0F5}"/>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9ECD68BF-4357-47F2-8BEB-FD366D158F0C}"/>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FF0673C5-68FD-4731-84A9-D387A7DAD1A3}"/>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68A28E5A-4BC6-4C4C-B2CD-37551409E256}"/>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8227CE-9146-4BD9-8E9D-F4C8560BF68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5C591B02-5A4D-4FA3-8EA4-73EB808A44AC}"/>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E8C9335-7535-4A2C-AF1A-80ED013B3D8E}"/>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41E49F6E-A425-4470-B5C0-280597BAEFAB}"/>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8EA96B1F-42F7-4ECD-A3C8-EF3387CD16C0}"/>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371D5AC7-FCD5-4248-BBCC-8330DE0F1E14}"/>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9DFE8C-3AD6-4F4C-89FB-5911D7A9FF62}"/>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0959BB4C-2BCD-46E2-BD52-15010B2B80EB}"/>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53B99F5-9866-4040-8AE2-FC5672F182E6}"/>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E8A00CDD-0441-4BDA-8C3B-A91C9C22C77B}"/>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BC46DAE9-0D96-4B49-9F6F-2A0D8D058CD3}"/>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7A6C81D2-0CC2-40A7-B523-517EE62390A7}"/>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BC7DC66-C8D5-4843-B383-19B42B5ED97D}"/>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38B1DA8B-0226-457C-987E-9D51FA573948}"/>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6D703CC-7A61-4E19-B5DB-76F2971F5855}"/>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9A0F0FC2-E289-4F0C-AD29-A87F6CD1416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1961F4D7-BB81-45F5-BEA4-EC587A21E3BA}"/>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88A889B8-87EE-4518-9953-4272A99B49D7}"/>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FC459AC-C8A5-4156-97AE-6FEF74736AD6}"/>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8C26BF68-B033-4BBD-AD30-B88B0102A073}"/>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A692B40-D15B-44CC-96F5-5F78F86A0025}"/>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1DC83D95-5F0B-439E-B581-1AA4706AFDFA}"/>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59495047-6CF7-4DCB-BAE1-E14E24C30DD3}"/>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64FBB90B-1AE5-4EC9-9209-1631877EA08F}"/>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9341BD8-034F-4E4A-B88A-A13ABA10EDD2}"/>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EA706004-554D-4964-BA6A-3E4E91569C8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E3B41768-43D5-4112-BA93-F537AC88923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476511634"/>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D70AA88-C3D5-4B36-B684-AEAAEFEF99B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23578572-0947-4247-847A-776F8DC6F46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F66074AB-EDB0-4219-8E6A-5CAE5C3C3594}"/>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A29E884-57AA-4871-BBEC-7652DCA1D7B5}"/>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B4F9EB88-5897-465C-9D1D-239F253E095E}"/>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611FD3D6-3F32-48A7-930D-A52BAC1CF65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848174BD-0A2B-441E-8FBC-5DFBC36CFCFB}"/>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B6C71D-E9E9-41AF-A9D1-06E26688A6A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A6F88BAE-50AD-4C05-886C-17E6290BF96B}"/>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61F51560-EA22-4A9E-9871-63939D44826C}"/>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FA05678F-065F-49F5-8F36-2EE311392DCC}"/>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CCF0E66D-5E54-4C04-9FC8-27A4017570AD}"/>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AD846B27-618C-4295-96C4-2453F3AA5F31}"/>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F55DEB-E0CF-4729-9011-685012721223}"/>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10766601-8761-40B2-B16A-E5E1D3C6BF9C}"/>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0F94364-B6AF-4EDB-A630-9E19F7CA810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1CCEDBD1-177E-447E-8B53-B3B1AC1C879C}"/>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B42EB2AF-BC42-4930-9CEC-783B8E743E7B}"/>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249CBD2F-75E7-4E2A-ACF8-32709DCAEC2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0B05422-1E63-4F67-8AA6-ACFAB189EE02}"/>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0C597761-8806-4BE2-B27F-970440E20270}"/>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FF172CDD-56F8-477A-B9D3-0582FAEA5EAE}"/>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A6295B6E-DE17-41DC-BC3A-F1880F58269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5FC506A1-88C2-4256-BCED-CF33DF3BC55E}"/>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AC576F5B-444B-423E-8431-D30C9BFDBF20}"/>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4EAEEE9-C2D8-4506-915C-D2AA4655F157}"/>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0569E73B-0340-4DD5-A1D5-ED62C739AB25}"/>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07E29B3-6D0F-441B-8499-A3F4F4B48D67}"/>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8E838373-6B25-4522-A319-5B9072CBCDE3}"/>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D47CE29E-C9BB-4509-A5A8-4E4B1A25F112}"/>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B759B72F-16EA-44D5-987F-FCFD35CCEA95}"/>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04C9692-A9C0-497B-A3D5-6B61BD1B9998}"/>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925EFC87-B9D9-4100-9C17-13EAFAD0315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01503E67-848A-48D7-8BA7-9C2E4E15255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016141232"/>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B8B376C-B752-431A-861D-FA1C343741D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6089EC51-A4A4-45CD-938E-E2719A45373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327E9A20-EA66-480D-87CF-A77314F8E25B}"/>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0B5659FE-DE20-4746-A92A-0B0C83A799AF}"/>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AC6B79E7-0CD8-4C28-B95C-C5DC65F6DB0F}"/>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245B6FF9-DCC5-4780-93AB-6A8B0821F9E8}"/>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9476DD1F-9C94-40DB-8F21-C34AAE274E12}"/>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0E54CB10-A843-4634-900D-BB444736165A}"/>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34F701DF-4B11-4E05-BBFE-873EC83C9A07}"/>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53EC95AB-E9D0-4694-94FC-8D143E86E514}"/>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FDF5CE93-D6F5-40C4-8A18-3B2931B40D95}"/>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699F87A7-0E6C-49C2-BF21-F9ECAB709461}"/>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4E9C7727-3CE3-4359-8EDF-97C5B8433362}"/>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1DBF931-AF6E-4395-A60F-BCE6AB326942}"/>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D3B8C3CD-186D-4A2E-BB6C-8232D81AFC12}"/>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CA3625D-DE77-4533-B594-FF4C6F494713}"/>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D7E3DD97-650C-4BD5-AE6F-ACC42EE18EA9}"/>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9A1F4A5-7692-48A3-8232-FFD5A028FFF3}"/>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8C17CE1C-94A5-4B6E-A6D0-97E2020EC5EA}"/>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BF79E558-214A-4A65-BF0C-F461141F2613}"/>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4125BB37-DC41-43B1-B524-3D1C6577CF81}"/>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BDB035E-5115-4D6B-8B2E-E72577CF0246}"/>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CBF6724A-42B9-43BA-847F-BB455ACF426C}"/>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39216675-DD71-44DF-BC48-72D13AD83502}"/>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8112740C-9EFB-48BF-88EE-0C9C12A27BFC}"/>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43B6A54-5334-40F5-B70B-699176356B03}"/>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9A2C0358-B344-4155-964F-360581AA6883}"/>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7F979898-1ECB-4E3B-B5EA-97AC27014539}"/>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F2D57CFB-1307-4FBC-9337-FB8F320EFF31}"/>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D906851B-7332-43E4-B368-9CC8A7AD4C24}"/>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BF658527-3468-455C-856B-D3E6C0C4F516}"/>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6C8B176C-68DA-4AF6-AB63-5CAFCEFBD2DA}"/>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18EEDC60-4183-40B5-9574-181E32EC83C6}"/>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EAD43D67-CAA6-4FC0-936D-F5CAAF4FE1EB}"/>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A4A22D1F-9EAC-43FC-A61A-A1E09E07B052}"/>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E899F450-BF39-4DC2-8DCA-FC9EFAB6D1D8}"/>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61BD194C-1B16-43AA-BC3F-7EAD2CCAA28D}"/>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02B48940-5CA3-4222-B272-16040CA152B8}"/>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E4531511-D3B1-4F66-8AB3-98359CAEAF94}"/>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0EE19AC6-E365-44F5-8148-6C5C17273AE3}"/>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020B67A4-765D-4558-AE5C-F52F642E9DCD}"/>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2D0608AB-A883-405B-BB6B-5B87C53E9808}"/>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060DCA09-A9B6-4BFA-9484-A2241482C439}"/>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3473C893-C28F-4947-9C80-4233640F0422}"/>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B2700391-2A4C-4DB2-BE63-DF4B7F9C4DE1}"/>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22569DC5-0183-46EE-AD89-B7063F206CD9}"/>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42C18819-F318-4837-91B8-8916F030CE3B}"/>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5115958D-D2BC-4B2C-AF9D-99D92B89C20A}"/>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D070035B-0C3F-4E39-8453-97E139CA602B}"/>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2E64C726-7087-4955-9F45-E0C0D753ACF5}"/>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2A03FC63-E5F2-445B-9BB3-C7DD6B615EF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F801555E-A4DC-4083-87D2-D83180D53F3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98732204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71D047C-AD0A-42A9-8B27-4D38E1707EF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56EE222D-C5AC-4C70-A143-56F48F06943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49FC7788-C2A7-4574-932D-CC9B329359E1}"/>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9E9BADE0-41E6-45EB-8085-53799C322789}"/>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7D3AEE4C-C866-45F6-BA95-87E69093140B}"/>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2942C254-24D7-417D-A29A-92F17EAC7858}"/>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7679D9C7-7B76-4AE0-96DE-FEADB1DB4546}"/>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A73E2C87-628E-4B22-8E6E-C0A4AAC99E49}"/>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08E87F24-A9D5-40D0-95BF-F342108EE785}"/>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DF30649-04A6-4C77-A020-4F7AEC978383}"/>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5551DB9E-1F06-4A79-A7CD-FD880F808F09}"/>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50F9B87A-625B-40F8-AB68-CEBAEE9FD0EB}"/>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BDFDAA20-9074-4440-98B8-8ACE0D1947EA}"/>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E2554065-82C8-43BA-8DFB-A938E07CCC7C}"/>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79BD3BFF-1301-46CB-9881-23FE0666F40E}"/>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DE69BDD-0584-4CC0-903D-A06BD87FFA14}"/>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BA2C4906-A378-452A-AECD-1B17480A419A}"/>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5BC31453-A732-40A8-95B8-4E57BC5C671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59161E93-5108-4FC6-A750-A25E694D030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795796441"/>
      </p:ext>
    </p:extLst>
  </p:cSld>
</p:sld>
</file>

<file path=ppt/slides/slide2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35D1D6D4-867F-40FD-8B40-DBB18DCE5B3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B867D3AB-D6C9-4294-9598-B78AFD23100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E5A08D8C-A1D7-4EF3-BED6-A53F45DBE325}"/>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4254C1A9-9C20-44AE-B73D-ED108E96F8ED}"/>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65DD99D5-57B3-49E3-B412-EE399582BDFB}"/>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9783D8E5-D469-4E97-ADB2-2FB06E185467}"/>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74018F30-255A-4004-8604-91928F2F78D5}"/>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F2662D1-8A28-4CA8-8760-626B9435B14D}"/>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29BB7353-64A0-496B-8A9C-9E58A4DB669C}"/>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2AD6172-138A-4F98-A611-23A8DE1F3348}"/>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990CC3DD-FBEA-43C2-BD79-5F0163C77CF2}"/>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C9F38175-CC84-44CF-8B9C-C8B7CF822EA4}"/>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80C3E2C7-EC10-4DD6-987D-9F85896F1B0C}"/>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C354D537-FE7C-4F98-9C0F-22279FE5F834}"/>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81273FFF-B37D-4CEB-916C-58F5B3C04D81}"/>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35594A0-8E56-408C-920F-11149A301674}"/>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5D3AE179-4CBC-415A-8001-96A895FFAE52}"/>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FAEB02CF-083B-40BE-A48C-5BE10538DAB3}"/>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42DCBED2-8DD2-42D1-9BFC-97BF95BD774A}"/>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3D553E78-DB23-4D5B-A503-C0093D54BD69}"/>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F90E2F2C-8963-4A52-A76D-6F741B924F15}"/>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E2FA045C-886A-4979-83CC-7F3A13A0D854}"/>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C8303FAD-28FB-49D0-82CA-17117427B2E3}"/>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5A58298C-B8EE-47A4-B7D7-88EA52F30E94}"/>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801EAAEB-4311-423F-8660-FD630717A467}"/>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3C7D8E46-A7E0-4AFD-B098-E5CEBA1F560A}"/>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EE04F985-0812-4E17-8FFF-62BEC76F08F4}"/>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C77176B-32FB-441B-92DC-62EABDD9B7A8}"/>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82621285-E4FF-4C6D-B009-ECCDFDA0F17B}"/>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FB216CD2-C5B2-483F-B339-905C4837055B}"/>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97E2F427-736D-4C01-83C3-134CEE126F15}"/>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A7F3D50B-5569-4A45-9A61-B7A3AFEE7DCA}"/>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15CF4446-1331-4011-AA76-76D8BBEB476B}"/>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14D5B3D2-2AD3-455C-AF35-4F0409EA4677}"/>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62D83733-29F2-4C6A-B94A-ECD81B33BA8F}"/>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5C55818C-91EA-48FC-9EF0-323DD7D3ADC3}"/>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06DD4A18-45CC-4DB8-A63A-4F3DBA11A04F}"/>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D6746F63-5FFF-4F54-9D7B-925F98EBB3A0}"/>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B6B876CF-B07B-4311-A0EE-092F7408485C}"/>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D252A9B7-F71A-4B6C-829F-44FB2E2A8B0C}"/>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DC10C454-AF89-4C0C-8345-4D4C6CA27DD6}"/>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63DB324-EE0C-419C-9ED0-544A5A721B73}"/>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53C2CA48-220E-40B9-9EFA-9CEAA676E6F5}"/>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75D5857-E5AE-4A06-A5B3-949C4DF1E1E3}"/>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D796CE54-DC0B-4946-AA66-DDFC6A1C73A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E8F36FB1-D9DE-4E3E-8FC3-6DFA915CB14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126938661"/>
      </p:ext>
    </p:extLst>
  </p:cSld>
</p:sld>
</file>

<file path=ppt/slides/slide2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696EB97-8FB9-4CF7-A8DC-16C223755A5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RESEARCH</a:t>
            </a:r>
          </a:p>
        </p:txBody>
      </p:sp>
      <p:sp>
        <p:nvSpPr>
          <p:cNvPr id="2" name="">
            <a:extLst xmlns:a="http://schemas.openxmlformats.org/drawingml/2006/main">
              <a:ext uri="{FF2B5EF4-FFF2-40B4-BE49-F238E27FC236}">
                <a16:creationId xmlns:a16="http://schemas.microsoft.com/office/drawing/2014/main" id="{78F78921-0FDC-4318-93D7-DA7077B1F74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Market sizing evidence and gaps</a:t>
            </a:r>
          </a:p>
        </p:txBody>
      </p:sp>
      <p:sp>
        <p:nvSpPr>
          <p:cNvPr id="3" name="">
            <a:extLst xmlns:a="http://schemas.openxmlformats.org/drawingml/2006/main">
              <a:ext uri="{FF2B5EF4-FFF2-40B4-BE49-F238E27FC236}">
                <a16:creationId xmlns:a16="http://schemas.microsoft.com/office/drawing/2014/main" id="{5B8A1CEB-DD3A-4B83-8974-6D0CFC39AD8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framework is usable. The inputs are not yet strong enough for a numeric market claim.</a:t>
            </a:r>
          </a:p>
        </p:txBody>
      </p:sp>
      <p:sp>
        <p:nvSpPr>
          <p:cNvPr id="4" name="">
            <a:extLst xmlns:a="http://schemas.openxmlformats.org/drawingml/2006/main">
              <a:ext uri="{FF2B5EF4-FFF2-40B4-BE49-F238E27FC236}">
                <a16:creationId xmlns:a16="http://schemas.microsoft.com/office/drawing/2014/main" id="{49BF3669-56DC-46C8-B546-58B1687ADD25}"/>
              </a:ext>
            </a:extLst>
          </p:cNvPr>
          <p:cNvSpPr>
            <a:spLocks xmlns:a="http://schemas.openxmlformats.org/drawingml/2006/main" noGrp="1"/>
          </p:cNvSpPr>
          <p:nvPr/>
        </p:nvSpPr>
        <p:spPr>
          <a:xfrm xmlns:a="http://schemas.openxmlformats.org/drawingml/2006/main">
            <a:off x="514350" y="1657350"/>
            <a:ext cx="10439400" cy="8382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729CFB8-A154-48A8-B6C8-150185075EB0}"/>
              </a:ext>
            </a:extLst>
          </p:cNvPr>
          <p:cNvSpPr>
            <a:spLocks xmlns:a="http://schemas.openxmlformats.org/drawingml/2006/main" noGrp="1"/>
          </p:cNvSpPr>
          <p:nvPr/>
        </p:nvSpPr>
        <p:spPr>
          <a:xfrm xmlns:a="http://schemas.openxmlformats.org/drawingml/2006/main">
            <a:off x="704850" y="17811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F47A22"/>
                </a:solidFill>
                <a:latin typeface="Calibri"/>
                <a:ea typeface="Calibri"/>
                <a:cs typeface="Calibri"/>
              </a:defRPr>
            </a:pPr>
            <a:r>
              <a:rPr sz="1200" b="1" i="0">
                <a:solidFill>
                  <a:srgbClr val="F47A22"/>
                </a:solidFill>
                <a:latin typeface="Calibri"/>
                <a:ea typeface="Calibri"/>
                <a:cs typeface="Calibri"/>
              </a:rPr>
              <a:t>DEMAND AND SEGMENTS</a:t>
            </a:r>
          </a:p>
        </p:txBody>
      </p:sp>
      <p:sp>
        <p:nvSpPr>
          <p:cNvPr id="6" name="">
            <a:extLst xmlns:a="http://schemas.openxmlformats.org/drawingml/2006/main">
              <a:ext uri="{FF2B5EF4-FFF2-40B4-BE49-F238E27FC236}">
                <a16:creationId xmlns:a16="http://schemas.microsoft.com/office/drawing/2014/main" id="{FDF6DE7A-A97A-402A-87F1-495534D44B0A}"/>
              </a:ext>
            </a:extLst>
          </p:cNvPr>
          <p:cNvSpPr>
            <a:spLocks xmlns:a="http://schemas.openxmlformats.org/drawingml/2006/main" noGrp="1"/>
          </p:cNvSpPr>
          <p:nvPr/>
        </p:nvSpPr>
        <p:spPr>
          <a:xfrm xmlns:a="http://schemas.openxmlformats.org/drawingml/2006/main">
            <a:off x="704850" y="21050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DIRECTIONAL</a:t>
            </a:r>
          </a:p>
        </p:txBody>
      </p:sp>
      <p:sp>
        <p:nvSpPr>
          <p:cNvPr id="7" name="">
            <a:extLst xmlns:a="http://schemas.openxmlformats.org/drawingml/2006/main">
              <a:ext uri="{FF2B5EF4-FFF2-40B4-BE49-F238E27FC236}">
                <a16:creationId xmlns:a16="http://schemas.microsoft.com/office/drawing/2014/main" id="{AC3B87F1-BEB2-4356-A9F4-D7025B8F340F}"/>
              </a:ext>
            </a:extLst>
          </p:cNvPr>
          <p:cNvSpPr>
            <a:spLocks xmlns:a="http://schemas.openxmlformats.org/drawingml/2006/main" noGrp="1"/>
          </p:cNvSpPr>
          <p:nvPr/>
        </p:nvSpPr>
        <p:spPr>
          <a:xfrm xmlns:a="http://schemas.openxmlformats.org/drawingml/2006/main">
            <a:off x="3048000" y="17716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24 of 51 recent users reported difficulty or uncertainty. Issue cases concentrate at airports, gated homes, malls, offices, and stations.</a:t>
            </a:r>
          </a:p>
        </p:txBody>
      </p:sp>
      <p:sp>
        <p:nvSpPr>
          <p:cNvPr id="8" name="">
            <a:extLst xmlns:a="http://schemas.openxmlformats.org/drawingml/2006/main">
              <a:ext uri="{FF2B5EF4-FFF2-40B4-BE49-F238E27FC236}">
                <a16:creationId xmlns:a16="http://schemas.microsoft.com/office/drawing/2014/main" id="{D44E62D5-6235-4BF0-9A05-FFAFDA718768}"/>
              </a:ext>
            </a:extLst>
          </p:cNvPr>
          <p:cNvSpPr>
            <a:spLocks xmlns:a="http://schemas.openxmlformats.org/drawingml/2006/main" noGrp="1"/>
          </p:cNvSpPr>
          <p:nvPr/>
        </p:nvSpPr>
        <p:spPr>
          <a:xfrm xmlns:a="http://schemas.openxmlformats.org/drawingml/2006/main">
            <a:off x="8667750" y="17716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Representative Hyderabad incidence is missing.</a:t>
            </a:r>
          </a:p>
        </p:txBody>
      </p:sp>
      <p:sp>
        <p:nvSpPr>
          <p:cNvPr id="9" name="">
            <a:extLst xmlns:a="http://schemas.openxmlformats.org/drawingml/2006/main">
              <a:ext uri="{FF2B5EF4-FFF2-40B4-BE49-F238E27FC236}">
                <a16:creationId xmlns:a16="http://schemas.microsoft.com/office/drawing/2014/main" id="{26F194C2-9835-4DFF-81BC-724744650BB8}"/>
              </a:ext>
            </a:extLst>
          </p:cNvPr>
          <p:cNvSpPr>
            <a:spLocks xmlns:a="http://schemas.openxmlformats.org/drawingml/2006/main" noGrp="1"/>
          </p:cNvSpPr>
          <p:nvPr/>
        </p:nvSpPr>
        <p:spPr>
          <a:xfrm xmlns:a="http://schemas.openxmlformats.org/drawingml/2006/main">
            <a:off x="514350" y="2647950"/>
            <a:ext cx="10439400" cy="838200"/>
          </a:xfrm>
          <a:prstGeom xmlns:a="http://schemas.openxmlformats.org/drawingml/2006/main" prst="roundRect">
            <a:avLst>
              <a:gd name="adj" fmla="val 4545"/>
            </a:avLst>
          </a:prstGeom>
          <a:solidFill xmlns:a="http://schemas.openxmlformats.org/drawingml/2006/main">
            <a:srgbClr val="F8F9FB"/>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39D212B-5AA4-4C8D-A957-AD641AA984C9}"/>
              </a:ext>
            </a:extLst>
          </p:cNvPr>
          <p:cNvSpPr>
            <a:spLocks xmlns:a="http://schemas.openxmlformats.org/drawingml/2006/main" noGrp="1"/>
          </p:cNvSpPr>
          <p:nvPr/>
        </p:nvSpPr>
        <p:spPr>
          <a:xfrm xmlns:a="http://schemas.openxmlformats.org/drawingml/2006/main">
            <a:off x="704850" y="27717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TAM / SAM / SOM</a:t>
            </a:r>
          </a:p>
        </p:txBody>
      </p:sp>
      <p:sp>
        <p:nvSpPr>
          <p:cNvPr id="11" name="">
            <a:extLst xmlns:a="http://schemas.openxmlformats.org/drawingml/2006/main">
              <a:ext uri="{FF2B5EF4-FFF2-40B4-BE49-F238E27FC236}">
                <a16:creationId xmlns:a16="http://schemas.microsoft.com/office/drawing/2014/main" id="{54B5F909-D6D6-4872-A711-BC7833B360F2}"/>
              </a:ext>
            </a:extLst>
          </p:cNvPr>
          <p:cNvSpPr>
            <a:spLocks xmlns:a="http://schemas.openxmlformats.org/drawingml/2006/main" noGrp="1"/>
          </p:cNvSpPr>
          <p:nvPr/>
        </p:nvSpPr>
        <p:spPr>
          <a:xfrm xmlns:a="http://schemas.openxmlformats.org/drawingml/2006/main">
            <a:off x="704850" y="30956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1BB5C8"/>
                </a:solidFill>
                <a:latin typeface="Calibri"/>
                <a:ea typeface="Calibri"/>
                <a:cs typeface="Calibri"/>
              </a:defRPr>
            </a:pPr>
            <a:r>
              <a:rPr sz="975" b="1" i="0">
                <a:solidFill>
                  <a:srgbClr val="1BB5C8"/>
                </a:solidFill>
                <a:latin typeface="Calibri"/>
                <a:ea typeface="Calibri"/>
                <a:cs typeface="Calibri"/>
              </a:rPr>
              <a:t>FRAMEWORK ONLY</a:t>
            </a:r>
          </a:p>
        </p:txBody>
      </p:sp>
      <p:sp>
        <p:nvSpPr>
          <p:cNvPr id="12" name="">
            <a:extLst xmlns:a="http://schemas.openxmlformats.org/drawingml/2006/main">
              <a:ext uri="{FF2B5EF4-FFF2-40B4-BE49-F238E27FC236}">
                <a16:creationId xmlns:a16="http://schemas.microsoft.com/office/drawing/2014/main" id="{AA487E04-BB1E-44B5-9DA7-C603D2D21334}"/>
              </a:ext>
            </a:extLst>
          </p:cNvPr>
          <p:cNvSpPr>
            <a:spLocks xmlns:a="http://schemas.openxmlformats.org/drawingml/2006/main" noGrp="1"/>
          </p:cNvSpPr>
          <p:nvPr/>
        </p:nvSpPr>
        <p:spPr>
          <a:xfrm xmlns:a="http://schemas.openxmlformats.org/drawingml/2006/main">
            <a:off x="3048000" y="27622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322"/>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TAM: Hyderabad Uber four-wheel pickups. SAM: pickups beginning at complex locations. SOM: eligible locations and riders reachable by the first test.</a:t>
            </a:r>
          </a:p>
        </p:txBody>
      </p:sp>
      <p:sp>
        <p:nvSpPr>
          <p:cNvPr id="13" name="">
            <a:extLst xmlns:a="http://schemas.openxmlformats.org/drawingml/2006/main">
              <a:ext uri="{FF2B5EF4-FFF2-40B4-BE49-F238E27FC236}">
                <a16:creationId xmlns:a16="http://schemas.microsoft.com/office/drawing/2014/main" id="{93534C93-7E70-4B08-8262-5F1AED95A707}"/>
              </a:ext>
            </a:extLst>
          </p:cNvPr>
          <p:cNvSpPr>
            <a:spLocks xmlns:a="http://schemas.openxmlformats.org/drawingml/2006/main" noGrp="1"/>
          </p:cNvSpPr>
          <p:nvPr/>
        </p:nvSpPr>
        <p:spPr>
          <a:xfrm xmlns:a="http://schemas.openxmlformats.org/drawingml/2006/main">
            <a:off x="8667750" y="27622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Trip volume and affected-share inputs are missing.</a:t>
            </a:r>
          </a:p>
        </p:txBody>
      </p:sp>
      <p:sp>
        <p:nvSpPr>
          <p:cNvPr id="14" name="">
            <a:extLst xmlns:a="http://schemas.openxmlformats.org/drawingml/2006/main">
              <a:ext uri="{FF2B5EF4-FFF2-40B4-BE49-F238E27FC236}">
                <a16:creationId xmlns:a16="http://schemas.microsoft.com/office/drawing/2014/main" id="{40D26382-1E1E-4AEB-8A4C-4E0198CF517F}"/>
              </a:ext>
            </a:extLst>
          </p:cNvPr>
          <p:cNvSpPr>
            <a:spLocks xmlns:a="http://schemas.openxmlformats.org/drawingml/2006/main" noGrp="1"/>
          </p:cNvSpPr>
          <p:nvPr/>
        </p:nvSpPr>
        <p:spPr>
          <a:xfrm xmlns:a="http://schemas.openxmlformats.org/drawingml/2006/main">
            <a:off x="514350" y="3638550"/>
            <a:ext cx="10439400" cy="8382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E8ECF1"/>
            </a:solidFill>
            <a:prstDash val="solid"/>
          </a:ln>
        </p:spPr>
      </p:sp>
      <p:sp>
        <p:nvSpPr>
          <p:cNvPr id="15" name="">
            <a:extLst xmlns:a="http://schemas.openxmlformats.org/drawingml/2006/main">
              <a:ext uri="{FF2B5EF4-FFF2-40B4-BE49-F238E27FC236}">
                <a16:creationId xmlns:a16="http://schemas.microsoft.com/office/drawing/2014/main" id="{9761183F-F6F5-47BE-A1C1-45751F8841C3}"/>
              </a:ext>
            </a:extLst>
          </p:cNvPr>
          <p:cNvSpPr>
            <a:spLocks xmlns:a="http://schemas.openxmlformats.org/drawingml/2006/main" noGrp="1"/>
          </p:cNvSpPr>
          <p:nvPr/>
        </p:nvSpPr>
        <p:spPr>
          <a:xfrm xmlns:a="http://schemas.openxmlformats.org/drawingml/2006/main">
            <a:off x="704850" y="37623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GROWTH / CAGR</a:t>
            </a:r>
          </a:p>
        </p:txBody>
      </p:sp>
      <p:sp>
        <p:nvSpPr>
          <p:cNvPr id="16" name="">
            <a:extLst xmlns:a="http://schemas.openxmlformats.org/drawingml/2006/main">
              <a:ext uri="{FF2B5EF4-FFF2-40B4-BE49-F238E27FC236}">
                <a16:creationId xmlns:a16="http://schemas.microsoft.com/office/drawing/2014/main" id="{1353D757-AE36-4EC2-B658-93DC138064EA}"/>
              </a:ext>
            </a:extLst>
          </p:cNvPr>
          <p:cNvSpPr>
            <a:spLocks xmlns:a="http://schemas.openxmlformats.org/drawingml/2006/main" noGrp="1"/>
          </p:cNvSpPr>
          <p:nvPr/>
        </p:nvSpPr>
        <p:spPr>
          <a:xfrm xmlns:a="http://schemas.openxmlformats.org/drawingml/2006/main">
            <a:off x="704850" y="40862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NOT ESTIMATED</a:t>
            </a:r>
          </a:p>
        </p:txBody>
      </p:sp>
      <p:sp>
        <p:nvSpPr>
          <p:cNvPr id="17" name="">
            <a:extLst xmlns:a="http://schemas.openxmlformats.org/drawingml/2006/main">
              <a:ext uri="{FF2B5EF4-FFF2-40B4-BE49-F238E27FC236}">
                <a16:creationId xmlns:a16="http://schemas.microsoft.com/office/drawing/2014/main" id="{1C5ACD6D-1C21-44B2-BC8B-E1BEDD8FDB98}"/>
              </a:ext>
            </a:extLst>
          </p:cNvPr>
          <p:cNvSpPr>
            <a:spLocks xmlns:a="http://schemas.openxmlformats.org/drawingml/2006/main" noGrp="1"/>
          </p:cNvSpPr>
          <p:nvPr/>
        </p:nvSpPr>
        <p:spPr>
          <a:xfrm xmlns:a="http://schemas.openxmlformats.org/drawingml/2006/main">
            <a:off x="3048000" y="37528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 metro, and railway volumes show exposure to complex locations. They are planning proxies, not a comparable feature-market time series.</a:t>
            </a:r>
          </a:p>
        </p:txBody>
      </p:sp>
      <p:sp>
        <p:nvSpPr>
          <p:cNvPr id="18" name="">
            <a:extLst xmlns:a="http://schemas.openxmlformats.org/drawingml/2006/main">
              <a:ext uri="{FF2B5EF4-FFF2-40B4-BE49-F238E27FC236}">
                <a16:creationId xmlns:a16="http://schemas.microsoft.com/office/drawing/2014/main" id="{5E527759-48DE-4F35-AA94-60290B57E22B}"/>
              </a:ext>
            </a:extLst>
          </p:cNvPr>
          <p:cNvSpPr>
            <a:spLocks xmlns:a="http://schemas.openxmlformats.org/drawingml/2006/main" noGrp="1"/>
          </p:cNvSpPr>
          <p:nvPr/>
        </p:nvSpPr>
        <p:spPr>
          <a:xfrm xmlns:a="http://schemas.openxmlformats.org/drawingml/2006/main">
            <a:off x="8667750" y="37528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No defensible CAGR can be calculated.</a:t>
            </a:r>
          </a:p>
        </p:txBody>
      </p:sp>
      <p:sp>
        <p:nvSpPr>
          <p:cNvPr id="19" name="">
            <a:extLst xmlns:a="http://schemas.openxmlformats.org/drawingml/2006/main">
              <a:ext uri="{FF2B5EF4-FFF2-40B4-BE49-F238E27FC236}">
                <a16:creationId xmlns:a16="http://schemas.microsoft.com/office/drawing/2014/main" id="{CDA82255-9C93-4180-AF3B-16B24F66DDBA}"/>
              </a:ext>
            </a:extLst>
          </p:cNvPr>
          <p:cNvSpPr>
            <a:spLocks xmlns:a="http://schemas.openxmlformats.org/drawingml/2006/main" noGrp="1"/>
          </p:cNvSpPr>
          <p:nvPr/>
        </p:nvSpPr>
        <p:spPr>
          <a:xfrm xmlns:a="http://schemas.openxmlformats.org/drawingml/2006/main">
            <a:off x="514350" y="4629150"/>
            <a:ext cx="10439400" cy="838200"/>
          </a:xfrm>
          <a:prstGeom xmlns:a="http://schemas.openxmlformats.org/drawingml/2006/main" prst="roundRect">
            <a:avLst>
              <a:gd name="adj" fmla="val 4545"/>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E6401E48-07A6-420F-A1D1-29CC0B601A6E}"/>
              </a:ext>
            </a:extLst>
          </p:cNvPr>
          <p:cNvSpPr>
            <a:spLocks xmlns:a="http://schemas.openxmlformats.org/drawingml/2006/main" noGrp="1"/>
          </p:cNvSpPr>
          <p:nvPr/>
        </p:nvSpPr>
        <p:spPr>
          <a:xfrm xmlns:a="http://schemas.openxmlformats.org/drawingml/2006/main">
            <a:off x="704850" y="47529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172"/>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COMPETITION / WTP / SATURATION</a:t>
            </a:r>
          </a:p>
        </p:txBody>
      </p:sp>
      <p:sp>
        <p:nvSpPr>
          <p:cNvPr id="21" name="">
            <a:extLst xmlns:a="http://schemas.openxmlformats.org/drawingml/2006/main">
              <a:ext uri="{FF2B5EF4-FFF2-40B4-BE49-F238E27FC236}">
                <a16:creationId xmlns:a16="http://schemas.microsoft.com/office/drawing/2014/main" id="{939AF8C5-8578-4D9A-8BFC-BDB0F6454042}"/>
              </a:ext>
            </a:extLst>
          </p:cNvPr>
          <p:cNvSpPr>
            <a:spLocks xmlns:a="http://schemas.openxmlformats.org/drawingml/2006/main" noGrp="1"/>
          </p:cNvSpPr>
          <p:nvPr/>
        </p:nvSpPr>
        <p:spPr>
          <a:xfrm xmlns:a="http://schemas.openxmlformats.org/drawingml/2006/main">
            <a:off x="704850" y="50768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MIXED</a:t>
            </a:r>
          </a:p>
        </p:txBody>
      </p:sp>
      <p:sp>
        <p:nvSpPr>
          <p:cNvPr id="22" name="">
            <a:extLst xmlns:a="http://schemas.openxmlformats.org/drawingml/2006/main">
              <a:ext uri="{FF2B5EF4-FFF2-40B4-BE49-F238E27FC236}">
                <a16:creationId xmlns:a16="http://schemas.microsoft.com/office/drawing/2014/main" id="{ADEDB80E-D6FB-4CF2-ACE7-5530982A1A6F}"/>
              </a:ext>
            </a:extLst>
          </p:cNvPr>
          <p:cNvSpPr>
            <a:spLocks xmlns:a="http://schemas.openxmlformats.org/drawingml/2006/main" noGrp="1"/>
          </p:cNvSpPr>
          <p:nvPr/>
        </p:nvSpPr>
        <p:spPr>
          <a:xfrm xmlns:a="http://schemas.openxmlformats.org/drawingml/2006/main">
            <a:off x="3048000" y="47434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Competitor patterns and alternatives are documented. Willingness to pay and market saturation were not studied.</a:t>
            </a:r>
          </a:p>
        </p:txBody>
      </p:sp>
      <p:sp>
        <p:nvSpPr>
          <p:cNvPr id="23" name="">
            <a:extLst xmlns:a="http://schemas.openxmlformats.org/drawingml/2006/main">
              <a:ext uri="{FF2B5EF4-FFF2-40B4-BE49-F238E27FC236}">
                <a16:creationId xmlns:a16="http://schemas.microsoft.com/office/drawing/2014/main" id="{06046E1B-8B88-4DFE-8B19-D97B0DE3B42B}"/>
              </a:ext>
            </a:extLst>
          </p:cNvPr>
          <p:cNvSpPr>
            <a:spLocks xmlns:a="http://schemas.openxmlformats.org/drawingml/2006/main" noGrp="1"/>
          </p:cNvSpPr>
          <p:nvPr/>
        </p:nvSpPr>
        <p:spPr>
          <a:xfrm xmlns:a="http://schemas.openxmlformats.org/drawingml/2006/main">
            <a:off x="8667750" y="47434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They do not block a small reliability test.</a:t>
            </a:r>
          </a:p>
        </p:txBody>
      </p:sp>
      <p:sp>
        <p:nvSpPr>
          <p:cNvPr id="24" name="">
            <a:extLst xmlns:a="http://schemas.openxmlformats.org/drawingml/2006/main">
              <a:ext uri="{FF2B5EF4-FFF2-40B4-BE49-F238E27FC236}">
                <a16:creationId xmlns:a16="http://schemas.microsoft.com/office/drawing/2014/main" id="{1C1F8932-629C-4CDB-B4E1-A34D2E4FACB0}"/>
              </a:ext>
            </a:extLst>
          </p:cNvPr>
          <p:cNvSpPr>
            <a:spLocks xmlns:a="http://schemas.openxmlformats.org/drawingml/2006/main" noGrp="1"/>
          </p:cNvSpPr>
          <p:nvPr/>
        </p:nvSpPr>
        <p:spPr>
          <a:xfrm xmlns:a="http://schemas.openxmlformats.org/drawingml/2006/main">
            <a:off x="514350" y="5753100"/>
            <a:ext cx="10439400" cy="49530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44EFA03-D142-4B24-930D-D15396757CE0}"/>
              </a:ext>
            </a:extLst>
          </p:cNvPr>
          <p:cNvSpPr>
            <a:spLocks xmlns:a="http://schemas.openxmlformats.org/drawingml/2006/main" noGrp="1"/>
          </p:cNvSpPr>
          <p:nvPr/>
        </p:nvSpPr>
        <p:spPr>
          <a:xfrm xmlns:a="http://schemas.openxmlformats.org/drawingml/2006/main">
            <a:off x="704850" y="5848350"/>
            <a:ext cx="10058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Planning rule: use proxies to form a hypothesis, then test whether they predict real pickup difficulty.</a:t>
            </a:r>
          </a:p>
        </p:txBody>
      </p:sp>
      <p:sp>
        <p:nvSpPr>
          <p:cNvPr id="26" name="">
            <a:extLst xmlns:a="http://schemas.openxmlformats.org/drawingml/2006/main">
              <a:ext uri="{FF2B5EF4-FFF2-40B4-BE49-F238E27FC236}">
                <a16:creationId xmlns:a16="http://schemas.microsoft.com/office/drawing/2014/main" id="{D0936FAA-BD87-4246-85A7-8A2BB013E6D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27" name="">
            <a:extLst xmlns:a="http://schemas.openxmlformats.org/drawingml/2006/main">
              <a:ext uri="{FF2B5EF4-FFF2-40B4-BE49-F238E27FC236}">
                <a16:creationId xmlns:a16="http://schemas.microsoft.com/office/drawing/2014/main" id="{41E2D43D-59E1-47ED-A58C-451D8E4E59F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23</a:t>
            </a:r>
          </a:p>
        </p:txBody>
      </p:sp>
    </p:spTree>
    <p:extLst>
      <p:ext uri="{BB962C8B-B14F-4D97-AF65-F5344CB8AC3E}">
        <p14:creationId xmlns:p14="http://schemas.microsoft.com/office/powerpoint/2010/main" val="609496856"/>
      </p:ext>
    </p:extLst>
  </p:cSld>
</p:sld>
</file>

<file path=ppt/slides/slide2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959BD2B-B807-485D-8795-EE98D57DAB5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EXPERIMENT DESIGN</a:t>
            </a:r>
          </a:p>
        </p:txBody>
      </p:sp>
      <p:sp>
        <p:nvSpPr>
          <p:cNvPr id="2" name="">
            <a:extLst xmlns:a="http://schemas.openxmlformats.org/drawingml/2006/main">
              <a:ext uri="{FF2B5EF4-FFF2-40B4-BE49-F238E27FC236}">
                <a16:creationId xmlns:a16="http://schemas.microsoft.com/office/drawing/2014/main" id="{301F8C22-6C42-4259-859C-34E9E9FFEC4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Experiment readiness and signals</a:t>
            </a:r>
          </a:p>
        </p:txBody>
      </p:sp>
      <p:sp>
        <p:nvSpPr>
          <p:cNvPr id="3" name="">
            <a:extLst xmlns:a="http://schemas.openxmlformats.org/drawingml/2006/main">
              <a:ext uri="{FF2B5EF4-FFF2-40B4-BE49-F238E27FC236}">
                <a16:creationId xmlns:a16="http://schemas.microsoft.com/office/drawing/2014/main" id="{A4C2C14B-16F2-4BEF-AAB5-0437F9979305}"/>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first test needs a measurement plan before it needs a large build.</a:t>
            </a:r>
          </a:p>
        </p:txBody>
      </p:sp>
      <p:sp>
        <p:nvSpPr>
          <p:cNvPr id="4" name="">
            <a:extLst xmlns:a="http://schemas.openxmlformats.org/drawingml/2006/main">
              <a:ext uri="{FF2B5EF4-FFF2-40B4-BE49-F238E27FC236}">
                <a16:creationId xmlns:a16="http://schemas.microsoft.com/office/drawing/2014/main" id="{7F5A354E-4DB4-4B10-8AE3-C1CE24BD32A4}"/>
              </a:ext>
            </a:extLst>
          </p:cNvPr>
          <p:cNvSpPr>
            <a:spLocks xmlns:a="http://schemas.openxmlformats.org/drawingml/2006/main" noGrp="1"/>
          </p:cNvSpPr>
          <p:nvPr/>
        </p:nvSpPr>
        <p:spPr>
          <a:xfrm xmlns:a="http://schemas.openxmlformats.org/drawingml/2006/main">
            <a:off x="514350" y="1657350"/>
            <a:ext cx="4457700" cy="3638550"/>
          </a:xfrm>
          <a:prstGeom xmlns:a="http://schemas.openxmlformats.org/drawingml/2006/main" prst="roundRect">
            <a:avLst>
              <a:gd name="adj" fmla="val 1571"/>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0239ACD-C9E3-4E15-9187-F295B9769460}"/>
              </a:ext>
            </a:extLst>
          </p:cNvPr>
          <p:cNvSpPr>
            <a:spLocks xmlns:a="http://schemas.openxmlformats.org/drawingml/2006/main" noGrp="1"/>
          </p:cNvSpPr>
          <p:nvPr/>
        </p:nvSpPr>
        <p:spPr>
          <a:xfrm xmlns:a="http://schemas.openxmlformats.org/drawingml/2006/main">
            <a:off x="742950" y="1828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TEST READINESS</a:t>
            </a:r>
          </a:p>
        </p:txBody>
      </p:sp>
      <p:sp>
        <p:nvSpPr>
          <p:cNvPr id="6" name="">
            <a:extLst xmlns:a="http://schemas.openxmlformats.org/drawingml/2006/main">
              <a:ext uri="{FF2B5EF4-FFF2-40B4-BE49-F238E27FC236}">
                <a16:creationId xmlns:a16="http://schemas.microsoft.com/office/drawing/2014/main" id="{0C28D1DD-926D-4152-A7B3-C7FE3AFD6991}"/>
              </a:ext>
            </a:extLst>
          </p:cNvPr>
          <p:cNvSpPr>
            <a:spLocks xmlns:a="http://schemas.openxmlformats.org/drawingml/2006/main" noGrp="1"/>
          </p:cNvSpPr>
          <p:nvPr/>
        </p:nvSpPr>
        <p:spPr>
          <a:xfrm xmlns:a="http://schemas.openxmlformats.org/drawingml/2006/main">
            <a:off x="742950" y="22860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A/B SAMPLE SIZE</a:t>
            </a:r>
          </a:p>
        </p:txBody>
      </p:sp>
      <p:sp>
        <p:nvSpPr>
          <p:cNvPr id="7" name="">
            <a:extLst xmlns:a="http://schemas.openxmlformats.org/drawingml/2006/main">
              <a:ext uri="{FF2B5EF4-FFF2-40B4-BE49-F238E27FC236}">
                <a16:creationId xmlns:a16="http://schemas.microsoft.com/office/drawing/2014/main" id="{67A795AA-DE84-4E76-8F34-4F0CE093AD45}"/>
              </a:ext>
            </a:extLst>
          </p:cNvPr>
          <p:cNvSpPr>
            <a:spLocks xmlns:a="http://schemas.openxmlformats.org/drawingml/2006/main" noGrp="1"/>
          </p:cNvSpPr>
          <p:nvPr/>
        </p:nvSpPr>
        <p:spPr>
          <a:xfrm xmlns:a="http://schemas.openxmlformats.org/drawingml/2006/main">
            <a:off x="742950" y="2571750"/>
            <a:ext cx="3962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Calculate N only after choosing the primary metric, baseline rate or variance, minimum detectable effect, confidence, power, and eligible traffic.</a:t>
            </a:r>
          </a:p>
        </p:txBody>
      </p:sp>
      <p:sp>
        <p:nvSpPr>
          <p:cNvPr id="8" name="">
            <a:extLst xmlns:a="http://schemas.openxmlformats.org/drawingml/2006/main">
              <a:ext uri="{FF2B5EF4-FFF2-40B4-BE49-F238E27FC236}">
                <a16:creationId xmlns:a16="http://schemas.microsoft.com/office/drawing/2014/main" id="{C0D8DB1D-FA8A-4D75-BA8D-E20199F966A6}"/>
              </a:ext>
            </a:extLst>
          </p:cNvPr>
          <p:cNvSpPr>
            <a:spLocks xmlns:a="http://schemas.openxmlformats.org/drawingml/2006/main" noGrp="1"/>
          </p:cNvSpPr>
          <p:nvPr/>
        </p:nvSpPr>
        <p:spPr>
          <a:xfrm xmlns:a="http://schemas.openxmlformats.org/drawingml/2006/main">
            <a:off x="742950" y="3476625"/>
            <a:ext cx="396240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3E545B-DE29-49B0-B4F5-9034ACCE1D14}"/>
              </a:ext>
            </a:extLst>
          </p:cNvPr>
          <p:cNvSpPr>
            <a:spLocks xmlns:a="http://schemas.openxmlformats.org/drawingml/2006/main" noGrp="1"/>
          </p:cNvSpPr>
          <p:nvPr/>
        </p:nvSpPr>
        <p:spPr>
          <a:xfrm xmlns:a="http://schemas.openxmlformats.org/drawingml/2006/main">
            <a:off x="742950" y="36576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MVP RULE</a:t>
            </a:r>
          </a:p>
        </p:txBody>
      </p:sp>
      <p:sp>
        <p:nvSpPr>
          <p:cNvPr id="10" name="">
            <a:extLst xmlns:a="http://schemas.openxmlformats.org/drawingml/2006/main">
              <a:ext uri="{FF2B5EF4-FFF2-40B4-BE49-F238E27FC236}">
                <a16:creationId xmlns:a16="http://schemas.microsoft.com/office/drawing/2014/main" id="{75607CB1-7AD6-48FF-9678-EDE790BA101D}"/>
              </a:ext>
            </a:extLst>
          </p:cNvPr>
          <p:cNvSpPr>
            <a:spLocks xmlns:a="http://schemas.openxmlformats.org/drawingml/2006/main" noGrp="1"/>
          </p:cNvSpPr>
          <p:nvPr/>
        </p:nvSpPr>
        <p:spPr>
          <a:xfrm xmlns:a="http://schemas.openxmlformats.org/drawingml/2006/main">
            <a:off x="742950" y="39433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85"/>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Test the P0 meeting note first. Add recovery or venue operations only if behavior and pickup outcomes improve.</a:t>
            </a:r>
          </a:p>
        </p:txBody>
      </p:sp>
      <p:sp>
        <p:nvSpPr>
          <p:cNvPr id="11" name="">
            <a:extLst xmlns:a="http://schemas.openxmlformats.org/drawingml/2006/main">
              <a:ext uri="{FF2B5EF4-FFF2-40B4-BE49-F238E27FC236}">
                <a16:creationId xmlns:a16="http://schemas.microsoft.com/office/drawing/2014/main" id="{47392095-F6A1-45EB-9B28-D086EEEA9ED7}"/>
              </a:ext>
            </a:extLst>
          </p:cNvPr>
          <p:cNvSpPr>
            <a:spLocks xmlns:a="http://schemas.openxmlformats.org/drawingml/2006/main" noGrp="1"/>
          </p:cNvSpPr>
          <p:nvPr/>
        </p:nvSpPr>
        <p:spPr>
          <a:xfrm xmlns:a="http://schemas.openxmlformats.org/drawingml/2006/main">
            <a:off x="742950" y="4648200"/>
            <a:ext cx="396240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25A742-1352-4F97-8516-8352E2E131D2}"/>
              </a:ext>
            </a:extLst>
          </p:cNvPr>
          <p:cNvSpPr>
            <a:spLocks xmlns:a="http://schemas.openxmlformats.org/drawingml/2006/main" noGrp="1"/>
          </p:cNvSpPr>
          <p:nvPr/>
        </p:nvSpPr>
        <p:spPr>
          <a:xfrm xmlns:a="http://schemas.openxmlformats.org/drawingml/2006/main">
            <a:off x="742950" y="481012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ADOPTION BLOCKER</a:t>
            </a:r>
          </a:p>
        </p:txBody>
      </p:sp>
      <p:sp>
        <p:nvSpPr>
          <p:cNvPr id="13" name="">
            <a:extLst xmlns:a="http://schemas.openxmlformats.org/drawingml/2006/main">
              <a:ext uri="{FF2B5EF4-FFF2-40B4-BE49-F238E27FC236}">
                <a16:creationId xmlns:a16="http://schemas.microsoft.com/office/drawing/2014/main" id="{7CC72C10-684B-4546-AB46-8C05B7BA2CDF}"/>
              </a:ext>
            </a:extLst>
          </p:cNvPr>
          <p:cNvSpPr>
            <a:spLocks xmlns:a="http://schemas.openxmlformats.org/drawingml/2006/main" noGrp="1"/>
          </p:cNvSpPr>
          <p:nvPr/>
        </p:nvSpPr>
        <p:spPr>
          <a:xfrm xmlns:a="http://schemas.openxmlformats.org/drawingml/2006/main">
            <a:off x="2495550" y="477202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67284"/>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Driver burden, false triggers, or compensation concerns can block a two-sided rollout.</a:t>
            </a:r>
          </a:p>
        </p:txBody>
      </p:sp>
      <p:sp>
        <p:nvSpPr>
          <p:cNvPr id="14" name="">
            <a:extLst xmlns:a="http://schemas.openxmlformats.org/drawingml/2006/main">
              <a:ext uri="{FF2B5EF4-FFF2-40B4-BE49-F238E27FC236}">
                <a16:creationId xmlns:a16="http://schemas.microsoft.com/office/drawing/2014/main" id="{DF18550F-50CE-4CA8-84CB-9F6F9C4CBA3B}"/>
              </a:ext>
            </a:extLst>
          </p:cNvPr>
          <p:cNvSpPr>
            <a:spLocks xmlns:a="http://schemas.openxmlformats.org/drawingml/2006/main" noGrp="1"/>
          </p:cNvSpPr>
          <p:nvPr/>
        </p:nvSpPr>
        <p:spPr>
          <a:xfrm xmlns:a="http://schemas.openxmlformats.org/drawingml/2006/main">
            <a:off x="5276850" y="1657350"/>
            <a:ext cx="5676900" cy="3638550"/>
          </a:xfrm>
          <a:prstGeom xmlns:a="http://schemas.openxmlformats.org/drawingml/2006/main" prst="roundRect">
            <a:avLst>
              <a:gd name="adj" fmla="val 1571"/>
            </a:avLst>
          </a:prstGeom>
          <a:solidFill xmlns:a="http://schemas.openxmlformats.org/drawingml/2006/main">
            <a:srgbClr val="E2F4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3DCFE6F-9545-40FE-863B-720165A5489A}"/>
              </a:ext>
            </a:extLst>
          </p:cNvPr>
          <p:cNvSpPr>
            <a:spLocks xmlns:a="http://schemas.openxmlformats.org/drawingml/2006/main" noGrp="1"/>
          </p:cNvSpPr>
          <p:nvPr/>
        </p:nvSpPr>
        <p:spPr>
          <a:xfrm xmlns:a="http://schemas.openxmlformats.org/drawingml/2006/main">
            <a:off x="5505450" y="182880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SIGNALS TO WATCH</a:t>
            </a:r>
          </a:p>
        </p:txBody>
      </p:sp>
      <p:sp>
        <p:nvSpPr>
          <p:cNvPr id="16" name="">
            <a:extLst xmlns:a="http://schemas.openxmlformats.org/drawingml/2006/main">
              <a:ext uri="{FF2B5EF4-FFF2-40B4-BE49-F238E27FC236}">
                <a16:creationId xmlns:a16="http://schemas.microsoft.com/office/drawing/2014/main" id="{551EE2E8-9B28-4115-A1AE-4527EB7D9DB8}"/>
              </a:ext>
            </a:extLst>
          </p:cNvPr>
          <p:cNvSpPr>
            <a:spLocks xmlns:a="http://schemas.openxmlformats.org/drawingml/2006/main" noGrp="1"/>
          </p:cNvSpPr>
          <p:nvPr/>
        </p:nvSpPr>
        <p:spPr>
          <a:xfrm xmlns:a="http://schemas.openxmlformats.org/drawingml/2006/main">
            <a:off x="5505450" y="22669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DEMAND</a:t>
            </a:r>
          </a:p>
        </p:txBody>
      </p:sp>
      <p:sp>
        <p:nvSpPr>
          <p:cNvPr id="17" name="">
            <a:extLst xmlns:a="http://schemas.openxmlformats.org/drawingml/2006/main">
              <a:ext uri="{FF2B5EF4-FFF2-40B4-BE49-F238E27FC236}">
                <a16:creationId xmlns:a16="http://schemas.microsoft.com/office/drawing/2014/main" id="{12E1CB97-B372-4FF4-A37A-C5084D60FB43}"/>
              </a:ext>
            </a:extLst>
          </p:cNvPr>
          <p:cNvSpPr>
            <a:spLocks xmlns:a="http://schemas.openxmlformats.org/drawingml/2006/main" noGrp="1"/>
          </p:cNvSpPr>
          <p:nvPr/>
        </p:nvSpPr>
        <p:spPr>
          <a:xfrm xmlns:a="http://schemas.openxmlformats.org/drawingml/2006/main">
            <a:off x="7029450" y="22479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4116"/>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Eligible complex pickups and measured issue incidence</a:t>
            </a:r>
          </a:p>
        </p:txBody>
      </p:sp>
      <p:sp>
        <p:nvSpPr>
          <p:cNvPr id="18" name="">
            <a:extLst xmlns:a="http://schemas.openxmlformats.org/drawingml/2006/main">
              <a:ext uri="{FF2B5EF4-FFF2-40B4-BE49-F238E27FC236}">
                <a16:creationId xmlns:a16="http://schemas.microsoft.com/office/drawing/2014/main" id="{47A0B1DC-F769-449D-B47C-E9B887071AE6}"/>
              </a:ext>
            </a:extLst>
          </p:cNvPr>
          <p:cNvSpPr>
            <a:spLocks xmlns:a="http://schemas.openxmlformats.org/drawingml/2006/main" noGrp="1"/>
          </p:cNvSpPr>
          <p:nvPr/>
        </p:nvSpPr>
        <p:spPr>
          <a:xfrm xmlns:a="http://schemas.openxmlformats.org/drawingml/2006/main">
            <a:off x="5505450" y="266700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B2A6B5F-B4C9-4E82-A23F-DF24F64E8683}"/>
              </a:ext>
            </a:extLst>
          </p:cNvPr>
          <p:cNvSpPr>
            <a:spLocks xmlns:a="http://schemas.openxmlformats.org/drawingml/2006/main" noGrp="1"/>
          </p:cNvSpPr>
          <p:nvPr/>
        </p:nvSpPr>
        <p:spPr>
          <a:xfrm xmlns:a="http://schemas.openxmlformats.org/drawingml/2006/main">
            <a:off x="5505450" y="281940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DISCOVERABILITY</a:t>
            </a:r>
          </a:p>
        </p:txBody>
      </p:sp>
      <p:sp>
        <p:nvSpPr>
          <p:cNvPr id="20" name="">
            <a:extLst xmlns:a="http://schemas.openxmlformats.org/drawingml/2006/main">
              <a:ext uri="{FF2B5EF4-FFF2-40B4-BE49-F238E27FC236}">
                <a16:creationId xmlns:a16="http://schemas.microsoft.com/office/drawing/2014/main" id="{6FF53DBA-E55F-4EFC-88A5-625C685F4C4A}"/>
              </a:ext>
            </a:extLst>
          </p:cNvPr>
          <p:cNvSpPr>
            <a:spLocks xmlns:a="http://schemas.openxmlformats.org/drawingml/2006/main" noGrp="1"/>
          </p:cNvSpPr>
          <p:nvPr/>
        </p:nvSpPr>
        <p:spPr>
          <a:xfrm xmlns:a="http://schemas.openxmlformats.org/drawingml/2006/main">
            <a:off x="7029450" y="280035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Prompt exposure, opening, and completion</a:t>
            </a:r>
          </a:p>
        </p:txBody>
      </p:sp>
      <p:sp>
        <p:nvSpPr>
          <p:cNvPr id="21" name="">
            <a:extLst xmlns:a="http://schemas.openxmlformats.org/drawingml/2006/main">
              <a:ext uri="{FF2B5EF4-FFF2-40B4-BE49-F238E27FC236}">
                <a16:creationId xmlns:a16="http://schemas.microsoft.com/office/drawing/2014/main" id="{958E5111-B2CA-43FC-899D-C5DD8E619D1A}"/>
              </a:ext>
            </a:extLst>
          </p:cNvPr>
          <p:cNvSpPr>
            <a:spLocks xmlns:a="http://schemas.openxmlformats.org/drawingml/2006/main" noGrp="1"/>
          </p:cNvSpPr>
          <p:nvPr/>
        </p:nvSpPr>
        <p:spPr>
          <a:xfrm xmlns:a="http://schemas.openxmlformats.org/drawingml/2006/main">
            <a:off x="5505450" y="321945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95AF87C-6213-43FB-9636-AF99CFDDB5DB}"/>
              </a:ext>
            </a:extLst>
          </p:cNvPr>
          <p:cNvSpPr>
            <a:spLocks xmlns:a="http://schemas.openxmlformats.org/drawingml/2006/main" noGrp="1"/>
          </p:cNvSpPr>
          <p:nvPr/>
        </p:nvSpPr>
        <p:spPr>
          <a:xfrm xmlns:a="http://schemas.openxmlformats.org/drawingml/2006/main">
            <a:off x="5505450" y="33718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OUTCOME</a:t>
            </a:r>
          </a:p>
        </p:txBody>
      </p:sp>
      <p:sp>
        <p:nvSpPr>
          <p:cNvPr id="23" name="">
            <a:extLst xmlns:a="http://schemas.openxmlformats.org/drawingml/2006/main">
              <a:ext uri="{FF2B5EF4-FFF2-40B4-BE49-F238E27FC236}">
                <a16:creationId xmlns:a16="http://schemas.microsoft.com/office/drawing/2014/main" id="{3BD19F33-00C0-4F3F-9D61-5ABC861AD9EE}"/>
              </a:ext>
            </a:extLst>
          </p:cNvPr>
          <p:cNvSpPr>
            <a:spLocks xmlns:a="http://schemas.openxmlformats.org/drawingml/2006/main" noGrp="1"/>
          </p:cNvSpPr>
          <p:nvPr/>
        </p:nvSpPr>
        <p:spPr>
          <a:xfrm xmlns:a="http://schemas.openxmlformats.org/drawingml/2006/main">
            <a:off x="7029450" y="33528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Calls or messages, arrived-to-start time, location changes, cancellations</a:t>
            </a:r>
          </a:p>
        </p:txBody>
      </p:sp>
      <p:sp>
        <p:nvSpPr>
          <p:cNvPr id="24" name="">
            <a:extLst xmlns:a="http://schemas.openxmlformats.org/drawingml/2006/main">
              <a:ext uri="{FF2B5EF4-FFF2-40B4-BE49-F238E27FC236}">
                <a16:creationId xmlns:a16="http://schemas.microsoft.com/office/drawing/2014/main" id="{30B0F67A-F699-4265-AA07-E62097F702DC}"/>
              </a:ext>
            </a:extLst>
          </p:cNvPr>
          <p:cNvSpPr>
            <a:spLocks xmlns:a="http://schemas.openxmlformats.org/drawingml/2006/main" noGrp="1"/>
          </p:cNvSpPr>
          <p:nvPr/>
        </p:nvSpPr>
        <p:spPr>
          <a:xfrm xmlns:a="http://schemas.openxmlformats.org/drawingml/2006/main">
            <a:off x="5505450" y="377190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1E16B90-5E91-40E6-B354-695EA3122AF1}"/>
              </a:ext>
            </a:extLst>
          </p:cNvPr>
          <p:cNvSpPr>
            <a:spLocks xmlns:a="http://schemas.openxmlformats.org/drawingml/2006/main" noGrp="1"/>
          </p:cNvSpPr>
          <p:nvPr/>
        </p:nvSpPr>
        <p:spPr>
          <a:xfrm xmlns:a="http://schemas.openxmlformats.org/drawingml/2006/main">
            <a:off x="5505450" y="392430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RETENTION</a:t>
            </a:r>
          </a:p>
        </p:txBody>
      </p:sp>
      <p:sp>
        <p:nvSpPr>
          <p:cNvPr id="26" name="">
            <a:extLst xmlns:a="http://schemas.openxmlformats.org/drawingml/2006/main">
              <a:ext uri="{FF2B5EF4-FFF2-40B4-BE49-F238E27FC236}">
                <a16:creationId xmlns:a16="http://schemas.microsoft.com/office/drawing/2014/main" id="{8281E158-BD38-4553-A237-2CA2590CA8EF}"/>
              </a:ext>
            </a:extLst>
          </p:cNvPr>
          <p:cNvSpPr>
            <a:spLocks xmlns:a="http://schemas.openxmlformats.org/drawingml/2006/main" noGrp="1"/>
          </p:cNvSpPr>
          <p:nvPr/>
        </p:nvSpPr>
        <p:spPr>
          <a:xfrm xmlns:a="http://schemas.openxmlformats.org/drawingml/2006/main">
            <a:off x="7029450" y="390525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Repeat use among eligible riders after the first useful experience</a:t>
            </a:r>
          </a:p>
        </p:txBody>
      </p:sp>
      <p:sp>
        <p:nvSpPr>
          <p:cNvPr id="27" name="">
            <a:extLst xmlns:a="http://schemas.openxmlformats.org/drawingml/2006/main">
              <a:ext uri="{FF2B5EF4-FFF2-40B4-BE49-F238E27FC236}">
                <a16:creationId xmlns:a16="http://schemas.microsoft.com/office/drawing/2014/main" id="{F61B354B-39EE-4292-8B88-2C4D4F90114B}"/>
              </a:ext>
            </a:extLst>
          </p:cNvPr>
          <p:cNvSpPr>
            <a:spLocks xmlns:a="http://schemas.openxmlformats.org/drawingml/2006/main" noGrp="1"/>
          </p:cNvSpPr>
          <p:nvPr/>
        </p:nvSpPr>
        <p:spPr>
          <a:xfrm xmlns:a="http://schemas.openxmlformats.org/drawingml/2006/main">
            <a:off x="5505450" y="432435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58BC2AE-CD29-43FB-AE81-B9741411E3F2}"/>
              </a:ext>
            </a:extLst>
          </p:cNvPr>
          <p:cNvSpPr>
            <a:spLocks xmlns:a="http://schemas.openxmlformats.org/drawingml/2006/main" noGrp="1"/>
          </p:cNvSpPr>
          <p:nvPr/>
        </p:nvSpPr>
        <p:spPr>
          <a:xfrm xmlns:a="http://schemas.openxmlformats.org/drawingml/2006/main">
            <a:off x="5505450" y="44767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COMPETITION</a:t>
            </a:r>
          </a:p>
        </p:txBody>
      </p:sp>
      <p:sp>
        <p:nvSpPr>
          <p:cNvPr id="29" name="">
            <a:extLst xmlns:a="http://schemas.openxmlformats.org/drawingml/2006/main">
              <a:ext uri="{FF2B5EF4-FFF2-40B4-BE49-F238E27FC236}">
                <a16:creationId xmlns:a16="http://schemas.microsoft.com/office/drawing/2014/main" id="{DD1C4BDE-24C0-44BC-96C8-4D0CC41D2A1C}"/>
              </a:ext>
            </a:extLst>
          </p:cNvPr>
          <p:cNvSpPr>
            <a:spLocks xmlns:a="http://schemas.openxmlformats.org/drawingml/2006/main" noGrp="1"/>
          </p:cNvSpPr>
          <p:nvPr/>
        </p:nvSpPr>
        <p:spPr>
          <a:xfrm xmlns:a="http://schemas.openxmlformats.org/drawingml/2006/main">
            <a:off x="7029450" y="44577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Changes in pickup-note, venue-guidance, and recovery patterns</a:t>
            </a:r>
          </a:p>
        </p:txBody>
      </p:sp>
      <p:sp>
        <p:nvSpPr>
          <p:cNvPr id="30" name="">
            <a:extLst xmlns:a="http://schemas.openxmlformats.org/drawingml/2006/main">
              <a:ext uri="{FF2B5EF4-FFF2-40B4-BE49-F238E27FC236}">
                <a16:creationId xmlns:a16="http://schemas.microsoft.com/office/drawing/2014/main" id="{05F14CA6-2E9F-45CF-B008-3094963CCD58}"/>
              </a:ext>
            </a:extLst>
          </p:cNvPr>
          <p:cNvSpPr>
            <a:spLocks xmlns:a="http://schemas.openxmlformats.org/drawingml/2006/main" noGrp="1"/>
          </p:cNvSpPr>
          <p:nvPr/>
        </p:nvSpPr>
        <p:spPr>
          <a:xfrm xmlns:a="http://schemas.openxmlformats.org/drawingml/2006/main">
            <a:off x="514350" y="5543550"/>
            <a:ext cx="10439400" cy="704850"/>
          </a:xfrm>
          <a:prstGeom xmlns:a="http://schemas.openxmlformats.org/drawingml/2006/main" prst="roundRect">
            <a:avLst>
              <a:gd name="adj" fmla="val 8108"/>
            </a:avLst>
          </a:prstGeom>
          <a:solidFill xmlns:a="http://schemas.openxmlformats.org/drawingml/2006/main">
            <a:srgbClr val="FBE7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01C7583-67E7-4868-A3EB-6B19D662FA1B}"/>
              </a:ext>
            </a:extLst>
          </p:cNvPr>
          <p:cNvSpPr>
            <a:spLocks xmlns:a="http://schemas.openxmlformats.org/drawingml/2006/main" noGrp="1"/>
          </p:cNvSpPr>
          <p:nvPr/>
        </p:nvSpPr>
        <p:spPr>
          <a:xfrm xmlns:a="http://schemas.openxmlformats.org/drawingml/2006/main">
            <a:off x="742950" y="56197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Pricing power is not an initial success measure for this reliability feature.</a:t>
            </a:r>
          </a:p>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First prove user value and marketplace safety.</a:t>
            </a:r>
          </a:p>
        </p:txBody>
      </p:sp>
      <p:sp>
        <p:nvSpPr>
          <p:cNvPr id="32" name="">
            <a:extLst xmlns:a="http://schemas.openxmlformats.org/drawingml/2006/main">
              <a:ext uri="{FF2B5EF4-FFF2-40B4-BE49-F238E27FC236}">
                <a16:creationId xmlns:a16="http://schemas.microsoft.com/office/drawing/2014/main" id="{E4DB9689-94B4-4C1B-9558-E2E93C937FB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3" name="">
            <a:extLst xmlns:a="http://schemas.openxmlformats.org/drawingml/2006/main">
              <a:ext uri="{FF2B5EF4-FFF2-40B4-BE49-F238E27FC236}">
                <a16:creationId xmlns:a16="http://schemas.microsoft.com/office/drawing/2014/main" id="{44D87D33-00BD-4098-BF94-9F6D06D9BA8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24</a:t>
            </a:r>
          </a:p>
        </p:txBody>
      </p:sp>
    </p:spTree>
    <p:extLst>
      <p:ext uri="{BB962C8B-B14F-4D97-AF65-F5344CB8AC3E}">
        <p14:creationId xmlns:p14="http://schemas.microsoft.com/office/powerpoint/2010/main" val="52971208"/>
      </p:ext>
    </p:extLst>
  </p:cSld>
</p:sld>
</file>

<file path=ppt/slides/slide2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BEB309-0568-46F9-B868-1A462E3781B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D788AC1E-16FC-4158-A745-E1D8999C547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69E022DA-4CE6-444A-B271-7276B5B841FE}"/>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CB4967BE-724C-4CF6-A49E-81CBE436F96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8171F331-72A8-4DCE-8168-E5CC74ED621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25</a:t>
            </a:r>
          </a:p>
        </p:txBody>
      </p:sp>
    </p:spTree>
    <p:extLst>
      <p:ext uri="{BB962C8B-B14F-4D97-AF65-F5344CB8AC3E}">
        <p14:creationId xmlns:p14="http://schemas.microsoft.com/office/powerpoint/2010/main" val="2024506814"/>
      </p:ext>
    </p:extLst>
  </p:cSld>
</p:sld>
</file>

<file path=ppt/slides/slide26.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0BCDD06-24CA-4793-8033-55A0DC6E9344}"/>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B46B23C8-3862-47E3-B128-570484803B17}"/>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A5780E14-3E13-4A5C-9EE5-9812E272884E}"/>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A6547EE8-3C1D-4F27-8901-2643AA6FBC6D}"/>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242F62FC-B05F-4880-80B7-2A283C8B62CF}"/>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837630E3-B3AA-4F6E-A024-F791A013F09F}"/>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9837C50A-7DE2-47C0-84B4-8878DED3B9AA}"/>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DB7B4660-1A15-4F34-90E8-00705A3FD2F0}"/>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80576995-F20C-44A4-A762-66BED5B8D9B0}"/>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06C0CBE9-EBBD-4944-BA21-72A3C6E3ED71}"/>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2AA340DC-C326-4D31-A3B9-9886BB3A7B14}"/>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4096213E-BEFA-48EF-83EE-467852954176}"/>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7CFC85BB-2DE6-4C18-897B-0EB20121D784}"/>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F555CC1E-7C91-44C0-8932-3F3DF2A90815}"/>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0C4A03A0-3C86-4A62-8B80-C4B12B2EFC02}"/>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DBE7FDFE-5028-41D1-A116-0D0C5520E73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5AAD1879-5E43-4273-B800-CF532427F94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26</a:t>
            </a:r>
          </a:p>
        </p:txBody>
      </p:sp>
    </p:spTree>
    <p:extLst>
      <p:ext uri="{BB962C8B-B14F-4D97-AF65-F5344CB8AC3E}">
        <p14:creationId xmlns:p14="http://schemas.microsoft.com/office/powerpoint/2010/main" val="664189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2026-09-19T07:39:59.1970000Z</dcterms:created>
  <dcterms:modified xsi:type="dcterms:W3CDTF">2026-09-19T07:39:59.1970000Z</dcterms:modified>
</coreProperties>
</file>