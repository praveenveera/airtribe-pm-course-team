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"Hi, I'm Praveen. This is my Nykaa user-experience analysis for the Airtribe AI-First PM course.
Here's how I approached it — five real shopping goals on the Nykaa desktop website, back to back, marking every step as smooth, confusing, slow, or frustrating. Then two honest conversations with people outside product and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0:20–0:30
"Quick map before I start: what comes next is the five-minute story. Everything past the appendix divider goes into the same depth as my written report, in case anyone wants to go further."
(Click through to slide 3 as you say this — don't dwell.)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"Here's my finding, in one line: Nykaa is strong at the start, when you're browsing and discovering, and strong at the end, in the bag and at checkout. Where it gets weak is the middle — turning a specific need into a confident choice.
The clearest example: I searched for a moisturizer for dry, sensitive skin, under 800 rupees. I got 696 results back, and the very first slot was an ad — for a set costing four to eight times my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1:00–2:20
"Let me walk through the five journeys quickly.
First, the moisturizer search: great product cards, and filters that genuinely work once you use them — but still 696 results, and ads as high as 6,600 rupees kept showing up on top, even after I'd filtered by price.
Second, a gift set: 91 curated results, felt like a real shop. The catch is, delivery date and gift wrap only show up deep in checkout, after I've already picked something.
Third, a first lipstick: one point four million reviews on a single product, and zero help actually picking a shade.
Fourth, I logged into an account with five years of order history to see if that changes anything. It doesn't — full order history, still no reorder button anywhere, home page identical to a stranger's. I even reran Journey A's exact search on that account to check — identical results, down to the review counts.
And fifth, just browsing, no goal at all — genuinely pleasant. Which is exactly the point: that's the one visitor Nykaa's home page is actually built for."
How to say this: five short beats, not one list to memorize — breathe between each. "First… Second… Third… Fourth… And fifth…" is the scaffolding; the rest can drift from this wording without losing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2:20–2:55
"Now, three features, and my quick take on each.
Product cards — good. Everything I need to shortlist a product, in one glance.
Beauty filters — good idea, badly used. Skin type and concern match how people actually shop for this, and the filters work. But nothing ever suggests the obvious combination, and mobile guests hit a login wall before they can even try.
Logged-in home page — bad. Identical to logged out, even on an account with five years of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2:55–3:35
"I spoke to my wife and my sister — one shops rarely, one shops often. Both are fully convinced buyers; my wife actually trusts Nykaa's products more than Amazon's. But neither of them complained about finding things. What they both brought up, completely unprompted, was what happens after checkout — delivery dates slipping with zero warning, and orders mislabelled 'cancelled' or 'returned' by the app.
Different frequency, same wall — and that's a layer I never reached in my own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3:35–4:25
"So if I owned this, here's what I'd prioritize.
Top of the list, P0 — a one-tap strip right after a concern search, narrowing by skin type, concern, and budget in one move. That alone could turn 696 results into about 40.
P1 — a 'Buy again' row for logged-in shoppers, plus one-tap reorder in Orders. Also P1 — let mobile guests filter without logging in. And one more P1, from the interviews, not my own testing — honest, proactive delivery status.
P2 — stop ranking way-over-budget ads above the best-fit product.
And one thing I'd deliberately not build — an AI chat assistant. The filters already exist and fit the category; the fix is using them at the right moment, not adding something new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4:25–4:45
"That's my analysis. Nykaa is a great shop window, and a weaker personal shopper. It's strong at discovering, strong at checkout — the gaps are the choice in the middle, and the trust in the follow-through. The fastest wins here are about using the data it already has, not adding a new surface. Thank you."
[End of the 5-minute cut — appendix slides follow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section — not narrated in the 5-minute cut. Skip ahead to Q&amp;A, or use these slides if asked for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detail — how the guest/logged-in split was decided, and the direct evidence that login state doesn't change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backing the four sharpest claims — have these ready if anyone asks 'can I actually see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recommendations table with problem-solved and metric per row, plus the reasoning and limits behind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limitations list, including the exact evidence behind the HTTP 503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E6E3"/>
          </a:solidFill>
          <a:ln/>
        </p:spPr>
      </p:sp>
      <p:sp>
        <p:nvSpPr>
          <p:cNvPr id="3" name="Shape 1"/>
          <p:cNvSpPr/>
          <p:nvPr/>
        </p:nvSpPr>
        <p:spPr>
          <a:xfrm>
            <a:off x="9418320" y="5170932"/>
            <a:ext cx="624215" cy="768096"/>
          </a:xfrm>
          <a:prstGeom prst="line">
            <a:avLst/>
          </a:prstGeom>
          <a:noFill/>
          <a:ln w="15875">
            <a:solidFill>
              <a:srgbClr val="6E5E66"/>
            </a:solidFill>
            <a:prstDash val="solid"/>
          </a:ln>
        </p:spPr>
      </p:sp>
      <p:sp>
        <p:nvSpPr>
          <p:cNvPr id="4" name="Shape 2"/>
          <p:cNvSpPr/>
          <p:nvPr/>
        </p:nvSpPr>
        <p:spPr>
          <a:xfrm flipV="1">
            <a:off x="10042535" y="5170932"/>
            <a:ext cx="626090" cy="768096"/>
          </a:xfrm>
          <a:prstGeom prst="line">
            <a:avLst/>
          </a:prstGeom>
          <a:noFill/>
          <a:ln w="15875">
            <a:solidFill>
              <a:srgbClr val="6E5E66"/>
            </a:solidFill>
            <a:prstDash val="solid"/>
          </a:ln>
        </p:spPr>
      </p:sp>
      <p:sp>
        <p:nvSpPr>
          <p:cNvPr id="5" name="Shape 3"/>
          <p:cNvSpPr/>
          <p:nvPr/>
        </p:nvSpPr>
        <p:spPr>
          <a:xfrm>
            <a:off x="10668625" y="5170932"/>
            <a:ext cx="624215" cy="768096"/>
          </a:xfrm>
          <a:prstGeom prst="line">
            <a:avLst/>
          </a:prstGeom>
          <a:noFill/>
          <a:ln w="15875">
            <a:solidFill>
              <a:srgbClr val="6E5E66"/>
            </a:solidFill>
            <a:prstDash val="solid"/>
          </a:ln>
        </p:spPr>
      </p:sp>
      <p:sp>
        <p:nvSpPr>
          <p:cNvPr id="6" name="Shape 4"/>
          <p:cNvSpPr/>
          <p:nvPr/>
        </p:nvSpPr>
        <p:spPr>
          <a:xfrm>
            <a:off x="9377172" y="5129784"/>
            <a:ext cx="82296" cy="82296"/>
          </a:xfrm>
          <a:prstGeom prst="ellipse">
            <a:avLst/>
          </a:prstGeom>
          <a:solidFill>
            <a:srgbClr val="2F6F5E"/>
          </a:solidFill>
          <a:ln/>
        </p:spPr>
      </p:sp>
      <p:sp>
        <p:nvSpPr>
          <p:cNvPr id="7" name="Shape 5"/>
          <p:cNvSpPr/>
          <p:nvPr/>
        </p:nvSpPr>
        <p:spPr>
          <a:xfrm>
            <a:off x="10001387" y="5897880"/>
            <a:ext cx="82296" cy="82296"/>
          </a:xfrm>
          <a:prstGeom prst="ellipse">
            <a:avLst/>
          </a:prstGeom>
          <a:solidFill>
            <a:srgbClr val="A81E48"/>
          </a:solidFill>
          <a:ln/>
        </p:spPr>
      </p:sp>
      <p:sp>
        <p:nvSpPr>
          <p:cNvPr id="8" name="Shape 6"/>
          <p:cNvSpPr/>
          <p:nvPr/>
        </p:nvSpPr>
        <p:spPr>
          <a:xfrm>
            <a:off x="10627477" y="5129784"/>
            <a:ext cx="82296" cy="82296"/>
          </a:xfrm>
          <a:prstGeom prst="ellipse">
            <a:avLst/>
          </a:prstGeom>
          <a:solidFill>
            <a:srgbClr val="2F6F5E"/>
          </a:solidFill>
          <a:ln/>
        </p:spPr>
      </p:sp>
      <p:sp>
        <p:nvSpPr>
          <p:cNvPr id="9" name="Shape 7"/>
          <p:cNvSpPr/>
          <p:nvPr/>
        </p:nvSpPr>
        <p:spPr>
          <a:xfrm>
            <a:off x="11251692" y="5897880"/>
            <a:ext cx="82296" cy="82296"/>
          </a:xfrm>
          <a:prstGeom prst="ellipse">
            <a:avLst/>
          </a:prstGeom>
          <a:solidFill>
            <a:srgbClr val="A81E48"/>
          </a:solidFill>
          <a:ln/>
        </p:spPr>
      </p:sp>
      <p:sp>
        <p:nvSpPr>
          <p:cNvPr id="10" name="Text 8"/>
          <p:cNvSpPr txBox="1"/>
          <p:nvPr/>
        </p:nvSpPr>
        <p:spPr>
          <a:xfrm>
            <a:off x="640080" y="1051560"/>
            <a:ext cx="7315200" cy="365760"/>
          </a:xfrm>
          <a:prstGeom prst="rect">
            <a:avLst/>
          </a:prstGeom>
          <a:noFill/>
          <a:ln/>
        </p:spPr>
        <p:txBody>
          <a:bodyPr wrap="square" lIns="0" tIns="0" rIns="0" bIns="0" rtlCol="0" anchor="ctr"/>
          <a:lstStyle/>
          <a:p>
            <a:pPr indent="0" marL="0">
              <a:buNone/>
            </a:pPr>
            <a:r>
              <a:rPr lang="en-US" sz="1300" b="1" spc="200" kern="0" dirty="0">
                <a:solidFill>
                  <a:srgbClr val="A81E48"/>
                </a:solidFill>
                <a:latin typeface="Calibri" pitchFamily="34" charset="0"/>
                <a:ea typeface="Calibri" pitchFamily="34" charset="-122"/>
                <a:cs typeface="Calibri" pitchFamily="34" charset="-120"/>
              </a:rPr>
              <a:t>NYKAA  ·  UX ANALYSIS</a:t>
            </a:r>
            <a:endParaRPr lang="en-US" sz="1300" dirty="0"/>
          </a:p>
        </p:txBody>
      </p:sp>
      <p:sp>
        <p:nvSpPr>
          <p:cNvPr id="11" name="Text 9"/>
          <p:cNvSpPr txBox="1"/>
          <p:nvPr/>
        </p:nvSpPr>
        <p:spPr>
          <a:xfrm>
            <a:off x="640080" y="2148840"/>
            <a:ext cx="10058400" cy="1920240"/>
          </a:xfrm>
          <a:prstGeom prst="rect">
            <a:avLst/>
          </a:prstGeom>
          <a:noFill/>
          <a:ln/>
        </p:spPr>
        <p:txBody>
          <a:bodyPr wrap="square" lIns="0" tIns="0" rIns="0" bIns="0" rtlCol="0" anchor="ctr"/>
          <a:lstStyle/>
          <a:p>
            <a:pPr algn="l" indent="0" marL="0">
              <a:lnSpc>
                <a:spcPct val="105000"/>
              </a:lnSpc>
              <a:buNone/>
            </a:pPr>
            <a:r>
              <a:rPr lang="en-US" sz="4600" b="1" dirty="0">
                <a:solidFill>
                  <a:srgbClr val="1F1620"/>
                </a:solidFill>
                <a:latin typeface="Cambria" pitchFamily="34" charset="0"/>
                <a:ea typeface="Cambria" pitchFamily="34" charset="-122"/>
                <a:cs typeface="Cambria" pitchFamily="34" charset="-120"/>
              </a:rPr>
              <a:t>Nykaa</a:t>
            </a:r>
            <a:endParaRPr lang="en-US" sz="4600" dirty="0"/>
          </a:p>
          <a:p>
            <a:pPr algn="l" indent="0" marL="0">
              <a:lnSpc>
                <a:spcPct val="105000"/>
              </a:lnSpc>
              <a:buNone/>
            </a:pPr>
            <a:r>
              <a:rPr lang="en-US" sz="4600" b="1" dirty="0">
                <a:solidFill>
                  <a:srgbClr val="1F1620"/>
                </a:solidFill>
                <a:latin typeface="Cambria" pitchFamily="34" charset="0"/>
                <a:ea typeface="Cambria" pitchFamily="34" charset="-122"/>
                <a:cs typeface="Cambria" pitchFamily="34" charset="-120"/>
              </a:rPr>
              <a:t>User Experience Analysis</a:t>
            </a:r>
            <a:endParaRPr lang="en-US" sz="4600" dirty="0"/>
          </a:p>
        </p:txBody>
      </p:sp>
      <p:sp>
        <p:nvSpPr>
          <p:cNvPr id="12" name="Text 10"/>
          <p:cNvSpPr txBox="1"/>
          <p:nvPr/>
        </p:nvSpPr>
        <p:spPr>
          <a:xfrm>
            <a:off x="640080" y="4160520"/>
            <a:ext cx="8686800" cy="457200"/>
          </a:xfrm>
          <a:prstGeom prst="rect">
            <a:avLst/>
          </a:prstGeom>
          <a:noFill/>
          <a:ln/>
        </p:spPr>
        <p:txBody>
          <a:bodyPr wrap="square" lIns="0" tIns="0" rIns="0" bIns="0" rtlCol="0" anchor="ctr"/>
          <a:lstStyle/>
          <a:p>
            <a:pPr indent="0" marL="0">
              <a:buNone/>
            </a:pPr>
            <a:r>
              <a:rPr lang="en-US" sz="1900" i="1" dirty="0">
                <a:solidFill>
                  <a:srgbClr val="A81E48"/>
                </a:solidFill>
                <a:latin typeface="Calibri" pitchFamily="34" charset="0"/>
                <a:ea typeface="Calibri" pitchFamily="34" charset="-122"/>
                <a:cs typeface="Calibri" pitchFamily="34" charset="-120"/>
              </a:rPr>
              <a:t>Five goals. Two real interviews. One website.</a:t>
            </a:r>
            <a:endParaRPr lang="en-US" sz="1900" dirty="0"/>
          </a:p>
        </p:txBody>
      </p:sp>
      <p:sp>
        <p:nvSpPr>
          <p:cNvPr id="13" name="Text 11"/>
          <p:cNvSpPr txBox="1"/>
          <p:nvPr/>
        </p:nvSpPr>
        <p:spPr>
          <a:xfrm>
            <a:off x="640080" y="5989320"/>
            <a:ext cx="9144000" cy="365760"/>
          </a:xfrm>
          <a:prstGeom prst="rect">
            <a:avLst/>
          </a:prstGeom>
          <a:noFill/>
          <a:ln/>
        </p:spPr>
        <p:txBody>
          <a:bodyPr wrap="square" lIns="0" tIns="0" rIns="0" bIns="0" rtlCol="0" anchor="ctr"/>
          <a:lstStyle/>
          <a:p>
            <a:pPr indent="0" marL="0">
              <a:buNone/>
            </a:pPr>
            <a:r>
              <a:rPr lang="en-US" sz="1250" dirty="0">
                <a:solidFill>
                  <a:srgbClr val="6E5E66"/>
                </a:solidFill>
                <a:latin typeface="Calibri" pitchFamily="34" charset="0"/>
                <a:ea typeface="Calibri" pitchFamily="34" charset="-122"/>
                <a:cs typeface="Calibri" pitchFamily="34" charset="-120"/>
              </a:rPr>
              <a:t>Praveen Veera   ·   Airtribe — AI-First Product Management   ·   September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HOW TO USE THIS DECK</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The 5-minute story, plus everything behind it</a:t>
            </a:r>
            <a:endParaRPr lang="en-US" sz="2800" dirty="0"/>
          </a:p>
        </p:txBody>
      </p:sp>
      <p:sp>
        <p:nvSpPr>
          <p:cNvPr id="5" name="Shape 3"/>
          <p:cNvSpPr/>
          <p:nvPr/>
        </p:nvSpPr>
        <p:spPr>
          <a:xfrm>
            <a:off x="640080" y="1600200"/>
            <a:ext cx="5257800" cy="4434840"/>
          </a:xfrm>
          <a:prstGeom prst="roundRect">
            <a:avLst>
              <a:gd name="adj" fmla="val 2474"/>
            </a:avLst>
          </a:prstGeom>
          <a:solidFill>
            <a:srgbClr val="FFFFFF"/>
          </a:solidFill>
          <a:ln/>
          <a:effectLst>
            <a:outerShdw sx="100000" sy="100000" kx="0" ky="0" algn="bl" rotWithShape="0" blurRad="127000" dist="38100" dir="5400000">
              <a:srgbClr val="1F1620">
                <a:alpha val="10000"/>
              </a:srgbClr>
            </a:outerShdw>
          </a:effectLst>
        </p:spPr>
      </p:sp>
      <p:sp>
        <p:nvSpPr>
          <p:cNvPr id="6" name="Text 4"/>
          <p:cNvSpPr txBox="1"/>
          <p:nvPr/>
        </p:nvSpPr>
        <p:spPr>
          <a:xfrm>
            <a:off x="1005840" y="1874520"/>
            <a:ext cx="4663440" cy="365760"/>
          </a:xfrm>
          <a:prstGeom prst="rect">
            <a:avLst/>
          </a:prstGeom>
          <a:noFill/>
          <a:ln/>
        </p:spPr>
        <p:txBody>
          <a:bodyPr wrap="square" lIns="0" tIns="0" rIns="0" bIns="0" rtlCol="0" anchor="ctr"/>
          <a:lstStyle/>
          <a:p>
            <a:pPr indent="0" marL="0">
              <a:buNone/>
            </a:pPr>
            <a:r>
              <a:rPr lang="en-US" sz="1250" b="1" spc="100" kern="0" dirty="0">
                <a:solidFill>
                  <a:srgbClr val="2F6F5E"/>
                </a:solidFill>
                <a:latin typeface="Calibri" pitchFamily="34" charset="0"/>
                <a:ea typeface="Calibri" pitchFamily="34" charset="-122"/>
                <a:cs typeface="Calibri" pitchFamily="34" charset="-120"/>
              </a:rPr>
              <a:t>THE STORY  ·  slides 3–8</a:t>
            </a:r>
            <a:endParaRPr lang="en-US" sz="1250" dirty="0"/>
          </a:p>
        </p:txBody>
      </p:sp>
      <p:sp>
        <p:nvSpPr>
          <p:cNvPr id="7" name="Text 5"/>
          <p:cNvSpPr txBox="1"/>
          <p:nvPr/>
        </p:nvSpPr>
        <p:spPr>
          <a:xfrm>
            <a:off x="1005840" y="2331720"/>
            <a:ext cx="4663440" cy="3566160"/>
          </a:xfrm>
          <a:prstGeom prst="rect">
            <a:avLst/>
          </a:prstGeom>
          <a:noFill/>
          <a:ln/>
        </p:spPr>
        <p:txBody>
          <a:bodyPr wrap="square" lIns="0" tIns="0" rIns="0" bIns="0" rtlCol="0" anchor="t"/>
          <a:lstStyle/>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1. The finding, in one line</a:t>
            </a:r>
            <a:endParaRPr lang="en-US" sz="1650" dirty="0"/>
          </a:p>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2. Five journeys, at a glance</a:t>
            </a:r>
            <a:endParaRPr lang="en-US" sz="1650" dirty="0"/>
          </a:p>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3. Three features, three verdicts</a:t>
            </a:r>
            <a:endParaRPr lang="en-US" sz="1650" dirty="0"/>
          </a:p>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4. What two real people said</a:t>
            </a:r>
            <a:endParaRPr lang="en-US" sz="1650" dirty="0"/>
          </a:p>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5. What I'd fix first</a:t>
            </a:r>
            <a:endParaRPr lang="en-US" sz="1650" dirty="0"/>
          </a:p>
          <a:p>
            <a:pPr indent="0" marL="0">
              <a:lnSpc>
                <a:spcPct val="155000"/>
              </a:lnSpc>
              <a:buNone/>
            </a:pPr>
            <a:r>
              <a:rPr lang="en-US" sz="1650" dirty="0">
                <a:solidFill>
                  <a:srgbClr val="1F1620"/>
                </a:solidFill>
                <a:latin typeface="Cambria" pitchFamily="34" charset="0"/>
                <a:ea typeface="Cambria" pitchFamily="34" charset="-122"/>
                <a:cs typeface="Cambria" pitchFamily="34" charset="-120"/>
              </a:rPr>
              <a:t>6. Close</a:t>
            </a:r>
            <a:endParaRPr lang="en-US" sz="1650" dirty="0"/>
          </a:p>
        </p:txBody>
      </p:sp>
      <p:sp>
        <p:nvSpPr>
          <p:cNvPr id="8" name="Shape 6"/>
          <p:cNvSpPr/>
          <p:nvPr/>
        </p:nvSpPr>
        <p:spPr>
          <a:xfrm>
            <a:off x="6263640" y="1600200"/>
            <a:ext cx="5285232" cy="4434840"/>
          </a:xfrm>
          <a:prstGeom prst="roundRect">
            <a:avLst>
              <a:gd name="adj" fmla="val 2474"/>
            </a:avLst>
          </a:prstGeom>
          <a:solidFill>
            <a:srgbClr val="FFFFFF"/>
          </a:solidFill>
          <a:ln/>
          <a:effectLst>
            <a:outerShdw sx="100000" sy="100000" kx="0" ky="0" algn="bl" rotWithShape="0" blurRad="127000" dist="38100" dir="5400000">
              <a:srgbClr val="1F1620">
                <a:alpha val="10000"/>
              </a:srgbClr>
            </a:outerShdw>
          </a:effectLst>
        </p:spPr>
      </p:sp>
      <p:sp>
        <p:nvSpPr>
          <p:cNvPr id="9" name="Text 7"/>
          <p:cNvSpPr txBox="1"/>
          <p:nvPr/>
        </p:nvSpPr>
        <p:spPr>
          <a:xfrm>
            <a:off x="6629400" y="1874520"/>
            <a:ext cx="4663440" cy="365760"/>
          </a:xfrm>
          <a:prstGeom prst="rect">
            <a:avLst/>
          </a:prstGeom>
          <a:noFill/>
          <a:ln/>
        </p:spPr>
        <p:txBody>
          <a:bodyPr wrap="square" lIns="0" tIns="0" rIns="0" bIns="0" rtlCol="0" anchor="ctr"/>
          <a:lstStyle/>
          <a:p>
            <a:pPr indent="0" marL="0">
              <a:buNone/>
            </a:pPr>
            <a:r>
              <a:rPr lang="en-US" sz="1250" b="1" spc="100" kern="0" dirty="0">
                <a:solidFill>
                  <a:srgbClr val="A81E48"/>
                </a:solidFill>
                <a:latin typeface="Calibri" pitchFamily="34" charset="0"/>
                <a:ea typeface="Calibri" pitchFamily="34" charset="-122"/>
                <a:cs typeface="Calibri" pitchFamily="34" charset="-120"/>
              </a:rPr>
              <a:t>APPENDIX  ·  slides 9–18</a:t>
            </a:r>
            <a:endParaRPr lang="en-US" sz="1250" dirty="0"/>
          </a:p>
        </p:txBody>
      </p:sp>
      <p:sp>
        <p:nvSpPr>
          <p:cNvPr id="10" name="Text 8"/>
          <p:cNvSpPr txBox="1"/>
          <p:nvPr/>
        </p:nvSpPr>
        <p:spPr>
          <a:xfrm>
            <a:off x="6629400" y="2331720"/>
            <a:ext cx="4663440" cy="3566160"/>
          </a:xfrm>
          <a:prstGeom prst="rect">
            <a:avLst/>
          </a:prstGeom>
          <a:noFill/>
          <a:ln/>
        </p:spPr>
        <p:txBody>
          <a:bodyPr wrap="square" lIns="0" tIns="0" rIns="0" bIns="0" rtlCol="0" anchor="t"/>
          <a:lstStyle/>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1. How I tested this (methodology)</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2. Journey A — full detail</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3. Journey B — full detail</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4. Journey C — full detail</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5. Journey D — full detail</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6. Journey E — full detail</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7. Evidence — real screenshots</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8. All recommendations, with metrics</a:t>
            </a:r>
            <a:endParaRPr lang="en-US" sz="1350" dirty="0"/>
          </a:p>
          <a:p>
            <a:pPr indent="0" marL="0">
              <a:lnSpc>
                <a:spcPct val="128000"/>
              </a:lnSpc>
              <a:buNone/>
            </a:pPr>
            <a:r>
              <a:rPr lang="en-US" sz="1350" dirty="0">
                <a:solidFill>
                  <a:srgbClr val="1F1620"/>
                </a:solidFill>
                <a:latin typeface="Cambria" pitchFamily="34" charset="0"/>
                <a:ea typeface="Cambria" pitchFamily="34" charset="-122"/>
                <a:cs typeface="Cambria" pitchFamily="34" charset="-120"/>
              </a:rPr>
              <a:t>9. Limitations, in full</a:t>
            </a:r>
            <a:endParaRPr lang="en-US" sz="1350" dirty="0"/>
          </a:p>
        </p:txBody>
      </p:sp>
      <p:sp>
        <p:nvSpPr>
          <p:cNvPr id="11" name="Text 9"/>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12" name="Text 10"/>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THE FINDING IN ONE LINE</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3400" b="1" dirty="0">
                <a:solidFill>
                  <a:srgbClr val="1F1620"/>
                </a:solidFill>
                <a:latin typeface="Cambria" pitchFamily="34" charset="0"/>
                <a:ea typeface="Cambria" pitchFamily="34" charset="-122"/>
                <a:cs typeface="Cambria" pitchFamily="34" charset="-120"/>
              </a:rPr>
              <a:t>Strong at the ends. Weak in the middle.</a:t>
            </a:r>
            <a:endParaRPr lang="en-US" sz="3400" dirty="0"/>
          </a:p>
        </p:txBody>
      </p:sp>
      <p:sp>
        <p:nvSpPr>
          <p:cNvPr id="5" name="Shape 3"/>
          <p:cNvSpPr/>
          <p:nvPr/>
        </p:nvSpPr>
        <p:spPr>
          <a:xfrm>
            <a:off x="1554480" y="2514600"/>
            <a:ext cx="3044952" cy="1737360"/>
          </a:xfrm>
          <a:prstGeom prst="line">
            <a:avLst/>
          </a:prstGeom>
          <a:noFill/>
          <a:ln w="28575">
            <a:solidFill>
              <a:srgbClr val="6E5E66"/>
            </a:solidFill>
            <a:prstDash val="solid"/>
          </a:ln>
        </p:spPr>
      </p:sp>
      <p:sp>
        <p:nvSpPr>
          <p:cNvPr id="6" name="Shape 4"/>
          <p:cNvSpPr/>
          <p:nvPr/>
        </p:nvSpPr>
        <p:spPr>
          <a:xfrm flipV="1">
            <a:off x="4599432" y="2514600"/>
            <a:ext cx="3054096" cy="1737360"/>
          </a:xfrm>
          <a:prstGeom prst="line">
            <a:avLst/>
          </a:prstGeom>
          <a:noFill/>
          <a:ln w="28575">
            <a:solidFill>
              <a:srgbClr val="6E5E66"/>
            </a:solidFill>
            <a:prstDash val="solid"/>
          </a:ln>
        </p:spPr>
      </p:sp>
      <p:sp>
        <p:nvSpPr>
          <p:cNvPr id="7" name="Shape 5"/>
          <p:cNvSpPr/>
          <p:nvPr/>
        </p:nvSpPr>
        <p:spPr>
          <a:xfrm>
            <a:off x="7653528" y="2514600"/>
            <a:ext cx="3044952" cy="1737360"/>
          </a:xfrm>
          <a:prstGeom prst="line">
            <a:avLst/>
          </a:prstGeom>
          <a:noFill/>
          <a:ln w="28575">
            <a:solidFill>
              <a:srgbClr val="6E5E66"/>
            </a:solidFill>
            <a:prstDash val="solid"/>
          </a:ln>
        </p:spPr>
      </p:sp>
      <p:sp>
        <p:nvSpPr>
          <p:cNvPr id="8" name="Shape 6"/>
          <p:cNvSpPr/>
          <p:nvPr/>
        </p:nvSpPr>
        <p:spPr>
          <a:xfrm>
            <a:off x="1453896" y="2414016"/>
            <a:ext cx="201168" cy="201168"/>
          </a:xfrm>
          <a:prstGeom prst="ellipse">
            <a:avLst/>
          </a:prstGeom>
          <a:solidFill>
            <a:srgbClr val="2F6F5E"/>
          </a:solidFill>
          <a:ln/>
        </p:spPr>
      </p:sp>
      <p:sp>
        <p:nvSpPr>
          <p:cNvPr id="9" name="Text 7"/>
          <p:cNvSpPr txBox="1"/>
          <p:nvPr/>
        </p:nvSpPr>
        <p:spPr>
          <a:xfrm>
            <a:off x="960120" y="1965960"/>
            <a:ext cx="1188720" cy="274320"/>
          </a:xfrm>
          <a:prstGeom prst="rect">
            <a:avLst/>
          </a:prstGeom>
          <a:noFill/>
          <a:ln/>
        </p:spPr>
        <p:txBody>
          <a:bodyPr wrap="square" lIns="0" tIns="0" rIns="0" bIns="0" rtlCol="0" anchor="ctr"/>
          <a:lstStyle/>
          <a:p>
            <a:pPr algn="ctr" indent="0" marL="0">
              <a:buNone/>
            </a:pPr>
            <a:r>
              <a:rPr lang="en-US" sz="1100" b="1" spc="100" kern="0" dirty="0">
                <a:solidFill>
                  <a:srgbClr val="2F6F5E"/>
                </a:solidFill>
                <a:latin typeface="Calibri" pitchFamily="34" charset="0"/>
                <a:ea typeface="Calibri" pitchFamily="34" charset="-122"/>
                <a:cs typeface="Calibri" pitchFamily="34" charset="-120"/>
              </a:rPr>
              <a:t>STRONG</a:t>
            </a:r>
            <a:endParaRPr lang="en-US" sz="1100" dirty="0"/>
          </a:p>
        </p:txBody>
      </p:sp>
      <p:sp>
        <p:nvSpPr>
          <p:cNvPr id="10" name="Text 8"/>
          <p:cNvSpPr txBox="1"/>
          <p:nvPr/>
        </p:nvSpPr>
        <p:spPr>
          <a:xfrm>
            <a:off x="731520" y="4855464"/>
            <a:ext cx="1645920" cy="365760"/>
          </a:xfrm>
          <a:prstGeom prst="rect">
            <a:avLst/>
          </a:prstGeom>
          <a:noFill/>
          <a:ln/>
        </p:spPr>
        <p:txBody>
          <a:bodyPr wrap="square" lIns="0" tIns="0" rIns="0" bIns="0" rtlCol="0" anchor="ctr"/>
          <a:lstStyle/>
          <a:p>
            <a:pPr algn="ctr" indent="0" marL="0">
              <a:buNone/>
            </a:pPr>
            <a:r>
              <a:rPr lang="en-US" sz="1600" b="1" dirty="0">
                <a:solidFill>
                  <a:srgbClr val="1F1620"/>
                </a:solidFill>
                <a:latin typeface="Cambria" pitchFamily="34" charset="0"/>
                <a:ea typeface="Cambria" pitchFamily="34" charset="-122"/>
                <a:cs typeface="Cambria" pitchFamily="34" charset="-120"/>
              </a:rPr>
              <a:t>Discover</a:t>
            </a:r>
            <a:endParaRPr lang="en-US" sz="1600" dirty="0"/>
          </a:p>
        </p:txBody>
      </p:sp>
      <p:sp>
        <p:nvSpPr>
          <p:cNvPr id="11" name="Shape 9"/>
          <p:cNvSpPr/>
          <p:nvPr/>
        </p:nvSpPr>
        <p:spPr>
          <a:xfrm>
            <a:off x="4498848" y="4151376"/>
            <a:ext cx="201168" cy="201168"/>
          </a:xfrm>
          <a:prstGeom prst="ellipse">
            <a:avLst/>
          </a:prstGeom>
          <a:solidFill>
            <a:srgbClr val="A81E48"/>
          </a:solidFill>
          <a:ln/>
        </p:spPr>
      </p:sp>
      <p:sp>
        <p:nvSpPr>
          <p:cNvPr id="12" name="Text 10"/>
          <p:cNvSpPr txBox="1"/>
          <p:nvPr/>
        </p:nvSpPr>
        <p:spPr>
          <a:xfrm>
            <a:off x="4005072" y="4434840"/>
            <a:ext cx="1188720" cy="274320"/>
          </a:xfrm>
          <a:prstGeom prst="rect">
            <a:avLst/>
          </a:prstGeom>
          <a:noFill/>
          <a:ln/>
        </p:spPr>
        <p:txBody>
          <a:bodyPr wrap="square" lIns="0" tIns="0" rIns="0" bIns="0" rtlCol="0" anchor="ctr"/>
          <a:lstStyle/>
          <a:p>
            <a:pPr algn="ctr" indent="0" marL="0">
              <a:buNone/>
            </a:pPr>
            <a:r>
              <a:rPr lang="en-US" sz="1100" b="1" spc="100" kern="0" dirty="0">
                <a:solidFill>
                  <a:srgbClr val="A81E48"/>
                </a:solidFill>
                <a:latin typeface="Calibri" pitchFamily="34" charset="0"/>
                <a:ea typeface="Calibri" pitchFamily="34" charset="-122"/>
                <a:cs typeface="Calibri" pitchFamily="34" charset="-120"/>
              </a:rPr>
              <a:t>WEAK</a:t>
            </a:r>
            <a:endParaRPr lang="en-US" sz="1100" dirty="0"/>
          </a:p>
        </p:txBody>
      </p:sp>
      <p:sp>
        <p:nvSpPr>
          <p:cNvPr id="13" name="Text 11"/>
          <p:cNvSpPr txBox="1"/>
          <p:nvPr/>
        </p:nvSpPr>
        <p:spPr>
          <a:xfrm>
            <a:off x="3776472" y="4855464"/>
            <a:ext cx="1645920" cy="365760"/>
          </a:xfrm>
          <a:prstGeom prst="rect">
            <a:avLst/>
          </a:prstGeom>
          <a:noFill/>
          <a:ln/>
        </p:spPr>
        <p:txBody>
          <a:bodyPr wrap="square" lIns="0" tIns="0" rIns="0" bIns="0" rtlCol="0" anchor="ctr"/>
          <a:lstStyle/>
          <a:p>
            <a:pPr algn="ctr" indent="0" marL="0">
              <a:buNone/>
            </a:pPr>
            <a:r>
              <a:rPr lang="en-US" sz="1600" b="1" dirty="0">
                <a:solidFill>
                  <a:srgbClr val="1F1620"/>
                </a:solidFill>
                <a:latin typeface="Cambria" pitchFamily="34" charset="0"/>
                <a:ea typeface="Cambria" pitchFamily="34" charset="-122"/>
                <a:cs typeface="Cambria" pitchFamily="34" charset="-120"/>
              </a:rPr>
              <a:t>Decide</a:t>
            </a:r>
            <a:endParaRPr lang="en-US" sz="1600" dirty="0"/>
          </a:p>
        </p:txBody>
      </p:sp>
      <p:sp>
        <p:nvSpPr>
          <p:cNvPr id="14" name="Shape 12"/>
          <p:cNvSpPr/>
          <p:nvPr/>
        </p:nvSpPr>
        <p:spPr>
          <a:xfrm>
            <a:off x="7552944" y="2414016"/>
            <a:ext cx="201168" cy="201168"/>
          </a:xfrm>
          <a:prstGeom prst="ellipse">
            <a:avLst/>
          </a:prstGeom>
          <a:solidFill>
            <a:srgbClr val="2F6F5E"/>
          </a:solidFill>
          <a:ln/>
        </p:spPr>
      </p:sp>
      <p:sp>
        <p:nvSpPr>
          <p:cNvPr id="15" name="Text 13"/>
          <p:cNvSpPr txBox="1"/>
          <p:nvPr/>
        </p:nvSpPr>
        <p:spPr>
          <a:xfrm>
            <a:off x="7059168" y="1965960"/>
            <a:ext cx="1188720" cy="274320"/>
          </a:xfrm>
          <a:prstGeom prst="rect">
            <a:avLst/>
          </a:prstGeom>
          <a:noFill/>
          <a:ln/>
        </p:spPr>
        <p:txBody>
          <a:bodyPr wrap="square" lIns="0" tIns="0" rIns="0" bIns="0" rtlCol="0" anchor="ctr"/>
          <a:lstStyle/>
          <a:p>
            <a:pPr algn="ctr" indent="0" marL="0">
              <a:buNone/>
            </a:pPr>
            <a:r>
              <a:rPr lang="en-US" sz="1100" b="1" spc="100" kern="0" dirty="0">
                <a:solidFill>
                  <a:srgbClr val="2F6F5E"/>
                </a:solidFill>
                <a:latin typeface="Calibri" pitchFamily="34" charset="0"/>
                <a:ea typeface="Calibri" pitchFamily="34" charset="-122"/>
                <a:cs typeface="Calibri" pitchFamily="34" charset="-120"/>
              </a:rPr>
              <a:t>STRONG</a:t>
            </a:r>
            <a:endParaRPr lang="en-US" sz="1100" dirty="0"/>
          </a:p>
        </p:txBody>
      </p:sp>
      <p:sp>
        <p:nvSpPr>
          <p:cNvPr id="16" name="Text 14"/>
          <p:cNvSpPr txBox="1"/>
          <p:nvPr/>
        </p:nvSpPr>
        <p:spPr>
          <a:xfrm>
            <a:off x="6830568" y="4855464"/>
            <a:ext cx="1645920" cy="365760"/>
          </a:xfrm>
          <a:prstGeom prst="rect">
            <a:avLst/>
          </a:prstGeom>
          <a:noFill/>
          <a:ln/>
        </p:spPr>
        <p:txBody>
          <a:bodyPr wrap="square" lIns="0" tIns="0" rIns="0" bIns="0" rtlCol="0" anchor="ctr"/>
          <a:lstStyle/>
          <a:p>
            <a:pPr algn="ctr" indent="0" marL="0">
              <a:buNone/>
            </a:pPr>
            <a:r>
              <a:rPr lang="en-US" sz="1600" b="1" dirty="0">
                <a:solidFill>
                  <a:srgbClr val="1F1620"/>
                </a:solidFill>
                <a:latin typeface="Cambria" pitchFamily="34" charset="0"/>
                <a:ea typeface="Cambria" pitchFamily="34" charset="-122"/>
                <a:cs typeface="Cambria" pitchFamily="34" charset="-120"/>
              </a:rPr>
              <a:t>Buy</a:t>
            </a:r>
            <a:endParaRPr lang="en-US" sz="1600" dirty="0"/>
          </a:p>
        </p:txBody>
      </p:sp>
      <p:sp>
        <p:nvSpPr>
          <p:cNvPr id="17" name="Shape 15"/>
          <p:cNvSpPr/>
          <p:nvPr/>
        </p:nvSpPr>
        <p:spPr>
          <a:xfrm>
            <a:off x="10597896" y="4151376"/>
            <a:ext cx="201168" cy="201168"/>
          </a:xfrm>
          <a:prstGeom prst="ellipse">
            <a:avLst/>
          </a:prstGeom>
          <a:solidFill>
            <a:srgbClr val="A81E48"/>
          </a:solidFill>
          <a:ln/>
        </p:spPr>
      </p:sp>
      <p:sp>
        <p:nvSpPr>
          <p:cNvPr id="18" name="Text 16"/>
          <p:cNvSpPr txBox="1"/>
          <p:nvPr/>
        </p:nvSpPr>
        <p:spPr>
          <a:xfrm>
            <a:off x="10104120" y="4434840"/>
            <a:ext cx="1188720" cy="274320"/>
          </a:xfrm>
          <a:prstGeom prst="rect">
            <a:avLst/>
          </a:prstGeom>
          <a:noFill/>
          <a:ln/>
        </p:spPr>
        <p:txBody>
          <a:bodyPr wrap="square" lIns="0" tIns="0" rIns="0" bIns="0" rtlCol="0" anchor="ctr"/>
          <a:lstStyle/>
          <a:p>
            <a:pPr algn="ctr" indent="0" marL="0">
              <a:buNone/>
            </a:pPr>
            <a:r>
              <a:rPr lang="en-US" sz="1100" b="1" spc="100" kern="0" dirty="0">
                <a:solidFill>
                  <a:srgbClr val="A81E48"/>
                </a:solidFill>
                <a:latin typeface="Calibri" pitchFamily="34" charset="0"/>
                <a:ea typeface="Calibri" pitchFamily="34" charset="-122"/>
                <a:cs typeface="Calibri" pitchFamily="34" charset="-120"/>
              </a:rPr>
              <a:t>WEAK</a:t>
            </a:r>
            <a:endParaRPr lang="en-US" sz="1100" dirty="0"/>
          </a:p>
        </p:txBody>
      </p:sp>
      <p:sp>
        <p:nvSpPr>
          <p:cNvPr id="19" name="Text 17"/>
          <p:cNvSpPr txBox="1"/>
          <p:nvPr/>
        </p:nvSpPr>
        <p:spPr>
          <a:xfrm>
            <a:off x="9875520" y="4855464"/>
            <a:ext cx="1645920" cy="365760"/>
          </a:xfrm>
          <a:prstGeom prst="rect">
            <a:avLst/>
          </a:prstGeom>
          <a:noFill/>
          <a:ln/>
        </p:spPr>
        <p:txBody>
          <a:bodyPr wrap="square" lIns="0" tIns="0" rIns="0" bIns="0" rtlCol="0" anchor="ctr"/>
          <a:lstStyle/>
          <a:p>
            <a:pPr algn="ctr" indent="0" marL="0">
              <a:buNone/>
            </a:pPr>
            <a:r>
              <a:rPr lang="en-US" sz="1600" b="1" dirty="0">
                <a:solidFill>
                  <a:srgbClr val="1F1620"/>
                </a:solidFill>
                <a:latin typeface="Cambria" pitchFamily="34" charset="0"/>
                <a:ea typeface="Cambria" pitchFamily="34" charset="-122"/>
                <a:cs typeface="Cambria" pitchFamily="34" charset="-120"/>
              </a:rPr>
              <a:t>Return</a:t>
            </a:r>
            <a:endParaRPr lang="en-US" sz="1600" dirty="0"/>
          </a:p>
        </p:txBody>
      </p:sp>
      <p:sp>
        <p:nvSpPr>
          <p:cNvPr id="20" name="Shape 18"/>
          <p:cNvSpPr/>
          <p:nvPr/>
        </p:nvSpPr>
        <p:spPr>
          <a:xfrm>
            <a:off x="640080" y="5532120"/>
            <a:ext cx="10908792" cy="914400"/>
          </a:xfrm>
          <a:prstGeom prst="roundRect">
            <a:avLst>
              <a:gd name="adj" fmla="val 12000"/>
            </a:avLst>
          </a:prstGeom>
          <a:solidFill>
            <a:srgbClr val="FFFFFF"/>
          </a:solidFill>
          <a:ln/>
          <a:effectLst>
            <a:outerShdw sx="100000" sy="100000" kx="0" ky="0" algn="bl" rotWithShape="0" blurRad="127000" dist="38100" dir="5400000">
              <a:srgbClr val="1F1620">
                <a:alpha val="10000"/>
              </a:srgbClr>
            </a:outerShdw>
          </a:effectLst>
        </p:spPr>
      </p:sp>
      <p:sp>
        <p:nvSpPr>
          <p:cNvPr id="21" name="Text 19"/>
          <p:cNvSpPr txBox="1"/>
          <p:nvPr/>
        </p:nvSpPr>
        <p:spPr>
          <a:xfrm>
            <a:off x="868680" y="5669280"/>
            <a:ext cx="2452878" cy="640080"/>
          </a:xfrm>
          <a:prstGeom prst="rect">
            <a:avLst/>
          </a:prstGeom>
          <a:noFill/>
          <a:ln/>
        </p:spPr>
        <p:txBody>
          <a:bodyPr wrap="square" lIns="0" tIns="0" rIns="0" bIns="0" rtlCol="0" anchor="t"/>
          <a:lstStyle/>
          <a:p>
            <a:pPr indent="0" marL="0">
              <a:buNone/>
            </a:pPr>
            <a:r>
              <a:rPr lang="en-US" sz="1100" dirty="0">
                <a:solidFill>
                  <a:srgbClr val="6E5E66"/>
                </a:solidFill>
                <a:latin typeface="Calibri" pitchFamily="34" charset="0"/>
                <a:ea typeface="Calibri" pitchFamily="34" charset="-122"/>
                <a:cs typeface="Calibri" pitchFamily="34" charset="-120"/>
              </a:rPr>
              <a:t>696 results, ads up to ₹6,600 on a specific search</a:t>
            </a:r>
            <a:endParaRPr lang="en-US" sz="1100" dirty="0"/>
          </a:p>
        </p:txBody>
      </p:sp>
      <p:sp>
        <p:nvSpPr>
          <p:cNvPr id="22" name="Text 20"/>
          <p:cNvSpPr txBox="1"/>
          <p:nvPr/>
        </p:nvSpPr>
        <p:spPr>
          <a:xfrm>
            <a:off x="3595878" y="5669280"/>
            <a:ext cx="2452878" cy="640080"/>
          </a:xfrm>
          <a:prstGeom prst="rect">
            <a:avLst/>
          </a:prstGeom>
          <a:noFill/>
          <a:ln/>
        </p:spPr>
        <p:txBody>
          <a:bodyPr wrap="square" lIns="0" tIns="0" rIns="0" bIns="0" rtlCol="0" anchor="t"/>
          <a:lstStyle/>
          <a:p>
            <a:pPr indent="0" marL="0">
              <a:buNone/>
            </a:pPr>
            <a:r>
              <a:rPr lang="en-US" sz="1100" dirty="0">
                <a:solidFill>
                  <a:srgbClr val="6E5E66"/>
                </a:solidFill>
                <a:latin typeface="Calibri" pitchFamily="34" charset="0"/>
                <a:ea typeface="Calibri" pitchFamily="34" charset="-122"/>
                <a:cs typeface="Calibri" pitchFamily="34" charset="-120"/>
              </a:rPr>
              <a:t>Filters work once used, but nothing suggests the fit</a:t>
            </a:r>
            <a:endParaRPr lang="en-US" sz="1100" dirty="0"/>
          </a:p>
        </p:txBody>
      </p:sp>
      <p:sp>
        <p:nvSpPr>
          <p:cNvPr id="23" name="Text 21"/>
          <p:cNvSpPr txBox="1"/>
          <p:nvPr/>
        </p:nvSpPr>
        <p:spPr>
          <a:xfrm>
            <a:off x="6323076" y="5669280"/>
            <a:ext cx="2452878" cy="640080"/>
          </a:xfrm>
          <a:prstGeom prst="rect">
            <a:avLst/>
          </a:prstGeom>
          <a:noFill/>
          <a:ln/>
        </p:spPr>
        <p:txBody>
          <a:bodyPr wrap="square" lIns="0" tIns="0" rIns="0" bIns="0" rtlCol="0" anchor="t"/>
          <a:lstStyle/>
          <a:p>
            <a:pPr indent="0" marL="0">
              <a:buNone/>
            </a:pPr>
            <a:r>
              <a:rPr lang="en-US" sz="1100" dirty="0">
                <a:solidFill>
                  <a:srgbClr val="6E5E66"/>
                </a:solidFill>
                <a:latin typeface="Calibri" pitchFamily="34" charset="0"/>
                <a:ea typeface="Calibri" pitchFamily="34" charset="-122"/>
                <a:cs typeface="Calibri" pitchFamily="34" charset="-120"/>
              </a:rPr>
              <a:t>Bag + checkout: coupons, points, clear pricing</a:t>
            </a:r>
            <a:endParaRPr lang="en-US" sz="1100" dirty="0"/>
          </a:p>
        </p:txBody>
      </p:sp>
      <p:sp>
        <p:nvSpPr>
          <p:cNvPr id="24" name="Text 22"/>
          <p:cNvSpPr txBox="1"/>
          <p:nvPr/>
        </p:nvSpPr>
        <p:spPr>
          <a:xfrm>
            <a:off x="9050274" y="5669280"/>
            <a:ext cx="2452878" cy="640080"/>
          </a:xfrm>
          <a:prstGeom prst="rect">
            <a:avLst/>
          </a:prstGeom>
          <a:noFill/>
          <a:ln/>
        </p:spPr>
        <p:txBody>
          <a:bodyPr wrap="square" lIns="0" tIns="0" rIns="0" bIns="0" rtlCol="0" anchor="t"/>
          <a:lstStyle/>
          <a:p>
            <a:pPr indent="0" marL="0">
              <a:buNone/>
            </a:pPr>
            <a:r>
              <a:rPr lang="en-US" sz="1100" dirty="0">
                <a:solidFill>
                  <a:srgbClr val="6E5E66"/>
                </a:solidFill>
                <a:latin typeface="Calibri" pitchFamily="34" charset="0"/>
                <a:ea typeface="Calibri" pitchFamily="34" charset="-122"/>
                <a:cs typeface="Calibri" pitchFamily="34" charset="-120"/>
              </a:rPr>
              <a:t>Logged-in home = logged-out home, even on old accounts</a:t>
            </a:r>
            <a:endParaRPr lang="en-US" sz="1100" dirty="0"/>
          </a:p>
        </p:txBody>
      </p:sp>
      <p:sp>
        <p:nvSpPr>
          <p:cNvPr id="25" name="Text 23"/>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26" name="Text 24"/>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FIVE GOALS, ONE WEBSITE</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What worked, what got in the way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2331720"/>
                <a:gridCol w="4251960"/>
                <a:gridCol w="4325112"/>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GOAL</a:t>
                      </a:r>
                      <a:endParaRPr lang="en-US" sz="115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SMOOTH</a:t>
                      </a:r>
                      <a:endParaRPr lang="en-US" sz="115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STUCK</a:t>
                      </a:r>
                      <a:endParaRPr lang="en-US" sz="115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r>
              <a:tr h="0">
                <a:tc>
                  <a:txBody>
                    <a:bodyPr/>
                    <a:lstStyle/>
                    <a:p>
                      <a:pPr indent="0" marL="0">
                        <a:buNone/>
                      </a:pPr>
                      <a:r>
                        <a:rPr lang="en-US" sz="1300" b="1" dirty="0">
                          <a:solidFill>
                            <a:srgbClr val="1F1620"/>
                          </a:solidFill>
                          <a:latin typeface="Cambria" pitchFamily="34" charset="0"/>
                          <a:ea typeface="Cambria" pitchFamily="34" charset="-122"/>
                          <a:cs typeface="Cambria" pitchFamily="34" charset="-120"/>
                        </a:rPr>
                        <a:t>Moisturizer ≤₹800</a:t>
                      </a:r>
                      <a:endParaRPr lang="en-US" sz="1300" dirty="0">
                        <a:latin typeface="Cambria" charset="0"/>
                        <a:ea typeface="Cambria" charset="0"/>
                        <a:cs typeface="Cambria"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2F6F5E"/>
                          </a:solidFill>
                          <a:latin typeface="Calibri" pitchFamily="34" charset="0"/>
                          <a:ea typeface="Calibri" pitchFamily="34" charset="-122"/>
                          <a:cs typeface="Calibri" pitchFamily="34" charset="-120"/>
                        </a:rPr>
                        <a:t>Rich cards; filters cut 696 → 178; clean checkout</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A81E48"/>
                          </a:solidFill>
                          <a:latin typeface="Calibri" pitchFamily="34" charset="0"/>
                          <a:ea typeface="Calibri" pitchFamily="34" charset="-122"/>
                          <a:cs typeface="Calibri" pitchFamily="34" charset="-120"/>
                        </a:rPr>
                        <a:t>696 results; a ₹6,600 ad on top of a budget search</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r h="0">
                <a:tc>
                  <a:txBody>
                    <a:bodyPr/>
                    <a:lstStyle/>
                    <a:p>
                      <a:pPr indent="0" marL="0">
                        <a:buNone/>
                      </a:pPr>
                      <a:r>
                        <a:rPr lang="en-US" sz="1300" b="1" dirty="0">
                          <a:solidFill>
                            <a:srgbClr val="1F1620"/>
                          </a:solidFill>
                          <a:latin typeface="Cambria" pitchFamily="34" charset="0"/>
                          <a:ea typeface="Cambria" pitchFamily="34" charset="-122"/>
                          <a:cs typeface="Cambria" pitchFamily="34" charset="-120"/>
                        </a:rPr>
                        <a:t>Luxury gift set</a:t>
                      </a:r>
                      <a:endParaRPr lang="en-US" sz="1300" dirty="0">
                        <a:latin typeface="Cambria" charset="0"/>
                        <a:ea typeface="Cambria" charset="0"/>
                        <a:cs typeface="Cambria"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200" dirty="0">
                          <a:solidFill>
                            <a:srgbClr val="2F6F5E"/>
                          </a:solidFill>
                          <a:latin typeface="Calibri" pitchFamily="34" charset="0"/>
                          <a:ea typeface="Calibri" pitchFamily="34" charset="-122"/>
                          <a:cs typeface="Calibri" pitchFamily="34" charset="-120"/>
                        </a:rPr>
                        <a:t>91 curated sets; “Most Gifted” proof</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200" dirty="0">
                          <a:solidFill>
                            <a:srgbClr val="A81E48"/>
                          </a:solidFill>
                          <a:latin typeface="Calibri" pitchFamily="34" charset="0"/>
                          <a:ea typeface="Calibri" pitchFamily="34" charset="-122"/>
                          <a:cs typeface="Calibri" pitchFamily="34" charset="-120"/>
                        </a:rPr>
                        <a:t>Delivery date &amp; gift wrap only shown deep in checkout</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1620"/>
                          </a:solidFill>
                          <a:latin typeface="Cambria" pitchFamily="34" charset="0"/>
                          <a:ea typeface="Cambria" pitchFamily="34" charset="-122"/>
                          <a:cs typeface="Cambria" pitchFamily="34" charset="-120"/>
                        </a:rPr>
                        <a:t>First lipstick</a:t>
                      </a:r>
                      <a:endParaRPr lang="en-US" sz="1300" dirty="0">
                        <a:latin typeface="Cambria" charset="0"/>
                        <a:ea typeface="Cambria" charset="0"/>
                        <a:cs typeface="Cambria"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2F6F5E"/>
                          </a:solidFill>
                          <a:latin typeface="Calibri" pitchFamily="34" charset="0"/>
                          <a:ea typeface="Calibri" pitchFamily="34" charset="-122"/>
                          <a:cs typeface="Calibri" pitchFamily="34" charset="-120"/>
                        </a:rPr>
                        <a:t>Huge social proof — one product at 1.4M reviews</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A81E48"/>
                          </a:solidFill>
                          <a:latin typeface="Calibri" pitchFamily="34" charset="0"/>
                          <a:ea typeface="Calibri" pitchFamily="34" charset="-122"/>
                          <a:cs typeface="Calibri" pitchFamily="34" charset="-120"/>
                        </a:rPr>
                        <a:t>24–30 shades per product, no shade help</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r h="0">
                <a:tc>
                  <a:txBody>
                    <a:bodyPr/>
                    <a:lstStyle/>
                    <a:p>
                      <a:pPr indent="0" marL="0">
                        <a:buNone/>
                      </a:pPr>
                      <a:r>
                        <a:rPr lang="en-US" sz="1300" b="1" dirty="0">
                          <a:solidFill>
                            <a:srgbClr val="1F1620"/>
                          </a:solidFill>
                          <a:latin typeface="Cambria" pitchFamily="34" charset="0"/>
                          <a:ea typeface="Cambria" pitchFamily="34" charset="-122"/>
                          <a:cs typeface="Cambria" pitchFamily="34" charset="-120"/>
                        </a:rPr>
                        <a:t>Logged-in visit (5-yr account)</a:t>
                      </a:r>
                      <a:endParaRPr lang="en-US" sz="1300" dirty="0">
                        <a:latin typeface="Cambria" charset="0"/>
                        <a:ea typeface="Cambria" charset="0"/>
                        <a:cs typeface="Cambria"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200" dirty="0">
                          <a:solidFill>
                            <a:srgbClr val="2F6F5E"/>
                          </a:solidFill>
                          <a:latin typeface="Calibri" pitchFamily="34" charset="0"/>
                          <a:ea typeface="Calibri" pitchFamily="34" charset="-122"/>
                          <a:cs typeface="Calibri" pitchFamily="34" charset="-120"/>
                        </a:rPr>
                        <a:t>Full order history, reward points in the cart</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200" dirty="0">
                          <a:solidFill>
                            <a:srgbClr val="A81E48"/>
                          </a:solidFill>
                          <a:latin typeface="Calibri" pitchFamily="34" charset="0"/>
                          <a:ea typeface="Calibri" pitchFamily="34" charset="-122"/>
                          <a:cs typeface="Calibri" pitchFamily="34" charset="-120"/>
                        </a:rPr>
                        <a:t>No reorder button anywhere; home = logged-out home</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1620"/>
                          </a:solidFill>
                          <a:latin typeface="Cambria" pitchFamily="34" charset="0"/>
                          <a:ea typeface="Cambria" pitchFamily="34" charset="-122"/>
                          <a:cs typeface="Cambria" pitchFamily="34" charset="-120"/>
                        </a:rPr>
                        <a:t>Casual browse</a:t>
                      </a:r>
                      <a:endParaRPr lang="en-US" sz="1300" dirty="0">
                        <a:latin typeface="Cambria" charset="0"/>
                        <a:ea typeface="Cambria" charset="0"/>
                        <a:cs typeface="Cambria"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2F6F5E"/>
                          </a:solidFill>
                          <a:latin typeface="Calibri" pitchFamily="34" charset="0"/>
                          <a:ea typeface="Calibri" pitchFamily="34" charset="-122"/>
                          <a:cs typeface="Calibri" pitchFamily="34" charset="-120"/>
                        </a:rPr>
                        <a:t>Lively, easy to wander, good for ideas</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200" dirty="0">
                          <a:solidFill>
                            <a:srgbClr val="A81E48"/>
                          </a:solidFill>
                          <a:latin typeface="Calibri" pitchFamily="34" charset="0"/>
                          <a:ea typeface="Calibri" pitchFamily="34" charset="-122"/>
                          <a:cs typeface="Calibri" pitchFamily="34" charset="-120"/>
                        </a:rPr>
                        <a:t>Everything shouts “Shop Now” — no calm mode</a:t>
                      </a:r>
                      <a:endParaRPr lang="en-US" sz="1200" dirty="0">
                        <a:latin typeface="Calibri" charset="0"/>
                        <a:ea typeface="Calibri" charset="0"/>
                        <a:cs typeface="Calibri" charset="0"/>
                      </a:endParaRPr>
                    </a:p>
                  </a:txBody>
                  <a:tcPr marL="152400" marR="152400" marT="177800" marB="1778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bl>
          </a:graphicData>
        </a:graphic>
      </p:graphicFrame>
      <p:sp>
        <p:nvSpPr>
          <p:cNvPr id="6" name="Text 3"/>
          <p:cNvSpPr txBox="1"/>
          <p:nvPr/>
        </p:nvSpPr>
        <p:spPr>
          <a:xfrm>
            <a:off x="640080" y="6263640"/>
            <a:ext cx="10908792" cy="320040"/>
          </a:xfrm>
          <a:prstGeom prst="rect">
            <a:avLst/>
          </a:prstGeom>
          <a:noFill/>
          <a:ln/>
        </p:spPr>
        <p:txBody>
          <a:bodyPr wrap="square" lIns="0" tIns="0" rIns="0" bIns="0" rtlCol="0" anchor="ctr"/>
          <a:lstStyle/>
          <a:p>
            <a:pPr indent="0" marL="0">
              <a:buNone/>
            </a:pPr>
            <a:r>
              <a:rPr lang="en-US" sz="1100" i="1" dirty="0">
                <a:solidFill>
                  <a:srgbClr val="6E5E66"/>
                </a:solidFill>
                <a:latin typeface="Calibri" pitchFamily="34" charset="0"/>
                <a:ea typeface="Calibri" pitchFamily="34" charset="-122"/>
                <a:cs typeface="Calibri" pitchFamily="34" charset="-120"/>
              </a:rPr>
              <a:t>Full step-by-step for every journey, including the logged-in spot-check → appendix, slides 11–15.</a:t>
            </a:r>
            <a:endParaRPr lang="en-US" sz="1100" dirty="0"/>
          </a:p>
        </p:txBody>
      </p:sp>
      <p:sp>
        <p:nvSpPr>
          <p:cNvPr id="7" name="Text 4"/>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8" name="Text 5"/>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THREE FEATURES, THREE VERDICTS</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Where the product helps — and doesn’t</a:t>
            </a:r>
            <a:endParaRPr lang="en-US" sz="2800" dirty="0"/>
          </a:p>
        </p:txBody>
      </p:sp>
      <p:sp>
        <p:nvSpPr>
          <p:cNvPr id="5" name="Shape 3"/>
          <p:cNvSpPr/>
          <p:nvPr/>
        </p:nvSpPr>
        <p:spPr>
          <a:xfrm>
            <a:off x="640080" y="1737360"/>
            <a:ext cx="3447288" cy="4160520"/>
          </a:xfrm>
          <a:prstGeom prst="roundRect">
            <a:avLst>
              <a:gd name="adj" fmla="val 3183"/>
            </a:avLst>
          </a:prstGeom>
          <a:solidFill>
            <a:srgbClr val="FFFFFF"/>
          </a:solidFill>
          <a:ln/>
          <a:effectLst>
            <a:outerShdw sx="100000" sy="100000" kx="0" ky="0" algn="bl" rotWithShape="0" blurRad="127000" dist="38100" dir="5400000">
              <a:srgbClr val="1F1620">
                <a:alpha val="10000"/>
              </a:srgbClr>
            </a:outerShdw>
          </a:effectLst>
        </p:spPr>
      </p:sp>
      <p:sp>
        <p:nvSpPr>
          <p:cNvPr id="6" name="Shape 4"/>
          <p:cNvSpPr/>
          <p:nvPr/>
        </p:nvSpPr>
        <p:spPr>
          <a:xfrm>
            <a:off x="914400" y="2029968"/>
            <a:ext cx="1554480" cy="365760"/>
          </a:xfrm>
          <a:prstGeom prst="roundRect">
            <a:avLst>
              <a:gd name="adj" fmla="val 50000"/>
            </a:avLst>
          </a:prstGeom>
          <a:solidFill>
            <a:srgbClr val="2F6F5E"/>
          </a:solidFill>
          <a:ln/>
        </p:spPr>
      </p:sp>
      <p:sp>
        <p:nvSpPr>
          <p:cNvPr id="7" name="Text 5"/>
          <p:cNvSpPr txBox="1"/>
          <p:nvPr/>
        </p:nvSpPr>
        <p:spPr>
          <a:xfrm>
            <a:off x="914400" y="2029968"/>
            <a:ext cx="155448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GOOD</a:t>
            </a:r>
            <a:endParaRPr lang="en-US" sz="1050" dirty="0"/>
          </a:p>
        </p:txBody>
      </p:sp>
      <p:sp>
        <p:nvSpPr>
          <p:cNvPr id="8" name="Text 6"/>
          <p:cNvSpPr txBox="1"/>
          <p:nvPr/>
        </p:nvSpPr>
        <p:spPr>
          <a:xfrm>
            <a:off x="914400" y="2633472"/>
            <a:ext cx="2898648" cy="548640"/>
          </a:xfrm>
          <a:prstGeom prst="rect">
            <a:avLst/>
          </a:prstGeom>
          <a:noFill/>
          <a:ln/>
        </p:spPr>
        <p:txBody>
          <a:bodyPr wrap="square" lIns="0" tIns="0" rIns="0" bIns="0" rtlCol="0" anchor="ctr"/>
          <a:lstStyle/>
          <a:p>
            <a:pPr indent="0" marL="0">
              <a:buNone/>
            </a:pPr>
            <a:r>
              <a:rPr lang="en-US" sz="2100" b="1" dirty="0">
                <a:solidFill>
                  <a:srgbClr val="1F1620"/>
                </a:solidFill>
                <a:latin typeface="Cambria" pitchFamily="34" charset="0"/>
                <a:ea typeface="Cambria" pitchFamily="34" charset="-122"/>
                <a:cs typeface="Cambria" pitchFamily="34" charset="-120"/>
              </a:rPr>
              <a:t>Product cards</a:t>
            </a:r>
            <a:endParaRPr lang="en-US" sz="2100" dirty="0"/>
          </a:p>
        </p:txBody>
      </p:sp>
      <p:sp>
        <p:nvSpPr>
          <p:cNvPr id="9" name="Text 7"/>
          <p:cNvSpPr txBox="1"/>
          <p:nvPr/>
        </p:nvSpPr>
        <p:spPr>
          <a:xfrm>
            <a:off x="914400" y="3273552"/>
            <a:ext cx="2898648" cy="2331720"/>
          </a:xfrm>
          <a:prstGeom prst="rect">
            <a:avLst/>
          </a:prstGeom>
          <a:noFill/>
          <a:ln/>
        </p:spPr>
        <p:txBody>
          <a:bodyPr wrap="square" lIns="0" tIns="0" rIns="0" bIns="0" rtlCol="0" anchor="t"/>
          <a:lstStyle/>
          <a:p>
            <a:pPr indent="0" marL="0">
              <a:lnSpc>
                <a:spcPct val="118000"/>
              </a:lnSpc>
              <a:buNone/>
            </a:pPr>
            <a:r>
              <a:rPr lang="en-US" sz="1350" dirty="0">
                <a:solidFill>
                  <a:srgbClr val="6E5E66"/>
                </a:solidFill>
                <a:latin typeface="Calibri" pitchFamily="34" charset="0"/>
                <a:ea typeface="Calibri" pitchFamily="34" charset="-122"/>
                <a:cs typeface="Calibri" pitchFamily="34" charset="-120"/>
              </a:rPr>
              <a:t>Photo, price, offer price, rating, review count and a fit badge in one glance. You can shortlist without opening a single product.</a:t>
            </a:r>
            <a:endParaRPr lang="en-US" sz="1350" dirty="0"/>
          </a:p>
        </p:txBody>
      </p:sp>
      <p:sp>
        <p:nvSpPr>
          <p:cNvPr id="10" name="Shape 8"/>
          <p:cNvSpPr/>
          <p:nvPr/>
        </p:nvSpPr>
        <p:spPr>
          <a:xfrm>
            <a:off x="4361688" y="1737360"/>
            <a:ext cx="3447288" cy="4160520"/>
          </a:xfrm>
          <a:prstGeom prst="roundRect">
            <a:avLst>
              <a:gd name="adj" fmla="val 3183"/>
            </a:avLst>
          </a:prstGeom>
          <a:solidFill>
            <a:srgbClr val="FFFFFF"/>
          </a:solidFill>
          <a:ln/>
          <a:effectLst>
            <a:outerShdw sx="100000" sy="100000" kx="0" ky="0" algn="bl" rotWithShape="0" blurRad="127000" dist="38100" dir="5400000">
              <a:srgbClr val="1F1620">
                <a:alpha val="10000"/>
              </a:srgbClr>
            </a:outerShdw>
          </a:effectLst>
        </p:spPr>
      </p:sp>
      <p:sp>
        <p:nvSpPr>
          <p:cNvPr id="11" name="Shape 9"/>
          <p:cNvSpPr/>
          <p:nvPr/>
        </p:nvSpPr>
        <p:spPr>
          <a:xfrm>
            <a:off x="4636008" y="2029968"/>
            <a:ext cx="2898648" cy="365760"/>
          </a:xfrm>
          <a:prstGeom prst="roundRect">
            <a:avLst>
              <a:gd name="adj" fmla="val 50000"/>
            </a:avLst>
          </a:prstGeom>
          <a:solidFill>
            <a:srgbClr val="F7E1E8"/>
          </a:solidFill>
          <a:ln/>
        </p:spPr>
      </p:sp>
      <p:sp>
        <p:nvSpPr>
          <p:cNvPr id="12" name="Text 10"/>
          <p:cNvSpPr txBox="1"/>
          <p:nvPr/>
        </p:nvSpPr>
        <p:spPr>
          <a:xfrm>
            <a:off x="4636008" y="2029968"/>
            <a:ext cx="2898648" cy="365760"/>
          </a:xfrm>
          <a:prstGeom prst="rect">
            <a:avLst/>
          </a:prstGeom>
          <a:noFill/>
          <a:ln/>
        </p:spPr>
        <p:txBody>
          <a:bodyPr wrap="square" lIns="0" tIns="0" rIns="0" bIns="0" rtlCol="0" anchor="ctr"/>
          <a:lstStyle/>
          <a:p>
            <a:pPr algn="ctr" indent="0" marL="0">
              <a:buNone/>
            </a:pPr>
            <a:r>
              <a:rPr lang="en-US" sz="1050" b="1" spc="100" kern="0" dirty="0">
                <a:solidFill>
                  <a:srgbClr val="A81E48"/>
                </a:solidFill>
                <a:latin typeface="Calibri" pitchFamily="34" charset="0"/>
                <a:ea typeface="Calibri" pitchFamily="34" charset="-122"/>
                <a:cs typeface="Calibri" pitchFamily="34" charset="-120"/>
              </a:rPr>
              <a:t>GOOD IDEA, BADLY USED</a:t>
            </a:r>
            <a:endParaRPr lang="en-US" sz="1050" dirty="0"/>
          </a:p>
        </p:txBody>
      </p:sp>
      <p:sp>
        <p:nvSpPr>
          <p:cNvPr id="13" name="Text 11"/>
          <p:cNvSpPr txBox="1"/>
          <p:nvPr/>
        </p:nvSpPr>
        <p:spPr>
          <a:xfrm>
            <a:off x="4636008" y="2633472"/>
            <a:ext cx="2898648" cy="548640"/>
          </a:xfrm>
          <a:prstGeom prst="rect">
            <a:avLst/>
          </a:prstGeom>
          <a:noFill/>
          <a:ln/>
        </p:spPr>
        <p:txBody>
          <a:bodyPr wrap="square" lIns="0" tIns="0" rIns="0" bIns="0" rtlCol="0" anchor="ctr"/>
          <a:lstStyle/>
          <a:p>
            <a:pPr indent="0" marL="0">
              <a:buNone/>
            </a:pPr>
            <a:r>
              <a:rPr lang="en-US" sz="2100" b="1" dirty="0">
                <a:solidFill>
                  <a:srgbClr val="1F1620"/>
                </a:solidFill>
                <a:latin typeface="Cambria" pitchFamily="34" charset="0"/>
                <a:ea typeface="Cambria" pitchFamily="34" charset="-122"/>
                <a:cs typeface="Cambria" pitchFamily="34" charset="-120"/>
              </a:rPr>
              <a:t>Beauty filters</a:t>
            </a:r>
            <a:endParaRPr lang="en-US" sz="2100" dirty="0"/>
          </a:p>
        </p:txBody>
      </p:sp>
      <p:sp>
        <p:nvSpPr>
          <p:cNvPr id="14" name="Text 12"/>
          <p:cNvSpPr txBox="1"/>
          <p:nvPr/>
        </p:nvSpPr>
        <p:spPr>
          <a:xfrm>
            <a:off x="4636008" y="3273552"/>
            <a:ext cx="2898648" cy="2331720"/>
          </a:xfrm>
          <a:prstGeom prst="rect">
            <a:avLst/>
          </a:prstGeom>
          <a:noFill/>
          <a:ln/>
        </p:spPr>
        <p:txBody>
          <a:bodyPr wrap="square" lIns="0" tIns="0" rIns="0" bIns="0" rtlCol="0" anchor="t"/>
          <a:lstStyle/>
          <a:p>
            <a:pPr indent="0" marL="0">
              <a:lnSpc>
                <a:spcPct val="118000"/>
              </a:lnSpc>
              <a:buNone/>
            </a:pPr>
            <a:r>
              <a:rPr lang="en-US" sz="1350" dirty="0">
                <a:solidFill>
                  <a:srgbClr val="6E5E66"/>
                </a:solidFill>
                <a:latin typeface="Calibri" pitchFamily="34" charset="0"/>
                <a:ea typeface="Calibri" pitchFamily="34" charset="-122"/>
                <a:cs typeface="Calibri" pitchFamily="34" charset="-120"/>
              </a:rPr>
              <a:t>Skin type, concern, ingredient — the right model, and it works. But nothing pre-applies or suggests the fit, and mobile guests hit a login wall first.</a:t>
            </a:r>
            <a:endParaRPr lang="en-US" sz="1350" dirty="0"/>
          </a:p>
        </p:txBody>
      </p:sp>
      <p:sp>
        <p:nvSpPr>
          <p:cNvPr id="15" name="Shape 13"/>
          <p:cNvSpPr/>
          <p:nvPr/>
        </p:nvSpPr>
        <p:spPr>
          <a:xfrm>
            <a:off x="8083296" y="1737360"/>
            <a:ext cx="3447288" cy="4160520"/>
          </a:xfrm>
          <a:prstGeom prst="roundRect">
            <a:avLst>
              <a:gd name="adj" fmla="val 3183"/>
            </a:avLst>
          </a:prstGeom>
          <a:solidFill>
            <a:srgbClr val="FFFFFF"/>
          </a:solidFill>
          <a:ln/>
          <a:effectLst>
            <a:outerShdw sx="100000" sy="100000" kx="0" ky="0" algn="bl" rotWithShape="0" blurRad="127000" dist="38100" dir="5400000">
              <a:srgbClr val="1F1620">
                <a:alpha val="10000"/>
              </a:srgbClr>
            </a:outerShdw>
          </a:effectLst>
        </p:spPr>
      </p:sp>
      <p:sp>
        <p:nvSpPr>
          <p:cNvPr id="16" name="Shape 14"/>
          <p:cNvSpPr/>
          <p:nvPr/>
        </p:nvSpPr>
        <p:spPr>
          <a:xfrm>
            <a:off x="8357616" y="2029968"/>
            <a:ext cx="1554480" cy="365760"/>
          </a:xfrm>
          <a:prstGeom prst="roundRect">
            <a:avLst>
              <a:gd name="adj" fmla="val 50000"/>
            </a:avLst>
          </a:prstGeom>
          <a:solidFill>
            <a:srgbClr val="A81E48"/>
          </a:solidFill>
          <a:ln/>
        </p:spPr>
      </p:sp>
      <p:sp>
        <p:nvSpPr>
          <p:cNvPr id="17" name="Text 15"/>
          <p:cNvSpPr txBox="1"/>
          <p:nvPr/>
        </p:nvSpPr>
        <p:spPr>
          <a:xfrm>
            <a:off x="8357616" y="2029968"/>
            <a:ext cx="155448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BAD</a:t>
            </a:r>
            <a:endParaRPr lang="en-US" sz="1050" dirty="0"/>
          </a:p>
        </p:txBody>
      </p:sp>
      <p:sp>
        <p:nvSpPr>
          <p:cNvPr id="18" name="Text 16"/>
          <p:cNvSpPr txBox="1"/>
          <p:nvPr/>
        </p:nvSpPr>
        <p:spPr>
          <a:xfrm>
            <a:off x="8357616" y="2633472"/>
            <a:ext cx="2898648" cy="548640"/>
          </a:xfrm>
          <a:prstGeom prst="rect">
            <a:avLst/>
          </a:prstGeom>
          <a:noFill/>
          <a:ln/>
        </p:spPr>
        <p:txBody>
          <a:bodyPr wrap="square" lIns="0" tIns="0" rIns="0" bIns="0" rtlCol="0" anchor="ctr"/>
          <a:lstStyle/>
          <a:p>
            <a:pPr indent="0" marL="0">
              <a:buNone/>
            </a:pPr>
            <a:r>
              <a:rPr lang="en-US" sz="2100" b="1" dirty="0">
                <a:solidFill>
                  <a:srgbClr val="1F1620"/>
                </a:solidFill>
                <a:latin typeface="Cambria" pitchFamily="34" charset="0"/>
                <a:ea typeface="Cambria" pitchFamily="34" charset="-122"/>
                <a:cs typeface="Cambria" pitchFamily="34" charset="-120"/>
              </a:rPr>
              <a:t>Logged-in home</a:t>
            </a:r>
            <a:endParaRPr lang="en-US" sz="2100" dirty="0"/>
          </a:p>
        </p:txBody>
      </p:sp>
      <p:sp>
        <p:nvSpPr>
          <p:cNvPr id="19" name="Text 17"/>
          <p:cNvSpPr txBox="1"/>
          <p:nvPr/>
        </p:nvSpPr>
        <p:spPr>
          <a:xfrm>
            <a:off x="8357616" y="3273552"/>
            <a:ext cx="2898648" cy="2331720"/>
          </a:xfrm>
          <a:prstGeom prst="rect">
            <a:avLst/>
          </a:prstGeom>
          <a:noFill/>
          <a:ln/>
        </p:spPr>
        <p:txBody>
          <a:bodyPr wrap="square" lIns="0" tIns="0" rIns="0" bIns="0" rtlCol="0" anchor="t"/>
          <a:lstStyle/>
          <a:p>
            <a:pPr indent="0" marL="0">
              <a:lnSpc>
                <a:spcPct val="118000"/>
              </a:lnSpc>
              <a:buNone/>
            </a:pPr>
            <a:r>
              <a:rPr lang="en-US" sz="1350" dirty="0">
                <a:solidFill>
                  <a:srgbClr val="6E5E66"/>
                </a:solidFill>
                <a:latin typeface="Calibri" pitchFamily="34" charset="0"/>
                <a:ea typeface="Calibri" pitchFamily="34" charset="-122"/>
                <a:cs typeface="Calibri" pitchFamily="34" charset="-120"/>
              </a:rPr>
              <a:t>Byte-for-byte the same as logged-out — even on a five-year account. No “buy again,” no recently viewed, nothing personal.</a:t>
            </a:r>
            <a:endParaRPr lang="en-US" sz="1350" dirty="0"/>
          </a:p>
        </p:txBody>
      </p:sp>
      <p:sp>
        <p:nvSpPr>
          <p:cNvPr id="20" name="Text 18"/>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21" name="Text 19"/>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TWO CONVERSATIONS</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Neither person doubted the product</a:t>
            </a:r>
            <a:endParaRPr lang="en-US" sz="2800" dirty="0"/>
          </a:p>
        </p:txBody>
      </p:sp>
      <p:sp>
        <p:nvSpPr>
          <p:cNvPr id="5" name="Shape 3"/>
          <p:cNvSpPr/>
          <p:nvPr/>
        </p:nvSpPr>
        <p:spPr>
          <a:xfrm>
            <a:off x="640080" y="1691640"/>
            <a:ext cx="5276088" cy="2880360"/>
          </a:xfrm>
          <a:prstGeom prst="roundRect">
            <a:avLst>
              <a:gd name="adj" fmla="val 3810"/>
            </a:avLst>
          </a:prstGeom>
          <a:solidFill>
            <a:srgbClr val="FFFFFF"/>
          </a:solidFill>
          <a:ln/>
          <a:effectLst>
            <a:outerShdw sx="100000" sy="100000" kx="0" ky="0" algn="bl" rotWithShape="0" blurRad="127000" dist="38100" dir="5400000">
              <a:srgbClr val="1F1620">
                <a:alpha val="10000"/>
              </a:srgbClr>
            </a:outerShdw>
          </a:effectLst>
        </p:spPr>
      </p:sp>
      <p:sp>
        <p:nvSpPr>
          <p:cNvPr id="6" name="Text 4"/>
          <p:cNvSpPr txBox="1"/>
          <p:nvPr/>
        </p:nvSpPr>
        <p:spPr>
          <a:xfrm>
            <a:off x="960120" y="1929384"/>
            <a:ext cx="4636008" cy="292608"/>
          </a:xfrm>
          <a:prstGeom prst="rect">
            <a:avLst/>
          </a:prstGeom>
          <a:noFill/>
          <a:ln/>
        </p:spPr>
        <p:txBody>
          <a:bodyPr wrap="square" lIns="0" tIns="0" rIns="0" bIns="0" rtlCol="0" anchor="ctr"/>
          <a:lstStyle/>
          <a:p>
            <a:pPr indent="0" marL="0">
              <a:buNone/>
            </a:pPr>
            <a:r>
              <a:rPr lang="en-US" sz="1800" b="1" dirty="0">
                <a:solidFill>
                  <a:srgbClr val="1F1620"/>
                </a:solidFill>
                <a:latin typeface="Cambria" pitchFamily="34" charset="0"/>
                <a:ea typeface="Cambria" pitchFamily="34" charset="-122"/>
                <a:cs typeface="Cambria" pitchFamily="34" charset="-120"/>
              </a:rPr>
              <a:t>Person 1 — my wife</a:t>
            </a:r>
            <a:endParaRPr lang="en-US" sz="1800" dirty="0"/>
          </a:p>
        </p:txBody>
      </p:sp>
      <p:sp>
        <p:nvSpPr>
          <p:cNvPr id="7" name="Text 5"/>
          <p:cNvSpPr txBox="1"/>
          <p:nvPr/>
        </p:nvSpPr>
        <p:spPr>
          <a:xfrm>
            <a:off x="960120" y="2221992"/>
            <a:ext cx="4636008" cy="228600"/>
          </a:xfrm>
          <a:prstGeom prst="rect">
            <a:avLst/>
          </a:prstGeom>
          <a:noFill/>
          <a:ln/>
        </p:spPr>
        <p:txBody>
          <a:bodyPr wrap="square" lIns="0" tIns="0" rIns="0" bIns="0" rtlCol="0" anchor="ctr"/>
          <a:lstStyle/>
          <a:p>
            <a:pPr indent="0" marL="0">
              <a:buNone/>
            </a:pPr>
            <a:r>
              <a:rPr lang="en-US" sz="1100" i="1" dirty="0">
                <a:solidFill>
                  <a:srgbClr val="A81E48"/>
                </a:solidFill>
                <a:latin typeface="Calibri" pitchFamily="34" charset="0"/>
                <a:ea typeface="Calibri" pitchFamily="34" charset="-122"/>
                <a:cs typeface="Calibri" pitchFamily="34" charset="-120"/>
              </a:rPr>
              <a:t>Shops less often</a:t>
            </a:r>
            <a:endParaRPr lang="en-US" sz="1100" dirty="0"/>
          </a:p>
        </p:txBody>
      </p:sp>
      <p:sp>
        <p:nvSpPr>
          <p:cNvPr id="8" name="Text 6"/>
          <p:cNvSpPr txBox="1"/>
          <p:nvPr/>
        </p:nvSpPr>
        <p:spPr>
          <a:xfrm>
            <a:off x="960120" y="2560320"/>
            <a:ext cx="4636008" cy="914400"/>
          </a:xfrm>
          <a:prstGeom prst="rect">
            <a:avLst/>
          </a:prstGeom>
          <a:noFill/>
          <a:ln/>
        </p:spPr>
        <p:txBody>
          <a:bodyPr wrap="square" lIns="0" tIns="0" rIns="0" bIns="0" rtlCol="0" anchor="t"/>
          <a:lstStyle/>
          <a:p>
            <a:pPr indent="0" marL="0">
              <a:lnSpc>
                <a:spcPct val="115000"/>
              </a:lnSpc>
              <a:buNone/>
            </a:pPr>
            <a:r>
              <a:rPr lang="en-US" sz="1050" b="1" spc="100" kern="0" dirty="0">
                <a:solidFill>
                  <a:srgbClr val="2F6F5E"/>
                </a:solidFill>
                <a:latin typeface="Calibri" pitchFamily="34" charset="0"/>
                <a:ea typeface="Calibri" pitchFamily="34" charset="-122"/>
                <a:cs typeface="Calibri" pitchFamily="34" charset="-120"/>
              </a:rPr>
              <a:t>LIKES   </a:t>
            </a:r>
            <a:pPr indent="0" marL="0">
              <a:lnSpc>
                <a:spcPct val="115000"/>
              </a:lnSpc>
              <a:buNone/>
            </a:pPr>
            <a:r>
              <a:rPr lang="en-US" sz="1250" dirty="0">
                <a:solidFill>
                  <a:srgbClr val="6E5E66"/>
                </a:solidFill>
                <a:latin typeface="Calibri" pitchFamily="34" charset="0"/>
                <a:ea typeface="Calibri" pitchFamily="34" charset="-122"/>
                <a:cs typeface="Calibri" pitchFamily="34" charset="-120"/>
              </a:rPr>
              <a:t>Trusts Nykaa more than Amazon for beauty — products always arrive in good condition, and she doesn’t worry about counterfeits.</a:t>
            </a:r>
            <a:endParaRPr lang="en-US" sz="1050" dirty="0"/>
          </a:p>
        </p:txBody>
      </p:sp>
      <p:sp>
        <p:nvSpPr>
          <p:cNvPr id="9" name="Text 7"/>
          <p:cNvSpPr txBox="1"/>
          <p:nvPr/>
        </p:nvSpPr>
        <p:spPr>
          <a:xfrm>
            <a:off x="960120" y="3566160"/>
            <a:ext cx="4636008" cy="914400"/>
          </a:xfrm>
          <a:prstGeom prst="rect">
            <a:avLst/>
          </a:prstGeom>
          <a:noFill/>
          <a:ln/>
        </p:spPr>
        <p:txBody>
          <a:bodyPr wrap="square" lIns="0" tIns="0" rIns="0" bIns="0" rtlCol="0" anchor="t"/>
          <a:lstStyle/>
          <a:p>
            <a:pPr indent="0" marL="0">
              <a:lnSpc>
                <a:spcPct val="115000"/>
              </a:lnSpc>
              <a:buNone/>
            </a:pPr>
            <a:r>
              <a:rPr lang="en-US" sz="1050" b="1" spc="100" kern="0" dirty="0">
                <a:solidFill>
                  <a:srgbClr val="A81E48"/>
                </a:solidFill>
                <a:latin typeface="Calibri" pitchFamily="34" charset="0"/>
                <a:ea typeface="Calibri" pitchFamily="34" charset="-122"/>
                <a:cs typeface="Calibri" pitchFamily="34" charset="-120"/>
              </a:rPr>
              <a:t>DISLIKES   </a:t>
            </a:r>
            <a:pPr indent="0" marL="0">
              <a:lnSpc>
                <a:spcPct val="115000"/>
              </a:lnSpc>
              <a:buNone/>
            </a:pPr>
            <a:r>
              <a:rPr lang="en-US" sz="1250" dirty="0">
                <a:solidFill>
                  <a:srgbClr val="6E5E66"/>
                </a:solidFill>
                <a:latin typeface="Calibri" pitchFamily="34" charset="0"/>
                <a:ea typeface="Calibri" pitchFamily="34" charset="-122"/>
                <a:cs typeface="Calibri" pitchFamily="34" charset="-120"/>
              </a:rPr>
              <a:t>Delivery dates slip with no warning. Delivery partners have marked “customer not home” with no call ever made.</a:t>
            </a:r>
            <a:endParaRPr lang="en-US" sz="1050" dirty="0"/>
          </a:p>
        </p:txBody>
      </p:sp>
      <p:sp>
        <p:nvSpPr>
          <p:cNvPr id="10" name="Shape 8"/>
          <p:cNvSpPr/>
          <p:nvPr/>
        </p:nvSpPr>
        <p:spPr>
          <a:xfrm>
            <a:off x="6281928" y="1691640"/>
            <a:ext cx="5276088" cy="2880360"/>
          </a:xfrm>
          <a:prstGeom prst="roundRect">
            <a:avLst>
              <a:gd name="adj" fmla="val 3810"/>
            </a:avLst>
          </a:prstGeom>
          <a:solidFill>
            <a:srgbClr val="FFFFFF"/>
          </a:solidFill>
          <a:ln/>
          <a:effectLst>
            <a:outerShdw sx="100000" sy="100000" kx="0" ky="0" algn="bl" rotWithShape="0" blurRad="127000" dist="38100" dir="5400000">
              <a:srgbClr val="1F1620">
                <a:alpha val="10000"/>
              </a:srgbClr>
            </a:outerShdw>
          </a:effectLst>
        </p:spPr>
      </p:sp>
      <p:sp>
        <p:nvSpPr>
          <p:cNvPr id="11" name="Text 9"/>
          <p:cNvSpPr txBox="1"/>
          <p:nvPr/>
        </p:nvSpPr>
        <p:spPr>
          <a:xfrm>
            <a:off x="6601968" y="1929384"/>
            <a:ext cx="4636008" cy="292608"/>
          </a:xfrm>
          <a:prstGeom prst="rect">
            <a:avLst/>
          </a:prstGeom>
          <a:noFill/>
          <a:ln/>
        </p:spPr>
        <p:txBody>
          <a:bodyPr wrap="square" lIns="0" tIns="0" rIns="0" bIns="0" rtlCol="0" anchor="ctr"/>
          <a:lstStyle/>
          <a:p>
            <a:pPr indent="0" marL="0">
              <a:buNone/>
            </a:pPr>
            <a:r>
              <a:rPr lang="en-US" sz="1800" b="1" dirty="0">
                <a:solidFill>
                  <a:srgbClr val="1F1620"/>
                </a:solidFill>
                <a:latin typeface="Cambria" pitchFamily="34" charset="0"/>
                <a:ea typeface="Cambria" pitchFamily="34" charset="-122"/>
                <a:cs typeface="Cambria" pitchFamily="34" charset="-120"/>
              </a:rPr>
              <a:t>Person 2 — my sister</a:t>
            </a:r>
            <a:endParaRPr lang="en-US" sz="1800" dirty="0"/>
          </a:p>
        </p:txBody>
      </p:sp>
      <p:sp>
        <p:nvSpPr>
          <p:cNvPr id="12" name="Text 10"/>
          <p:cNvSpPr txBox="1"/>
          <p:nvPr/>
        </p:nvSpPr>
        <p:spPr>
          <a:xfrm>
            <a:off x="6601968" y="2221992"/>
            <a:ext cx="4636008" cy="228600"/>
          </a:xfrm>
          <a:prstGeom prst="rect">
            <a:avLst/>
          </a:prstGeom>
          <a:noFill/>
          <a:ln/>
        </p:spPr>
        <p:txBody>
          <a:bodyPr wrap="square" lIns="0" tIns="0" rIns="0" bIns="0" rtlCol="0" anchor="ctr"/>
          <a:lstStyle/>
          <a:p>
            <a:pPr indent="0" marL="0">
              <a:buNone/>
            </a:pPr>
            <a:r>
              <a:rPr lang="en-US" sz="1100" i="1" dirty="0">
                <a:solidFill>
                  <a:srgbClr val="A81E48"/>
                </a:solidFill>
                <a:latin typeface="Calibri" pitchFamily="34" charset="0"/>
                <a:ea typeface="Calibri" pitchFamily="34" charset="-122"/>
                <a:cs typeface="Calibri" pitchFamily="34" charset="-120"/>
              </a:rPr>
              <a:t>Shops most often</a:t>
            </a:r>
            <a:endParaRPr lang="en-US" sz="1100" dirty="0"/>
          </a:p>
        </p:txBody>
      </p:sp>
      <p:sp>
        <p:nvSpPr>
          <p:cNvPr id="13" name="Text 11"/>
          <p:cNvSpPr txBox="1"/>
          <p:nvPr/>
        </p:nvSpPr>
        <p:spPr>
          <a:xfrm>
            <a:off x="6601968" y="2560320"/>
            <a:ext cx="4636008" cy="914400"/>
          </a:xfrm>
          <a:prstGeom prst="rect">
            <a:avLst/>
          </a:prstGeom>
          <a:noFill/>
          <a:ln/>
        </p:spPr>
        <p:txBody>
          <a:bodyPr wrap="square" lIns="0" tIns="0" rIns="0" bIns="0" rtlCol="0" anchor="t"/>
          <a:lstStyle/>
          <a:p>
            <a:pPr indent="0" marL="0">
              <a:lnSpc>
                <a:spcPct val="115000"/>
              </a:lnSpc>
              <a:buNone/>
            </a:pPr>
            <a:r>
              <a:rPr lang="en-US" sz="1050" b="1" spc="100" kern="0" dirty="0">
                <a:solidFill>
                  <a:srgbClr val="2F6F5E"/>
                </a:solidFill>
                <a:latin typeface="Calibri" pitchFamily="34" charset="0"/>
                <a:ea typeface="Calibri" pitchFamily="34" charset="-122"/>
                <a:cs typeface="Calibri" pitchFamily="34" charset="-120"/>
              </a:rPr>
              <a:t>LIKES   </a:t>
            </a:r>
            <a:pPr indent="0" marL="0">
              <a:lnSpc>
                <a:spcPct val="115000"/>
              </a:lnSpc>
              <a:buNone/>
            </a:pPr>
            <a:r>
              <a:rPr lang="en-US" sz="1250" dirty="0">
                <a:solidFill>
                  <a:srgbClr val="6E5E66"/>
                </a:solidFill>
                <a:latin typeface="Calibri" pitchFamily="34" charset="0"/>
                <a:ea typeface="Calibri" pitchFamily="34" charset="-122"/>
                <a:cs typeface="Calibri" pitchFamily="34" charset="-120"/>
              </a:rPr>
              <a:t>No complaints about the products themselves — same theme: the quality is trusted.</a:t>
            </a:r>
            <a:endParaRPr lang="en-US" sz="1050" dirty="0"/>
          </a:p>
        </p:txBody>
      </p:sp>
      <p:sp>
        <p:nvSpPr>
          <p:cNvPr id="14" name="Text 12"/>
          <p:cNvSpPr txBox="1"/>
          <p:nvPr/>
        </p:nvSpPr>
        <p:spPr>
          <a:xfrm>
            <a:off x="6601968" y="3566160"/>
            <a:ext cx="4636008" cy="914400"/>
          </a:xfrm>
          <a:prstGeom prst="rect">
            <a:avLst/>
          </a:prstGeom>
          <a:noFill/>
          <a:ln/>
        </p:spPr>
        <p:txBody>
          <a:bodyPr wrap="square" lIns="0" tIns="0" rIns="0" bIns="0" rtlCol="0" anchor="t"/>
          <a:lstStyle/>
          <a:p>
            <a:pPr indent="0" marL="0">
              <a:lnSpc>
                <a:spcPct val="115000"/>
              </a:lnSpc>
              <a:buNone/>
            </a:pPr>
            <a:r>
              <a:rPr lang="en-US" sz="1050" b="1" spc="100" kern="0" dirty="0">
                <a:solidFill>
                  <a:srgbClr val="A81E48"/>
                </a:solidFill>
                <a:latin typeface="Calibri" pitchFamily="34" charset="0"/>
                <a:ea typeface="Calibri" pitchFamily="34" charset="-122"/>
                <a:cs typeface="Calibri" pitchFamily="34" charset="-120"/>
              </a:rPr>
              <a:t>DISLIKES   </a:t>
            </a:r>
            <a:pPr indent="0" marL="0">
              <a:lnSpc>
                <a:spcPct val="115000"/>
              </a:lnSpc>
              <a:buNone/>
            </a:pPr>
            <a:r>
              <a:rPr lang="en-US" sz="1250" dirty="0">
                <a:solidFill>
                  <a:srgbClr val="6E5E66"/>
                </a:solidFill>
                <a:latin typeface="Calibri" pitchFamily="34" charset="0"/>
                <a:ea typeface="Calibri" pitchFamily="34" charset="-122"/>
                <a:cs typeface="Calibri" pitchFamily="34" charset="-120"/>
              </a:rPr>
              <a:t>Customer support, and the app mislabelling orders — items marked “cancelled” or “returned” when they weren’t.</a:t>
            </a:r>
            <a:endParaRPr lang="en-US" sz="1050" dirty="0"/>
          </a:p>
        </p:txBody>
      </p:sp>
      <p:sp>
        <p:nvSpPr>
          <p:cNvPr id="15" name="Shape 13"/>
          <p:cNvSpPr/>
          <p:nvPr/>
        </p:nvSpPr>
        <p:spPr>
          <a:xfrm>
            <a:off x="1280160" y="4892040"/>
            <a:ext cx="9628632" cy="1234440"/>
          </a:xfrm>
          <a:prstGeom prst="roundRect">
            <a:avLst>
              <a:gd name="adj" fmla="val 8889"/>
            </a:avLst>
          </a:prstGeom>
          <a:solidFill>
            <a:srgbClr val="F7E1E8"/>
          </a:solidFill>
          <a:ln/>
          <a:effectLst>
            <a:outerShdw sx="100000" sy="100000" kx="0" ky="0" algn="bl" rotWithShape="0" blurRad="127000" dist="38100" dir="5400000">
              <a:srgbClr val="1F1620">
                <a:alpha val="10000"/>
              </a:srgbClr>
            </a:outerShdw>
          </a:effectLst>
        </p:spPr>
      </p:sp>
      <p:sp>
        <p:nvSpPr>
          <p:cNvPr id="16" name="Text 14"/>
          <p:cNvSpPr txBox="1"/>
          <p:nvPr/>
        </p:nvSpPr>
        <p:spPr>
          <a:xfrm>
            <a:off x="1600200" y="4892040"/>
            <a:ext cx="8988552" cy="1234440"/>
          </a:xfrm>
          <a:prstGeom prst="rect">
            <a:avLst/>
          </a:prstGeom>
          <a:noFill/>
          <a:ln/>
        </p:spPr>
        <p:txBody>
          <a:bodyPr wrap="square" lIns="0" tIns="0" rIns="0" bIns="0" rtlCol="0" anchor="ctr"/>
          <a:lstStyle/>
          <a:p>
            <a:pPr algn="l" indent="0" marL="0">
              <a:lnSpc>
                <a:spcPct val="115000"/>
              </a:lnSpc>
              <a:buNone/>
            </a:pPr>
            <a:r>
              <a:rPr lang="en-US" sz="1850" b="1" i="1" dirty="0">
                <a:solidFill>
                  <a:srgbClr val="1F1620"/>
                </a:solidFill>
                <a:latin typeface="Cambria" pitchFamily="34" charset="0"/>
                <a:ea typeface="Cambria" pitchFamily="34" charset="-122"/>
                <a:cs typeface="Cambria" pitchFamily="34" charset="-120"/>
              </a:rPr>
              <a:t>Neither doubted the product. Both doubted whether the app was telling them the truth about their order.</a:t>
            </a:r>
            <a:endParaRPr lang="en-US" sz="1850" dirty="0"/>
          </a:p>
        </p:txBody>
      </p:sp>
      <p:sp>
        <p:nvSpPr>
          <p:cNvPr id="17" name="Text 15"/>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18" name="Text 16"/>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WHAT I WOULD SHIP</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Fix the middle, then the follow-through</a:t>
            </a:r>
            <a:endParaRPr lang="en-US" sz="2800" dirty="0"/>
          </a:p>
        </p:txBody>
      </p:sp>
      <p:sp>
        <p:nvSpPr>
          <p:cNvPr id="5" name="Shape 3"/>
          <p:cNvSpPr/>
          <p:nvPr/>
        </p:nvSpPr>
        <p:spPr>
          <a:xfrm>
            <a:off x="640080" y="1728216"/>
            <a:ext cx="457200" cy="457200"/>
          </a:xfrm>
          <a:prstGeom prst="ellipse">
            <a:avLst/>
          </a:prstGeom>
          <a:solidFill>
            <a:srgbClr val="A81E48"/>
          </a:solidFill>
          <a:ln/>
        </p:spPr>
      </p:sp>
      <p:sp>
        <p:nvSpPr>
          <p:cNvPr id="6" name="Text 4"/>
          <p:cNvSpPr txBox="1"/>
          <p:nvPr/>
        </p:nvSpPr>
        <p:spPr>
          <a:xfrm>
            <a:off x="640080" y="1728216"/>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P0</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Guided narrowing after a concern search.</a:t>
            </a:r>
            <a:endParaRPr lang="en-US" sz="1450" dirty="0"/>
          </a:p>
        </p:txBody>
      </p:sp>
      <p:sp>
        <p:nvSpPr>
          <p:cNvPr id="8" name="Text 6"/>
          <p:cNvSpPr txBox="1"/>
          <p:nvPr/>
        </p:nvSpPr>
        <p:spPr>
          <a:xfrm>
            <a:off x="1325880" y="1984248"/>
            <a:ext cx="10222992" cy="31089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Skin type → concern → budget, pre-filled, one tap. Turn 696 into ~40 — the filters already exist.</a:t>
            </a:r>
            <a:endParaRPr lang="en-US" sz="1150" dirty="0"/>
          </a:p>
        </p:txBody>
      </p:sp>
      <p:sp>
        <p:nvSpPr>
          <p:cNvPr id="9" name="Shape 7"/>
          <p:cNvSpPr/>
          <p:nvPr/>
        </p:nvSpPr>
        <p:spPr>
          <a:xfrm>
            <a:off x="640080" y="2350008"/>
            <a:ext cx="10908792" cy="914"/>
          </a:xfrm>
          <a:prstGeom prst="line">
            <a:avLst/>
          </a:prstGeom>
          <a:noFill/>
          <a:ln w="12700">
            <a:solidFill>
              <a:srgbClr val="E4D5D2"/>
            </a:solidFill>
            <a:prstDash val="solid"/>
          </a:ln>
        </p:spPr>
      </p:sp>
      <p:sp>
        <p:nvSpPr>
          <p:cNvPr id="10" name="Shape 8"/>
          <p:cNvSpPr/>
          <p:nvPr/>
        </p:nvSpPr>
        <p:spPr>
          <a:xfrm>
            <a:off x="640080" y="2478024"/>
            <a:ext cx="457200" cy="457200"/>
          </a:xfrm>
          <a:prstGeom prst="ellipse">
            <a:avLst/>
          </a:prstGeom>
          <a:solidFill>
            <a:srgbClr val="2F6F5E"/>
          </a:solidFill>
          <a:ln/>
        </p:spPr>
      </p:sp>
      <p:sp>
        <p:nvSpPr>
          <p:cNvPr id="11" name="Text 9"/>
          <p:cNvSpPr txBox="1"/>
          <p:nvPr/>
        </p:nvSpPr>
        <p:spPr>
          <a:xfrm>
            <a:off x="640080" y="2478024"/>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P1</a:t>
            </a:r>
            <a:endParaRPr lang="en-US" sz="1150" dirty="0"/>
          </a:p>
        </p:txBody>
      </p:sp>
      <p:sp>
        <p:nvSpPr>
          <p:cNvPr id="12" name="Text 10"/>
          <p:cNvSpPr txBox="1"/>
          <p:nvPr/>
        </p:nvSpPr>
        <p:spPr>
          <a:xfrm>
            <a:off x="1325880" y="2404872"/>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“Buy again” for logged-in shoppers.</a:t>
            </a:r>
            <a:endParaRPr lang="en-US" sz="1450" dirty="0"/>
          </a:p>
        </p:txBody>
      </p:sp>
      <p:sp>
        <p:nvSpPr>
          <p:cNvPr id="13" name="Text 11"/>
          <p:cNvSpPr txBox="1"/>
          <p:nvPr/>
        </p:nvSpPr>
        <p:spPr>
          <a:xfrm>
            <a:off x="1325880" y="2734056"/>
            <a:ext cx="10222992" cy="31089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A reorder row on home and a one-tap reorder in Orders. A five-year account has none today.</a:t>
            </a:r>
            <a:endParaRPr lang="en-US" sz="1150" dirty="0"/>
          </a:p>
        </p:txBody>
      </p:sp>
      <p:sp>
        <p:nvSpPr>
          <p:cNvPr id="14" name="Shape 12"/>
          <p:cNvSpPr/>
          <p:nvPr/>
        </p:nvSpPr>
        <p:spPr>
          <a:xfrm>
            <a:off x="640080" y="3099816"/>
            <a:ext cx="10908792" cy="914"/>
          </a:xfrm>
          <a:prstGeom prst="line">
            <a:avLst/>
          </a:prstGeom>
          <a:noFill/>
          <a:ln w="12700">
            <a:solidFill>
              <a:srgbClr val="E4D5D2"/>
            </a:solidFill>
            <a:prstDash val="solid"/>
          </a:ln>
        </p:spPr>
      </p:sp>
      <p:sp>
        <p:nvSpPr>
          <p:cNvPr id="15" name="Shape 13"/>
          <p:cNvSpPr/>
          <p:nvPr/>
        </p:nvSpPr>
        <p:spPr>
          <a:xfrm>
            <a:off x="640080" y="3227832"/>
            <a:ext cx="457200" cy="457200"/>
          </a:xfrm>
          <a:prstGeom prst="ellipse">
            <a:avLst/>
          </a:prstGeom>
          <a:solidFill>
            <a:srgbClr val="2F6F5E"/>
          </a:solidFill>
          <a:ln/>
        </p:spPr>
      </p:sp>
      <p:sp>
        <p:nvSpPr>
          <p:cNvPr id="16" name="Text 14"/>
          <p:cNvSpPr txBox="1"/>
          <p:nvPr/>
        </p:nvSpPr>
        <p:spPr>
          <a:xfrm>
            <a:off x="640080" y="3227832"/>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P1</a:t>
            </a:r>
            <a:endParaRPr lang="en-US" sz="1150" dirty="0"/>
          </a:p>
        </p:txBody>
      </p:sp>
      <p:sp>
        <p:nvSpPr>
          <p:cNvPr id="17" name="Text 15"/>
          <p:cNvSpPr txBox="1"/>
          <p:nvPr/>
        </p:nvSpPr>
        <p:spPr>
          <a:xfrm>
            <a:off x="1325880" y="3154680"/>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Let mobile guests filter without logging in.</a:t>
            </a:r>
            <a:endParaRPr lang="en-US" sz="1450" dirty="0"/>
          </a:p>
        </p:txBody>
      </p:sp>
      <p:sp>
        <p:nvSpPr>
          <p:cNvPr id="18" name="Text 16"/>
          <p:cNvSpPr txBox="1"/>
          <p:nvPr/>
        </p:nvSpPr>
        <p:spPr>
          <a:xfrm>
            <a:off x="1325880" y="3483864"/>
            <a:ext cx="10222992" cy="31089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Desktop already allows it. Ask for login at wishlist or checkout, not the filter panel.</a:t>
            </a:r>
            <a:endParaRPr lang="en-US" sz="1150" dirty="0"/>
          </a:p>
        </p:txBody>
      </p:sp>
      <p:sp>
        <p:nvSpPr>
          <p:cNvPr id="19" name="Shape 17"/>
          <p:cNvSpPr/>
          <p:nvPr/>
        </p:nvSpPr>
        <p:spPr>
          <a:xfrm>
            <a:off x="640080" y="3849624"/>
            <a:ext cx="10908792" cy="914"/>
          </a:xfrm>
          <a:prstGeom prst="line">
            <a:avLst/>
          </a:prstGeom>
          <a:noFill/>
          <a:ln w="12700">
            <a:solidFill>
              <a:srgbClr val="E4D5D2"/>
            </a:solidFill>
            <a:prstDash val="solid"/>
          </a:ln>
        </p:spPr>
      </p:sp>
      <p:sp>
        <p:nvSpPr>
          <p:cNvPr id="20" name="Shape 18"/>
          <p:cNvSpPr/>
          <p:nvPr/>
        </p:nvSpPr>
        <p:spPr>
          <a:xfrm>
            <a:off x="640080" y="3977640"/>
            <a:ext cx="457200" cy="457200"/>
          </a:xfrm>
          <a:prstGeom prst="ellipse">
            <a:avLst/>
          </a:prstGeom>
          <a:solidFill>
            <a:srgbClr val="2F6F5E"/>
          </a:solidFill>
          <a:ln/>
        </p:spPr>
      </p:sp>
      <p:sp>
        <p:nvSpPr>
          <p:cNvPr id="21" name="Text 19"/>
          <p:cNvSpPr txBox="1"/>
          <p:nvPr/>
        </p:nvSpPr>
        <p:spPr>
          <a:xfrm>
            <a:off x="640080" y="397764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P1</a:t>
            </a:r>
            <a:endParaRPr lang="en-US" sz="1150" dirty="0"/>
          </a:p>
        </p:txBody>
      </p:sp>
      <p:sp>
        <p:nvSpPr>
          <p:cNvPr id="22" name="Text 20"/>
          <p:cNvSpPr txBox="1"/>
          <p:nvPr/>
        </p:nvSpPr>
        <p:spPr>
          <a:xfrm>
            <a:off x="1325880" y="3904488"/>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Honest, proactive delivery status.</a:t>
            </a:r>
            <a:endParaRPr lang="en-US" sz="1450" dirty="0"/>
          </a:p>
        </p:txBody>
      </p:sp>
      <p:sp>
        <p:nvSpPr>
          <p:cNvPr id="23" name="Text 21"/>
          <p:cNvSpPr txBox="1"/>
          <p:nvPr/>
        </p:nvSpPr>
        <p:spPr>
          <a:xfrm>
            <a:off x="1325880" y="4233672"/>
            <a:ext cx="10222992" cy="31089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From the interviews, not my own testing — warn before a date slips; stop mislabelling orders.</a:t>
            </a:r>
            <a:endParaRPr lang="en-US" sz="1150" dirty="0"/>
          </a:p>
        </p:txBody>
      </p:sp>
      <p:sp>
        <p:nvSpPr>
          <p:cNvPr id="24" name="Shape 22"/>
          <p:cNvSpPr/>
          <p:nvPr/>
        </p:nvSpPr>
        <p:spPr>
          <a:xfrm>
            <a:off x="640080" y="4599432"/>
            <a:ext cx="10908792" cy="914"/>
          </a:xfrm>
          <a:prstGeom prst="line">
            <a:avLst/>
          </a:prstGeom>
          <a:noFill/>
          <a:ln w="12700">
            <a:solidFill>
              <a:srgbClr val="E4D5D2"/>
            </a:solidFill>
            <a:prstDash val="solid"/>
          </a:ln>
        </p:spPr>
      </p:sp>
      <p:sp>
        <p:nvSpPr>
          <p:cNvPr id="25" name="Shape 23"/>
          <p:cNvSpPr/>
          <p:nvPr/>
        </p:nvSpPr>
        <p:spPr>
          <a:xfrm>
            <a:off x="640080" y="4727448"/>
            <a:ext cx="457200" cy="457200"/>
          </a:xfrm>
          <a:prstGeom prst="ellipse">
            <a:avLst/>
          </a:prstGeom>
          <a:solidFill>
            <a:srgbClr val="6E5E66"/>
          </a:solidFill>
          <a:ln/>
        </p:spPr>
      </p:sp>
      <p:sp>
        <p:nvSpPr>
          <p:cNvPr id="26" name="Text 24"/>
          <p:cNvSpPr txBox="1"/>
          <p:nvPr/>
        </p:nvSpPr>
        <p:spPr>
          <a:xfrm>
            <a:off x="640080" y="4727448"/>
            <a:ext cx="457200" cy="457200"/>
          </a:xfrm>
          <a:prstGeom prst="rect">
            <a:avLst/>
          </a:prstGeom>
          <a:noFill/>
          <a:ln/>
        </p:spPr>
        <p:txBody>
          <a:bodyPr wrap="square" lIns="0" tIns="0" rIns="0" bIns="0" rtlCol="0" anchor="ctr"/>
          <a:lstStyle/>
          <a:p>
            <a:pPr algn="ctr" indent="0" marL="0">
              <a:buNone/>
            </a:pPr>
            <a:r>
              <a:rPr lang="en-US" sz="1150" b="1" dirty="0">
                <a:solidFill>
                  <a:srgbClr val="1F1620"/>
                </a:solidFill>
                <a:latin typeface="Calibri" pitchFamily="34" charset="0"/>
                <a:ea typeface="Calibri" pitchFamily="34" charset="-122"/>
                <a:cs typeface="Calibri" pitchFamily="34" charset="-120"/>
              </a:rPr>
              <a:t>P2</a:t>
            </a:r>
            <a:endParaRPr lang="en-US" sz="1150" dirty="0"/>
          </a:p>
        </p:txBody>
      </p:sp>
      <p:sp>
        <p:nvSpPr>
          <p:cNvPr id="27" name="Text 25"/>
          <p:cNvSpPr txBox="1"/>
          <p:nvPr/>
        </p:nvSpPr>
        <p:spPr>
          <a:xfrm>
            <a:off x="1325880" y="4654296"/>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Stop ranking over-budget ads above the best fit.</a:t>
            </a:r>
            <a:endParaRPr lang="en-US" sz="1450" dirty="0"/>
          </a:p>
        </p:txBody>
      </p:sp>
      <p:sp>
        <p:nvSpPr>
          <p:cNvPr id="28" name="Text 26"/>
          <p:cNvSpPr txBox="1"/>
          <p:nvPr/>
        </p:nvSpPr>
        <p:spPr>
          <a:xfrm>
            <a:off x="1325880" y="4983480"/>
            <a:ext cx="10222992" cy="31089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Keep sponsored items several times over budget out of the top slot on a priced search.</a:t>
            </a:r>
            <a:endParaRPr lang="en-US" sz="1150" dirty="0"/>
          </a:p>
        </p:txBody>
      </p:sp>
      <p:sp>
        <p:nvSpPr>
          <p:cNvPr id="29" name="Shape 27"/>
          <p:cNvSpPr/>
          <p:nvPr/>
        </p:nvSpPr>
        <p:spPr>
          <a:xfrm>
            <a:off x="640080" y="5458968"/>
            <a:ext cx="10908792" cy="530352"/>
          </a:xfrm>
          <a:prstGeom prst="roundRect">
            <a:avLst>
              <a:gd name="adj" fmla="val 20690"/>
            </a:avLst>
          </a:prstGeom>
          <a:solidFill>
            <a:srgbClr val="F1E6E3"/>
          </a:solidFill>
          <a:ln/>
          <a:effectLst>
            <a:outerShdw sx="100000" sy="100000" kx="0" ky="0" algn="bl" rotWithShape="0" blurRad="127000" dist="38100" dir="5400000">
              <a:srgbClr val="1F1620">
                <a:alpha val="10000"/>
              </a:srgbClr>
            </a:outerShdw>
          </a:effectLst>
        </p:spPr>
      </p:sp>
      <p:sp>
        <p:nvSpPr>
          <p:cNvPr id="30" name="Text 28"/>
          <p:cNvSpPr txBox="1"/>
          <p:nvPr/>
        </p:nvSpPr>
        <p:spPr>
          <a:xfrm>
            <a:off x="914400" y="5458968"/>
            <a:ext cx="10360152" cy="530352"/>
          </a:xfrm>
          <a:prstGeom prst="rect">
            <a:avLst/>
          </a:prstGeom>
          <a:noFill/>
          <a:ln/>
        </p:spPr>
        <p:txBody>
          <a:bodyPr wrap="square" lIns="0" tIns="0" rIns="0" bIns="0" rtlCol="0" anchor="ctr"/>
          <a:lstStyle/>
          <a:p>
            <a:pPr indent="0" marL="0">
              <a:buNone/>
            </a:pPr>
            <a:r>
              <a:rPr lang="en-US" sz="1200" b="1" dirty="0">
                <a:solidFill>
                  <a:srgbClr val="1F1620"/>
                </a:solidFill>
                <a:latin typeface="Calibri" pitchFamily="34" charset="0"/>
                <a:ea typeface="Calibri" pitchFamily="34" charset="-122"/>
                <a:cs typeface="Calibri" pitchFamily="34" charset="-120"/>
              </a:rPr>
              <a:t>Not now:  </a:t>
            </a:r>
            <a:pPr indent="0" marL="0">
              <a:buNone/>
            </a:pPr>
            <a:r>
              <a:rPr lang="en-US" sz="1200" dirty="0">
                <a:solidFill>
                  <a:srgbClr val="6E5E66"/>
                </a:solidFill>
                <a:latin typeface="Calibri" pitchFamily="34" charset="0"/>
                <a:ea typeface="Calibri" pitchFamily="34" charset="-122"/>
                <a:cs typeface="Calibri" pitchFamily="34" charset="-120"/>
              </a:rPr>
              <a:t>an AI chat assistant. The filters already fit the category — the fix is using them at the right moment.</a:t>
            </a:r>
            <a:endParaRPr lang="en-US" sz="1200" dirty="0"/>
          </a:p>
        </p:txBody>
      </p:sp>
      <p:sp>
        <p:nvSpPr>
          <p:cNvPr id="31" name="Text 29"/>
          <p:cNvSpPr txBox="1"/>
          <p:nvPr/>
        </p:nvSpPr>
        <p:spPr>
          <a:xfrm>
            <a:off x="640080" y="6062472"/>
            <a:ext cx="10908792" cy="274320"/>
          </a:xfrm>
          <a:prstGeom prst="rect">
            <a:avLst/>
          </a:prstGeom>
          <a:noFill/>
          <a:ln/>
        </p:spPr>
        <p:txBody>
          <a:bodyPr wrap="square" lIns="0" tIns="0" rIns="0" bIns="0" rtlCol="0" anchor="ctr"/>
          <a:lstStyle/>
          <a:p>
            <a:pPr indent="0" marL="0">
              <a:buNone/>
            </a:pPr>
            <a:r>
              <a:rPr lang="en-US" sz="1050" i="1" dirty="0">
                <a:solidFill>
                  <a:srgbClr val="6E5E66"/>
                </a:solidFill>
                <a:latin typeface="Calibri" pitchFamily="34" charset="0"/>
                <a:ea typeface="Calibri" pitchFamily="34" charset="-122"/>
                <a:cs typeface="Calibri" pitchFamily="34" charset="-120"/>
              </a:rPr>
              <a:t>Full table with problem-solved and metrics per row → appendix, slide 16.</a:t>
            </a:r>
            <a:endParaRPr lang="en-US" sz="1050" dirty="0"/>
          </a:p>
        </p:txBody>
      </p:sp>
      <p:sp>
        <p:nvSpPr>
          <p:cNvPr id="32" name="Text 30"/>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a:t>
            </a:r>
            <a:endParaRPr lang="en-US" sz="950" dirty="0"/>
          </a:p>
        </p:txBody>
      </p:sp>
      <p:sp>
        <p:nvSpPr>
          <p:cNvPr id="33" name="Text 31"/>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E6E3"/>
          </a:solidFill>
          <a:ln/>
        </p:spPr>
      </p:sp>
      <p:sp>
        <p:nvSpPr>
          <p:cNvPr id="3" name="Shape 1"/>
          <p:cNvSpPr/>
          <p:nvPr/>
        </p:nvSpPr>
        <p:spPr>
          <a:xfrm>
            <a:off x="9418320" y="873252"/>
            <a:ext cx="624215" cy="768096"/>
          </a:xfrm>
          <a:prstGeom prst="line">
            <a:avLst/>
          </a:prstGeom>
          <a:noFill/>
          <a:ln w="15875">
            <a:solidFill>
              <a:srgbClr val="6E5E66"/>
            </a:solidFill>
            <a:prstDash val="solid"/>
          </a:ln>
        </p:spPr>
      </p:sp>
      <p:sp>
        <p:nvSpPr>
          <p:cNvPr id="4" name="Shape 2"/>
          <p:cNvSpPr/>
          <p:nvPr/>
        </p:nvSpPr>
        <p:spPr>
          <a:xfrm flipV="1">
            <a:off x="10042535" y="873252"/>
            <a:ext cx="626090" cy="768096"/>
          </a:xfrm>
          <a:prstGeom prst="line">
            <a:avLst/>
          </a:prstGeom>
          <a:noFill/>
          <a:ln w="15875">
            <a:solidFill>
              <a:srgbClr val="6E5E66"/>
            </a:solidFill>
            <a:prstDash val="solid"/>
          </a:ln>
        </p:spPr>
      </p:sp>
      <p:sp>
        <p:nvSpPr>
          <p:cNvPr id="5" name="Shape 3"/>
          <p:cNvSpPr/>
          <p:nvPr/>
        </p:nvSpPr>
        <p:spPr>
          <a:xfrm>
            <a:off x="10668625" y="873252"/>
            <a:ext cx="624215" cy="768096"/>
          </a:xfrm>
          <a:prstGeom prst="line">
            <a:avLst/>
          </a:prstGeom>
          <a:noFill/>
          <a:ln w="15875">
            <a:solidFill>
              <a:srgbClr val="6E5E66"/>
            </a:solidFill>
            <a:prstDash val="solid"/>
          </a:ln>
        </p:spPr>
      </p:sp>
      <p:sp>
        <p:nvSpPr>
          <p:cNvPr id="6" name="Shape 4"/>
          <p:cNvSpPr/>
          <p:nvPr/>
        </p:nvSpPr>
        <p:spPr>
          <a:xfrm>
            <a:off x="9377172" y="832104"/>
            <a:ext cx="82296" cy="82296"/>
          </a:xfrm>
          <a:prstGeom prst="ellipse">
            <a:avLst/>
          </a:prstGeom>
          <a:solidFill>
            <a:srgbClr val="2F6F5E"/>
          </a:solidFill>
          <a:ln/>
        </p:spPr>
      </p:sp>
      <p:sp>
        <p:nvSpPr>
          <p:cNvPr id="7" name="Shape 5"/>
          <p:cNvSpPr/>
          <p:nvPr/>
        </p:nvSpPr>
        <p:spPr>
          <a:xfrm>
            <a:off x="10001387" y="1600200"/>
            <a:ext cx="82296" cy="82296"/>
          </a:xfrm>
          <a:prstGeom prst="ellipse">
            <a:avLst/>
          </a:prstGeom>
          <a:solidFill>
            <a:srgbClr val="A81E48"/>
          </a:solidFill>
          <a:ln/>
        </p:spPr>
      </p:sp>
      <p:sp>
        <p:nvSpPr>
          <p:cNvPr id="8" name="Shape 6"/>
          <p:cNvSpPr/>
          <p:nvPr/>
        </p:nvSpPr>
        <p:spPr>
          <a:xfrm>
            <a:off x="10627477" y="832104"/>
            <a:ext cx="82296" cy="82296"/>
          </a:xfrm>
          <a:prstGeom prst="ellipse">
            <a:avLst/>
          </a:prstGeom>
          <a:solidFill>
            <a:srgbClr val="2F6F5E"/>
          </a:solidFill>
          <a:ln/>
        </p:spPr>
      </p:sp>
      <p:sp>
        <p:nvSpPr>
          <p:cNvPr id="9" name="Shape 7"/>
          <p:cNvSpPr/>
          <p:nvPr/>
        </p:nvSpPr>
        <p:spPr>
          <a:xfrm>
            <a:off x="11251692" y="1600200"/>
            <a:ext cx="82296" cy="82296"/>
          </a:xfrm>
          <a:prstGeom prst="ellipse">
            <a:avLst/>
          </a:prstGeom>
          <a:solidFill>
            <a:srgbClr val="A81E48"/>
          </a:solidFill>
          <a:ln/>
        </p:spPr>
      </p:sp>
      <p:sp>
        <p:nvSpPr>
          <p:cNvPr id="10" name="Text 8"/>
          <p:cNvSpPr txBox="1"/>
          <p:nvPr/>
        </p:nvSpPr>
        <p:spPr>
          <a:xfrm>
            <a:off x="640080" y="1005840"/>
            <a:ext cx="7315200" cy="365760"/>
          </a:xfrm>
          <a:prstGeom prst="rect">
            <a:avLst/>
          </a:prstGeom>
          <a:noFill/>
          <a:ln/>
        </p:spPr>
        <p:txBody>
          <a:bodyPr wrap="square" lIns="0" tIns="0" rIns="0" bIns="0" rtlCol="0" anchor="ctr"/>
          <a:lstStyle/>
          <a:p>
            <a:pPr indent="0" marL="0">
              <a:buNone/>
            </a:pPr>
            <a:r>
              <a:rPr lang="en-US" sz="1300" b="1" spc="200" kern="0" dirty="0">
                <a:solidFill>
                  <a:srgbClr val="A81E48"/>
                </a:solidFill>
                <a:latin typeface="Calibri" pitchFamily="34" charset="0"/>
                <a:ea typeface="Calibri" pitchFamily="34" charset="-122"/>
                <a:cs typeface="Calibri" pitchFamily="34" charset="-120"/>
              </a:rPr>
              <a:t>IN CLOSE</a:t>
            </a:r>
            <a:endParaRPr lang="en-US" sz="1300" dirty="0"/>
          </a:p>
        </p:txBody>
      </p:sp>
      <p:sp>
        <p:nvSpPr>
          <p:cNvPr id="11" name="Text 9"/>
          <p:cNvSpPr txBox="1"/>
          <p:nvPr/>
        </p:nvSpPr>
        <p:spPr>
          <a:xfrm>
            <a:off x="640080" y="2331720"/>
            <a:ext cx="10332720" cy="1828800"/>
          </a:xfrm>
          <a:prstGeom prst="rect">
            <a:avLst/>
          </a:prstGeom>
          <a:noFill/>
          <a:ln/>
        </p:spPr>
        <p:txBody>
          <a:bodyPr wrap="square" lIns="0" tIns="0" rIns="0" bIns="0" rtlCol="0" anchor="ctr"/>
          <a:lstStyle/>
          <a:p>
            <a:pPr indent="0" marL="0">
              <a:lnSpc>
                <a:spcPct val="112000"/>
              </a:lnSpc>
              <a:buNone/>
            </a:pPr>
            <a:r>
              <a:rPr lang="en-US" sz="3600" b="1" dirty="0">
                <a:solidFill>
                  <a:srgbClr val="1F1620"/>
                </a:solidFill>
                <a:latin typeface="Cambria" pitchFamily="34" charset="0"/>
                <a:ea typeface="Cambria" pitchFamily="34" charset="-122"/>
                <a:cs typeface="Cambria" pitchFamily="34" charset="-120"/>
              </a:rPr>
              <a:t>Nykaa is a great shop window,</a:t>
            </a:r>
            <a:endParaRPr lang="en-US" sz="3600" dirty="0"/>
          </a:p>
          <a:p>
            <a:pPr indent="0" marL="0">
              <a:lnSpc>
                <a:spcPct val="112000"/>
              </a:lnSpc>
              <a:buNone/>
            </a:pPr>
            <a:r>
              <a:rPr lang="en-US" sz="3600" b="1" dirty="0">
                <a:solidFill>
                  <a:srgbClr val="1F1620"/>
                </a:solidFill>
                <a:latin typeface="Cambria" pitchFamily="34" charset="0"/>
                <a:ea typeface="Cambria" pitchFamily="34" charset="-122"/>
                <a:cs typeface="Cambria" pitchFamily="34" charset="-120"/>
              </a:rPr>
              <a:t>and a weaker personal shopper.</a:t>
            </a:r>
            <a:endParaRPr lang="en-US" sz="3600" dirty="0"/>
          </a:p>
        </p:txBody>
      </p:sp>
      <p:sp>
        <p:nvSpPr>
          <p:cNvPr id="12" name="Text 10"/>
          <p:cNvSpPr txBox="1"/>
          <p:nvPr/>
        </p:nvSpPr>
        <p:spPr>
          <a:xfrm>
            <a:off x="640080" y="4160520"/>
            <a:ext cx="9144000" cy="548640"/>
          </a:xfrm>
          <a:prstGeom prst="rect">
            <a:avLst/>
          </a:prstGeom>
          <a:noFill/>
          <a:ln/>
        </p:spPr>
        <p:txBody>
          <a:bodyPr wrap="square" lIns="0" tIns="0" rIns="0" bIns="0" rtlCol="0" anchor="ctr"/>
          <a:lstStyle/>
          <a:p>
            <a:pPr indent="0" marL="0">
              <a:buNone/>
            </a:pPr>
            <a:r>
              <a:rPr lang="en-US" sz="1700" i="1" dirty="0">
                <a:solidFill>
                  <a:srgbClr val="A81E48"/>
                </a:solidFill>
                <a:latin typeface="Calibri" pitchFamily="34" charset="0"/>
                <a:ea typeface="Calibri" pitchFamily="34" charset="-122"/>
                <a:cs typeface="Calibri" pitchFamily="34" charset="-120"/>
              </a:rPr>
              <a:t>The fastest wins are about using the data it already has — not adding a new surface.</a:t>
            </a:r>
            <a:endParaRPr lang="en-US" sz="1700" dirty="0"/>
          </a:p>
        </p:txBody>
      </p:sp>
      <p:sp>
        <p:nvSpPr>
          <p:cNvPr id="13" name="Text 11"/>
          <p:cNvSpPr txBox="1"/>
          <p:nvPr/>
        </p:nvSpPr>
        <p:spPr>
          <a:xfrm>
            <a:off x="640080" y="5577840"/>
            <a:ext cx="7315200" cy="365760"/>
          </a:xfrm>
          <a:prstGeom prst="rect">
            <a:avLst/>
          </a:prstGeom>
          <a:noFill/>
          <a:ln/>
        </p:spPr>
        <p:txBody>
          <a:bodyPr wrap="square" lIns="0" tIns="0" rIns="0" bIns="0" rtlCol="0" anchor="ctr"/>
          <a:lstStyle/>
          <a:p>
            <a:pPr indent="0" marL="0">
              <a:buNone/>
            </a:pPr>
            <a:r>
              <a:rPr lang="en-US" sz="1300" dirty="0">
                <a:solidFill>
                  <a:srgbClr val="6E5E66"/>
                </a:solidFill>
                <a:latin typeface="Calibri" pitchFamily="34" charset="0"/>
                <a:ea typeface="Calibri" pitchFamily="34" charset="-122"/>
                <a:cs typeface="Calibri" pitchFamily="34" charset="-120"/>
              </a:rPr>
              <a:t>Thank you — Praveen Veera</a:t>
            </a:r>
            <a:endParaRPr lang="en-US" sz="1300" dirty="0"/>
          </a:p>
        </p:txBody>
      </p:sp>
      <p:sp>
        <p:nvSpPr>
          <p:cNvPr id="14" name="Text 12"/>
          <p:cNvSpPr txBox="1"/>
          <p:nvPr/>
        </p:nvSpPr>
        <p:spPr>
          <a:xfrm>
            <a:off x="640080" y="5943600"/>
            <a:ext cx="9144000" cy="365760"/>
          </a:xfrm>
          <a:prstGeom prst="rect">
            <a:avLst/>
          </a:prstGeom>
          <a:noFill/>
          <a:ln/>
        </p:spPr>
        <p:txBody>
          <a:bodyPr wrap="square" lIns="0" tIns="0" rIns="0" bIns="0" rtlCol="0" anchor="ctr"/>
          <a:lstStyle/>
          <a:p>
            <a:pPr indent="0" marL="0">
              <a:buNone/>
            </a:pPr>
            <a:r>
              <a:rPr lang="en-US" sz="1150" i="1" dirty="0">
                <a:solidFill>
                  <a:srgbClr val="6E5E66"/>
                </a:solidFill>
                <a:latin typeface="Calibri" pitchFamily="34" charset="0"/>
                <a:ea typeface="Calibri" pitchFamily="34" charset="-122"/>
                <a:cs typeface="Calibri" pitchFamily="34" charset="-120"/>
              </a:rPr>
              <a:t>Appendix follows — full detail behind every claim in this story.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E6E3"/>
          </a:solidFill>
          <a:ln/>
        </p:spPr>
      </p:sp>
      <p:sp>
        <p:nvSpPr>
          <p:cNvPr id="3" name="Text 1"/>
          <p:cNvSpPr txBox="1"/>
          <p:nvPr/>
        </p:nvSpPr>
        <p:spPr>
          <a:xfrm>
            <a:off x="640080" y="2468880"/>
            <a:ext cx="10881360" cy="457200"/>
          </a:xfrm>
          <a:prstGeom prst="rect">
            <a:avLst/>
          </a:prstGeom>
          <a:noFill/>
          <a:ln/>
        </p:spPr>
        <p:txBody>
          <a:bodyPr wrap="square" lIns="0" tIns="0" rIns="0" bIns="0" rtlCol="0" anchor="ctr"/>
          <a:lstStyle/>
          <a:p>
            <a:pPr indent="0" marL="0">
              <a:buNone/>
            </a:pPr>
            <a:r>
              <a:rPr lang="en-US" sz="1400" b="1" spc="300" kern="0" dirty="0">
                <a:solidFill>
                  <a:srgbClr val="A81E48"/>
                </a:solidFill>
                <a:latin typeface="Calibri" pitchFamily="34" charset="0"/>
                <a:ea typeface="Calibri" pitchFamily="34" charset="-122"/>
                <a:cs typeface="Calibri" pitchFamily="34" charset="-120"/>
              </a:rPr>
              <a:t>APPENDIX</a:t>
            </a:r>
            <a:endParaRPr lang="en-US" sz="1400" dirty="0"/>
          </a:p>
        </p:txBody>
      </p:sp>
      <p:sp>
        <p:nvSpPr>
          <p:cNvPr id="4" name="Text 2"/>
          <p:cNvSpPr txBox="1"/>
          <p:nvPr/>
        </p:nvSpPr>
        <p:spPr>
          <a:xfrm>
            <a:off x="640080" y="2880360"/>
            <a:ext cx="10515600" cy="1005840"/>
          </a:xfrm>
          <a:prstGeom prst="rect">
            <a:avLst/>
          </a:prstGeom>
          <a:noFill/>
          <a:ln/>
        </p:spPr>
        <p:txBody>
          <a:bodyPr wrap="square" lIns="0" tIns="0" rIns="0" bIns="0" rtlCol="0" anchor="ctr"/>
          <a:lstStyle/>
          <a:p>
            <a:pPr indent="0" marL="0">
              <a:buNone/>
            </a:pPr>
            <a:r>
              <a:rPr lang="en-US" sz="3400" b="1" dirty="0">
                <a:solidFill>
                  <a:srgbClr val="1F1620"/>
                </a:solidFill>
                <a:latin typeface="Cambria" pitchFamily="34" charset="0"/>
                <a:ea typeface="Cambria" pitchFamily="34" charset="-122"/>
                <a:cs typeface="Cambria" pitchFamily="34" charset="-120"/>
              </a:rPr>
              <a:t>The full detail behind every slide in the story</a:t>
            </a:r>
            <a:endParaRPr lang="en-US" sz="3400" dirty="0"/>
          </a:p>
        </p:txBody>
      </p:sp>
      <p:sp>
        <p:nvSpPr>
          <p:cNvPr id="5" name="Text 3"/>
          <p:cNvSpPr txBox="1"/>
          <p:nvPr/>
        </p:nvSpPr>
        <p:spPr>
          <a:xfrm>
            <a:off x="640080" y="3794760"/>
            <a:ext cx="9601200" cy="457200"/>
          </a:xfrm>
          <a:prstGeom prst="rect">
            <a:avLst/>
          </a:prstGeom>
          <a:noFill/>
          <a:ln/>
        </p:spPr>
        <p:txBody>
          <a:bodyPr wrap="square" lIns="0" tIns="0" rIns="0" bIns="0" rtlCol="0" anchor="ctr"/>
          <a:lstStyle/>
          <a:p>
            <a:pPr indent="0" marL="0">
              <a:buNone/>
            </a:pPr>
            <a:r>
              <a:rPr lang="en-US" sz="1500" i="1" dirty="0">
                <a:solidFill>
                  <a:srgbClr val="6E5E66"/>
                </a:solidFill>
                <a:latin typeface="Calibri" pitchFamily="34" charset="0"/>
                <a:ea typeface="Calibri" pitchFamily="34" charset="-122"/>
                <a:cs typeface="Calibri" pitchFamily="34" charset="-120"/>
              </a:rPr>
              <a:t>Methodology · all five journeys, step by step · real screenshots · the complete recommendations table · limitations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METHODOLOGY</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How I tested this</a:t>
            </a:r>
            <a:endParaRPr lang="en-US" sz="2800" dirty="0"/>
          </a:p>
        </p:txBody>
      </p:sp>
      <p:sp>
        <p:nvSpPr>
          <p:cNvPr id="5" name="Shape 3"/>
          <p:cNvSpPr/>
          <p:nvPr/>
        </p:nvSpPr>
        <p:spPr>
          <a:xfrm>
            <a:off x="640080" y="1746504"/>
            <a:ext cx="457200" cy="457200"/>
          </a:xfrm>
          <a:prstGeom prst="ellipse">
            <a:avLst/>
          </a:prstGeom>
          <a:solidFill>
            <a:srgbClr val="A81E48"/>
          </a:solidFill>
          <a:ln/>
        </p:spPr>
      </p:sp>
      <p:sp>
        <p:nvSpPr>
          <p:cNvPr id="6" name="Text 4"/>
          <p:cNvSpPr txBox="1"/>
          <p:nvPr/>
        </p:nvSpPr>
        <p:spPr>
          <a:xfrm>
            <a:off x="640080" y="1746504"/>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Journeys A, B, C, E — as a guest.</a:t>
            </a:r>
            <a:endParaRPr lang="en-US" sz="1450" dirty="0"/>
          </a:p>
        </p:txBody>
      </p:sp>
      <p:sp>
        <p:nvSpPr>
          <p:cNvPr id="8" name="Text 6"/>
          <p:cNvSpPr txBox="1"/>
          <p:nvPr/>
        </p:nvSpPr>
        <p:spPr>
          <a:xfrm>
            <a:off x="1325880" y="1984248"/>
            <a:ext cx="10222992" cy="40233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Deliberately: a large share of real visits start before anyone logs in. This is what a first-time or occasional shopper actually sees.</a:t>
            </a:r>
            <a:endParaRPr lang="en-US" sz="1150" dirty="0"/>
          </a:p>
        </p:txBody>
      </p:sp>
      <p:sp>
        <p:nvSpPr>
          <p:cNvPr id="9" name="Shape 7"/>
          <p:cNvSpPr/>
          <p:nvPr/>
        </p:nvSpPr>
        <p:spPr>
          <a:xfrm>
            <a:off x="640080" y="2441448"/>
            <a:ext cx="10908792" cy="914"/>
          </a:xfrm>
          <a:prstGeom prst="line">
            <a:avLst/>
          </a:prstGeom>
          <a:noFill/>
          <a:ln w="12700">
            <a:solidFill>
              <a:srgbClr val="E4D5D2"/>
            </a:solidFill>
            <a:prstDash val="solid"/>
          </a:ln>
        </p:spPr>
      </p:sp>
      <p:sp>
        <p:nvSpPr>
          <p:cNvPr id="10" name="Shape 8"/>
          <p:cNvSpPr/>
          <p:nvPr/>
        </p:nvSpPr>
        <p:spPr>
          <a:xfrm>
            <a:off x="640080" y="2587752"/>
            <a:ext cx="457200" cy="457200"/>
          </a:xfrm>
          <a:prstGeom prst="ellipse">
            <a:avLst/>
          </a:prstGeom>
          <a:solidFill>
            <a:srgbClr val="2F6F5E"/>
          </a:solidFill>
          <a:ln/>
        </p:spPr>
      </p:sp>
      <p:sp>
        <p:nvSpPr>
          <p:cNvPr id="11" name="Text 9"/>
          <p:cNvSpPr txBox="1"/>
          <p:nvPr/>
        </p:nvSpPr>
        <p:spPr>
          <a:xfrm>
            <a:off x="640080" y="2587752"/>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496312"/>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Journey D, and everything about personalization — logged in.</a:t>
            </a:r>
            <a:endParaRPr lang="en-US" sz="1450" dirty="0"/>
          </a:p>
        </p:txBody>
      </p:sp>
      <p:sp>
        <p:nvSpPr>
          <p:cNvPr id="13" name="Text 11"/>
          <p:cNvSpPr txBox="1"/>
          <p:nvPr/>
        </p:nvSpPr>
        <p:spPr>
          <a:xfrm>
            <a:off x="1325880" y="2825496"/>
            <a:ext cx="10222992" cy="40233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On my own account, and with permission on a family member's account with several years of order history — so the finding doesn't rest on one thin account.</a:t>
            </a:r>
            <a:endParaRPr lang="en-US" sz="1150" dirty="0"/>
          </a:p>
        </p:txBody>
      </p:sp>
      <p:sp>
        <p:nvSpPr>
          <p:cNvPr id="14" name="Shape 12"/>
          <p:cNvSpPr/>
          <p:nvPr/>
        </p:nvSpPr>
        <p:spPr>
          <a:xfrm>
            <a:off x="640080" y="3282696"/>
            <a:ext cx="10908792" cy="914"/>
          </a:xfrm>
          <a:prstGeom prst="line">
            <a:avLst/>
          </a:prstGeom>
          <a:noFill/>
          <a:ln w="12700">
            <a:solidFill>
              <a:srgbClr val="E4D5D2"/>
            </a:solidFill>
            <a:prstDash val="solid"/>
          </a:ln>
        </p:spPr>
      </p:sp>
      <p:sp>
        <p:nvSpPr>
          <p:cNvPr id="15" name="Shape 13"/>
          <p:cNvSpPr/>
          <p:nvPr/>
        </p:nvSpPr>
        <p:spPr>
          <a:xfrm>
            <a:off x="640080" y="3429000"/>
            <a:ext cx="457200" cy="457200"/>
          </a:xfrm>
          <a:prstGeom prst="ellipse">
            <a:avLst/>
          </a:prstGeom>
          <a:solidFill>
            <a:srgbClr val="2F6F5E"/>
          </a:solidFill>
          <a:ln/>
        </p:spPr>
      </p:sp>
      <p:sp>
        <p:nvSpPr>
          <p:cNvPr id="16" name="Text 14"/>
          <p:cNvSpPr txBox="1"/>
          <p:nvPr/>
        </p:nvSpPr>
        <p:spPr>
          <a:xfrm>
            <a:off x="640080" y="342900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3337560"/>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Verified, not assumed.</a:t>
            </a:r>
            <a:endParaRPr lang="en-US" sz="1450" dirty="0"/>
          </a:p>
        </p:txBody>
      </p:sp>
      <p:sp>
        <p:nvSpPr>
          <p:cNvPr id="18" name="Text 16"/>
          <p:cNvSpPr txBox="1"/>
          <p:nvPr/>
        </p:nvSpPr>
        <p:spPr>
          <a:xfrm>
            <a:off x="1325880" y="3666744"/>
            <a:ext cx="10222992" cy="40233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Re-ran the Journey A search logged in on that same five-year account, to test whether login changes discovery. It didn't — identical down to the exact review counts (see Journey A).</a:t>
            </a:r>
            <a:endParaRPr lang="en-US" sz="1150" dirty="0"/>
          </a:p>
        </p:txBody>
      </p:sp>
      <p:sp>
        <p:nvSpPr>
          <p:cNvPr id="19" name="Shape 17"/>
          <p:cNvSpPr/>
          <p:nvPr/>
        </p:nvSpPr>
        <p:spPr>
          <a:xfrm>
            <a:off x="640080" y="4123944"/>
            <a:ext cx="10908792" cy="914"/>
          </a:xfrm>
          <a:prstGeom prst="line">
            <a:avLst/>
          </a:prstGeom>
          <a:noFill/>
          <a:ln w="12700">
            <a:solidFill>
              <a:srgbClr val="E4D5D2"/>
            </a:solidFill>
            <a:prstDash val="solid"/>
          </a:ln>
        </p:spPr>
      </p:sp>
      <p:sp>
        <p:nvSpPr>
          <p:cNvPr id="20" name="Shape 18"/>
          <p:cNvSpPr/>
          <p:nvPr/>
        </p:nvSpPr>
        <p:spPr>
          <a:xfrm>
            <a:off x="640080" y="4270248"/>
            <a:ext cx="457200" cy="457200"/>
          </a:xfrm>
          <a:prstGeom prst="ellipse">
            <a:avLst/>
          </a:prstGeom>
          <a:solidFill>
            <a:srgbClr val="A81E48"/>
          </a:solidFill>
          <a:ln/>
        </p:spPr>
      </p:sp>
      <p:sp>
        <p:nvSpPr>
          <p:cNvPr id="21" name="Text 19"/>
          <p:cNvSpPr txBox="1"/>
          <p:nvPr/>
        </p:nvSpPr>
        <p:spPr>
          <a:xfrm>
            <a:off x="640080" y="4270248"/>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325880" y="4178808"/>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Every number re-checked live on the day of writing.</a:t>
            </a:r>
            <a:endParaRPr lang="en-US" sz="1450" dirty="0"/>
          </a:p>
        </p:txBody>
      </p:sp>
      <p:sp>
        <p:nvSpPr>
          <p:cNvPr id="23" name="Text 21"/>
          <p:cNvSpPr txBox="1"/>
          <p:nvPr/>
        </p:nvSpPr>
        <p:spPr>
          <a:xfrm>
            <a:off x="1325880" y="4507992"/>
            <a:ext cx="10222992" cy="40233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Result counts, prices and ad placements were confirmed in real time, not pulled from memory or an earlier run.</a:t>
            </a:r>
            <a:endParaRPr lang="en-US" sz="1150" dirty="0"/>
          </a:p>
        </p:txBody>
      </p:sp>
      <p:sp>
        <p:nvSpPr>
          <p:cNvPr id="24" name="Shape 22"/>
          <p:cNvSpPr/>
          <p:nvPr/>
        </p:nvSpPr>
        <p:spPr>
          <a:xfrm>
            <a:off x="640080" y="4965192"/>
            <a:ext cx="10908792" cy="914"/>
          </a:xfrm>
          <a:prstGeom prst="line">
            <a:avLst/>
          </a:prstGeom>
          <a:noFill/>
          <a:ln w="12700">
            <a:solidFill>
              <a:srgbClr val="E4D5D2"/>
            </a:solidFill>
            <a:prstDash val="solid"/>
          </a:ln>
        </p:spPr>
      </p:sp>
      <p:sp>
        <p:nvSpPr>
          <p:cNvPr id="25" name="Shape 23"/>
          <p:cNvSpPr/>
          <p:nvPr/>
        </p:nvSpPr>
        <p:spPr>
          <a:xfrm>
            <a:off x="640080" y="5111496"/>
            <a:ext cx="457200" cy="457200"/>
          </a:xfrm>
          <a:prstGeom prst="ellipse">
            <a:avLst/>
          </a:prstGeom>
          <a:solidFill>
            <a:srgbClr val="2F6F5E"/>
          </a:solidFill>
          <a:ln/>
        </p:spPr>
      </p:sp>
      <p:sp>
        <p:nvSpPr>
          <p:cNvPr id="26" name="Text 24"/>
          <p:cNvSpPr txBox="1"/>
          <p:nvPr/>
        </p:nvSpPr>
        <p:spPr>
          <a:xfrm>
            <a:off x="640080" y="5111496"/>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7" name="Text 25"/>
          <p:cNvSpPr txBox="1"/>
          <p:nvPr/>
        </p:nvSpPr>
        <p:spPr>
          <a:xfrm>
            <a:off x="1325880" y="5020056"/>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Two interviews, outside product and design.</a:t>
            </a:r>
            <a:endParaRPr lang="en-US" sz="1450" dirty="0"/>
          </a:p>
        </p:txBody>
      </p:sp>
      <p:sp>
        <p:nvSpPr>
          <p:cNvPr id="28" name="Text 26"/>
          <p:cNvSpPr txBox="1"/>
          <p:nvPr/>
        </p:nvSpPr>
        <p:spPr>
          <a:xfrm>
            <a:off x="1325880" y="5349240"/>
            <a:ext cx="10222992" cy="402336"/>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About their own real Nykaa experience — one frequent shopper, one occasional.</a:t>
            </a:r>
            <a:endParaRPr lang="en-US" sz="1150" dirty="0"/>
          </a:p>
        </p:txBody>
      </p:sp>
      <p:sp>
        <p:nvSpPr>
          <p:cNvPr id="29" name="Text 27"/>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30" name="Text 28"/>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JOURNEY A</a:t>
            </a:r>
            <a:endParaRPr lang="en-US" sz="1200" dirty="0"/>
          </a:p>
        </p:txBody>
      </p:sp>
      <p:sp>
        <p:nvSpPr>
          <p:cNvPr id="4" name="Text 2"/>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Moisturizer for dry, sensitive skin, under ₹800</a:t>
            </a:r>
            <a:endParaRPr lang="en-US" sz="2500" dirty="0"/>
          </a:p>
        </p:txBody>
      </p:sp>
      <p:sp>
        <p:nvSpPr>
          <p:cNvPr id="5" name="Shape 3"/>
          <p:cNvSpPr/>
          <p:nvPr/>
        </p:nvSpPr>
        <p:spPr>
          <a:xfrm>
            <a:off x="640080" y="1728216"/>
            <a:ext cx="457200" cy="457200"/>
          </a:xfrm>
          <a:prstGeom prst="ellipse">
            <a:avLst/>
          </a:prstGeom>
          <a:solidFill>
            <a:srgbClr val="A81E48"/>
          </a:solidFill>
          <a:ln/>
        </p:spPr>
      </p:sp>
      <p:sp>
        <p:nvSpPr>
          <p:cNvPr id="6" name="Text 4"/>
          <p:cNvSpPr txBox="1"/>
          <p:nvPr/>
        </p:nvSpPr>
        <p:spPr>
          <a:xfrm>
            <a:off x="640080" y="1728216"/>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Opened home, then searched “moisturizer dry sensitive skin”</a:t>
            </a:r>
            <a:endParaRPr lang="en-US" sz="1450" dirty="0"/>
          </a:p>
        </p:txBody>
      </p:sp>
      <p:sp>
        <p:nvSpPr>
          <p:cNvPr id="8" name="Text 6"/>
          <p:cNvSpPr txBox="1"/>
          <p:nvPr/>
        </p:nvSpPr>
        <p:spPr>
          <a:xfrm>
            <a:off x="1325880" y="1984248"/>
            <a:ext cx="10222992" cy="274320"/>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CONFUSING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Home is noisy first — banners, app QR, a countdown timer. Search itself is fast, query stays visible.</a:t>
            </a:r>
            <a:endParaRPr lang="en-US" sz="1150" dirty="0"/>
          </a:p>
        </p:txBody>
      </p:sp>
      <p:sp>
        <p:nvSpPr>
          <p:cNvPr id="9" name="Shape 7"/>
          <p:cNvSpPr/>
          <p:nvPr/>
        </p:nvSpPr>
        <p:spPr>
          <a:xfrm>
            <a:off x="640080" y="2313432"/>
            <a:ext cx="10908792" cy="914"/>
          </a:xfrm>
          <a:prstGeom prst="line">
            <a:avLst/>
          </a:prstGeom>
          <a:noFill/>
          <a:ln w="12700">
            <a:solidFill>
              <a:srgbClr val="E4D5D2"/>
            </a:solidFill>
            <a:prstDash val="solid"/>
          </a:ln>
        </p:spPr>
      </p:sp>
      <p:sp>
        <p:nvSpPr>
          <p:cNvPr id="10" name="Shape 8"/>
          <p:cNvSpPr/>
          <p:nvPr/>
        </p:nvSpPr>
        <p:spPr>
          <a:xfrm>
            <a:off x="640080" y="2441448"/>
            <a:ext cx="457200" cy="457200"/>
          </a:xfrm>
          <a:prstGeom prst="ellipse">
            <a:avLst/>
          </a:prstGeom>
          <a:solidFill>
            <a:srgbClr val="A81E48"/>
          </a:solidFill>
          <a:ln/>
        </p:spPr>
      </p:sp>
      <p:sp>
        <p:nvSpPr>
          <p:cNvPr id="11" name="Text 9"/>
          <p:cNvSpPr txBox="1"/>
          <p:nvPr/>
        </p:nvSpPr>
        <p:spPr>
          <a:xfrm>
            <a:off x="640080" y="2441448"/>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368296"/>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Looked through the results — 696 of them</a:t>
            </a:r>
            <a:endParaRPr lang="en-US" sz="1450" dirty="0"/>
          </a:p>
        </p:txBody>
      </p:sp>
      <p:sp>
        <p:nvSpPr>
          <p:cNvPr id="13" name="Text 11"/>
          <p:cNvSpPr txBox="1"/>
          <p:nvPr/>
        </p:nvSpPr>
        <p:spPr>
          <a:xfrm>
            <a:off x="1325880" y="2697480"/>
            <a:ext cx="10222992" cy="274320"/>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Top result: a ₹3,565 ad; further down, ads up to ₹6,600 — 4–8× my budget. Cards themselves are strong: badge, rating, price at a glance.</a:t>
            </a:r>
            <a:endParaRPr lang="en-US" sz="1150" dirty="0"/>
          </a:p>
        </p:txBody>
      </p:sp>
      <p:sp>
        <p:nvSpPr>
          <p:cNvPr id="14" name="Shape 12"/>
          <p:cNvSpPr/>
          <p:nvPr/>
        </p:nvSpPr>
        <p:spPr>
          <a:xfrm>
            <a:off x="640080" y="3026664"/>
            <a:ext cx="10908792" cy="914"/>
          </a:xfrm>
          <a:prstGeom prst="line">
            <a:avLst/>
          </a:prstGeom>
          <a:noFill/>
          <a:ln w="12700">
            <a:solidFill>
              <a:srgbClr val="E4D5D2"/>
            </a:solidFill>
            <a:prstDash val="solid"/>
          </a:ln>
        </p:spPr>
      </p:sp>
      <p:sp>
        <p:nvSpPr>
          <p:cNvPr id="15" name="Shape 13"/>
          <p:cNvSpPr/>
          <p:nvPr/>
        </p:nvSpPr>
        <p:spPr>
          <a:xfrm>
            <a:off x="640080" y="3154680"/>
            <a:ext cx="457200" cy="457200"/>
          </a:xfrm>
          <a:prstGeom prst="ellipse">
            <a:avLst/>
          </a:prstGeom>
          <a:solidFill>
            <a:srgbClr val="2F6F5E"/>
          </a:solidFill>
          <a:ln/>
        </p:spPr>
      </p:sp>
      <p:sp>
        <p:nvSpPr>
          <p:cNvPr id="16" name="Text 14"/>
          <p:cNvSpPr txBox="1"/>
          <p:nvPr/>
        </p:nvSpPr>
        <p:spPr>
          <a:xfrm>
            <a:off x="640080" y="315468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3081528"/>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Applied a price filter</a:t>
            </a:r>
            <a:endParaRPr lang="en-US" sz="1450" dirty="0"/>
          </a:p>
        </p:txBody>
      </p:sp>
      <p:sp>
        <p:nvSpPr>
          <p:cNvPr id="18" name="Text 16"/>
          <p:cNvSpPr txBox="1"/>
          <p:nvPr/>
        </p:nvSpPr>
        <p:spPr>
          <a:xfrm>
            <a:off x="1325880" y="3410712"/>
            <a:ext cx="10222992" cy="274320"/>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Worked immediately, no login wall — 696 dropped to 178. But nothing suggested that combination, and an ad still sat in position 1.</a:t>
            </a:r>
            <a:endParaRPr lang="en-US" sz="1150" dirty="0"/>
          </a:p>
        </p:txBody>
      </p:sp>
      <p:sp>
        <p:nvSpPr>
          <p:cNvPr id="19" name="Shape 17"/>
          <p:cNvSpPr/>
          <p:nvPr/>
        </p:nvSpPr>
        <p:spPr>
          <a:xfrm>
            <a:off x="640080" y="3739896"/>
            <a:ext cx="10908792" cy="914"/>
          </a:xfrm>
          <a:prstGeom prst="line">
            <a:avLst/>
          </a:prstGeom>
          <a:noFill/>
          <a:ln w="12700">
            <a:solidFill>
              <a:srgbClr val="E4D5D2"/>
            </a:solidFill>
            <a:prstDash val="solid"/>
          </a:ln>
        </p:spPr>
      </p:sp>
      <p:sp>
        <p:nvSpPr>
          <p:cNvPr id="20" name="Shape 18"/>
          <p:cNvSpPr/>
          <p:nvPr/>
        </p:nvSpPr>
        <p:spPr>
          <a:xfrm>
            <a:off x="640080" y="3867912"/>
            <a:ext cx="457200" cy="457200"/>
          </a:xfrm>
          <a:prstGeom prst="ellipse">
            <a:avLst/>
          </a:prstGeom>
          <a:solidFill>
            <a:srgbClr val="2F6F5E"/>
          </a:solidFill>
          <a:ln/>
        </p:spPr>
      </p:sp>
      <p:sp>
        <p:nvSpPr>
          <p:cNvPr id="21" name="Text 19"/>
          <p:cNvSpPr txBox="1"/>
          <p:nvPr/>
        </p:nvSpPr>
        <p:spPr>
          <a:xfrm>
            <a:off x="640080" y="3867912"/>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325880" y="3794760"/>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Added to bag and went to checkout</a:t>
            </a:r>
            <a:endParaRPr lang="en-US" sz="1450" dirty="0"/>
          </a:p>
        </p:txBody>
      </p:sp>
      <p:sp>
        <p:nvSpPr>
          <p:cNvPr id="23" name="Text 21"/>
          <p:cNvSpPr txBox="1"/>
          <p:nvPr/>
        </p:nvSpPr>
        <p:spPr>
          <a:xfrm>
            <a:off x="1325880" y="4123944"/>
            <a:ext cx="10222992" cy="274320"/>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Instant add-to-bag, a clear bag (coupons, points, ₹424 + ₹5 fee), a clean 3-step checkout.</a:t>
            </a:r>
            <a:endParaRPr lang="en-US" sz="1150" dirty="0"/>
          </a:p>
        </p:txBody>
      </p:sp>
      <p:sp>
        <p:nvSpPr>
          <p:cNvPr id="24" name="Shape 22"/>
          <p:cNvSpPr/>
          <p:nvPr/>
        </p:nvSpPr>
        <p:spPr>
          <a:xfrm>
            <a:off x="640080" y="4453128"/>
            <a:ext cx="10908792" cy="914"/>
          </a:xfrm>
          <a:prstGeom prst="line">
            <a:avLst/>
          </a:prstGeom>
          <a:noFill/>
          <a:ln w="12700">
            <a:solidFill>
              <a:srgbClr val="E4D5D2"/>
            </a:solidFill>
            <a:prstDash val="solid"/>
          </a:ln>
        </p:spPr>
      </p:sp>
      <p:sp>
        <p:nvSpPr>
          <p:cNvPr id="25" name="Shape 23"/>
          <p:cNvSpPr/>
          <p:nvPr/>
        </p:nvSpPr>
        <p:spPr>
          <a:xfrm>
            <a:off x="640080" y="4581144"/>
            <a:ext cx="457200" cy="457200"/>
          </a:xfrm>
          <a:prstGeom prst="ellipse">
            <a:avLst/>
          </a:prstGeom>
          <a:solidFill>
            <a:srgbClr val="A81E48"/>
          </a:solidFill>
          <a:ln/>
        </p:spPr>
      </p:sp>
      <p:sp>
        <p:nvSpPr>
          <p:cNvPr id="26" name="Text 24"/>
          <p:cNvSpPr txBox="1"/>
          <p:nvPr/>
        </p:nvSpPr>
        <p:spPr>
          <a:xfrm>
            <a:off x="640080" y="4581144"/>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7" name="Text 25"/>
          <p:cNvSpPr txBox="1"/>
          <p:nvPr/>
        </p:nvSpPr>
        <p:spPr>
          <a:xfrm>
            <a:off x="1325880" y="4507992"/>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Re-ran the same search logged in on the 5-year account</a:t>
            </a:r>
            <a:endParaRPr lang="en-US" sz="1450" dirty="0"/>
          </a:p>
        </p:txBody>
      </p:sp>
      <p:sp>
        <p:nvSpPr>
          <p:cNvPr id="28" name="Text 26"/>
          <p:cNvSpPr txBox="1"/>
          <p:nvPr/>
        </p:nvSpPr>
        <p:spPr>
          <a:xfrm>
            <a:off x="1325880" y="4837176"/>
            <a:ext cx="10222992" cy="274320"/>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Identical: same 696, same ₹3,565 ad, same 137,185 reviews on Dot &amp; Key. Five years of history changed nothing.</a:t>
            </a:r>
            <a:endParaRPr lang="en-US" sz="1150" dirty="0"/>
          </a:p>
        </p:txBody>
      </p:sp>
      <p:sp>
        <p:nvSpPr>
          <p:cNvPr id="29" name="Shape 27"/>
          <p:cNvSpPr/>
          <p:nvPr/>
        </p:nvSpPr>
        <p:spPr>
          <a:xfrm>
            <a:off x="640080" y="5321808"/>
            <a:ext cx="10908792" cy="914400"/>
          </a:xfrm>
          <a:prstGeom prst="roundRect">
            <a:avLst>
              <a:gd name="adj" fmla="val 12000"/>
            </a:avLst>
          </a:prstGeom>
          <a:solidFill>
            <a:srgbClr val="F1E6E3"/>
          </a:solidFill>
          <a:ln/>
          <a:effectLst>
            <a:outerShdw sx="100000" sy="100000" kx="0" ky="0" algn="bl" rotWithShape="0" blurRad="127000" dist="38100" dir="5400000">
              <a:srgbClr val="1F1620">
                <a:alpha val="10000"/>
              </a:srgbClr>
            </a:outerShdw>
          </a:effectLst>
        </p:spPr>
      </p:sp>
      <p:sp>
        <p:nvSpPr>
          <p:cNvPr id="30" name="Text 28"/>
          <p:cNvSpPr txBox="1"/>
          <p:nvPr/>
        </p:nvSpPr>
        <p:spPr>
          <a:xfrm>
            <a:off x="914400" y="5321808"/>
            <a:ext cx="10360152" cy="914400"/>
          </a:xfrm>
          <a:prstGeom prst="rect">
            <a:avLst/>
          </a:prstGeom>
          <a:noFill/>
          <a:ln/>
        </p:spPr>
        <p:txBody>
          <a:bodyPr wrap="square" lIns="0" tIns="0" rIns="0" bIns="0" rtlCol="0" anchor="ctr"/>
          <a:lstStyle/>
          <a:p>
            <a:pPr indent="0" marL="0">
              <a:lnSpc>
                <a:spcPct val="115000"/>
              </a:lnSpc>
              <a:buNone/>
            </a:pPr>
            <a:r>
              <a:rPr lang="en-US" sz="1100" b="1" spc="100" kern="0" dirty="0">
                <a:solidFill>
                  <a:srgbClr val="A81E48"/>
                </a:solidFill>
                <a:latin typeface="Calibri" pitchFamily="34" charset="0"/>
                <a:ea typeface="Calibri" pitchFamily="34" charset="-122"/>
                <a:cs typeface="Calibri" pitchFamily="34" charset="-120"/>
              </a:rPr>
              <a:t>My read   </a:t>
            </a:r>
            <a:pPr indent="0" marL="0">
              <a:lnSpc>
                <a:spcPct val="115000"/>
              </a:lnSpc>
              <a:buNone/>
            </a:pPr>
            <a:r>
              <a:rPr lang="en-US" sz="1250" dirty="0">
                <a:solidFill>
                  <a:srgbClr val="1F1620"/>
                </a:solidFill>
                <a:latin typeface="Calibri" pitchFamily="34" charset="0"/>
                <a:ea typeface="Calibri" pitchFamily="34" charset="-122"/>
                <a:cs typeface="Calibri" pitchFamily="34" charset="-120"/>
              </a:rPr>
              <a:t>Discovery and trust signals are strong, filters work once used, bag/checkout is genuinely good. The weak link is the middle — the platform makes me do all the narrowing, keeps ads on top even filtered, and being a known logged-in shopper doesn't change any of that.</a:t>
            </a:r>
            <a:endParaRPr lang="en-US" sz="1100" dirty="0"/>
          </a:p>
        </p:txBody>
      </p:sp>
      <p:sp>
        <p:nvSpPr>
          <p:cNvPr id="31" name="Text 29"/>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32" name="Text 30"/>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JOURNEY B</a:t>
            </a:r>
            <a:endParaRPr lang="en-US" sz="1200" dirty="0"/>
          </a:p>
        </p:txBody>
      </p:sp>
      <p:sp>
        <p:nvSpPr>
          <p:cNvPr id="4" name="Text 2"/>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Luxury gift set for a birthday, ₹2,000–₹5,000</a:t>
            </a:r>
            <a:endParaRPr lang="en-US" sz="2500" dirty="0"/>
          </a:p>
        </p:txBody>
      </p:sp>
      <p:sp>
        <p:nvSpPr>
          <p:cNvPr id="5" name="Shape 3"/>
          <p:cNvSpPr/>
          <p:nvPr/>
        </p:nvSpPr>
        <p:spPr>
          <a:xfrm>
            <a:off x="640080" y="1771650"/>
            <a:ext cx="457200" cy="457200"/>
          </a:xfrm>
          <a:prstGeom prst="ellipse">
            <a:avLst/>
          </a:prstGeom>
          <a:solidFill>
            <a:srgbClr val="2F6F5E"/>
          </a:solidFill>
          <a:ln/>
        </p:spPr>
      </p:sp>
      <p:sp>
        <p:nvSpPr>
          <p:cNvPr id="6" name="Text 4"/>
          <p:cNvSpPr txBox="1"/>
          <p:nvPr/>
        </p:nvSpPr>
        <p:spPr>
          <a:xfrm>
            <a:off x="640080" y="177165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Searched “luxury skincare gift set”</a:t>
            </a:r>
            <a:endParaRPr lang="en-US" sz="1450" dirty="0"/>
          </a:p>
        </p:txBody>
      </p:sp>
      <p:sp>
        <p:nvSpPr>
          <p:cNvPr id="8" name="Text 6"/>
          <p:cNvSpPr txBox="1"/>
          <p:nvPr/>
        </p:nvSpPr>
        <p:spPr>
          <a:xfrm>
            <a:off x="1325880" y="198424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91 results — feels like a shelf I can actually look through, not a warehouse.</a:t>
            </a:r>
            <a:endParaRPr lang="en-US" sz="1150" dirty="0"/>
          </a:p>
        </p:txBody>
      </p:sp>
      <p:sp>
        <p:nvSpPr>
          <p:cNvPr id="9" name="Shape 7"/>
          <p:cNvSpPr/>
          <p:nvPr/>
        </p:nvSpPr>
        <p:spPr>
          <a:xfrm>
            <a:off x="640080" y="2491740"/>
            <a:ext cx="10908792" cy="914"/>
          </a:xfrm>
          <a:prstGeom prst="line">
            <a:avLst/>
          </a:prstGeom>
          <a:noFill/>
          <a:ln w="12700">
            <a:solidFill>
              <a:srgbClr val="E4D5D2"/>
            </a:solidFill>
            <a:prstDash val="solid"/>
          </a:ln>
        </p:spPr>
      </p:sp>
      <p:sp>
        <p:nvSpPr>
          <p:cNvPr id="10" name="Shape 8"/>
          <p:cNvSpPr/>
          <p:nvPr/>
        </p:nvSpPr>
        <p:spPr>
          <a:xfrm>
            <a:off x="640080" y="2663190"/>
            <a:ext cx="457200" cy="457200"/>
          </a:xfrm>
          <a:prstGeom prst="ellipse">
            <a:avLst/>
          </a:prstGeom>
          <a:solidFill>
            <a:srgbClr val="2F6F5E"/>
          </a:solidFill>
          <a:ln/>
        </p:spPr>
      </p:sp>
      <p:sp>
        <p:nvSpPr>
          <p:cNvPr id="11" name="Text 9"/>
          <p:cNvSpPr txBox="1"/>
          <p:nvPr/>
        </p:nvSpPr>
        <p:spPr>
          <a:xfrm>
            <a:off x="640080" y="266319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54660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Scanned the cards</a:t>
            </a:r>
            <a:endParaRPr lang="en-US" sz="1450" dirty="0"/>
          </a:p>
        </p:txBody>
      </p:sp>
      <p:sp>
        <p:nvSpPr>
          <p:cNvPr id="13" name="Text 11"/>
          <p:cNvSpPr txBox="1"/>
          <p:nvPr/>
        </p:nvSpPr>
        <p:spPr>
          <a:xfrm>
            <a:off x="1325880" y="287578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“MOST GIFTED” and “BESTSELLER” badges, nice gift photography — reassuring when buying for someone else.</a:t>
            </a:r>
            <a:endParaRPr lang="en-US" sz="1150" dirty="0"/>
          </a:p>
        </p:txBody>
      </p:sp>
      <p:sp>
        <p:nvSpPr>
          <p:cNvPr id="14" name="Shape 12"/>
          <p:cNvSpPr/>
          <p:nvPr/>
        </p:nvSpPr>
        <p:spPr>
          <a:xfrm>
            <a:off x="640080" y="3383280"/>
            <a:ext cx="10908792" cy="914"/>
          </a:xfrm>
          <a:prstGeom prst="line">
            <a:avLst/>
          </a:prstGeom>
          <a:noFill/>
          <a:ln w="12700">
            <a:solidFill>
              <a:srgbClr val="E4D5D2"/>
            </a:solidFill>
            <a:prstDash val="solid"/>
          </a:ln>
        </p:spPr>
      </p:sp>
      <p:sp>
        <p:nvSpPr>
          <p:cNvPr id="15" name="Shape 13"/>
          <p:cNvSpPr/>
          <p:nvPr/>
        </p:nvSpPr>
        <p:spPr>
          <a:xfrm>
            <a:off x="640080" y="3554730"/>
            <a:ext cx="457200" cy="457200"/>
          </a:xfrm>
          <a:prstGeom prst="ellipse">
            <a:avLst/>
          </a:prstGeom>
          <a:solidFill>
            <a:srgbClr val="A81E48"/>
          </a:solidFill>
          <a:ln/>
        </p:spPr>
      </p:sp>
      <p:sp>
        <p:nvSpPr>
          <p:cNvPr id="16" name="Text 14"/>
          <p:cNvSpPr txBox="1"/>
          <p:nvPr/>
        </p:nvSpPr>
        <p:spPr>
          <a:xfrm>
            <a:off x="640080" y="355473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343814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Checked prices</a:t>
            </a:r>
            <a:endParaRPr lang="en-US" sz="1450" dirty="0"/>
          </a:p>
        </p:txBody>
      </p:sp>
      <p:sp>
        <p:nvSpPr>
          <p:cNvPr id="18" name="Text 16"/>
          <p:cNvSpPr txBox="1"/>
          <p:nvPr/>
        </p:nvSpPr>
        <p:spPr>
          <a:xfrm>
            <a:off x="1325880" y="376732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CONFUSING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Wide spread: ~₹600 to over ₹9,000. Several sets below my ₹2,000 floor; the ₹3,650 item on top is an ad, at least in budget.</a:t>
            </a:r>
            <a:endParaRPr lang="en-US" sz="1150" dirty="0"/>
          </a:p>
        </p:txBody>
      </p:sp>
      <p:sp>
        <p:nvSpPr>
          <p:cNvPr id="19" name="Shape 17"/>
          <p:cNvSpPr/>
          <p:nvPr/>
        </p:nvSpPr>
        <p:spPr>
          <a:xfrm>
            <a:off x="640080" y="4274820"/>
            <a:ext cx="10908792" cy="914"/>
          </a:xfrm>
          <a:prstGeom prst="line">
            <a:avLst/>
          </a:prstGeom>
          <a:noFill/>
          <a:ln w="12700">
            <a:solidFill>
              <a:srgbClr val="E4D5D2"/>
            </a:solidFill>
            <a:prstDash val="solid"/>
          </a:ln>
        </p:spPr>
      </p:sp>
      <p:sp>
        <p:nvSpPr>
          <p:cNvPr id="20" name="Shape 18"/>
          <p:cNvSpPr/>
          <p:nvPr/>
        </p:nvSpPr>
        <p:spPr>
          <a:xfrm>
            <a:off x="640080" y="4446270"/>
            <a:ext cx="457200" cy="457200"/>
          </a:xfrm>
          <a:prstGeom prst="ellipse">
            <a:avLst/>
          </a:prstGeom>
          <a:solidFill>
            <a:srgbClr val="A81E48"/>
          </a:solidFill>
          <a:ln/>
        </p:spPr>
      </p:sp>
      <p:sp>
        <p:nvSpPr>
          <p:cNvPr id="21" name="Text 19"/>
          <p:cNvSpPr txBox="1"/>
          <p:nvPr/>
        </p:nvSpPr>
        <p:spPr>
          <a:xfrm>
            <a:off x="640080" y="444627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325880" y="432968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Looked for delivery date and gift wrap</a:t>
            </a:r>
            <a:endParaRPr lang="en-US" sz="1450" dirty="0"/>
          </a:p>
        </p:txBody>
      </p:sp>
      <p:sp>
        <p:nvSpPr>
          <p:cNvPr id="23" name="Text 21"/>
          <p:cNvSpPr txBox="1"/>
          <p:nvPr/>
        </p:nvSpPr>
        <p:spPr>
          <a:xfrm>
            <a:off x="1325880" y="465886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CONFUSING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Neither shown on the results page or product card — only found deep in checkout, after already picking a set. Backwards timing for a gift.</a:t>
            </a:r>
            <a:endParaRPr lang="en-US" sz="1150" dirty="0"/>
          </a:p>
        </p:txBody>
      </p:sp>
      <p:sp>
        <p:nvSpPr>
          <p:cNvPr id="24" name="Shape 22"/>
          <p:cNvSpPr/>
          <p:nvPr/>
        </p:nvSpPr>
        <p:spPr>
          <a:xfrm>
            <a:off x="640080" y="5321808"/>
            <a:ext cx="10908792" cy="914400"/>
          </a:xfrm>
          <a:prstGeom prst="roundRect">
            <a:avLst>
              <a:gd name="adj" fmla="val 12000"/>
            </a:avLst>
          </a:prstGeom>
          <a:solidFill>
            <a:srgbClr val="F1E6E3"/>
          </a:solidFill>
          <a:ln/>
          <a:effectLst>
            <a:outerShdw sx="100000" sy="100000" kx="0" ky="0" algn="bl" rotWithShape="0" blurRad="127000" dist="38100" dir="5400000">
              <a:srgbClr val="1F1620">
                <a:alpha val="10000"/>
              </a:srgbClr>
            </a:outerShdw>
          </a:effectLst>
        </p:spPr>
      </p:sp>
      <p:sp>
        <p:nvSpPr>
          <p:cNvPr id="25" name="Text 23"/>
          <p:cNvSpPr txBox="1"/>
          <p:nvPr/>
        </p:nvSpPr>
        <p:spPr>
          <a:xfrm>
            <a:off x="914400" y="5321808"/>
            <a:ext cx="10360152" cy="914400"/>
          </a:xfrm>
          <a:prstGeom prst="rect">
            <a:avLst/>
          </a:prstGeom>
          <a:noFill/>
          <a:ln/>
        </p:spPr>
        <p:txBody>
          <a:bodyPr wrap="square" lIns="0" tIns="0" rIns="0" bIns="0" rtlCol="0" anchor="ctr"/>
          <a:lstStyle/>
          <a:p>
            <a:pPr indent="0" marL="0">
              <a:lnSpc>
                <a:spcPct val="115000"/>
              </a:lnSpc>
              <a:buNone/>
            </a:pPr>
            <a:r>
              <a:rPr lang="en-US" sz="1100" b="1" spc="100" kern="0" dirty="0">
                <a:solidFill>
                  <a:srgbClr val="A81E48"/>
                </a:solidFill>
                <a:latin typeface="Calibri" pitchFamily="34" charset="0"/>
                <a:ea typeface="Calibri" pitchFamily="34" charset="-122"/>
                <a:cs typeface="Calibri" pitchFamily="34" charset="-120"/>
              </a:rPr>
              <a:t>My read   </a:t>
            </a:r>
            <a:pPr indent="0" marL="0">
              <a:lnSpc>
                <a:spcPct val="115000"/>
              </a:lnSpc>
              <a:buNone/>
            </a:pPr>
            <a:r>
              <a:rPr lang="en-US" sz="1250" dirty="0">
                <a:solidFill>
                  <a:srgbClr val="1F1620"/>
                </a:solidFill>
                <a:latin typeface="Calibri" pitchFamily="34" charset="0"/>
                <a:ea typeface="Calibri" pitchFamily="34" charset="-122"/>
                <a:cs typeface="Calibri" pitchFamily="34" charset="-120"/>
              </a:rPr>
              <a:t>The best of the five for finding. A loose intent (“a gift set”) is exactly what Nykaa's curation and social proof are built for. The gap: the two gift-specific questions — arrival time, can it be wrapped — are answered too late.</a:t>
            </a:r>
            <a:endParaRPr lang="en-US" sz="1100" dirty="0"/>
          </a:p>
        </p:txBody>
      </p:sp>
      <p:sp>
        <p:nvSpPr>
          <p:cNvPr id="26" name="Text 24"/>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7" name="Text 25"/>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JOURNEY C</a:t>
            </a:r>
            <a:endParaRPr lang="en-US" sz="1200" dirty="0"/>
          </a:p>
        </p:txBody>
      </p:sp>
      <p:sp>
        <p:nvSpPr>
          <p:cNvPr id="4" name="Text 2"/>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My first everyday lipstick, under ₹500</a:t>
            </a:r>
            <a:endParaRPr lang="en-US" sz="2500" dirty="0"/>
          </a:p>
        </p:txBody>
      </p:sp>
      <p:sp>
        <p:nvSpPr>
          <p:cNvPr id="5" name="Shape 3"/>
          <p:cNvSpPr/>
          <p:nvPr/>
        </p:nvSpPr>
        <p:spPr>
          <a:xfrm>
            <a:off x="640080" y="1920240"/>
            <a:ext cx="457200" cy="457200"/>
          </a:xfrm>
          <a:prstGeom prst="ellipse">
            <a:avLst/>
          </a:prstGeom>
          <a:solidFill>
            <a:srgbClr val="2F6F5E"/>
          </a:solidFill>
          <a:ln/>
        </p:spPr>
      </p:sp>
      <p:sp>
        <p:nvSpPr>
          <p:cNvPr id="6" name="Text 4"/>
          <p:cNvSpPr txBox="1"/>
          <p:nvPr/>
        </p:nvSpPr>
        <p:spPr>
          <a:xfrm>
            <a:off x="640080" y="192024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Searched “lipstick everyday wear” — 108 results</a:t>
            </a:r>
            <a:endParaRPr lang="en-US" sz="1450" dirty="0"/>
          </a:p>
        </p:txBody>
      </p:sp>
      <p:sp>
        <p:nvSpPr>
          <p:cNvPr id="8" name="Text 6"/>
          <p:cNvSpPr txBox="1"/>
          <p:nvPr/>
        </p:nvSpPr>
        <p:spPr>
          <a:xfrm>
            <a:off x="1325880" y="198424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A manageable number, rich cards: “Available in 24–30 shades”, “MOST REORDERED”, huge review counts (one at 1.4M).</a:t>
            </a:r>
            <a:endParaRPr lang="en-US" sz="1150" dirty="0"/>
          </a:p>
        </p:txBody>
      </p:sp>
      <p:sp>
        <p:nvSpPr>
          <p:cNvPr id="9" name="Shape 7"/>
          <p:cNvSpPr/>
          <p:nvPr/>
        </p:nvSpPr>
        <p:spPr>
          <a:xfrm>
            <a:off x="640080" y="2788920"/>
            <a:ext cx="10908792" cy="914"/>
          </a:xfrm>
          <a:prstGeom prst="line">
            <a:avLst/>
          </a:prstGeom>
          <a:noFill/>
          <a:ln w="12700">
            <a:solidFill>
              <a:srgbClr val="E4D5D2"/>
            </a:solidFill>
            <a:prstDash val="solid"/>
          </a:ln>
        </p:spPr>
      </p:sp>
      <p:sp>
        <p:nvSpPr>
          <p:cNvPr id="10" name="Shape 8"/>
          <p:cNvSpPr/>
          <p:nvPr/>
        </p:nvSpPr>
        <p:spPr>
          <a:xfrm>
            <a:off x="640080" y="3108960"/>
            <a:ext cx="457200" cy="457200"/>
          </a:xfrm>
          <a:prstGeom prst="ellipse">
            <a:avLst/>
          </a:prstGeom>
          <a:solidFill>
            <a:srgbClr val="A81E48"/>
          </a:solidFill>
          <a:ln/>
        </p:spPr>
      </p:sp>
      <p:sp>
        <p:nvSpPr>
          <p:cNvPr id="11" name="Text 9"/>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84378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Looked for shade help — undertone guide, a quiz, “which shade suits me”</a:t>
            </a:r>
            <a:endParaRPr lang="en-US" sz="1450" dirty="0"/>
          </a:p>
        </p:txBody>
      </p:sp>
      <p:sp>
        <p:nvSpPr>
          <p:cNvPr id="13" name="Text 11"/>
          <p:cNvSpPr txBox="1"/>
          <p:nvPr/>
        </p:nvSpPr>
        <p:spPr>
          <a:xfrm>
            <a:off x="1325880" y="317296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Nothing on the results page. Popularity tells me it's a good product, not that it's the right colour for me.</a:t>
            </a:r>
            <a:endParaRPr lang="en-US" sz="1150" dirty="0"/>
          </a:p>
        </p:txBody>
      </p:sp>
      <p:sp>
        <p:nvSpPr>
          <p:cNvPr id="14" name="Shape 12"/>
          <p:cNvSpPr/>
          <p:nvPr/>
        </p:nvSpPr>
        <p:spPr>
          <a:xfrm>
            <a:off x="640080" y="3977640"/>
            <a:ext cx="10908792" cy="914"/>
          </a:xfrm>
          <a:prstGeom prst="line">
            <a:avLst/>
          </a:prstGeom>
          <a:noFill/>
          <a:ln w="12700">
            <a:solidFill>
              <a:srgbClr val="E4D5D2"/>
            </a:solidFill>
            <a:prstDash val="solid"/>
          </a:ln>
        </p:spPr>
      </p:sp>
      <p:sp>
        <p:nvSpPr>
          <p:cNvPr id="15" name="Shape 13"/>
          <p:cNvSpPr/>
          <p:nvPr/>
        </p:nvSpPr>
        <p:spPr>
          <a:xfrm>
            <a:off x="640080" y="4297680"/>
            <a:ext cx="457200" cy="457200"/>
          </a:xfrm>
          <a:prstGeom prst="ellipse">
            <a:avLst/>
          </a:prstGeom>
          <a:solidFill>
            <a:srgbClr val="A81E48"/>
          </a:solidFill>
          <a:ln/>
        </p:spPr>
      </p:sp>
      <p:sp>
        <p:nvSpPr>
          <p:cNvPr id="16" name="Text 14"/>
          <p:cNvSpPr txBox="1"/>
          <p:nvPr/>
        </p:nvSpPr>
        <p:spPr>
          <a:xfrm>
            <a:off x="640080" y="429768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403250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Realised I'd need to open each product page just to compare shades</a:t>
            </a:r>
            <a:endParaRPr lang="en-US" sz="1450" dirty="0"/>
          </a:p>
        </p:txBody>
      </p:sp>
      <p:sp>
        <p:nvSpPr>
          <p:cNvPr id="18" name="Text 16"/>
          <p:cNvSpPr txBox="1"/>
          <p:nvPr/>
        </p:nvSpPr>
        <p:spPr>
          <a:xfrm>
            <a:off x="1325880" y="436168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SLOW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An extra step per product, for the exact decision a beginner is least sure about.</a:t>
            </a:r>
            <a:endParaRPr lang="en-US" sz="1150" dirty="0"/>
          </a:p>
        </p:txBody>
      </p:sp>
      <p:sp>
        <p:nvSpPr>
          <p:cNvPr id="19" name="Shape 17"/>
          <p:cNvSpPr/>
          <p:nvPr/>
        </p:nvSpPr>
        <p:spPr>
          <a:xfrm>
            <a:off x="640080" y="5321808"/>
            <a:ext cx="10908792" cy="914400"/>
          </a:xfrm>
          <a:prstGeom prst="roundRect">
            <a:avLst>
              <a:gd name="adj" fmla="val 12000"/>
            </a:avLst>
          </a:prstGeom>
          <a:solidFill>
            <a:srgbClr val="F1E6E3"/>
          </a:solidFill>
          <a:ln/>
          <a:effectLst>
            <a:outerShdw sx="100000" sy="100000" kx="0" ky="0" algn="bl" rotWithShape="0" blurRad="127000" dist="38100" dir="5400000">
              <a:srgbClr val="1F1620">
                <a:alpha val="10000"/>
              </a:srgbClr>
            </a:outerShdw>
          </a:effectLst>
        </p:spPr>
      </p:sp>
      <p:sp>
        <p:nvSpPr>
          <p:cNvPr id="20" name="Text 18"/>
          <p:cNvSpPr txBox="1"/>
          <p:nvPr/>
        </p:nvSpPr>
        <p:spPr>
          <a:xfrm>
            <a:off x="914400" y="5321808"/>
            <a:ext cx="10360152" cy="914400"/>
          </a:xfrm>
          <a:prstGeom prst="rect">
            <a:avLst/>
          </a:prstGeom>
          <a:noFill/>
          <a:ln/>
        </p:spPr>
        <p:txBody>
          <a:bodyPr wrap="square" lIns="0" tIns="0" rIns="0" bIns="0" rtlCol="0" anchor="ctr"/>
          <a:lstStyle/>
          <a:p>
            <a:pPr indent="0" marL="0">
              <a:lnSpc>
                <a:spcPct val="115000"/>
              </a:lnSpc>
              <a:buNone/>
            </a:pPr>
            <a:r>
              <a:rPr lang="en-US" sz="1100" b="1" spc="100" kern="0" dirty="0">
                <a:solidFill>
                  <a:srgbClr val="A81E48"/>
                </a:solidFill>
                <a:latin typeface="Calibri" pitchFamily="34" charset="0"/>
                <a:ea typeface="Calibri" pitchFamily="34" charset="-122"/>
                <a:cs typeface="Calibri" pitchFamily="34" charset="-120"/>
              </a:rPr>
              <a:t>My read   </a:t>
            </a:r>
            <a:pPr indent="0" marL="0">
              <a:lnSpc>
                <a:spcPct val="115000"/>
              </a:lnSpc>
              <a:buNone/>
            </a:pPr>
            <a:r>
              <a:rPr lang="en-US" sz="1250" dirty="0">
                <a:solidFill>
                  <a:srgbClr val="1F1620"/>
                </a:solidFill>
                <a:latin typeface="Calibri" pitchFamily="34" charset="0"/>
                <a:ea typeface="Calibri" pitchFamily="34" charset="-122"/>
                <a:cs typeface="Calibri" pitchFamily="34" charset="-120"/>
              </a:rPr>
              <a:t>A personalization gap — same root problem as Journey D, at the product level instead of the account level. Nykaa can tell me what's popular; it can't tell me what's right for me. A wrong shade becomes a return later.</a:t>
            </a:r>
            <a:endParaRPr lang="en-US" sz="1100" dirty="0"/>
          </a:p>
        </p:txBody>
      </p:sp>
      <p:sp>
        <p:nvSpPr>
          <p:cNvPr id="21" name="Text 19"/>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2" name="Text 20"/>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JOURNEY D</a:t>
            </a:r>
            <a:endParaRPr lang="en-US" sz="1200" dirty="0"/>
          </a:p>
        </p:txBody>
      </p:sp>
      <p:sp>
        <p:nvSpPr>
          <p:cNvPr id="4" name="Text 2"/>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Come back as a logged-in shopper</a:t>
            </a:r>
            <a:endParaRPr lang="en-US" sz="2500" dirty="0"/>
          </a:p>
        </p:txBody>
      </p:sp>
      <p:sp>
        <p:nvSpPr>
          <p:cNvPr id="5" name="Shape 3"/>
          <p:cNvSpPr/>
          <p:nvPr/>
        </p:nvSpPr>
        <p:spPr>
          <a:xfrm>
            <a:off x="640080" y="1771650"/>
            <a:ext cx="457200" cy="457200"/>
          </a:xfrm>
          <a:prstGeom prst="ellipse">
            <a:avLst/>
          </a:prstGeom>
          <a:solidFill>
            <a:srgbClr val="A81E48"/>
          </a:solidFill>
          <a:ln/>
        </p:spPr>
      </p:sp>
      <p:sp>
        <p:nvSpPr>
          <p:cNvPr id="6" name="Text 4"/>
          <p:cNvSpPr txBox="1"/>
          <p:nvPr/>
        </p:nvSpPr>
        <p:spPr>
          <a:xfrm>
            <a:off x="640080" y="177165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Opened the home page, logged in</a:t>
            </a:r>
            <a:endParaRPr lang="en-US" sz="1450" dirty="0"/>
          </a:p>
        </p:txBody>
      </p:sp>
      <p:sp>
        <p:nvSpPr>
          <p:cNvPr id="8" name="Text 6"/>
          <p:cNvSpPr txBox="1"/>
          <p:nvPr/>
        </p:nvSpPr>
        <p:spPr>
          <a:xfrm>
            <a:off x="1325880" y="198424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On both accounts, the exact same page a logged-out visitor sees — no “Buy again”, no recently viewed, nothing tied to the shopper.</a:t>
            </a:r>
            <a:endParaRPr lang="en-US" sz="1150" dirty="0"/>
          </a:p>
        </p:txBody>
      </p:sp>
      <p:sp>
        <p:nvSpPr>
          <p:cNvPr id="9" name="Shape 7"/>
          <p:cNvSpPr/>
          <p:nvPr/>
        </p:nvSpPr>
        <p:spPr>
          <a:xfrm>
            <a:off x="640080" y="2491740"/>
            <a:ext cx="10908792" cy="914"/>
          </a:xfrm>
          <a:prstGeom prst="line">
            <a:avLst/>
          </a:prstGeom>
          <a:noFill/>
          <a:ln w="12700">
            <a:solidFill>
              <a:srgbClr val="E4D5D2"/>
            </a:solidFill>
            <a:prstDash val="solid"/>
          </a:ln>
        </p:spPr>
      </p:sp>
      <p:sp>
        <p:nvSpPr>
          <p:cNvPr id="10" name="Shape 8"/>
          <p:cNvSpPr/>
          <p:nvPr/>
        </p:nvSpPr>
        <p:spPr>
          <a:xfrm>
            <a:off x="640080" y="2663190"/>
            <a:ext cx="457200" cy="457200"/>
          </a:xfrm>
          <a:prstGeom prst="ellipse">
            <a:avLst/>
          </a:prstGeom>
          <a:solidFill>
            <a:srgbClr val="A81E48"/>
          </a:solidFill>
          <a:ln/>
        </p:spPr>
      </p:sp>
      <p:sp>
        <p:nvSpPr>
          <p:cNvPr id="11" name="Text 9"/>
          <p:cNvSpPr txBox="1"/>
          <p:nvPr/>
        </p:nvSpPr>
        <p:spPr>
          <a:xfrm>
            <a:off x="640080" y="266319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54660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Opened My Account → Orders (the account with history)</a:t>
            </a:r>
            <a:endParaRPr lang="en-US" sz="1450" dirty="0"/>
          </a:p>
        </p:txBody>
      </p:sp>
      <p:sp>
        <p:nvSpPr>
          <p:cNvPr id="13" name="Text 11"/>
          <p:cNvSpPr txBox="1"/>
          <p:nvPr/>
        </p:nvSpPr>
        <p:spPr>
          <a:xfrm>
            <a:off x="1325880" y="287578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Full order history, going back years, same staples recurring — but no “Reorder” or “Buy again” button anywhere. Tapping a past item opens the normal product page.</a:t>
            </a:r>
            <a:endParaRPr lang="en-US" sz="1150" dirty="0"/>
          </a:p>
        </p:txBody>
      </p:sp>
      <p:sp>
        <p:nvSpPr>
          <p:cNvPr id="14" name="Shape 12"/>
          <p:cNvSpPr/>
          <p:nvPr/>
        </p:nvSpPr>
        <p:spPr>
          <a:xfrm>
            <a:off x="640080" y="3383280"/>
            <a:ext cx="10908792" cy="914"/>
          </a:xfrm>
          <a:prstGeom prst="line">
            <a:avLst/>
          </a:prstGeom>
          <a:noFill/>
          <a:ln w="12700">
            <a:solidFill>
              <a:srgbClr val="E4D5D2"/>
            </a:solidFill>
            <a:prstDash val="solid"/>
          </a:ln>
        </p:spPr>
      </p:sp>
      <p:sp>
        <p:nvSpPr>
          <p:cNvPr id="15" name="Shape 13"/>
          <p:cNvSpPr/>
          <p:nvPr/>
        </p:nvSpPr>
        <p:spPr>
          <a:xfrm>
            <a:off x="640080" y="3554730"/>
            <a:ext cx="457200" cy="457200"/>
          </a:xfrm>
          <a:prstGeom prst="ellipse">
            <a:avLst/>
          </a:prstGeom>
          <a:solidFill>
            <a:srgbClr val="A81E48"/>
          </a:solidFill>
          <a:ln/>
        </p:spPr>
      </p:sp>
      <p:sp>
        <p:nvSpPr>
          <p:cNvPr id="16" name="Text 14"/>
          <p:cNvSpPr txBox="1"/>
          <p:nvPr/>
        </p:nvSpPr>
        <p:spPr>
          <a:xfrm>
            <a:off x="640080" y="355473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343814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Searched a category the shopper re-buys</a:t>
            </a:r>
            <a:endParaRPr lang="en-US" sz="1450" dirty="0"/>
          </a:p>
        </p:txBody>
      </p:sp>
      <p:sp>
        <p:nvSpPr>
          <p:cNvPr id="18" name="Text 16"/>
          <p:cNvSpPr txBox="1"/>
          <p:nvPr/>
        </p:nvSpPr>
        <p:spPr>
          <a:xfrm>
            <a:off x="1325880" y="376732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FRUSTRATING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Same popularity + sponsored order everyone gets. Her usual brand is not surfaced.</a:t>
            </a:r>
            <a:endParaRPr lang="en-US" sz="1150" dirty="0"/>
          </a:p>
        </p:txBody>
      </p:sp>
      <p:sp>
        <p:nvSpPr>
          <p:cNvPr id="19" name="Shape 17"/>
          <p:cNvSpPr/>
          <p:nvPr/>
        </p:nvSpPr>
        <p:spPr>
          <a:xfrm>
            <a:off x="640080" y="4274820"/>
            <a:ext cx="10908792" cy="914"/>
          </a:xfrm>
          <a:prstGeom prst="line">
            <a:avLst/>
          </a:prstGeom>
          <a:noFill/>
          <a:ln w="12700">
            <a:solidFill>
              <a:srgbClr val="E4D5D2"/>
            </a:solidFill>
            <a:prstDash val="solid"/>
          </a:ln>
        </p:spPr>
      </p:sp>
      <p:sp>
        <p:nvSpPr>
          <p:cNvPr id="20" name="Shape 18"/>
          <p:cNvSpPr/>
          <p:nvPr/>
        </p:nvSpPr>
        <p:spPr>
          <a:xfrm>
            <a:off x="640080" y="4446270"/>
            <a:ext cx="457200" cy="457200"/>
          </a:xfrm>
          <a:prstGeom prst="ellipse">
            <a:avLst/>
          </a:prstGeom>
          <a:solidFill>
            <a:srgbClr val="2F6F5E"/>
          </a:solidFill>
          <a:ln/>
        </p:spPr>
      </p:sp>
      <p:sp>
        <p:nvSpPr>
          <p:cNvPr id="21" name="Text 19"/>
          <p:cNvSpPr txBox="1"/>
          <p:nvPr/>
        </p:nvSpPr>
        <p:spPr>
          <a:xfrm>
            <a:off x="640080" y="444627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Text 20"/>
          <p:cNvSpPr txBox="1"/>
          <p:nvPr/>
        </p:nvSpPr>
        <p:spPr>
          <a:xfrm>
            <a:off x="1325880" y="432968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Opened the bag, then went to checkout</a:t>
            </a:r>
            <a:endParaRPr lang="en-US" sz="1450" dirty="0"/>
          </a:p>
        </p:txBody>
      </p:sp>
      <p:sp>
        <p:nvSpPr>
          <p:cNvPr id="23" name="Text 21"/>
          <p:cNvSpPr txBox="1"/>
          <p:nvPr/>
        </p:nvSpPr>
        <p:spPr>
          <a:xfrm>
            <a:off x="1325880" y="4658868"/>
            <a:ext cx="10222992" cy="45262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Slide-out with coupons, reward points, a clear price breakdown; a simple 3-step flow. Stopped before paying.</a:t>
            </a:r>
            <a:endParaRPr lang="en-US" sz="1150" dirty="0"/>
          </a:p>
        </p:txBody>
      </p:sp>
      <p:sp>
        <p:nvSpPr>
          <p:cNvPr id="24" name="Shape 22"/>
          <p:cNvSpPr/>
          <p:nvPr/>
        </p:nvSpPr>
        <p:spPr>
          <a:xfrm>
            <a:off x="640080" y="5321808"/>
            <a:ext cx="10908792" cy="914400"/>
          </a:xfrm>
          <a:prstGeom prst="roundRect">
            <a:avLst>
              <a:gd name="adj" fmla="val 12000"/>
            </a:avLst>
          </a:prstGeom>
          <a:solidFill>
            <a:srgbClr val="F1E6E3"/>
          </a:solidFill>
          <a:ln/>
          <a:effectLst>
            <a:outerShdw sx="100000" sy="100000" kx="0" ky="0" algn="bl" rotWithShape="0" blurRad="127000" dist="38100" dir="5400000">
              <a:srgbClr val="1F1620">
                <a:alpha val="10000"/>
              </a:srgbClr>
            </a:outerShdw>
          </a:effectLst>
        </p:spPr>
      </p:sp>
      <p:sp>
        <p:nvSpPr>
          <p:cNvPr id="25" name="Text 23"/>
          <p:cNvSpPr txBox="1"/>
          <p:nvPr/>
        </p:nvSpPr>
        <p:spPr>
          <a:xfrm>
            <a:off x="914400" y="5321808"/>
            <a:ext cx="10360152" cy="914400"/>
          </a:xfrm>
          <a:prstGeom prst="rect">
            <a:avLst/>
          </a:prstGeom>
          <a:noFill/>
          <a:ln/>
        </p:spPr>
        <p:txBody>
          <a:bodyPr wrap="square" lIns="0" tIns="0" rIns="0" bIns="0" rtlCol="0" anchor="ctr"/>
          <a:lstStyle/>
          <a:p>
            <a:pPr indent="0" marL="0">
              <a:lnSpc>
                <a:spcPct val="115000"/>
              </a:lnSpc>
              <a:buNone/>
            </a:pPr>
            <a:r>
              <a:rPr lang="en-US" sz="1100" b="1" spc="100" kern="0" dirty="0">
                <a:solidFill>
                  <a:srgbClr val="A81E48"/>
                </a:solidFill>
                <a:latin typeface="Calibri" pitchFamily="34" charset="0"/>
                <a:ea typeface="Calibri" pitchFamily="34" charset="-122"/>
                <a:cs typeface="Calibri" pitchFamily="34" charset="-120"/>
              </a:rPr>
              <a:t>My read   </a:t>
            </a:r>
            <a:pPr indent="0" marL="0">
              <a:lnSpc>
                <a:spcPct val="115000"/>
              </a:lnSpc>
              <a:buNone/>
            </a:pPr>
            <a:r>
              <a:rPr lang="en-US" sz="1250" dirty="0">
                <a:solidFill>
                  <a:srgbClr val="1F1620"/>
                </a:solidFill>
                <a:latin typeface="Calibri" pitchFamily="34" charset="0"/>
                <a:ea typeface="Calibri" pitchFamily="34" charset="-122"/>
                <a:cs typeface="Calibri" pitchFamily="34" charset="-120"/>
              </a:rPr>
              <a:t>The clearest version of the personalization gap in this report. Nykaa knows exactly who the returning shopper is — name, full order history, what she buys again and again — and spends none of it. A five-year customer gets the same experience as a stranger.</a:t>
            </a:r>
            <a:endParaRPr lang="en-US" sz="1100" dirty="0"/>
          </a:p>
        </p:txBody>
      </p:sp>
      <p:sp>
        <p:nvSpPr>
          <p:cNvPr id="26" name="Text 24"/>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7" name="Text 25"/>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JOURNEY E</a:t>
            </a:r>
            <a:endParaRPr lang="en-US" sz="1200" dirty="0"/>
          </a:p>
        </p:txBody>
      </p:sp>
      <p:sp>
        <p:nvSpPr>
          <p:cNvPr id="4" name="Text 2"/>
          <p:cNvSpPr txBox="1"/>
          <p:nvPr/>
        </p:nvSpPr>
        <p:spPr>
          <a:xfrm>
            <a:off x="640080" y="822960"/>
            <a:ext cx="10881360" cy="54864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Casual browse, no goal</a:t>
            </a:r>
            <a:endParaRPr lang="en-US" sz="2500" dirty="0"/>
          </a:p>
        </p:txBody>
      </p:sp>
      <p:sp>
        <p:nvSpPr>
          <p:cNvPr id="5" name="Shape 3"/>
          <p:cNvSpPr/>
          <p:nvPr/>
        </p:nvSpPr>
        <p:spPr>
          <a:xfrm>
            <a:off x="640080" y="1920240"/>
            <a:ext cx="457200" cy="457200"/>
          </a:xfrm>
          <a:prstGeom prst="ellipse">
            <a:avLst/>
          </a:prstGeom>
          <a:solidFill>
            <a:srgbClr val="2F6F5E"/>
          </a:solidFill>
          <a:ln/>
        </p:spPr>
      </p:sp>
      <p:sp>
        <p:nvSpPr>
          <p:cNvPr id="6" name="Text 4"/>
          <p:cNvSpPr txBox="1"/>
          <p:nvPr/>
        </p:nvSpPr>
        <p:spPr>
          <a:xfrm>
            <a:off x="640080" y="192024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Landed on home, just looking</a:t>
            </a:r>
            <a:endParaRPr lang="en-US" sz="1450" dirty="0"/>
          </a:p>
        </p:txBody>
      </p:sp>
      <p:sp>
        <p:nvSpPr>
          <p:cNvPr id="8" name="Text 6"/>
          <p:cNvSpPr txBox="1"/>
          <p:nvPr/>
        </p:nvSpPr>
        <p:spPr>
          <a:xfrm>
            <a:off x="1325880" y="198424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Pretty. Easy to tap into Makeup, Skin, or Offers.</a:t>
            </a:r>
            <a:endParaRPr lang="en-US" sz="1150" dirty="0"/>
          </a:p>
        </p:txBody>
      </p:sp>
      <p:sp>
        <p:nvSpPr>
          <p:cNvPr id="9" name="Shape 7"/>
          <p:cNvSpPr/>
          <p:nvPr/>
        </p:nvSpPr>
        <p:spPr>
          <a:xfrm>
            <a:off x="640080" y="2788920"/>
            <a:ext cx="10908792" cy="914"/>
          </a:xfrm>
          <a:prstGeom prst="line">
            <a:avLst/>
          </a:prstGeom>
          <a:noFill/>
          <a:ln w="12700">
            <a:solidFill>
              <a:srgbClr val="E4D5D2"/>
            </a:solidFill>
            <a:prstDash val="solid"/>
          </a:ln>
        </p:spPr>
      </p:sp>
      <p:sp>
        <p:nvSpPr>
          <p:cNvPr id="10" name="Shape 8"/>
          <p:cNvSpPr/>
          <p:nvPr/>
        </p:nvSpPr>
        <p:spPr>
          <a:xfrm>
            <a:off x="640080" y="3108960"/>
            <a:ext cx="457200" cy="457200"/>
          </a:xfrm>
          <a:prstGeom prst="ellipse">
            <a:avLst/>
          </a:prstGeom>
          <a:solidFill>
            <a:srgbClr val="2F6F5E"/>
          </a:solidFill>
          <a:ln/>
        </p:spPr>
      </p:sp>
      <p:sp>
        <p:nvSpPr>
          <p:cNvPr id="11" name="Text 9"/>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325880" y="284378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Looked at brand cards and the “Beauty Advice” tab</a:t>
            </a:r>
            <a:endParaRPr lang="en-US" sz="1450" dirty="0"/>
          </a:p>
        </p:txBody>
      </p:sp>
      <p:sp>
        <p:nvSpPr>
          <p:cNvPr id="13" name="Text 11"/>
          <p:cNvSpPr txBox="1"/>
          <p:nvPr/>
        </p:nvSpPr>
        <p:spPr>
          <a:xfrm>
            <a:off x="1325880" y="317296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2F6F5E"/>
                </a:solidFill>
                <a:latin typeface="Calibri" pitchFamily="34" charset="0"/>
                <a:ea typeface="Calibri" pitchFamily="34" charset="-122"/>
                <a:cs typeface="Calibri" pitchFamily="34" charset="-120"/>
              </a:rPr>
              <a:t>SMOOTH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Good for ideas and inspiration.</a:t>
            </a:r>
            <a:endParaRPr lang="en-US" sz="1150" dirty="0"/>
          </a:p>
        </p:txBody>
      </p:sp>
      <p:sp>
        <p:nvSpPr>
          <p:cNvPr id="14" name="Shape 12"/>
          <p:cNvSpPr/>
          <p:nvPr/>
        </p:nvSpPr>
        <p:spPr>
          <a:xfrm>
            <a:off x="640080" y="3977640"/>
            <a:ext cx="10908792" cy="914"/>
          </a:xfrm>
          <a:prstGeom prst="line">
            <a:avLst/>
          </a:prstGeom>
          <a:noFill/>
          <a:ln w="12700">
            <a:solidFill>
              <a:srgbClr val="E4D5D2"/>
            </a:solidFill>
            <a:prstDash val="solid"/>
          </a:ln>
        </p:spPr>
      </p:sp>
      <p:sp>
        <p:nvSpPr>
          <p:cNvPr id="15" name="Shape 13"/>
          <p:cNvSpPr/>
          <p:nvPr/>
        </p:nvSpPr>
        <p:spPr>
          <a:xfrm>
            <a:off x="640080" y="4297680"/>
            <a:ext cx="457200" cy="457200"/>
          </a:xfrm>
          <a:prstGeom prst="ellipse">
            <a:avLst/>
          </a:prstGeom>
          <a:solidFill>
            <a:srgbClr val="A81E48"/>
          </a:solidFill>
          <a:ln/>
        </p:spPr>
      </p:sp>
      <p:sp>
        <p:nvSpPr>
          <p:cNvPr id="16" name="Text 14"/>
          <p:cNvSpPr txBox="1"/>
          <p:nvPr/>
        </p:nvSpPr>
        <p:spPr>
          <a:xfrm>
            <a:off x="640080" y="429768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Text 15"/>
          <p:cNvSpPr txBox="1"/>
          <p:nvPr/>
        </p:nvSpPr>
        <p:spPr>
          <a:xfrm>
            <a:off x="1325880" y="403250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Noticed the pop-ups: app QR, countdown timer, “spend ₹7,000” nudge</a:t>
            </a:r>
            <a:endParaRPr lang="en-US" sz="1450" dirty="0"/>
          </a:p>
        </p:txBody>
      </p:sp>
      <p:sp>
        <p:nvSpPr>
          <p:cNvPr id="18" name="Text 16"/>
          <p:cNvSpPr txBox="1"/>
          <p:nvPr/>
        </p:nvSpPr>
        <p:spPr>
          <a:xfrm>
            <a:off x="1325880" y="4361688"/>
            <a:ext cx="10222992" cy="749808"/>
          </a:xfrm>
          <a:prstGeom prst="rect">
            <a:avLst/>
          </a:prstGeom>
          <a:noFill/>
          <a:ln/>
        </p:spPr>
        <p:txBody>
          <a:bodyPr wrap="square" lIns="0" tIns="0" rIns="0" bIns="0" rtlCol="0" anchor="t"/>
          <a:lstStyle/>
          <a:p>
            <a:pPr indent="0" marL="0">
              <a:lnSpc>
                <a:spcPct val="112000"/>
              </a:lnSpc>
              <a:buNone/>
            </a:pPr>
            <a:r>
              <a:rPr lang="en-US" sz="1000" b="1" spc="100" kern="0" dirty="0">
                <a:solidFill>
                  <a:srgbClr val="A81E48"/>
                </a:solidFill>
                <a:latin typeface="Calibri" pitchFamily="34" charset="0"/>
                <a:ea typeface="Calibri" pitchFamily="34" charset="-122"/>
                <a:cs typeface="Calibri" pitchFamily="34" charset="-120"/>
              </a:rPr>
              <a:t>CONFUSING   </a:t>
            </a:r>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Everything nudges “buy now.” No calm “just looking” mode.</a:t>
            </a:r>
            <a:endParaRPr lang="en-US" sz="1150" dirty="0"/>
          </a:p>
        </p:txBody>
      </p:sp>
      <p:sp>
        <p:nvSpPr>
          <p:cNvPr id="19" name="Shape 17"/>
          <p:cNvSpPr/>
          <p:nvPr/>
        </p:nvSpPr>
        <p:spPr>
          <a:xfrm>
            <a:off x="640080" y="5321808"/>
            <a:ext cx="10908792" cy="914400"/>
          </a:xfrm>
          <a:prstGeom prst="roundRect">
            <a:avLst>
              <a:gd name="adj" fmla="val 12000"/>
            </a:avLst>
          </a:prstGeom>
          <a:solidFill>
            <a:srgbClr val="F1E6E3"/>
          </a:solidFill>
          <a:ln/>
          <a:effectLst>
            <a:outerShdw sx="100000" sy="100000" kx="0" ky="0" algn="bl" rotWithShape="0" blurRad="127000" dist="38100" dir="5400000">
              <a:srgbClr val="1F1620">
                <a:alpha val="10000"/>
              </a:srgbClr>
            </a:outerShdw>
          </a:effectLst>
        </p:spPr>
      </p:sp>
      <p:sp>
        <p:nvSpPr>
          <p:cNvPr id="20" name="Text 18"/>
          <p:cNvSpPr txBox="1"/>
          <p:nvPr/>
        </p:nvSpPr>
        <p:spPr>
          <a:xfrm>
            <a:off x="914400" y="5321808"/>
            <a:ext cx="10360152" cy="914400"/>
          </a:xfrm>
          <a:prstGeom prst="rect">
            <a:avLst/>
          </a:prstGeom>
          <a:noFill/>
          <a:ln/>
        </p:spPr>
        <p:txBody>
          <a:bodyPr wrap="square" lIns="0" tIns="0" rIns="0" bIns="0" rtlCol="0" anchor="ctr"/>
          <a:lstStyle/>
          <a:p>
            <a:pPr indent="0" marL="0">
              <a:lnSpc>
                <a:spcPct val="115000"/>
              </a:lnSpc>
              <a:buNone/>
            </a:pPr>
            <a:r>
              <a:rPr lang="en-US" sz="1100" b="1" spc="100" kern="0" dirty="0">
                <a:solidFill>
                  <a:srgbClr val="A81E48"/>
                </a:solidFill>
                <a:latin typeface="Calibri" pitchFamily="34" charset="0"/>
                <a:ea typeface="Calibri" pitchFamily="34" charset="-122"/>
                <a:cs typeface="Calibri" pitchFamily="34" charset="-120"/>
              </a:rPr>
              <a:t>My read   </a:t>
            </a:r>
            <a:pPr indent="0" marL="0">
              <a:lnSpc>
                <a:spcPct val="115000"/>
              </a:lnSpc>
              <a:buNone/>
            </a:pPr>
            <a:r>
              <a:rPr lang="en-US" sz="1250" dirty="0">
                <a:solidFill>
                  <a:srgbClr val="1F1620"/>
                </a:solidFill>
                <a:latin typeface="Calibri" pitchFamily="34" charset="0"/>
                <a:ea typeface="Calibri" pitchFamily="34" charset="-122"/>
                <a:cs typeface="Calibri" pitchFamily="34" charset="-120"/>
              </a:rPr>
              <a:t>The one visitor the home page is designed for. But even she isn't personalized to — nothing remembers a repeat visit, no saved items resurfaced. The personalization gap is missing for all five personas, including this one.</a:t>
            </a:r>
            <a:endParaRPr lang="en-US" sz="1100" dirty="0"/>
          </a:p>
        </p:txBody>
      </p:sp>
      <p:sp>
        <p:nvSpPr>
          <p:cNvPr id="21" name="Text 19"/>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2" name="Text 20"/>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EVIDENCE</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What it actually looked like</a:t>
            </a:r>
            <a:endParaRPr lang="en-US" sz="2800" dirty="0"/>
          </a:p>
        </p:txBody>
      </p:sp>
      <p:sp>
        <p:nvSpPr>
          <p:cNvPr id="5" name="Text 3"/>
          <p:cNvSpPr txBox="1"/>
          <p:nvPr/>
        </p:nvSpPr>
        <p:spPr>
          <a:xfrm>
            <a:off x="640080" y="1417320"/>
            <a:ext cx="10908792" cy="320040"/>
          </a:xfrm>
          <a:prstGeom prst="rect">
            <a:avLst/>
          </a:prstGeom>
          <a:noFill/>
          <a:ln/>
        </p:spPr>
        <p:txBody>
          <a:bodyPr wrap="square" lIns="0" tIns="0" rIns="0" bIns="0" rtlCol="0" anchor="ctr"/>
          <a:lstStyle/>
          <a:p>
            <a:pPr indent="0" marL="0">
              <a:buNone/>
            </a:pPr>
            <a:r>
              <a:rPr lang="en-US" sz="1250" i="1" dirty="0">
                <a:solidFill>
                  <a:srgbClr val="6E5E66"/>
                </a:solidFill>
                <a:latin typeface="Calibri" pitchFamily="34" charset="0"/>
                <a:ea typeface="Calibri" pitchFamily="34" charset="-122"/>
                <a:cs typeface="Calibri" pitchFamily="34" charset="-120"/>
              </a:rPr>
              <a:t>Real screenshots from the sessions above — not mockups.</a:t>
            </a:r>
            <a:endParaRPr lang="en-US" sz="1250" dirty="0"/>
          </a:p>
        </p:txBody>
      </p:sp>
      <p:sp>
        <p:nvSpPr>
          <p:cNvPr id="6" name="Shape 4"/>
          <p:cNvSpPr/>
          <p:nvPr/>
        </p:nvSpPr>
        <p:spPr>
          <a:xfrm>
            <a:off x="640080" y="1965960"/>
            <a:ext cx="2535174" cy="1584484"/>
          </a:xfrm>
          <a:prstGeom prst="rect">
            <a:avLst/>
          </a:prstGeom>
          <a:solidFill>
            <a:srgbClr val="FFFFFF"/>
          </a:solidFill>
          <a:ln w="12700">
            <a:solidFill>
              <a:srgbClr val="E4D5D2"/>
            </a:solidFill>
            <a:prstDash val="solid"/>
          </a:ln>
        </p:spPr>
      </p:sp>
      <p:pic>
        <p:nvPicPr>
          <p:cNvPr id="7" name="Image 0" descr="screenshots/bad/desktop-skincare-696-results-ad.png">    </p:cNvPr>
          <p:cNvPicPr>
            <a:picLocks noChangeAspect="1"/>
          </p:cNvPicPr>
          <p:nvPr/>
        </p:nvPicPr>
        <p:blipFill>
          <a:blip r:embed="rId1"/>
          <a:stretch>
            <a:fillRect/>
          </a:stretch>
        </p:blipFill>
        <p:spPr>
          <a:xfrm>
            <a:off x="640080" y="1965960"/>
            <a:ext cx="2535174" cy="1584484"/>
          </a:xfrm>
          <a:prstGeom prst="rect">
            <a:avLst/>
          </a:prstGeom>
        </p:spPr>
      </p:pic>
      <p:sp>
        <p:nvSpPr>
          <p:cNvPr id="8" name="Shape 5"/>
          <p:cNvSpPr/>
          <p:nvPr/>
        </p:nvSpPr>
        <p:spPr>
          <a:xfrm>
            <a:off x="640080" y="1965960"/>
            <a:ext cx="2535174" cy="1584484"/>
          </a:xfrm>
          <a:prstGeom prst="rect">
            <a:avLst/>
          </a:prstGeom>
          <a:ln w="12700">
            <a:solidFill>
              <a:srgbClr val="E4D5D2"/>
            </a:solidFill>
            <a:prstDash val="solid"/>
          </a:ln>
        </p:spPr>
      </p:sp>
      <p:sp>
        <p:nvSpPr>
          <p:cNvPr id="9" name="Text 6"/>
          <p:cNvSpPr txBox="1"/>
          <p:nvPr/>
        </p:nvSpPr>
        <p:spPr>
          <a:xfrm>
            <a:off x="640080" y="3660172"/>
            <a:ext cx="2535174" cy="502920"/>
          </a:xfrm>
          <a:prstGeom prst="rect">
            <a:avLst/>
          </a:prstGeom>
          <a:noFill/>
          <a:ln/>
        </p:spPr>
        <p:txBody>
          <a:bodyPr wrap="square" lIns="0" tIns="0" rIns="0" bIns="0" rtlCol="0" anchor="t"/>
          <a:lstStyle/>
          <a:p>
            <a:pPr indent="0" marL="0">
              <a:lnSpc>
                <a:spcPct val="110000"/>
              </a:lnSpc>
              <a:buNone/>
            </a:pPr>
            <a:r>
              <a:rPr lang="en-US" sz="1050" dirty="0">
                <a:solidFill>
                  <a:srgbClr val="6E5E66"/>
                </a:solidFill>
                <a:latin typeface="Calibri" pitchFamily="34" charset="0"/>
                <a:ea typeface="Calibri" pitchFamily="34" charset="-122"/>
                <a:cs typeface="Calibri" pitchFamily="34" charset="-120"/>
              </a:rPr>
              <a:t>Journey A — 696 results, a ₹3,565 ad on top</a:t>
            </a:r>
            <a:endParaRPr lang="en-US" sz="1050" dirty="0"/>
          </a:p>
        </p:txBody>
      </p:sp>
      <p:sp>
        <p:nvSpPr>
          <p:cNvPr id="10" name="Shape 7"/>
          <p:cNvSpPr/>
          <p:nvPr/>
        </p:nvSpPr>
        <p:spPr>
          <a:xfrm>
            <a:off x="3431286" y="1965960"/>
            <a:ext cx="2535174" cy="1584484"/>
          </a:xfrm>
          <a:prstGeom prst="rect">
            <a:avLst/>
          </a:prstGeom>
          <a:solidFill>
            <a:srgbClr val="FFFFFF"/>
          </a:solidFill>
          <a:ln w="12700">
            <a:solidFill>
              <a:srgbClr val="E4D5D2"/>
            </a:solidFill>
            <a:prstDash val="solid"/>
          </a:ln>
        </p:spPr>
      </p:sp>
      <p:pic>
        <p:nvPicPr>
          <p:cNvPr id="11" name="Image 1" descr="screenshots/good/gift-most-gifted-sets.png">    </p:cNvPr>
          <p:cNvPicPr>
            <a:picLocks noChangeAspect="1"/>
          </p:cNvPicPr>
          <p:nvPr/>
        </p:nvPicPr>
        <p:blipFill>
          <a:blip r:embed="rId2"/>
          <a:stretch>
            <a:fillRect/>
          </a:stretch>
        </p:blipFill>
        <p:spPr>
          <a:xfrm>
            <a:off x="3431286" y="1965960"/>
            <a:ext cx="2535174" cy="1584484"/>
          </a:xfrm>
          <a:prstGeom prst="rect">
            <a:avLst/>
          </a:prstGeom>
        </p:spPr>
      </p:pic>
      <p:sp>
        <p:nvSpPr>
          <p:cNvPr id="12" name="Shape 8"/>
          <p:cNvSpPr/>
          <p:nvPr/>
        </p:nvSpPr>
        <p:spPr>
          <a:xfrm>
            <a:off x="3431286" y="1965960"/>
            <a:ext cx="2535174" cy="1584484"/>
          </a:xfrm>
          <a:prstGeom prst="rect">
            <a:avLst/>
          </a:prstGeom>
          <a:ln w="12700">
            <a:solidFill>
              <a:srgbClr val="E4D5D2"/>
            </a:solidFill>
            <a:prstDash val="solid"/>
          </a:ln>
        </p:spPr>
      </p:sp>
      <p:sp>
        <p:nvSpPr>
          <p:cNvPr id="13" name="Text 9"/>
          <p:cNvSpPr txBox="1"/>
          <p:nvPr/>
        </p:nvSpPr>
        <p:spPr>
          <a:xfrm>
            <a:off x="3431286" y="3660172"/>
            <a:ext cx="2535174" cy="502920"/>
          </a:xfrm>
          <a:prstGeom prst="rect">
            <a:avLst/>
          </a:prstGeom>
          <a:noFill/>
          <a:ln/>
        </p:spPr>
        <p:txBody>
          <a:bodyPr wrap="square" lIns="0" tIns="0" rIns="0" bIns="0" rtlCol="0" anchor="t"/>
          <a:lstStyle/>
          <a:p>
            <a:pPr indent="0" marL="0">
              <a:lnSpc>
                <a:spcPct val="110000"/>
              </a:lnSpc>
              <a:buNone/>
            </a:pPr>
            <a:r>
              <a:rPr lang="en-US" sz="1050" dirty="0">
                <a:solidFill>
                  <a:srgbClr val="6E5E66"/>
                </a:solidFill>
                <a:latin typeface="Calibri" pitchFamily="34" charset="0"/>
                <a:ea typeface="Calibri" pitchFamily="34" charset="-122"/>
                <a:cs typeface="Calibri" pitchFamily="34" charset="-120"/>
              </a:rPr>
              <a:t>Journey B — 91 curated sets, “Most Gifted”</a:t>
            </a:r>
            <a:endParaRPr lang="en-US" sz="1050" dirty="0"/>
          </a:p>
        </p:txBody>
      </p:sp>
      <p:sp>
        <p:nvSpPr>
          <p:cNvPr id="14" name="Shape 10"/>
          <p:cNvSpPr/>
          <p:nvPr/>
        </p:nvSpPr>
        <p:spPr>
          <a:xfrm>
            <a:off x="6222492" y="1965960"/>
            <a:ext cx="2535174" cy="1584484"/>
          </a:xfrm>
          <a:prstGeom prst="rect">
            <a:avLst/>
          </a:prstGeom>
          <a:solidFill>
            <a:srgbClr val="FFFFFF"/>
          </a:solidFill>
          <a:ln w="12700">
            <a:solidFill>
              <a:srgbClr val="E4D5D2"/>
            </a:solidFill>
            <a:prstDash val="solid"/>
          </a:ln>
        </p:spPr>
      </p:sp>
      <p:pic>
        <p:nvPicPr>
          <p:cNvPr id="15" name="Image 2" descr="screenshots/good/makeup-shade-count-on-cards.png">    </p:cNvPr>
          <p:cNvPicPr>
            <a:picLocks noChangeAspect="1"/>
          </p:cNvPicPr>
          <p:nvPr/>
        </p:nvPicPr>
        <p:blipFill>
          <a:blip r:embed="rId3"/>
          <a:stretch>
            <a:fillRect/>
          </a:stretch>
        </p:blipFill>
        <p:spPr>
          <a:xfrm>
            <a:off x="6222492" y="1965960"/>
            <a:ext cx="2535174" cy="1584484"/>
          </a:xfrm>
          <a:prstGeom prst="rect">
            <a:avLst/>
          </a:prstGeom>
        </p:spPr>
      </p:pic>
      <p:sp>
        <p:nvSpPr>
          <p:cNvPr id="16" name="Shape 11"/>
          <p:cNvSpPr/>
          <p:nvPr/>
        </p:nvSpPr>
        <p:spPr>
          <a:xfrm>
            <a:off x="6222492" y="1965960"/>
            <a:ext cx="2535174" cy="1584484"/>
          </a:xfrm>
          <a:prstGeom prst="rect">
            <a:avLst/>
          </a:prstGeom>
          <a:ln w="12700">
            <a:solidFill>
              <a:srgbClr val="E4D5D2"/>
            </a:solidFill>
            <a:prstDash val="solid"/>
          </a:ln>
        </p:spPr>
      </p:sp>
      <p:sp>
        <p:nvSpPr>
          <p:cNvPr id="17" name="Text 12"/>
          <p:cNvSpPr txBox="1"/>
          <p:nvPr/>
        </p:nvSpPr>
        <p:spPr>
          <a:xfrm>
            <a:off x="6222492" y="3660172"/>
            <a:ext cx="2535174" cy="502920"/>
          </a:xfrm>
          <a:prstGeom prst="rect">
            <a:avLst/>
          </a:prstGeom>
          <a:noFill/>
          <a:ln/>
        </p:spPr>
        <p:txBody>
          <a:bodyPr wrap="square" lIns="0" tIns="0" rIns="0" bIns="0" rtlCol="0" anchor="t"/>
          <a:lstStyle/>
          <a:p>
            <a:pPr indent="0" marL="0">
              <a:lnSpc>
                <a:spcPct val="110000"/>
              </a:lnSpc>
              <a:buNone/>
            </a:pPr>
            <a:r>
              <a:rPr lang="en-US" sz="1050" dirty="0">
                <a:solidFill>
                  <a:srgbClr val="6E5E66"/>
                </a:solidFill>
                <a:latin typeface="Calibri" pitchFamily="34" charset="0"/>
                <a:ea typeface="Calibri" pitchFamily="34" charset="-122"/>
                <a:cs typeface="Calibri" pitchFamily="34" charset="-120"/>
              </a:rPr>
              <a:t>Journey C — 24+ shades, no shade help</a:t>
            </a:r>
            <a:endParaRPr lang="en-US" sz="1050" dirty="0"/>
          </a:p>
        </p:txBody>
      </p:sp>
      <p:sp>
        <p:nvSpPr>
          <p:cNvPr id="18" name="Shape 13"/>
          <p:cNvSpPr/>
          <p:nvPr/>
        </p:nvSpPr>
        <p:spPr>
          <a:xfrm>
            <a:off x="9013698" y="1965960"/>
            <a:ext cx="2535174" cy="1584484"/>
          </a:xfrm>
          <a:prstGeom prst="rect">
            <a:avLst/>
          </a:prstGeom>
          <a:solidFill>
            <a:srgbClr val="FFFFFF"/>
          </a:solidFill>
          <a:ln w="12700">
            <a:solidFill>
              <a:srgbClr val="E4D5D2"/>
            </a:solidFill>
            <a:prstDash val="solid"/>
          </a:ln>
        </p:spPr>
      </p:sp>
      <p:pic>
        <p:nvPicPr>
          <p:cNvPr id="19" name="Image 3" descr="screenshots/web/gift-luxury-01-home.png">    </p:cNvPr>
          <p:cNvPicPr>
            <a:picLocks noChangeAspect="1"/>
          </p:cNvPicPr>
          <p:nvPr/>
        </p:nvPicPr>
        <p:blipFill>
          <a:blip r:embed="rId4"/>
          <a:stretch>
            <a:fillRect/>
          </a:stretch>
        </p:blipFill>
        <p:spPr>
          <a:xfrm>
            <a:off x="9013698" y="1965960"/>
            <a:ext cx="2535174" cy="1584484"/>
          </a:xfrm>
          <a:prstGeom prst="rect">
            <a:avLst/>
          </a:prstGeom>
        </p:spPr>
      </p:pic>
      <p:sp>
        <p:nvSpPr>
          <p:cNvPr id="20" name="Shape 14"/>
          <p:cNvSpPr/>
          <p:nvPr/>
        </p:nvSpPr>
        <p:spPr>
          <a:xfrm>
            <a:off x="9013698" y="1965960"/>
            <a:ext cx="2535174" cy="1584484"/>
          </a:xfrm>
          <a:prstGeom prst="rect">
            <a:avLst/>
          </a:prstGeom>
          <a:ln w="12700">
            <a:solidFill>
              <a:srgbClr val="E4D5D2"/>
            </a:solidFill>
            <a:prstDash val="solid"/>
          </a:ln>
        </p:spPr>
      </p:sp>
      <p:sp>
        <p:nvSpPr>
          <p:cNvPr id="21" name="Text 15"/>
          <p:cNvSpPr txBox="1"/>
          <p:nvPr/>
        </p:nvSpPr>
        <p:spPr>
          <a:xfrm>
            <a:off x="9013698" y="3660172"/>
            <a:ext cx="2535174" cy="502920"/>
          </a:xfrm>
          <a:prstGeom prst="rect">
            <a:avLst/>
          </a:prstGeom>
          <a:noFill/>
          <a:ln/>
        </p:spPr>
        <p:txBody>
          <a:bodyPr wrap="square" lIns="0" tIns="0" rIns="0" bIns="0" rtlCol="0" anchor="t"/>
          <a:lstStyle/>
          <a:p>
            <a:pPr indent="0" marL="0">
              <a:lnSpc>
                <a:spcPct val="110000"/>
              </a:lnSpc>
              <a:buNone/>
            </a:pPr>
            <a:r>
              <a:rPr lang="en-US" sz="1050" dirty="0">
                <a:solidFill>
                  <a:srgbClr val="6E5E66"/>
                </a:solidFill>
                <a:latin typeface="Calibri" pitchFamily="34" charset="0"/>
                <a:ea typeface="Calibri" pitchFamily="34" charset="-122"/>
                <a:cs typeface="Calibri" pitchFamily="34" charset="-120"/>
              </a:rPr>
              <a:t>Journey D/E — the home page (identical either way)</a:t>
            </a:r>
            <a:endParaRPr lang="en-US" sz="1050" dirty="0"/>
          </a:p>
        </p:txBody>
      </p:sp>
      <p:sp>
        <p:nvSpPr>
          <p:cNvPr id="22" name="Shape 16"/>
          <p:cNvSpPr/>
          <p:nvPr/>
        </p:nvSpPr>
        <p:spPr>
          <a:xfrm>
            <a:off x="640080" y="4343400"/>
            <a:ext cx="10908792" cy="1600200"/>
          </a:xfrm>
          <a:prstGeom prst="roundRect">
            <a:avLst>
              <a:gd name="adj" fmla="val 6857"/>
            </a:avLst>
          </a:prstGeom>
          <a:solidFill>
            <a:srgbClr val="F1E6E3"/>
          </a:solidFill>
          <a:ln/>
          <a:effectLst>
            <a:outerShdw sx="100000" sy="100000" kx="0" ky="0" algn="bl" rotWithShape="0" blurRad="127000" dist="38100" dir="5400000">
              <a:srgbClr val="1F1620">
                <a:alpha val="10000"/>
              </a:srgbClr>
            </a:outerShdw>
          </a:effectLst>
        </p:spPr>
      </p:sp>
      <p:sp>
        <p:nvSpPr>
          <p:cNvPr id="23" name="Text 17"/>
          <p:cNvSpPr txBox="1"/>
          <p:nvPr/>
        </p:nvSpPr>
        <p:spPr>
          <a:xfrm>
            <a:off x="960120" y="4343400"/>
            <a:ext cx="10268712" cy="1600200"/>
          </a:xfrm>
          <a:prstGeom prst="rect">
            <a:avLst/>
          </a:prstGeom>
          <a:noFill/>
          <a:ln/>
        </p:spPr>
        <p:txBody>
          <a:bodyPr wrap="square" lIns="0" tIns="0" rIns="0" bIns="0" rtlCol="0" anchor="ctr"/>
          <a:lstStyle/>
          <a:p>
            <a:pPr indent="0" marL="0">
              <a:lnSpc>
                <a:spcPct val="125000"/>
              </a:lnSpc>
              <a:buNone/>
            </a:pPr>
            <a:r>
              <a:rPr lang="en-US" sz="1300" dirty="0">
                <a:solidFill>
                  <a:srgbClr val="1F1620"/>
                </a:solidFill>
                <a:latin typeface="Calibri" pitchFamily="34" charset="0"/>
                <a:ea typeface="Calibri" pitchFamily="34" charset="-122"/>
                <a:cs typeface="Calibri" pitchFamily="34" charset="-120"/>
              </a:rPr>
              <a:t>Everything in this report is grounded in what the site actually showed, in real sessions on 4 Sep 2026 — the numbers above (696, ₹3,565, 91, 24+ shades) came off these screens, not a summary of them. The one exception: cart and checkout were verified live during this session but not screenshotted, since I stopped before payment on purpose.</a:t>
            </a:r>
            <a:endParaRPr lang="en-US" sz="1300" dirty="0"/>
          </a:p>
        </p:txBody>
      </p:sp>
      <p:sp>
        <p:nvSpPr>
          <p:cNvPr id="24" name="Text 18"/>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5" name="Text 19"/>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RECOMMENDATIONS</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500" b="1" dirty="0">
                <a:solidFill>
                  <a:srgbClr val="1F1620"/>
                </a:solidFill>
                <a:latin typeface="Cambria" pitchFamily="34" charset="0"/>
                <a:ea typeface="Cambria" pitchFamily="34" charset="-122"/>
                <a:cs typeface="Cambria" pitchFamily="34" charset="-120"/>
              </a:rPr>
              <a:t>Every fix, with the problem and the metric</a:t>
            </a:r>
            <a:endParaRPr lang="en-US" sz="2500" dirty="0"/>
          </a:p>
        </p:txBody>
      </p:sp>
      <p:sp>
        <p:nvSpPr>
          <p:cNvPr id="5" name="Text 3"/>
          <p:cNvSpPr txBox="1"/>
          <p:nvPr/>
        </p:nvSpPr>
        <p:spPr>
          <a:xfrm>
            <a:off x="640080" y="1417320"/>
            <a:ext cx="10908792" cy="502920"/>
          </a:xfrm>
          <a:prstGeom prst="rect">
            <a:avLst/>
          </a:prstGeom>
          <a:noFill/>
          <a:ln/>
        </p:spPr>
        <p:txBody>
          <a:bodyPr wrap="square" lIns="0" tIns="0" rIns="0" bIns="0" rtlCol="0" anchor="ctr"/>
          <a:lstStyle/>
          <a:p>
            <a:pPr indent="0" marL="0">
              <a:lnSpc>
                <a:spcPct val="110000"/>
              </a:lnSpc>
              <a:buNone/>
            </a:pPr>
            <a:r>
              <a:rPr lang="en-US" sz="1100" i="1" dirty="0">
                <a:solidFill>
                  <a:srgbClr val="6E5E66"/>
                </a:solidFill>
                <a:latin typeface="Calibri" pitchFamily="34" charset="0"/>
                <a:ea typeface="Calibri" pitchFamily="34" charset="-122"/>
                <a:cs typeface="Calibri" pitchFamily="34" charset="-120"/>
              </a:rPr>
              <a:t>Each row ties to something seen or heard above, not a guess — ranked by reach and cost to ship, not a formal score. Limit worth naming: one exploration, one day, desktop only, no access to Nykaa's real traffic, conversion or return data.</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908792" cy="914400"/>
        </p:xfrm>
        <a:graphic>
          <a:graphicData uri="http://schemas.openxmlformats.org/drawingml/2006/table">
            <a:tbl>
              <a:tblPr/>
              <a:tblGrid>
                <a:gridCol w="685800"/>
                <a:gridCol w="3566160"/>
                <a:gridCol w="3383280"/>
                <a:gridCol w="3273552"/>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FIX</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PROBLEM IT SOLVES</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1F1620"/>
                    </a:solidFill>
                  </a:tcPr>
                </a:tc>
              </a:tr>
              <a:tr h="0">
                <a:tc>
                  <a:txBody>
                    <a:bodyPr/>
                    <a:lstStyle/>
                    <a:p>
                      <a:pPr indent="0" marL="0">
                        <a:buNone/>
                      </a:pPr>
                      <a:r>
                        <a:rPr lang="en-US" sz="1150" b="1" dirty="0">
                          <a:solidFill>
                            <a:srgbClr val="A81E48"/>
                          </a:solidFill>
                          <a:latin typeface="Cambria" pitchFamily="34" charset="0"/>
                          <a:ea typeface="Cambria" pitchFamily="34" charset="-122"/>
                          <a:cs typeface="Cambria" pitchFamily="34" charset="-120"/>
                        </a:rPr>
                        <a:t>P0</a:t>
                      </a:r>
                      <a:endParaRPr lang="en-US" sz="1150" dirty="0">
                        <a:latin typeface="Cambria" charset="0"/>
                        <a:ea typeface="Cambria" charset="0"/>
                        <a:cs typeface="Cambria"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1F1620"/>
                          </a:solidFill>
                          <a:latin typeface="Calibri" pitchFamily="34" charset="0"/>
                          <a:ea typeface="Calibri" pitchFamily="34" charset="-122"/>
                          <a:cs typeface="Calibri" pitchFamily="34" charset="-120"/>
                        </a:rPr>
                        <a:t>One-tap narrow strip after a concern search (skin type → concern → budget, pre-filled).</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696 results for a cautious purchase (Journey A).</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Search → add-to-bag on concern searches.</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r h="0">
                <a:tc>
                  <a:txBody>
                    <a:bodyPr/>
                    <a:lstStyle/>
                    <a:p>
                      <a:pPr indent="0" marL="0">
                        <a:buNone/>
                      </a:pPr>
                      <a:r>
                        <a:rPr lang="en-US" sz="1150" b="1" dirty="0">
                          <a:solidFill>
                            <a:srgbClr val="1F1620"/>
                          </a:solidFill>
                          <a:latin typeface="Cambria" pitchFamily="34" charset="0"/>
                          <a:ea typeface="Cambria" pitchFamily="34" charset="-122"/>
                          <a:cs typeface="Cambria" pitchFamily="34" charset="-120"/>
                        </a:rPr>
                        <a:t>P1</a:t>
                      </a:r>
                      <a:endParaRPr lang="en-US" sz="1150" dirty="0">
                        <a:latin typeface="Cambria" charset="0"/>
                        <a:ea typeface="Cambria" charset="0"/>
                        <a:cs typeface="Cambria"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1F1620"/>
                          </a:solidFill>
                          <a:latin typeface="Calibri" pitchFamily="34" charset="0"/>
                          <a:ea typeface="Calibri" pitchFamily="34" charset="-122"/>
                          <a:cs typeface="Calibri" pitchFamily="34" charset="-120"/>
                        </a:rPr>
                        <a:t>“Buy again” row on home + 1-tap Reorder in My Orders.</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5-yr account, same staples, no reorder path (Journey D).</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Repeat purchase rate; time to add-to-bag.</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1620"/>
                          </a:solidFill>
                          <a:latin typeface="Cambria" pitchFamily="34" charset="0"/>
                          <a:ea typeface="Cambria" pitchFamily="34" charset="-122"/>
                          <a:cs typeface="Cambria" pitchFamily="34" charset="-120"/>
                        </a:rPr>
                        <a:t>P1</a:t>
                      </a:r>
                      <a:endParaRPr lang="en-US" sz="1150" dirty="0">
                        <a:latin typeface="Cambria" charset="0"/>
                        <a:ea typeface="Cambria" charset="0"/>
                        <a:cs typeface="Cambria"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1F1620"/>
                          </a:solidFill>
                          <a:latin typeface="Calibri" pitchFamily="34" charset="0"/>
                          <a:ea typeface="Calibri" pitchFamily="34" charset="-122"/>
                          <a:cs typeface="Calibri" pitchFamily="34" charset="-120"/>
                        </a:rPr>
                        <a:t>Let mobile guests filter without logging in.</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Login pop-up blocks the filter panel on mobile (Feature 2).</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Filter apply rate; guest bounce rate.</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r h="0">
                <a:tc>
                  <a:txBody>
                    <a:bodyPr/>
                    <a:lstStyle/>
                    <a:p>
                      <a:pPr indent="0" marL="0">
                        <a:buNone/>
                      </a:pPr>
                      <a:r>
                        <a:rPr lang="en-US" sz="1150" b="1" dirty="0">
                          <a:solidFill>
                            <a:srgbClr val="1F1620"/>
                          </a:solidFill>
                          <a:latin typeface="Cambria" pitchFamily="34" charset="0"/>
                          <a:ea typeface="Cambria" pitchFamily="34" charset="-122"/>
                          <a:cs typeface="Cambria" pitchFamily="34" charset="-120"/>
                        </a:rPr>
                        <a:t>P2</a:t>
                      </a:r>
                      <a:endParaRPr lang="en-US" sz="1150" dirty="0">
                        <a:latin typeface="Cambria" charset="0"/>
                        <a:ea typeface="Cambria" charset="0"/>
                        <a:cs typeface="Cambria"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1F1620"/>
                          </a:solidFill>
                          <a:latin typeface="Calibri" pitchFamily="34" charset="0"/>
                          <a:ea typeface="Calibri" pitchFamily="34" charset="-122"/>
                          <a:cs typeface="Calibri" pitchFamily="34" charset="-120"/>
                        </a:rPr>
                        <a:t>Stop ranking over-budget ads above the best fit.</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₹3,565–₹6,600 ads above a ₹336 fit (Journey A).</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Top-3 organic CTR; skincare return rate.</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1620"/>
                          </a:solidFill>
                          <a:latin typeface="Cambria" pitchFamily="34" charset="0"/>
                          <a:ea typeface="Cambria" pitchFamily="34" charset="-122"/>
                          <a:cs typeface="Cambria" pitchFamily="34" charset="-120"/>
                        </a:rPr>
                        <a:t>P1*</a:t>
                      </a:r>
                      <a:endParaRPr lang="en-US" sz="1150" dirty="0">
                        <a:latin typeface="Cambria" charset="0"/>
                        <a:ea typeface="Cambria" charset="0"/>
                        <a:cs typeface="Cambria"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1F1620"/>
                          </a:solidFill>
                          <a:latin typeface="Calibri" pitchFamily="34" charset="0"/>
                          <a:ea typeface="Calibri" pitchFamily="34" charset="-122"/>
                          <a:cs typeface="Calibri" pitchFamily="34" charset="-120"/>
                        </a:rPr>
                        <a:t>Honest, proactive delivery status; stop mislabelling orders.</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Both interviews, unprompted, complained about only this.</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c>
                  <a:txBody>
                    <a:bodyPr/>
                    <a:lstStyle/>
                    <a:p>
                      <a:pPr indent="0" marL="0">
                        <a:buNone/>
                      </a:pPr>
                      <a:r>
                        <a:rPr lang="en-US" sz="1000" dirty="0">
                          <a:solidFill>
                            <a:srgbClr val="6E5E66"/>
                          </a:solidFill>
                          <a:latin typeface="Calibri" pitchFamily="34" charset="0"/>
                          <a:ea typeface="Calibri" pitchFamily="34" charset="-122"/>
                          <a:cs typeface="Calibri" pitchFamily="34" charset="-120"/>
                        </a:rPr>
                        <a:t>Delivery-date accuracy; status-correction rate.</a:t>
                      </a:r>
                      <a:endParaRPr lang="en-US" sz="1000" dirty="0">
                        <a:latin typeface="Calibri" charset="0"/>
                        <a:ea typeface="Calibri" charset="0"/>
                        <a:cs typeface="Calibri" charset="0"/>
                      </a:endParaRPr>
                    </a:p>
                  </a:txBody>
                  <a:tcPr marL="101600" marR="101600" marT="101600" marB="101600" anchor="ctr">
                    <a:lnL w="9525" cap="flat" cmpd="sng" algn="ctr">
                      <a:solidFill>
                        <a:srgbClr val="E4D5D2"/>
                      </a:solidFill>
                      <a:prstDash val="solid"/>
                      <a:round/>
                      <a:headEnd type="none" w="med" len="med"/>
                      <a:tailEnd type="none" w="med" len="med"/>
                    </a:lnL>
                    <a:lnR w="9525" cap="flat" cmpd="sng" algn="ctr">
                      <a:solidFill>
                        <a:srgbClr val="E4D5D2"/>
                      </a:solidFill>
                      <a:prstDash val="solid"/>
                      <a:round/>
                      <a:headEnd type="none" w="med" len="med"/>
                      <a:tailEnd type="none" w="med" len="med"/>
                    </a:lnR>
                    <a:lnT w="9525" cap="flat" cmpd="sng" algn="ctr">
                      <a:solidFill>
                        <a:srgbClr val="E4D5D2"/>
                      </a:solidFill>
                      <a:prstDash val="solid"/>
                      <a:round/>
                      <a:headEnd type="none" w="med" len="med"/>
                      <a:tailEnd type="none" w="med" len="med"/>
                    </a:lnT>
                    <a:lnB w="9525" cap="flat" cmpd="sng" algn="ctr">
                      <a:solidFill>
                        <a:srgbClr val="E4D5D2"/>
                      </a:solidFill>
                      <a:prstDash val="solid"/>
                      <a:round/>
                      <a:headEnd type="none" w="med" len="med"/>
                      <a:tailEnd type="none" w="med" len="med"/>
                    </a:lnB>
                    <a:solidFill>
                      <a:srgbClr val="F1E6E3"/>
                    </a:solidFill>
                  </a:tcPr>
                </a:tc>
              </a:tr>
            </a:tbl>
          </a:graphicData>
        </a:graphic>
      </p:graphicFrame>
      <p:sp>
        <p:nvSpPr>
          <p:cNvPr id="7" name="Text 4"/>
          <p:cNvSpPr txBox="1"/>
          <p:nvPr/>
        </p:nvSpPr>
        <p:spPr>
          <a:xfrm>
            <a:off x="640080" y="4983480"/>
            <a:ext cx="10908792" cy="274320"/>
          </a:xfrm>
          <a:prstGeom prst="rect">
            <a:avLst/>
          </a:prstGeom>
          <a:noFill/>
          <a:ln/>
        </p:spPr>
        <p:txBody>
          <a:bodyPr wrap="square" lIns="0" tIns="0" rIns="0" bIns="0" rtlCol="0" anchor="ctr"/>
          <a:lstStyle/>
          <a:p>
            <a:pPr indent="0" marL="0">
              <a:buNone/>
            </a:pPr>
            <a:r>
              <a:rPr lang="en-US" sz="1000" i="1" dirty="0">
                <a:solidFill>
                  <a:srgbClr val="6E5E66"/>
                </a:solidFill>
                <a:latin typeface="Calibri" pitchFamily="34" charset="0"/>
                <a:ea typeface="Calibri" pitchFamily="34" charset="-122"/>
                <a:cs typeface="Calibri" pitchFamily="34" charset="-120"/>
              </a:rPr>
              <a:t>P1* — from the interviews, not my own testing.</a:t>
            </a:r>
            <a:endParaRPr lang="en-US" sz="1000" dirty="0"/>
          </a:p>
        </p:txBody>
      </p:sp>
      <p:sp>
        <p:nvSpPr>
          <p:cNvPr id="8" name="Text 5"/>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9" name="Text 6"/>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5F3"/>
          </a:solidFill>
          <a:ln/>
        </p:spPr>
      </p:sp>
      <p:sp>
        <p:nvSpPr>
          <p:cNvPr id="3" name="Text 1"/>
          <p:cNvSpPr txBox="1"/>
          <p:nvPr/>
        </p:nvSpPr>
        <p:spPr>
          <a:xfrm>
            <a:off x="640080" y="502920"/>
            <a:ext cx="10881360" cy="320040"/>
          </a:xfrm>
          <a:prstGeom prst="rect">
            <a:avLst/>
          </a:prstGeom>
          <a:noFill/>
          <a:ln/>
        </p:spPr>
        <p:txBody>
          <a:bodyPr wrap="square" lIns="0" tIns="0" rIns="0" bIns="0" rtlCol="0" anchor="ctr"/>
          <a:lstStyle/>
          <a:p>
            <a:pPr indent="0" marL="0">
              <a:buNone/>
            </a:pPr>
            <a:r>
              <a:rPr lang="en-US" sz="1200" b="1" spc="200" kern="0" dirty="0">
                <a:solidFill>
                  <a:srgbClr val="A81E48"/>
                </a:solidFill>
                <a:latin typeface="Calibri" pitchFamily="34" charset="0"/>
                <a:ea typeface="Calibri" pitchFamily="34" charset="-122"/>
                <a:cs typeface="Calibri" pitchFamily="34" charset="-120"/>
              </a:rPr>
              <a:t>APPENDIX · BEING HONEST</a:t>
            </a:r>
            <a:endParaRPr lang="en-US" sz="1200" dirty="0"/>
          </a:p>
        </p:txBody>
      </p:sp>
      <p:sp>
        <p:nvSpPr>
          <p:cNvPr id="4" name="Text 2"/>
          <p:cNvSpPr txBox="1"/>
          <p:nvPr/>
        </p:nvSpPr>
        <p:spPr>
          <a:xfrm>
            <a:off x="640080" y="822960"/>
            <a:ext cx="10881360" cy="640080"/>
          </a:xfrm>
          <a:prstGeom prst="rect">
            <a:avLst/>
          </a:prstGeom>
          <a:noFill/>
          <a:ln/>
        </p:spPr>
        <p:txBody>
          <a:bodyPr wrap="square" lIns="0" tIns="0" rIns="0" bIns="0" rtlCol="0" anchor="ctr"/>
          <a:lstStyle/>
          <a:p>
            <a:pPr indent="0" marL="0">
              <a:buNone/>
            </a:pPr>
            <a:r>
              <a:rPr lang="en-US" sz="2800" b="1" dirty="0">
                <a:solidFill>
                  <a:srgbClr val="1F1620"/>
                </a:solidFill>
                <a:latin typeface="Cambria" pitchFamily="34" charset="0"/>
                <a:ea typeface="Cambria" pitchFamily="34" charset="-122"/>
                <a:cs typeface="Cambria" pitchFamily="34" charset="-120"/>
              </a:rPr>
              <a:t>Limitations</a:t>
            </a:r>
            <a:endParaRPr lang="en-US" sz="2800" dirty="0"/>
          </a:p>
        </p:txBody>
      </p:sp>
      <p:sp>
        <p:nvSpPr>
          <p:cNvPr id="5" name="Shape 3"/>
          <p:cNvSpPr/>
          <p:nvPr/>
        </p:nvSpPr>
        <p:spPr>
          <a:xfrm>
            <a:off x="640080" y="1851660"/>
            <a:ext cx="457200" cy="457200"/>
          </a:xfrm>
          <a:prstGeom prst="ellipse">
            <a:avLst/>
          </a:prstGeom>
          <a:solidFill>
            <a:srgbClr val="6E5E66"/>
          </a:solidFill>
          <a:ln/>
        </p:spPr>
      </p:sp>
      <p:sp>
        <p:nvSpPr>
          <p:cNvPr id="6" name="Text 4"/>
          <p:cNvSpPr txBox="1"/>
          <p:nvPr/>
        </p:nvSpPr>
        <p:spPr>
          <a:xfrm>
            <a:off x="640080" y="185166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7" name="Text 5"/>
          <p:cNvSpPr txBox="1"/>
          <p:nvPr/>
        </p:nvSpPr>
        <p:spPr>
          <a:xfrm>
            <a:off x="1325880" y="165506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Desktop website only, not the native app.</a:t>
            </a:r>
            <a:endParaRPr lang="en-US" sz="1450" dirty="0"/>
          </a:p>
        </p:txBody>
      </p:sp>
      <p:sp>
        <p:nvSpPr>
          <p:cNvPr id="8" name="Text 6"/>
          <p:cNvSpPr txBox="1"/>
          <p:nvPr/>
        </p:nvSpPr>
        <p:spPr>
          <a:xfrm>
            <a:off x="1325880" y="1984248"/>
            <a:ext cx="10222992" cy="612648"/>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Mobile-web notes (the filter login pop-up) are from an earlier check on the same site.</a:t>
            </a:r>
            <a:endParaRPr lang="en-US" sz="1150" dirty="0"/>
          </a:p>
        </p:txBody>
      </p:sp>
      <p:sp>
        <p:nvSpPr>
          <p:cNvPr id="9" name="Shape 7"/>
          <p:cNvSpPr/>
          <p:nvPr/>
        </p:nvSpPr>
        <p:spPr>
          <a:xfrm>
            <a:off x="640080" y="2651760"/>
            <a:ext cx="10908792" cy="914"/>
          </a:xfrm>
          <a:prstGeom prst="line">
            <a:avLst/>
          </a:prstGeom>
          <a:noFill/>
          <a:ln w="12700">
            <a:solidFill>
              <a:srgbClr val="E4D5D2"/>
            </a:solidFill>
            <a:prstDash val="solid"/>
          </a:ln>
        </p:spPr>
      </p:sp>
      <p:sp>
        <p:nvSpPr>
          <p:cNvPr id="10" name="Shape 8"/>
          <p:cNvSpPr/>
          <p:nvPr/>
        </p:nvSpPr>
        <p:spPr>
          <a:xfrm>
            <a:off x="640080" y="2903220"/>
            <a:ext cx="457200" cy="457200"/>
          </a:xfrm>
          <a:prstGeom prst="ellipse">
            <a:avLst/>
          </a:prstGeom>
          <a:solidFill>
            <a:srgbClr val="6E5E66"/>
          </a:solidFill>
          <a:ln/>
        </p:spPr>
      </p:sp>
      <p:sp>
        <p:nvSpPr>
          <p:cNvPr id="11" name="Text 9"/>
          <p:cNvSpPr txBox="1"/>
          <p:nvPr/>
        </p:nvSpPr>
        <p:spPr>
          <a:xfrm>
            <a:off x="640080" y="290322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12" name="Text 10"/>
          <p:cNvSpPr txBox="1"/>
          <p:nvPr/>
        </p:nvSpPr>
        <p:spPr>
          <a:xfrm>
            <a:off x="1325880" y="270662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Stopped at the address step of checkout.</a:t>
            </a:r>
            <a:endParaRPr lang="en-US" sz="1450" dirty="0"/>
          </a:p>
        </p:txBody>
      </p:sp>
      <p:sp>
        <p:nvSpPr>
          <p:cNvPr id="13" name="Text 11"/>
          <p:cNvSpPr txBox="1"/>
          <p:nvPr/>
        </p:nvSpPr>
        <p:spPr>
          <a:xfrm>
            <a:off x="1325880" y="3035808"/>
            <a:ext cx="10222992" cy="612648"/>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Added one item, opened the bag, went to the address step — did not enter an address or pay.</a:t>
            </a:r>
            <a:endParaRPr lang="en-US" sz="1150" dirty="0"/>
          </a:p>
        </p:txBody>
      </p:sp>
      <p:sp>
        <p:nvSpPr>
          <p:cNvPr id="14" name="Shape 12"/>
          <p:cNvSpPr/>
          <p:nvPr/>
        </p:nvSpPr>
        <p:spPr>
          <a:xfrm>
            <a:off x="640080" y="3703320"/>
            <a:ext cx="10908792" cy="914"/>
          </a:xfrm>
          <a:prstGeom prst="line">
            <a:avLst/>
          </a:prstGeom>
          <a:noFill/>
          <a:ln w="12700">
            <a:solidFill>
              <a:srgbClr val="E4D5D2"/>
            </a:solidFill>
            <a:prstDash val="solid"/>
          </a:ln>
        </p:spPr>
      </p:sp>
      <p:sp>
        <p:nvSpPr>
          <p:cNvPr id="15" name="Shape 13"/>
          <p:cNvSpPr/>
          <p:nvPr/>
        </p:nvSpPr>
        <p:spPr>
          <a:xfrm>
            <a:off x="640080" y="3954780"/>
            <a:ext cx="457200" cy="457200"/>
          </a:xfrm>
          <a:prstGeom prst="ellipse">
            <a:avLst/>
          </a:prstGeom>
          <a:solidFill>
            <a:srgbClr val="A81E48"/>
          </a:solidFill>
          <a:ln/>
        </p:spPr>
      </p:sp>
      <p:sp>
        <p:nvSpPr>
          <p:cNvPr id="16" name="Text 14"/>
          <p:cNvSpPr txBox="1"/>
          <p:nvPr/>
        </p:nvSpPr>
        <p:spPr>
          <a:xfrm>
            <a:off x="640080" y="395478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17" name="Text 15"/>
          <p:cNvSpPr txBox="1"/>
          <p:nvPr/>
        </p:nvSpPr>
        <p:spPr>
          <a:xfrm>
            <a:off x="1325880" y="375818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One reproducible server error.</a:t>
            </a:r>
            <a:endParaRPr lang="en-US" sz="1450" dirty="0"/>
          </a:p>
        </p:txBody>
      </p:sp>
      <p:sp>
        <p:nvSpPr>
          <p:cNvPr id="18" name="Text 16"/>
          <p:cNvSpPr txBox="1"/>
          <p:nvPr/>
        </p:nvSpPr>
        <p:spPr>
          <a:xfrm>
            <a:off x="1325880" y="4087368"/>
            <a:ext cx="10222992" cy="612648"/>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Loading the bag by its direct URL (nykaa.com/shoppingbag/) — not the bag icon — returns HTTP 503 every time. Confirmed across three separate sessions over several hours; the in-app bag drawer works fine every time. Cause unknown; consistent enough to flag.</a:t>
            </a:r>
            <a:endParaRPr lang="en-US" sz="1150" dirty="0"/>
          </a:p>
        </p:txBody>
      </p:sp>
      <p:sp>
        <p:nvSpPr>
          <p:cNvPr id="19" name="Shape 17"/>
          <p:cNvSpPr/>
          <p:nvPr/>
        </p:nvSpPr>
        <p:spPr>
          <a:xfrm>
            <a:off x="640080" y="4754880"/>
            <a:ext cx="10908792" cy="914"/>
          </a:xfrm>
          <a:prstGeom prst="line">
            <a:avLst/>
          </a:prstGeom>
          <a:noFill/>
          <a:ln w="12700">
            <a:solidFill>
              <a:srgbClr val="E4D5D2"/>
            </a:solidFill>
            <a:prstDash val="solid"/>
          </a:ln>
        </p:spPr>
      </p:sp>
      <p:sp>
        <p:nvSpPr>
          <p:cNvPr id="20" name="Shape 18"/>
          <p:cNvSpPr/>
          <p:nvPr/>
        </p:nvSpPr>
        <p:spPr>
          <a:xfrm>
            <a:off x="640080" y="5006340"/>
            <a:ext cx="457200" cy="457200"/>
          </a:xfrm>
          <a:prstGeom prst="ellipse">
            <a:avLst/>
          </a:prstGeom>
          <a:solidFill>
            <a:srgbClr val="6E5E66"/>
          </a:solidFill>
          <a:ln/>
        </p:spPr>
      </p:sp>
      <p:sp>
        <p:nvSpPr>
          <p:cNvPr id="21" name="Text 19"/>
          <p:cNvSpPr txBox="1"/>
          <p:nvPr/>
        </p:nvSpPr>
        <p:spPr>
          <a:xfrm>
            <a:off x="640080" y="5006340"/>
            <a:ext cx="4572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22" name="Text 20"/>
          <p:cNvSpPr txBox="1"/>
          <p:nvPr/>
        </p:nvSpPr>
        <p:spPr>
          <a:xfrm>
            <a:off x="1325880" y="4809744"/>
            <a:ext cx="10222992" cy="329184"/>
          </a:xfrm>
          <a:prstGeom prst="rect">
            <a:avLst/>
          </a:prstGeom>
          <a:noFill/>
          <a:ln/>
        </p:spPr>
        <p:txBody>
          <a:bodyPr wrap="square" lIns="0" tIns="0" rIns="0" bIns="0" rtlCol="0" anchor="ctr"/>
          <a:lstStyle/>
          <a:p>
            <a:pPr indent="0" marL="0">
              <a:buNone/>
            </a:pPr>
            <a:r>
              <a:rPr lang="en-US" sz="1450" b="1" dirty="0">
                <a:solidFill>
                  <a:srgbClr val="1F1620"/>
                </a:solidFill>
                <a:latin typeface="Cambria" pitchFamily="34" charset="0"/>
                <a:ea typeface="Cambria" pitchFamily="34" charset="-122"/>
                <a:cs typeface="Cambria" pitchFamily="34" charset="-120"/>
              </a:rPr>
              <a:t>The second account was read-only.</a:t>
            </a:r>
            <a:endParaRPr lang="en-US" sz="1450" dirty="0"/>
          </a:p>
        </p:txBody>
      </p:sp>
      <p:sp>
        <p:nvSpPr>
          <p:cNvPr id="23" name="Text 21"/>
          <p:cNvSpPr txBox="1"/>
          <p:nvPr/>
        </p:nvSpPr>
        <p:spPr>
          <a:xfrm>
            <a:off x="1325880" y="5138928"/>
            <a:ext cx="10222992" cy="612648"/>
          </a:xfrm>
          <a:prstGeom prst="rect">
            <a:avLst/>
          </a:prstGeom>
          <a:noFill/>
          <a:ln/>
        </p:spPr>
        <p:txBody>
          <a:bodyPr wrap="square" lIns="0" tIns="0" rIns="0" bIns="0" rtlCol="0" anchor="t"/>
          <a:lstStyle/>
          <a:p>
            <a:pPr indent="0" marL="0">
              <a:lnSpc>
                <a:spcPct val="112000"/>
              </a:lnSpc>
              <a:buNone/>
            </a:pPr>
            <a:r>
              <a:rPr lang="en-US" sz="1150" dirty="0">
                <a:solidFill>
                  <a:srgbClr val="6E5E66"/>
                </a:solidFill>
                <a:latin typeface="Calibri" pitchFamily="34" charset="0"/>
                <a:ea typeface="Calibri" pitchFamily="34" charset="-122"/>
                <a:cs typeface="Calibri" pitchFamily="34" charset="-120"/>
              </a:rPr>
              <a:t>Used only to check personalization, Orders, and search. No order details are reproduced anywhere in this report.</a:t>
            </a:r>
            <a:endParaRPr lang="en-US" sz="1150" dirty="0"/>
          </a:p>
        </p:txBody>
      </p:sp>
      <p:sp>
        <p:nvSpPr>
          <p:cNvPr id="24" name="Text 22"/>
          <p:cNvSpPr txBox="1"/>
          <p:nvPr/>
        </p:nvSpPr>
        <p:spPr>
          <a:xfrm>
            <a:off x="640080" y="6400800"/>
            <a:ext cx="5486400" cy="320040"/>
          </a:xfrm>
          <a:prstGeom prst="rect">
            <a:avLst/>
          </a:prstGeom>
          <a:noFill/>
          <a:ln/>
        </p:spPr>
        <p:txBody>
          <a:bodyPr wrap="square" lIns="0" tIns="0" rIns="0" bIns="0" rtlCol="0" anchor="ctr"/>
          <a:lstStyle/>
          <a:p>
            <a:pPr indent="0" marL="0">
              <a:buNone/>
            </a:pPr>
            <a:r>
              <a:rPr lang="en-US" sz="950" dirty="0">
                <a:solidFill>
                  <a:srgbClr val="6E5E66"/>
                </a:solidFill>
                <a:latin typeface="Calibri" pitchFamily="34" charset="0"/>
                <a:ea typeface="Calibri" pitchFamily="34" charset="-122"/>
                <a:cs typeface="Calibri" pitchFamily="34" charset="-120"/>
              </a:rPr>
              <a:t>Nykaa UX Analysis — Appendix</a:t>
            </a:r>
            <a:endParaRPr lang="en-US" sz="950" dirty="0"/>
          </a:p>
        </p:txBody>
      </p:sp>
      <p:sp>
        <p:nvSpPr>
          <p:cNvPr id="25" name="Text 23"/>
          <p:cNvSpPr txBox="1"/>
          <p:nvPr/>
        </p:nvSpPr>
        <p:spPr>
          <a:xfrm>
            <a:off x="10637215" y="6400800"/>
            <a:ext cx="914400" cy="320040"/>
          </a:xfrm>
          <a:prstGeom prst="rect">
            <a:avLst/>
          </a:prstGeom>
          <a:noFill/>
          <a:ln/>
        </p:spPr>
        <p:txBody>
          <a:bodyPr wrap="square" lIns="0" tIns="0" rIns="0" bIns="0" rtlCol="0" anchor="ctr"/>
          <a:lstStyle/>
          <a:p>
            <a:pPr algn="r" indent="0" marL="0">
              <a:buNone/>
            </a:pPr>
            <a:r>
              <a:rPr lang="en-US" sz="950" dirty="0">
                <a:solidFill>
                  <a:srgbClr val="6E5E66"/>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2026-09-04T19:24:44Z</dcterms:created>
  <dcterms:modified xsi:type="dcterms:W3CDTF">2026-09-04T19:24:44Z</dcterms:modified>
</cp:coreProperties>
</file>